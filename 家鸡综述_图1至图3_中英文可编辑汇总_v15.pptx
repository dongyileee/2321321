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62" r:id="rId2"/>
    <p:sldId id="263" r:id="rId3"/>
    <p:sldId id="264" r:id="rId4"/>
    <p:sldId id="265" r:id="rId5"/>
    <p:sldId id="266" r:id="rId6"/>
    <p:sldId id="267" r:id="rId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synthesis. Scenes do not depict confirmed individual historical events, and icons are not to scale. Agriculture changes the food and habitat available to red junglefowl and increases opportunities for contact with settlements. The agricultural worker represents cultivation. The establishment of early human–chicken relationships requires further evidence. The dashed arrow marks the hypothesized transition from agricultural commensalism to sustained management. Stages may overlap. Red junglefowl provide the main ancestral background. The side arrow depicts local introgression from wild junglefowl in some domestic populations. Donor icons represent wild junglefowl populations without specifying donor species or independent domestication events. Land migration and maritime trade are parallel inputs into local chicken populations, without a prescribed order between transport modes. Behavior, growth and reproductive traits continue to change during early management and later selection. The figure does not imply simultaneous changes in all traits at initial domestication or immediate establishment of a stable breed following one introduction or hybridization. Artificial selection, natural selection and genetic drift affect stages 2–4. Circular arrows indicate repeated introductions and ongoing gene flow. The globe symbolizes global distribution without depicting specific historical routes. Modern chicken icons show diversity in plumage, body form and crest without identifying specific breeds. Sources: the user-approved four-stage narrative and 家鸡起源驯化与传播_Animals正文稿_3.1修订.docx, sections 3, 5 and 7, especially sections 5.1–5.4 and 7. Manuscript references [5,9,10,17,18,24,28–43,62–71] support the processes and evidence boundaries. Source path: C:/Users/60910/Documents/ChatGPT/New project 5/家鸡起源驯化与传播_Animals正文稿_3.1修订.docx.</a:t>
            </a:r>
          </a:p>
          <a:p>
            <a:endParaRPr/>
          </a:p>
          <a:p>
            <a:r>
              <a:t>图1 家鸡与人类关系及群体变化的概念框架</a:t>
            </a:r>
          </a:p>
          <a:p>
            <a:r>
              <a:t>农业共栖、持续饲养、传播和后续群体变化可以重叠，不表示统一或严格分离的年代阶段。农业共栖是关于早期人鸡接触的解释模型。家鸡主要核祖源与 G. g. spadiceus 相关，其他原鸡的局部渗入和后续家鸡间的基因交流继续影响部分鸡群的遗传组成。</a:t>
            </a:r>
          </a:p>
          <a:p>
            <a:endParaRPr/>
          </a:p>
          <a:p>
            <a:r>
              <a:t>Figure 1. A conceptual framework of chicken–human relationships and population change. The processes can overlap and do not define a uniform chronology. Agricultural commensalism represents a proposed pathway of early contact. Localized introgression from other junglefowl and subsequent gene flow among domestic chickens have affected some populations.</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[43] Larson, G.; Fuller, D.Q. The Evolution of Animal Domestication. Annual Review of Ecology, Evolution, and Systematics 2014, 45, 115–136. DOI: 10.1146/annurev-ecolsys-110512-135813.</a:t>
            </a:r>
          </a:p>
          <a:p>
            <a:r>
              <a:t>https://doi.org/10.1146/annurev-ecolsys-110512-135813</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[16] Lawal, R.A.; Martin, S.H.; Vanmechelen, K.; Vereijken, A.; Silva, P.; Al-Atiyat, R.M.; Aljumaah, R.S.; Mwacharo, J.M.; Wu, D.D.; Zhang, Y.P.; et al. The wild species genome ancestry of domestic chickens. BMC Biology 2020, 18, 13. DOI: 10.1186/s12915-020-0738-1.</a:t>
            </a:r>
          </a:p>
          <a:p>
            <a:r>
              <a:t>https://doi.org/10.1186/s12915-020-0738-1</a:t>
            </a:r>
          </a:p>
          <a:p>
            <a:endParaRPr/>
          </a:p>
          <a:p>
            <a:r>
              <a:t>[22] Eriksson, J.; Larson, G.; Gunnarsson, U.; Bed'hom, B.; Tixier-Boichard, M.; Strömstedt, L.; Wright, D.; Jungerius, A.; Vereijken, A.; Randi, E.; et al. Identification of the Yellow Skin Gene Reveals a Hybrid Origin of the Domestic Chicken. PLOS Genetics 2008, 4, e1000010. DOI: 10.1371/journal.pgen.1000010.</a:t>
            </a:r>
          </a:p>
          <a:p>
            <a:r>
              <a:t>https://doi.org/10.1371/journal.pgen.1000010</a:t>
            </a:r>
          </a:p>
          <a:p>
            <a:endParaRPr/>
          </a:p>
          <a:p>
            <a:r>
              <a:t>[21] Zhang, C.; Lin, D.; Wang, Y.; Peng, D.; Li, H.; Fei, J.; Chen, K.; Yang, N.; Hu, X.; Zhao, Y.; et al. Widespread introgression in Chinese indigenous chicken breeds from commercial broiler. Evolutionary Applications 2019, 12, 610–621. DOI: 10.1111/eva.12742.</a:t>
            </a:r>
          </a:p>
          <a:p>
            <a:r>
              <a:t>https://doi.org/10.1111/eva.12742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3003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synthesis. Scenes do not depict confirmed individual historical events, and icons are not to scale. Agriculture changes the food and habitat available to red junglefowl and increases opportunities for contact with settlements. The agricultural worker represents cultivation. The establishment of early human–chicken relationships requires further evidence. The dashed arrow marks the hypothesized transition from agricultural commensalism to sustained management. Stages may overlap. Red junglefowl provide the main ancestral background. The side arrow depicts local introgression from wild junglefowl in some domestic populations. Donor icons represent wild junglefowl populations without specifying donor species or independent domestication events. Land migration and maritime trade are parallel inputs into local chicken populations, without a prescribed order between transport modes. Behavior, growth and reproductive traits continue to change during early management and later selection. The figure does not imply simultaneous changes in all traits at initial domestication or immediate establishment of a stable breed following one introduction or hybridization. Artificial selection, natural selection and genetic drift affect stages 2–4. Circular arrows indicate repeated introductions and ongoing gene flow. The globe symbolizes global distribution without depicting specific historical routes. Modern chicken icons show diversity in plumage, body form and crest without identifying specific breeds. Sources: the user-approved four-stage narrative and 家鸡起源驯化与传播_Animals正文稿_3.1修订.docx, sections 3, 5 and 7, especially sections 5.1–5.4 and 7. Manuscript references [5,9,10,17,18,24,28–43,62–71] support the processes and evidence boundaries. Source path: C:/Users/60910/Documents/ChatGPT/New project 5/家鸡起源驯化与传播_Animals正文稿_3.1修订.docx.</a:t>
            </a:r>
          </a:p>
          <a:p>
            <a:endParaRPr/>
          </a:p>
          <a:p>
            <a:r>
              <a:t>图1 家鸡与人类关系及群体变化的概念框架</a:t>
            </a:r>
          </a:p>
          <a:p>
            <a:r>
              <a:t>农业共栖、持续饲养、传播和后续群体变化可以重叠，不表示统一或严格分离的年代阶段。农业共栖是关于早期人鸡接触的解释模型。家鸡主要核祖源与 G. g. spadiceus 相关，其他原鸡的局部渗入和后续家鸡间的基因交流继续影响部分鸡群的遗传组成。</a:t>
            </a:r>
          </a:p>
          <a:p>
            <a:endParaRPr/>
          </a:p>
          <a:p>
            <a:r>
              <a:t>Figure 1. A conceptual framework of chicken–human relationships and population change. The processes can overlap and do not define a uniform chronology. Agricultural commensalism represents a proposed pathway of early contact. Localized introgression from other junglefowl and subsequent gene flow among domestic chickens have affected some populations.</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[43] Larson, G.; Fuller, D.Q. The Evolution of Animal Domestication. Annual Review of Ecology, Evolution, and Systematics 2014, 45, 115–136. DOI: 10.1146/annurev-ecolsys-110512-135813.</a:t>
            </a:r>
          </a:p>
          <a:p>
            <a:r>
              <a:t>https://doi.org/10.1146/annurev-ecolsys-110512-135813</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[16] Lawal, R.A.; Martin, S.H.; Vanmechelen, K.; Vereijken, A.; Silva, P.; Al-Atiyat, R.M.; Aljumaah, R.S.; Mwacharo, J.M.; Wu, D.D.; Zhang, Y.P.; et al. The wild species genome ancestry of domestic chickens. BMC Biology 2020, 18, 13. DOI: 10.1186/s12915-020-0738-1.</a:t>
            </a:r>
          </a:p>
          <a:p>
            <a:r>
              <a:t>https://doi.org/10.1186/s12915-020-0738-1</a:t>
            </a:r>
          </a:p>
          <a:p>
            <a:endParaRPr/>
          </a:p>
          <a:p>
            <a:r>
              <a:t>[22] Eriksson, J.; Larson, G.; Gunnarsson, U.; Bed'hom, B.; Tixier-Boichard, M.; Strömstedt, L.; Wright, D.; Jungerius, A.; Vereijken, A.; Randi, E.; et al. Identification of the Yellow Skin Gene Reveals a Hybrid Origin of the Domestic Chicken. PLOS Genetics 2008, 4, e1000010. DOI: 10.1371/journal.pgen.1000010.</a:t>
            </a:r>
          </a:p>
          <a:p>
            <a:r>
              <a:t>https://doi.org/10.1371/journal.pgen.1000010</a:t>
            </a:r>
          </a:p>
          <a:p>
            <a:endParaRPr/>
          </a:p>
          <a:p>
            <a:r>
              <a:t>[21] Zhang, C.; Lin, D.; Wang, Y.; Peng, D.; Li, H.; Fei, J.; Chen, K.; Yang, N.; Hu, X.; Zhao, Y.; et al. Widespread introgression in Chinese indigenous chicken breeds from commercial broiler. Evolutionary Applications 2019, 12, 610–621. DOI: 10.1111/eva.12742.</a:t>
            </a:r>
          </a:p>
          <a:p>
            <a:r>
              <a:t>https://doi.org/10.1111/eva.12742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38504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2. Site numbers 1–21 follow the regional order in Table 1. 15a/b are Unguja Ukuu and Mahilaka; 16a/b are Nenumbo and Tongoleleka. Labels are paired with numbered circles and thin leaders point to preserved coordinates. Solid lines summarize regional connections from chronological, historical and genetic evidence; dashed links indicate source models or candidate island connections. Modern maternal models M1 and M2 retain their three purple dashed links. Natural Earth public-domain coastline. The reference spadiceus area is not a located domestication centre.</a:t>
            </a:r>
          </a:p>
          <a:p>
            <a:r>
              <a:t>Scientific sources (numbered as in the revised manuscript):</a:t>
            </a:r>
          </a:p>
          <a:p>
            <a:r>
              <a:t>[5] Wang, M.S.; Thakur, M.; Peng, M.S.; Jiang, Y.; Frantz, L.A.F.; Li, M.; Zhang, J.J.; Wang, S.; Peters, J.; Otecko, N.O.; et al. 863 genomes reveal the origin and domestication of chicken. Cell Research 2020, 30, 693–701. DOI: 10.1038/s41422-020-0349-y.</a:t>
            </a:r>
          </a:p>
          <a:p>
            <a:r>
              <a:t>[9]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[12] Eda, M.; Izumi, H.; Yoneda, M.; Fujita, S. The earliest evidence of domestic chickens in the Japanese Archipelago. Frontiers in Earth Science 2023, 11, 1104535. DOI: 10.3389/feart.2023.1104535.</a:t>
            </a:r>
          </a:p>
          <a:p>
            <a:r>
              <a:t>[13] Peters, C.; Richter, K.K.; Wilkin, S.; Stark, S.; Mir-Makhamad, B.; Fernandes, R.; Maksudov, F.; Mirzaakhmedov, S.; Rahmonov, H.; Schirmer, S.; et al. Archaeological and molecular evidence for ancient chickens in Central Asia. Nature Communications 2024, 15, 2697. DOI: 10.1038/s41467-024-46093-2.</a:t>
            </a:r>
          </a:p>
          <a:p>
            <a:r>
              <a:t>[55] Storey, A.A.; Athens, J.S.; Bryant, D.; Carson, M.; Emery, K.; deFrance, S.; Higham, C.; Huynen, L.; Intoh, M.; Jones, S.; et al. Investigating the Global Dispersal of Chickens in Prehistory Using Ancient Mitochondrial DNA Signatures. PLOS ONE 2012, 7, e39171. DOI: 10.1371/journal.pone.0039171.</a:t>
            </a:r>
          </a:p>
          <a:p>
            <a:r>
              <a:t>[78] Olli, S.; Gustavsson, R.; Kivikero, H.; Lõugas, L.; Mannermaa, K.; Piličiauskienė, G.; Rannamäe, E.; Searle, J.B.; Kvist, L.; Honka, J. Ancient DNA unravels the history of chickens in the Baltic Sea region and the continuity of landrace lineages. Heredity 2026, 135, 397–408. DOI: 10.1038/s41437-026-00842-9.</a:t>
            </a:r>
          </a:p>
          <a:p>
            <a:r>
              <a:t>[98] Eda, M.; Izumi, H.; Matsumi, Y. Exploring the Possibility of Successive Breeding of Chickens in the Yayoi Culture, Japan. International Journal of Osteoarchaeology 2025, 35, 392–400. DOI: 10.1002/oa.70027.</a:t>
            </a:r>
          </a:p>
          <a:p>
            <a:r>
              <a:t>[99] Siracusano, G.; Manuelli, F.; Masseti, M. When did roosters start singing at Arslantepe? A preliminary assessment of the presence and spread of Gallus gallus (Linnaeus, 1758) in Iron Age Eastern Anatolia. Anthropozoologica 2021, 56, 241–251. DOI: 10.5252/anthropozoologica2021v56a16.</a:t>
            </a:r>
          </a:p>
          <a:p>
            <a:r>
              <a:t>[102] Perry-Gal, L.; Erlich, A.; Gilboa, A.; Bar-Oz, G. Earliest economic exploitation of chicken outside East Asia: Evidence from the Hellenistic Southern Levant. Proceedings of the National Academy of Sciences of the United States of America 2015, 112, 9849–9854. DOI: 10.1073/pnas.1504236112.</a:t>
            </a:r>
          </a:p>
          <a:p>
            <a:r>
              <a:t>[103] Woldekiros, H.S.; D'Andrea, A.C. Early Evidence for Domestic Chickens (Gallus gallus domesticus) in the Horn of Africa. International Journal of Osteoarchaeology 2017, 27, 329–341. DOI: 10.1002/oa.2540.</a:t>
            </a:r>
          </a:p>
          <a:p>
            <a:r>
              <a:t>[107]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[108] Herrera, M.B.; Thomson, V.A.; Wadley, J.J.; Piper, P.J.; Sulandari, S.; Dharmayanthi, A.B.; Kraitsek, S.; Gongora, J.; Austin, J.J. East African origins for Madagascan chickens as indicated by mitochondrial DNA. Royal Society Open Science 2017, 4, 160787. DOI: 10.1098/rsos.160787.</a:t>
            </a:r>
          </a:p>
          <a:p>
            <a:r>
              <a:t>[109] Yonezawa, T.; Mannen, H.; Honma, K.; Matsunaga, M.; Rakotondraparany, F.; Ratsoavina, F.M.; Wu, J.; Nishibori, M.; Yamamoto, Y. Origin and spatial population structure of Malagasy native chickens based on mitochondrial DNA. Scientific Reports 2024, 14, 569. DOI: 10.1038/s41598-023-50708-x.</a:t>
            </a:r>
          </a:p>
          <a:p>
            <a:r>
              <a:t>[110] Prendergast, M.E.; Buckley, M.; Crowther, A.; Frantz, L.; Eager, H.; Lebrasseur, O.; Hutterer, R.; Hulme-Beaman, A.; Van Neer, W.; Douka, K.; et al. Reconstructing Asian faunal introductions to eastern Africa from multi-proxy biomolecular and archaeological datasets. PLOS ONE 2017, 12, e0182565. DOI: 10.1371/journal.pone.0182565.</a:t>
            </a:r>
          </a:p>
          <a:p>
            <a:r>
              <a:t>[111] Steadman, D.W.; Pregill, G.K.; Burley, D.V. Rapid prehistoric extinction of iguanas and birds in Polynesia. Proceedings of the National Academy of Sciences of the United States of America 2002, 99, 3673–3677. DOI: 10.1073/pnas.072079299.</a:t>
            </a:r>
          </a:p>
          <a:p>
            <a:r>
              <a:t>[112] Storey, A.A.; Spriggs, M.; Bedford, S.; Hawkins, S.C.; Robins, J.H.; Huynen, L.; Matisoo-Smith, E. Mitochondrial DNA from 3000-year old chickens at the Teouma site, Vanuatu. Journal of Archaeological Science 2010, 37, 2459–2468. DOI: 10.1016/j.jas.2010.05.006.</a:t>
            </a:r>
          </a:p>
          <a:p>
            <a:r>
              <a:t>[113]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[114]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[117] Storey, A.A.; Ramírez, J.M.; Quiroz, D.; Burley, D.V.; Addison, D.J.; Walter, R.; Anderson, A.J.; Hunt, T.L.; Athens, J.S.; Huynen, L.; et al. Radiocarbon and DNA evidence for a pre-Columbian introduction of Polynesian chickens to Chile. Proceedings of the National Academy of Sciences of the United States of America 2007, 104, 10335–10339. DOI: 10.1073/pnas.0703993104.</a:t>
            </a:r>
          </a:p>
          <a:p>
            <a:r>
              <a:t>[118] Gongora, J.; Rawlence, N.J.; Mobegi, V.A.; Jianlin, H.; Alcalde, J.A.; Matus, J.T.; Hanotte, O.; Moran, C.; Austin, J.J.; Ulm, S.; et al. Indo-European and Asian origins for Chilean and Pacific chickens revealed by mtDNA. Proceedings of the National Academy of Sciences of the United States of America 2008, 105, 10308–10313. DOI: 10.1073/pnas.0801991105.</a:t>
            </a:r>
          </a:p>
          <a:p>
            <a:r>
              <a:t>[119] Buhring, K.; McAlister, A.; Kneebone, B.; Calás, E.; Gajardo, J.; Roa, C.; Delgado, A.; Olguin, L.; Fernandez, M.; Moreira, R.; et al. Revisiting the evidence of the Arenal 1 site: Chronologies and human interactions in central southern Chile. The Journal of Island and Coastal Archaeology 2025, 20, 399–422. DOI: 10.1080/15564894.2023.2268551.</a:t>
            </a:r>
          </a:p>
          <a:p>
            <a:r>
              <a:t>[120] Matsuda, Y.; Matsumoto, Y.; Higashiura, Y.; Bendesky, A.; Tsudzuki, M.; Shimmura, T. Population genomics elucidates the trajectory of chicken domestication from Asia to Japan. Poultry Science 2025, 104, 105060. DOI: 10.1016/j.psj.2025.105060.</a:t>
            </a:r>
          </a:p>
          <a:p>
            <a:endParaRPr/>
          </a:p>
          <a:p>
            <a:r>
              <a:t>图2 家鸡的区域传播联系</a:t>
            </a:r>
          </a:p>
          <a:p>
            <a:r>
              <a:t>实线概括考古时序、历史交流及亲缘资料支持的区域联系，虚线表示候选路线或来源模型，灰色点线表示有争议的前哥伦布时期波利尼西亚—南美联系。黄色区域仅示意现生 G. g. spadiceus 的分布参照，不能直接视为已确定的驯化地点或完整历史分布。</a:t>
            </a:r>
          </a:p>
          <a:p>
            <a:r>
              <a:t>M1 为南亚经东非传入马达加斯加的较早母系假说（Herrera等2017）。M2 为东非与马达加斯加分别接受外来种源的母系来源模型（Yonezawa等2024），其参照包含印度和非洲大陆群体。M2源端为来源集合的示意位置，不代表已确定的单一港口、直接航路或地理起点。</a:t>
            </a:r>
          </a:p>
          <a:p>
            <a:r>
              <a:t>北非沿海及萨赫勒—苏丹带的虚线均为候选路径。两侧A续接殖民时期伊比利亚与海地、佛罗里达的联系。编号与现用稿表1的21条记录对应，其中15a/15b为Unguja Ukuu/Mahilaka，16a/16b为Nenumbo/Tongoleleka。地图不提供首次到达年份，具体年代和证据对象见表1。海岸线依据Natural Earth公开数据。</a:t>
            </a:r>
          </a:p>
          <a:p>
            <a:endParaRPr/>
          </a:p>
          <a:p>
            <a:r>
              <a:t>Figure 2. Regional links in the dispersal of chickens. Lines summarize regional evidence and hypotheses rather than reconstructed exact routes. M1 and M2 refer to maternal origin hypotheses/models. The M2 source symbol represents a reference population pool including India and continental Africa, not a known port or a single geographical origin. The A marks join the map edges for the colonial Iberian–Caribbean/Florida link. Numbers correspond to Table 1. Coastlines: Natural Earth, https://www.naturalearthdata.com/about/terms-of-use/</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[39] Storey, A.A.; Athens, J.S.; Bryant, D.; Carson, M.; Emery, K.; deFrance, S.; Higham, C.; Huynen, L.; Intoh, M.; Jones, S.; et al. Investigating the Global Dispersal of Chickens in Prehistory Using Ancient Mitochondrial DNA Signatures. PLOS ONE 2012, 7, e39171. DOI: 10.1371/journal.pone.0039171.</a:t>
            </a:r>
          </a:p>
          <a:p>
            <a:r>
              <a:t>https://doi.org/10.1371/journal.pone.0039171</a:t>
            </a:r>
          </a:p>
          <a:p>
            <a:endParaRPr/>
          </a:p>
          <a:p>
            <a:r>
              <a:t>[48] Best, J.; Doherty, S.; Armit, I.; Boev, Z.; Büster, L.; Cunliffe, B.; Foster, A.; Frimet, B.; Hamilton-Dyer, S.; Higham, T.; et al. Redefining the timing and circumstances of the chicken's introduction to Europe and north-west Africa. Antiquity 2022, 96, 868–882. DOI: 10.15184/aqy.2021.90.</a:t>
            </a:r>
          </a:p>
          <a:p>
            <a:r>
              <a:t>https://doi.org/10.15184/aqy.2021.90</a:t>
            </a:r>
          </a:p>
          <a:p>
            <a:endParaRPr/>
          </a:p>
          <a:p>
            <a:r>
              <a:t>[52]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https://doi.org/10.1016/0305-4403(92)90019-Y</a:t>
            </a:r>
          </a:p>
          <a:p>
            <a:endParaRPr/>
          </a:p>
          <a:p>
            <a:r>
              <a:t>[54] Eda, M.; Izumi, H.; Yoneda, M.; Fujita, S. The earliest evidence of domestic chickens in the Japanese Archipelago. Frontiers in Earth Science 2023, 11, 1104535. DOI: 10.3389/feart.2023.1104535.</a:t>
            </a:r>
          </a:p>
          <a:p>
            <a:r>
              <a:t>https://doi.org/10.3389/feart.2023.1104535</a:t>
            </a:r>
          </a:p>
          <a:p>
            <a:endParaRPr/>
          </a:p>
          <a:p>
            <a:r>
              <a:t>[55] Matsuda, Y.; Matsumoto, Y.; Higashiura, Y.; Bendesky, A.; Tsudzuki, M.; Shimmura, T. Population genomics elucidates the trajectory of chicken domestication from Asia to Japan. Poultry Science 2025, 104, 105060. DOI: 10.1016/j.psj.2025.105060.</a:t>
            </a:r>
          </a:p>
          <a:p>
            <a:r>
              <a:t>https://doi.org/10.1016/j.psj.2025.105060</a:t>
            </a:r>
          </a:p>
          <a:p>
            <a:endParaRPr/>
          </a:p>
          <a:p>
            <a:r>
              <a:t>[56] Steadman, D.W.; Pregill, G.K.; Burley, D.V. Rapid prehistoric extinction of iguanas and birds in Polynesia. Proceedings of the National Academy of Sciences of the United States of America 2002, 99, 3673–3677. DOI: 10.1073/pnas.072079299.</a:t>
            </a:r>
          </a:p>
          <a:p>
            <a:r>
              <a:t>https://doi.org/10.1073/pnas.072079299</a:t>
            </a:r>
          </a:p>
          <a:p>
            <a:endParaRPr/>
          </a:p>
          <a:p>
            <a:r>
              <a:t>[58]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https://doi.org/10.1016/j.jasrep.2015.08.024</a:t>
            </a:r>
          </a:p>
          <a:p>
            <a:endParaRPr/>
          </a:p>
          <a:p>
            <a:r>
              <a:t>[59]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https://doi.org/10.1073/pnas.1320412111</a:t>
            </a:r>
          </a:p>
          <a:p>
            <a:endParaRPr/>
          </a:p>
          <a:p>
            <a:r>
              <a:t>[66] Herrera, M.B.; Thomson, V.A.; Wadley, J.J.; Piper, P.J.; Sulandari, S.; Dharmayanthi, A.B.; Kraitsek, S.; Gongora, J.; Austin, J.J. East African origins for Madagascan chickens as indicated by mitochondrial DNA. Royal Society Open Science 2017, 4, 160787. DOI: 10.1098/rsos.160787.</a:t>
            </a:r>
          </a:p>
          <a:p>
            <a:r>
              <a:t>https://doi.org/10.1098/rsos.160787</a:t>
            </a:r>
          </a:p>
          <a:p>
            <a:endParaRPr/>
          </a:p>
          <a:p>
            <a:r>
              <a:t>[67] Yonezawa, T.; Mannen, H.; Honma, K.; Matsunaga, M.; Rakotondraparany, F.; Ratsoavina, F.M.; Wu, J.; Nishibori, M.; Yamamoto, Y. Origin and spatial population structure of Malagasy native chickens based on mitochondrial DNA. Scientific Reports 2024, 14, 569. DOI: 10.1038/s41598-023-50708-x.</a:t>
            </a:r>
          </a:p>
          <a:p>
            <a:r>
              <a:t>https://doi.org/10.1038/s41598-023-50708-x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24188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2. Site numbers 1–21 follow the regional order in Table 1. 15a/b are Unguja Ukuu and Mahilaka; 16a/b are Nenumbo and Tongoleleka. Labels are paired with numbered circles and thin leaders point to preserved coordinates. Solid lines summarize regional connections from chronological, historical and genetic evidence; dashed links indicate source models or candidate island connections. Modern maternal models M1 and M2 retain their three purple dashed links. Natural Earth public-domain coastline. The reference spadiceus area is not a located domestication centre.</a:t>
            </a:r>
          </a:p>
          <a:p>
            <a:r>
              <a:t>Scientific sources (numbered as in the revised manuscript):</a:t>
            </a:r>
          </a:p>
          <a:p>
            <a:r>
              <a:t>[5] Wang, M.S.; Thakur, M.; Peng, M.S.; Jiang, Y.; Frantz, L.A.F.; Li, M.; Zhang, J.J.; Wang, S.; Peters, J.; Otecko, N.O.; et al. 863 genomes reveal the origin and domestication of chicken. Cell Research 2020, 30, 693–701. DOI: 10.1038/s41422-020-0349-y.</a:t>
            </a:r>
          </a:p>
          <a:p>
            <a:r>
              <a:t>[9]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[12] Eda, M.; Izumi, H.; Yoneda, M.; Fujita, S. The earliest evidence of domestic chickens in the Japanese Archipelago. Frontiers in Earth Science 2023, 11, 1104535. DOI: 10.3389/feart.2023.1104535.</a:t>
            </a:r>
          </a:p>
          <a:p>
            <a:r>
              <a:t>[13] Peters, C.; Richter, K.K.; Wilkin, S.; Stark, S.; Mir-Makhamad, B.; Fernandes, R.; Maksudov, F.; Mirzaakhmedov, S.; Rahmonov, H.; Schirmer, S.; et al. Archaeological and molecular evidence for ancient chickens in Central Asia. Nature Communications 2024, 15, 2697. DOI: 10.1038/s41467-024-46093-2.</a:t>
            </a:r>
          </a:p>
          <a:p>
            <a:r>
              <a:t>[55] Storey, A.A.; Athens, J.S.; Bryant, D.; Carson, M.; Emery, K.; deFrance, S.; Higham, C.; Huynen, L.; Intoh, M.; Jones, S.; et al. Investigating the Global Dispersal of Chickens in Prehistory Using Ancient Mitochondrial DNA Signatures. PLOS ONE 2012, 7, e39171. DOI: 10.1371/journal.pone.0039171.</a:t>
            </a:r>
          </a:p>
          <a:p>
            <a:r>
              <a:t>[78] Olli, S.; Gustavsson, R.; Kivikero, H.; Lõugas, L.; Mannermaa, K.; Piličiauskienė, G.; Rannamäe, E.; Searle, J.B.; Kvist, L.; Honka, J. Ancient DNA unravels the history of chickens in the Baltic Sea region and the continuity of landrace lineages. Heredity 2026, 135, 397–408. DOI: 10.1038/s41437-026-00842-9.</a:t>
            </a:r>
          </a:p>
          <a:p>
            <a:r>
              <a:t>[98] Eda, M.; Izumi, H.; Matsumi, Y. Exploring the Possibility of Successive Breeding of Chickens in the Yayoi Culture, Japan. International Journal of Osteoarchaeology 2025, 35, 392–400. DOI: 10.1002/oa.70027.</a:t>
            </a:r>
          </a:p>
          <a:p>
            <a:r>
              <a:t>[99] Siracusano, G.; Manuelli, F.; Masseti, M. When did roosters start singing at Arslantepe? A preliminary assessment of the presence and spread of Gallus gallus (Linnaeus, 1758) in Iron Age Eastern Anatolia. Anthropozoologica 2021, 56, 241–251. DOI: 10.5252/anthropozoologica2021v56a16.</a:t>
            </a:r>
          </a:p>
          <a:p>
            <a:r>
              <a:t>[102] Perry-Gal, L.; Erlich, A.; Gilboa, A.; Bar-Oz, G. Earliest economic exploitation of chicken outside East Asia: Evidence from the Hellenistic Southern Levant. Proceedings of the National Academy of Sciences of the United States of America 2015, 112, 9849–9854. DOI: 10.1073/pnas.1504236112.</a:t>
            </a:r>
          </a:p>
          <a:p>
            <a:r>
              <a:t>[103] Woldekiros, H.S.; D'Andrea, A.C. Early Evidence for Domestic Chickens (Gallus gallus domesticus) in the Horn of Africa. International Journal of Osteoarchaeology 2017, 27, 329–341. DOI: 10.1002/oa.2540.</a:t>
            </a:r>
          </a:p>
          <a:p>
            <a:r>
              <a:t>[107]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[108] Herrera, M.B.; Thomson, V.A.; Wadley, J.J.; Piper, P.J.; Sulandari, S.; Dharmayanthi, A.B.; Kraitsek, S.; Gongora, J.; Austin, J.J. East African origins for Madagascan chickens as indicated by mitochondrial DNA. Royal Society Open Science 2017, 4, 160787. DOI: 10.1098/rsos.160787.</a:t>
            </a:r>
          </a:p>
          <a:p>
            <a:r>
              <a:t>[109] Yonezawa, T.; Mannen, H.; Honma, K.; Matsunaga, M.; Rakotondraparany, F.; Ratsoavina, F.M.; Wu, J.; Nishibori, M.; Yamamoto, Y. Origin and spatial population structure of Malagasy native chickens based on mitochondrial DNA. Scientific Reports 2024, 14, 569. DOI: 10.1038/s41598-023-50708-x.</a:t>
            </a:r>
          </a:p>
          <a:p>
            <a:r>
              <a:t>[110] Prendergast, M.E.; Buckley, M.; Crowther, A.; Frantz, L.; Eager, H.; Lebrasseur, O.; Hutterer, R.; Hulme-Beaman, A.; Van Neer, W.; Douka, K.; et al. Reconstructing Asian faunal introductions to eastern Africa from multi-proxy biomolecular and archaeological datasets. PLOS ONE 2017, 12, e0182565. DOI: 10.1371/journal.pone.0182565.</a:t>
            </a:r>
          </a:p>
          <a:p>
            <a:r>
              <a:t>[111] Steadman, D.W.; Pregill, G.K.; Burley, D.V. Rapid prehistoric extinction of iguanas and birds in Polynesia. Proceedings of the National Academy of Sciences of the United States of America 2002, 99, 3673–3677. DOI: 10.1073/pnas.072079299.</a:t>
            </a:r>
          </a:p>
          <a:p>
            <a:r>
              <a:t>[112] Storey, A.A.; Spriggs, M.; Bedford, S.; Hawkins, S.C.; Robins, J.H.; Huynen, L.; Matisoo-Smith, E. Mitochondrial DNA from 3000-year old chickens at the Teouma site, Vanuatu. Journal of Archaeological Science 2010, 37, 2459–2468. DOI: 10.1016/j.jas.2010.05.006.</a:t>
            </a:r>
          </a:p>
          <a:p>
            <a:r>
              <a:t>[113]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[114]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[117] Storey, A.A.; Ramírez, J.M.; Quiroz, D.; Burley, D.V.; Addison, D.J.; Walter, R.; Anderson, A.J.; Hunt, T.L.; Athens, J.S.; Huynen, L.; et al. Radiocarbon and DNA evidence for a pre-Columbian introduction of Polynesian chickens to Chile. Proceedings of the National Academy of Sciences of the United States of America 2007, 104, 10335–10339. DOI: 10.1073/pnas.0703993104.</a:t>
            </a:r>
          </a:p>
          <a:p>
            <a:r>
              <a:t>[118] Gongora, J.; Rawlence, N.J.; Mobegi, V.A.; Jianlin, H.; Alcalde, J.A.; Matus, J.T.; Hanotte, O.; Moran, C.; Austin, J.J.; Ulm, S.; et al. Indo-European and Asian origins for Chilean and Pacific chickens revealed by mtDNA. Proceedings of the National Academy of Sciences of the United States of America 2008, 105, 10308–10313. DOI: 10.1073/pnas.0801991105.</a:t>
            </a:r>
          </a:p>
          <a:p>
            <a:r>
              <a:t>[119] Buhring, K.; McAlister, A.; Kneebone, B.; Calás, E.; Gajardo, J.; Roa, C.; Delgado, A.; Olguin, L.; Fernandez, M.; Moreira, R.; et al. Revisiting the evidence of the Arenal 1 site: Chronologies and human interactions in central southern Chile. The Journal of Island and Coastal Archaeology 2025, 20, 399–422. DOI: 10.1080/15564894.2023.2268551.</a:t>
            </a:r>
          </a:p>
          <a:p>
            <a:r>
              <a:t>[120] Matsuda, Y.; Matsumoto, Y.; Higashiura, Y.; Bendesky, A.; Tsudzuki, M.; Shimmura, T. Population genomics elucidates the trajectory of chicken domestication from Asia to Japan. Poultry Science 2025, 104, 105060. DOI: 10.1016/j.psj.2025.105060.</a:t>
            </a:r>
          </a:p>
          <a:p>
            <a:endParaRPr/>
          </a:p>
          <a:p>
            <a:r>
              <a:t>图2 家鸡的区域传播联系</a:t>
            </a:r>
          </a:p>
          <a:p>
            <a:r>
              <a:t>实线概括考古时序、历史交流及亲缘资料支持的区域联系，虚线表示候选路线或来源模型，灰色点线表示有争议的前哥伦布时期波利尼西亚—南美联系。黄色区域仅示意现生 G. g. spadiceus 的分布参照，不能直接视为已确定的驯化地点或完整历史分布。</a:t>
            </a:r>
          </a:p>
          <a:p>
            <a:r>
              <a:t>M1 为南亚经东非传入马达加斯加的较早母系假说（Herrera等2017）。M2 为东非与马达加斯加分别接受外来种源的母系来源模型（Yonezawa等2024），其参照包含印度和非洲大陆群体。M2源端为来源集合的示意位置，不代表已确定的单一港口、直接航路或地理起点。</a:t>
            </a:r>
          </a:p>
          <a:p>
            <a:r>
              <a:t>北非沿海及萨赫勒—苏丹带的虚线均为候选路径。两侧A续接殖民时期伊比利亚与海地、佛罗里达的联系。编号与现用稿表1的21条记录对应，其中15a/15b为Unguja Ukuu/Mahilaka，16a/16b为Nenumbo/Tongoleleka。地图不提供首次到达年份，具体年代和证据对象见表1。海岸线依据Natural Earth公开数据。</a:t>
            </a:r>
          </a:p>
          <a:p>
            <a:endParaRPr/>
          </a:p>
          <a:p>
            <a:r>
              <a:t>Figure 2. Regional links in the dispersal of chickens. Lines summarize regional evidence and hypotheses rather than reconstructed exact routes. M1 and M2 refer to maternal origin hypotheses/models. The M2 source symbol represents a reference population pool including India and continental Africa, not a known port or a single geographical origin. The A marks join the map edges for the colonial Iberian–Caribbean/Florida link. Numbers correspond to Table 1. Coastlines: Natural Earth, https://www.naturalearthdata.com/about/terms-of-use/</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[39] Storey, A.A.; Athens, J.S.; Bryant, D.; Carson, M.; Emery, K.; deFrance, S.; Higham, C.; Huynen, L.; Intoh, M.; Jones, S.; et al. Investigating the Global Dispersal of Chickens in Prehistory Using Ancient Mitochondrial DNA Signatures. PLOS ONE 2012, 7, e39171. DOI: 10.1371/journal.pone.0039171.</a:t>
            </a:r>
          </a:p>
          <a:p>
            <a:r>
              <a:t>https://doi.org/10.1371/journal.pone.0039171</a:t>
            </a:r>
          </a:p>
          <a:p>
            <a:endParaRPr/>
          </a:p>
          <a:p>
            <a:r>
              <a:t>[48] Best, J.; Doherty, S.; Armit, I.; Boev, Z.; Büster, L.; Cunliffe, B.; Foster, A.; Frimet, B.; Hamilton-Dyer, S.; Higham, T.; et al. Redefining the timing and circumstances of the chicken's introduction to Europe and north-west Africa. Antiquity 2022, 96, 868–882. DOI: 10.15184/aqy.2021.90.</a:t>
            </a:r>
          </a:p>
          <a:p>
            <a:r>
              <a:t>https://doi.org/10.15184/aqy.2021.90</a:t>
            </a:r>
          </a:p>
          <a:p>
            <a:endParaRPr/>
          </a:p>
          <a:p>
            <a:r>
              <a:t>[52]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https://doi.org/10.1016/0305-4403(92)90019-Y</a:t>
            </a:r>
          </a:p>
          <a:p>
            <a:endParaRPr/>
          </a:p>
          <a:p>
            <a:r>
              <a:t>[54] Eda, M.; Izumi, H.; Yoneda, M.; Fujita, S. The earliest evidence of domestic chickens in the Japanese Archipelago. Frontiers in Earth Science 2023, 11, 1104535. DOI: 10.3389/feart.2023.1104535.</a:t>
            </a:r>
          </a:p>
          <a:p>
            <a:r>
              <a:t>https://doi.org/10.3389/feart.2023.1104535</a:t>
            </a:r>
          </a:p>
          <a:p>
            <a:endParaRPr/>
          </a:p>
          <a:p>
            <a:r>
              <a:t>[55] Matsuda, Y.; Matsumoto, Y.; Higashiura, Y.; Bendesky, A.; Tsudzuki, M.; Shimmura, T. Population genomics elucidates the trajectory of chicken domestication from Asia to Japan. Poultry Science 2025, 104, 105060. DOI: 10.1016/j.psj.2025.105060.</a:t>
            </a:r>
          </a:p>
          <a:p>
            <a:r>
              <a:t>https://doi.org/10.1016/j.psj.2025.105060</a:t>
            </a:r>
          </a:p>
          <a:p>
            <a:endParaRPr/>
          </a:p>
          <a:p>
            <a:r>
              <a:t>[56] Steadman, D.W.; Pregill, G.K.; Burley, D.V. Rapid prehistoric extinction of iguanas and birds in Polynesia. Proceedings of the National Academy of Sciences of the United States of America 2002, 99, 3673–3677. DOI: 10.1073/pnas.072079299.</a:t>
            </a:r>
          </a:p>
          <a:p>
            <a:r>
              <a:t>https://doi.org/10.1073/pnas.072079299</a:t>
            </a:r>
          </a:p>
          <a:p>
            <a:endParaRPr/>
          </a:p>
          <a:p>
            <a:r>
              <a:t>[58]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https://doi.org/10.1016/j.jasrep.2015.08.024</a:t>
            </a:r>
          </a:p>
          <a:p>
            <a:endParaRPr/>
          </a:p>
          <a:p>
            <a:r>
              <a:t>[59]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https://doi.org/10.1073/pnas.1320412111</a:t>
            </a:r>
          </a:p>
          <a:p>
            <a:endParaRPr/>
          </a:p>
          <a:p>
            <a:r>
              <a:t>[66] Herrera, M.B.; Thomson, V.A.; Wadley, J.J.; Piper, P.J.; Sulandari, S.; Dharmayanthi, A.B.; Kraitsek, S.; Gongora, J.; Austin, J.J. East African origins for Madagascan chickens as indicated by mitochondrial DNA. Royal Society Open Science 2017, 4, 160787. DOI: 10.1098/rsos.160787.</a:t>
            </a:r>
          </a:p>
          <a:p>
            <a:r>
              <a:t>https://doi.org/10.1098/rsos.160787</a:t>
            </a:r>
          </a:p>
          <a:p>
            <a:endParaRPr/>
          </a:p>
          <a:p>
            <a:r>
              <a:t>[67] Yonezawa, T.; Mannen, H.; Honma, K.; Matsunaga, M.; Rakotondraparany, F.; Ratsoavina, F.M.; Wu, J.; Nishibori, M.; Yamamoto, Y. Origin and spatial population structure of Malagasy native chickens based on mitochondrial DNA. Scientific Reports 2024, 14, 569. DOI: 10.1038/s41598-023-50708-x.</a:t>
            </a:r>
          </a:p>
          <a:p>
            <a:r>
              <a:t>https://doi.org/10.1038/s41598-023-50708-x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31797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注：红原鸡、地方与传统家鸡、商业鸡之间的祖源联系及后续基因交流示意。红色、棕色和蓝色箭头分别表示红原鸡、地方与传统家鸡、商业鸡输出的遗传成分，箭头由输出群体指向接受群体。实线概括群体遗传与历史证据支持的联系；虚线表示模型推断或假说。“传播与逸生”概括潜在接触情境，不表示所有研究均直接确认了具体接触路径；两条虚线中的直接渗入和育种利用仍保留可能性表述。商业鸡属于家鸡，在图中按用途单列；鸡图为类别示意，箭头宽度不表示交流量。</a:t>
            </a:r>
          </a:p>
          <a:p>
            <a:endParaRPr/>
          </a:p>
          <a:p>
            <a:r>
              <a:t>科学依据：</a:t>
            </a:r>
          </a:p>
          <a:p>
            <a:r>
              <a:t>红原鸡向家鸡：Berthouly2009 https://doi.org/10.1186/1471-2156-10-1 ; Wang2020 https://doi.org/10.1038/s41422-020-0349-y</a:t>
            </a:r>
          </a:p>
          <a:p>
            <a:r>
              <a:t>家鸡输入：Thakur2018 https://doi.org/10.1371/journal.pone.0204351 ; Wu2020 https://doi.org/10.1111/eva.13023 ; Wu2023 https://doi.org/10.1371/journal.pgen.1010551</a:t>
            </a:r>
          </a:p>
          <a:p>
            <a:r>
              <a:t>育种利用：Dana2011 https://doi.org/10.1111/j.1365-2052.2010.02134.x ; Guo2022 https://doi.org/10.1111/eva.13241</a:t>
            </a:r>
          </a:p>
          <a:p>
            <a:r>
              <a:t>商业输入地方群体：Zhang2019 https://doi.org/10.1111/eva.12742 ; Nie2019 https://doi.org/10.1093/gbe/evz128 ; Qi2024 https://doi.org/10.1016/j.psj.2024.103863</a:t>
            </a:r>
          </a:p>
          <a:p>
            <a:r>
              <a:t>历史印度红原鸡至白来航：Wang2020 https://doi.org/10.1038/s41422-020-0349-y</a:t>
            </a:r>
          </a:p>
          <a:p>
            <a:r>
              <a:t>上海新杨至红原鸡参照的模型：Xu D2023 图3 https://doi.org/10.1186/s12864-023-09621-w</a:t>
            </a:r>
          </a:p>
          <a:p>
            <a:r>
              <a:t>圈养红原鸡至白来航的模型：Matsuda2025 Results https://doi.org/10.1186/s12864-025-12366-3</a:t>
            </a:r>
          </a:p>
          <a:p>
            <a:endParaRPr/>
          </a:p>
          <a:p>
            <a:endParaRPr/>
          </a:p>
          <a:p>
            <a:r>
              <a:t>插图来源：保留用户修改版中复用图1的三组原生矢量鸡图，鸡图和沿弧文字均保持可编辑。</a:t>
            </a:r>
          </a:p>
          <a:p>
            <a:r>
              <a:t>配色：红原鸡输出 #BF4A40；地方/传统家鸡输出 #8B5E3C；商业鸡输出 #386F9F。</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19901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Arial"/>
              </a:rPr>
              <a:t>Schematic of ancestry relationships and subsequent gene flow among red junglefowl, local and traditional chickens, and commercial chickens. Red, brown and blue arrows represent genetic contributions from red junglefowl, local and traditional chickens, and commercial chickens, respectively. Arrows point from the source population to the recipient. Solid lines summarize links supported by population-genetic and historical evidence; dashed lines indicate model inference or hypotheses. Dispersal and feralization refer to possible contact contexts rather than universally established routes. Direct introgression and breeding use on the dashed links remain possibilities. Commercial chickens are domestic chickens shown separately by use. The illustrations represent population categories; arrow width does not encode the magnitude of gene flow.</a:t>
            </a:r>
          </a:p>
          <a:p>
            <a:endParaRPr>
              <a:latin typeface="Arial"/>
            </a:endParaRPr>
          </a:p>
          <a:p>
            <a:r>
              <a:rPr>
                <a:latin typeface="Arial"/>
              </a:rPr>
              <a:t>Scientific sources:</a:t>
            </a:r>
          </a:p>
          <a:p>
            <a:r>
              <a:rPr>
                <a:latin typeface="Arial"/>
              </a:rPr>
              <a:t>Red junglefowl to domestic chickens: Berthouly et al. (2009), https://doi.org/10.1186/1471-2156-10-1 ; Wang et al. (2020), https://doi.org/10.1038/s41422-020-0349-y</a:t>
            </a:r>
          </a:p>
          <a:p>
            <a:r>
              <a:rPr>
                <a:latin typeface="Arial"/>
              </a:rPr>
              <a:t>Domestic chicken input to red junglefowl: Thakur et al. (2018), https://doi.org/10.1371/journal.pone.0204351 ; Wu et al. (2020), https://doi.org/10.1111/eva.13023 ; Wu et al. (2023), https://doi.org/10.1371/journal.pgen.1010551</a:t>
            </a:r>
          </a:p>
          <a:p>
            <a:r>
              <a:rPr>
                <a:latin typeface="Arial"/>
              </a:rPr>
              <a:t>Use in breeding: Dana et al. (2011), https://doi.org/10.1111/j.1365-2052.2010.02134.x ; Guo et al. (2022), https://doi.org/10.1111/eva.13241</a:t>
            </a:r>
          </a:p>
          <a:p>
            <a:r>
              <a:rPr>
                <a:latin typeface="Arial"/>
              </a:rPr>
              <a:t>Commercial inputs to local populations: Zhang et al. (2019), https://doi.org/10.1111/eva.12742 ; Nie et al. (2019), https://doi.org/10.1093/gbe/evz128 ; Qi et al. (2024), https://doi.org/10.1016/j.psj.2024.103863</a:t>
            </a:r>
          </a:p>
          <a:p>
            <a:r>
              <a:rPr>
                <a:latin typeface="Arial"/>
              </a:rPr>
              <a:t>Historical input from Indian red junglefowl into White Leghorn: Wang et al. (2020), https://doi.org/10.1038/s41422-020-0349-y</a:t>
            </a:r>
          </a:p>
          <a:p>
            <a:r>
              <a:rPr>
                <a:latin typeface="Arial"/>
              </a:rPr>
              <a:t>Model edge from Shanghai Xinyang layers to the red junglefowl reference population: Xu et al. (2023), Figure 3, https://doi.org/10.1186/s12864-023-09621-w</a:t>
            </a:r>
          </a:p>
          <a:p>
            <a:r>
              <a:rPr>
                <a:latin typeface="Arial"/>
              </a:rPr>
              <a:t>Model edge from captive Japanese red junglefowl to White Leghorn: Matsuda et al. (2025), Results, https://doi.org/10.1186/s12864-025-12366-3</a:t>
            </a:r>
          </a:p>
          <a:p>
            <a:endParaRPr>
              <a:latin typeface="Arial"/>
            </a:endParaRPr>
          </a:p>
          <a:p>
            <a:r>
              <a:rPr>
                <a:latin typeface="Arial"/>
              </a:rPr>
              <a:t>Illustrations: the three native vector chicken groups retained from the supplied Chinese figure and originally reused from project Figure 1. They represent categories, not sampled birds or identified donor strains. Both illustrations and curved labels remain editable.</a:t>
            </a:r>
          </a:p>
          <a:p>
            <a:r>
              <a:rPr>
                <a:latin typeface="Arial"/>
              </a:rPr>
              <a:t>Source colours: red junglefowl #BF4A40; local and traditional chickens #8B5E3C; commercial chickens #386F9F.</a:t>
            </a:r>
          </a:p>
          <a:p>
            <a:endParaRPr>
              <a:latin typeface="Arial"/>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62893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EC1DBE6-4AB3-417D-AB61-658A0628E4C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0B5E6310-2FC6-4054-ADA1-F5F9ECEC5A8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9CBE9E6-F7D9-4019-A4D6-7D968365A85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24CD82B-7C45-4006-834D-6128C36C884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114A69ED-2B20-49AB-91E3-26FB55C81B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A48E8B7-716E-41A8-BAA6-02CB4F6A8AA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9974BEA-2D20-4BFE-97BB-317FCDC2D36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112F7E48-232A-49D9-9C0B-AC541ED66C4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3275480-23C8-4D4C-A949-F23EA2EC9CA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A9D1F82-C38F-4EB4-9B44-D7FA7E53762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9" name="Fig1_1_editable_figure">
            <a:extLst>
              <a:ext uri="{FF2B5EF4-FFF2-40B4-BE49-F238E27FC236}">
                <a16:creationId xmlns:a16="http://schemas.microsoft.com/office/drawing/2014/main" id="{E770A72D-75BD-2C59-7B6D-2E70812533F8}"/>
              </a:ext>
            </a:extLst>
          </p:cNvPr>
          <p:cNvGrpSpPr>
            <a:grpSpLocks noChangeAspect="1"/>
          </p:cNvGrpSpPr>
          <p:nvPr/>
        </p:nvGrpSpPr>
        <p:grpSpPr>
          <a:xfrm>
            <a:off x="381000" y="787401"/>
            <a:ext cx="11434279" cy="5937249"/>
            <a:chOff x="381000" y="787401"/>
            <a:chExt cx="11434279" cy="5937249"/>
          </a:xfrm>
        </p:grpSpPr>
        <p:sp>
          <p:nvSpPr>
            <p:cNvPr id="2" name="diagram__line_2">
              <a:extLst>
                <a:ext uri="{FF2B5EF4-FFF2-40B4-BE49-F238E27FC236}">
                  <a16:creationId xmlns:a16="http://schemas.microsoft.com/office/drawing/2014/main" id="{FA41A02B-5A50-4617-8318-799CB683284D}"/>
                </a:ext>
              </a:extLst>
            </p:cNvPr>
            <p:cNvSpPr>
              <a:spLocks/>
            </p:cNvSpPr>
            <p:nvPr/>
          </p:nvSpPr>
          <p:spPr>
            <a:xfrm>
              <a:off x="381000" y="787401"/>
              <a:ext cx="11430000" cy="63"/>
            </a:xfrm>
            <a:custGeom>
              <a:avLst/>
              <a:gdLst/>
              <a:ahLst/>
              <a:cxnLst/>
              <a:rect l="0" t="0" r="0" b="0"/>
              <a:pathLst>
                <a:path w="17145000" h="95">
                  <a:moveTo>
                    <a:pt x="0" y="0"/>
                  </a:moveTo>
                  <a:lnTo>
                    <a:pt x="17145000" y="0"/>
                  </a:lnTo>
                </a:path>
              </a:pathLst>
            </a:custGeom>
            <a:noFill/>
            <a:ln w="14288">
              <a:solidFill>
                <a:srgbClr val="D6DEDA"/>
              </a:solidFill>
              <a:prstDash val="solid"/>
            </a:ln>
          </p:spPr>
          <p:txBody>
            <a:bodyPr/>
            <a:lstStyle/>
            <a:p>
              <a:endParaRPr sz="1200"/>
            </a:p>
          </p:txBody>
        </p:sp>
        <p:sp>
          <p:nvSpPr>
            <p:cNvPr id="3" name="diagram__stage-1-number_3">
              <a:extLst>
                <a:ext uri="{FF2B5EF4-FFF2-40B4-BE49-F238E27FC236}">
                  <a16:creationId xmlns:a16="http://schemas.microsoft.com/office/drawing/2014/main" id="{49860A7D-2961-436B-9D9D-7162EFD3E1DE}"/>
                </a:ext>
              </a:extLst>
            </p:cNvPr>
            <p:cNvSpPr>
              <a:spLocks/>
            </p:cNvSpPr>
            <p:nvPr/>
          </p:nvSpPr>
          <p:spPr>
            <a:xfrm>
              <a:off x="381000" y="1060450"/>
              <a:ext cx="298450" cy="368300"/>
            </a:xfrm>
            <a:prstGeom prst="rect">
              <a:avLst/>
            </a:prstGeom>
            <a:noFill/>
            <a:ln w="0">
              <a:noFill/>
            </a:ln>
          </p:spPr>
          <p:txBody>
            <a:bodyPr wrap="none" lIns="0" tIns="0" rIns="0" bIns="0" anchor="t">
              <a:noAutofit/>
            </a:bodyPr>
            <a:lstStyle>
              <a:defPPr algn="l">
                <a:defRPr sz="2175" b="1">
                  <a:solidFill>
                    <a:srgbClr val="547F62"/>
                  </a:solidFill>
                  <a:latin typeface="Arial"/>
                  <a:ea typeface="Arial"/>
                  <a:cs typeface="Arial"/>
                </a:defRPr>
              </a:defPPr>
            </a:lstStyle>
            <a:p>
              <a:pPr algn="l">
                <a:lnSpc>
                  <a:spcPct val="116000"/>
                </a:lnSpc>
                <a:buNone/>
                <a:defRPr sz="2175" b="1">
                  <a:solidFill>
                    <a:srgbClr val="547F62"/>
                  </a:solidFill>
                  <a:latin typeface="Arial"/>
                  <a:ea typeface="Arial"/>
                  <a:cs typeface="Arial"/>
                </a:defRPr>
              </a:pPr>
              <a:r>
                <a:rPr sz="1450" b="1">
                  <a:solidFill>
                    <a:srgbClr val="547F62"/>
                  </a:solidFill>
                  <a:latin typeface="Arial"/>
                  <a:ea typeface="Arial"/>
                  <a:cs typeface="Arial"/>
                </a:rPr>
                <a:t>01</a:t>
              </a:r>
            </a:p>
          </p:txBody>
        </p:sp>
        <p:sp>
          <p:nvSpPr>
            <p:cNvPr id="4" name="diagram__stage-1-heading_4">
              <a:extLst>
                <a:ext uri="{FF2B5EF4-FFF2-40B4-BE49-F238E27FC236}">
                  <a16:creationId xmlns:a16="http://schemas.microsoft.com/office/drawing/2014/main" id="{7CDEC842-D78C-4361-80BC-07D4414CEB5D}"/>
                </a:ext>
              </a:extLst>
            </p:cNvPr>
            <p:cNvSpPr>
              <a:spLocks/>
            </p:cNvSpPr>
            <p:nvPr/>
          </p:nvSpPr>
          <p:spPr>
            <a:xfrm>
              <a:off x="730250" y="1009650"/>
              <a:ext cx="222250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农业聚落与共栖</a:t>
              </a:r>
            </a:p>
          </p:txBody>
        </p:sp>
        <p:sp>
          <p:nvSpPr>
            <p:cNvPr id="5" name="diagram__stage-1-rule_5">
              <a:extLst>
                <a:ext uri="{FF2B5EF4-FFF2-40B4-BE49-F238E27FC236}">
                  <a16:creationId xmlns:a16="http://schemas.microsoft.com/office/drawing/2014/main" id="{C5299A12-2221-43EB-8A8C-2DBF6F1CA866}"/>
                </a:ext>
              </a:extLst>
            </p:cNvPr>
            <p:cNvSpPr>
              <a:spLocks/>
            </p:cNvSpPr>
            <p:nvPr/>
          </p:nvSpPr>
          <p:spPr>
            <a:xfrm>
              <a:off x="381000" y="1581151"/>
              <a:ext cx="2571750" cy="63"/>
            </a:xfrm>
            <a:custGeom>
              <a:avLst/>
              <a:gdLst/>
              <a:ahLst/>
              <a:cxnLst/>
              <a:rect l="0" t="0" r="0" b="0"/>
              <a:pathLst>
                <a:path w="3857625" h="95">
                  <a:moveTo>
                    <a:pt x="0" y="0"/>
                  </a:moveTo>
                  <a:lnTo>
                    <a:pt x="3857625" y="0"/>
                  </a:lnTo>
                </a:path>
              </a:pathLst>
            </a:custGeom>
            <a:noFill/>
            <a:ln w="28575">
              <a:solidFill>
                <a:srgbClr val="547F62"/>
              </a:solidFill>
              <a:prstDash val="solid"/>
            </a:ln>
          </p:spPr>
          <p:txBody>
            <a:bodyPr/>
            <a:lstStyle/>
            <a:p>
              <a:endParaRPr sz="1200"/>
            </a:p>
          </p:txBody>
        </p:sp>
        <p:sp>
          <p:nvSpPr>
            <p:cNvPr id="6" name="diagram__stage-2-number_6">
              <a:extLst>
                <a:ext uri="{FF2B5EF4-FFF2-40B4-BE49-F238E27FC236}">
                  <a16:creationId xmlns:a16="http://schemas.microsoft.com/office/drawing/2014/main" id="{97CB39BB-876F-4ACD-AEAC-FFD8261E8F64}"/>
                </a:ext>
              </a:extLst>
            </p:cNvPr>
            <p:cNvSpPr>
              <a:spLocks/>
            </p:cNvSpPr>
            <p:nvPr/>
          </p:nvSpPr>
          <p:spPr>
            <a:xfrm>
              <a:off x="3206750" y="1060450"/>
              <a:ext cx="298450" cy="368300"/>
            </a:xfrm>
            <a:prstGeom prst="rect">
              <a:avLst/>
            </a:prstGeom>
            <a:noFill/>
            <a:ln w="0">
              <a:noFill/>
            </a:ln>
          </p:spPr>
          <p:txBody>
            <a:bodyPr wrap="none" lIns="0" tIns="0" rIns="0" bIns="0" anchor="t">
              <a:noAutofit/>
            </a:bodyPr>
            <a:lstStyle>
              <a:defPPr algn="l">
                <a:defRPr sz="2175" b="1">
                  <a:solidFill>
                    <a:srgbClr val="AC7941"/>
                  </a:solidFill>
                  <a:latin typeface="Arial"/>
                  <a:ea typeface="Arial"/>
                  <a:cs typeface="Arial"/>
                </a:defRPr>
              </a:defPPr>
            </a:lstStyle>
            <a:p>
              <a:pPr algn="l">
                <a:lnSpc>
                  <a:spcPct val="116000"/>
                </a:lnSpc>
                <a:buNone/>
                <a:defRPr sz="2175" b="1">
                  <a:solidFill>
                    <a:srgbClr val="AC7941"/>
                  </a:solidFill>
                  <a:latin typeface="Arial"/>
                  <a:ea typeface="Arial"/>
                  <a:cs typeface="Arial"/>
                </a:defRPr>
              </a:pPr>
              <a:r>
                <a:rPr sz="1450" b="1">
                  <a:solidFill>
                    <a:srgbClr val="AC7941"/>
                  </a:solidFill>
                  <a:latin typeface="Arial"/>
                  <a:ea typeface="Arial"/>
                  <a:cs typeface="Arial"/>
                </a:rPr>
                <a:t>02</a:t>
              </a:r>
            </a:p>
          </p:txBody>
        </p:sp>
        <p:sp>
          <p:nvSpPr>
            <p:cNvPr id="7" name="diagram__stage-2-heading_7">
              <a:extLst>
                <a:ext uri="{FF2B5EF4-FFF2-40B4-BE49-F238E27FC236}">
                  <a16:creationId xmlns:a16="http://schemas.microsoft.com/office/drawing/2014/main" id="{031F01D4-1482-4480-87A8-F0C4D983C259}"/>
                </a:ext>
              </a:extLst>
            </p:cNvPr>
            <p:cNvSpPr>
              <a:spLocks/>
            </p:cNvSpPr>
            <p:nvPr/>
          </p:nvSpPr>
          <p:spPr>
            <a:xfrm>
              <a:off x="3556000" y="1009650"/>
              <a:ext cx="222250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持续管理与驯化</a:t>
              </a:r>
            </a:p>
          </p:txBody>
        </p:sp>
        <p:sp>
          <p:nvSpPr>
            <p:cNvPr id="8" name="diagram__stage-2-rule_8">
              <a:extLst>
                <a:ext uri="{FF2B5EF4-FFF2-40B4-BE49-F238E27FC236}">
                  <a16:creationId xmlns:a16="http://schemas.microsoft.com/office/drawing/2014/main" id="{15CF57A6-0C90-445D-85A6-1E7FEC20AE46}"/>
                </a:ext>
              </a:extLst>
            </p:cNvPr>
            <p:cNvSpPr>
              <a:spLocks/>
            </p:cNvSpPr>
            <p:nvPr/>
          </p:nvSpPr>
          <p:spPr>
            <a:xfrm>
              <a:off x="3206750" y="1581151"/>
              <a:ext cx="2571750" cy="63"/>
            </a:xfrm>
            <a:custGeom>
              <a:avLst/>
              <a:gdLst/>
              <a:ahLst/>
              <a:cxnLst/>
              <a:rect l="0" t="0" r="0" b="0"/>
              <a:pathLst>
                <a:path w="3857625" h="95">
                  <a:moveTo>
                    <a:pt x="0" y="0"/>
                  </a:moveTo>
                  <a:lnTo>
                    <a:pt x="3857625" y="0"/>
                  </a:lnTo>
                </a:path>
              </a:pathLst>
            </a:custGeom>
            <a:noFill/>
            <a:ln w="28575">
              <a:solidFill>
                <a:srgbClr val="AC7941"/>
              </a:solidFill>
              <a:prstDash val="solid"/>
            </a:ln>
          </p:spPr>
          <p:txBody>
            <a:bodyPr/>
            <a:lstStyle/>
            <a:p>
              <a:endParaRPr sz="1200"/>
            </a:p>
          </p:txBody>
        </p:sp>
        <p:sp>
          <p:nvSpPr>
            <p:cNvPr id="9" name="diagram__stage-3-number_9">
              <a:extLst>
                <a:ext uri="{FF2B5EF4-FFF2-40B4-BE49-F238E27FC236}">
                  <a16:creationId xmlns:a16="http://schemas.microsoft.com/office/drawing/2014/main" id="{1077A005-AF3F-4DB3-8934-3D7812FB9D2C}"/>
                </a:ext>
              </a:extLst>
            </p:cNvPr>
            <p:cNvSpPr>
              <a:spLocks/>
            </p:cNvSpPr>
            <p:nvPr/>
          </p:nvSpPr>
          <p:spPr>
            <a:xfrm>
              <a:off x="6032500" y="1060450"/>
              <a:ext cx="298450" cy="368300"/>
            </a:xfrm>
            <a:prstGeom prst="rect">
              <a:avLst/>
            </a:prstGeom>
            <a:noFill/>
            <a:ln w="0">
              <a:noFill/>
            </a:ln>
          </p:spPr>
          <p:txBody>
            <a:bodyPr wrap="none" lIns="0" tIns="0" rIns="0" bIns="0" anchor="t">
              <a:noAutofit/>
            </a:bodyPr>
            <a:lstStyle>
              <a:defPPr algn="l">
                <a:defRPr sz="2175" b="1">
                  <a:solidFill>
                    <a:srgbClr val="547D93"/>
                  </a:solidFill>
                  <a:latin typeface="Arial"/>
                  <a:ea typeface="Arial"/>
                  <a:cs typeface="Arial"/>
                </a:defRPr>
              </a:defPPr>
            </a:lstStyle>
            <a:p>
              <a:pPr algn="l">
                <a:lnSpc>
                  <a:spcPct val="116000"/>
                </a:lnSpc>
                <a:buNone/>
                <a:defRPr sz="2175" b="1">
                  <a:solidFill>
                    <a:srgbClr val="547D93"/>
                  </a:solidFill>
                  <a:latin typeface="Arial"/>
                  <a:ea typeface="Arial"/>
                  <a:cs typeface="Arial"/>
                </a:defRPr>
              </a:pPr>
              <a:r>
                <a:rPr sz="1450" b="1">
                  <a:solidFill>
                    <a:srgbClr val="547D93"/>
                  </a:solidFill>
                  <a:latin typeface="Arial"/>
                  <a:ea typeface="Arial"/>
                  <a:cs typeface="Arial"/>
                </a:rPr>
                <a:t>03</a:t>
              </a:r>
            </a:p>
          </p:txBody>
        </p:sp>
        <p:sp>
          <p:nvSpPr>
            <p:cNvPr id="10" name="diagram__stage-3-heading_10">
              <a:extLst>
                <a:ext uri="{FF2B5EF4-FFF2-40B4-BE49-F238E27FC236}">
                  <a16:creationId xmlns:a16="http://schemas.microsoft.com/office/drawing/2014/main" id="{19A70982-D89E-4496-B593-08E56BC487E2}"/>
                </a:ext>
              </a:extLst>
            </p:cNvPr>
            <p:cNvSpPr>
              <a:spLocks/>
            </p:cNvSpPr>
            <p:nvPr/>
          </p:nvSpPr>
          <p:spPr>
            <a:xfrm>
              <a:off x="6381750" y="1009650"/>
              <a:ext cx="250825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传播与地方分化</a:t>
              </a:r>
            </a:p>
          </p:txBody>
        </p:sp>
        <p:sp>
          <p:nvSpPr>
            <p:cNvPr id="11" name="diagram__stage-3-rule_11">
              <a:extLst>
                <a:ext uri="{FF2B5EF4-FFF2-40B4-BE49-F238E27FC236}">
                  <a16:creationId xmlns:a16="http://schemas.microsoft.com/office/drawing/2014/main" id="{462D5D4C-2A53-4269-8553-1EAE9ED0C250}"/>
                </a:ext>
              </a:extLst>
            </p:cNvPr>
            <p:cNvSpPr>
              <a:spLocks/>
            </p:cNvSpPr>
            <p:nvPr/>
          </p:nvSpPr>
          <p:spPr>
            <a:xfrm>
              <a:off x="6032500" y="1581151"/>
              <a:ext cx="2857500" cy="63"/>
            </a:xfrm>
            <a:custGeom>
              <a:avLst/>
              <a:gdLst/>
              <a:ahLst/>
              <a:cxnLst/>
              <a:rect l="0" t="0" r="0" b="0"/>
              <a:pathLst>
                <a:path w="4286250" h="95">
                  <a:moveTo>
                    <a:pt x="0" y="0"/>
                  </a:moveTo>
                  <a:lnTo>
                    <a:pt x="4286250" y="0"/>
                  </a:lnTo>
                </a:path>
              </a:pathLst>
            </a:custGeom>
            <a:noFill/>
            <a:ln w="28575">
              <a:solidFill>
                <a:srgbClr val="547D93"/>
              </a:solidFill>
              <a:prstDash val="solid"/>
            </a:ln>
          </p:spPr>
          <p:txBody>
            <a:bodyPr/>
            <a:lstStyle/>
            <a:p>
              <a:endParaRPr sz="1200"/>
            </a:p>
          </p:txBody>
        </p:sp>
        <p:sp>
          <p:nvSpPr>
            <p:cNvPr id="12" name="diagram__stage-4-number_12">
              <a:extLst>
                <a:ext uri="{FF2B5EF4-FFF2-40B4-BE49-F238E27FC236}">
                  <a16:creationId xmlns:a16="http://schemas.microsoft.com/office/drawing/2014/main" id="{1251C28E-E29D-491C-8428-600940FE062E}"/>
                </a:ext>
              </a:extLst>
            </p:cNvPr>
            <p:cNvSpPr>
              <a:spLocks/>
            </p:cNvSpPr>
            <p:nvPr/>
          </p:nvSpPr>
          <p:spPr>
            <a:xfrm>
              <a:off x="9175750" y="1060450"/>
              <a:ext cx="298450" cy="368300"/>
            </a:xfrm>
            <a:prstGeom prst="rect">
              <a:avLst/>
            </a:prstGeom>
            <a:noFill/>
            <a:ln w="0">
              <a:noFill/>
            </a:ln>
          </p:spPr>
          <p:txBody>
            <a:bodyPr wrap="none" lIns="0" tIns="0" rIns="0" bIns="0" anchor="t">
              <a:noAutofit/>
            </a:bodyPr>
            <a:lstStyle>
              <a:defPPr algn="l">
                <a:defRPr sz="2175" b="1">
                  <a:solidFill>
                    <a:srgbClr val="846786"/>
                  </a:solidFill>
                  <a:latin typeface="Arial"/>
                  <a:ea typeface="Arial"/>
                  <a:cs typeface="Arial"/>
                </a:defRPr>
              </a:defPPr>
            </a:lstStyle>
            <a:p>
              <a:pPr algn="l">
                <a:lnSpc>
                  <a:spcPct val="116000"/>
                </a:lnSpc>
                <a:buNone/>
                <a:defRPr sz="2175" b="1">
                  <a:solidFill>
                    <a:srgbClr val="846786"/>
                  </a:solidFill>
                  <a:latin typeface="Arial"/>
                  <a:ea typeface="Arial"/>
                  <a:cs typeface="Arial"/>
                </a:defRPr>
              </a:pPr>
              <a:r>
                <a:rPr sz="1450" b="1">
                  <a:solidFill>
                    <a:srgbClr val="846786"/>
                  </a:solidFill>
                  <a:latin typeface="Arial"/>
                  <a:ea typeface="Arial"/>
                  <a:cs typeface="Arial"/>
                </a:rPr>
                <a:t>04</a:t>
              </a:r>
            </a:p>
          </p:txBody>
        </p:sp>
        <p:sp>
          <p:nvSpPr>
            <p:cNvPr id="13" name="diagram__stage-4-heading_13">
              <a:extLst>
                <a:ext uri="{FF2B5EF4-FFF2-40B4-BE49-F238E27FC236}">
                  <a16:creationId xmlns:a16="http://schemas.microsoft.com/office/drawing/2014/main" id="{0ECB9689-2FE2-47DA-A652-45F09CBB6DEA}"/>
                </a:ext>
              </a:extLst>
            </p:cNvPr>
            <p:cNvSpPr>
              <a:spLocks/>
            </p:cNvSpPr>
            <p:nvPr/>
          </p:nvSpPr>
          <p:spPr>
            <a:xfrm>
              <a:off x="9525000" y="1009650"/>
              <a:ext cx="228600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全球分布与持续演化</a:t>
              </a:r>
            </a:p>
          </p:txBody>
        </p:sp>
        <p:sp>
          <p:nvSpPr>
            <p:cNvPr id="14" name="diagram__stage-4-rule_14">
              <a:extLst>
                <a:ext uri="{FF2B5EF4-FFF2-40B4-BE49-F238E27FC236}">
                  <a16:creationId xmlns:a16="http://schemas.microsoft.com/office/drawing/2014/main" id="{68334342-C175-4A11-94BF-BCF3CB86ACD8}"/>
                </a:ext>
              </a:extLst>
            </p:cNvPr>
            <p:cNvSpPr>
              <a:spLocks/>
            </p:cNvSpPr>
            <p:nvPr/>
          </p:nvSpPr>
          <p:spPr>
            <a:xfrm>
              <a:off x="9175750" y="1581151"/>
              <a:ext cx="2635250" cy="63"/>
            </a:xfrm>
            <a:custGeom>
              <a:avLst/>
              <a:gdLst/>
              <a:ahLst/>
              <a:cxnLst/>
              <a:rect l="0" t="0" r="0" b="0"/>
              <a:pathLst>
                <a:path w="3952875" h="95">
                  <a:moveTo>
                    <a:pt x="0" y="0"/>
                  </a:moveTo>
                  <a:lnTo>
                    <a:pt x="3952875" y="0"/>
                  </a:lnTo>
                </a:path>
              </a:pathLst>
            </a:custGeom>
            <a:noFill/>
            <a:ln w="28575">
              <a:solidFill>
                <a:srgbClr val="846786"/>
              </a:solidFill>
              <a:prstDash val="solid"/>
            </a:ln>
          </p:spPr>
          <p:txBody>
            <a:bodyPr/>
            <a:lstStyle/>
            <a:p>
              <a:endParaRPr sz="1200"/>
            </a:p>
          </p:txBody>
        </p:sp>
        <p:sp>
          <p:nvSpPr>
            <p:cNvPr id="15" name="s1-ground__ellipse_15">
              <a:extLst>
                <a:ext uri="{FF2B5EF4-FFF2-40B4-BE49-F238E27FC236}">
                  <a16:creationId xmlns:a16="http://schemas.microsoft.com/office/drawing/2014/main" id="{F3C53ED4-50E8-47E5-985E-4B502B3BEB9F}"/>
                </a:ext>
              </a:extLst>
            </p:cNvPr>
            <p:cNvSpPr>
              <a:spLocks/>
            </p:cNvSpPr>
            <p:nvPr/>
          </p:nvSpPr>
          <p:spPr>
            <a:xfrm>
              <a:off x="412750" y="3422650"/>
              <a:ext cx="2476500" cy="711200"/>
            </a:xfrm>
            <a:prstGeom prst="ellipse">
              <a:avLst/>
            </a:prstGeom>
            <a:solidFill>
              <a:srgbClr val="E9EFDE"/>
            </a:solidFill>
            <a:ln w="0">
              <a:noFill/>
              <a:prstDash val="solid"/>
            </a:ln>
          </p:spPr>
          <p:txBody>
            <a:bodyPr/>
            <a:lstStyle/>
            <a:p>
              <a:endParaRPr sz="1200"/>
            </a:p>
          </p:txBody>
        </p:sp>
        <p:sp>
          <p:nvSpPr>
            <p:cNvPr id="16" name="s1-ground__path_16">
              <a:extLst>
                <a:ext uri="{FF2B5EF4-FFF2-40B4-BE49-F238E27FC236}">
                  <a16:creationId xmlns:a16="http://schemas.microsoft.com/office/drawing/2014/main" id="{1907946F-AB47-4D8F-8DD5-9DBF56080DB4}"/>
                </a:ext>
              </a:extLst>
            </p:cNvPr>
            <p:cNvSpPr>
              <a:spLocks/>
            </p:cNvSpPr>
            <p:nvPr/>
          </p:nvSpPr>
          <p:spPr>
            <a:xfrm>
              <a:off x="1250950" y="2482850"/>
              <a:ext cx="1593850" cy="914400"/>
            </a:xfrm>
            <a:custGeom>
              <a:avLst/>
              <a:gdLst/>
              <a:ahLst/>
              <a:cxnLst/>
              <a:rect l="0" t="0" r="0" b="0"/>
              <a:pathLst>
                <a:path w="2390775" h="1371600">
                  <a:moveTo>
                    <a:pt x="419100" y="0"/>
                  </a:moveTo>
                  <a:lnTo>
                    <a:pt x="2390775" y="457200"/>
                  </a:lnTo>
                  <a:lnTo>
                    <a:pt x="1714500" y="1371600"/>
                  </a:lnTo>
                  <a:lnTo>
                    <a:pt x="0" y="809625"/>
                  </a:lnTo>
                  <a:close/>
                </a:path>
              </a:pathLst>
            </a:custGeom>
            <a:solidFill>
              <a:srgbClr val="D8D8A8"/>
            </a:solidFill>
            <a:ln w="11430">
              <a:solidFill>
                <a:srgbClr val="B5BA8A"/>
              </a:solidFill>
              <a:prstDash val="solid"/>
            </a:ln>
          </p:spPr>
          <p:txBody>
            <a:bodyPr/>
            <a:lstStyle/>
            <a:p>
              <a:endParaRPr sz="1200"/>
            </a:p>
          </p:txBody>
        </p:sp>
        <p:sp>
          <p:nvSpPr>
            <p:cNvPr id="17" name="s1-ground__line_17">
              <a:extLst>
                <a:ext uri="{FF2B5EF4-FFF2-40B4-BE49-F238E27FC236}">
                  <a16:creationId xmlns:a16="http://schemas.microsoft.com/office/drawing/2014/main" id="{ADD780C4-6E2B-48DA-8F42-57440D963DCC}"/>
                </a:ext>
              </a:extLst>
            </p:cNvPr>
            <p:cNvSpPr>
              <a:spLocks/>
            </p:cNvSpPr>
            <p:nvPr/>
          </p:nvSpPr>
          <p:spPr>
            <a:xfrm>
              <a:off x="1339850" y="2552700"/>
              <a:ext cx="190500" cy="488950"/>
            </a:xfrm>
            <a:custGeom>
              <a:avLst/>
              <a:gdLst/>
              <a:ahLst/>
              <a:cxnLst/>
              <a:rect l="0" t="0" r="0" b="0"/>
              <a:pathLst>
                <a:path w="285750" h="733425">
                  <a:moveTo>
                    <a:pt x="285750" y="0"/>
                  </a:moveTo>
                  <a:lnTo>
                    <a:pt x="0" y="733425"/>
                  </a:lnTo>
                </a:path>
              </a:pathLst>
            </a:custGeom>
            <a:noFill/>
            <a:ln w="10478">
              <a:solidFill>
                <a:srgbClr val="BFC291"/>
              </a:solidFill>
              <a:prstDash val="solid"/>
            </a:ln>
          </p:spPr>
          <p:txBody>
            <a:bodyPr/>
            <a:lstStyle/>
            <a:p>
              <a:endParaRPr sz="1200"/>
            </a:p>
          </p:txBody>
        </p:sp>
        <p:sp>
          <p:nvSpPr>
            <p:cNvPr id="18" name="s1-ground__line_18">
              <a:extLst>
                <a:ext uri="{FF2B5EF4-FFF2-40B4-BE49-F238E27FC236}">
                  <a16:creationId xmlns:a16="http://schemas.microsoft.com/office/drawing/2014/main" id="{D68DE19C-040D-45A3-9F0C-23DE4ECE6B98}"/>
                </a:ext>
              </a:extLst>
            </p:cNvPr>
            <p:cNvSpPr>
              <a:spLocks/>
            </p:cNvSpPr>
            <p:nvPr/>
          </p:nvSpPr>
          <p:spPr>
            <a:xfrm>
              <a:off x="1549400" y="2603500"/>
              <a:ext cx="190500" cy="495300"/>
            </a:xfrm>
            <a:custGeom>
              <a:avLst/>
              <a:gdLst/>
              <a:ahLst/>
              <a:cxnLst/>
              <a:rect l="0" t="0" r="0" b="0"/>
              <a:pathLst>
                <a:path w="285750" h="742950">
                  <a:moveTo>
                    <a:pt x="285750" y="0"/>
                  </a:moveTo>
                  <a:lnTo>
                    <a:pt x="0" y="742950"/>
                  </a:lnTo>
                </a:path>
              </a:pathLst>
            </a:custGeom>
            <a:noFill/>
            <a:ln w="10478">
              <a:solidFill>
                <a:srgbClr val="BFC291"/>
              </a:solidFill>
              <a:prstDash val="solid"/>
            </a:ln>
          </p:spPr>
          <p:txBody>
            <a:bodyPr/>
            <a:lstStyle/>
            <a:p>
              <a:endParaRPr sz="1200"/>
            </a:p>
          </p:txBody>
        </p:sp>
        <p:sp>
          <p:nvSpPr>
            <p:cNvPr id="19" name="s1-ground__line_19">
              <a:extLst>
                <a:ext uri="{FF2B5EF4-FFF2-40B4-BE49-F238E27FC236}">
                  <a16:creationId xmlns:a16="http://schemas.microsoft.com/office/drawing/2014/main" id="{1E68BCA3-772B-4818-A472-282599B20C04}"/>
                </a:ext>
              </a:extLst>
            </p:cNvPr>
            <p:cNvSpPr>
              <a:spLocks/>
            </p:cNvSpPr>
            <p:nvPr/>
          </p:nvSpPr>
          <p:spPr>
            <a:xfrm>
              <a:off x="1758950" y="2654300"/>
              <a:ext cx="190500" cy="501650"/>
            </a:xfrm>
            <a:custGeom>
              <a:avLst/>
              <a:gdLst/>
              <a:ahLst/>
              <a:cxnLst/>
              <a:rect l="0" t="0" r="0" b="0"/>
              <a:pathLst>
                <a:path w="285750" h="752475">
                  <a:moveTo>
                    <a:pt x="285750" y="0"/>
                  </a:moveTo>
                  <a:lnTo>
                    <a:pt x="0" y="752475"/>
                  </a:lnTo>
                </a:path>
              </a:pathLst>
            </a:custGeom>
            <a:noFill/>
            <a:ln w="10478">
              <a:solidFill>
                <a:srgbClr val="BFC291"/>
              </a:solidFill>
              <a:prstDash val="solid"/>
            </a:ln>
          </p:spPr>
          <p:txBody>
            <a:bodyPr/>
            <a:lstStyle/>
            <a:p>
              <a:endParaRPr sz="1200"/>
            </a:p>
          </p:txBody>
        </p:sp>
        <p:sp>
          <p:nvSpPr>
            <p:cNvPr id="20" name="s1-ground__line_20">
              <a:extLst>
                <a:ext uri="{FF2B5EF4-FFF2-40B4-BE49-F238E27FC236}">
                  <a16:creationId xmlns:a16="http://schemas.microsoft.com/office/drawing/2014/main" id="{67EDAAF1-A49C-40C6-8BCA-96EC523D8C6A}"/>
                </a:ext>
              </a:extLst>
            </p:cNvPr>
            <p:cNvSpPr>
              <a:spLocks/>
            </p:cNvSpPr>
            <p:nvPr/>
          </p:nvSpPr>
          <p:spPr>
            <a:xfrm>
              <a:off x="1968500" y="2705100"/>
              <a:ext cx="190500" cy="508000"/>
            </a:xfrm>
            <a:custGeom>
              <a:avLst/>
              <a:gdLst/>
              <a:ahLst/>
              <a:cxnLst/>
              <a:rect l="0" t="0" r="0" b="0"/>
              <a:pathLst>
                <a:path w="285750" h="762000">
                  <a:moveTo>
                    <a:pt x="285750" y="0"/>
                  </a:moveTo>
                  <a:lnTo>
                    <a:pt x="0" y="762000"/>
                  </a:lnTo>
                </a:path>
              </a:pathLst>
            </a:custGeom>
            <a:noFill/>
            <a:ln w="10478">
              <a:solidFill>
                <a:srgbClr val="BFC291"/>
              </a:solidFill>
              <a:prstDash val="solid"/>
            </a:ln>
          </p:spPr>
          <p:txBody>
            <a:bodyPr/>
            <a:lstStyle/>
            <a:p>
              <a:endParaRPr sz="1200"/>
            </a:p>
          </p:txBody>
        </p:sp>
        <p:sp>
          <p:nvSpPr>
            <p:cNvPr id="21" name="s1-ground__line_21">
              <a:extLst>
                <a:ext uri="{FF2B5EF4-FFF2-40B4-BE49-F238E27FC236}">
                  <a16:creationId xmlns:a16="http://schemas.microsoft.com/office/drawing/2014/main" id="{6FD57065-C093-4382-B45E-D945FC1B5D35}"/>
                </a:ext>
              </a:extLst>
            </p:cNvPr>
            <p:cNvSpPr>
              <a:spLocks/>
            </p:cNvSpPr>
            <p:nvPr/>
          </p:nvSpPr>
          <p:spPr>
            <a:xfrm>
              <a:off x="2178050" y="2755900"/>
              <a:ext cx="190500" cy="514350"/>
            </a:xfrm>
            <a:custGeom>
              <a:avLst/>
              <a:gdLst/>
              <a:ahLst/>
              <a:cxnLst/>
              <a:rect l="0" t="0" r="0" b="0"/>
              <a:pathLst>
                <a:path w="285750" h="771525">
                  <a:moveTo>
                    <a:pt x="285750" y="0"/>
                  </a:moveTo>
                  <a:lnTo>
                    <a:pt x="0" y="771525"/>
                  </a:lnTo>
                </a:path>
              </a:pathLst>
            </a:custGeom>
            <a:noFill/>
            <a:ln w="10478">
              <a:solidFill>
                <a:srgbClr val="BFC291"/>
              </a:solidFill>
              <a:prstDash val="solid"/>
            </a:ln>
          </p:spPr>
          <p:txBody>
            <a:bodyPr/>
            <a:lstStyle/>
            <a:p>
              <a:endParaRPr sz="1200"/>
            </a:p>
          </p:txBody>
        </p:sp>
        <p:sp>
          <p:nvSpPr>
            <p:cNvPr id="22" name="s1-tree-left__rect_22">
              <a:extLst>
                <a:ext uri="{FF2B5EF4-FFF2-40B4-BE49-F238E27FC236}">
                  <a16:creationId xmlns:a16="http://schemas.microsoft.com/office/drawing/2014/main" id="{679EE035-6CEE-4C14-9307-6002C10C6EFF}"/>
                </a:ext>
              </a:extLst>
            </p:cNvPr>
            <p:cNvSpPr>
              <a:spLocks/>
            </p:cNvSpPr>
            <p:nvPr/>
          </p:nvSpPr>
          <p:spPr>
            <a:xfrm>
              <a:off x="559435" y="2108582"/>
              <a:ext cx="41909" cy="247269"/>
            </a:xfrm>
            <a:prstGeom prst="rect">
              <a:avLst/>
            </a:prstGeom>
            <a:solidFill>
              <a:srgbClr val="9B8964"/>
            </a:solidFill>
            <a:ln w="0">
              <a:noFill/>
              <a:prstDash val="solid"/>
            </a:ln>
          </p:spPr>
          <p:txBody>
            <a:bodyPr/>
            <a:lstStyle/>
            <a:p>
              <a:endParaRPr sz="1200"/>
            </a:p>
          </p:txBody>
        </p:sp>
        <p:sp>
          <p:nvSpPr>
            <p:cNvPr id="23" name="s1-tree-left__ellipse_23">
              <a:extLst>
                <a:ext uri="{FF2B5EF4-FFF2-40B4-BE49-F238E27FC236}">
                  <a16:creationId xmlns:a16="http://schemas.microsoft.com/office/drawing/2014/main" id="{301E6386-5840-4D93-8666-D5E2F0C2441D}"/>
                </a:ext>
              </a:extLst>
            </p:cNvPr>
            <p:cNvSpPr>
              <a:spLocks/>
            </p:cNvSpPr>
            <p:nvPr/>
          </p:nvSpPr>
          <p:spPr>
            <a:xfrm>
              <a:off x="437896" y="2016379"/>
              <a:ext cx="176021" cy="180213"/>
            </a:xfrm>
            <a:prstGeom prst="ellipse">
              <a:avLst/>
            </a:prstGeom>
            <a:solidFill>
              <a:srgbClr val="A5B591"/>
            </a:solidFill>
            <a:ln w="0">
              <a:noFill/>
              <a:prstDash val="solid"/>
            </a:ln>
          </p:spPr>
          <p:txBody>
            <a:bodyPr/>
            <a:lstStyle/>
            <a:p>
              <a:endParaRPr sz="1200"/>
            </a:p>
          </p:txBody>
        </p:sp>
        <p:sp>
          <p:nvSpPr>
            <p:cNvPr id="24" name="s1-tree-left__ellipse_24">
              <a:extLst>
                <a:ext uri="{FF2B5EF4-FFF2-40B4-BE49-F238E27FC236}">
                  <a16:creationId xmlns:a16="http://schemas.microsoft.com/office/drawing/2014/main" id="{3AB2AD14-108C-4D38-B661-77DC7380274F}"/>
                </a:ext>
              </a:extLst>
            </p:cNvPr>
            <p:cNvSpPr>
              <a:spLocks/>
            </p:cNvSpPr>
            <p:nvPr/>
          </p:nvSpPr>
          <p:spPr>
            <a:xfrm>
              <a:off x="551053" y="1999615"/>
              <a:ext cx="167639" cy="205359"/>
            </a:xfrm>
            <a:prstGeom prst="ellipse">
              <a:avLst/>
            </a:prstGeom>
            <a:solidFill>
              <a:srgbClr val="B6C4A0"/>
            </a:solidFill>
            <a:ln w="0">
              <a:noFill/>
              <a:prstDash val="solid"/>
            </a:ln>
          </p:spPr>
          <p:txBody>
            <a:bodyPr/>
            <a:lstStyle/>
            <a:p>
              <a:endParaRPr sz="1200"/>
            </a:p>
          </p:txBody>
        </p:sp>
        <p:sp>
          <p:nvSpPr>
            <p:cNvPr id="25" name="s1-tree-left__ellipse_25">
              <a:extLst>
                <a:ext uri="{FF2B5EF4-FFF2-40B4-BE49-F238E27FC236}">
                  <a16:creationId xmlns:a16="http://schemas.microsoft.com/office/drawing/2014/main" id="{B17673D3-54A9-492F-88E3-A372942CE746}"/>
                </a:ext>
              </a:extLst>
            </p:cNvPr>
            <p:cNvSpPr>
              <a:spLocks/>
            </p:cNvSpPr>
            <p:nvPr/>
          </p:nvSpPr>
          <p:spPr>
            <a:xfrm>
              <a:off x="496570" y="1936750"/>
              <a:ext cx="163449" cy="184404"/>
            </a:xfrm>
            <a:prstGeom prst="ellipse">
              <a:avLst/>
            </a:prstGeom>
            <a:solidFill>
              <a:srgbClr val="9FB18A"/>
            </a:solidFill>
            <a:ln w="0">
              <a:noFill/>
              <a:prstDash val="solid"/>
            </a:ln>
          </p:spPr>
          <p:txBody>
            <a:bodyPr/>
            <a:lstStyle/>
            <a:p>
              <a:endParaRPr sz="1200"/>
            </a:p>
          </p:txBody>
        </p:sp>
        <p:sp>
          <p:nvSpPr>
            <p:cNvPr id="26" name="s1-tree-left__ellipse_26">
              <a:extLst>
                <a:ext uri="{FF2B5EF4-FFF2-40B4-BE49-F238E27FC236}">
                  <a16:creationId xmlns:a16="http://schemas.microsoft.com/office/drawing/2014/main" id="{132D2B4A-574E-46DC-BAAD-1266EE240AC1}"/>
                </a:ext>
              </a:extLst>
            </p:cNvPr>
            <p:cNvSpPr>
              <a:spLocks/>
            </p:cNvSpPr>
            <p:nvPr/>
          </p:nvSpPr>
          <p:spPr>
            <a:xfrm>
              <a:off x="500761" y="2087626"/>
              <a:ext cx="155067" cy="125730"/>
            </a:xfrm>
            <a:prstGeom prst="ellipse">
              <a:avLst/>
            </a:prstGeom>
            <a:solidFill>
              <a:srgbClr val="ADC09A"/>
            </a:solidFill>
            <a:ln w="0">
              <a:noFill/>
              <a:prstDash val="solid"/>
            </a:ln>
          </p:spPr>
          <p:txBody>
            <a:bodyPr/>
            <a:lstStyle/>
            <a:p>
              <a:endParaRPr sz="1200"/>
            </a:p>
          </p:txBody>
        </p:sp>
        <p:sp>
          <p:nvSpPr>
            <p:cNvPr id="27" name="s1-tree-right__rect_27">
              <a:extLst>
                <a:ext uri="{FF2B5EF4-FFF2-40B4-BE49-F238E27FC236}">
                  <a16:creationId xmlns:a16="http://schemas.microsoft.com/office/drawing/2014/main" id="{D692A2CB-7239-424C-BE4A-0E37D6C9735F}"/>
                </a:ext>
              </a:extLst>
            </p:cNvPr>
            <p:cNvSpPr>
              <a:spLocks/>
            </p:cNvSpPr>
            <p:nvPr/>
          </p:nvSpPr>
          <p:spPr>
            <a:xfrm>
              <a:off x="1114108" y="2041334"/>
              <a:ext cx="42545" cy="251015"/>
            </a:xfrm>
            <a:prstGeom prst="rect">
              <a:avLst/>
            </a:prstGeom>
            <a:solidFill>
              <a:srgbClr val="9B8964"/>
            </a:solidFill>
            <a:ln w="0">
              <a:noFill/>
              <a:prstDash val="solid"/>
            </a:ln>
          </p:spPr>
          <p:txBody>
            <a:bodyPr/>
            <a:lstStyle/>
            <a:p>
              <a:endParaRPr sz="1200"/>
            </a:p>
          </p:txBody>
        </p:sp>
        <p:sp>
          <p:nvSpPr>
            <p:cNvPr id="28" name="s1-tree-right__ellipse_28">
              <a:extLst>
                <a:ext uri="{FF2B5EF4-FFF2-40B4-BE49-F238E27FC236}">
                  <a16:creationId xmlns:a16="http://schemas.microsoft.com/office/drawing/2014/main" id="{9B64DF97-5A31-4C26-B869-65F27DD7CFB5}"/>
                </a:ext>
              </a:extLst>
            </p:cNvPr>
            <p:cNvSpPr>
              <a:spLocks/>
            </p:cNvSpPr>
            <p:nvPr/>
          </p:nvSpPr>
          <p:spPr>
            <a:xfrm>
              <a:off x="990728" y="1947735"/>
              <a:ext cx="178689" cy="182943"/>
            </a:xfrm>
            <a:prstGeom prst="ellipse">
              <a:avLst/>
            </a:prstGeom>
            <a:solidFill>
              <a:srgbClr val="A5B591"/>
            </a:solidFill>
            <a:ln w="0">
              <a:noFill/>
              <a:prstDash val="solid"/>
            </a:ln>
          </p:spPr>
          <p:txBody>
            <a:bodyPr/>
            <a:lstStyle/>
            <a:p>
              <a:endParaRPr sz="1200"/>
            </a:p>
          </p:txBody>
        </p:sp>
        <p:sp>
          <p:nvSpPr>
            <p:cNvPr id="29" name="s1-tree-right__ellipse_29">
              <a:extLst>
                <a:ext uri="{FF2B5EF4-FFF2-40B4-BE49-F238E27FC236}">
                  <a16:creationId xmlns:a16="http://schemas.microsoft.com/office/drawing/2014/main" id="{9F769A25-8790-4C5E-9AB8-608F353199D4}"/>
                </a:ext>
              </a:extLst>
            </p:cNvPr>
            <p:cNvSpPr>
              <a:spLocks/>
            </p:cNvSpPr>
            <p:nvPr/>
          </p:nvSpPr>
          <p:spPr>
            <a:xfrm>
              <a:off x="1105599" y="1930717"/>
              <a:ext cx="170179" cy="208470"/>
            </a:xfrm>
            <a:prstGeom prst="ellipse">
              <a:avLst/>
            </a:prstGeom>
            <a:solidFill>
              <a:srgbClr val="B6C4A0"/>
            </a:solidFill>
            <a:ln w="0">
              <a:noFill/>
              <a:prstDash val="solid"/>
            </a:ln>
          </p:spPr>
          <p:txBody>
            <a:bodyPr/>
            <a:lstStyle/>
            <a:p>
              <a:endParaRPr sz="1200"/>
            </a:p>
          </p:txBody>
        </p:sp>
        <p:sp>
          <p:nvSpPr>
            <p:cNvPr id="30" name="s1-tree-right__ellipse_30">
              <a:extLst>
                <a:ext uri="{FF2B5EF4-FFF2-40B4-BE49-F238E27FC236}">
                  <a16:creationId xmlns:a16="http://schemas.microsoft.com/office/drawing/2014/main" id="{C34DC344-9900-4161-8ADC-5DD5316EB5AA}"/>
                </a:ext>
              </a:extLst>
            </p:cNvPr>
            <p:cNvSpPr>
              <a:spLocks/>
            </p:cNvSpPr>
            <p:nvPr/>
          </p:nvSpPr>
          <p:spPr>
            <a:xfrm>
              <a:off x="1050290" y="1866900"/>
              <a:ext cx="165925" cy="187198"/>
            </a:xfrm>
            <a:prstGeom prst="ellipse">
              <a:avLst/>
            </a:prstGeom>
            <a:solidFill>
              <a:srgbClr val="9FB18A"/>
            </a:solidFill>
            <a:ln w="0">
              <a:noFill/>
              <a:prstDash val="solid"/>
            </a:ln>
          </p:spPr>
          <p:txBody>
            <a:bodyPr/>
            <a:lstStyle/>
            <a:p>
              <a:endParaRPr sz="1200"/>
            </a:p>
          </p:txBody>
        </p:sp>
        <p:sp>
          <p:nvSpPr>
            <p:cNvPr id="31" name="s1-tree-right__ellipse_31">
              <a:extLst>
                <a:ext uri="{FF2B5EF4-FFF2-40B4-BE49-F238E27FC236}">
                  <a16:creationId xmlns:a16="http://schemas.microsoft.com/office/drawing/2014/main" id="{A89C0BF7-CC5B-44F5-BBA2-668FC859D059}"/>
                </a:ext>
              </a:extLst>
            </p:cNvPr>
            <p:cNvSpPr>
              <a:spLocks/>
            </p:cNvSpPr>
            <p:nvPr/>
          </p:nvSpPr>
          <p:spPr>
            <a:xfrm>
              <a:off x="1054545" y="2020062"/>
              <a:ext cx="157416" cy="127635"/>
            </a:xfrm>
            <a:prstGeom prst="ellipse">
              <a:avLst/>
            </a:prstGeom>
            <a:solidFill>
              <a:srgbClr val="ADC09A"/>
            </a:solidFill>
            <a:ln w="0">
              <a:noFill/>
              <a:prstDash val="solid"/>
            </a:ln>
          </p:spPr>
          <p:txBody>
            <a:bodyPr/>
            <a:lstStyle/>
            <a:p>
              <a:endParaRPr sz="1200"/>
            </a:p>
          </p:txBody>
        </p:sp>
        <p:sp>
          <p:nvSpPr>
            <p:cNvPr id="32" name="s1-settlement-background__ellipse_32">
              <a:extLst>
                <a:ext uri="{FF2B5EF4-FFF2-40B4-BE49-F238E27FC236}">
                  <a16:creationId xmlns:a16="http://schemas.microsoft.com/office/drawing/2014/main" id="{6C15796E-A3A9-458C-9875-224788404B53}"/>
                </a:ext>
              </a:extLst>
            </p:cNvPr>
            <p:cNvSpPr>
              <a:spLocks/>
            </p:cNvSpPr>
            <p:nvPr/>
          </p:nvSpPr>
          <p:spPr>
            <a:xfrm>
              <a:off x="1069658" y="2526412"/>
              <a:ext cx="520065" cy="40005"/>
            </a:xfrm>
            <a:prstGeom prst="ellipse">
              <a:avLst/>
            </a:prstGeom>
            <a:solidFill>
              <a:srgbClr val="CBD6BD"/>
            </a:solidFill>
            <a:ln w="0">
              <a:noFill/>
              <a:prstDash val="solid"/>
            </a:ln>
          </p:spPr>
          <p:txBody>
            <a:bodyPr/>
            <a:lstStyle/>
            <a:p>
              <a:endParaRPr sz="1200"/>
            </a:p>
          </p:txBody>
        </p:sp>
        <p:sp>
          <p:nvSpPr>
            <p:cNvPr id="33" name="s1-settlement-background__rect_33">
              <a:extLst>
                <a:ext uri="{FF2B5EF4-FFF2-40B4-BE49-F238E27FC236}">
                  <a16:creationId xmlns:a16="http://schemas.microsoft.com/office/drawing/2014/main" id="{57FA327A-798A-4279-AF87-C6EB1D9241DD}"/>
                </a:ext>
              </a:extLst>
            </p:cNvPr>
            <p:cNvSpPr>
              <a:spLocks/>
            </p:cNvSpPr>
            <p:nvPr/>
          </p:nvSpPr>
          <p:spPr>
            <a:xfrm>
              <a:off x="1117664" y="2254377"/>
              <a:ext cx="424053" cy="280035"/>
            </a:xfrm>
            <a:prstGeom prst="rect">
              <a:avLst/>
            </a:prstGeom>
            <a:solidFill>
              <a:srgbClr val="D8B991"/>
            </a:solidFill>
            <a:ln w="9601">
              <a:solidFill>
                <a:srgbClr val="776750"/>
              </a:solidFill>
              <a:prstDash val="solid"/>
            </a:ln>
          </p:spPr>
          <p:txBody>
            <a:bodyPr/>
            <a:lstStyle/>
            <a:p>
              <a:endParaRPr sz="1200"/>
            </a:p>
          </p:txBody>
        </p:sp>
        <p:sp>
          <p:nvSpPr>
            <p:cNvPr id="34" name="s1-settlement-background__rect_34">
              <a:extLst>
                <a:ext uri="{FF2B5EF4-FFF2-40B4-BE49-F238E27FC236}">
                  <a16:creationId xmlns:a16="http://schemas.microsoft.com/office/drawing/2014/main" id="{1D893BDF-C154-47BA-8223-3906341BC453}"/>
                </a:ext>
              </a:extLst>
            </p:cNvPr>
            <p:cNvSpPr>
              <a:spLocks/>
            </p:cNvSpPr>
            <p:nvPr/>
          </p:nvSpPr>
          <p:spPr>
            <a:xfrm>
              <a:off x="1277684" y="2374392"/>
              <a:ext cx="104013" cy="160020"/>
            </a:xfrm>
            <a:prstGeom prst="rect">
              <a:avLst/>
            </a:prstGeom>
            <a:solidFill>
              <a:srgbClr val="665444"/>
            </a:solidFill>
            <a:ln w="0">
              <a:noFill/>
              <a:prstDash val="solid"/>
            </a:ln>
          </p:spPr>
          <p:txBody>
            <a:bodyPr/>
            <a:lstStyle/>
            <a:p>
              <a:endParaRPr sz="1200"/>
            </a:p>
          </p:txBody>
        </p:sp>
        <p:sp>
          <p:nvSpPr>
            <p:cNvPr id="35" name="s1-settlement-background__rect_35">
              <a:extLst>
                <a:ext uri="{FF2B5EF4-FFF2-40B4-BE49-F238E27FC236}">
                  <a16:creationId xmlns:a16="http://schemas.microsoft.com/office/drawing/2014/main" id="{73EA820D-D563-441B-A123-24E60BC55DDA}"/>
                </a:ext>
              </a:extLst>
            </p:cNvPr>
            <p:cNvSpPr>
              <a:spLocks/>
            </p:cNvSpPr>
            <p:nvPr/>
          </p:nvSpPr>
          <p:spPr>
            <a:xfrm>
              <a:off x="1169671" y="2326386"/>
              <a:ext cx="64007" cy="72009"/>
            </a:xfrm>
            <a:prstGeom prst="rect">
              <a:avLst/>
            </a:prstGeom>
            <a:solidFill>
              <a:srgbClr val="7B6751"/>
            </a:solidFill>
            <a:ln w="0">
              <a:noFill/>
              <a:prstDash val="solid"/>
            </a:ln>
          </p:spPr>
          <p:txBody>
            <a:bodyPr/>
            <a:lstStyle/>
            <a:p>
              <a:endParaRPr sz="1200"/>
            </a:p>
          </p:txBody>
        </p:sp>
        <p:sp>
          <p:nvSpPr>
            <p:cNvPr id="36" name="s1-settlement-background__rect_36">
              <a:extLst>
                <a:ext uri="{FF2B5EF4-FFF2-40B4-BE49-F238E27FC236}">
                  <a16:creationId xmlns:a16="http://schemas.microsoft.com/office/drawing/2014/main" id="{F4AE40F6-A4D3-487D-85E1-3850ABFF1A5A}"/>
                </a:ext>
              </a:extLst>
            </p:cNvPr>
            <p:cNvSpPr>
              <a:spLocks/>
            </p:cNvSpPr>
            <p:nvPr/>
          </p:nvSpPr>
          <p:spPr>
            <a:xfrm>
              <a:off x="1445705" y="2338387"/>
              <a:ext cx="48005" cy="60007"/>
            </a:xfrm>
            <a:prstGeom prst="rect">
              <a:avLst/>
            </a:prstGeom>
            <a:solidFill>
              <a:srgbClr val="7B6751"/>
            </a:solidFill>
            <a:ln w="0">
              <a:noFill/>
              <a:prstDash val="solid"/>
            </a:ln>
          </p:spPr>
          <p:txBody>
            <a:bodyPr/>
            <a:lstStyle/>
            <a:p>
              <a:endParaRPr sz="1200"/>
            </a:p>
          </p:txBody>
        </p:sp>
        <p:sp>
          <p:nvSpPr>
            <p:cNvPr id="37" name="s1-settlement-background__line_37">
              <a:extLst>
                <a:ext uri="{FF2B5EF4-FFF2-40B4-BE49-F238E27FC236}">
                  <a16:creationId xmlns:a16="http://schemas.microsoft.com/office/drawing/2014/main" id="{A64BD505-6D01-4601-BBEA-3322235AFA7D}"/>
                </a:ext>
              </a:extLst>
            </p:cNvPr>
            <p:cNvSpPr>
              <a:spLocks/>
            </p:cNvSpPr>
            <p:nvPr/>
          </p:nvSpPr>
          <p:spPr>
            <a:xfrm>
              <a:off x="1277684" y="2366391"/>
              <a:ext cx="104012" cy="63"/>
            </a:xfrm>
            <a:custGeom>
              <a:avLst/>
              <a:gdLst/>
              <a:ahLst/>
              <a:cxnLst/>
              <a:rect l="0" t="0" r="0" b="0"/>
              <a:pathLst>
                <a:path w="156019" h="95">
                  <a:moveTo>
                    <a:pt x="0" y="0"/>
                  </a:moveTo>
                  <a:lnTo>
                    <a:pt x="156019" y="0"/>
                  </a:lnTo>
                </a:path>
              </a:pathLst>
            </a:custGeom>
            <a:noFill/>
            <a:ln w="12002">
              <a:solidFill>
                <a:srgbClr val="9B7C59"/>
              </a:solidFill>
              <a:prstDash val="solid"/>
            </a:ln>
          </p:spPr>
          <p:txBody>
            <a:bodyPr/>
            <a:lstStyle/>
            <a:p>
              <a:endParaRPr sz="1200"/>
            </a:p>
          </p:txBody>
        </p:sp>
        <p:sp>
          <p:nvSpPr>
            <p:cNvPr id="38" name="s1-settlement-background__path_38">
              <a:extLst>
                <a:ext uri="{FF2B5EF4-FFF2-40B4-BE49-F238E27FC236}">
                  <a16:creationId xmlns:a16="http://schemas.microsoft.com/office/drawing/2014/main" id="{4555992A-C2E2-442C-B73D-41F8B5799373}"/>
                </a:ext>
              </a:extLst>
            </p:cNvPr>
            <p:cNvSpPr>
              <a:spLocks/>
            </p:cNvSpPr>
            <p:nvPr/>
          </p:nvSpPr>
          <p:spPr>
            <a:xfrm>
              <a:off x="1041655" y="2070354"/>
              <a:ext cx="572071" cy="196024"/>
            </a:xfrm>
            <a:custGeom>
              <a:avLst/>
              <a:gdLst/>
              <a:ahLst/>
              <a:cxnLst/>
              <a:rect l="0" t="0" r="0" b="0"/>
              <a:pathLst>
                <a:path w="858107" h="294037">
                  <a:moveTo>
                    <a:pt x="0" y="294037"/>
                  </a:moveTo>
                  <a:lnTo>
                    <a:pt x="420052" y="0"/>
                  </a:lnTo>
                  <a:lnTo>
                    <a:pt x="858107" y="294037"/>
                  </a:lnTo>
                  <a:close/>
                </a:path>
              </a:pathLst>
            </a:custGeom>
            <a:solidFill>
              <a:srgbClr val="B68A55"/>
            </a:solidFill>
            <a:ln w="10801">
              <a:solidFill>
                <a:srgbClr val="776750"/>
              </a:solidFill>
              <a:prstDash val="solid"/>
            </a:ln>
          </p:spPr>
          <p:txBody>
            <a:bodyPr/>
            <a:lstStyle/>
            <a:p>
              <a:endParaRPr sz="1200"/>
            </a:p>
          </p:txBody>
        </p:sp>
        <p:sp>
          <p:nvSpPr>
            <p:cNvPr id="39" name="s1-settlement-background__path_39">
              <a:extLst>
                <a:ext uri="{FF2B5EF4-FFF2-40B4-BE49-F238E27FC236}">
                  <a16:creationId xmlns:a16="http://schemas.microsoft.com/office/drawing/2014/main" id="{393E3666-AC43-4C59-8B0B-EF6AB73B567F}"/>
                </a:ext>
              </a:extLst>
            </p:cNvPr>
            <p:cNvSpPr>
              <a:spLocks/>
            </p:cNvSpPr>
            <p:nvPr/>
          </p:nvSpPr>
          <p:spPr>
            <a:xfrm>
              <a:off x="1041655" y="2266379"/>
              <a:ext cx="572071" cy="32004"/>
            </a:xfrm>
            <a:custGeom>
              <a:avLst/>
              <a:gdLst/>
              <a:ahLst/>
              <a:cxnLst/>
              <a:rect l="0" t="0" r="0" b="0"/>
              <a:pathLst>
                <a:path w="858107" h="48006">
                  <a:moveTo>
                    <a:pt x="0" y="0"/>
                  </a:moveTo>
                  <a:lnTo>
                    <a:pt x="858107" y="0"/>
                  </a:lnTo>
                  <a:lnTo>
                    <a:pt x="786098" y="48006"/>
                  </a:lnTo>
                  <a:lnTo>
                    <a:pt x="72009" y="48006"/>
                  </a:lnTo>
                  <a:close/>
                </a:path>
              </a:pathLst>
            </a:custGeom>
            <a:solidFill>
              <a:srgbClr val="BE965D"/>
            </a:solidFill>
            <a:ln w="7201">
              <a:solidFill>
                <a:srgbClr val="776750"/>
              </a:solidFill>
              <a:prstDash val="solid"/>
            </a:ln>
          </p:spPr>
          <p:txBody>
            <a:bodyPr/>
            <a:lstStyle/>
            <a:p>
              <a:endParaRPr sz="1200"/>
            </a:p>
          </p:txBody>
        </p:sp>
        <p:sp>
          <p:nvSpPr>
            <p:cNvPr id="40" name="s1-settlement-background__line_40">
              <a:extLst>
                <a:ext uri="{FF2B5EF4-FFF2-40B4-BE49-F238E27FC236}">
                  <a16:creationId xmlns:a16="http://schemas.microsoft.com/office/drawing/2014/main" id="{506BC96D-6835-4D2C-842D-E13EFB26F7AE}"/>
                </a:ext>
              </a:extLst>
            </p:cNvPr>
            <p:cNvSpPr>
              <a:spLocks/>
            </p:cNvSpPr>
            <p:nvPr/>
          </p:nvSpPr>
          <p:spPr>
            <a:xfrm>
              <a:off x="1109664" y="2102358"/>
              <a:ext cx="204025" cy="144018"/>
            </a:xfrm>
            <a:custGeom>
              <a:avLst/>
              <a:gdLst/>
              <a:ahLst/>
              <a:cxnLst/>
              <a:rect l="0" t="0" r="0" b="0"/>
              <a:pathLst>
                <a:path w="306038" h="216027">
                  <a:moveTo>
                    <a:pt x="306038" y="0"/>
                  </a:moveTo>
                  <a:lnTo>
                    <a:pt x="0" y="216027"/>
                  </a:lnTo>
                </a:path>
              </a:pathLst>
            </a:custGeom>
            <a:noFill/>
            <a:ln w="8401">
              <a:solidFill>
                <a:srgbClr val="D4B480"/>
              </a:solidFill>
              <a:prstDash val="solid"/>
            </a:ln>
          </p:spPr>
          <p:txBody>
            <a:bodyPr/>
            <a:lstStyle/>
            <a:p>
              <a:endParaRPr sz="1200"/>
            </a:p>
          </p:txBody>
        </p:sp>
        <p:sp>
          <p:nvSpPr>
            <p:cNvPr id="41" name="s1-settlement-background__line_41">
              <a:extLst>
                <a:ext uri="{FF2B5EF4-FFF2-40B4-BE49-F238E27FC236}">
                  <a16:creationId xmlns:a16="http://schemas.microsoft.com/office/drawing/2014/main" id="{220487C2-7DDF-4610-88AD-50629D90FCCD}"/>
                </a:ext>
              </a:extLst>
            </p:cNvPr>
            <p:cNvSpPr>
              <a:spLocks/>
            </p:cNvSpPr>
            <p:nvPr/>
          </p:nvSpPr>
          <p:spPr>
            <a:xfrm>
              <a:off x="1193674" y="2110359"/>
              <a:ext cx="132016" cy="140017"/>
            </a:xfrm>
            <a:custGeom>
              <a:avLst/>
              <a:gdLst/>
              <a:ahLst/>
              <a:cxnLst/>
              <a:rect l="0" t="0" r="0" b="0"/>
              <a:pathLst>
                <a:path w="198025" h="210026">
                  <a:moveTo>
                    <a:pt x="198025" y="0"/>
                  </a:moveTo>
                  <a:lnTo>
                    <a:pt x="0" y="210026"/>
                  </a:lnTo>
                </a:path>
              </a:pathLst>
            </a:custGeom>
            <a:noFill/>
            <a:ln w="8401">
              <a:solidFill>
                <a:srgbClr val="D4B480"/>
              </a:solidFill>
              <a:prstDash val="solid"/>
            </a:ln>
          </p:spPr>
          <p:txBody>
            <a:bodyPr/>
            <a:lstStyle/>
            <a:p>
              <a:endParaRPr sz="1200"/>
            </a:p>
          </p:txBody>
        </p:sp>
        <p:sp>
          <p:nvSpPr>
            <p:cNvPr id="42" name="s1-settlement-background__line_42">
              <a:extLst>
                <a:ext uri="{FF2B5EF4-FFF2-40B4-BE49-F238E27FC236}">
                  <a16:creationId xmlns:a16="http://schemas.microsoft.com/office/drawing/2014/main" id="{457B9620-37FB-49D9-84B9-9D3DB79E348B}"/>
                </a:ext>
              </a:extLst>
            </p:cNvPr>
            <p:cNvSpPr>
              <a:spLocks/>
            </p:cNvSpPr>
            <p:nvPr/>
          </p:nvSpPr>
          <p:spPr>
            <a:xfrm>
              <a:off x="1269683" y="2114359"/>
              <a:ext cx="68008" cy="132016"/>
            </a:xfrm>
            <a:custGeom>
              <a:avLst/>
              <a:gdLst/>
              <a:ahLst/>
              <a:cxnLst/>
              <a:rect l="0" t="0" r="0" b="0"/>
              <a:pathLst>
                <a:path w="102013" h="198025">
                  <a:moveTo>
                    <a:pt x="102013" y="0"/>
                  </a:moveTo>
                  <a:lnTo>
                    <a:pt x="0" y="198025"/>
                  </a:lnTo>
                </a:path>
              </a:pathLst>
            </a:custGeom>
            <a:noFill/>
            <a:ln w="8401">
              <a:solidFill>
                <a:srgbClr val="D4B480"/>
              </a:solidFill>
              <a:prstDash val="solid"/>
            </a:ln>
          </p:spPr>
          <p:txBody>
            <a:bodyPr/>
            <a:lstStyle/>
            <a:p>
              <a:endParaRPr sz="1200"/>
            </a:p>
          </p:txBody>
        </p:sp>
        <p:sp>
          <p:nvSpPr>
            <p:cNvPr id="43" name="s1-settlement-background__line_43">
              <a:extLst>
                <a:ext uri="{FF2B5EF4-FFF2-40B4-BE49-F238E27FC236}">
                  <a16:creationId xmlns:a16="http://schemas.microsoft.com/office/drawing/2014/main" id="{EF53906D-ABDE-4045-8054-7F8320789264}"/>
                </a:ext>
              </a:extLst>
            </p:cNvPr>
            <p:cNvSpPr>
              <a:spLocks/>
            </p:cNvSpPr>
            <p:nvPr/>
          </p:nvSpPr>
          <p:spPr>
            <a:xfrm>
              <a:off x="1345693" y="2126361"/>
              <a:ext cx="28003" cy="124015"/>
            </a:xfrm>
            <a:custGeom>
              <a:avLst/>
              <a:gdLst/>
              <a:ahLst/>
              <a:cxnLst/>
              <a:rect l="0" t="0" r="0" b="0"/>
              <a:pathLst>
                <a:path w="42005" h="186023">
                  <a:moveTo>
                    <a:pt x="0" y="0"/>
                  </a:moveTo>
                  <a:lnTo>
                    <a:pt x="42005" y="186023"/>
                  </a:lnTo>
                </a:path>
              </a:pathLst>
            </a:custGeom>
            <a:noFill/>
            <a:ln w="8401">
              <a:solidFill>
                <a:srgbClr val="D4B480"/>
              </a:solidFill>
              <a:prstDash val="solid"/>
            </a:ln>
          </p:spPr>
          <p:txBody>
            <a:bodyPr/>
            <a:lstStyle/>
            <a:p>
              <a:endParaRPr sz="1200"/>
            </a:p>
          </p:txBody>
        </p:sp>
        <p:sp>
          <p:nvSpPr>
            <p:cNvPr id="44" name="s1-settlement-background__line_44">
              <a:extLst>
                <a:ext uri="{FF2B5EF4-FFF2-40B4-BE49-F238E27FC236}">
                  <a16:creationId xmlns:a16="http://schemas.microsoft.com/office/drawing/2014/main" id="{FED74693-F2F1-4C76-B03F-3A14BAA33B6E}"/>
                </a:ext>
              </a:extLst>
            </p:cNvPr>
            <p:cNvSpPr>
              <a:spLocks/>
            </p:cNvSpPr>
            <p:nvPr/>
          </p:nvSpPr>
          <p:spPr>
            <a:xfrm>
              <a:off x="1357694" y="2122361"/>
              <a:ext cx="120015" cy="128016"/>
            </a:xfrm>
            <a:custGeom>
              <a:avLst/>
              <a:gdLst/>
              <a:ahLst/>
              <a:cxnLst/>
              <a:rect l="0" t="0" r="0" b="0"/>
              <a:pathLst>
                <a:path w="180023" h="192024">
                  <a:moveTo>
                    <a:pt x="0" y="0"/>
                  </a:moveTo>
                  <a:lnTo>
                    <a:pt x="180023" y="192024"/>
                  </a:lnTo>
                </a:path>
              </a:pathLst>
            </a:custGeom>
            <a:noFill/>
            <a:ln w="8401">
              <a:solidFill>
                <a:srgbClr val="D4B480"/>
              </a:solidFill>
              <a:prstDash val="solid"/>
            </a:ln>
          </p:spPr>
          <p:txBody>
            <a:bodyPr/>
            <a:lstStyle/>
            <a:p>
              <a:endParaRPr sz="1200"/>
            </a:p>
          </p:txBody>
        </p:sp>
        <p:sp>
          <p:nvSpPr>
            <p:cNvPr id="45" name="s1-settlement-background__line_45">
              <a:extLst>
                <a:ext uri="{FF2B5EF4-FFF2-40B4-BE49-F238E27FC236}">
                  <a16:creationId xmlns:a16="http://schemas.microsoft.com/office/drawing/2014/main" id="{7E492416-D083-4496-A603-7C09733F8312}"/>
                </a:ext>
              </a:extLst>
            </p:cNvPr>
            <p:cNvSpPr>
              <a:spLocks/>
            </p:cNvSpPr>
            <p:nvPr/>
          </p:nvSpPr>
          <p:spPr>
            <a:xfrm>
              <a:off x="1369696" y="2134362"/>
              <a:ext cx="196024" cy="120014"/>
            </a:xfrm>
            <a:custGeom>
              <a:avLst/>
              <a:gdLst/>
              <a:ahLst/>
              <a:cxnLst/>
              <a:rect l="0" t="0" r="0" b="0"/>
              <a:pathLst>
                <a:path w="294037" h="180022">
                  <a:moveTo>
                    <a:pt x="0" y="0"/>
                  </a:moveTo>
                  <a:lnTo>
                    <a:pt x="294037" y="180022"/>
                  </a:lnTo>
                </a:path>
              </a:pathLst>
            </a:custGeom>
            <a:noFill/>
            <a:ln w="8401">
              <a:solidFill>
                <a:srgbClr val="D4B480"/>
              </a:solidFill>
              <a:prstDash val="solid"/>
            </a:ln>
          </p:spPr>
          <p:txBody>
            <a:bodyPr/>
            <a:lstStyle/>
            <a:p>
              <a:endParaRPr sz="1200"/>
            </a:p>
          </p:txBody>
        </p:sp>
        <p:sp>
          <p:nvSpPr>
            <p:cNvPr id="46" name="s1-settlement-background__line_46">
              <a:extLst>
                <a:ext uri="{FF2B5EF4-FFF2-40B4-BE49-F238E27FC236}">
                  <a16:creationId xmlns:a16="http://schemas.microsoft.com/office/drawing/2014/main" id="{67F7E428-FBF4-4F8C-BB4E-9E1C8A18BEFC}"/>
                </a:ext>
              </a:extLst>
            </p:cNvPr>
            <p:cNvSpPr>
              <a:spLocks/>
            </p:cNvSpPr>
            <p:nvPr/>
          </p:nvSpPr>
          <p:spPr>
            <a:xfrm>
              <a:off x="1141668" y="2454402"/>
              <a:ext cx="63" cy="68008"/>
            </a:xfrm>
            <a:custGeom>
              <a:avLst/>
              <a:gdLst/>
              <a:ahLst/>
              <a:cxnLst/>
              <a:rect l="0" t="0" r="0" b="0"/>
              <a:pathLst>
                <a:path w="95" h="102013">
                  <a:moveTo>
                    <a:pt x="0" y="0"/>
                  </a:moveTo>
                  <a:lnTo>
                    <a:pt x="0" y="102013"/>
                  </a:lnTo>
                </a:path>
              </a:pathLst>
            </a:custGeom>
            <a:noFill/>
            <a:ln w="6001">
              <a:solidFill>
                <a:srgbClr val="B4936E"/>
              </a:solidFill>
              <a:prstDash val="solid"/>
            </a:ln>
          </p:spPr>
          <p:txBody>
            <a:bodyPr/>
            <a:lstStyle/>
            <a:p>
              <a:endParaRPr sz="1200"/>
            </a:p>
          </p:txBody>
        </p:sp>
        <p:sp>
          <p:nvSpPr>
            <p:cNvPr id="47" name="s1-settlement-background__line_47">
              <a:extLst>
                <a:ext uri="{FF2B5EF4-FFF2-40B4-BE49-F238E27FC236}">
                  <a16:creationId xmlns:a16="http://schemas.microsoft.com/office/drawing/2014/main" id="{15661291-A5AB-40A0-90A2-57AA03CED0F2}"/>
                </a:ext>
              </a:extLst>
            </p:cNvPr>
            <p:cNvSpPr>
              <a:spLocks/>
            </p:cNvSpPr>
            <p:nvPr/>
          </p:nvSpPr>
          <p:spPr>
            <a:xfrm>
              <a:off x="1513714" y="2450401"/>
              <a:ext cx="63" cy="72009"/>
            </a:xfrm>
            <a:custGeom>
              <a:avLst/>
              <a:gdLst/>
              <a:ahLst/>
              <a:cxnLst/>
              <a:rect l="0" t="0" r="0" b="0"/>
              <a:pathLst>
                <a:path w="95" h="108014">
                  <a:moveTo>
                    <a:pt x="0" y="0"/>
                  </a:moveTo>
                  <a:lnTo>
                    <a:pt x="0" y="108014"/>
                  </a:lnTo>
                </a:path>
              </a:pathLst>
            </a:custGeom>
            <a:noFill/>
            <a:ln w="6001">
              <a:solidFill>
                <a:srgbClr val="B4936E"/>
              </a:solidFill>
              <a:prstDash val="solid"/>
            </a:ln>
          </p:spPr>
          <p:txBody>
            <a:bodyPr/>
            <a:lstStyle/>
            <a:p>
              <a:endParaRPr sz="1200"/>
            </a:p>
          </p:txBody>
        </p:sp>
        <p:sp>
          <p:nvSpPr>
            <p:cNvPr id="48" name="s1-settlement__ellipse_48">
              <a:extLst>
                <a:ext uri="{FF2B5EF4-FFF2-40B4-BE49-F238E27FC236}">
                  <a16:creationId xmlns:a16="http://schemas.microsoft.com/office/drawing/2014/main" id="{9B626075-66EF-49B5-A8C8-DD2201379CE0}"/>
                </a:ext>
              </a:extLst>
            </p:cNvPr>
            <p:cNvSpPr>
              <a:spLocks/>
            </p:cNvSpPr>
            <p:nvPr/>
          </p:nvSpPr>
          <p:spPr>
            <a:xfrm>
              <a:off x="596900" y="3092450"/>
              <a:ext cx="825500" cy="63500"/>
            </a:xfrm>
            <a:prstGeom prst="ellipse">
              <a:avLst/>
            </a:prstGeom>
            <a:solidFill>
              <a:srgbClr val="CBD6BD"/>
            </a:solidFill>
            <a:ln w="0">
              <a:noFill/>
              <a:prstDash val="solid"/>
            </a:ln>
          </p:spPr>
          <p:txBody>
            <a:bodyPr/>
            <a:lstStyle/>
            <a:p>
              <a:endParaRPr sz="1200"/>
            </a:p>
          </p:txBody>
        </p:sp>
        <p:sp>
          <p:nvSpPr>
            <p:cNvPr id="49" name="s1-settlement__rect_49">
              <a:extLst>
                <a:ext uri="{FF2B5EF4-FFF2-40B4-BE49-F238E27FC236}">
                  <a16:creationId xmlns:a16="http://schemas.microsoft.com/office/drawing/2014/main" id="{BFB4DDBA-2509-4221-9DFA-F817A0A1AD9A}"/>
                </a:ext>
              </a:extLst>
            </p:cNvPr>
            <p:cNvSpPr>
              <a:spLocks/>
            </p:cNvSpPr>
            <p:nvPr/>
          </p:nvSpPr>
          <p:spPr>
            <a:xfrm>
              <a:off x="673100" y="2660650"/>
              <a:ext cx="673100" cy="444500"/>
            </a:xfrm>
            <a:prstGeom prst="rect">
              <a:avLst/>
            </a:prstGeom>
            <a:solidFill>
              <a:srgbClr val="D8B991"/>
            </a:solidFill>
            <a:ln w="15240">
              <a:solidFill>
                <a:srgbClr val="776750"/>
              </a:solidFill>
              <a:prstDash val="solid"/>
            </a:ln>
          </p:spPr>
          <p:txBody>
            <a:bodyPr/>
            <a:lstStyle/>
            <a:p>
              <a:endParaRPr sz="1200"/>
            </a:p>
          </p:txBody>
        </p:sp>
        <p:sp>
          <p:nvSpPr>
            <p:cNvPr id="50" name="s1-settlement__rect_50">
              <a:extLst>
                <a:ext uri="{FF2B5EF4-FFF2-40B4-BE49-F238E27FC236}">
                  <a16:creationId xmlns:a16="http://schemas.microsoft.com/office/drawing/2014/main" id="{A9D72272-161A-40F0-8C57-26611ECC4C62}"/>
                </a:ext>
              </a:extLst>
            </p:cNvPr>
            <p:cNvSpPr>
              <a:spLocks/>
            </p:cNvSpPr>
            <p:nvPr/>
          </p:nvSpPr>
          <p:spPr>
            <a:xfrm>
              <a:off x="927100" y="2851150"/>
              <a:ext cx="165100" cy="254000"/>
            </a:xfrm>
            <a:prstGeom prst="rect">
              <a:avLst/>
            </a:prstGeom>
            <a:solidFill>
              <a:srgbClr val="665444"/>
            </a:solidFill>
            <a:ln w="0">
              <a:noFill/>
              <a:prstDash val="solid"/>
            </a:ln>
          </p:spPr>
          <p:txBody>
            <a:bodyPr/>
            <a:lstStyle/>
            <a:p>
              <a:endParaRPr sz="1200"/>
            </a:p>
          </p:txBody>
        </p:sp>
        <p:sp>
          <p:nvSpPr>
            <p:cNvPr id="51" name="s1-settlement__rect_51">
              <a:extLst>
                <a:ext uri="{FF2B5EF4-FFF2-40B4-BE49-F238E27FC236}">
                  <a16:creationId xmlns:a16="http://schemas.microsoft.com/office/drawing/2014/main" id="{9EA737B0-92E1-4C6F-A46C-F8EFC0A25CB9}"/>
                </a:ext>
              </a:extLst>
            </p:cNvPr>
            <p:cNvSpPr>
              <a:spLocks/>
            </p:cNvSpPr>
            <p:nvPr/>
          </p:nvSpPr>
          <p:spPr>
            <a:xfrm>
              <a:off x="755650" y="2774950"/>
              <a:ext cx="101600" cy="114300"/>
            </a:xfrm>
            <a:prstGeom prst="rect">
              <a:avLst/>
            </a:prstGeom>
            <a:solidFill>
              <a:srgbClr val="7B6751"/>
            </a:solidFill>
            <a:ln w="0">
              <a:noFill/>
              <a:prstDash val="solid"/>
            </a:ln>
          </p:spPr>
          <p:txBody>
            <a:bodyPr/>
            <a:lstStyle/>
            <a:p>
              <a:endParaRPr sz="1200"/>
            </a:p>
          </p:txBody>
        </p:sp>
        <p:sp>
          <p:nvSpPr>
            <p:cNvPr id="52" name="s1-settlement__rect_52">
              <a:extLst>
                <a:ext uri="{FF2B5EF4-FFF2-40B4-BE49-F238E27FC236}">
                  <a16:creationId xmlns:a16="http://schemas.microsoft.com/office/drawing/2014/main" id="{E9FB7B61-DB00-402C-A519-B41043E0E449}"/>
                </a:ext>
              </a:extLst>
            </p:cNvPr>
            <p:cNvSpPr>
              <a:spLocks/>
            </p:cNvSpPr>
            <p:nvPr/>
          </p:nvSpPr>
          <p:spPr>
            <a:xfrm>
              <a:off x="1193800" y="2794000"/>
              <a:ext cx="76200" cy="95250"/>
            </a:xfrm>
            <a:prstGeom prst="rect">
              <a:avLst/>
            </a:prstGeom>
            <a:solidFill>
              <a:srgbClr val="7B6751"/>
            </a:solidFill>
            <a:ln w="0">
              <a:noFill/>
              <a:prstDash val="solid"/>
            </a:ln>
          </p:spPr>
          <p:txBody>
            <a:bodyPr/>
            <a:lstStyle/>
            <a:p>
              <a:endParaRPr sz="1200"/>
            </a:p>
          </p:txBody>
        </p:sp>
        <p:sp>
          <p:nvSpPr>
            <p:cNvPr id="53" name="s1-settlement__line_53">
              <a:extLst>
                <a:ext uri="{FF2B5EF4-FFF2-40B4-BE49-F238E27FC236}">
                  <a16:creationId xmlns:a16="http://schemas.microsoft.com/office/drawing/2014/main" id="{C02B0FB2-A527-4C76-BDC5-244FF953CBB1}"/>
                </a:ext>
              </a:extLst>
            </p:cNvPr>
            <p:cNvSpPr>
              <a:spLocks/>
            </p:cNvSpPr>
            <p:nvPr/>
          </p:nvSpPr>
          <p:spPr>
            <a:xfrm>
              <a:off x="927100" y="2838450"/>
              <a:ext cx="165100" cy="63"/>
            </a:xfrm>
            <a:custGeom>
              <a:avLst/>
              <a:gdLst/>
              <a:ahLst/>
              <a:cxnLst/>
              <a:rect l="0" t="0" r="0" b="0"/>
              <a:pathLst>
                <a:path w="247650" h="95">
                  <a:moveTo>
                    <a:pt x="0" y="0"/>
                  </a:moveTo>
                  <a:lnTo>
                    <a:pt x="247650" y="0"/>
                  </a:lnTo>
                </a:path>
              </a:pathLst>
            </a:custGeom>
            <a:noFill/>
            <a:ln w="19050">
              <a:solidFill>
                <a:srgbClr val="9B7C59"/>
              </a:solidFill>
              <a:prstDash val="solid"/>
            </a:ln>
          </p:spPr>
          <p:txBody>
            <a:bodyPr/>
            <a:lstStyle/>
            <a:p>
              <a:endParaRPr sz="1200"/>
            </a:p>
          </p:txBody>
        </p:sp>
        <p:sp>
          <p:nvSpPr>
            <p:cNvPr id="54" name="s1-settlement__path_54">
              <a:extLst>
                <a:ext uri="{FF2B5EF4-FFF2-40B4-BE49-F238E27FC236}">
                  <a16:creationId xmlns:a16="http://schemas.microsoft.com/office/drawing/2014/main" id="{DFA175CF-3452-4837-8EB3-9DC0D8F08E46}"/>
                </a:ext>
              </a:extLst>
            </p:cNvPr>
            <p:cNvSpPr>
              <a:spLocks/>
            </p:cNvSpPr>
            <p:nvPr/>
          </p:nvSpPr>
          <p:spPr>
            <a:xfrm>
              <a:off x="552450" y="2368550"/>
              <a:ext cx="908050" cy="311150"/>
            </a:xfrm>
            <a:custGeom>
              <a:avLst/>
              <a:gdLst/>
              <a:ahLst/>
              <a:cxnLst/>
              <a:rect l="0" t="0" r="0" b="0"/>
              <a:pathLst>
                <a:path w="1362075" h="466725">
                  <a:moveTo>
                    <a:pt x="0" y="466725"/>
                  </a:moveTo>
                  <a:lnTo>
                    <a:pt x="666750" y="0"/>
                  </a:lnTo>
                  <a:lnTo>
                    <a:pt x="1362075" y="466725"/>
                  </a:lnTo>
                  <a:close/>
                </a:path>
              </a:pathLst>
            </a:custGeom>
            <a:solidFill>
              <a:srgbClr val="B68A55"/>
            </a:solidFill>
            <a:ln w="17145">
              <a:solidFill>
                <a:srgbClr val="776750"/>
              </a:solidFill>
              <a:prstDash val="solid"/>
            </a:ln>
          </p:spPr>
          <p:txBody>
            <a:bodyPr/>
            <a:lstStyle/>
            <a:p>
              <a:endParaRPr sz="1200"/>
            </a:p>
          </p:txBody>
        </p:sp>
        <p:sp>
          <p:nvSpPr>
            <p:cNvPr id="55" name="s1-settlement__path_55">
              <a:extLst>
                <a:ext uri="{FF2B5EF4-FFF2-40B4-BE49-F238E27FC236}">
                  <a16:creationId xmlns:a16="http://schemas.microsoft.com/office/drawing/2014/main" id="{235E70E9-96A0-4393-BB49-D27A923B4407}"/>
                </a:ext>
              </a:extLst>
            </p:cNvPr>
            <p:cNvSpPr>
              <a:spLocks/>
            </p:cNvSpPr>
            <p:nvPr/>
          </p:nvSpPr>
          <p:spPr>
            <a:xfrm>
              <a:off x="552450" y="2679700"/>
              <a:ext cx="908050" cy="50800"/>
            </a:xfrm>
            <a:custGeom>
              <a:avLst/>
              <a:gdLst/>
              <a:ahLst/>
              <a:cxnLst/>
              <a:rect l="0" t="0" r="0" b="0"/>
              <a:pathLst>
                <a:path w="1362075" h="76200">
                  <a:moveTo>
                    <a:pt x="0" y="0"/>
                  </a:moveTo>
                  <a:lnTo>
                    <a:pt x="1362075" y="0"/>
                  </a:lnTo>
                  <a:lnTo>
                    <a:pt x="1247775" y="76200"/>
                  </a:lnTo>
                  <a:lnTo>
                    <a:pt x="114300" y="76200"/>
                  </a:lnTo>
                  <a:close/>
                </a:path>
              </a:pathLst>
            </a:custGeom>
            <a:solidFill>
              <a:srgbClr val="BE965D"/>
            </a:solidFill>
            <a:ln w="11430">
              <a:solidFill>
                <a:srgbClr val="776750"/>
              </a:solidFill>
              <a:prstDash val="solid"/>
            </a:ln>
          </p:spPr>
          <p:txBody>
            <a:bodyPr/>
            <a:lstStyle/>
            <a:p>
              <a:endParaRPr sz="1200"/>
            </a:p>
          </p:txBody>
        </p:sp>
        <p:sp>
          <p:nvSpPr>
            <p:cNvPr id="56" name="s1-settlement__line_56">
              <a:extLst>
                <a:ext uri="{FF2B5EF4-FFF2-40B4-BE49-F238E27FC236}">
                  <a16:creationId xmlns:a16="http://schemas.microsoft.com/office/drawing/2014/main" id="{69F34E67-48F3-4D81-993B-93E2264D9350}"/>
                </a:ext>
              </a:extLst>
            </p:cNvPr>
            <p:cNvSpPr>
              <a:spLocks/>
            </p:cNvSpPr>
            <p:nvPr/>
          </p:nvSpPr>
          <p:spPr>
            <a:xfrm>
              <a:off x="660400" y="2419350"/>
              <a:ext cx="323850" cy="228600"/>
            </a:xfrm>
            <a:custGeom>
              <a:avLst/>
              <a:gdLst/>
              <a:ahLst/>
              <a:cxnLst/>
              <a:rect l="0" t="0" r="0" b="0"/>
              <a:pathLst>
                <a:path w="485775" h="342900">
                  <a:moveTo>
                    <a:pt x="485775" y="0"/>
                  </a:moveTo>
                  <a:lnTo>
                    <a:pt x="0" y="342900"/>
                  </a:lnTo>
                </a:path>
              </a:pathLst>
            </a:custGeom>
            <a:noFill/>
            <a:ln w="13335">
              <a:solidFill>
                <a:srgbClr val="D4B480"/>
              </a:solidFill>
              <a:prstDash val="solid"/>
            </a:ln>
          </p:spPr>
          <p:txBody>
            <a:bodyPr/>
            <a:lstStyle/>
            <a:p>
              <a:endParaRPr sz="1200"/>
            </a:p>
          </p:txBody>
        </p:sp>
        <p:sp>
          <p:nvSpPr>
            <p:cNvPr id="57" name="s1-settlement__line_57">
              <a:extLst>
                <a:ext uri="{FF2B5EF4-FFF2-40B4-BE49-F238E27FC236}">
                  <a16:creationId xmlns:a16="http://schemas.microsoft.com/office/drawing/2014/main" id="{117AF72E-F7BD-4778-B869-E917D98C0A86}"/>
                </a:ext>
              </a:extLst>
            </p:cNvPr>
            <p:cNvSpPr>
              <a:spLocks/>
            </p:cNvSpPr>
            <p:nvPr/>
          </p:nvSpPr>
          <p:spPr>
            <a:xfrm>
              <a:off x="793750" y="2432050"/>
              <a:ext cx="209550" cy="222250"/>
            </a:xfrm>
            <a:custGeom>
              <a:avLst/>
              <a:gdLst/>
              <a:ahLst/>
              <a:cxnLst/>
              <a:rect l="0" t="0" r="0" b="0"/>
              <a:pathLst>
                <a:path w="314325" h="333375">
                  <a:moveTo>
                    <a:pt x="314325" y="0"/>
                  </a:moveTo>
                  <a:lnTo>
                    <a:pt x="0" y="333375"/>
                  </a:lnTo>
                </a:path>
              </a:pathLst>
            </a:custGeom>
            <a:noFill/>
            <a:ln w="13335">
              <a:solidFill>
                <a:srgbClr val="D4B480"/>
              </a:solidFill>
              <a:prstDash val="solid"/>
            </a:ln>
          </p:spPr>
          <p:txBody>
            <a:bodyPr/>
            <a:lstStyle/>
            <a:p>
              <a:endParaRPr sz="1200"/>
            </a:p>
          </p:txBody>
        </p:sp>
        <p:sp>
          <p:nvSpPr>
            <p:cNvPr id="58" name="s1-settlement__line_58">
              <a:extLst>
                <a:ext uri="{FF2B5EF4-FFF2-40B4-BE49-F238E27FC236}">
                  <a16:creationId xmlns:a16="http://schemas.microsoft.com/office/drawing/2014/main" id="{F9CB1EDB-35BE-4A69-A17B-EE0483764765}"/>
                </a:ext>
              </a:extLst>
            </p:cNvPr>
            <p:cNvSpPr>
              <a:spLocks/>
            </p:cNvSpPr>
            <p:nvPr/>
          </p:nvSpPr>
          <p:spPr>
            <a:xfrm>
              <a:off x="914400" y="2438400"/>
              <a:ext cx="107950" cy="209550"/>
            </a:xfrm>
            <a:custGeom>
              <a:avLst/>
              <a:gdLst/>
              <a:ahLst/>
              <a:cxnLst/>
              <a:rect l="0" t="0" r="0" b="0"/>
              <a:pathLst>
                <a:path w="161925" h="314325">
                  <a:moveTo>
                    <a:pt x="161925" y="0"/>
                  </a:moveTo>
                  <a:lnTo>
                    <a:pt x="0" y="314325"/>
                  </a:lnTo>
                </a:path>
              </a:pathLst>
            </a:custGeom>
            <a:noFill/>
            <a:ln w="13335">
              <a:solidFill>
                <a:srgbClr val="D4B480"/>
              </a:solidFill>
              <a:prstDash val="solid"/>
            </a:ln>
          </p:spPr>
          <p:txBody>
            <a:bodyPr/>
            <a:lstStyle/>
            <a:p>
              <a:endParaRPr sz="1200"/>
            </a:p>
          </p:txBody>
        </p:sp>
        <p:sp>
          <p:nvSpPr>
            <p:cNvPr id="59" name="s1-settlement__line_59">
              <a:extLst>
                <a:ext uri="{FF2B5EF4-FFF2-40B4-BE49-F238E27FC236}">
                  <a16:creationId xmlns:a16="http://schemas.microsoft.com/office/drawing/2014/main" id="{D3C68F3C-60AB-48FA-A99F-F10740C89FB6}"/>
                </a:ext>
              </a:extLst>
            </p:cNvPr>
            <p:cNvSpPr>
              <a:spLocks/>
            </p:cNvSpPr>
            <p:nvPr/>
          </p:nvSpPr>
          <p:spPr>
            <a:xfrm>
              <a:off x="1035050" y="2457450"/>
              <a:ext cx="44450" cy="196850"/>
            </a:xfrm>
            <a:custGeom>
              <a:avLst/>
              <a:gdLst/>
              <a:ahLst/>
              <a:cxnLst/>
              <a:rect l="0" t="0" r="0" b="0"/>
              <a:pathLst>
                <a:path w="66675" h="295275">
                  <a:moveTo>
                    <a:pt x="0" y="0"/>
                  </a:moveTo>
                  <a:lnTo>
                    <a:pt x="66675" y="295275"/>
                  </a:lnTo>
                </a:path>
              </a:pathLst>
            </a:custGeom>
            <a:noFill/>
            <a:ln w="13335">
              <a:solidFill>
                <a:srgbClr val="D4B480"/>
              </a:solidFill>
              <a:prstDash val="solid"/>
            </a:ln>
          </p:spPr>
          <p:txBody>
            <a:bodyPr/>
            <a:lstStyle/>
            <a:p>
              <a:endParaRPr sz="1200"/>
            </a:p>
          </p:txBody>
        </p:sp>
        <p:sp>
          <p:nvSpPr>
            <p:cNvPr id="60" name="s1-settlement__line_60">
              <a:extLst>
                <a:ext uri="{FF2B5EF4-FFF2-40B4-BE49-F238E27FC236}">
                  <a16:creationId xmlns:a16="http://schemas.microsoft.com/office/drawing/2014/main" id="{6A434C82-EFA9-4BCB-922D-BDA216E373C2}"/>
                </a:ext>
              </a:extLst>
            </p:cNvPr>
            <p:cNvSpPr>
              <a:spLocks/>
            </p:cNvSpPr>
            <p:nvPr/>
          </p:nvSpPr>
          <p:spPr>
            <a:xfrm>
              <a:off x="1054100" y="2451100"/>
              <a:ext cx="190500" cy="203200"/>
            </a:xfrm>
            <a:custGeom>
              <a:avLst/>
              <a:gdLst/>
              <a:ahLst/>
              <a:cxnLst/>
              <a:rect l="0" t="0" r="0" b="0"/>
              <a:pathLst>
                <a:path w="285750" h="304800">
                  <a:moveTo>
                    <a:pt x="0" y="0"/>
                  </a:moveTo>
                  <a:lnTo>
                    <a:pt x="285750" y="304800"/>
                  </a:lnTo>
                </a:path>
              </a:pathLst>
            </a:custGeom>
            <a:noFill/>
            <a:ln w="13335">
              <a:solidFill>
                <a:srgbClr val="D4B480"/>
              </a:solidFill>
              <a:prstDash val="solid"/>
            </a:ln>
          </p:spPr>
          <p:txBody>
            <a:bodyPr/>
            <a:lstStyle/>
            <a:p>
              <a:endParaRPr sz="1200"/>
            </a:p>
          </p:txBody>
        </p:sp>
        <p:sp>
          <p:nvSpPr>
            <p:cNvPr id="61" name="s1-settlement__line_61">
              <a:extLst>
                <a:ext uri="{FF2B5EF4-FFF2-40B4-BE49-F238E27FC236}">
                  <a16:creationId xmlns:a16="http://schemas.microsoft.com/office/drawing/2014/main" id="{11CD2B2C-AAE5-4180-A040-4367E8DAB65A}"/>
                </a:ext>
              </a:extLst>
            </p:cNvPr>
            <p:cNvSpPr>
              <a:spLocks/>
            </p:cNvSpPr>
            <p:nvPr/>
          </p:nvSpPr>
          <p:spPr>
            <a:xfrm>
              <a:off x="1073150" y="2470150"/>
              <a:ext cx="311150" cy="190500"/>
            </a:xfrm>
            <a:custGeom>
              <a:avLst/>
              <a:gdLst/>
              <a:ahLst/>
              <a:cxnLst/>
              <a:rect l="0" t="0" r="0" b="0"/>
              <a:pathLst>
                <a:path w="466725" h="285750">
                  <a:moveTo>
                    <a:pt x="0" y="0"/>
                  </a:moveTo>
                  <a:lnTo>
                    <a:pt x="466725" y="285750"/>
                  </a:lnTo>
                </a:path>
              </a:pathLst>
            </a:custGeom>
            <a:noFill/>
            <a:ln w="13335">
              <a:solidFill>
                <a:srgbClr val="D4B480"/>
              </a:solidFill>
              <a:prstDash val="solid"/>
            </a:ln>
          </p:spPr>
          <p:txBody>
            <a:bodyPr/>
            <a:lstStyle/>
            <a:p>
              <a:endParaRPr sz="1200"/>
            </a:p>
          </p:txBody>
        </p:sp>
        <p:sp>
          <p:nvSpPr>
            <p:cNvPr id="62" name="s1-settlement__line_62">
              <a:extLst>
                <a:ext uri="{FF2B5EF4-FFF2-40B4-BE49-F238E27FC236}">
                  <a16:creationId xmlns:a16="http://schemas.microsoft.com/office/drawing/2014/main" id="{4A097E32-8CDB-4DB0-BD0C-6C495247206C}"/>
                </a:ext>
              </a:extLst>
            </p:cNvPr>
            <p:cNvSpPr>
              <a:spLocks/>
            </p:cNvSpPr>
            <p:nvPr/>
          </p:nvSpPr>
          <p:spPr>
            <a:xfrm>
              <a:off x="711200" y="2978150"/>
              <a:ext cx="63" cy="107950"/>
            </a:xfrm>
            <a:custGeom>
              <a:avLst/>
              <a:gdLst/>
              <a:ahLst/>
              <a:cxnLst/>
              <a:rect l="0" t="0" r="0" b="0"/>
              <a:pathLst>
                <a:path w="95" h="161925">
                  <a:moveTo>
                    <a:pt x="0" y="0"/>
                  </a:moveTo>
                  <a:lnTo>
                    <a:pt x="0" y="161925"/>
                  </a:lnTo>
                </a:path>
              </a:pathLst>
            </a:custGeom>
            <a:noFill/>
            <a:ln w="9525">
              <a:solidFill>
                <a:srgbClr val="B4936E"/>
              </a:solidFill>
              <a:prstDash val="solid"/>
            </a:ln>
          </p:spPr>
          <p:txBody>
            <a:bodyPr/>
            <a:lstStyle/>
            <a:p>
              <a:endParaRPr sz="1200"/>
            </a:p>
          </p:txBody>
        </p:sp>
        <p:sp>
          <p:nvSpPr>
            <p:cNvPr id="63" name="s1-settlement__line_63">
              <a:extLst>
                <a:ext uri="{FF2B5EF4-FFF2-40B4-BE49-F238E27FC236}">
                  <a16:creationId xmlns:a16="http://schemas.microsoft.com/office/drawing/2014/main" id="{DA7A4768-74D1-480F-82CF-70544216C839}"/>
                </a:ext>
              </a:extLst>
            </p:cNvPr>
            <p:cNvSpPr>
              <a:spLocks/>
            </p:cNvSpPr>
            <p:nvPr/>
          </p:nvSpPr>
          <p:spPr>
            <a:xfrm>
              <a:off x="1301750" y="2971800"/>
              <a:ext cx="63" cy="114300"/>
            </a:xfrm>
            <a:custGeom>
              <a:avLst/>
              <a:gdLst/>
              <a:ahLst/>
              <a:cxnLst/>
              <a:rect l="0" t="0" r="0" b="0"/>
              <a:pathLst>
                <a:path w="95" h="171450">
                  <a:moveTo>
                    <a:pt x="0" y="0"/>
                  </a:moveTo>
                  <a:lnTo>
                    <a:pt x="0" y="171450"/>
                  </a:lnTo>
                </a:path>
              </a:pathLst>
            </a:custGeom>
            <a:noFill/>
            <a:ln w="9525">
              <a:solidFill>
                <a:srgbClr val="B4936E"/>
              </a:solidFill>
              <a:prstDash val="solid"/>
            </a:ln>
          </p:spPr>
          <p:txBody>
            <a:bodyPr/>
            <a:lstStyle/>
            <a:p>
              <a:endParaRPr sz="1200"/>
            </a:p>
          </p:txBody>
        </p:sp>
        <p:sp>
          <p:nvSpPr>
            <p:cNvPr id="64" name="s1-cereal-back-0__contour_64">
              <a:extLst>
                <a:ext uri="{FF2B5EF4-FFF2-40B4-BE49-F238E27FC236}">
                  <a16:creationId xmlns:a16="http://schemas.microsoft.com/office/drawing/2014/main" id="{73A25E78-BEE7-4F6A-96EC-7D287C098C20}"/>
                </a:ext>
              </a:extLst>
            </p:cNvPr>
            <p:cNvSpPr>
              <a:spLocks/>
            </p:cNvSpPr>
            <p:nvPr/>
          </p:nvSpPr>
          <p:spPr>
            <a:xfrm>
              <a:off x="1745030" y="26158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65" name="s1-cereal-back-0__contour_65">
              <a:extLst>
                <a:ext uri="{FF2B5EF4-FFF2-40B4-BE49-F238E27FC236}">
                  <a16:creationId xmlns:a16="http://schemas.microsoft.com/office/drawing/2014/main" id="{FD9E7CF4-6AAB-4496-8152-0397A210D550}"/>
                </a:ext>
              </a:extLst>
            </p:cNvPr>
            <p:cNvSpPr>
              <a:spLocks/>
            </p:cNvSpPr>
            <p:nvPr/>
          </p:nvSpPr>
          <p:spPr>
            <a:xfrm>
              <a:off x="1678432" y="26996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66" name="s1-cereal-back-0__contour_66">
              <a:extLst>
                <a:ext uri="{FF2B5EF4-FFF2-40B4-BE49-F238E27FC236}">
                  <a16:creationId xmlns:a16="http://schemas.microsoft.com/office/drawing/2014/main" id="{BECCAB84-E6F5-4510-9920-89E16D42215D}"/>
                </a:ext>
              </a:extLst>
            </p:cNvPr>
            <p:cNvSpPr>
              <a:spLocks/>
            </p:cNvSpPr>
            <p:nvPr/>
          </p:nvSpPr>
          <p:spPr>
            <a:xfrm>
              <a:off x="1753870" y="26828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67" name="s1-cereal-back-0__contour_67">
              <a:extLst>
                <a:ext uri="{FF2B5EF4-FFF2-40B4-BE49-F238E27FC236}">
                  <a16:creationId xmlns:a16="http://schemas.microsoft.com/office/drawing/2014/main" id="{D76D5DFE-46E1-42C2-B584-1A80451BAEAB}"/>
                </a:ext>
              </a:extLst>
            </p:cNvPr>
            <p:cNvSpPr>
              <a:spLocks/>
            </p:cNvSpPr>
            <p:nvPr/>
          </p:nvSpPr>
          <p:spPr>
            <a:xfrm>
              <a:off x="1783207" y="26263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68" name="s1-cereal-back-0__ellipse_68">
              <a:extLst>
                <a:ext uri="{FF2B5EF4-FFF2-40B4-BE49-F238E27FC236}">
                  <a16:creationId xmlns:a16="http://schemas.microsoft.com/office/drawing/2014/main" id="{74FE4046-4856-4394-AAFC-BF5979D6EA39}"/>
                </a:ext>
              </a:extLst>
            </p:cNvPr>
            <p:cNvSpPr>
              <a:spLocks/>
            </p:cNvSpPr>
            <p:nvPr/>
          </p:nvSpPr>
          <p:spPr>
            <a:xfrm>
              <a:off x="1795779" y="2636774"/>
              <a:ext cx="16763" cy="25146"/>
            </a:xfrm>
            <a:prstGeom prst="ellipse">
              <a:avLst/>
            </a:prstGeom>
            <a:solidFill>
              <a:srgbClr val="CCB166"/>
            </a:solidFill>
            <a:ln w="3143">
              <a:solidFill>
                <a:srgbClr val="A28A50"/>
              </a:solidFill>
              <a:prstDash val="solid"/>
            </a:ln>
          </p:spPr>
          <p:txBody>
            <a:bodyPr/>
            <a:lstStyle/>
            <a:p>
              <a:endParaRPr sz="1200"/>
            </a:p>
          </p:txBody>
        </p:sp>
        <p:sp>
          <p:nvSpPr>
            <p:cNvPr id="69" name="s1-cereal-back-0__ellipse_69">
              <a:extLst>
                <a:ext uri="{FF2B5EF4-FFF2-40B4-BE49-F238E27FC236}">
                  <a16:creationId xmlns:a16="http://schemas.microsoft.com/office/drawing/2014/main" id="{E884F186-A5C7-4810-AD92-5106CEC80C9B}"/>
                </a:ext>
              </a:extLst>
            </p:cNvPr>
            <p:cNvSpPr>
              <a:spLocks/>
            </p:cNvSpPr>
            <p:nvPr/>
          </p:nvSpPr>
          <p:spPr>
            <a:xfrm>
              <a:off x="1804161" y="2653538"/>
              <a:ext cx="16763" cy="25146"/>
            </a:xfrm>
            <a:prstGeom prst="ellipse">
              <a:avLst/>
            </a:prstGeom>
            <a:solidFill>
              <a:srgbClr val="CCB166"/>
            </a:solidFill>
            <a:ln w="3143">
              <a:solidFill>
                <a:srgbClr val="A28A50"/>
              </a:solidFill>
              <a:prstDash val="solid"/>
            </a:ln>
          </p:spPr>
          <p:txBody>
            <a:bodyPr/>
            <a:lstStyle/>
            <a:p>
              <a:endParaRPr sz="1200"/>
            </a:p>
          </p:txBody>
        </p:sp>
        <p:sp>
          <p:nvSpPr>
            <p:cNvPr id="70" name="s1-cereal-back-0__ellipse_70">
              <a:extLst>
                <a:ext uri="{FF2B5EF4-FFF2-40B4-BE49-F238E27FC236}">
                  <a16:creationId xmlns:a16="http://schemas.microsoft.com/office/drawing/2014/main" id="{E0CE9DB2-3BC1-4B77-AB09-7BCE36FFEBE5}"/>
                </a:ext>
              </a:extLst>
            </p:cNvPr>
            <p:cNvSpPr>
              <a:spLocks/>
            </p:cNvSpPr>
            <p:nvPr/>
          </p:nvSpPr>
          <p:spPr>
            <a:xfrm>
              <a:off x="1795779" y="2670302"/>
              <a:ext cx="16763" cy="25146"/>
            </a:xfrm>
            <a:prstGeom prst="ellipse">
              <a:avLst/>
            </a:prstGeom>
            <a:solidFill>
              <a:srgbClr val="CCB166"/>
            </a:solidFill>
            <a:ln w="3143">
              <a:solidFill>
                <a:srgbClr val="A28A50"/>
              </a:solidFill>
              <a:prstDash val="solid"/>
            </a:ln>
          </p:spPr>
          <p:txBody>
            <a:bodyPr/>
            <a:lstStyle/>
            <a:p>
              <a:endParaRPr sz="1200"/>
            </a:p>
          </p:txBody>
        </p:sp>
        <p:sp>
          <p:nvSpPr>
            <p:cNvPr id="71" name="s1-cereal-back-0__ellipse_71">
              <a:extLst>
                <a:ext uri="{FF2B5EF4-FFF2-40B4-BE49-F238E27FC236}">
                  <a16:creationId xmlns:a16="http://schemas.microsoft.com/office/drawing/2014/main" id="{92FF228C-9AD3-46E1-AFD6-5178FE17E66F}"/>
                </a:ext>
              </a:extLst>
            </p:cNvPr>
            <p:cNvSpPr>
              <a:spLocks/>
            </p:cNvSpPr>
            <p:nvPr/>
          </p:nvSpPr>
          <p:spPr>
            <a:xfrm>
              <a:off x="1804161" y="2687066"/>
              <a:ext cx="16763" cy="25146"/>
            </a:xfrm>
            <a:prstGeom prst="ellipse">
              <a:avLst/>
            </a:prstGeom>
            <a:solidFill>
              <a:srgbClr val="CCB166"/>
            </a:solidFill>
            <a:ln w="3143">
              <a:solidFill>
                <a:srgbClr val="A28A50"/>
              </a:solidFill>
              <a:prstDash val="solid"/>
            </a:ln>
          </p:spPr>
          <p:txBody>
            <a:bodyPr/>
            <a:lstStyle/>
            <a:p>
              <a:endParaRPr sz="1200"/>
            </a:p>
          </p:txBody>
        </p:sp>
        <p:sp>
          <p:nvSpPr>
            <p:cNvPr id="72" name="s1-cereal-back-1__contour_72">
              <a:extLst>
                <a:ext uri="{FF2B5EF4-FFF2-40B4-BE49-F238E27FC236}">
                  <a16:creationId xmlns:a16="http://schemas.microsoft.com/office/drawing/2014/main" id="{7BAA8DF4-7CDD-4AF6-8E10-2CC734779E1F}"/>
                </a:ext>
              </a:extLst>
            </p:cNvPr>
            <p:cNvSpPr>
              <a:spLocks/>
            </p:cNvSpPr>
            <p:nvPr/>
          </p:nvSpPr>
          <p:spPr>
            <a:xfrm>
              <a:off x="1929181" y="26602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73" name="s1-cereal-back-1__contour_73">
              <a:extLst>
                <a:ext uri="{FF2B5EF4-FFF2-40B4-BE49-F238E27FC236}">
                  <a16:creationId xmlns:a16="http://schemas.microsoft.com/office/drawing/2014/main" id="{4C027AA2-64B3-4357-A7DD-24F372ACA0BF}"/>
                </a:ext>
              </a:extLst>
            </p:cNvPr>
            <p:cNvSpPr>
              <a:spLocks/>
            </p:cNvSpPr>
            <p:nvPr/>
          </p:nvSpPr>
          <p:spPr>
            <a:xfrm>
              <a:off x="1862582" y="27440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74" name="s1-cereal-back-1__contour_74">
              <a:extLst>
                <a:ext uri="{FF2B5EF4-FFF2-40B4-BE49-F238E27FC236}">
                  <a16:creationId xmlns:a16="http://schemas.microsoft.com/office/drawing/2014/main" id="{4857596D-51FC-40B5-8196-FE35F6AF3338}"/>
                </a:ext>
              </a:extLst>
            </p:cNvPr>
            <p:cNvSpPr>
              <a:spLocks/>
            </p:cNvSpPr>
            <p:nvPr/>
          </p:nvSpPr>
          <p:spPr>
            <a:xfrm>
              <a:off x="1938020" y="27273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75" name="s1-cereal-back-1__contour_75">
              <a:extLst>
                <a:ext uri="{FF2B5EF4-FFF2-40B4-BE49-F238E27FC236}">
                  <a16:creationId xmlns:a16="http://schemas.microsoft.com/office/drawing/2014/main" id="{385DE767-1E6B-4BAD-8F9A-2ED5BD7CDDC9}"/>
                </a:ext>
              </a:extLst>
            </p:cNvPr>
            <p:cNvSpPr>
              <a:spLocks/>
            </p:cNvSpPr>
            <p:nvPr/>
          </p:nvSpPr>
          <p:spPr>
            <a:xfrm>
              <a:off x="1967357" y="26707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76" name="s1-cereal-back-1__ellipse_76">
              <a:extLst>
                <a:ext uri="{FF2B5EF4-FFF2-40B4-BE49-F238E27FC236}">
                  <a16:creationId xmlns:a16="http://schemas.microsoft.com/office/drawing/2014/main" id="{6AABBEBA-4992-4A48-A5F6-D8AE29DD00EA}"/>
                </a:ext>
              </a:extLst>
            </p:cNvPr>
            <p:cNvSpPr>
              <a:spLocks/>
            </p:cNvSpPr>
            <p:nvPr/>
          </p:nvSpPr>
          <p:spPr>
            <a:xfrm>
              <a:off x="1979930" y="2681224"/>
              <a:ext cx="16763" cy="25146"/>
            </a:xfrm>
            <a:prstGeom prst="ellipse">
              <a:avLst/>
            </a:prstGeom>
            <a:solidFill>
              <a:srgbClr val="CCB166"/>
            </a:solidFill>
            <a:ln w="3143">
              <a:solidFill>
                <a:srgbClr val="A28A50"/>
              </a:solidFill>
              <a:prstDash val="solid"/>
            </a:ln>
          </p:spPr>
          <p:txBody>
            <a:bodyPr/>
            <a:lstStyle/>
            <a:p>
              <a:endParaRPr sz="1200"/>
            </a:p>
          </p:txBody>
        </p:sp>
        <p:sp>
          <p:nvSpPr>
            <p:cNvPr id="77" name="s1-cereal-back-1__ellipse_77">
              <a:extLst>
                <a:ext uri="{FF2B5EF4-FFF2-40B4-BE49-F238E27FC236}">
                  <a16:creationId xmlns:a16="http://schemas.microsoft.com/office/drawing/2014/main" id="{618742AA-7080-402B-9139-E0BA5A318935}"/>
                </a:ext>
              </a:extLst>
            </p:cNvPr>
            <p:cNvSpPr>
              <a:spLocks/>
            </p:cNvSpPr>
            <p:nvPr/>
          </p:nvSpPr>
          <p:spPr>
            <a:xfrm>
              <a:off x="1988312" y="2697988"/>
              <a:ext cx="16763" cy="25146"/>
            </a:xfrm>
            <a:prstGeom prst="ellipse">
              <a:avLst/>
            </a:prstGeom>
            <a:solidFill>
              <a:srgbClr val="CCB166"/>
            </a:solidFill>
            <a:ln w="3143">
              <a:solidFill>
                <a:srgbClr val="A28A50"/>
              </a:solidFill>
              <a:prstDash val="solid"/>
            </a:ln>
          </p:spPr>
          <p:txBody>
            <a:bodyPr/>
            <a:lstStyle/>
            <a:p>
              <a:endParaRPr sz="1200"/>
            </a:p>
          </p:txBody>
        </p:sp>
        <p:sp>
          <p:nvSpPr>
            <p:cNvPr id="78" name="s1-cereal-back-1__ellipse_78">
              <a:extLst>
                <a:ext uri="{FF2B5EF4-FFF2-40B4-BE49-F238E27FC236}">
                  <a16:creationId xmlns:a16="http://schemas.microsoft.com/office/drawing/2014/main" id="{A1605EBF-C6A2-44E1-81B7-EB14E50E925A}"/>
                </a:ext>
              </a:extLst>
            </p:cNvPr>
            <p:cNvSpPr>
              <a:spLocks/>
            </p:cNvSpPr>
            <p:nvPr/>
          </p:nvSpPr>
          <p:spPr>
            <a:xfrm>
              <a:off x="1979930" y="2714752"/>
              <a:ext cx="16763" cy="25146"/>
            </a:xfrm>
            <a:prstGeom prst="ellipse">
              <a:avLst/>
            </a:prstGeom>
            <a:solidFill>
              <a:srgbClr val="CCB166"/>
            </a:solidFill>
            <a:ln w="3143">
              <a:solidFill>
                <a:srgbClr val="A28A50"/>
              </a:solidFill>
              <a:prstDash val="solid"/>
            </a:ln>
          </p:spPr>
          <p:txBody>
            <a:bodyPr/>
            <a:lstStyle/>
            <a:p>
              <a:endParaRPr sz="1200"/>
            </a:p>
          </p:txBody>
        </p:sp>
        <p:sp>
          <p:nvSpPr>
            <p:cNvPr id="79" name="s1-cereal-back-1__ellipse_79">
              <a:extLst>
                <a:ext uri="{FF2B5EF4-FFF2-40B4-BE49-F238E27FC236}">
                  <a16:creationId xmlns:a16="http://schemas.microsoft.com/office/drawing/2014/main" id="{BBA8CC46-D0CB-4B07-8395-9DF4E120597A}"/>
                </a:ext>
              </a:extLst>
            </p:cNvPr>
            <p:cNvSpPr>
              <a:spLocks/>
            </p:cNvSpPr>
            <p:nvPr/>
          </p:nvSpPr>
          <p:spPr>
            <a:xfrm>
              <a:off x="1988312" y="2731516"/>
              <a:ext cx="16763" cy="25146"/>
            </a:xfrm>
            <a:prstGeom prst="ellipse">
              <a:avLst/>
            </a:prstGeom>
            <a:solidFill>
              <a:srgbClr val="CCB166"/>
            </a:solidFill>
            <a:ln w="3143">
              <a:solidFill>
                <a:srgbClr val="A28A50"/>
              </a:solidFill>
              <a:prstDash val="solid"/>
            </a:ln>
          </p:spPr>
          <p:txBody>
            <a:bodyPr/>
            <a:lstStyle/>
            <a:p>
              <a:endParaRPr sz="1200"/>
            </a:p>
          </p:txBody>
        </p:sp>
        <p:sp>
          <p:nvSpPr>
            <p:cNvPr id="80" name="s1-cereal-back-2__contour_80">
              <a:extLst>
                <a:ext uri="{FF2B5EF4-FFF2-40B4-BE49-F238E27FC236}">
                  <a16:creationId xmlns:a16="http://schemas.microsoft.com/office/drawing/2014/main" id="{B3D44195-6FC6-428F-87B0-A0A003796543}"/>
                </a:ext>
              </a:extLst>
            </p:cNvPr>
            <p:cNvSpPr>
              <a:spLocks/>
            </p:cNvSpPr>
            <p:nvPr/>
          </p:nvSpPr>
          <p:spPr>
            <a:xfrm>
              <a:off x="2113330" y="2704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1" name="s1-cereal-back-2__contour_81">
              <a:extLst>
                <a:ext uri="{FF2B5EF4-FFF2-40B4-BE49-F238E27FC236}">
                  <a16:creationId xmlns:a16="http://schemas.microsoft.com/office/drawing/2014/main" id="{BE07FC89-FF4C-4BD0-9CB7-83AE7D6E6D15}"/>
                </a:ext>
              </a:extLst>
            </p:cNvPr>
            <p:cNvSpPr>
              <a:spLocks/>
            </p:cNvSpPr>
            <p:nvPr/>
          </p:nvSpPr>
          <p:spPr>
            <a:xfrm>
              <a:off x="2046732" y="2788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82" name="s1-cereal-back-2__contour_82">
              <a:extLst>
                <a:ext uri="{FF2B5EF4-FFF2-40B4-BE49-F238E27FC236}">
                  <a16:creationId xmlns:a16="http://schemas.microsoft.com/office/drawing/2014/main" id="{9519DD85-2FF4-468D-AD5E-FAB8B6734D75}"/>
                </a:ext>
              </a:extLst>
            </p:cNvPr>
            <p:cNvSpPr>
              <a:spLocks/>
            </p:cNvSpPr>
            <p:nvPr/>
          </p:nvSpPr>
          <p:spPr>
            <a:xfrm>
              <a:off x="2122170" y="2771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83" name="s1-cereal-back-2__contour_83">
              <a:extLst>
                <a:ext uri="{FF2B5EF4-FFF2-40B4-BE49-F238E27FC236}">
                  <a16:creationId xmlns:a16="http://schemas.microsoft.com/office/drawing/2014/main" id="{F5BDF871-4328-49D6-95F9-3A6C9E2848D9}"/>
                </a:ext>
              </a:extLst>
            </p:cNvPr>
            <p:cNvSpPr>
              <a:spLocks/>
            </p:cNvSpPr>
            <p:nvPr/>
          </p:nvSpPr>
          <p:spPr>
            <a:xfrm>
              <a:off x="2151507" y="2715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84" name="s1-cereal-back-2__ellipse_84">
              <a:extLst>
                <a:ext uri="{FF2B5EF4-FFF2-40B4-BE49-F238E27FC236}">
                  <a16:creationId xmlns:a16="http://schemas.microsoft.com/office/drawing/2014/main" id="{EF9C42B9-9794-4D4B-B8E0-7BCE6DEBFD7A}"/>
                </a:ext>
              </a:extLst>
            </p:cNvPr>
            <p:cNvSpPr>
              <a:spLocks/>
            </p:cNvSpPr>
            <p:nvPr/>
          </p:nvSpPr>
          <p:spPr>
            <a:xfrm>
              <a:off x="2164080" y="2725674"/>
              <a:ext cx="16763" cy="25146"/>
            </a:xfrm>
            <a:prstGeom prst="ellipse">
              <a:avLst/>
            </a:prstGeom>
            <a:solidFill>
              <a:srgbClr val="CCB166"/>
            </a:solidFill>
            <a:ln w="3143">
              <a:solidFill>
                <a:srgbClr val="A28A50"/>
              </a:solidFill>
              <a:prstDash val="solid"/>
            </a:ln>
          </p:spPr>
          <p:txBody>
            <a:bodyPr/>
            <a:lstStyle/>
            <a:p>
              <a:endParaRPr sz="1200"/>
            </a:p>
          </p:txBody>
        </p:sp>
        <p:sp>
          <p:nvSpPr>
            <p:cNvPr id="85" name="s1-cereal-back-2__ellipse_85">
              <a:extLst>
                <a:ext uri="{FF2B5EF4-FFF2-40B4-BE49-F238E27FC236}">
                  <a16:creationId xmlns:a16="http://schemas.microsoft.com/office/drawing/2014/main" id="{E9EFA061-2521-4068-B8BD-86FAEBF8C8CB}"/>
                </a:ext>
              </a:extLst>
            </p:cNvPr>
            <p:cNvSpPr>
              <a:spLocks/>
            </p:cNvSpPr>
            <p:nvPr/>
          </p:nvSpPr>
          <p:spPr>
            <a:xfrm>
              <a:off x="2172462" y="2742438"/>
              <a:ext cx="16763" cy="25146"/>
            </a:xfrm>
            <a:prstGeom prst="ellipse">
              <a:avLst/>
            </a:prstGeom>
            <a:solidFill>
              <a:srgbClr val="CCB166"/>
            </a:solidFill>
            <a:ln w="3143">
              <a:solidFill>
                <a:srgbClr val="A28A50"/>
              </a:solidFill>
              <a:prstDash val="solid"/>
            </a:ln>
          </p:spPr>
          <p:txBody>
            <a:bodyPr/>
            <a:lstStyle/>
            <a:p>
              <a:endParaRPr sz="1200"/>
            </a:p>
          </p:txBody>
        </p:sp>
        <p:sp>
          <p:nvSpPr>
            <p:cNvPr id="86" name="s1-cereal-back-2__ellipse_86">
              <a:extLst>
                <a:ext uri="{FF2B5EF4-FFF2-40B4-BE49-F238E27FC236}">
                  <a16:creationId xmlns:a16="http://schemas.microsoft.com/office/drawing/2014/main" id="{03F79B78-7F85-4B2B-A770-68D9A2DA8E24}"/>
                </a:ext>
              </a:extLst>
            </p:cNvPr>
            <p:cNvSpPr>
              <a:spLocks/>
            </p:cNvSpPr>
            <p:nvPr/>
          </p:nvSpPr>
          <p:spPr>
            <a:xfrm>
              <a:off x="2164080" y="2759202"/>
              <a:ext cx="16763" cy="25146"/>
            </a:xfrm>
            <a:prstGeom prst="ellipse">
              <a:avLst/>
            </a:prstGeom>
            <a:solidFill>
              <a:srgbClr val="CCB166"/>
            </a:solidFill>
            <a:ln w="3143">
              <a:solidFill>
                <a:srgbClr val="A28A50"/>
              </a:solidFill>
              <a:prstDash val="solid"/>
            </a:ln>
          </p:spPr>
          <p:txBody>
            <a:bodyPr/>
            <a:lstStyle/>
            <a:p>
              <a:endParaRPr sz="1200"/>
            </a:p>
          </p:txBody>
        </p:sp>
        <p:sp>
          <p:nvSpPr>
            <p:cNvPr id="87" name="s1-cereal-back-2__ellipse_87">
              <a:extLst>
                <a:ext uri="{FF2B5EF4-FFF2-40B4-BE49-F238E27FC236}">
                  <a16:creationId xmlns:a16="http://schemas.microsoft.com/office/drawing/2014/main" id="{36EA9F57-4635-46E3-B53D-BC200759940C}"/>
                </a:ext>
              </a:extLst>
            </p:cNvPr>
            <p:cNvSpPr>
              <a:spLocks/>
            </p:cNvSpPr>
            <p:nvPr/>
          </p:nvSpPr>
          <p:spPr>
            <a:xfrm>
              <a:off x="2172462" y="2775966"/>
              <a:ext cx="16763" cy="25146"/>
            </a:xfrm>
            <a:prstGeom prst="ellipse">
              <a:avLst/>
            </a:prstGeom>
            <a:solidFill>
              <a:srgbClr val="CCB166"/>
            </a:solidFill>
            <a:ln w="3143">
              <a:solidFill>
                <a:srgbClr val="A28A50"/>
              </a:solidFill>
              <a:prstDash val="solid"/>
            </a:ln>
          </p:spPr>
          <p:txBody>
            <a:bodyPr/>
            <a:lstStyle/>
            <a:p>
              <a:endParaRPr sz="1200"/>
            </a:p>
          </p:txBody>
        </p:sp>
        <p:sp>
          <p:nvSpPr>
            <p:cNvPr id="88" name="s1-cereal-back-3__contour_88">
              <a:extLst>
                <a:ext uri="{FF2B5EF4-FFF2-40B4-BE49-F238E27FC236}">
                  <a16:creationId xmlns:a16="http://schemas.microsoft.com/office/drawing/2014/main" id="{B37A8327-DC97-4AFD-95D5-931A77A26C72}"/>
                </a:ext>
              </a:extLst>
            </p:cNvPr>
            <p:cNvSpPr>
              <a:spLocks/>
            </p:cNvSpPr>
            <p:nvPr/>
          </p:nvSpPr>
          <p:spPr>
            <a:xfrm>
              <a:off x="2297481" y="27491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9" name="s1-cereal-back-3__contour_89">
              <a:extLst>
                <a:ext uri="{FF2B5EF4-FFF2-40B4-BE49-F238E27FC236}">
                  <a16:creationId xmlns:a16="http://schemas.microsoft.com/office/drawing/2014/main" id="{D29BFA30-60FA-41B7-9B88-9F4183340449}"/>
                </a:ext>
              </a:extLst>
            </p:cNvPr>
            <p:cNvSpPr>
              <a:spLocks/>
            </p:cNvSpPr>
            <p:nvPr/>
          </p:nvSpPr>
          <p:spPr>
            <a:xfrm>
              <a:off x="2230882" y="28329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0" name="s1-cereal-back-3__contour_90">
              <a:extLst>
                <a:ext uri="{FF2B5EF4-FFF2-40B4-BE49-F238E27FC236}">
                  <a16:creationId xmlns:a16="http://schemas.microsoft.com/office/drawing/2014/main" id="{05DEA7F7-A7D7-40F3-8237-2FA5E51ADA42}"/>
                </a:ext>
              </a:extLst>
            </p:cNvPr>
            <p:cNvSpPr>
              <a:spLocks/>
            </p:cNvSpPr>
            <p:nvPr/>
          </p:nvSpPr>
          <p:spPr>
            <a:xfrm>
              <a:off x="2306320" y="28162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1" name="s1-cereal-back-3__contour_91">
              <a:extLst>
                <a:ext uri="{FF2B5EF4-FFF2-40B4-BE49-F238E27FC236}">
                  <a16:creationId xmlns:a16="http://schemas.microsoft.com/office/drawing/2014/main" id="{70CE7E29-5338-41FA-9478-698D61DFA59B}"/>
                </a:ext>
              </a:extLst>
            </p:cNvPr>
            <p:cNvSpPr>
              <a:spLocks/>
            </p:cNvSpPr>
            <p:nvPr/>
          </p:nvSpPr>
          <p:spPr>
            <a:xfrm>
              <a:off x="2335658" y="27596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92" name="s1-cereal-back-3__ellipse_92">
              <a:extLst>
                <a:ext uri="{FF2B5EF4-FFF2-40B4-BE49-F238E27FC236}">
                  <a16:creationId xmlns:a16="http://schemas.microsoft.com/office/drawing/2014/main" id="{34903208-2723-40E7-AA32-A10D00BA2831}"/>
                </a:ext>
              </a:extLst>
            </p:cNvPr>
            <p:cNvSpPr>
              <a:spLocks/>
            </p:cNvSpPr>
            <p:nvPr/>
          </p:nvSpPr>
          <p:spPr>
            <a:xfrm>
              <a:off x="2348230" y="2770124"/>
              <a:ext cx="16763" cy="25146"/>
            </a:xfrm>
            <a:prstGeom prst="ellipse">
              <a:avLst/>
            </a:prstGeom>
            <a:solidFill>
              <a:srgbClr val="CCB166"/>
            </a:solidFill>
            <a:ln w="3143">
              <a:solidFill>
                <a:srgbClr val="A28A50"/>
              </a:solidFill>
              <a:prstDash val="solid"/>
            </a:ln>
          </p:spPr>
          <p:txBody>
            <a:bodyPr/>
            <a:lstStyle/>
            <a:p>
              <a:endParaRPr sz="1200"/>
            </a:p>
          </p:txBody>
        </p:sp>
        <p:sp>
          <p:nvSpPr>
            <p:cNvPr id="93" name="s1-cereal-back-3__ellipse_93">
              <a:extLst>
                <a:ext uri="{FF2B5EF4-FFF2-40B4-BE49-F238E27FC236}">
                  <a16:creationId xmlns:a16="http://schemas.microsoft.com/office/drawing/2014/main" id="{2A919603-4B6B-4FEB-9522-FF1E39F544E5}"/>
                </a:ext>
              </a:extLst>
            </p:cNvPr>
            <p:cNvSpPr>
              <a:spLocks/>
            </p:cNvSpPr>
            <p:nvPr/>
          </p:nvSpPr>
          <p:spPr>
            <a:xfrm>
              <a:off x="2356612" y="2786888"/>
              <a:ext cx="16763" cy="25146"/>
            </a:xfrm>
            <a:prstGeom prst="ellipse">
              <a:avLst/>
            </a:prstGeom>
            <a:solidFill>
              <a:srgbClr val="CCB166"/>
            </a:solidFill>
            <a:ln w="3143">
              <a:solidFill>
                <a:srgbClr val="A28A50"/>
              </a:solidFill>
              <a:prstDash val="solid"/>
            </a:ln>
          </p:spPr>
          <p:txBody>
            <a:bodyPr/>
            <a:lstStyle/>
            <a:p>
              <a:endParaRPr sz="1200"/>
            </a:p>
          </p:txBody>
        </p:sp>
        <p:sp>
          <p:nvSpPr>
            <p:cNvPr id="94" name="s1-cereal-back-3__ellipse_94">
              <a:extLst>
                <a:ext uri="{FF2B5EF4-FFF2-40B4-BE49-F238E27FC236}">
                  <a16:creationId xmlns:a16="http://schemas.microsoft.com/office/drawing/2014/main" id="{041EB939-3B02-4C84-8725-61E6F393D11E}"/>
                </a:ext>
              </a:extLst>
            </p:cNvPr>
            <p:cNvSpPr>
              <a:spLocks/>
            </p:cNvSpPr>
            <p:nvPr/>
          </p:nvSpPr>
          <p:spPr>
            <a:xfrm>
              <a:off x="2348230" y="2803652"/>
              <a:ext cx="16763" cy="25146"/>
            </a:xfrm>
            <a:prstGeom prst="ellipse">
              <a:avLst/>
            </a:prstGeom>
            <a:solidFill>
              <a:srgbClr val="CCB166"/>
            </a:solidFill>
            <a:ln w="3143">
              <a:solidFill>
                <a:srgbClr val="A28A50"/>
              </a:solidFill>
              <a:prstDash val="solid"/>
            </a:ln>
          </p:spPr>
          <p:txBody>
            <a:bodyPr/>
            <a:lstStyle/>
            <a:p>
              <a:endParaRPr sz="1200"/>
            </a:p>
          </p:txBody>
        </p:sp>
        <p:sp>
          <p:nvSpPr>
            <p:cNvPr id="95" name="s1-cereal-back-3__ellipse_95">
              <a:extLst>
                <a:ext uri="{FF2B5EF4-FFF2-40B4-BE49-F238E27FC236}">
                  <a16:creationId xmlns:a16="http://schemas.microsoft.com/office/drawing/2014/main" id="{5F8B71CF-89BC-4F84-A3B8-13D8E7781428}"/>
                </a:ext>
              </a:extLst>
            </p:cNvPr>
            <p:cNvSpPr>
              <a:spLocks/>
            </p:cNvSpPr>
            <p:nvPr/>
          </p:nvSpPr>
          <p:spPr>
            <a:xfrm>
              <a:off x="2356612" y="2820416"/>
              <a:ext cx="16763" cy="25146"/>
            </a:xfrm>
            <a:prstGeom prst="ellipse">
              <a:avLst/>
            </a:prstGeom>
            <a:solidFill>
              <a:srgbClr val="CCB166"/>
            </a:solidFill>
            <a:ln w="3143">
              <a:solidFill>
                <a:srgbClr val="A28A50"/>
              </a:solidFill>
              <a:prstDash val="solid"/>
            </a:ln>
          </p:spPr>
          <p:txBody>
            <a:bodyPr/>
            <a:lstStyle/>
            <a:p>
              <a:endParaRPr sz="1200"/>
            </a:p>
          </p:txBody>
        </p:sp>
        <p:sp>
          <p:nvSpPr>
            <p:cNvPr id="96" name="s1-cereal-front-0__contour_96">
              <a:extLst>
                <a:ext uri="{FF2B5EF4-FFF2-40B4-BE49-F238E27FC236}">
                  <a16:creationId xmlns:a16="http://schemas.microsoft.com/office/drawing/2014/main" id="{9D653BC0-3242-47F2-AB6A-EBA802665CB6}"/>
                </a:ext>
              </a:extLst>
            </p:cNvPr>
            <p:cNvSpPr>
              <a:spLocks/>
            </p:cNvSpPr>
            <p:nvPr/>
          </p:nvSpPr>
          <p:spPr>
            <a:xfrm>
              <a:off x="1681530" y="29079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97" name="s1-cereal-front-0__contour_97">
              <a:extLst>
                <a:ext uri="{FF2B5EF4-FFF2-40B4-BE49-F238E27FC236}">
                  <a16:creationId xmlns:a16="http://schemas.microsoft.com/office/drawing/2014/main" id="{4A98A92F-CC77-4CFE-BBA6-6838825DC8E3}"/>
                </a:ext>
              </a:extLst>
            </p:cNvPr>
            <p:cNvSpPr>
              <a:spLocks/>
            </p:cNvSpPr>
            <p:nvPr/>
          </p:nvSpPr>
          <p:spPr>
            <a:xfrm>
              <a:off x="1614932" y="29917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2"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8" name="s1-cereal-front-0__contour_98">
              <a:extLst>
                <a:ext uri="{FF2B5EF4-FFF2-40B4-BE49-F238E27FC236}">
                  <a16:creationId xmlns:a16="http://schemas.microsoft.com/office/drawing/2014/main" id="{F79B2CA5-09D3-4379-A9D1-10B5D24936C9}"/>
                </a:ext>
              </a:extLst>
            </p:cNvPr>
            <p:cNvSpPr>
              <a:spLocks/>
            </p:cNvSpPr>
            <p:nvPr/>
          </p:nvSpPr>
          <p:spPr>
            <a:xfrm>
              <a:off x="1690370" y="29749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9" name="s1-cereal-front-0__contour_99">
              <a:extLst>
                <a:ext uri="{FF2B5EF4-FFF2-40B4-BE49-F238E27FC236}">
                  <a16:creationId xmlns:a16="http://schemas.microsoft.com/office/drawing/2014/main" id="{F27DA5B1-712A-44CF-8C46-54B2BA203F0A}"/>
                </a:ext>
              </a:extLst>
            </p:cNvPr>
            <p:cNvSpPr>
              <a:spLocks/>
            </p:cNvSpPr>
            <p:nvPr/>
          </p:nvSpPr>
          <p:spPr>
            <a:xfrm>
              <a:off x="1719707" y="29184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0" name="s1-cereal-front-0__ellipse_100">
              <a:extLst>
                <a:ext uri="{FF2B5EF4-FFF2-40B4-BE49-F238E27FC236}">
                  <a16:creationId xmlns:a16="http://schemas.microsoft.com/office/drawing/2014/main" id="{50BF277F-FDBB-4DC9-A0D4-29E161310F59}"/>
                </a:ext>
              </a:extLst>
            </p:cNvPr>
            <p:cNvSpPr>
              <a:spLocks/>
            </p:cNvSpPr>
            <p:nvPr/>
          </p:nvSpPr>
          <p:spPr>
            <a:xfrm>
              <a:off x="1732280" y="2928874"/>
              <a:ext cx="16763" cy="25146"/>
            </a:xfrm>
            <a:prstGeom prst="ellipse">
              <a:avLst/>
            </a:prstGeom>
            <a:solidFill>
              <a:srgbClr val="CCB166"/>
            </a:solidFill>
            <a:ln w="3143">
              <a:solidFill>
                <a:srgbClr val="A28A50"/>
              </a:solidFill>
              <a:prstDash val="solid"/>
            </a:ln>
          </p:spPr>
          <p:txBody>
            <a:bodyPr/>
            <a:lstStyle/>
            <a:p>
              <a:endParaRPr sz="1200"/>
            </a:p>
          </p:txBody>
        </p:sp>
        <p:sp>
          <p:nvSpPr>
            <p:cNvPr id="101" name="s1-cereal-front-0__ellipse_101">
              <a:extLst>
                <a:ext uri="{FF2B5EF4-FFF2-40B4-BE49-F238E27FC236}">
                  <a16:creationId xmlns:a16="http://schemas.microsoft.com/office/drawing/2014/main" id="{DD2B91AC-FF2E-412D-A0CC-EE430931B556}"/>
                </a:ext>
              </a:extLst>
            </p:cNvPr>
            <p:cNvSpPr>
              <a:spLocks/>
            </p:cNvSpPr>
            <p:nvPr/>
          </p:nvSpPr>
          <p:spPr>
            <a:xfrm>
              <a:off x="1740662" y="2945638"/>
              <a:ext cx="16763" cy="25146"/>
            </a:xfrm>
            <a:prstGeom prst="ellipse">
              <a:avLst/>
            </a:prstGeom>
            <a:solidFill>
              <a:srgbClr val="CCB166"/>
            </a:solidFill>
            <a:ln w="3143">
              <a:solidFill>
                <a:srgbClr val="A28A50"/>
              </a:solidFill>
              <a:prstDash val="solid"/>
            </a:ln>
          </p:spPr>
          <p:txBody>
            <a:bodyPr/>
            <a:lstStyle/>
            <a:p>
              <a:endParaRPr sz="1200"/>
            </a:p>
          </p:txBody>
        </p:sp>
        <p:sp>
          <p:nvSpPr>
            <p:cNvPr id="102" name="s1-cereal-front-0__ellipse_102">
              <a:extLst>
                <a:ext uri="{FF2B5EF4-FFF2-40B4-BE49-F238E27FC236}">
                  <a16:creationId xmlns:a16="http://schemas.microsoft.com/office/drawing/2014/main" id="{6E188BBB-F333-4221-950A-0C8527C8CB6D}"/>
                </a:ext>
              </a:extLst>
            </p:cNvPr>
            <p:cNvSpPr>
              <a:spLocks/>
            </p:cNvSpPr>
            <p:nvPr/>
          </p:nvSpPr>
          <p:spPr>
            <a:xfrm>
              <a:off x="1732280" y="2962402"/>
              <a:ext cx="16763" cy="25146"/>
            </a:xfrm>
            <a:prstGeom prst="ellipse">
              <a:avLst/>
            </a:prstGeom>
            <a:solidFill>
              <a:srgbClr val="CCB166"/>
            </a:solidFill>
            <a:ln w="3143">
              <a:solidFill>
                <a:srgbClr val="A28A50"/>
              </a:solidFill>
              <a:prstDash val="solid"/>
            </a:ln>
          </p:spPr>
          <p:txBody>
            <a:bodyPr/>
            <a:lstStyle/>
            <a:p>
              <a:endParaRPr sz="1200"/>
            </a:p>
          </p:txBody>
        </p:sp>
        <p:sp>
          <p:nvSpPr>
            <p:cNvPr id="103" name="s1-cereal-front-0__ellipse_103">
              <a:extLst>
                <a:ext uri="{FF2B5EF4-FFF2-40B4-BE49-F238E27FC236}">
                  <a16:creationId xmlns:a16="http://schemas.microsoft.com/office/drawing/2014/main" id="{CD3B3DA5-9864-4494-A48F-2AD942E77EB0}"/>
                </a:ext>
              </a:extLst>
            </p:cNvPr>
            <p:cNvSpPr>
              <a:spLocks/>
            </p:cNvSpPr>
            <p:nvPr/>
          </p:nvSpPr>
          <p:spPr>
            <a:xfrm>
              <a:off x="1740662" y="2979166"/>
              <a:ext cx="16763" cy="25146"/>
            </a:xfrm>
            <a:prstGeom prst="ellipse">
              <a:avLst/>
            </a:prstGeom>
            <a:solidFill>
              <a:srgbClr val="CCB166"/>
            </a:solidFill>
            <a:ln w="3143">
              <a:solidFill>
                <a:srgbClr val="A28A50"/>
              </a:solidFill>
              <a:prstDash val="solid"/>
            </a:ln>
          </p:spPr>
          <p:txBody>
            <a:bodyPr/>
            <a:lstStyle/>
            <a:p>
              <a:endParaRPr sz="1200"/>
            </a:p>
          </p:txBody>
        </p:sp>
        <p:sp>
          <p:nvSpPr>
            <p:cNvPr id="104" name="s1-cereal-front-1__contour_104">
              <a:extLst>
                <a:ext uri="{FF2B5EF4-FFF2-40B4-BE49-F238E27FC236}">
                  <a16:creationId xmlns:a16="http://schemas.microsoft.com/office/drawing/2014/main" id="{57E7783F-4E18-45D1-9291-8BBCD2672BFC}"/>
                </a:ext>
              </a:extLst>
            </p:cNvPr>
            <p:cNvSpPr>
              <a:spLocks/>
            </p:cNvSpPr>
            <p:nvPr/>
          </p:nvSpPr>
          <p:spPr>
            <a:xfrm>
              <a:off x="1891081" y="2958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05" name="s1-cereal-front-1__contour_105">
              <a:extLst>
                <a:ext uri="{FF2B5EF4-FFF2-40B4-BE49-F238E27FC236}">
                  <a16:creationId xmlns:a16="http://schemas.microsoft.com/office/drawing/2014/main" id="{FEC16F17-D8CE-41AC-A73E-383DC7460F03}"/>
                </a:ext>
              </a:extLst>
            </p:cNvPr>
            <p:cNvSpPr>
              <a:spLocks/>
            </p:cNvSpPr>
            <p:nvPr/>
          </p:nvSpPr>
          <p:spPr>
            <a:xfrm>
              <a:off x="1824482" y="3042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06" name="s1-cereal-front-1__contour_106">
              <a:extLst>
                <a:ext uri="{FF2B5EF4-FFF2-40B4-BE49-F238E27FC236}">
                  <a16:creationId xmlns:a16="http://schemas.microsoft.com/office/drawing/2014/main" id="{70D8B09D-8C18-493B-B665-A98145167EB2}"/>
                </a:ext>
              </a:extLst>
            </p:cNvPr>
            <p:cNvSpPr>
              <a:spLocks/>
            </p:cNvSpPr>
            <p:nvPr/>
          </p:nvSpPr>
          <p:spPr>
            <a:xfrm>
              <a:off x="1899920" y="3025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07" name="s1-cereal-front-1__contour_107">
              <a:extLst>
                <a:ext uri="{FF2B5EF4-FFF2-40B4-BE49-F238E27FC236}">
                  <a16:creationId xmlns:a16="http://schemas.microsoft.com/office/drawing/2014/main" id="{02BE787D-293E-4AE7-BB91-AC99490AC17E}"/>
                </a:ext>
              </a:extLst>
            </p:cNvPr>
            <p:cNvSpPr>
              <a:spLocks/>
            </p:cNvSpPr>
            <p:nvPr/>
          </p:nvSpPr>
          <p:spPr>
            <a:xfrm>
              <a:off x="1929257" y="2969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8" name="s1-cereal-front-1__ellipse_108">
              <a:extLst>
                <a:ext uri="{FF2B5EF4-FFF2-40B4-BE49-F238E27FC236}">
                  <a16:creationId xmlns:a16="http://schemas.microsoft.com/office/drawing/2014/main" id="{9906A654-BB84-41C7-BF8E-3A37C68E3E30}"/>
                </a:ext>
              </a:extLst>
            </p:cNvPr>
            <p:cNvSpPr>
              <a:spLocks/>
            </p:cNvSpPr>
            <p:nvPr/>
          </p:nvSpPr>
          <p:spPr>
            <a:xfrm>
              <a:off x="1941830" y="2979674"/>
              <a:ext cx="16763" cy="25146"/>
            </a:xfrm>
            <a:prstGeom prst="ellipse">
              <a:avLst/>
            </a:prstGeom>
            <a:solidFill>
              <a:srgbClr val="CCB166"/>
            </a:solidFill>
            <a:ln w="3143">
              <a:solidFill>
                <a:srgbClr val="A28A50"/>
              </a:solidFill>
              <a:prstDash val="solid"/>
            </a:ln>
          </p:spPr>
          <p:txBody>
            <a:bodyPr/>
            <a:lstStyle/>
            <a:p>
              <a:endParaRPr sz="1200"/>
            </a:p>
          </p:txBody>
        </p:sp>
        <p:sp>
          <p:nvSpPr>
            <p:cNvPr id="109" name="s1-cereal-front-1__ellipse_109">
              <a:extLst>
                <a:ext uri="{FF2B5EF4-FFF2-40B4-BE49-F238E27FC236}">
                  <a16:creationId xmlns:a16="http://schemas.microsoft.com/office/drawing/2014/main" id="{766A90A2-F6E6-48B1-A2C8-81C15E426BE1}"/>
                </a:ext>
              </a:extLst>
            </p:cNvPr>
            <p:cNvSpPr>
              <a:spLocks/>
            </p:cNvSpPr>
            <p:nvPr/>
          </p:nvSpPr>
          <p:spPr>
            <a:xfrm>
              <a:off x="1950212" y="2996438"/>
              <a:ext cx="16763" cy="25146"/>
            </a:xfrm>
            <a:prstGeom prst="ellipse">
              <a:avLst/>
            </a:prstGeom>
            <a:solidFill>
              <a:srgbClr val="CCB166"/>
            </a:solidFill>
            <a:ln w="3143">
              <a:solidFill>
                <a:srgbClr val="A28A50"/>
              </a:solidFill>
              <a:prstDash val="solid"/>
            </a:ln>
          </p:spPr>
          <p:txBody>
            <a:bodyPr/>
            <a:lstStyle/>
            <a:p>
              <a:endParaRPr sz="1200"/>
            </a:p>
          </p:txBody>
        </p:sp>
        <p:sp>
          <p:nvSpPr>
            <p:cNvPr id="110" name="s1-cereal-front-1__ellipse_110">
              <a:extLst>
                <a:ext uri="{FF2B5EF4-FFF2-40B4-BE49-F238E27FC236}">
                  <a16:creationId xmlns:a16="http://schemas.microsoft.com/office/drawing/2014/main" id="{8D235D97-3E8F-4C02-8E47-764155237CD5}"/>
                </a:ext>
              </a:extLst>
            </p:cNvPr>
            <p:cNvSpPr>
              <a:spLocks/>
            </p:cNvSpPr>
            <p:nvPr/>
          </p:nvSpPr>
          <p:spPr>
            <a:xfrm>
              <a:off x="1941830" y="3013202"/>
              <a:ext cx="16763" cy="25146"/>
            </a:xfrm>
            <a:prstGeom prst="ellipse">
              <a:avLst/>
            </a:prstGeom>
            <a:solidFill>
              <a:srgbClr val="CCB166"/>
            </a:solidFill>
            <a:ln w="3143">
              <a:solidFill>
                <a:srgbClr val="A28A50"/>
              </a:solidFill>
              <a:prstDash val="solid"/>
            </a:ln>
          </p:spPr>
          <p:txBody>
            <a:bodyPr/>
            <a:lstStyle/>
            <a:p>
              <a:endParaRPr sz="1200"/>
            </a:p>
          </p:txBody>
        </p:sp>
        <p:sp>
          <p:nvSpPr>
            <p:cNvPr id="111" name="s1-cereal-front-1__ellipse_111">
              <a:extLst>
                <a:ext uri="{FF2B5EF4-FFF2-40B4-BE49-F238E27FC236}">
                  <a16:creationId xmlns:a16="http://schemas.microsoft.com/office/drawing/2014/main" id="{D4917A12-E3FF-43A0-A625-5398539E6682}"/>
                </a:ext>
              </a:extLst>
            </p:cNvPr>
            <p:cNvSpPr>
              <a:spLocks/>
            </p:cNvSpPr>
            <p:nvPr/>
          </p:nvSpPr>
          <p:spPr>
            <a:xfrm>
              <a:off x="1950212" y="3029966"/>
              <a:ext cx="16763" cy="25146"/>
            </a:xfrm>
            <a:prstGeom prst="ellipse">
              <a:avLst/>
            </a:prstGeom>
            <a:solidFill>
              <a:srgbClr val="CCB166"/>
            </a:solidFill>
            <a:ln w="3143">
              <a:solidFill>
                <a:srgbClr val="A28A50"/>
              </a:solidFill>
              <a:prstDash val="solid"/>
            </a:ln>
          </p:spPr>
          <p:txBody>
            <a:bodyPr/>
            <a:lstStyle/>
            <a:p>
              <a:endParaRPr sz="1200"/>
            </a:p>
          </p:txBody>
        </p:sp>
        <p:sp>
          <p:nvSpPr>
            <p:cNvPr id="112" name="s1-cereal-front-2__contour_112">
              <a:extLst>
                <a:ext uri="{FF2B5EF4-FFF2-40B4-BE49-F238E27FC236}">
                  <a16:creationId xmlns:a16="http://schemas.microsoft.com/office/drawing/2014/main" id="{796427A9-5A18-477E-9DB6-92FC93639015}"/>
                </a:ext>
              </a:extLst>
            </p:cNvPr>
            <p:cNvSpPr>
              <a:spLocks/>
            </p:cNvSpPr>
            <p:nvPr/>
          </p:nvSpPr>
          <p:spPr>
            <a:xfrm>
              <a:off x="2100630" y="30095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13" name="s1-cereal-front-2__contour_113">
              <a:extLst>
                <a:ext uri="{FF2B5EF4-FFF2-40B4-BE49-F238E27FC236}">
                  <a16:creationId xmlns:a16="http://schemas.microsoft.com/office/drawing/2014/main" id="{BE8A436C-E9A7-41E9-A7DE-5A0340239415}"/>
                </a:ext>
              </a:extLst>
            </p:cNvPr>
            <p:cNvSpPr>
              <a:spLocks/>
            </p:cNvSpPr>
            <p:nvPr/>
          </p:nvSpPr>
          <p:spPr>
            <a:xfrm>
              <a:off x="2034032" y="30933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14" name="s1-cereal-front-2__contour_114">
              <a:extLst>
                <a:ext uri="{FF2B5EF4-FFF2-40B4-BE49-F238E27FC236}">
                  <a16:creationId xmlns:a16="http://schemas.microsoft.com/office/drawing/2014/main" id="{5C37FA8B-5F65-45DE-AD62-24885C0FDF6E}"/>
                </a:ext>
              </a:extLst>
            </p:cNvPr>
            <p:cNvSpPr>
              <a:spLocks/>
            </p:cNvSpPr>
            <p:nvPr/>
          </p:nvSpPr>
          <p:spPr>
            <a:xfrm>
              <a:off x="2109470" y="30765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15" name="s1-cereal-front-2__contour_115">
              <a:extLst>
                <a:ext uri="{FF2B5EF4-FFF2-40B4-BE49-F238E27FC236}">
                  <a16:creationId xmlns:a16="http://schemas.microsoft.com/office/drawing/2014/main" id="{BE9BC4D3-5A12-40A9-B7C4-237E8413C0E0}"/>
                </a:ext>
              </a:extLst>
            </p:cNvPr>
            <p:cNvSpPr>
              <a:spLocks/>
            </p:cNvSpPr>
            <p:nvPr/>
          </p:nvSpPr>
          <p:spPr>
            <a:xfrm>
              <a:off x="2138807" y="30200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16" name="s1-cereal-front-2__ellipse_116">
              <a:extLst>
                <a:ext uri="{FF2B5EF4-FFF2-40B4-BE49-F238E27FC236}">
                  <a16:creationId xmlns:a16="http://schemas.microsoft.com/office/drawing/2014/main" id="{6C202EA5-71D9-479A-9F2B-3B49F8FF4A44}"/>
                </a:ext>
              </a:extLst>
            </p:cNvPr>
            <p:cNvSpPr>
              <a:spLocks/>
            </p:cNvSpPr>
            <p:nvPr/>
          </p:nvSpPr>
          <p:spPr>
            <a:xfrm>
              <a:off x="2151380" y="3030474"/>
              <a:ext cx="16763" cy="25146"/>
            </a:xfrm>
            <a:prstGeom prst="ellipse">
              <a:avLst/>
            </a:prstGeom>
            <a:solidFill>
              <a:srgbClr val="CCB166"/>
            </a:solidFill>
            <a:ln w="3143">
              <a:solidFill>
                <a:srgbClr val="A28A50"/>
              </a:solidFill>
              <a:prstDash val="solid"/>
            </a:ln>
          </p:spPr>
          <p:txBody>
            <a:bodyPr/>
            <a:lstStyle/>
            <a:p>
              <a:endParaRPr sz="1200"/>
            </a:p>
          </p:txBody>
        </p:sp>
        <p:sp>
          <p:nvSpPr>
            <p:cNvPr id="117" name="s1-cereal-front-2__ellipse_117">
              <a:extLst>
                <a:ext uri="{FF2B5EF4-FFF2-40B4-BE49-F238E27FC236}">
                  <a16:creationId xmlns:a16="http://schemas.microsoft.com/office/drawing/2014/main" id="{8E44D336-CF17-4B96-BA48-1607A351B92F}"/>
                </a:ext>
              </a:extLst>
            </p:cNvPr>
            <p:cNvSpPr>
              <a:spLocks/>
            </p:cNvSpPr>
            <p:nvPr/>
          </p:nvSpPr>
          <p:spPr>
            <a:xfrm>
              <a:off x="2159762" y="3047238"/>
              <a:ext cx="16763" cy="25146"/>
            </a:xfrm>
            <a:prstGeom prst="ellipse">
              <a:avLst/>
            </a:prstGeom>
            <a:solidFill>
              <a:srgbClr val="CCB166"/>
            </a:solidFill>
            <a:ln w="3143">
              <a:solidFill>
                <a:srgbClr val="A28A50"/>
              </a:solidFill>
              <a:prstDash val="solid"/>
            </a:ln>
          </p:spPr>
          <p:txBody>
            <a:bodyPr/>
            <a:lstStyle/>
            <a:p>
              <a:endParaRPr sz="1200"/>
            </a:p>
          </p:txBody>
        </p:sp>
        <p:sp>
          <p:nvSpPr>
            <p:cNvPr id="118" name="s1-cereal-front-2__ellipse_118">
              <a:extLst>
                <a:ext uri="{FF2B5EF4-FFF2-40B4-BE49-F238E27FC236}">
                  <a16:creationId xmlns:a16="http://schemas.microsoft.com/office/drawing/2014/main" id="{630508FD-8304-44F3-9895-678EA88E682A}"/>
                </a:ext>
              </a:extLst>
            </p:cNvPr>
            <p:cNvSpPr>
              <a:spLocks/>
            </p:cNvSpPr>
            <p:nvPr/>
          </p:nvSpPr>
          <p:spPr>
            <a:xfrm>
              <a:off x="2151380" y="3064002"/>
              <a:ext cx="16763" cy="25146"/>
            </a:xfrm>
            <a:prstGeom prst="ellipse">
              <a:avLst/>
            </a:prstGeom>
            <a:solidFill>
              <a:srgbClr val="CCB166"/>
            </a:solidFill>
            <a:ln w="3143">
              <a:solidFill>
                <a:srgbClr val="A28A50"/>
              </a:solidFill>
              <a:prstDash val="solid"/>
            </a:ln>
          </p:spPr>
          <p:txBody>
            <a:bodyPr/>
            <a:lstStyle/>
            <a:p>
              <a:endParaRPr sz="1200"/>
            </a:p>
          </p:txBody>
        </p:sp>
        <p:sp>
          <p:nvSpPr>
            <p:cNvPr id="119" name="s1-cereal-front-2__ellipse_119">
              <a:extLst>
                <a:ext uri="{FF2B5EF4-FFF2-40B4-BE49-F238E27FC236}">
                  <a16:creationId xmlns:a16="http://schemas.microsoft.com/office/drawing/2014/main" id="{A59C1B0A-FD6B-4AC0-ABDE-3DE4CADD043D}"/>
                </a:ext>
              </a:extLst>
            </p:cNvPr>
            <p:cNvSpPr>
              <a:spLocks/>
            </p:cNvSpPr>
            <p:nvPr/>
          </p:nvSpPr>
          <p:spPr>
            <a:xfrm>
              <a:off x="2159762" y="3080766"/>
              <a:ext cx="16763" cy="25146"/>
            </a:xfrm>
            <a:prstGeom prst="ellipse">
              <a:avLst/>
            </a:prstGeom>
            <a:solidFill>
              <a:srgbClr val="CCB166"/>
            </a:solidFill>
            <a:ln w="3143">
              <a:solidFill>
                <a:srgbClr val="A28A50"/>
              </a:solidFill>
              <a:prstDash val="solid"/>
            </a:ln>
          </p:spPr>
          <p:txBody>
            <a:bodyPr/>
            <a:lstStyle/>
            <a:p>
              <a:endParaRPr sz="1200"/>
            </a:p>
          </p:txBody>
        </p:sp>
        <p:sp>
          <p:nvSpPr>
            <p:cNvPr id="120" name="s1-farmer__ellipse_120">
              <a:extLst>
                <a:ext uri="{FF2B5EF4-FFF2-40B4-BE49-F238E27FC236}">
                  <a16:creationId xmlns:a16="http://schemas.microsoft.com/office/drawing/2014/main" id="{4E340DE1-EBC5-42D9-BE01-224C34232257}"/>
                </a:ext>
              </a:extLst>
            </p:cNvPr>
            <p:cNvSpPr>
              <a:spLocks/>
            </p:cNvSpPr>
            <p:nvPr/>
          </p:nvSpPr>
          <p:spPr>
            <a:xfrm>
              <a:off x="2279016" y="3193098"/>
              <a:ext cx="321945" cy="33020"/>
            </a:xfrm>
            <a:prstGeom prst="ellipse">
              <a:avLst/>
            </a:prstGeom>
            <a:solidFill>
              <a:srgbClr val="DCE2D6"/>
            </a:solidFill>
            <a:ln w="0">
              <a:noFill/>
              <a:prstDash val="solid"/>
            </a:ln>
          </p:spPr>
          <p:txBody>
            <a:bodyPr/>
            <a:lstStyle/>
            <a:p>
              <a:endParaRPr sz="1200"/>
            </a:p>
          </p:txBody>
        </p:sp>
        <p:sp>
          <p:nvSpPr>
            <p:cNvPr id="121" name="s1-farmer__contour_121">
              <a:extLst>
                <a:ext uri="{FF2B5EF4-FFF2-40B4-BE49-F238E27FC236}">
                  <a16:creationId xmlns:a16="http://schemas.microsoft.com/office/drawing/2014/main" id="{DE620CC0-E344-467B-929F-873C93B77641}"/>
                </a:ext>
              </a:extLst>
            </p:cNvPr>
            <p:cNvSpPr>
              <a:spLocks/>
            </p:cNvSpPr>
            <p:nvPr/>
          </p:nvSpPr>
          <p:spPr>
            <a:xfrm>
              <a:off x="2291398" y="2945447"/>
              <a:ext cx="107314" cy="235267"/>
            </a:xfrm>
            <a:custGeom>
              <a:avLst/>
              <a:gdLst/>
              <a:ahLst/>
              <a:cxnLst/>
              <a:rect l="0" t="0" r="0" b="0"/>
              <a:pathLst>
                <a:path w="160972" h="352901">
                  <a:moveTo>
                    <a:pt x="160972" y="0"/>
                  </a:moveTo>
                  <a:lnTo>
                    <a:pt x="136207" y="204311"/>
                  </a:lnTo>
                  <a:lnTo>
                    <a:pt x="68104" y="346710"/>
                  </a:lnTo>
                  <a:lnTo>
                    <a:pt x="0" y="352901"/>
                  </a:lnTo>
                </a:path>
              </a:pathLst>
            </a:custGeom>
            <a:noFill/>
            <a:ln w="55721">
              <a:solidFill>
                <a:srgbClr val="5A625C"/>
              </a:solidFill>
              <a:prstDash val="solid"/>
            </a:ln>
          </p:spPr>
          <p:txBody>
            <a:bodyPr/>
            <a:lstStyle/>
            <a:p>
              <a:endParaRPr sz="1200"/>
            </a:p>
          </p:txBody>
        </p:sp>
        <p:sp>
          <p:nvSpPr>
            <p:cNvPr id="122" name="s1-farmer__contour_122">
              <a:extLst>
                <a:ext uri="{FF2B5EF4-FFF2-40B4-BE49-F238E27FC236}">
                  <a16:creationId xmlns:a16="http://schemas.microsoft.com/office/drawing/2014/main" id="{68965085-8BA5-4C7E-9CCF-25FE1A2FA7FC}"/>
                </a:ext>
              </a:extLst>
            </p:cNvPr>
            <p:cNvSpPr>
              <a:spLocks/>
            </p:cNvSpPr>
            <p:nvPr/>
          </p:nvSpPr>
          <p:spPr>
            <a:xfrm>
              <a:off x="2464753" y="2945447"/>
              <a:ext cx="152717" cy="222884"/>
            </a:xfrm>
            <a:custGeom>
              <a:avLst/>
              <a:gdLst/>
              <a:ahLst/>
              <a:cxnLst/>
              <a:rect l="0" t="0" r="0" b="0"/>
              <a:pathLst>
                <a:path w="229076" h="334327">
                  <a:moveTo>
                    <a:pt x="0" y="0"/>
                  </a:moveTo>
                  <a:lnTo>
                    <a:pt x="80486" y="198120"/>
                  </a:lnTo>
                  <a:lnTo>
                    <a:pt x="167164" y="328136"/>
                  </a:lnTo>
                  <a:lnTo>
                    <a:pt x="229076" y="334327"/>
                  </a:lnTo>
                </a:path>
              </a:pathLst>
            </a:custGeom>
            <a:noFill/>
            <a:ln w="55721">
              <a:solidFill>
                <a:srgbClr val="5A625C"/>
              </a:solidFill>
              <a:prstDash val="solid"/>
            </a:ln>
          </p:spPr>
          <p:txBody>
            <a:bodyPr/>
            <a:lstStyle/>
            <a:p>
              <a:endParaRPr sz="1200"/>
            </a:p>
          </p:txBody>
        </p:sp>
        <p:sp>
          <p:nvSpPr>
            <p:cNvPr id="123" name="s1-farmer__contour_123">
              <a:extLst>
                <a:ext uri="{FF2B5EF4-FFF2-40B4-BE49-F238E27FC236}">
                  <a16:creationId xmlns:a16="http://schemas.microsoft.com/office/drawing/2014/main" id="{DA7EC764-76CB-44F9-9478-DA4A1A700426}"/>
                </a:ext>
              </a:extLst>
            </p:cNvPr>
            <p:cNvSpPr>
              <a:spLocks/>
            </p:cNvSpPr>
            <p:nvPr/>
          </p:nvSpPr>
          <p:spPr>
            <a:xfrm>
              <a:off x="2357438" y="2741638"/>
              <a:ext cx="152717" cy="212064"/>
            </a:xfrm>
            <a:custGeom>
              <a:avLst/>
              <a:gdLst/>
              <a:ahLst/>
              <a:cxnLst/>
              <a:rect l="0" t="0" r="0" b="0"/>
              <a:pathLst>
                <a:path w="229076" h="318097">
                  <a:moveTo>
                    <a:pt x="24765" y="33299"/>
                  </a:moveTo>
                  <a:lnTo>
                    <a:pt x="31823" y="25203"/>
                  </a:lnTo>
                  <a:lnTo>
                    <a:pt x="40491" y="18259"/>
                  </a:lnTo>
                  <a:lnTo>
                    <a:pt x="50521" y="12449"/>
                  </a:lnTo>
                  <a:lnTo>
                    <a:pt x="61712" y="7753"/>
                  </a:lnTo>
                  <a:lnTo>
                    <a:pt x="73838" y="4181"/>
                  </a:lnTo>
                  <a:lnTo>
                    <a:pt x="86678" y="1695"/>
                  </a:lnTo>
                  <a:lnTo>
                    <a:pt x="100013" y="314"/>
                  </a:lnTo>
                  <a:lnTo>
                    <a:pt x="113624" y="0"/>
                  </a:lnTo>
                  <a:lnTo>
                    <a:pt x="127292" y="762"/>
                  </a:lnTo>
                  <a:lnTo>
                    <a:pt x="140789" y="2572"/>
                  </a:lnTo>
                  <a:lnTo>
                    <a:pt x="153914" y="5429"/>
                  </a:lnTo>
                  <a:lnTo>
                    <a:pt x="166421" y="9325"/>
                  </a:lnTo>
                  <a:lnTo>
                    <a:pt x="178108" y="14249"/>
                  </a:lnTo>
                  <a:lnTo>
                    <a:pt x="188747" y="20174"/>
                  </a:lnTo>
                  <a:lnTo>
                    <a:pt x="198120" y="27108"/>
                  </a:lnTo>
                  <a:lnTo>
                    <a:pt x="229076" y="318097"/>
                  </a:lnTo>
                  <a:lnTo>
                    <a:pt x="0" y="318097"/>
                  </a:lnTo>
                  <a:close/>
                </a:path>
              </a:pathLst>
            </a:custGeom>
            <a:solidFill>
              <a:srgbClr val="8196A0"/>
            </a:solidFill>
            <a:ln w="8668">
              <a:solidFill>
                <a:srgbClr val="566861"/>
              </a:solidFill>
              <a:prstDash val="solid"/>
            </a:ln>
          </p:spPr>
          <p:txBody>
            <a:bodyPr/>
            <a:lstStyle/>
            <a:p>
              <a:endParaRPr sz="1200"/>
            </a:p>
          </p:txBody>
        </p:sp>
        <p:sp>
          <p:nvSpPr>
            <p:cNvPr id="124" name="s1-farmer__ellipse_124">
              <a:extLst>
                <a:ext uri="{FF2B5EF4-FFF2-40B4-BE49-F238E27FC236}">
                  <a16:creationId xmlns:a16="http://schemas.microsoft.com/office/drawing/2014/main" id="{AC703082-C016-4D32-A4FA-2B2B89C44021}"/>
                </a:ext>
              </a:extLst>
            </p:cNvPr>
            <p:cNvSpPr>
              <a:spLocks/>
            </p:cNvSpPr>
            <p:nvPr/>
          </p:nvSpPr>
          <p:spPr>
            <a:xfrm>
              <a:off x="2373948" y="2615247"/>
              <a:ext cx="107315" cy="127952"/>
            </a:xfrm>
            <a:prstGeom prst="ellipse">
              <a:avLst/>
            </a:prstGeom>
            <a:solidFill>
              <a:srgbClr val="BD8B67"/>
            </a:solidFill>
            <a:ln w="6191">
              <a:solidFill>
                <a:srgbClr val="6F6554"/>
              </a:solidFill>
              <a:prstDash val="solid"/>
            </a:ln>
          </p:spPr>
          <p:txBody>
            <a:bodyPr/>
            <a:lstStyle/>
            <a:p>
              <a:endParaRPr sz="1200"/>
            </a:p>
          </p:txBody>
        </p:sp>
        <p:sp>
          <p:nvSpPr>
            <p:cNvPr id="125" name="s1-farmer__contour_125">
              <a:extLst>
                <a:ext uri="{FF2B5EF4-FFF2-40B4-BE49-F238E27FC236}">
                  <a16:creationId xmlns:a16="http://schemas.microsoft.com/office/drawing/2014/main" id="{65FDDB50-69E9-43BA-B154-DB060B00CC87}"/>
                </a:ext>
              </a:extLst>
            </p:cNvPr>
            <p:cNvSpPr>
              <a:spLocks/>
            </p:cNvSpPr>
            <p:nvPr/>
          </p:nvSpPr>
          <p:spPr>
            <a:xfrm>
              <a:off x="2367795" y="2606961"/>
              <a:ext cx="113467" cy="78454"/>
            </a:xfrm>
            <a:custGeom>
              <a:avLst/>
              <a:gdLst/>
              <a:ahLst/>
              <a:cxnLst/>
              <a:rect l="0" t="0" r="0" b="0"/>
              <a:pathLst>
                <a:path w="170202" h="117681">
                  <a:moveTo>
                    <a:pt x="3038" y="117681"/>
                  </a:moveTo>
                  <a:lnTo>
                    <a:pt x="0" y="93154"/>
                  </a:lnTo>
                  <a:lnTo>
                    <a:pt x="562" y="71571"/>
                  </a:lnTo>
                  <a:lnTo>
                    <a:pt x="4324" y="52892"/>
                  </a:lnTo>
                  <a:lnTo>
                    <a:pt x="10935" y="37090"/>
                  </a:lnTo>
                  <a:lnTo>
                    <a:pt x="20003" y="24127"/>
                  </a:lnTo>
                  <a:lnTo>
                    <a:pt x="31175" y="13964"/>
                  </a:lnTo>
                  <a:lnTo>
                    <a:pt x="44053" y="6582"/>
                  </a:lnTo>
                  <a:lnTo>
                    <a:pt x="58274" y="1934"/>
                  </a:lnTo>
                  <a:lnTo>
                    <a:pt x="73466" y="0"/>
                  </a:lnTo>
                  <a:lnTo>
                    <a:pt x="89259" y="733"/>
                  </a:lnTo>
                  <a:lnTo>
                    <a:pt x="105261" y="4115"/>
                  </a:lnTo>
                  <a:lnTo>
                    <a:pt x="121120" y="10106"/>
                  </a:lnTo>
                  <a:lnTo>
                    <a:pt x="136446" y="18669"/>
                  </a:lnTo>
                  <a:lnTo>
                    <a:pt x="150866" y="29775"/>
                  </a:lnTo>
                  <a:lnTo>
                    <a:pt x="164011" y="43386"/>
                  </a:lnTo>
                  <a:lnTo>
                    <a:pt x="170202" y="99108"/>
                  </a:lnTo>
                  <a:lnTo>
                    <a:pt x="158058" y="88783"/>
                  </a:lnTo>
                  <a:lnTo>
                    <a:pt x="146352" y="80067"/>
                  </a:lnTo>
                  <a:lnTo>
                    <a:pt x="135036" y="72904"/>
                  </a:lnTo>
                  <a:lnTo>
                    <a:pt x="124044" y="67266"/>
                  </a:lnTo>
                  <a:lnTo>
                    <a:pt x="113338" y="63103"/>
                  </a:lnTo>
                  <a:lnTo>
                    <a:pt x="102841" y="60379"/>
                  </a:lnTo>
                  <a:lnTo>
                    <a:pt x="92516" y="59026"/>
                  </a:lnTo>
                  <a:lnTo>
                    <a:pt x="82296" y="59026"/>
                  </a:lnTo>
                  <a:lnTo>
                    <a:pt x="72133" y="60322"/>
                  </a:lnTo>
                  <a:lnTo>
                    <a:pt x="61970" y="62875"/>
                  </a:lnTo>
                  <a:lnTo>
                    <a:pt x="51749" y="66637"/>
                  </a:lnTo>
                  <a:lnTo>
                    <a:pt x="41424" y="71571"/>
                  </a:lnTo>
                  <a:lnTo>
                    <a:pt x="30928" y="77619"/>
                  </a:lnTo>
                  <a:lnTo>
                    <a:pt x="20222" y="84753"/>
                  </a:lnTo>
                  <a:lnTo>
                    <a:pt x="9230" y="92916"/>
                  </a:lnTo>
                  <a:close/>
                </a:path>
              </a:pathLst>
            </a:custGeom>
            <a:solidFill>
              <a:srgbClr val="4E4D40"/>
            </a:solidFill>
            <a:ln w="10525">
              <a:noFill/>
              <a:prstDash val="solid"/>
            </a:ln>
          </p:spPr>
          <p:txBody>
            <a:bodyPr/>
            <a:lstStyle/>
            <a:p>
              <a:endParaRPr sz="1200"/>
            </a:p>
          </p:txBody>
        </p:sp>
        <p:sp>
          <p:nvSpPr>
            <p:cNvPr id="126" name="s1-farmer__path_126">
              <a:extLst>
                <a:ext uri="{FF2B5EF4-FFF2-40B4-BE49-F238E27FC236}">
                  <a16:creationId xmlns:a16="http://schemas.microsoft.com/office/drawing/2014/main" id="{BC85D0DD-1160-432C-985B-FCAA9C8C493A}"/>
                </a:ext>
              </a:extLst>
            </p:cNvPr>
            <p:cNvSpPr>
              <a:spLocks/>
            </p:cNvSpPr>
            <p:nvPr/>
          </p:nvSpPr>
          <p:spPr>
            <a:xfrm>
              <a:off x="2473007" y="2677160"/>
              <a:ext cx="24765" cy="28892"/>
            </a:xfrm>
            <a:custGeom>
              <a:avLst/>
              <a:gdLst/>
              <a:ahLst/>
              <a:cxnLst/>
              <a:rect l="0" t="0" r="0" b="0"/>
              <a:pathLst>
                <a:path w="37148" h="43339">
                  <a:moveTo>
                    <a:pt x="0" y="0"/>
                  </a:moveTo>
                  <a:lnTo>
                    <a:pt x="37148" y="24765"/>
                  </a:lnTo>
                  <a:lnTo>
                    <a:pt x="0" y="43339"/>
                  </a:lnTo>
                  <a:close/>
                </a:path>
              </a:pathLst>
            </a:custGeom>
            <a:solidFill>
              <a:srgbClr val="BD8B67"/>
            </a:solidFill>
            <a:ln w="4953">
              <a:solidFill>
                <a:srgbClr val="6F6554"/>
              </a:solidFill>
              <a:prstDash val="solid"/>
            </a:ln>
          </p:spPr>
          <p:txBody>
            <a:bodyPr/>
            <a:lstStyle/>
            <a:p>
              <a:endParaRPr sz="1200"/>
            </a:p>
          </p:txBody>
        </p:sp>
        <p:sp>
          <p:nvSpPr>
            <p:cNvPr id="127" name="s1-farmer__ellipse_127">
              <a:extLst>
                <a:ext uri="{FF2B5EF4-FFF2-40B4-BE49-F238E27FC236}">
                  <a16:creationId xmlns:a16="http://schemas.microsoft.com/office/drawing/2014/main" id="{6C7C8EE0-18A9-4397-9288-02722A54A8EE}"/>
                </a:ext>
              </a:extLst>
            </p:cNvPr>
            <p:cNvSpPr>
              <a:spLocks/>
            </p:cNvSpPr>
            <p:nvPr/>
          </p:nvSpPr>
          <p:spPr>
            <a:xfrm>
              <a:off x="2456497" y="2668905"/>
              <a:ext cx="8255" cy="8255"/>
            </a:xfrm>
            <a:prstGeom prst="ellipse">
              <a:avLst/>
            </a:prstGeom>
            <a:solidFill>
              <a:srgbClr val="333E34"/>
            </a:solidFill>
            <a:ln w="0">
              <a:noFill/>
              <a:prstDash val="solid"/>
            </a:ln>
          </p:spPr>
          <p:txBody>
            <a:bodyPr/>
            <a:lstStyle/>
            <a:p>
              <a:endParaRPr sz="1200"/>
            </a:p>
          </p:txBody>
        </p:sp>
        <p:sp>
          <p:nvSpPr>
            <p:cNvPr id="128" name="s1-farmer__contour_128">
              <a:extLst>
                <a:ext uri="{FF2B5EF4-FFF2-40B4-BE49-F238E27FC236}">
                  <a16:creationId xmlns:a16="http://schemas.microsoft.com/office/drawing/2014/main" id="{0BA33E95-3224-4E75-8676-14078122692C}"/>
                </a:ext>
              </a:extLst>
            </p:cNvPr>
            <p:cNvSpPr>
              <a:spLocks/>
            </p:cNvSpPr>
            <p:nvPr/>
          </p:nvSpPr>
          <p:spPr>
            <a:xfrm>
              <a:off x="2411096" y="2780347"/>
              <a:ext cx="111442" cy="119697"/>
            </a:xfrm>
            <a:custGeom>
              <a:avLst/>
              <a:gdLst/>
              <a:ahLst/>
              <a:cxnLst/>
              <a:rect l="0" t="0" r="0" b="0"/>
              <a:pathLst>
                <a:path w="167164" h="179546">
                  <a:moveTo>
                    <a:pt x="105251" y="0"/>
                  </a:moveTo>
                  <a:lnTo>
                    <a:pt x="167164" y="105251"/>
                  </a:lnTo>
                  <a:lnTo>
                    <a:pt x="0" y="179546"/>
                  </a:lnTo>
                </a:path>
              </a:pathLst>
            </a:custGeom>
            <a:noFill/>
            <a:ln w="49530">
              <a:solidFill>
                <a:srgbClr val="BD8B67"/>
              </a:solidFill>
              <a:prstDash val="solid"/>
            </a:ln>
          </p:spPr>
          <p:txBody>
            <a:bodyPr/>
            <a:lstStyle/>
            <a:p>
              <a:endParaRPr sz="1200"/>
            </a:p>
          </p:txBody>
        </p:sp>
        <p:sp>
          <p:nvSpPr>
            <p:cNvPr id="129" name="s1-farmer__contour_129">
              <a:extLst>
                <a:ext uri="{FF2B5EF4-FFF2-40B4-BE49-F238E27FC236}">
                  <a16:creationId xmlns:a16="http://schemas.microsoft.com/office/drawing/2014/main" id="{2B2A915D-3F36-4228-AB6C-97B3074C793C}"/>
                </a:ext>
              </a:extLst>
            </p:cNvPr>
            <p:cNvSpPr>
              <a:spLocks/>
            </p:cNvSpPr>
            <p:nvPr/>
          </p:nvSpPr>
          <p:spPr>
            <a:xfrm>
              <a:off x="2477135" y="2776220"/>
              <a:ext cx="24764" cy="41275"/>
            </a:xfrm>
            <a:custGeom>
              <a:avLst/>
              <a:gdLst/>
              <a:ahLst/>
              <a:cxnLst/>
              <a:rect l="0" t="0" r="0" b="0"/>
              <a:pathLst>
                <a:path w="37147" h="61913">
                  <a:moveTo>
                    <a:pt x="0" y="0"/>
                  </a:moveTo>
                  <a:lnTo>
                    <a:pt x="37147" y="61913"/>
                  </a:lnTo>
                </a:path>
              </a:pathLst>
            </a:custGeom>
            <a:noFill/>
            <a:ln w="68104">
              <a:solidFill>
                <a:srgbClr val="8196A0"/>
              </a:solidFill>
              <a:prstDash val="solid"/>
            </a:ln>
          </p:spPr>
          <p:txBody>
            <a:bodyPr/>
            <a:lstStyle/>
            <a:p>
              <a:endParaRPr sz="1200"/>
            </a:p>
          </p:txBody>
        </p:sp>
        <p:sp>
          <p:nvSpPr>
            <p:cNvPr id="130" name="s1-farmer__contour_130">
              <a:extLst>
                <a:ext uri="{FF2B5EF4-FFF2-40B4-BE49-F238E27FC236}">
                  <a16:creationId xmlns:a16="http://schemas.microsoft.com/office/drawing/2014/main" id="{6EFDE05D-6010-4682-AC38-801F49D60858}"/>
                </a:ext>
              </a:extLst>
            </p:cNvPr>
            <p:cNvSpPr>
              <a:spLocks/>
            </p:cNvSpPr>
            <p:nvPr/>
          </p:nvSpPr>
          <p:spPr>
            <a:xfrm>
              <a:off x="2328546" y="2780347"/>
              <a:ext cx="41275" cy="127952"/>
            </a:xfrm>
            <a:custGeom>
              <a:avLst/>
              <a:gdLst/>
              <a:ahLst/>
              <a:cxnLst/>
              <a:rect l="0" t="0" r="0" b="0"/>
              <a:pathLst>
                <a:path w="61913" h="191929">
                  <a:moveTo>
                    <a:pt x="61913" y="0"/>
                  </a:moveTo>
                  <a:lnTo>
                    <a:pt x="55721" y="99060"/>
                  </a:lnTo>
                  <a:lnTo>
                    <a:pt x="0" y="191929"/>
                  </a:lnTo>
                </a:path>
              </a:pathLst>
            </a:custGeom>
            <a:noFill/>
            <a:ln w="49530">
              <a:solidFill>
                <a:srgbClr val="BD8B67"/>
              </a:solidFill>
              <a:prstDash val="solid"/>
            </a:ln>
          </p:spPr>
          <p:txBody>
            <a:bodyPr/>
            <a:lstStyle/>
            <a:p>
              <a:endParaRPr sz="1200"/>
            </a:p>
          </p:txBody>
        </p:sp>
        <p:sp>
          <p:nvSpPr>
            <p:cNvPr id="131" name="s1-farmer__contour_131">
              <a:extLst>
                <a:ext uri="{FF2B5EF4-FFF2-40B4-BE49-F238E27FC236}">
                  <a16:creationId xmlns:a16="http://schemas.microsoft.com/office/drawing/2014/main" id="{265A59CD-7762-4114-AE12-76FF50E8F749}"/>
                </a:ext>
              </a:extLst>
            </p:cNvPr>
            <p:cNvSpPr>
              <a:spLocks/>
            </p:cNvSpPr>
            <p:nvPr/>
          </p:nvSpPr>
          <p:spPr>
            <a:xfrm>
              <a:off x="2369820" y="2776220"/>
              <a:ext cx="4127" cy="41275"/>
            </a:xfrm>
            <a:custGeom>
              <a:avLst/>
              <a:gdLst/>
              <a:ahLst/>
              <a:cxnLst/>
              <a:rect l="0" t="0" r="0" b="0"/>
              <a:pathLst>
                <a:path w="6191" h="61913">
                  <a:moveTo>
                    <a:pt x="6191" y="0"/>
                  </a:moveTo>
                  <a:lnTo>
                    <a:pt x="0" y="61913"/>
                  </a:lnTo>
                </a:path>
              </a:pathLst>
            </a:custGeom>
            <a:noFill/>
            <a:ln w="68104">
              <a:solidFill>
                <a:srgbClr val="8196A0"/>
              </a:solidFill>
              <a:prstDash val="solid"/>
            </a:ln>
          </p:spPr>
          <p:txBody>
            <a:bodyPr/>
            <a:lstStyle/>
            <a:p>
              <a:endParaRPr sz="1200"/>
            </a:p>
          </p:txBody>
        </p:sp>
        <p:sp>
          <p:nvSpPr>
            <p:cNvPr id="132" name="s1-farmer__hoe-handle_132">
              <a:extLst>
                <a:ext uri="{FF2B5EF4-FFF2-40B4-BE49-F238E27FC236}">
                  <a16:creationId xmlns:a16="http://schemas.microsoft.com/office/drawing/2014/main" id="{487C7037-588B-43FA-B189-DFBB7B6D5C60}"/>
                </a:ext>
              </a:extLst>
            </p:cNvPr>
            <p:cNvSpPr>
              <a:spLocks/>
            </p:cNvSpPr>
            <p:nvPr/>
          </p:nvSpPr>
          <p:spPr>
            <a:xfrm>
              <a:off x="2291398" y="2829877"/>
              <a:ext cx="152717" cy="264160"/>
            </a:xfrm>
            <a:custGeom>
              <a:avLst/>
              <a:gdLst/>
              <a:ahLst/>
              <a:cxnLst/>
              <a:rect l="0" t="0" r="0" b="0"/>
              <a:pathLst>
                <a:path w="229076" h="396240">
                  <a:moveTo>
                    <a:pt x="229076" y="0"/>
                  </a:moveTo>
                  <a:lnTo>
                    <a:pt x="0" y="396240"/>
                  </a:lnTo>
                </a:path>
              </a:pathLst>
            </a:custGeom>
            <a:noFill/>
            <a:ln w="23527">
              <a:solidFill>
                <a:srgbClr val="8B7150"/>
              </a:solidFill>
              <a:prstDash val="solid"/>
            </a:ln>
          </p:spPr>
          <p:txBody>
            <a:bodyPr/>
            <a:lstStyle/>
            <a:p>
              <a:endParaRPr sz="1200"/>
            </a:p>
          </p:txBody>
        </p:sp>
        <p:sp>
          <p:nvSpPr>
            <p:cNvPr id="133" name="s1-farmer__hoe-blade_133">
              <a:extLst>
                <a:ext uri="{FF2B5EF4-FFF2-40B4-BE49-F238E27FC236}">
                  <a16:creationId xmlns:a16="http://schemas.microsoft.com/office/drawing/2014/main" id="{6404218E-5816-4043-9D16-BA2E39A3C3FA}"/>
                </a:ext>
              </a:extLst>
            </p:cNvPr>
            <p:cNvSpPr>
              <a:spLocks/>
            </p:cNvSpPr>
            <p:nvPr/>
          </p:nvSpPr>
          <p:spPr>
            <a:xfrm>
              <a:off x="2266633" y="3073400"/>
              <a:ext cx="90805" cy="45402"/>
            </a:xfrm>
            <a:custGeom>
              <a:avLst/>
              <a:gdLst/>
              <a:ahLst/>
              <a:cxnLst/>
              <a:rect l="0" t="0" r="0" b="0"/>
              <a:pathLst>
                <a:path w="136208" h="68104">
                  <a:moveTo>
                    <a:pt x="24765" y="0"/>
                  </a:moveTo>
                  <a:lnTo>
                    <a:pt x="136208" y="30956"/>
                  </a:lnTo>
                  <a:lnTo>
                    <a:pt x="105251" y="68104"/>
                  </a:lnTo>
                  <a:lnTo>
                    <a:pt x="0" y="43339"/>
                  </a:lnTo>
                  <a:close/>
                </a:path>
              </a:pathLst>
            </a:custGeom>
            <a:solidFill>
              <a:srgbClr val="7B8174"/>
            </a:solidFill>
            <a:ln w="7430">
              <a:solidFill>
                <a:srgbClr val="596454"/>
              </a:solidFill>
              <a:prstDash val="solid"/>
            </a:ln>
          </p:spPr>
          <p:txBody>
            <a:bodyPr/>
            <a:lstStyle/>
            <a:p>
              <a:endParaRPr sz="1200"/>
            </a:p>
          </p:txBody>
        </p:sp>
        <p:sp>
          <p:nvSpPr>
            <p:cNvPr id="134" name="s1-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1200"/>
            </a:p>
          </p:txBody>
        </p:sp>
        <p:sp>
          <p:nvSpPr>
            <p:cNvPr id="135" name="s1-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1200"/>
            </a:p>
          </p:txBody>
        </p:sp>
        <p:sp>
          <p:nvSpPr>
            <p:cNvPr id="136" name="s1-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1200"/>
            </a:p>
          </p:txBody>
        </p:sp>
        <p:sp>
          <p:nvSpPr>
            <p:cNvPr id="137" name="s1-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1200"/>
            </a:p>
          </p:txBody>
        </p:sp>
        <p:sp>
          <p:nvSpPr>
            <p:cNvPr id="138" name="s1-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1200"/>
            </a:p>
          </p:txBody>
        </p:sp>
        <p:sp>
          <p:nvSpPr>
            <p:cNvPr id="139" name="s1-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1200"/>
            </a:p>
          </p:txBody>
        </p:sp>
        <p:sp>
          <p:nvSpPr>
            <p:cNvPr id="140" name="s1-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1200"/>
            </a:p>
          </p:txBody>
        </p:sp>
        <p:sp>
          <p:nvSpPr>
            <p:cNvPr id="141" name="s1-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1200"/>
            </a:p>
          </p:txBody>
        </p:sp>
        <p:sp>
          <p:nvSpPr>
            <p:cNvPr id="142" name="s1-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1200"/>
            </a:p>
          </p:txBody>
        </p:sp>
        <p:sp>
          <p:nvSpPr>
            <p:cNvPr id="143" name="s1-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1200"/>
            </a:p>
          </p:txBody>
        </p:sp>
        <p:sp>
          <p:nvSpPr>
            <p:cNvPr id="144" name="s1-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1200"/>
            </a:p>
          </p:txBody>
        </p:sp>
        <p:sp>
          <p:nvSpPr>
            <p:cNvPr id="145" name="s1-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1200"/>
            </a:p>
          </p:txBody>
        </p:sp>
        <p:sp>
          <p:nvSpPr>
            <p:cNvPr id="146" name="s1-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1200"/>
            </a:p>
          </p:txBody>
        </p:sp>
        <p:sp>
          <p:nvSpPr>
            <p:cNvPr id="147" name="s1-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1200"/>
            </a:p>
          </p:txBody>
        </p:sp>
        <p:sp>
          <p:nvSpPr>
            <p:cNvPr id="148" name="s1-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1200"/>
            </a:p>
          </p:txBody>
        </p:sp>
        <p:sp>
          <p:nvSpPr>
            <p:cNvPr id="149" name="s1-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1200"/>
            </a:p>
          </p:txBody>
        </p:sp>
        <p:sp>
          <p:nvSpPr>
            <p:cNvPr id="150" name="s1-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1200"/>
            </a:p>
          </p:txBody>
        </p:sp>
        <p:sp>
          <p:nvSpPr>
            <p:cNvPr id="151" name="s1-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1200"/>
            </a:p>
          </p:txBody>
        </p:sp>
        <p:sp>
          <p:nvSpPr>
            <p:cNvPr id="152" name="s1-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1200"/>
            </a:p>
          </p:txBody>
        </p:sp>
        <p:sp>
          <p:nvSpPr>
            <p:cNvPr id="153" name="s1-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1200"/>
            </a:p>
          </p:txBody>
        </p:sp>
        <p:sp>
          <p:nvSpPr>
            <p:cNvPr id="154" name="s1-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1200"/>
            </a:p>
          </p:txBody>
        </p:sp>
        <p:sp>
          <p:nvSpPr>
            <p:cNvPr id="155" name="s1-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1200"/>
            </a:p>
          </p:txBody>
        </p:sp>
        <p:sp>
          <p:nvSpPr>
            <p:cNvPr id="156" name="s1-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1200"/>
            </a:p>
          </p:txBody>
        </p:sp>
        <p:sp>
          <p:nvSpPr>
            <p:cNvPr id="157" name="s1-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1200"/>
            </a:p>
          </p:txBody>
        </p:sp>
        <p:sp>
          <p:nvSpPr>
            <p:cNvPr id="158" name="s1-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1200"/>
            </a:p>
          </p:txBody>
        </p:sp>
        <p:sp>
          <p:nvSpPr>
            <p:cNvPr id="159" name="s1-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1200"/>
            </a:p>
          </p:txBody>
        </p:sp>
        <p:sp>
          <p:nvSpPr>
            <p:cNvPr id="160" name="s1-female-junglefowl__ellipse_160">
              <a:extLst>
                <a:ext uri="{FF2B5EF4-FFF2-40B4-BE49-F238E27FC236}">
                  <a16:creationId xmlns:a16="http://schemas.microsoft.com/office/drawing/2014/main" id="{8AE3E06A-561D-457E-A9B3-5D6081BD23FC}"/>
                </a:ext>
              </a:extLst>
            </p:cNvPr>
            <p:cNvSpPr>
              <a:spLocks/>
            </p:cNvSpPr>
            <p:nvPr/>
          </p:nvSpPr>
          <p:spPr>
            <a:xfrm>
              <a:off x="2061972" y="4052825"/>
              <a:ext cx="427609" cy="42291"/>
            </a:xfrm>
            <a:prstGeom prst="ellipse">
              <a:avLst/>
            </a:prstGeom>
            <a:solidFill>
              <a:srgbClr val="DCE2D6">
                <a:alpha val="80000"/>
              </a:srgbClr>
            </a:solidFill>
            <a:ln w="0">
              <a:noFill/>
              <a:prstDash val="solid"/>
            </a:ln>
          </p:spPr>
          <p:txBody>
            <a:bodyPr/>
            <a:lstStyle/>
            <a:p>
              <a:endParaRPr sz="1200"/>
            </a:p>
          </p:txBody>
        </p:sp>
        <p:sp>
          <p:nvSpPr>
            <p:cNvPr id="161" name="s1-female-junglefowl__contour_161">
              <a:extLst>
                <a:ext uri="{FF2B5EF4-FFF2-40B4-BE49-F238E27FC236}">
                  <a16:creationId xmlns:a16="http://schemas.microsoft.com/office/drawing/2014/main" id="{AE8C4B4D-1253-4157-8693-1698FD65C2EA}"/>
                </a:ext>
              </a:extLst>
            </p:cNvPr>
            <p:cNvSpPr>
              <a:spLocks/>
            </p:cNvSpPr>
            <p:nvPr/>
          </p:nvSpPr>
          <p:spPr>
            <a:xfrm>
              <a:off x="2395601" y="3667507"/>
              <a:ext cx="225552" cy="187960"/>
            </a:xfrm>
            <a:custGeom>
              <a:avLst/>
              <a:gdLst/>
              <a:ahLst/>
              <a:cxnLst/>
              <a:rect l="0" t="0" r="0" b="0"/>
              <a:pathLst>
                <a:path w="338328" h="281940">
                  <a:moveTo>
                    <a:pt x="21146" y="281940"/>
                  </a:moveTo>
                  <a:lnTo>
                    <a:pt x="45272" y="265452"/>
                  </a:lnTo>
                  <a:lnTo>
                    <a:pt x="69628" y="249669"/>
                  </a:lnTo>
                  <a:lnTo>
                    <a:pt x="94059" y="234353"/>
                  </a:lnTo>
                  <a:lnTo>
                    <a:pt x="118405" y="219256"/>
                  </a:lnTo>
                  <a:lnTo>
                    <a:pt x="142532" y="204149"/>
                  </a:lnTo>
                  <a:lnTo>
                    <a:pt x="166287" y="188786"/>
                  </a:lnTo>
                  <a:lnTo>
                    <a:pt x="189509" y="172936"/>
                  </a:lnTo>
                  <a:lnTo>
                    <a:pt x="212065" y="156362"/>
                  </a:lnTo>
                  <a:lnTo>
                    <a:pt x="233782" y="138827"/>
                  </a:lnTo>
                  <a:lnTo>
                    <a:pt x="254527" y="120082"/>
                  </a:lnTo>
                  <a:lnTo>
                    <a:pt x="274149" y="99898"/>
                  </a:lnTo>
                  <a:lnTo>
                    <a:pt x="292484" y="78038"/>
                  </a:lnTo>
                  <a:lnTo>
                    <a:pt x="309391" y="54264"/>
                  </a:lnTo>
                  <a:lnTo>
                    <a:pt x="324726" y="28327"/>
                  </a:lnTo>
                  <a:lnTo>
                    <a:pt x="338328" y="0"/>
                  </a:lnTo>
                  <a:lnTo>
                    <a:pt x="322050" y="3343"/>
                  </a:lnTo>
                  <a:lnTo>
                    <a:pt x="306962" y="7591"/>
                  </a:lnTo>
                  <a:lnTo>
                    <a:pt x="292932" y="12516"/>
                  </a:lnTo>
                  <a:lnTo>
                    <a:pt x="279854" y="17897"/>
                  </a:lnTo>
                  <a:lnTo>
                    <a:pt x="267586" y="23498"/>
                  </a:lnTo>
                  <a:lnTo>
                    <a:pt x="256003" y="29099"/>
                  </a:lnTo>
                  <a:lnTo>
                    <a:pt x="244983" y="34471"/>
                  </a:lnTo>
                  <a:lnTo>
                    <a:pt x="234410" y="39395"/>
                  </a:lnTo>
                  <a:lnTo>
                    <a:pt x="224142" y="43644"/>
                  </a:lnTo>
                  <a:lnTo>
                    <a:pt x="214065" y="46987"/>
                  </a:lnTo>
                  <a:lnTo>
                    <a:pt x="204054" y="49206"/>
                  </a:lnTo>
                  <a:lnTo>
                    <a:pt x="193977" y="50073"/>
                  </a:lnTo>
                  <a:lnTo>
                    <a:pt x="183709" y="49359"/>
                  </a:lnTo>
                  <a:lnTo>
                    <a:pt x="173136" y="46844"/>
                  </a:lnTo>
                  <a:lnTo>
                    <a:pt x="162115" y="42291"/>
                  </a:lnTo>
                  <a:lnTo>
                    <a:pt x="63437" y="98679"/>
                  </a:lnTo>
                  <a:lnTo>
                    <a:pt x="0" y="190310"/>
                  </a:lnTo>
                  <a:close/>
                </a:path>
              </a:pathLst>
            </a:custGeom>
            <a:solidFill>
              <a:srgbClr val="5A6045"/>
            </a:solidFill>
            <a:ln w="11982">
              <a:solidFill>
                <a:srgbClr val="4A5147"/>
              </a:solidFill>
              <a:prstDash val="solid"/>
            </a:ln>
          </p:spPr>
          <p:txBody>
            <a:bodyPr/>
            <a:lstStyle/>
            <a:p>
              <a:endParaRPr sz="1200"/>
            </a:p>
          </p:txBody>
        </p:sp>
        <p:sp>
          <p:nvSpPr>
            <p:cNvPr id="162" name="s1-female-junglefowl__line_162">
              <a:extLst>
                <a:ext uri="{FF2B5EF4-FFF2-40B4-BE49-F238E27FC236}">
                  <a16:creationId xmlns:a16="http://schemas.microsoft.com/office/drawing/2014/main" id="{B1F8389F-9770-4666-8919-2E2ABDB05202}"/>
                </a:ext>
              </a:extLst>
            </p:cNvPr>
            <p:cNvSpPr>
              <a:spLocks/>
            </p:cNvSpPr>
            <p:nvPr/>
          </p:nvSpPr>
          <p:spPr>
            <a:xfrm>
              <a:off x="2301621" y="3968243"/>
              <a:ext cx="4699" cy="84582"/>
            </a:xfrm>
            <a:custGeom>
              <a:avLst/>
              <a:gdLst/>
              <a:ahLst/>
              <a:cxnLst/>
              <a:rect l="0" t="0" r="0" b="0"/>
              <a:pathLst>
                <a:path w="7049" h="126873">
                  <a:moveTo>
                    <a:pt x="7049" y="0"/>
                  </a:moveTo>
                  <a:lnTo>
                    <a:pt x="0" y="126873"/>
                  </a:lnTo>
                </a:path>
              </a:pathLst>
            </a:custGeom>
            <a:noFill/>
            <a:ln w="19736">
              <a:solidFill>
                <a:srgbClr val="B98E49"/>
              </a:solidFill>
              <a:prstDash val="solid"/>
            </a:ln>
          </p:spPr>
          <p:txBody>
            <a:bodyPr/>
            <a:lstStyle/>
            <a:p>
              <a:endParaRPr sz="1200"/>
            </a:p>
          </p:txBody>
        </p:sp>
        <p:sp>
          <p:nvSpPr>
            <p:cNvPr id="163" name="s1-female-junglefowl__line_163">
              <a:extLst>
                <a:ext uri="{FF2B5EF4-FFF2-40B4-BE49-F238E27FC236}">
                  <a16:creationId xmlns:a16="http://schemas.microsoft.com/office/drawing/2014/main" id="{42CF9FAA-0269-40D3-A54D-302C2FFBA9D5}"/>
                </a:ext>
              </a:extLst>
            </p:cNvPr>
            <p:cNvSpPr>
              <a:spLocks/>
            </p:cNvSpPr>
            <p:nvPr/>
          </p:nvSpPr>
          <p:spPr>
            <a:xfrm>
              <a:off x="2301621" y="4048126"/>
              <a:ext cx="46990" cy="23495"/>
            </a:xfrm>
            <a:custGeom>
              <a:avLst/>
              <a:gdLst/>
              <a:ahLst/>
              <a:cxnLst/>
              <a:rect l="0" t="0" r="0" b="0"/>
              <a:pathLst>
                <a:path w="70485" h="35243">
                  <a:moveTo>
                    <a:pt x="0" y="0"/>
                  </a:moveTo>
                  <a:lnTo>
                    <a:pt x="70485" y="35243"/>
                  </a:lnTo>
                </a:path>
              </a:pathLst>
            </a:custGeom>
            <a:noFill/>
            <a:ln w="15507">
              <a:solidFill>
                <a:srgbClr val="B98E49"/>
              </a:solidFill>
              <a:prstDash val="solid"/>
            </a:ln>
          </p:spPr>
          <p:txBody>
            <a:bodyPr/>
            <a:lstStyle/>
            <a:p>
              <a:endParaRPr sz="1200"/>
            </a:p>
          </p:txBody>
        </p:sp>
        <p:sp>
          <p:nvSpPr>
            <p:cNvPr id="164" name="s1-female-junglefowl__line_164">
              <a:extLst>
                <a:ext uri="{FF2B5EF4-FFF2-40B4-BE49-F238E27FC236}">
                  <a16:creationId xmlns:a16="http://schemas.microsoft.com/office/drawing/2014/main" id="{BA50F3BD-C926-4316-8379-307F79905FC4}"/>
                </a:ext>
              </a:extLst>
            </p:cNvPr>
            <p:cNvSpPr>
              <a:spLocks/>
            </p:cNvSpPr>
            <p:nvPr/>
          </p:nvSpPr>
          <p:spPr>
            <a:xfrm>
              <a:off x="2249932" y="4048126"/>
              <a:ext cx="51688" cy="23495"/>
            </a:xfrm>
            <a:custGeom>
              <a:avLst/>
              <a:gdLst/>
              <a:ahLst/>
              <a:cxnLst/>
              <a:rect l="0" t="0" r="0" b="0"/>
              <a:pathLst>
                <a:path w="77533" h="35243">
                  <a:moveTo>
                    <a:pt x="77533" y="0"/>
                  </a:moveTo>
                  <a:lnTo>
                    <a:pt x="0" y="35243"/>
                  </a:lnTo>
                </a:path>
              </a:pathLst>
            </a:custGeom>
            <a:noFill/>
            <a:ln w="15507">
              <a:solidFill>
                <a:srgbClr val="B98E49"/>
              </a:solidFill>
              <a:prstDash val="solid"/>
            </a:ln>
          </p:spPr>
          <p:txBody>
            <a:bodyPr/>
            <a:lstStyle/>
            <a:p>
              <a:endParaRPr sz="1200"/>
            </a:p>
          </p:txBody>
        </p:sp>
        <p:sp>
          <p:nvSpPr>
            <p:cNvPr id="165" name="s1-female-junglefowl__line_165">
              <a:extLst>
                <a:ext uri="{FF2B5EF4-FFF2-40B4-BE49-F238E27FC236}">
                  <a16:creationId xmlns:a16="http://schemas.microsoft.com/office/drawing/2014/main" id="{DA2F41E1-91EE-40C8-8A41-0D7BD727AB47}"/>
                </a:ext>
              </a:extLst>
            </p:cNvPr>
            <p:cNvSpPr>
              <a:spLocks/>
            </p:cNvSpPr>
            <p:nvPr/>
          </p:nvSpPr>
          <p:spPr>
            <a:xfrm>
              <a:off x="2193544" y="3972942"/>
              <a:ext cx="9398" cy="84582"/>
            </a:xfrm>
            <a:custGeom>
              <a:avLst/>
              <a:gdLst/>
              <a:ahLst/>
              <a:cxnLst/>
              <a:rect l="0" t="0" r="0" b="0"/>
              <a:pathLst>
                <a:path w="14097" h="126873">
                  <a:moveTo>
                    <a:pt x="14097" y="0"/>
                  </a:moveTo>
                  <a:lnTo>
                    <a:pt x="0" y="126873"/>
                  </a:lnTo>
                </a:path>
              </a:pathLst>
            </a:custGeom>
            <a:noFill/>
            <a:ln w="19736">
              <a:solidFill>
                <a:srgbClr val="B98E49"/>
              </a:solidFill>
              <a:prstDash val="solid"/>
            </a:ln>
          </p:spPr>
          <p:txBody>
            <a:bodyPr/>
            <a:lstStyle/>
            <a:p>
              <a:endParaRPr sz="1200"/>
            </a:p>
          </p:txBody>
        </p:sp>
        <p:sp>
          <p:nvSpPr>
            <p:cNvPr id="166" name="s1-female-junglefowl__line_166">
              <a:extLst>
                <a:ext uri="{FF2B5EF4-FFF2-40B4-BE49-F238E27FC236}">
                  <a16:creationId xmlns:a16="http://schemas.microsoft.com/office/drawing/2014/main" id="{70D8290B-750E-4F80-BE1E-0CE414754DA4}"/>
                </a:ext>
              </a:extLst>
            </p:cNvPr>
            <p:cNvSpPr>
              <a:spLocks/>
            </p:cNvSpPr>
            <p:nvPr/>
          </p:nvSpPr>
          <p:spPr>
            <a:xfrm>
              <a:off x="2193544" y="4052825"/>
              <a:ext cx="42291" cy="18796"/>
            </a:xfrm>
            <a:custGeom>
              <a:avLst/>
              <a:gdLst/>
              <a:ahLst/>
              <a:cxnLst/>
              <a:rect l="0" t="0" r="0" b="0"/>
              <a:pathLst>
                <a:path w="63437" h="28194">
                  <a:moveTo>
                    <a:pt x="0" y="0"/>
                  </a:moveTo>
                  <a:lnTo>
                    <a:pt x="63437" y="28194"/>
                  </a:lnTo>
                </a:path>
              </a:pathLst>
            </a:custGeom>
            <a:noFill/>
            <a:ln w="15507">
              <a:solidFill>
                <a:srgbClr val="B98E49"/>
              </a:solidFill>
              <a:prstDash val="solid"/>
            </a:ln>
          </p:spPr>
          <p:txBody>
            <a:bodyPr/>
            <a:lstStyle/>
            <a:p>
              <a:endParaRPr sz="1200"/>
            </a:p>
          </p:txBody>
        </p:sp>
        <p:sp>
          <p:nvSpPr>
            <p:cNvPr id="167" name="s1-female-junglefowl__line_167">
              <a:extLst>
                <a:ext uri="{FF2B5EF4-FFF2-40B4-BE49-F238E27FC236}">
                  <a16:creationId xmlns:a16="http://schemas.microsoft.com/office/drawing/2014/main" id="{145760B2-636C-49E5-867B-D88983CBFB0B}"/>
                </a:ext>
              </a:extLst>
            </p:cNvPr>
            <p:cNvSpPr>
              <a:spLocks/>
            </p:cNvSpPr>
            <p:nvPr/>
          </p:nvSpPr>
          <p:spPr>
            <a:xfrm>
              <a:off x="2146554" y="4052825"/>
              <a:ext cx="46990" cy="18796"/>
            </a:xfrm>
            <a:custGeom>
              <a:avLst/>
              <a:gdLst/>
              <a:ahLst/>
              <a:cxnLst/>
              <a:rect l="0" t="0" r="0" b="0"/>
              <a:pathLst>
                <a:path w="70485" h="28194">
                  <a:moveTo>
                    <a:pt x="70485" y="0"/>
                  </a:moveTo>
                  <a:lnTo>
                    <a:pt x="0" y="28194"/>
                  </a:lnTo>
                </a:path>
              </a:pathLst>
            </a:custGeom>
            <a:noFill/>
            <a:ln w="15507">
              <a:solidFill>
                <a:srgbClr val="B98E49"/>
              </a:solidFill>
              <a:prstDash val="solid"/>
            </a:ln>
          </p:spPr>
          <p:txBody>
            <a:bodyPr/>
            <a:lstStyle/>
            <a:p>
              <a:endParaRPr sz="1200"/>
            </a:p>
          </p:txBody>
        </p:sp>
        <p:sp>
          <p:nvSpPr>
            <p:cNvPr id="168" name="s1-female-junglefowl__contour_168">
              <a:extLst>
                <a:ext uri="{FF2B5EF4-FFF2-40B4-BE49-F238E27FC236}">
                  <a16:creationId xmlns:a16="http://schemas.microsoft.com/office/drawing/2014/main" id="{D919DC10-5BFB-4CF3-B138-7A1366D54D51}"/>
                </a:ext>
              </a:extLst>
            </p:cNvPr>
            <p:cNvSpPr>
              <a:spLocks/>
            </p:cNvSpPr>
            <p:nvPr/>
          </p:nvSpPr>
          <p:spPr>
            <a:xfrm>
              <a:off x="2073980" y="3573444"/>
              <a:ext cx="405003" cy="408895"/>
            </a:xfrm>
            <a:custGeom>
              <a:avLst/>
              <a:gdLst/>
              <a:ahLst/>
              <a:cxnLst/>
              <a:rect l="0" t="0" r="0" b="0"/>
              <a:pathLst>
                <a:path w="607505" h="613343">
                  <a:moveTo>
                    <a:pt x="581111" y="296161"/>
                  </a:moveTo>
                  <a:lnTo>
                    <a:pt x="553298" y="279635"/>
                  </a:lnTo>
                  <a:lnTo>
                    <a:pt x="526247" y="266395"/>
                  </a:lnTo>
                  <a:lnTo>
                    <a:pt x="499967" y="255956"/>
                  </a:lnTo>
                  <a:lnTo>
                    <a:pt x="474478" y="247850"/>
                  </a:lnTo>
                  <a:lnTo>
                    <a:pt x="449799" y="241602"/>
                  </a:lnTo>
                  <a:lnTo>
                    <a:pt x="425929" y="236725"/>
                  </a:lnTo>
                  <a:lnTo>
                    <a:pt x="402888" y="232762"/>
                  </a:lnTo>
                  <a:lnTo>
                    <a:pt x="380686" y="229210"/>
                  </a:lnTo>
                  <a:lnTo>
                    <a:pt x="359340" y="225619"/>
                  </a:lnTo>
                  <a:lnTo>
                    <a:pt x="338852" y="221494"/>
                  </a:lnTo>
                  <a:lnTo>
                    <a:pt x="319240" y="216379"/>
                  </a:lnTo>
                  <a:lnTo>
                    <a:pt x="300523" y="209779"/>
                  </a:lnTo>
                  <a:lnTo>
                    <a:pt x="282712" y="201216"/>
                  </a:lnTo>
                  <a:lnTo>
                    <a:pt x="265805" y="190233"/>
                  </a:lnTo>
                  <a:lnTo>
                    <a:pt x="249831" y="176336"/>
                  </a:lnTo>
                  <a:lnTo>
                    <a:pt x="240306" y="158039"/>
                  </a:lnTo>
                  <a:lnTo>
                    <a:pt x="231362" y="139922"/>
                  </a:lnTo>
                  <a:lnTo>
                    <a:pt x="222818" y="122149"/>
                  </a:lnTo>
                  <a:lnTo>
                    <a:pt x="214503" y="104899"/>
                  </a:lnTo>
                  <a:lnTo>
                    <a:pt x="206235" y="88363"/>
                  </a:lnTo>
                  <a:lnTo>
                    <a:pt x="197844" y="72695"/>
                  </a:lnTo>
                  <a:lnTo>
                    <a:pt x="189147" y="58083"/>
                  </a:lnTo>
                  <a:lnTo>
                    <a:pt x="179975" y="44701"/>
                  </a:lnTo>
                  <a:lnTo>
                    <a:pt x="170155" y="32718"/>
                  </a:lnTo>
                  <a:lnTo>
                    <a:pt x="159506" y="22317"/>
                  </a:lnTo>
                  <a:lnTo>
                    <a:pt x="147857" y="13668"/>
                  </a:lnTo>
                  <a:lnTo>
                    <a:pt x="135026" y="6944"/>
                  </a:lnTo>
                  <a:lnTo>
                    <a:pt x="120844" y="2334"/>
                  </a:lnTo>
                  <a:lnTo>
                    <a:pt x="105127" y="0"/>
                  </a:lnTo>
                  <a:lnTo>
                    <a:pt x="87716" y="124"/>
                  </a:lnTo>
                  <a:lnTo>
                    <a:pt x="71561" y="1314"/>
                  </a:lnTo>
                  <a:lnTo>
                    <a:pt x="56940" y="4724"/>
                  </a:lnTo>
                  <a:lnTo>
                    <a:pt x="43901" y="10163"/>
                  </a:lnTo>
                  <a:lnTo>
                    <a:pt x="32480" y="17402"/>
                  </a:lnTo>
                  <a:lnTo>
                    <a:pt x="22717" y="26232"/>
                  </a:lnTo>
                  <a:lnTo>
                    <a:pt x="14640" y="36433"/>
                  </a:lnTo>
                  <a:lnTo>
                    <a:pt x="8287" y="47816"/>
                  </a:lnTo>
                  <a:lnTo>
                    <a:pt x="3715" y="60141"/>
                  </a:lnTo>
                  <a:lnTo>
                    <a:pt x="933" y="73200"/>
                  </a:lnTo>
                  <a:lnTo>
                    <a:pt x="0" y="86792"/>
                  </a:lnTo>
                  <a:lnTo>
                    <a:pt x="943" y="100698"/>
                  </a:lnTo>
                  <a:lnTo>
                    <a:pt x="3810" y="114700"/>
                  </a:lnTo>
                  <a:lnTo>
                    <a:pt x="8630" y="128597"/>
                  </a:lnTo>
                  <a:lnTo>
                    <a:pt x="15440" y="142161"/>
                  </a:lnTo>
                  <a:lnTo>
                    <a:pt x="24279" y="155191"/>
                  </a:lnTo>
                  <a:lnTo>
                    <a:pt x="32090" y="164973"/>
                  </a:lnTo>
                  <a:lnTo>
                    <a:pt x="38652" y="174622"/>
                  </a:lnTo>
                  <a:lnTo>
                    <a:pt x="44015" y="184175"/>
                  </a:lnTo>
                  <a:lnTo>
                    <a:pt x="48254" y="193691"/>
                  </a:lnTo>
                  <a:lnTo>
                    <a:pt x="51425" y="203225"/>
                  </a:lnTo>
                  <a:lnTo>
                    <a:pt x="53597" y="212817"/>
                  </a:lnTo>
                  <a:lnTo>
                    <a:pt x="54835" y="222523"/>
                  </a:lnTo>
                  <a:lnTo>
                    <a:pt x="55188" y="232400"/>
                  </a:lnTo>
                  <a:lnTo>
                    <a:pt x="54731" y="242478"/>
                  </a:lnTo>
                  <a:lnTo>
                    <a:pt x="53521" y="252822"/>
                  </a:lnTo>
                  <a:lnTo>
                    <a:pt x="51616" y="263481"/>
                  </a:lnTo>
                  <a:lnTo>
                    <a:pt x="49092" y="274511"/>
                  </a:lnTo>
                  <a:lnTo>
                    <a:pt x="45996" y="285941"/>
                  </a:lnTo>
                  <a:lnTo>
                    <a:pt x="42405" y="297847"/>
                  </a:lnTo>
                  <a:lnTo>
                    <a:pt x="38376" y="310258"/>
                  </a:lnTo>
                  <a:lnTo>
                    <a:pt x="23279" y="346139"/>
                  </a:lnTo>
                  <a:lnTo>
                    <a:pt x="14364" y="380371"/>
                  </a:lnTo>
                  <a:lnTo>
                    <a:pt x="11249" y="412823"/>
                  </a:lnTo>
                  <a:lnTo>
                    <a:pt x="13554" y="443370"/>
                  </a:lnTo>
                  <a:lnTo>
                    <a:pt x="20888" y="471849"/>
                  </a:lnTo>
                  <a:lnTo>
                    <a:pt x="32852" y="498138"/>
                  </a:lnTo>
                  <a:lnTo>
                    <a:pt x="49063" y="522103"/>
                  </a:lnTo>
                  <a:lnTo>
                    <a:pt x="69132" y="543592"/>
                  </a:lnTo>
                  <a:lnTo>
                    <a:pt x="92678" y="562480"/>
                  </a:lnTo>
                  <a:lnTo>
                    <a:pt x="119301" y="578625"/>
                  </a:lnTo>
                  <a:lnTo>
                    <a:pt x="148619" y="591883"/>
                  </a:lnTo>
                  <a:lnTo>
                    <a:pt x="180251" y="602123"/>
                  </a:lnTo>
                  <a:lnTo>
                    <a:pt x="213789" y="609200"/>
                  </a:lnTo>
                  <a:lnTo>
                    <a:pt x="248860" y="612991"/>
                  </a:lnTo>
                  <a:lnTo>
                    <a:pt x="285074" y="613343"/>
                  </a:lnTo>
                  <a:lnTo>
                    <a:pt x="317002" y="612238"/>
                  </a:lnTo>
                  <a:lnTo>
                    <a:pt x="347872" y="608981"/>
                  </a:lnTo>
                  <a:lnTo>
                    <a:pt x="377552" y="603704"/>
                  </a:lnTo>
                  <a:lnTo>
                    <a:pt x="405908" y="596503"/>
                  </a:lnTo>
                  <a:lnTo>
                    <a:pt x="432835" y="587502"/>
                  </a:lnTo>
                  <a:lnTo>
                    <a:pt x="458181" y="576805"/>
                  </a:lnTo>
                  <a:lnTo>
                    <a:pt x="481851" y="564528"/>
                  </a:lnTo>
                  <a:lnTo>
                    <a:pt x="503692" y="550793"/>
                  </a:lnTo>
                  <a:lnTo>
                    <a:pt x="523599" y="535696"/>
                  </a:lnTo>
                  <a:lnTo>
                    <a:pt x="541430" y="519360"/>
                  </a:lnTo>
                  <a:lnTo>
                    <a:pt x="557070" y="501901"/>
                  </a:lnTo>
                  <a:lnTo>
                    <a:pt x="570395" y="483422"/>
                  </a:lnTo>
                  <a:lnTo>
                    <a:pt x="581282" y="464048"/>
                  </a:lnTo>
                  <a:lnTo>
                    <a:pt x="589588" y="443875"/>
                  </a:lnTo>
                  <a:lnTo>
                    <a:pt x="595208" y="423034"/>
                  </a:lnTo>
                  <a:lnTo>
                    <a:pt x="599065" y="413175"/>
                  </a:lnTo>
                  <a:lnTo>
                    <a:pt x="602180" y="403346"/>
                  </a:lnTo>
                  <a:lnTo>
                    <a:pt x="604571" y="393602"/>
                  </a:lnTo>
                  <a:lnTo>
                    <a:pt x="606247" y="383962"/>
                  </a:lnTo>
                  <a:lnTo>
                    <a:pt x="607219" y="374475"/>
                  </a:lnTo>
                  <a:lnTo>
                    <a:pt x="607505" y="365179"/>
                  </a:lnTo>
                  <a:lnTo>
                    <a:pt x="607104" y="356111"/>
                  </a:lnTo>
                  <a:lnTo>
                    <a:pt x="606047" y="347301"/>
                  </a:lnTo>
                  <a:lnTo>
                    <a:pt x="604342" y="338795"/>
                  </a:lnTo>
                  <a:lnTo>
                    <a:pt x="601999" y="330622"/>
                  </a:lnTo>
                  <a:lnTo>
                    <a:pt x="599018" y="322831"/>
                  </a:lnTo>
                  <a:lnTo>
                    <a:pt x="595436" y="315449"/>
                  </a:lnTo>
                  <a:lnTo>
                    <a:pt x="591245" y="308515"/>
                  </a:lnTo>
                  <a:lnTo>
                    <a:pt x="586464" y="302076"/>
                  </a:lnTo>
                  <a:lnTo>
                    <a:pt x="581111" y="296161"/>
                  </a:lnTo>
                  <a:close/>
                </a:path>
              </a:pathLst>
            </a:custGeom>
            <a:solidFill>
              <a:srgbClr val="91734B"/>
            </a:solidFill>
            <a:ln w="11982">
              <a:solidFill>
                <a:srgbClr val="4A5147"/>
              </a:solidFill>
              <a:prstDash val="solid"/>
            </a:ln>
          </p:spPr>
          <p:txBody>
            <a:bodyPr/>
            <a:lstStyle/>
            <a:p>
              <a:endParaRPr sz="1200"/>
            </a:p>
          </p:txBody>
        </p:sp>
        <p:sp>
          <p:nvSpPr>
            <p:cNvPr id="169" name="s1-female-junglefowl__contour_169">
              <a:extLst>
                <a:ext uri="{FF2B5EF4-FFF2-40B4-BE49-F238E27FC236}">
                  <a16:creationId xmlns:a16="http://schemas.microsoft.com/office/drawing/2014/main" id="{F3E8EFA8-4C8E-4CD0-8BC2-A421EAEA4194}"/>
                </a:ext>
              </a:extLst>
            </p:cNvPr>
            <p:cNvSpPr>
              <a:spLocks/>
            </p:cNvSpPr>
            <p:nvPr/>
          </p:nvSpPr>
          <p:spPr>
            <a:xfrm>
              <a:off x="2083288" y="3575368"/>
              <a:ext cx="143148" cy="242506"/>
            </a:xfrm>
            <a:custGeom>
              <a:avLst/>
              <a:gdLst/>
              <a:ahLst/>
              <a:cxnLst/>
              <a:rect l="0" t="0" r="0" b="0"/>
              <a:pathLst>
                <a:path w="214722" h="363760">
                  <a:moveTo>
                    <a:pt x="172431" y="110014"/>
                  </a:moveTo>
                  <a:lnTo>
                    <a:pt x="170107" y="93497"/>
                  </a:lnTo>
                  <a:lnTo>
                    <a:pt x="166068" y="77867"/>
                  </a:lnTo>
                  <a:lnTo>
                    <a:pt x="160477" y="63265"/>
                  </a:lnTo>
                  <a:lnTo>
                    <a:pt x="153495" y="49835"/>
                  </a:lnTo>
                  <a:lnTo>
                    <a:pt x="145285" y="37700"/>
                  </a:lnTo>
                  <a:lnTo>
                    <a:pt x="136007" y="27013"/>
                  </a:lnTo>
                  <a:lnTo>
                    <a:pt x="125825" y="17897"/>
                  </a:lnTo>
                  <a:lnTo>
                    <a:pt x="114910" y="10506"/>
                  </a:lnTo>
                  <a:lnTo>
                    <a:pt x="103413" y="4963"/>
                  </a:lnTo>
                  <a:lnTo>
                    <a:pt x="91507" y="1419"/>
                  </a:lnTo>
                  <a:lnTo>
                    <a:pt x="79343" y="0"/>
                  </a:lnTo>
                  <a:lnTo>
                    <a:pt x="67094" y="848"/>
                  </a:lnTo>
                  <a:lnTo>
                    <a:pt x="54931" y="4105"/>
                  </a:lnTo>
                  <a:lnTo>
                    <a:pt x="42996" y="9906"/>
                  </a:lnTo>
                  <a:lnTo>
                    <a:pt x="31461" y="18383"/>
                  </a:lnTo>
                  <a:lnTo>
                    <a:pt x="20231" y="29747"/>
                  </a:lnTo>
                  <a:lnTo>
                    <a:pt x="11754" y="41262"/>
                  </a:lnTo>
                  <a:lnTo>
                    <a:pt x="5744" y="52892"/>
                  </a:lnTo>
                  <a:lnTo>
                    <a:pt x="1962" y="64599"/>
                  </a:lnTo>
                  <a:lnTo>
                    <a:pt x="133" y="76333"/>
                  </a:lnTo>
                  <a:lnTo>
                    <a:pt x="0" y="88078"/>
                  </a:lnTo>
                  <a:lnTo>
                    <a:pt x="1286" y="99784"/>
                  </a:lnTo>
                  <a:lnTo>
                    <a:pt x="3743" y="111414"/>
                  </a:lnTo>
                  <a:lnTo>
                    <a:pt x="7106" y="122930"/>
                  </a:lnTo>
                  <a:lnTo>
                    <a:pt x="11097" y="134293"/>
                  </a:lnTo>
                  <a:lnTo>
                    <a:pt x="15469" y="145466"/>
                  </a:lnTo>
                  <a:lnTo>
                    <a:pt x="19955" y="156420"/>
                  </a:lnTo>
                  <a:lnTo>
                    <a:pt x="24298" y="167107"/>
                  </a:lnTo>
                  <a:lnTo>
                    <a:pt x="28213" y="177498"/>
                  </a:lnTo>
                  <a:lnTo>
                    <a:pt x="31461" y="187547"/>
                  </a:lnTo>
                  <a:lnTo>
                    <a:pt x="36547" y="198463"/>
                  </a:lnTo>
                  <a:lnTo>
                    <a:pt x="40596" y="208712"/>
                  </a:lnTo>
                  <a:lnTo>
                    <a:pt x="43701" y="218389"/>
                  </a:lnTo>
                  <a:lnTo>
                    <a:pt x="45930" y="227581"/>
                  </a:lnTo>
                  <a:lnTo>
                    <a:pt x="47387" y="236363"/>
                  </a:lnTo>
                  <a:lnTo>
                    <a:pt x="48149" y="244840"/>
                  </a:lnTo>
                  <a:lnTo>
                    <a:pt x="48320" y="253089"/>
                  </a:lnTo>
                  <a:lnTo>
                    <a:pt x="47968" y="261195"/>
                  </a:lnTo>
                  <a:lnTo>
                    <a:pt x="47196" y="269253"/>
                  </a:lnTo>
                  <a:lnTo>
                    <a:pt x="46082" y="277349"/>
                  </a:lnTo>
                  <a:lnTo>
                    <a:pt x="44720" y="285569"/>
                  </a:lnTo>
                  <a:lnTo>
                    <a:pt x="43186" y="294008"/>
                  </a:lnTo>
                  <a:lnTo>
                    <a:pt x="41586" y="302743"/>
                  </a:lnTo>
                  <a:lnTo>
                    <a:pt x="39995" y="311868"/>
                  </a:lnTo>
                  <a:lnTo>
                    <a:pt x="38510" y="321469"/>
                  </a:lnTo>
                  <a:lnTo>
                    <a:pt x="73752" y="363760"/>
                  </a:lnTo>
                  <a:lnTo>
                    <a:pt x="123092" y="314420"/>
                  </a:lnTo>
                  <a:lnTo>
                    <a:pt x="172431" y="335566"/>
                  </a:lnTo>
                  <a:lnTo>
                    <a:pt x="214722" y="243935"/>
                  </a:lnTo>
                  <a:close/>
                </a:path>
              </a:pathLst>
            </a:custGeom>
            <a:solidFill>
              <a:srgbClr val="AA8B54"/>
            </a:solidFill>
            <a:ln w="11982">
              <a:noFill/>
              <a:prstDash val="solid"/>
            </a:ln>
          </p:spPr>
          <p:txBody>
            <a:bodyPr/>
            <a:lstStyle/>
            <a:p>
              <a:endParaRPr sz="1200"/>
            </a:p>
          </p:txBody>
        </p:sp>
        <p:sp>
          <p:nvSpPr>
            <p:cNvPr id="170" name="s1-female-junglefowl__contour_170">
              <a:extLst>
                <a:ext uri="{FF2B5EF4-FFF2-40B4-BE49-F238E27FC236}">
                  <a16:creationId xmlns:a16="http://schemas.microsoft.com/office/drawing/2014/main" id="{EC0F8B99-BF21-40E5-B0B9-4942063A60CF}"/>
                </a:ext>
              </a:extLst>
            </p:cNvPr>
            <p:cNvSpPr>
              <a:spLocks/>
            </p:cNvSpPr>
            <p:nvPr/>
          </p:nvSpPr>
          <p:spPr>
            <a:xfrm>
              <a:off x="2226437" y="3767729"/>
              <a:ext cx="212356" cy="145662"/>
            </a:xfrm>
            <a:custGeom>
              <a:avLst/>
              <a:gdLst/>
              <a:ahLst/>
              <a:cxnLst/>
              <a:rect l="0" t="0" r="0" b="0"/>
              <a:pathLst>
                <a:path w="318535" h="218494">
                  <a:moveTo>
                    <a:pt x="310134" y="47025"/>
                  </a:moveTo>
                  <a:lnTo>
                    <a:pt x="289779" y="32823"/>
                  </a:lnTo>
                  <a:lnTo>
                    <a:pt x="268348" y="21222"/>
                  </a:lnTo>
                  <a:lnTo>
                    <a:pt x="246078" y="12173"/>
                  </a:lnTo>
                  <a:lnTo>
                    <a:pt x="223209" y="5648"/>
                  </a:lnTo>
                  <a:lnTo>
                    <a:pt x="199968" y="1600"/>
                  </a:lnTo>
                  <a:lnTo>
                    <a:pt x="176603" y="0"/>
                  </a:lnTo>
                  <a:lnTo>
                    <a:pt x="153362" y="800"/>
                  </a:lnTo>
                  <a:lnTo>
                    <a:pt x="130464" y="3972"/>
                  </a:lnTo>
                  <a:lnTo>
                    <a:pt x="108156" y="9468"/>
                  </a:lnTo>
                  <a:lnTo>
                    <a:pt x="86668" y="17269"/>
                  </a:lnTo>
                  <a:lnTo>
                    <a:pt x="66256" y="27318"/>
                  </a:lnTo>
                  <a:lnTo>
                    <a:pt x="47139" y="39586"/>
                  </a:lnTo>
                  <a:lnTo>
                    <a:pt x="29566" y="54026"/>
                  </a:lnTo>
                  <a:lnTo>
                    <a:pt x="13773" y="70618"/>
                  </a:lnTo>
                  <a:lnTo>
                    <a:pt x="0" y="89316"/>
                  </a:lnTo>
                  <a:lnTo>
                    <a:pt x="4877" y="107071"/>
                  </a:lnTo>
                  <a:lnTo>
                    <a:pt x="11001" y="123663"/>
                  </a:lnTo>
                  <a:lnTo>
                    <a:pt x="18326" y="139046"/>
                  </a:lnTo>
                  <a:lnTo>
                    <a:pt x="26775" y="153200"/>
                  </a:lnTo>
                  <a:lnTo>
                    <a:pt x="36290" y="166068"/>
                  </a:lnTo>
                  <a:lnTo>
                    <a:pt x="46806" y="177622"/>
                  </a:lnTo>
                  <a:lnTo>
                    <a:pt x="58255" y="187823"/>
                  </a:lnTo>
                  <a:lnTo>
                    <a:pt x="70590" y="196625"/>
                  </a:lnTo>
                  <a:lnTo>
                    <a:pt x="83734" y="204006"/>
                  </a:lnTo>
                  <a:lnTo>
                    <a:pt x="97631" y="209921"/>
                  </a:lnTo>
                  <a:lnTo>
                    <a:pt x="112224" y="214332"/>
                  </a:lnTo>
                  <a:lnTo>
                    <a:pt x="127435" y="217208"/>
                  </a:lnTo>
                  <a:lnTo>
                    <a:pt x="143218" y="218494"/>
                  </a:lnTo>
                  <a:lnTo>
                    <a:pt x="159496" y="218170"/>
                  </a:lnTo>
                  <a:lnTo>
                    <a:pt x="176213" y="216189"/>
                  </a:lnTo>
                  <a:lnTo>
                    <a:pt x="194320" y="214036"/>
                  </a:lnTo>
                  <a:lnTo>
                    <a:pt x="211884" y="210417"/>
                  </a:lnTo>
                  <a:lnTo>
                    <a:pt x="228714" y="205359"/>
                  </a:lnTo>
                  <a:lnTo>
                    <a:pt x="244640" y="198920"/>
                  </a:lnTo>
                  <a:lnTo>
                    <a:pt x="259490" y="191129"/>
                  </a:lnTo>
                  <a:lnTo>
                    <a:pt x="273091" y="182013"/>
                  </a:lnTo>
                  <a:lnTo>
                    <a:pt x="285255" y="171631"/>
                  </a:lnTo>
                  <a:lnTo>
                    <a:pt x="295818" y="160001"/>
                  </a:lnTo>
                  <a:lnTo>
                    <a:pt x="304610" y="147171"/>
                  </a:lnTo>
                  <a:lnTo>
                    <a:pt x="311439" y="133169"/>
                  </a:lnTo>
                  <a:lnTo>
                    <a:pt x="316144" y="118053"/>
                  </a:lnTo>
                  <a:lnTo>
                    <a:pt x="318535" y="101832"/>
                  </a:lnTo>
                  <a:lnTo>
                    <a:pt x="318449" y="84563"/>
                  </a:lnTo>
                  <a:lnTo>
                    <a:pt x="315706" y="66284"/>
                  </a:lnTo>
                  <a:lnTo>
                    <a:pt x="310134" y="47025"/>
                  </a:lnTo>
                  <a:close/>
                </a:path>
              </a:pathLst>
            </a:custGeom>
            <a:solidFill>
              <a:srgbClr val="725E3E"/>
            </a:solidFill>
            <a:ln w="8458">
              <a:solidFill>
                <a:srgbClr val="4A5147"/>
              </a:solidFill>
              <a:prstDash val="solid"/>
            </a:ln>
          </p:spPr>
          <p:txBody>
            <a:bodyPr/>
            <a:lstStyle/>
            <a:p>
              <a:endParaRPr sz="1200"/>
            </a:p>
          </p:txBody>
        </p:sp>
        <p:sp>
          <p:nvSpPr>
            <p:cNvPr id="171" name="s1-female-junglefowl__contour_171">
              <a:extLst>
                <a:ext uri="{FF2B5EF4-FFF2-40B4-BE49-F238E27FC236}">
                  <a16:creationId xmlns:a16="http://schemas.microsoft.com/office/drawing/2014/main" id="{AEA03F2A-4748-4D81-BBD3-61268EB75DC8}"/>
                </a:ext>
              </a:extLst>
            </p:cNvPr>
            <p:cNvSpPr>
              <a:spLocks/>
            </p:cNvSpPr>
            <p:nvPr/>
          </p:nvSpPr>
          <p:spPr>
            <a:xfrm>
              <a:off x="2259330" y="3817221"/>
              <a:ext cx="150368" cy="42945"/>
            </a:xfrm>
            <a:custGeom>
              <a:avLst/>
              <a:gdLst/>
              <a:ahLst/>
              <a:cxnLst/>
              <a:rect l="0" t="0" r="0" b="0"/>
              <a:pathLst>
                <a:path w="225552" h="64418">
                  <a:moveTo>
                    <a:pt x="225552" y="8030"/>
                  </a:moveTo>
                  <a:lnTo>
                    <a:pt x="208559" y="4362"/>
                  </a:lnTo>
                  <a:lnTo>
                    <a:pt x="191462" y="1810"/>
                  </a:lnTo>
                  <a:lnTo>
                    <a:pt x="174355" y="362"/>
                  </a:lnTo>
                  <a:lnTo>
                    <a:pt x="157315" y="0"/>
                  </a:lnTo>
                  <a:lnTo>
                    <a:pt x="140446" y="724"/>
                  </a:lnTo>
                  <a:lnTo>
                    <a:pt x="123825" y="2505"/>
                  </a:lnTo>
                  <a:lnTo>
                    <a:pt x="107547" y="5344"/>
                  </a:lnTo>
                  <a:lnTo>
                    <a:pt x="91688" y="9220"/>
                  </a:lnTo>
                  <a:lnTo>
                    <a:pt x="76352" y="14116"/>
                  </a:lnTo>
                  <a:lnTo>
                    <a:pt x="61608" y="20041"/>
                  </a:lnTo>
                  <a:lnTo>
                    <a:pt x="47558" y="26956"/>
                  </a:lnTo>
                  <a:lnTo>
                    <a:pt x="34280" y="34871"/>
                  </a:lnTo>
                  <a:lnTo>
                    <a:pt x="21879" y="43758"/>
                  </a:lnTo>
                  <a:lnTo>
                    <a:pt x="10420" y="53616"/>
                  </a:lnTo>
                  <a:lnTo>
                    <a:pt x="0" y="64418"/>
                  </a:lnTo>
                </a:path>
              </a:pathLst>
            </a:custGeom>
            <a:noFill/>
            <a:ln w="9163">
              <a:solidFill>
                <a:srgbClr val="CBA16F"/>
              </a:solidFill>
              <a:prstDash val="solid"/>
            </a:ln>
          </p:spPr>
          <p:txBody>
            <a:bodyPr/>
            <a:lstStyle/>
            <a:p>
              <a:endParaRPr sz="1200"/>
            </a:p>
          </p:txBody>
        </p:sp>
        <p:sp>
          <p:nvSpPr>
            <p:cNvPr id="172" name="s1-female-junglefowl__contour_172">
              <a:extLst>
                <a:ext uri="{FF2B5EF4-FFF2-40B4-BE49-F238E27FC236}">
                  <a16:creationId xmlns:a16="http://schemas.microsoft.com/office/drawing/2014/main" id="{36EF0315-0F85-4E4D-B739-63D980E73AF0}"/>
                </a:ext>
              </a:extLst>
            </p:cNvPr>
            <p:cNvSpPr>
              <a:spLocks/>
            </p:cNvSpPr>
            <p:nvPr/>
          </p:nvSpPr>
          <p:spPr>
            <a:xfrm>
              <a:off x="2089988" y="3538379"/>
              <a:ext cx="95726" cy="58642"/>
            </a:xfrm>
            <a:custGeom>
              <a:avLst/>
              <a:gdLst/>
              <a:ahLst/>
              <a:cxnLst/>
              <a:rect l="0" t="0" r="0" b="0"/>
              <a:pathLst>
                <a:path w="143589" h="87963">
                  <a:moveTo>
                    <a:pt x="127140" y="66818"/>
                  </a:moveTo>
                  <a:lnTo>
                    <a:pt x="133360" y="62513"/>
                  </a:lnTo>
                  <a:lnTo>
                    <a:pt x="138008" y="58103"/>
                  </a:lnTo>
                  <a:lnTo>
                    <a:pt x="141180" y="53683"/>
                  </a:lnTo>
                  <a:lnTo>
                    <a:pt x="142999" y="49330"/>
                  </a:lnTo>
                  <a:lnTo>
                    <a:pt x="143589" y="45149"/>
                  </a:lnTo>
                  <a:lnTo>
                    <a:pt x="143037" y="41215"/>
                  </a:lnTo>
                  <a:lnTo>
                    <a:pt x="141484" y="37624"/>
                  </a:lnTo>
                  <a:lnTo>
                    <a:pt x="139017" y="34452"/>
                  </a:lnTo>
                  <a:lnTo>
                    <a:pt x="135769" y="31804"/>
                  </a:lnTo>
                  <a:lnTo>
                    <a:pt x="131836" y="29747"/>
                  </a:lnTo>
                  <a:lnTo>
                    <a:pt x="127349" y="28385"/>
                  </a:lnTo>
                  <a:lnTo>
                    <a:pt x="122406" y="27794"/>
                  </a:lnTo>
                  <a:lnTo>
                    <a:pt x="117119" y="28080"/>
                  </a:lnTo>
                  <a:lnTo>
                    <a:pt x="111614" y="29308"/>
                  </a:lnTo>
                  <a:lnTo>
                    <a:pt x="105994" y="31575"/>
                  </a:lnTo>
                  <a:lnTo>
                    <a:pt x="106766" y="23679"/>
                  </a:lnTo>
                  <a:lnTo>
                    <a:pt x="106366" y="16916"/>
                  </a:lnTo>
                  <a:lnTo>
                    <a:pt x="104927" y="11278"/>
                  </a:lnTo>
                  <a:lnTo>
                    <a:pt x="102575" y="6763"/>
                  </a:lnTo>
                  <a:lnTo>
                    <a:pt x="99470" y="3381"/>
                  </a:lnTo>
                  <a:lnTo>
                    <a:pt x="95736" y="1124"/>
                  </a:lnTo>
                  <a:lnTo>
                    <a:pt x="91507" y="0"/>
                  </a:lnTo>
                  <a:lnTo>
                    <a:pt x="86935" y="0"/>
                  </a:lnTo>
                  <a:lnTo>
                    <a:pt x="82144" y="1124"/>
                  </a:lnTo>
                  <a:lnTo>
                    <a:pt x="77276" y="3381"/>
                  </a:lnTo>
                  <a:lnTo>
                    <a:pt x="72476" y="6763"/>
                  </a:lnTo>
                  <a:lnTo>
                    <a:pt x="67875" y="11278"/>
                  </a:lnTo>
                  <a:lnTo>
                    <a:pt x="63617" y="16916"/>
                  </a:lnTo>
                  <a:lnTo>
                    <a:pt x="59827" y="23679"/>
                  </a:lnTo>
                  <a:lnTo>
                    <a:pt x="56655" y="31575"/>
                  </a:lnTo>
                  <a:lnTo>
                    <a:pt x="48311" y="25356"/>
                  </a:lnTo>
                  <a:lnTo>
                    <a:pt x="40262" y="20745"/>
                  </a:lnTo>
                  <a:lnTo>
                    <a:pt x="32633" y="17650"/>
                  </a:lnTo>
                  <a:lnTo>
                    <a:pt x="25527" y="15983"/>
                  </a:lnTo>
                  <a:lnTo>
                    <a:pt x="19060" y="15650"/>
                  </a:lnTo>
                  <a:lnTo>
                    <a:pt x="13345" y="16574"/>
                  </a:lnTo>
                  <a:lnTo>
                    <a:pt x="8496" y="18669"/>
                  </a:lnTo>
                  <a:lnTo>
                    <a:pt x="4629" y="21831"/>
                  </a:lnTo>
                  <a:lnTo>
                    <a:pt x="1848" y="25994"/>
                  </a:lnTo>
                  <a:lnTo>
                    <a:pt x="267" y="31051"/>
                  </a:lnTo>
                  <a:lnTo>
                    <a:pt x="0" y="36928"/>
                  </a:lnTo>
                  <a:lnTo>
                    <a:pt x="1172" y="43529"/>
                  </a:lnTo>
                  <a:lnTo>
                    <a:pt x="3877" y="50768"/>
                  </a:lnTo>
                  <a:lnTo>
                    <a:pt x="8239" y="58560"/>
                  </a:lnTo>
                  <a:lnTo>
                    <a:pt x="14364" y="66818"/>
                  </a:lnTo>
                  <a:lnTo>
                    <a:pt x="63703" y="87963"/>
                  </a:lnTo>
                  <a:close/>
                </a:path>
              </a:pathLst>
            </a:custGeom>
            <a:solidFill>
              <a:srgbClr val="B8493E"/>
            </a:solidFill>
            <a:ln w="7753">
              <a:solidFill>
                <a:srgbClr val="803B33"/>
              </a:solidFill>
              <a:prstDash val="solid"/>
            </a:ln>
          </p:spPr>
          <p:txBody>
            <a:bodyPr/>
            <a:lstStyle/>
            <a:p>
              <a:endParaRPr sz="1200"/>
            </a:p>
          </p:txBody>
        </p:sp>
        <p:sp>
          <p:nvSpPr>
            <p:cNvPr id="173" name="s1-female-junglefowl__contour_173">
              <a:extLst>
                <a:ext uri="{FF2B5EF4-FFF2-40B4-BE49-F238E27FC236}">
                  <a16:creationId xmlns:a16="http://schemas.microsoft.com/office/drawing/2014/main" id="{4A186D07-0295-4F8B-8CA6-CEDB27969E7C}"/>
                </a:ext>
              </a:extLst>
            </p:cNvPr>
            <p:cNvSpPr>
              <a:spLocks/>
            </p:cNvSpPr>
            <p:nvPr/>
          </p:nvSpPr>
          <p:spPr>
            <a:xfrm>
              <a:off x="2019681" y="3625216"/>
              <a:ext cx="56388" cy="37592"/>
            </a:xfrm>
            <a:custGeom>
              <a:avLst/>
              <a:gdLst/>
              <a:ahLst/>
              <a:cxnLst/>
              <a:rect l="0" t="0" r="0" b="0"/>
              <a:pathLst>
                <a:path w="84582" h="56388">
                  <a:moveTo>
                    <a:pt x="84582" y="0"/>
                  </a:moveTo>
                  <a:lnTo>
                    <a:pt x="0" y="35243"/>
                  </a:lnTo>
                  <a:lnTo>
                    <a:pt x="77533" y="56388"/>
                  </a:lnTo>
                  <a:close/>
                </a:path>
              </a:pathLst>
            </a:custGeom>
            <a:solidFill>
              <a:srgbClr val="D3AA5C"/>
            </a:solidFill>
            <a:ln w="7049">
              <a:solidFill>
                <a:srgbClr val="8D7239"/>
              </a:solidFill>
              <a:prstDash val="solid"/>
            </a:ln>
          </p:spPr>
          <p:txBody>
            <a:bodyPr/>
            <a:lstStyle/>
            <a:p>
              <a:endParaRPr sz="1200"/>
            </a:p>
          </p:txBody>
        </p:sp>
        <p:sp>
          <p:nvSpPr>
            <p:cNvPr id="174" name="s1-female-junglefowl__ellipse_174">
              <a:extLst>
                <a:ext uri="{FF2B5EF4-FFF2-40B4-BE49-F238E27FC236}">
                  <a16:creationId xmlns:a16="http://schemas.microsoft.com/office/drawing/2014/main" id="{B0E9B045-A4AE-41F8-BB99-0221D9DD8DDF}"/>
                </a:ext>
              </a:extLst>
            </p:cNvPr>
            <p:cNvSpPr>
              <a:spLocks/>
            </p:cNvSpPr>
            <p:nvPr/>
          </p:nvSpPr>
          <p:spPr>
            <a:xfrm>
              <a:off x="2080768" y="3672206"/>
              <a:ext cx="32893" cy="51689"/>
            </a:xfrm>
            <a:prstGeom prst="ellipse">
              <a:avLst/>
            </a:prstGeom>
            <a:solidFill>
              <a:srgbClr val="B8493E"/>
            </a:solidFill>
            <a:ln w="5639">
              <a:solidFill>
                <a:srgbClr val="803B33"/>
              </a:solidFill>
              <a:prstDash val="solid"/>
            </a:ln>
          </p:spPr>
          <p:txBody>
            <a:bodyPr/>
            <a:lstStyle/>
            <a:p>
              <a:endParaRPr sz="1200"/>
            </a:p>
          </p:txBody>
        </p:sp>
        <p:sp>
          <p:nvSpPr>
            <p:cNvPr id="175" name="s1-female-junglefowl__ellipse_175">
              <a:extLst>
                <a:ext uri="{FF2B5EF4-FFF2-40B4-BE49-F238E27FC236}">
                  <a16:creationId xmlns:a16="http://schemas.microsoft.com/office/drawing/2014/main" id="{B7A4A51C-7185-4A34-80C5-2CD135F856A8}"/>
                </a:ext>
              </a:extLst>
            </p:cNvPr>
            <p:cNvSpPr>
              <a:spLocks/>
            </p:cNvSpPr>
            <p:nvPr/>
          </p:nvSpPr>
          <p:spPr>
            <a:xfrm>
              <a:off x="2085936" y="3608769"/>
              <a:ext cx="15976" cy="15976"/>
            </a:xfrm>
            <a:prstGeom prst="ellipse">
              <a:avLst/>
            </a:prstGeom>
            <a:solidFill>
              <a:srgbClr val="1F2B28"/>
            </a:solidFill>
            <a:ln w="0">
              <a:noFill/>
              <a:prstDash val="solid"/>
            </a:ln>
          </p:spPr>
          <p:txBody>
            <a:bodyPr/>
            <a:lstStyle/>
            <a:p>
              <a:endParaRPr sz="1200"/>
            </a:p>
          </p:txBody>
        </p:sp>
        <p:sp>
          <p:nvSpPr>
            <p:cNvPr id="176" name="s1-female-junglefowl__ellipse_176">
              <a:extLst>
                <a:ext uri="{FF2B5EF4-FFF2-40B4-BE49-F238E27FC236}">
                  <a16:creationId xmlns:a16="http://schemas.microsoft.com/office/drawing/2014/main" id="{9BC64A55-DAB8-49A8-BD2B-1FF372671D78}"/>
                </a:ext>
              </a:extLst>
            </p:cNvPr>
            <p:cNvSpPr>
              <a:spLocks/>
            </p:cNvSpPr>
            <p:nvPr/>
          </p:nvSpPr>
          <p:spPr>
            <a:xfrm>
              <a:off x="2095334" y="3609239"/>
              <a:ext cx="4229" cy="4229"/>
            </a:xfrm>
            <a:prstGeom prst="ellipse">
              <a:avLst/>
            </a:prstGeom>
            <a:solidFill>
              <a:srgbClr val="FFFFFF"/>
            </a:solidFill>
            <a:ln w="0">
              <a:noFill/>
              <a:prstDash val="solid"/>
            </a:ln>
          </p:spPr>
          <p:txBody>
            <a:bodyPr/>
            <a:lstStyle/>
            <a:p>
              <a:endParaRPr sz="1200"/>
            </a:p>
          </p:txBody>
        </p:sp>
        <p:sp>
          <p:nvSpPr>
            <p:cNvPr id="177" name="s1-harvest-residues__grain_177">
              <a:extLst>
                <a:ext uri="{FF2B5EF4-FFF2-40B4-BE49-F238E27FC236}">
                  <a16:creationId xmlns:a16="http://schemas.microsoft.com/office/drawing/2014/main" id="{508CB83A-C60C-411A-98C3-39A375441EE8}"/>
                </a:ext>
              </a:extLst>
            </p:cNvPr>
            <p:cNvSpPr>
              <a:spLocks/>
            </p:cNvSpPr>
            <p:nvPr/>
          </p:nvSpPr>
          <p:spPr>
            <a:xfrm rot="1200000">
              <a:off x="1692275" y="3802062"/>
              <a:ext cx="28575" cy="14287"/>
            </a:xfrm>
            <a:prstGeom prst="ellipse">
              <a:avLst/>
            </a:prstGeom>
            <a:solidFill>
              <a:srgbClr val="D7B571"/>
            </a:solidFill>
            <a:ln w="3572">
              <a:solidFill>
                <a:srgbClr val="AC925E"/>
              </a:solidFill>
              <a:prstDash val="solid"/>
            </a:ln>
          </p:spPr>
          <p:txBody>
            <a:bodyPr/>
            <a:lstStyle/>
            <a:p>
              <a:endParaRPr sz="1200"/>
            </a:p>
          </p:txBody>
        </p:sp>
        <p:sp>
          <p:nvSpPr>
            <p:cNvPr id="178" name="s1-harvest-residues__grain_178">
              <a:extLst>
                <a:ext uri="{FF2B5EF4-FFF2-40B4-BE49-F238E27FC236}">
                  <a16:creationId xmlns:a16="http://schemas.microsoft.com/office/drawing/2014/main" id="{FDB35D3D-6B69-4F4B-943B-DB9D708BDBDC}"/>
                </a:ext>
              </a:extLst>
            </p:cNvPr>
            <p:cNvSpPr>
              <a:spLocks/>
            </p:cNvSpPr>
            <p:nvPr/>
          </p:nvSpPr>
          <p:spPr>
            <a:xfrm rot="-960000">
              <a:off x="1768475" y="3759199"/>
              <a:ext cx="28575" cy="14287"/>
            </a:xfrm>
            <a:prstGeom prst="ellipse">
              <a:avLst/>
            </a:prstGeom>
            <a:solidFill>
              <a:srgbClr val="D7B571"/>
            </a:solidFill>
            <a:ln w="3572">
              <a:solidFill>
                <a:srgbClr val="AC925E"/>
              </a:solidFill>
              <a:prstDash val="solid"/>
            </a:ln>
          </p:spPr>
          <p:txBody>
            <a:bodyPr/>
            <a:lstStyle/>
            <a:p>
              <a:endParaRPr sz="1200"/>
            </a:p>
          </p:txBody>
        </p:sp>
        <p:sp>
          <p:nvSpPr>
            <p:cNvPr id="179" name="s1-harvest-residues__grain_179">
              <a:extLst>
                <a:ext uri="{FF2B5EF4-FFF2-40B4-BE49-F238E27FC236}">
                  <a16:creationId xmlns:a16="http://schemas.microsoft.com/office/drawing/2014/main" id="{0C65E21C-B1D3-4091-B9B0-DDEAA135D631}"/>
                </a:ext>
              </a:extLst>
            </p:cNvPr>
            <p:cNvSpPr>
              <a:spLocks/>
            </p:cNvSpPr>
            <p:nvPr/>
          </p:nvSpPr>
          <p:spPr>
            <a:xfrm rot="1980000">
              <a:off x="1830387" y="3806825"/>
              <a:ext cx="28575" cy="14287"/>
            </a:xfrm>
            <a:prstGeom prst="ellipse">
              <a:avLst/>
            </a:prstGeom>
            <a:solidFill>
              <a:srgbClr val="D7B571"/>
            </a:solidFill>
            <a:ln w="3572">
              <a:solidFill>
                <a:srgbClr val="AC925E"/>
              </a:solidFill>
              <a:prstDash val="solid"/>
            </a:ln>
          </p:spPr>
          <p:txBody>
            <a:bodyPr/>
            <a:lstStyle/>
            <a:p>
              <a:endParaRPr sz="1200"/>
            </a:p>
          </p:txBody>
        </p:sp>
        <p:sp>
          <p:nvSpPr>
            <p:cNvPr id="180" name="s1-harvest-residues__grain_180">
              <a:extLst>
                <a:ext uri="{FF2B5EF4-FFF2-40B4-BE49-F238E27FC236}">
                  <a16:creationId xmlns:a16="http://schemas.microsoft.com/office/drawing/2014/main" id="{EA442B76-2CA6-4D18-85F7-9B7EBC13752D}"/>
                </a:ext>
              </a:extLst>
            </p:cNvPr>
            <p:cNvSpPr>
              <a:spLocks/>
            </p:cNvSpPr>
            <p:nvPr/>
          </p:nvSpPr>
          <p:spPr>
            <a:xfrm rot="540000">
              <a:off x="1916112" y="3754437"/>
              <a:ext cx="28575" cy="14287"/>
            </a:xfrm>
            <a:prstGeom prst="ellipse">
              <a:avLst/>
            </a:prstGeom>
            <a:solidFill>
              <a:srgbClr val="D7B571"/>
            </a:solidFill>
            <a:ln w="3572">
              <a:solidFill>
                <a:srgbClr val="AC925E"/>
              </a:solidFill>
              <a:prstDash val="solid"/>
            </a:ln>
          </p:spPr>
          <p:txBody>
            <a:bodyPr/>
            <a:lstStyle/>
            <a:p>
              <a:endParaRPr sz="1200"/>
            </a:p>
          </p:txBody>
        </p:sp>
        <p:sp>
          <p:nvSpPr>
            <p:cNvPr id="181" name="s1-harvest-residues__grain_181">
              <a:extLst>
                <a:ext uri="{FF2B5EF4-FFF2-40B4-BE49-F238E27FC236}">
                  <a16:creationId xmlns:a16="http://schemas.microsoft.com/office/drawing/2014/main" id="{41B3D6BF-9F25-4A2C-8706-036A6CB90666}"/>
                </a:ext>
              </a:extLst>
            </p:cNvPr>
            <p:cNvSpPr>
              <a:spLocks/>
            </p:cNvSpPr>
            <p:nvPr/>
          </p:nvSpPr>
          <p:spPr>
            <a:xfrm rot="-2100000">
              <a:off x="1968500" y="3825875"/>
              <a:ext cx="28575" cy="14287"/>
            </a:xfrm>
            <a:prstGeom prst="ellipse">
              <a:avLst/>
            </a:prstGeom>
            <a:solidFill>
              <a:srgbClr val="D7B571"/>
            </a:solidFill>
            <a:ln w="3572">
              <a:solidFill>
                <a:srgbClr val="AC925E"/>
              </a:solidFill>
              <a:prstDash val="solid"/>
            </a:ln>
          </p:spPr>
          <p:txBody>
            <a:bodyPr/>
            <a:lstStyle/>
            <a:p>
              <a:endParaRPr sz="1200"/>
            </a:p>
          </p:txBody>
        </p:sp>
        <p:sp>
          <p:nvSpPr>
            <p:cNvPr id="182" name="s1-harvest-residues__grain_182">
              <a:extLst>
                <a:ext uri="{FF2B5EF4-FFF2-40B4-BE49-F238E27FC236}">
                  <a16:creationId xmlns:a16="http://schemas.microsoft.com/office/drawing/2014/main" id="{3E481B23-F139-436D-B661-4D7CE8FB7F7B}"/>
                </a:ext>
              </a:extLst>
            </p:cNvPr>
            <p:cNvSpPr>
              <a:spLocks/>
            </p:cNvSpPr>
            <p:nvPr/>
          </p:nvSpPr>
          <p:spPr>
            <a:xfrm rot="-1320000">
              <a:off x="1744662" y="3873500"/>
              <a:ext cx="28575" cy="14287"/>
            </a:xfrm>
            <a:prstGeom prst="ellipse">
              <a:avLst/>
            </a:prstGeom>
            <a:solidFill>
              <a:srgbClr val="D7B571"/>
            </a:solidFill>
            <a:ln w="3572">
              <a:solidFill>
                <a:srgbClr val="AC925E"/>
              </a:solidFill>
              <a:prstDash val="solid"/>
            </a:ln>
          </p:spPr>
          <p:txBody>
            <a:bodyPr/>
            <a:lstStyle/>
            <a:p>
              <a:endParaRPr sz="1200"/>
            </a:p>
          </p:txBody>
        </p:sp>
        <p:sp>
          <p:nvSpPr>
            <p:cNvPr id="183" name="s1-harvest-residues__grain_183">
              <a:extLst>
                <a:ext uri="{FF2B5EF4-FFF2-40B4-BE49-F238E27FC236}">
                  <a16:creationId xmlns:a16="http://schemas.microsoft.com/office/drawing/2014/main" id="{CF29C19C-61AC-42B7-94D1-ECB6CD50FA39}"/>
                </a:ext>
              </a:extLst>
            </p:cNvPr>
            <p:cNvSpPr>
              <a:spLocks/>
            </p:cNvSpPr>
            <p:nvPr/>
          </p:nvSpPr>
          <p:spPr>
            <a:xfrm rot="1260000">
              <a:off x="1863725" y="3887787"/>
              <a:ext cx="28575" cy="14287"/>
            </a:xfrm>
            <a:prstGeom prst="ellipse">
              <a:avLst/>
            </a:prstGeom>
            <a:solidFill>
              <a:srgbClr val="D7B571"/>
            </a:solidFill>
            <a:ln w="3572">
              <a:solidFill>
                <a:srgbClr val="AC925E"/>
              </a:solidFill>
              <a:prstDash val="solid"/>
            </a:ln>
          </p:spPr>
          <p:txBody>
            <a:bodyPr/>
            <a:lstStyle/>
            <a:p>
              <a:endParaRPr sz="1200"/>
            </a:p>
          </p:txBody>
        </p:sp>
        <p:sp>
          <p:nvSpPr>
            <p:cNvPr id="184" name="s1-harvest-residues__grain_184">
              <a:extLst>
                <a:ext uri="{FF2B5EF4-FFF2-40B4-BE49-F238E27FC236}">
                  <a16:creationId xmlns:a16="http://schemas.microsoft.com/office/drawing/2014/main" id="{6E2E4362-0269-4D71-A991-3AF797DB365B}"/>
                </a:ext>
              </a:extLst>
            </p:cNvPr>
            <p:cNvSpPr>
              <a:spLocks/>
            </p:cNvSpPr>
            <p:nvPr/>
          </p:nvSpPr>
          <p:spPr>
            <a:xfrm rot="480000">
              <a:off x="1935162" y="3897312"/>
              <a:ext cx="28575" cy="14287"/>
            </a:xfrm>
            <a:prstGeom prst="ellipse">
              <a:avLst/>
            </a:prstGeom>
            <a:solidFill>
              <a:srgbClr val="D7B571"/>
            </a:solidFill>
            <a:ln w="3572">
              <a:solidFill>
                <a:srgbClr val="AC925E"/>
              </a:solidFill>
              <a:prstDash val="solid"/>
            </a:ln>
          </p:spPr>
          <p:txBody>
            <a:bodyPr/>
            <a:lstStyle/>
            <a:p>
              <a:endParaRPr sz="1200"/>
            </a:p>
          </p:txBody>
        </p:sp>
        <p:sp>
          <p:nvSpPr>
            <p:cNvPr id="185" name="s2-ground__ellipse_185">
              <a:extLst>
                <a:ext uri="{FF2B5EF4-FFF2-40B4-BE49-F238E27FC236}">
                  <a16:creationId xmlns:a16="http://schemas.microsoft.com/office/drawing/2014/main" id="{D182402F-BFC9-4A61-B0BD-D54B58F95D0B}"/>
                </a:ext>
              </a:extLst>
            </p:cNvPr>
            <p:cNvSpPr>
              <a:spLocks/>
            </p:cNvSpPr>
            <p:nvPr/>
          </p:nvSpPr>
          <p:spPr>
            <a:xfrm>
              <a:off x="3238500" y="3429000"/>
              <a:ext cx="2457450" cy="704850"/>
            </a:xfrm>
            <a:prstGeom prst="ellipse">
              <a:avLst/>
            </a:prstGeom>
            <a:solidFill>
              <a:srgbClr val="F2E8D6"/>
            </a:solidFill>
            <a:ln w="0">
              <a:noFill/>
              <a:prstDash val="solid"/>
            </a:ln>
          </p:spPr>
          <p:txBody>
            <a:bodyPr/>
            <a:lstStyle/>
            <a:p>
              <a:endParaRPr sz="1200"/>
            </a:p>
          </p:txBody>
        </p:sp>
        <p:sp>
          <p:nvSpPr>
            <p:cNvPr id="186" name="s2-shelter__ellipse_186">
              <a:extLst>
                <a:ext uri="{FF2B5EF4-FFF2-40B4-BE49-F238E27FC236}">
                  <a16:creationId xmlns:a16="http://schemas.microsoft.com/office/drawing/2014/main" id="{85638FA9-273D-4CDC-B748-7A3715BE9EBC}"/>
                </a:ext>
              </a:extLst>
            </p:cNvPr>
            <p:cNvSpPr>
              <a:spLocks/>
            </p:cNvSpPr>
            <p:nvPr/>
          </p:nvSpPr>
          <p:spPr>
            <a:xfrm>
              <a:off x="3490277" y="2851277"/>
              <a:ext cx="751205" cy="57785"/>
            </a:xfrm>
            <a:prstGeom prst="ellipse">
              <a:avLst/>
            </a:prstGeom>
            <a:solidFill>
              <a:srgbClr val="CBD6BD"/>
            </a:solidFill>
            <a:ln w="0">
              <a:noFill/>
              <a:prstDash val="solid"/>
            </a:ln>
          </p:spPr>
          <p:txBody>
            <a:bodyPr/>
            <a:lstStyle/>
            <a:p>
              <a:endParaRPr sz="1200"/>
            </a:p>
          </p:txBody>
        </p:sp>
        <p:sp>
          <p:nvSpPr>
            <p:cNvPr id="187" name="s2-shelter__rect_187">
              <a:extLst>
                <a:ext uri="{FF2B5EF4-FFF2-40B4-BE49-F238E27FC236}">
                  <a16:creationId xmlns:a16="http://schemas.microsoft.com/office/drawing/2014/main" id="{9E540E53-F1F3-47BE-A42A-EA53EE4608A9}"/>
                </a:ext>
              </a:extLst>
            </p:cNvPr>
            <p:cNvSpPr>
              <a:spLocks/>
            </p:cNvSpPr>
            <p:nvPr/>
          </p:nvSpPr>
          <p:spPr>
            <a:xfrm>
              <a:off x="3559619" y="2458339"/>
              <a:ext cx="612521" cy="404495"/>
            </a:xfrm>
            <a:prstGeom prst="rect">
              <a:avLst/>
            </a:prstGeom>
            <a:solidFill>
              <a:srgbClr val="D8B991"/>
            </a:solidFill>
            <a:ln w="13868">
              <a:solidFill>
                <a:srgbClr val="776750"/>
              </a:solidFill>
              <a:prstDash val="solid"/>
            </a:ln>
          </p:spPr>
          <p:txBody>
            <a:bodyPr/>
            <a:lstStyle/>
            <a:p>
              <a:endParaRPr sz="1200"/>
            </a:p>
          </p:txBody>
        </p:sp>
        <p:sp>
          <p:nvSpPr>
            <p:cNvPr id="188" name="s2-shelter__rect_188">
              <a:extLst>
                <a:ext uri="{FF2B5EF4-FFF2-40B4-BE49-F238E27FC236}">
                  <a16:creationId xmlns:a16="http://schemas.microsoft.com/office/drawing/2014/main" id="{E8B599A0-BA77-4385-81C9-3BA62880FC13}"/>
                </a:ext>
              </a:extLst>
            </p:cNvPr>
            <p:cNvSpPr>
              <a:spLocks/>
            </p:cNvSpPr>
            <p:nvPr/>
          </p:nvSpPr>
          <p:spPr>
            <a:xfrm>
              <a:off x="3790759" y="2631694"/>
              <a:ext cx="150241" cy="231140"/>
            </a:xfrm>
            <a:prstGeom prst="rect">
              <a:avLst/>
            </a:prstGeom>
            <a:solidFill>
              <a:srgbClr val="665444"/>
            </a:solidFill>
            <a:ln w="0">
              <a:noFill/>
              <a:prstDash val="solid"/>
            </a:ln>
          </p:spPr>
          <p:txBody>
            <a:bodyPr/>
            <a:lstStyle/>
            <a:p>
              <a:endParaRPr sz="1200"/>
            </a:p>
          </p:txBody>
        </p:sp>
        <p:sp>
          <p:nvSpPr>
            <p:cNvPr id="189" name="s2-shelter__rect_189">
              <a:extLst>
                <a:ext uri="{FF2B5EF4-FFF2-40B4-BE49-F238E27FC236}">
                  <a16:creationId xmlns:a16="http://schemas.microsoft.com/office/drawing/2014/main" id="{889E8EA5-3E06-4A2A-A252-6C3FE7F04D9A}"/>
                </a:ext>
              </a:extLst>
            </p:cNvPr>
            <p:cNvSpPr>
              <a:spLocks/>
            </p:cNvSpPr>
            <p:nvPr/>
          </p:nvSpPr>
          <p:spPr>
            <a:xfrm>
              <a:off x="3634740" y="2562352"/>
              <a:ext cx="92455" cy="104013"/>
            </a:xfrm>
            <a:prstGeom prst="rect">
              <a:avLst/>
            </a:prstGeom>
            <a:solidFill>
              <a:srgbClr val="7B6751"/>
            </a:solidFill>
            <a:ln w="0">
              <a:noFill/>
              <a:prstDash val="solid"/>
            </a:ln>
          </p:spPr>
          <p:txBody>
            <a:bodyPr/>
            <a:lstStyle/>
            <a:p>
              <a:endParaRPr sz="1200"/>
            </a:p>
          </p:txBody>
        </p:sp>
        <p:sp>
          <p:nvSpPr>
            <p:cNvPr id="190" name="s2-shelter__rect_190">
              <a:extLst>
                <a:ext uri="{FF2B5EF4-FFF2-40B4-BE49-F238E27FC236}">
                  <a16:creationId xmlns:a16="http://schemas.microsoft.com/office/drawing/2014/main" id="{028971E5-7AFC-4D75-85A6-0FAAD3C0AE26}"/>
                </a:ext>
              </a:extLst>
            </p:cNvPr>
            <p:cNvSpPr>
              <a:spLocks/>
            </p:cNvSpPr>
            <p:nvPr/>
          </p:nvSpPr>
          <p:spPr>
            <a:xfrm>
              <a:off x="4033457" y="2579687"/>
              <a:ext cx="69341" cy="86677"/>
            </a:xfrm>
            <a:prstGeom prst="rect">
              <a:avLst/>
            </a:prstGeom>
            <a:solidFill>
              <a:srgbClr val="7B6751"/>
            </a:solidFill>
            <a:ln w="0">
              <a:noFill/>
              <a:prstDash val="solid"/>
            </a:ln>
          </p:spPr>
          <p:txBody>
            <a:bodyPr/>
            <a:lstStyle/>
            <a:p>
              <a:endParaRPr sz="1200"/>
            </a:p>
          </p:txBody>
        </p:sp>
        <p:sp>
          <p:nvSpPr>
            <p:cNvPr id="191" name="s2-shelter__line_191">
              <a:extLst>
                <a:ext uri="{FF2B5EF4-FFF2-40B4-BE49-F238E27FC236}">
                  <a16:creationId xmlns:a16="http://schemas.microsoft.com/office/drawing/2014/main" id="{5FED5603-3C0C-409F-A012-C706502ECF03}"/>
                </a:ext>
              </a:extLst>
            </p:cNvPr>
            <p:cNvSpPr>
              <a:spLocks/>
            </p:cNvSpPr>
            <p:nvPr/>
          </p:nvSpPr>
          <p:spPr>
            <a:xfrm>
              <a:off x="3790759" y="2620137"/>
              <a:ext cx="150240" cy="63"/>
            </a:xfrm>
            <a:custGeom>
              <a:avLst/>
              <a:gdLst/>
              <a:ahLst/>
              <a:cxnLst/>
              <a:rect l="0" t="0" r="0" b="0"/>
              <a:pathLst>
                <a:path w="225361" h="95">
                  <a:moveTo>
                    <a:pt x="0" y="0"/>
                  </a:moveTo>
                  <a:lnTo>
                    <a:pt x="225361" y="0"/>
                  </a:lnTo>
                </a:path>
              </a:pathLst>
            </a:custGeom>
            <a:noFill/>
            <a:ln w="17336">
              <a:solidFill>
                <a:srgbClr val="9B7C59"/>
              </a:solidFill>
              <a:prstDash val="solid"/>
            </a:ln>
          </p:spPr>
          <p:txBody>
            <a:bodyPr/>
            <a:lstStyle/>
            <a:p>
              <a:endParaRPr sz="1200"/>
            </a:p>
          </p:txBody>
        </p:sp>
        <p:sp>
          <p:nvSpPr>
            <p:cNvPr id="192" name="s2-shelter__path_192">
              <a:extLst>
                <a:ext uri="{FF2B5EF4-FFF2-40B4-BE49-F238E27FC236}">
                  <a16:creationId xmlns:a16="http://schemas.microsoft.com/office/drawing/2014/main" id="{939DB099-EEBD-40DF-9182-F5C6FD562099}"/>
                </a:ext>
              </a:extLst>
            </p:cNvPr>
            <p:cNvSpPr>
              <a:spLocks/>
            </p:cNvSpPr>
            <p:nvPr/>
          </p:nvSpPr>
          <p:spPr>
            <a:xfrm>
              <a:off x="3449828" y="2192528"/>
              <a:ext cx="826325" cy="283146"/>
            </a:xfrm>
            <a:custGeom>
              <a:avLst/>
              <a:gdLst/>
              <a:ahLst/>
              <a:cxnLst/>
              <a:rect l="0" t="0" r="0" b="0"/>
              <a:pathLst>
                <a:path w="1239488" h="424720">
                  <a:moveTo>
                    <a:pt x="0" y="424720"/>
                  </a:moveTo>
                  <a:lnTo>
                    <a:pt x="606743" y="0"/>
                  </a:lnTo>
                  <a:lnTo>
                    <a:pt x="1239488" y="424720"/>
                  </a:lnTo>
                  <a:close/>
                </a:path>
              </a:pathLst>
            </a:custGeom>
            <a:solidFill>
              <a:srgbClr val="B68A55"/>
            </a:solidFill>
            <a:ln w="15602">
              <a:solidFill>
                <a:srgbClr val="776750"/>
              </a:solidFill>
              <a:prstDash val="solid"/>
            </a:ln>
          </p:spPr>
          <p:txBody>
            <a:bodyPr/>
            <a:lstStyle/>
            <a:p>
              <a:endParaRPr sz="1200"/>
            </a:p>
          </p:txBody>
        </p:sp>
        <p:sp>
          <p:nvSpPr>
            <p:cNvPr id="193" name="s2-shelter__path_193">
              <a:extLst>
                <a:ext uri="{FF2B5EF4-FFF2-40B4-BE49-F238E27FC236}">
                  <a16:creationId xmlns:a16="http://schemas.microsoft.com/office/drawing/2014/main" id="{3C943401-C2D1-4FDA-8924-B5D31587B292}"/>
                </a:ext>
              </a:extLst>
            </p:cNvPr>
            <p:cNvSpPr>
              <a:spLocks/>
            </p:cNvSpPr>
            <p:nvPr/>
          </p:nvSpPr>
          <p:spPr>
            <a:xfrm>
              <a:off x="3449828" y="2475674"/>
              <a:ext cx="826325" cy="46228"/>
            </a:xfrm>
            <a:custGeom>
              <a:avLst/>
              <a:gdLst/>
              <a:ahLst/>
              <a:cxnLst/>
              <a:rect l="0" t="0" r="0" b="0"/>
              <a:pathLst>
                <a:path w="1239488" h="69342">
                  <a:moveTo>
                    <a:pt x="0" y="0"/>
                  </a:moveTo>
                  <a:lnTo>
                    <a:pt x="1239488" y="0"/>
                  </a:lnTo>
                  <a:lnTo>
                    <a:pt x="1135475" y="69342"/>
                  </a:lnTo>
                  <a:lnTo>
                    <a:pt x="104013" y="69342"/>
                  </a:lnTo>
                  <a:close/>
                </a:path>
              </a:pathLst>
            </a:custGeom>
            <a:solidFill>
              <a:srgbClr val="BE965D"/>
            </a:solidFill>
            <a:ln w="10401">
              <a:solidFill>
                <a:srgbClr val="776750"/>
              </a:solidFill>
              <a:prstDash val="solid"/>
            </a:ln>
          </p:spPr>
          <p:txBody>
            <a:bodyPr/>
            <a:lstStyle/>
            <a:p>
              <a:endParaRPr sz="1200"/>
            </a:p>
          </p:txBody>
        </p:sp>
        <p:sp>
          <p:nvSpPr>
            <p:cNvPr id="194" name="s2-shelter__line_194">
              <a:extLst>
                <a:ext uri="{FF2B5EF4-FFF2-40B4-BE49-F238E27FC236}">
                  <a16:creationId xmlns:a16="http://schemas.microsoft.com/office/drawing/2014/main" id="{CD85D792-3E13-4F2B-A857-2F1082F8B17D}"/>
                </a:ext>
              </a:extLst>
            </p:cNvPr>
            <p:cNvSpPr>
              <a:spLocks/>
            </p:cNvSpPr>
            <p:nvPr/>
          </p:nvSpPr>
          <p:spPr>
            <a:xfrm>
              <a:off x="3548063" y="2238756"/>
              <a:ext cx="294703" cy="208026"/>
            </a:xfrm>
            <a:custGeom>
              <a:avLst/>
              <a:gdLst/>
              <a:ahLst/>
              <a:cxnLst/>
              <a:rect l="0" t="0" r="0" b="0"/>
              <a:pathLst>
                <a:path w="442055" h="312039">
                  <a:moveTo>
                    <a:pt x="442055" y="0"/>
                  </a:moveTo>
                  <a:lnTo>
                    <a:pt x="0" y="312039"/>
                  </a:lnTo>
                </a:path>
              </a:pathLst>
            </a:custGeom>
            <a:noFill/>
            <a:ln w="12135">
              <a:solidFill>
                <a:srgbClr val="D4B480"/>
              </a:solidFill>
              <a:prstDash val="solid"/>
            </a:ln>
          </p:spPr>
          <p:txBody>
            <a:bodyPr/>
            <a:lstStyle/>
            <a:p>
              <a:endParaRPr sz="1200"/>
            </a:p>
          </p:txBody>
        </p:sp>
        <p:sp>
          <p:nvSpPr>
            <p:cNvPr id="195" name="s2-shelter__line_195">
              <a:extLst>
                <a:ext uri="{FF2B5EF4-FFF2-40B4-BE49-F238E27FC236}">
                  <a16:creationId xmlns:a16="http://schemas.microsoft.com/office/drawing/2014/main" id="{16A360E8-A975-46AE-A8F9-EC549F9EFAAE}"/>
                </a:ext>
              </a:extLst>
            </p:cNvPr>
            <p:cNvSpPr>
              <a:spLocks/>
            </p:cNvSpPr>
            <p:nvPr/>
          </p:nvSpPr>
          <p:spPr>
            <a:xfrm>
              <a:off x="3669411" y="2250313"/>
              <a:ext cx="190690" cy="202247"/>
            </a:xfrm>
            <a:custGeom>
              <a:avLst/>
              <a:gdLst/>
              <a:ahLst/>
              <a:cxnLst/>
              <a:rect l="0" t="0" r="0" b="0"/>
              <a:pathLst>
                <a:path w="286036" h="303371">
                  <a:moveTo>
                    <a:pt x="286036" y="0"/>
                  </a:moveTo>
                  <a:lnTo>
                    <a:pt x="0" y="303371"/>
                  </a:lnTo>
                </a:path>
              </a:pathLst>
            </a:custGeom>
            <a:noFill/>
            <a:ln w="12135">
              <a:solidFill>
                <a:srgbClr val="D4B480"/>
              </a:solidFill>
              <a:prstDash val="solid"/>
            </a:ln>
          </p:spPr>
          <p:txBody>
            <a:bodyPr/>
            <a:lstStyle/>
            <a:p>
              <a:endParaRPr sz="1200"/>
            </a:p>
          </p:txBody>
        </p:sp>
        <p:sp>
          <p:nvSpPr>
            <p:cNvPr id="196" name="s2-shelter__line_196">
              <a:extLst>
                <a:ext uri="{FF2B5EF4-FFF2-40B4-BE49-F238E27FC236}">
                  <a16:creationId xmlns:a16="http://schemas.microsoft.com/office/drawing/2014/main" id="{BE166476-1078-4D78-9102-1175E7A54EA6}"/>
                </a:ext>
              </a:extLst>
            </p:cNvPr>
            <p:cNvSpPr>
              <a:spLocks/>
            </p:cNvSpPr>
            <p:nvPr/>
          </p:nvSpPr>
          <p:spPr>
            <a:xfrm>
              <a:off x="3779203" y="2256091"/>
              <a:ext cx="98234" cy="190690"/>
            </a:xfrm>
            <a:custGeom>
              <a:avLst/>
              <a:gdLst/>
              <a:ahLst/>
              <a:cxnLst/>
              <a:rect l="0" t="0" r="0" b="0"/>
              <a:pathLst>
                <a:path w="147352" h="286036">
                  <a:moveTo>
                    <a:pt x="147352" y="0"/>
                  </a:moveTo>
                  <a:lnTo>
                    <a:pt x="0" y="286036"/>
                  </a:lnTo>
                </a:path>
              </a:pathLst>
            </a:custGeom>
            <a:noFill/>
            <a:ln w="12135">
              <a:solidFill>
                <a:srgbClr val="D4B480"/>
              </a:solidFill>
              <a:prstDash val="solid"/>
            </a:ln>
          </p:spPr>
          <p:txBody>
            <a:bodyPr/>
            <a:lstStyle/>
            <a:p>
              <a:endParaRPr sz="1200"/>
            </a:p>
          </p:txBody>
        </p:sp>
        <p:sp>
          <p:nvSpPr>
            <p:cNvPr id="197" name="s2-shelter__line_197">
              <a:extLst>
                <a:ext uri="{FF2B5EF4-FFF2-40B4-BE49-F238E27FC236}">
                  <a16:creationId xmlns:a16="http://schemas.microsoft.com/office/drawing/2014/main" id="{BA2C75E4-8229-40D1-97BC-8D71CED41DD8}"/>
                </a:ext>
              </a:extLst>
            </p:cNvPr>
            <p:cNvSpPr>
              <a:spLocks/>
            </p:cNvSpPr>
            <p:nvPr/>
          </p:nvSpPr>
          <p:spPr>
            <a:xfrm>
              <a:off x="3888994" y="2273427"/>
              <a:ext cx="40449" cy="179133"/>
            </a:xfrm>
            <a:custGeom>
              <a:avLst/>
              <a:gdLst/>
              <a:ahLst/>
              <a:cxnLst/>
              <a:rect l="0" t="0" r="0" b="0"/>
              <a:pathLst>
                <a:path w="60674" h="268700">
                  <a:moveTo>
                    <a:pt x="0" y="0"/>
                  </a:moveTo>
                  <a:lnTo>
                    <a:pt x="60674" y="268700"/>
                  </a:lnTo>
                </a:path>
              </a:pathLst>
            </a:custGeom>
            <a:noFill/>
            <a:ln w="12135">
              <a:solidFill>
                <a:srgbClr val="D4B480"/>
              </a:solidFill>
              <a:prstDash val="solid"/>
            </a:ln>
          </p:spPr>
          <p:txBody>
            <a:bodyPr/>
            <a:lstStyle/>
            <a:p>
              <a:endParaRPr sz="1200"/>
            </a:p>
          </p:txBody>
        </p:sp>
        <p:sp>
          <p:nvSpPr>
            <p:cNvPr id="198" name="s2-shelter__line_198">
              <a:extLst>
                <a:ext uri="{FF2B5EF4-FFF2-40B4-BE49-F238E27FC236}">
                  <a16:creationId xmlns:a16="http://schemas.microsoft.com/office/drawing/2014/main" id="{A354F7F1-A402-4C48-BF91-7338A51AB150}"/>
                </a:ext>
              </a:extLst>
            </p:cNvPr>
            <p:cNvSpPr>
              <a:spLocks/>
            </p:cNvSpPr>
            <p:nvPr/>
          </p:nvSpPr>
          <p:spPr>
            <a:xfrm>
              <a:off x="3906329" y="2267648"/>
              <a:ext cx="173355" cy="184912"/>
            </a:xfrm>
            <a:custGeom>
              <a:avLst/>
              <a:gdLst/>
              <a:ahLst/>
              <a:cxnLst/>
              <a:rect l="0" t="0" r="0" b="0"/>
              <a:pathLst>
                <a:path w="260033" h="277368">
                  <a:moveTo>
                    <a:pt x="0" y="0"/>
                  </a:moveTo>
                  <a:lnTo>
                    <a:pt x="260033" y="277368"/>
                  </a:lnTo>
                </a:path>
              </a:pathLst>
            </a:custGeom>
            <a:noFill/>
            <a:ln w="12135">
              <a:solidFill>
                <a:srgbClr val="D4B480"/>
              </a:solidFill>
              <a:prstDash val="solid"/>
            </a:ln>
          </p:spPr>
          <p:txBody>
            <a:bodyPr/>
            <a:lstStyle/>
            <a:p>
              <a:endParaRPr sz="1200"/>
            </a:p>
          </p:txBody>
        </p:sp>
        <p:sp>
          <p:nvSpPr>
            <p:cNvPr id="199" name="s2-shelter__line_199">
              <a:extLst>
                <a:ext uri="{FF2B5EF4-FFF2-40B4-BE49-F238E27FC236}">
                  <a16:creationId xmlns:a16="http://schemas.microsoft.com/office/drawing/2014/main" id="{67276671-F44C-469F-8639-03AEF0B7E97A}"/>
                </a:ext>
              </a:extLst>
            </p:cNvPr>
            <p:cNvSpPr>
              <a:spLocks/>
            </p:cNvSpPr>
            <p:nvPr/>
          </p:nvSpPr>
          <p:spPr>
            <a:xfrm>
              <a:off x="3923665" y="2284984"/>
              <a:ext cx="283146" cy="173355"/>
            </a:xfrm>
            <a:custGeom>
              <a:avLst/>
              <a:gdLst/>
              <a:ahLst/>
              <a:cxnLst/>
              <a:rect l="0" t="0" r="0" b="0"/>
              <a:pathLst>
                <a:path w="424720" h="260033">
                  <a:moveTo>
                    <a:pt x="0" y="0"/>
                  </a:moveTo>
                  <a:lnTo>
                    <a:pt x="424720" y="260033"/>
                  </a:lnTo>
                </a:path>
              </a:pathLst>
            </a:custGeom>
            <a:noFill/>
            <a:ln w="12135">
              <a:solidFill>
                <a:srgbClr val="D4B480"/>
              </a:solidFill>
              <a:prstDash val="solid"/>
            </a:ln>
          </p:spPr>
          <p:txBody>
            <a:bodyPr/>
            <a:lstStyle/>
            <a:p>
              <a:endParaRPr sz="1200"/>
            </a:p>
          </p:txBody>
        </p:sp>
        <p:sp>
          <p:nvSpPr>
            <p:cNvPr id="200" name="s2-shelter__line_200">
              <a:extLst>
                <a:ext uri="{FF2B5EF4-FFF2-40B4-BE49-F238E27FC236}">
                  <a16:creationId xmlns:a16="http://schemas.microsoft.com/office/drawing/2014/main" id="{A98E0099-F639-4D76-AB63-42E183D07A63}"/>
                </a:ext>
              </a:extLst>
            </p:cNvPr>
            <p:cNvSpPr>
              <a:spLocks/>
            </p:cNvSpPr>
            <p:nvPr/>
          </p:nvSpPr>
          <p:spPr>
            <a:xfrm>
              <a:off x="3594291" y="2747264"/>
              <a:ext cx="63" cy="98234"/>
            </a:xfrm>
            <a:custGeom>
              <a:avLst/>
              <a:gdLst/>
              <a:ahLst/>
              <a:cxnLst/>
              <a:rect l="0" t="0" r="0" b="0"/>
              <a:pathLst>
                <a:path w="95" h="147352">
                  <a:moveTo>
                    <a:pt x="0" y="0"/>
                  </a:moveTo>
                  <a:lnTo>
                    <a:pt x="0" y="147352"/>
                  </a:lnTo>
                </a:path>
              </a:pathLst>
            </a:custGeom>
            <a:noFill/>
            <a:ln w="8668">
              <a:solidFill>
                <a:srgbClr val="B4936E"/>
              </a:solidFill>
              <a:prstDash val="solid"/>
            </a:ln>
          </p:spPr>
          <p:txBody>
            <a:bodyPr/>
            <a:lstStyle/>
            <a:p>
              <a:endParaRPr sz="1200"/>
            </a:p>
          </p:txBody>
        </p:sp>
        <p:sp>
          <p:nvSpPr>
            <p:cNvPr id="201" name="s2-shelter__line_201">
              <a:extLst>
                <a:ext uri="{FF2B5EF4-FFF2-40B4-BE49-F238E27FC236}">
                  <a16:creationId xmlns:a16="http://schemas.microsoft.com/office/drawing/2014/main" id="{05089AEC-2ACB-45D2-80CD-90E1D3E98188}"/>
                </a:ext>
              </a:extLst>
            </p:cNvPr>
            <p:cNvSpPr>
              <a:spLocks/>
            </p:cNvSpPr>
            <p:nvPr/>
          </p:nvSpPr>
          <p:spPr>
            <a:xfrm>
              <a:off x="4131691" y="2741485"/>
              <a:ext cx="63" cy="104012"/>
            </a:xfrm>
            <a:custGeom>
              <a:avLst/>
              <a:gdLst/>
              <a:ahLst/>
              <a:cxnLst/>
              <a:rect l="0" t="0" r="0" b="0"/>
              <a:pathLst>
                <a:path w="95" h="156019">
                  <a:moveTo>
                    <a:pt x="0" y="0"/>
                  </a:moveTo>
                  <a:lnTo>
                    <a:pt x="0" y="156019"/>
                  </a:lnTo>
                </a:path>
              </a:pathLst>
            </a:custGeom>
            <a:noFill/>
            <a:ln w="8668">
              <a:solidFill>
                <a:srgbClr val="B4936E"/>
              </a:solidFill>
              <a:prstDash val="solid"/>
            </a:ln>
          </p:spPr>
          <p:txBody>
            <a:bodyPr/>
            <a:lstStyle/>
            <a:p>
              <a:endParaRPr sz="1200"/>
            </a:p>
          </p:txBody>
        </p:sp>
        <p:sp>
          <p:nvSpPr>
            <p:cNvPr id="202" name="s2-pen__rect_202">
              <a:extLst>
                <a:ext uri="{FF2B5EF4-FFF2-40B4-BE49-F238E27FC236}">
                  <a16:creationId xmlns:a16="http://schemas.microsoft.com/office/drawing/2014/main" id="{424997E3-B665-4BA1-892F-BE7DC9F74C73}"/>
                </a:ext>
              </a:extLst>
            </p:cNvPr>
            <p:cNvSpPr>
              <a:spLocks/>
            </p:cNvSpPr>
            <p:nvPr/>
          </p:nvSpPr>
          <p:spPr>
            <a:xfrm>
              <a:off x="3282950" y="3130550"/>
              <a:ext cx="2273300" cy="38100"/>
            </a:xfrm>
            <a:prstGeom prst="rect">
              <a:avLst/>
            </a:prstGeom>
            <a:solidFill>
              <a:srgbClr val="B29166"/>
            </a:solidFill>
            <a:ln w="9525">
              <a:solidFill>
                <a:srgbClr val="8D785C"/>
              </a:solidFill>
              <a:prstDash val="solid"/>
            </a:ln>
          </p:spPr>
          <p:txBody>
            <a:bodyPr/>
            <a:lstStyle/>
            <a:p>
              <a:endParaRPr sz="1200"/>
            </a:p>
          </p:txBody>
        </p:sp>
        <p:sp>
          <p:nvSpPr>
            <p:cNvPr id="203" name="s2-pen__rect_203">
              <a:extLst>
                <a:ext uri="{FF2B5EF4-FFF2-40B4-BE49-F238E27FC236}">
                  <a16:creationId xmlns:a16="http://schemas.microsoft.com/office/drawing/2014/main" id="{8471BC5D-6DCD-4B0F-9999-7FEA2ABEAA4F}"/>
                </a:ext>
              </a:extLst>
            </p:cNvPr>
            <p:cNvSpPr>
              <a:spLocks/>
            </p:cNvSpPr>
            <p:nvPr/>
          </p:nvSpPr>
          <p:spPr>
            <a:xfrm>
              <a:off x="3282950" y="3289300"/>
              <a:ext cx="2273300" cy="38100"/>
            </a:xfrm>
            <a:prstGeom prst="rect">
              <a:avLst/>
            </a:prstGeom>
            <a:solidFill>
              <a:srgbClr val="B29166"/>
            </a:solidFill>
            <a:ln w="9525">
              <a:solidFill>
                <a:srgbClr val="8D785C"/>
              </a:solidFill>
              <a:prstDash val="solid"/>
            </a:ln>
          </p:spPr>
          <p:txBody>
            <a:bodyPr/>
            <a:lstStyle/>
            <a:p>
              <a:endParaRPr sz="1200"/>
            </a:p>
          </p:txBody>
        </p:sp>
        <p:sp>
          <p:nvSpPr>
            <p:cNvPr id="204" name="s2-pen__rect_204">
              <a:extLst>
                <a:ext uri="{FF2B5EF4-FFF2-40B4-BE49-F238E27FC236}">
                  <a16:creationId xmlns:a16="http://schemas.microsoft.com/office/drawing/2014/main" id="{ADA42DD1-AD6A-4CED-A3BF-7EF129EC21B7}"/>
                </a:ext>
              </a:extLst>
            </p:cNvPr>
            <p:cNvSpPr>
              <a:spLocks/>
            </p:cNvSpPr>
            <p:nvPr/>
          </p:nvSpPr>
          <p:spPr>
            <a:xfrm>
              <a:off x="32829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5" name="s2-pen__rect_205">
              <a:extLst>
                <a:ext uri="{FF2B5EF4-FFF2-40B4-BE49-F238E27FC236}">
                  <a16:creationId xmlns:a16="http://schemas.microsoft.com/office/drawing/2014/main" id="{F2F037EC-4FC9-4A19-9A0E-D846FE5FD6FB}"/>
                </a:ext>
              </a:extLst>
            </p:cNvPr>
            <p:cNvSpPr>
              <a:spLocks/>
            </p:cNvSpPr>
            <p:nvPr/>
          </p:nvSpPr>
          <p:spPr>
            <a:xfrm>
              <a:off x="372491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6" name="s2-pen__rect_206">
              <a:extLst>
                <a:ext uri="{FF2B5EF4-FFF2-40B4-BE49-F238E27FC236}">
                  <a16:creationId xmlns:a16="http://schemas.microsoft.com/office/drawing/2014/main" id="{F306AD8B-89B9-4278-AA03-453028448857}"/>
                </a:ext>
              </a:extLst>
            </p:cNvPr>
            <p:cNvSpPr>
              <a:spLocks/>
            </p:cNvSpPr>
            <p:nvPr/>
          </p:nvSpPr>
          <p:spPr>
            <a:xfrm>
              <a:off x="416687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7" name="s2-pen__rect_207">
              <a:extLst>
                <a:ext uri="{FF2B5EF4-FFF2-40B4-BE49-F238E27FC236}">
                  <a16:creationId xmlns:a16="http://schemas.microsoft.com/office/drawing/2014/main" id="{4B0B1A4C-0BDC-4970-863A-E98A37ECDA1B}"/>
                </a:ext>
              </a:extLst>
            </p:cNvPr>
            <p:cNvSpPr>
              <a:spLocks/>
            </p:cNvSpPr>
            <p:nvPr/>
          </p:nvSpPr>
          <p:spPr>
            <a:xfrm>
              <a:off x="460883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8" name="s2-pen__rect_208">
              <a:extLst>
                <a:ext uri="{FF2B5EF4-FFF2-40B4-BE49-F238E27FC236}">
                  <a16:creationId xmlns:a16="http://schemas.microsoft.com/office/drawing/2014/main" id="{661C8F33-EF90-4A5B-A806-1F6CECC659F2}"/>
                </a:ext>
              </a:extLst>
            </p:cNvPr>
            <p:cNvSpPr>
              <a:spLocks/>
            </p:cNvSpPr>
            <p:nvPr/>
          </p:nvSpPr>
          <p:spPr>
            <a:xfrm>
              <a:off x="505079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9" name="s2-pen__rect_209">
              <a:extLst>
                <a:ext uri="{FF2B5EF4-FFF2-40B4-BE49-F238E27FC236}">
                  <a16:creationId xmlns:a16="http://schemas.microsoft.com/office/drawing/2014/main" id="{25D3406F-4CFC-49DB-B32A-701E67B064D9}"/>
                </a:ext>
              </a:extLst>
            </p:cNvPr>
            <p:cNvSpPr>
              <a:spLocks/>
            </p:cNvSpPr>
            <p:nvPr/>
          </p:nvSpPr>
          <p:spPr>
            <a:xfrm>
              <a:off x="54927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10" name="s2-keeper__ellipse_210">
              <a:extLst>
                <a:ext uri="{FF2B5EF4-FFF2-40B4-BE49-F238E27FC236}">
                  <a16:creationId xmlns:a16="http://schemas.microsoft.com/office/drawing/2014/main" id="{2AB9F1CD-929C-4B17-9084-983B1B536F7E}"/>
                </a:ext>
              </a:extLst>
            </p:cNvPr>
            <p:cNvSpPr>
              <a:spLocks/>
            </p:cNvSpPr>
            <p:nvPr/>
          </p:nvSpPr>
          <p:spPr>
            <a:xfrm>
              <a:off x="5154167" y="3295777"/>
              <a:ext cx="485394" cy="49783"/>
            </a:xfrm>
            <a:prstGeom prst="ellipse">
              <a:avLst/>
            </a:prstGeom>
            <a:solidFill>
              <a:srgbClr val="DCE2D6"/>
            </a:solidFill>
            <a:ln w="0">
              <a:noFill/>
              <a:prstDash val="solid"/>
            </a:ln>
          </p:spPr>
          <p:txBody>
            <a:bodyPr/>
            <a:lstStyle/>
            <a:p>
              <a:endParaRPr sz="1200"/>
            </a:p>
          </p:txBody>
        </p:sp>
        <p:sp>
          <p:nvSpPr>
            <p:cNvPr id="211" name="s2-keeper__contour_211">
              <a:extLst>
                <a:ext uri="{FF2B5EF4-FFF2-40B4-BE49-F238E27FC236}">
                  <a16:creationId xmlns:a16="http://schemas.microsoft.com/office/drawing/2014/main" id="{EFDF4A2C-415F-455B-8B7D-A3624DAC2F07}"/>
                </a:ext>
              </a:extLst>
            </p:cNvPr>
            <p:cNvSpPr>
              <a:spLocks/>
            </p:cNvSpPr>
            <p:nvPr/>
          </p:nvSpPr>
          <p:spPr>
            <a:xfrm>
              <a:off x="5459095" y="2922397"/>
              <a:ext cx="161798" cy="354711"/>
            </a:xfrm>
            <a:custGeom>
              <a:avLst/>
              <a:gdLst/>
              <a:ahLst/>
              <a:cxnLst/>
              <a:rect l="0" t="0" r="0" b="0"/>
              <a:pathLst>
                <a:path w="242697" h="532067">
                  <a:moveTo>
                    <a:pt x="0" y="0"/>
                  </a:moveTo>
                  <a:lnTo>
                    <a:pt x="37338" y="308038"/>
                  </a:lnTo>
                  <a:lnTo>
                    <a:pt x="140017" y="522732"/>
                  </a:lnTo>
                  <a:lnTo>
                    <a:pt x="242697" y="532067"/>
                  </a:lnTo>
                </a:path>
              </a:pathLst>
            </a:custGeom>
            <a:noFill/>
            <a:ln w="84011">
              <a:solidFill>
                <a:srgbClr val="5A625C"/>
              </a:solidFill>
              <a:prstDash val="solid"/>
            </a:ln>
          </p:spPr>
          <p:txBody>
            <a:bodyPr/>
            <a:lstStyle/>
            <a:p>
              <a:endParaRPr sz="1200"/>
            </a:p>
          </p:txBody>
        </p:sp>
        <p:sp>
          <p:nvSpPr>
            <p:cNvPr id="212" name="s2-keeper__contour_212">
              <a:extLst>
                <a:ext uri="{FF2B5EF4-FFF2-40B4-BE49-F238E27FC236}">
                  <a16:creationId xmlns:a16="http://schemas.microsoft.com/office/drawing/2014/main" id="{64D7B04A-14FC-4668-986D-2D05187E4FD4}"/>
                </a:ext>
              </a:extLst>
            </p:cNvPr>
            <p:cNvSpPr>
              <a:spLocks/>
            </p:cNvSpPr>
            <p:nvPr/>
          </p:nvSpPr>
          <p:spPr>
            <a:xfrm>
              <a:off x="5129275" y="2922397"/>
              <a:ext cx="230250" cy="336041"/>
            </a:xfrm>
            <a:custGeom>
              <a:avLst/>
              <a:gdLst/>
              <a:ahLst/>
              <a:cxnLst/>
              <a:rect l="0" t="0" r="0" b="0"/>
              <a:pathLst>
                <a:path w="345376" h="504063">
                  <a:moveTo>
                    <a:pt x="345376" y="0"/>
                  </a:moveTo>
                  <a:lnTo>
                    <a:pt x="224028" y="298704"/>
                  </a:lnTo>
                  <a:lnTo>
                    <a:pt x="93345" y="494728"/>
                  </a:lnTo>
                  <a:lnTo>
                    <a:pt x="0" y="504063"/>
                  </a:lnTo>
                </a:path>
              </a:pathLst>
            </a:custGeom>
            <a:noFill/>
            <a:ln w="84011">
              <a:solidFill>
                <a:srgbClr val="5A625C"/>
              </a:solidFill>
              <a:prstDash val="solid"/>
            </a:ln>
          </p:spPr>
          <p:txBody>
            <a:bodyPr/>
            <a:lstStyle/>
            <a:p>
              <a:endParaRPr sz="1200"/>
            </a:p>
          </p:txBody>
        </p:sp>
        <p:sp>
          <p:nvSpPr>
            <p:cNvPr id="213" name="s2-keeper__contour_213">
              <a:extLst>
                <a:ext uri="{FF2B5EF4-FFF2-40B4-BE49-F238E27FC236}">
                  <a16:creationId xmlns:a16="http://schemas.microsoft.com/office/drawing/2014/main" id="{7CEB3032-EB59-46E9-9170-F45B34F2076A}"/>
                </a:ext>
              </a:extLst>
            </p:cNvPr>
            <p:cNvSpPr>
              <a:spLocks/>
            </p:cNvSpPr>
            <p:nvPr/>
          </p:nvSpPr>
          <p:spPr>
            <a:xfrm>
              <a:off x="5291074" y="2615114"/>
              <a:ext cx="230250" cy="319728"/>
            </a:xfrm>
            <a:custGeom>
              <a:avLst/>
              <a:gdLst/>
              <a:ahLst/>
              <a:cxnLst/>
              <a:rect l="0" t="0" r="0" b="0"/>
              <a:pathLst>
                <a:path w="345376" h="479593">
                  <a:moveTo>
                    <a:pt x="308039" y="50206"/>
                  </a:moveTo>
                  <a:lnTo>
                    <a:pt x="297390" y="38005"/>
                  </a:lnTo>
                  <a:lnTo>
                    <a:pt x="284340" y="27537"/>
                  </a:lnTo>
                  <a:lnTo>
                    <a:pt x="269205" y="18764"/>
                  </a:lnTo>
                  <a:lnTo>
                    <a:pt x="252336" y="11697"/>
                  </a:lnTo>
                  <a:lnTo>
                    <a:pt x="234058" y="6296"/>
                  </a:lnTo>
                  <a:lnTo>
                    <a:pt x="214693" y="2562"/>
                  </a:lnTo>
                  <a:lnTo>
                    <a:pt x="194586" y="467"/>
                  </a:lnTo>
                  <a:lnTo>
                    <a:pt x="174060" y="0"/>
                  </a:lnTo>
                  <a:lnTo>
                    <a:pt x="153457" y="1143"/>
                  </a:lnTo>
                  <a:lnTo>
                    <a:pt x="133102" y="3877"/>
                  </a:lnTo>
                  <a:lnTo>
                    <a:pt x="113328" y="8192"/>
                  </a:lnTo>
                  <a:lnTo>
                    <a:pt x="94469" y="14059"/>
                  </a:lnTo>
                  <a:lnTo>
                    <a:pt x="76848" y="21479"/>
                  </a:lnTo>
                  <a:lnTo>
                    <a:pt x="60808" y="30423"/>
                  </a:lnTo>
                  <a:lnTo>
                    <a:pt x="46672" y="40872"/>
                  </a:lnTo>
                  <a:lnTo>
                    <a:pt x="0" y="479593"/>
                  </a:lnTo>
                  <a:lnTo>
                    <a:pt x="345376" y="479593"/>
                  </a:lnTo>
                  <a:close/>
                </a:path>
              </a:pathLst>
            </a:custGeom>
            <a:solidFill>
              <a:srgbClr val="7D9A90"/>
            </a:solidFill>
            <a:ln w="13068">
              <a:solidFill>
                <a:srgbClr val="566861"/>
              </a:solidFill>
              <a:prstDash val="solid"/>
            </a:ln>
          </p:spPr>
          <p:txBody>
            <a:bodyPr/>
            <a:lstStyle/>
            <a:p>
              <a:endParaRPr sz="1200"/>
            </a:p>
          </p:txBody>
        </p:sp>
        <p:sp>
          <p:nvSpPr>
            <p:cNvPr id="214" name="s2-keeper__ellipse_214">
              <a:extLst>
                <a:ext uri="{FF2B5EF4-FFF2-40B4-BE49-F238E27FC236}">
                  <a16:creationId xmlns:a16="http://schemas.microsoft.com/office/drawing/2014/main" id="{6F7C82BE-5AA9-45F2-B32A-C796A9A6C27E}"/>
                </a:ext>
              </a:extLst>
            </p:cNvPr>
            <p:cNvSpPr>
              <a:spLocks/>
            </p:cNvSpPr>
            <p:nvPr/>
          </p:nvSpPr>
          <p:spPr>
            <a:xfrm>
              <a:off x="5334635" y="2424557"/>
              <a:ext cx="161798" cy="192913"/>
            </a:xfrm>
            <a:prstGeom prst="ellipse">
              <a:avLst/>
            </a:prstGeom>
            <a:solidFill>
              <a:srgbClr val="BD8B67"/>
            </a:solidFill>
            <a:ln w="9335">
              <a:solidFill>
                <a:srgbClr val="6F6554"/>
              </a:solidFill>
              <a:prstDash val="solid"/>
            </a:ln>
          </p:spPr>
          <p:txBody>
            <a:bodyPr/>
            <a:lstStyle/>
            <a:p>
              <a:endParaRPr sz="1200"/>
            </a:p>
          </p:txBody>
        </p:sp>
        <p:sp>
          <p:nvSpPr>
            <p:cNvPr id="215" name="s2-keeper__contour_215">
              <a:extLst>
                <a:ext uri="{FF2B5EF4-FFF2-40B4-BE49-F238E27FC236}">
                  <a16:creationId xmlns:a16="http://schemas.microsoft.com/office/drawing/2014/main" id="{54F8351E-2FBA-4C9B-B3B6-0520C613E37D}"/>
                </a:ext>
              </a:extLst>
            </p:cNvPr>
            <p:cNvSpPr>
              <a:spLocks/>
            </p:cNvSpPr>
            <p:nvPr/>
          </p:nvSpPr>
          <p:spPr>
            <a:xfrm>
              <a:off x="5334635" y="2412060"/>
              <a:ext cx="171068" cy="118287"/>
            </a:xfrm>
            <a:custGeom>
              <a:avLst/>
              <a:gdLst/>
              <a:ahLst/>
              <a:cxnLst/>
              <a:rect l="0" t="0" r="0" b="0"/>
              <a:pathLst>
                <a:path w="256603" h="177432">
                  <a:moveTo>
                    <a:pt x="252031" y="177432"/>
                  </a:moveTo>
                  <a:lnTo>
                    <a:pt x="256603" y="140456"/>
                  </a:lnTo>
                  <a:lnTo>
                    <a:pt x="255775" y="107918"/>
                  </a:lnTo>
                  <a:lnTo>
                    <a:pt x="250088" y="79753"/>
                  </a:lnTo>
                  <a:lnTo>
                    <a:pt x="240125" y="55921"/>
                  </a:lnTo>
                  <a:lnTo>
                    <a:pt x="226447" y="36376"/>
                  </a:lnTo>
                  <a:lnTo>
                    <a:pt x="209617" y="21060"/>
                  </a:lnTo>
                  <a:lnTo>
                    <a:pt x="190195" y="9925"/>
                  </a:lnTo>
                  <a:lnTo>
                    <a:pt x="168745" y="2924"/>
                  </a:lnTo>
                  <a:lnTo>
                    <a:pt x="145847" y="0"/>
                  </a:lnTo>
                  <a:lnTo>
                    <a:pt x="122044" y="1114"/>
                  </a:lnTo>
                  <a:lnTo>
                    <a:pt x="97907" y="6210"/>
                  </a:lnTo>
                  <a:lnTo>
                    <a:pt x="74000" y="15240"/>
                  </a:lnTo>
                  <a:lnTo>
                    <a:pt x="50902" y="28146"/>
                  </a:lnTo>
                  <a:lnTo>
                    <a:pt x="29156" y="44891"/>
                  </a:lnTo>
                  <a:lnTo>
                    <a:pt x="9335" y="65418"/>
                  </a:lnTo>
                  <a:lnTo>
                    <a:pt x="0" y="149428"/>
                  </a:lnTo>
                  <a:lnTo>
                    <a:pt x="18307" y="133864"/>
                  </a:lnTo>
                  <a:lnTo>
                    <a:pt x="35957" y="120710"/>
                  </a:lnTo>
                  <a:lnTo>
                    <a:pt x="53016" y="109928"/>
                  </a:lnTo>
                  <a:lnTo>
                    <a:pt x="69590" y="101422"/>
                  </a:lnTo>
                  <a:lnTo>
                    <a:pt x="85735" y="95145"/>
                  </a:lnTo>
                  <a:lnTo>
                    <a:pt x="101556" y="91030"/>
                  </a:lnTo>
                  <a:lnTo>
                    <a:pt x="117129" y="89002"/>
                  </a:lnTo>
                  <a:lnTo>
                    <a:pt x="132540" y="89002"/>
                  </a:lnTo>
                  <a:lnTo>
                    <a:pt x="147857" y="90954"/>
                  </a:lnTo>
                  <a:lnTo>
                    <a:pt x="163182" y="94802"/>
                  </a:lnTo>
                  <a:lnTo>
                    <a:pt x="178584" y="100479"/>
                  </a:lnTo>
                  <a:lnTo>
                    <a:pt x="194158" y="107909"/>
                  </a:lnTo>
                  <a:lnTo>
                    <a:pt x="209979" y="117034"/>
                  </a:lnTo>
                  <a:lnTo>
                    <a:pt x="226133" y="127787"/>
                  </a:lnTo>
                  <a:lnTo>
                    <a:pt x="242697" y="140094"/>
                  </a:lnTo>
                  <a:close/>
                </a:path>
              </a:pathLst>
            </a:custGeom>
            <a:solidFill>
              <a:srgbClr val="4E4D40"/>
            </a:solidFill>
            <a:ln w="15869">
              <a:noFill/>
              <a:prstDash val="solid"/>
            </a:ln>
          </p:spPr>
          <p:txBody>
            <a:bodyPr/>
            <a:lstStyle/>
            <a:p>
              <a:endParaRPr sz="1200"/>
            </a:p>
          </p:txBody>
        </p:sp>
        <p:sp>
          <p:nvSpPr>
            <p:cNvPr id="216" name="s2-keeper__path_216">
              <a:extLst>
                <a:ext uri="{FF2B5EF4-FFF2-40B4-BE49-F238E27FC236}">
                  <a16:creationId xmlns:a16="http://schemas.microsoft.com/office/drawing/2014/main" id="{60F7AD66-5808-448F-99D0-07DF16A05504}"/>
                </a:ext>
              </a:extLst>
            </p:cNvPr>
            <p:cNvSpPr>
              <a:spLocks/>
            </p:cNvSpPr>
            <p:nvPr/>
          </p:nvSpPr>
          <p:spPr>
            <a:xfrm>
              <a:off x="5309742" y="2517902"/>
              <a:ext cx="37338" cy="43561"/>
            </a:xfrm>
            <a:custGeom>
              <a:avLst/>
              <a:gdLst/>
              <a:ahLst/>
              <a:cxnLst/>
              <a:rect l="0" t="0" r="0" b="0"/>
              <a:pathLst>
                <a:path w="56007" h="65342">
                  <a:moveTo>
                    <a:pt x="56007" y="0"/>
                  </a:moveTo>
                  <a:lnTo>
                    <a:pt x="0" y="37338"/>
                  </a:lnTo>
                  <a:lnTo>
                    <a:pt x="56007" y="65342"/>
                  </a:lnTo>
                  <a:close/>
                </a:path>
              </a:pathLst>
            </a:custGeom>
            <a:solidFill>
              <a:srgbClr val="BD8B67"/>
            </a:solidFill>
            <a:ln w="7468">
              <a:solidFill>
                <a:srgbClr val="6F6554"/>
              </a:solidFill>
              <a:prstDash val="solid"/>
            </a:ln>
          </p:spPr>
          <p:txBody>
            <a:bodyPr/>
            <a:lstStyle/>
            <a:p>
              <a:endParaRPr sz="1200"/>
            </a:p>
          </p:txBody>
        </p:sp>
        <p:sp>
          <p:nvSpPr>
            <p:cNvPr id="217" name="s2-keeper__ellipse_217">
              <a:extLst>
                <a:ext uri="{FF2B5EF4-FFF2-40B4-BE49-F238E27FC236}">
                  <a16:creationId xmlns:a16="http://schemas.microsoft.com/office/drawing/2014/main" id="{8A63620E-233F-4023-A4A1-8557507BFE8E}"/>
                </a:ext>
              </a:extLst>
            </p:cNvPr>
            <p:cNvSpPr>
              <a:spLocks/>
            </p:cNvSpPr>
            <p:nvPr/>
          </p:nvSpPr>
          <p:spPr>
            <a:xfrm>
              <a:off x="5359527" y="2505456"/>
              <a:ext cx="12446" cy="12445"/>
            </a:xfrm>
            <a:prstGeom prst="ellipse">
              <a:avLst/>
            </a:prstGeom>
            <a:solidFill>
              <a:srgbClr val="333E34"/>
            </a:solidFill>
            <a:ln w="0">
              <a:noFill/>
              <a:prstDash val="solid"/>
            </a:ln>
          </p:spPr>
          <p:txBody>
            <a:bodyPr/>
            <a:lstStyle/>
            <a:p>
              <a:endParaRPr sz="1200"/>
            </a:p>
          </p:txBody>
        </p:sp>
        <p:sp>
          <p:nvSpPr>
            <p:cNvPr id="218" name="s2-keeper__contour_218">
              <a:extLst>
                <a:ext uri="{FF2B5EF4-FFF2-40B4-BE49-F238E27FC236}">
                  <a16:creationId xmlns:a16="http://schemas.microsoft.com/office/drawing/2014/main" id="{2A9C59D7-0459-4826-8E29-778A57A7EF59}"/>
                </a:ext>
              </a:extLst>
            </p:cNvPr>
            <p:cNvSpPr>
              <a:spLocks/>
            </p:cNvSpPr>
            <p:nvPr/>
          </p:nvSpPr>
          <p:spPr>
            <a:xfrm>
              <a:off x="5098161" y="2673477"/>
              <a:ext cx="242697" cy="130683"/>
            </a:xfrm>
            <a:custGeom>
              <a:avLst/>
              <a:gdLst/>
              <a:ahLst/>
              <a:cxnLst/>
              <a:rect l="0" t="0" r="0" b="0"/>
              <a:pathLst>
                <a:path w="364046" h="196025">
                  <a:moveTo>
                    <a:pt x="364046" y="0"/>
                  </a:moveTo>
                  <a:lnTo>
                    <a:pt x="224028" y="196025"/>
                  </a:lnTo>
                  <a:lnTo>
                    <a:pt x="0" y="177356"/>
                  </a:lnTo>
                </a:path>
              </a:pathLst>
            </a:custGeom>
            <a:noFill/>
            <a:ln w="84011">
              <a:solidFill>
                <a:srgbClr val="BD8B67"/>
              </a:solidFill>
              <a:prstDash val="solid"/>
            </a:ln>
          </p:spPr>
          <p:txBody>
            <a:bodyPr/>
            <a:lstStyle/>
            <a:p>
              <a:endParaRPr sz="1200"/>
            </a:p>
          </p:txBody>
        </p:sp>
        <p:sp>
          <p:nvSpPr>
            <p:cNvPr id="219" name="s2-keeper__contour_219">
              <a:extLst>
                <a:ext uri="{FF2B5EF4-FFF2-40B4-BE49-F238E27FC236}">
                  <a16:creationId xmlns:a16="http://schemas.microsoft.com/office/drawing/2014/main" id="{80C82DB3-E1C7-4012-8A75-1FD8E0DF477F}"/>
                </a:ext>
              </a:extLst>
            </p:cNvPr>
            <p:cNvSpPr>
              <a:spLocks/>
            </p:cNvSpPr>
            <p:nvPr/>
          </p:nvSpPr>
          <p:spPr>
            <a:xfrm>
              <a:off x="5278628" y="2667254"/>
              <a:ext cx="62230" cy="74675"/>
            </a:xfrm>
            <a:custGeom>
              <a:avLst/>
              <a:gdLst/>
              <a:ahLst/>
              <a:cxnLst/>
              <a:rect l="0" t="0" r="0" b="0"/>
              <a:pathLst>
                <a:path w="93345" h="112014">
                  <a:moveTo>
                    <a:pt x="93345" y="0"/>
                  </a:moveTo>
                  <a:lnTo>
                    <a:pt x="0" y="112014"/>
                  </a:lnTo>
                </a:path>
              </a:pathLst>
            </a:custGeom>
            <a:noFill/>
            <a:ln w="112014">
              <a:solidFill>
                <a:srgbClr val="7D9A90"/>
              </a:solidFill>
              <a:prstDash val="solid"/>
            </a:ln>
          </p:spPr>
          <p:txBody>
            <a:bodyPr/>
            <a:lstStyle/>
            <a:p>
              <a:endParaRPr sz="1200"/>
            </a:p>
          </p:txBody>
        </p:sp>
        <p:sp>
          <p:nvSpPr>
            <p:cNvPr id="220" name="s2-keeper__ellipse_220">
              <a:extLst>
                <a:ext uri="{FF2B5EF4-FFF2-40B4-BE49-F238E27FC236}">
                  <a16:creationId xmlns:a16="http://schemas.microsoft.com/office/drawing/2014/main" id="{39907499-2386-4B4B-A2B4-760C451C891C}"/>
                </a:ext>
              </a:extLst>
            </p:cNvPr>
            <p:cNvSpPr>
              <a:spLocks/>
            </p:cNvSpPr>
            <p:nvPr/>
          </p:nvSpPr>
          <p:spPr>
            <a:xfrm>
              <a:off x="5060823" y="2760599"/>
              <a:ext cx="56007" cy="49783"/>
            </a:xfrm>
            <a:prstGeom prst="ellipse">
              <a:avLst/>
            </a:prstGeom>
            <a:solidFill>
              <a:srgbClr val="BD8B67"/>
            </a:solidFill>
            <a:ln w="0">
              <a:noFill/>
              <a:prstDash val="solid"/>
            </a:ln>
          </p:spPr>
          <p:txBody>
            <a:bodyPr/>
            <a:lstStyle/>
            <a:p>
              <a:endParaRPr sz="1200"/>
            </a:p>
          </p:txBody>
        </p:sp>
        <p:sp>
          <p:nvSpPr>
            <p:cNvPr id="221" name="s2-keeper__contour_221">
              <a:extLst>
                <a:ext uri="{FF2B5EF4-FFF2-40B4-BE49-F238E27FC236}">
                  <a16:creationId xmlns:a16="http://schemas.microsoft.com/office/drawing/2014/main" id="{9FA6D617-CA25-4855-8399-AE07B707466F}"/>
                </a:ext>
              </a:extLst>
            </p:cNvPr>
            <p:cNvSpPr>
              <a:spLocks/>
            </p:cNvSpPr>
            <p:nvPr/>
          </p:nvSpPr>
          <p:spPr>
            <a:xfrm>
              <a:off x="5434203" y="2685923"/>
              <a:ext cx="93345" cy="149351"/>
            </a:xfrm>
            <a:custGeom>
              <a:avLst/>
              <a:gdLst/>
              <a:ahLst/>
              <a:cxnLst/>
              <a:rect l="0" t="0" r="0" b="0"/>
              <a:pathLst>
                <a:path w="140018" h="224028">
                  <a:moveTo>
                    <a:pt x="102679" y="0"/>
                  </a:moveTo>
                  <a:lnTo>
                    <a:pt x="140018" y="177356"/>
                  </a:lnTo>
                  <a:lnTo>
                    <a:pt x="0" y="224028"/>
                  </a:lnTo>
                </a:path>
              </a:pathLst>
            </a:custGeom>
            <a:noFill/>
            <a:ln w="74676">
              <a:solidFill>
                <a:srgbClr val="BD8B67"/>
              </a:solidFill>
              <a:prstDash val="solid"/>
            </a:ln>
          </p:spPr>
          <p:txBody>
            <a:bodyPr/>
            <a:lstStyle/>
            <a:p>
              <a:endParaRPr sz="1200"/>
            </a:p>
          </p:txBody>
        </p:sp>
        <p:sp>
          <p:nvSpPr>
            <p:cNvPr id="222" name="s2-keeper__contour_222">
              <a:extLst>
                <a:ext uri="{FF2B5EF4-FFF2-40B4-BE49-F238E27FC236}">
                  <a16:creationId xmlns:a16="http://schemas.microsoft.com/office/drawing/2014/main" id="{10F0DE54-72B5-4A4B-AB53-5E08BD7E53A4}"/>
                </a:ext>
              </a:extLst>
            </p:cNvPr>
            <p:cNvSpPr>
              <a:spLocks/>
            </p:cNvSpPr>
            <p:nvPr/>
          </p:nvSpPr>
          <p:spPr>
            <a:xfrm>
              <a:off x="5496433" y="2673477"/>
              <a:ext cx="18668" cy="56006"/>
            </a:xfrm>
            <a:custGeom>
              <a:avLst/>
              <a:gdLst/>
              <a:ahLst/>
              <a:cxnLst/>
              <a:rect l="0" t="0" r="0" b="0"/>
              <a:pathLst>
                <a:path w="28003" h="84010">
                  <a:moveTo>
                    <a:pt x="0" y="0"/>
                  </a:moveTo>
                  <a:lnTo>
                    <a:pt x="28003" y="84010"/>
                  </a:lnTo>
                </a:path>
              </a:pathLst>
            </a:custGeom>
            <a:noFill/>
            <a:ln w="102680">
              <a:solidFill>
                <a:srgbClr val="7D9A90"/>
              </a:solidFill>
              <a:prstDash val="solid"/>
            </a:ln>
          </p:spPr>
          <p:txBody>
            <a:bodyPr/>
            <a:lstStyle/>
            <a:p>
              <a:endParaRPr sz="1200"/>
            </a:p>
          </p:txBody>
        </p:sp>
        <p:sp>
          <p:nvSpPr>
            <p:cNvPr id="223" name="s2-managed-rooster__ellipse_223">
              <a:extLst>
                <a:ext uri="{FF2B5EF4-FFF2-40B4-BE49-F238E27FC236}">
                  <a16:creationId xmlns:a16="http://schemas.microsoft.com/office/drawing/2014/main" id="{EB268812-F052-43A5-B434-9F4DAA069504}"/>
                </a:ext>
              </a:extLst>
            </p:cNvPr>
            <p:cNvSpPr>
              <a:spLocks/>
            </p:cNvSpPr>
            <p:nvPr/>
          </p:nvSpPr>
          <p:spPr>
            <a:xfrm>
              <a:off x="3521329" y="4066287"/>
              <a:ext cx="497205" cy="49720"/>
            </a:xfrm>
            <a:prstGeom prst="ellipse">
              <a:avLst/>
            </a:prstGeom>
            <a:solidFill>
              <a:srgbClr val="DCE2D6">
                <a:alpha val="80000"/>
              </a:srgbClr>
            </a:solidFill>
            <a:ln w="0">
              <a:noFill/>
              <a:prstDash val="solid"/>
            </a:ln>
          </p:spPr>
          <p:txBody>
            <a:bodyPr/>
            <a:lstStyle/>
            <a:p>
              <a:endParaRPr sz="1200"/>
            </a:p>
          </p:txBody>
        </p:sp>
        <p:sp>
          <p:nvSpPr>
            <p:cNvPr id="224" name="s2-managed-rooster__contour_224">
              <a:extLst>
                <a:ext uri="{FF2B5EF4-FFF2-40B4-BE49-F238E27FC236}">
                  <a16:creationId xmlns:a16="http://schemas.microsoft.com/office/drawing/2014/main" id="{7A1F69A6-3C16-4187-9B93-B20C0717818A}"/>
                </a:ext>
              </a:extLst>
            </p:cNvPr>
            <p:cNvSpPr>
              <a:spLocks/>
            </p:cNvSpPr>
            <p:nvPr/>
          </p:nvSpPr>
          <p:spPr>
            <a:xfrm>
              <a:off x="3290049" y="3413748"/>
              <a:ext cx="409352" cy="403935"/>
            </a:xfrm>
            <a:custGeom>
              <a:avLst/>
              <a:gdLst/>
              <a:ahLst/>
              <a:cxnLst/>
              <a:rect l="0" t="0" r="0" b="0"/>
              <a:pathLst>
                <a:path w="614029" h="605904">
                  <a:moveTo>
                    <a:pt x="562375" y="605904"/>
                  </a:moveTo>
                  <a:lnTo>
                    <a:pt x="523684" y="591131"/>
                  </a:lnTo>
                  <a:lnTo>
                    <a:pt x="487108" y="573491"/>
                  </a:lnTo>
                  <a:lnTo>
                    <a:pt x="452523" y="553202"/>
                  </a:lnTo>
                  <a:lnTo>
                    <a:pt x="419852" y="530476"/>
                  </a:lnTo>
                  <a:lnTo>
                    <a:pt x="388963" y="505539"/>
                  </a:lnTo>
                  <a:lnTo>
                    <a:pt x="359778" y="478622"/>
                  </a:lnTo>
                  <a:lnTo>
                    <a:pt x="332184" y="449932"/>
                  </a:lnTo>
                  <a:lnTo>
                    <a:pt x="306076" y="419691"/>
                  </a:lnTo>
                  <a:lnTo>
                    <a:pt x="281359" y="388125"/>
                  </a:lnTo>
                  <a:lnTo>
                    <a:pt x="257918" y="355463"/>
                  </a:lnTo>
                  <a:lnTo>
                    <a:pt x="235648" y="321907"/>
                  </a:lnTo>
                  <a:lnTo>
                    <a:pt x="214465" y="287693"/>
                  </a:lnTo>
                  <a:lnTo>
                    <a:pt x="194253" y="253032"/>
                  </a:lnTo>
                  <a:lnTo>
                    <a:pt x="174908" y="218161"/>
                  </a:lnTo>
                  <a:lnTo>
                    <a:pt x="156324" y="183280"/>
                  </a:lnTo>
                  <a:lnTo>
                    <a:pt x="140198" y="173107"/>
                  </a:lnTo>
                  <a:lnTo>
                    <a:pt x="125025" y="165783"/>
                  </a:lnTo>
                  <a:lnTo>
                    <a:pt x="110842" y="161268"/>
                  </a:lnTo>
                  <a:lnTo>
                    <a:pt x="97726" y="159544"/>
                  </a:lnTo>
                  <a:lnTo>
                    <a:pt x="85735" y="160572"/>
                  </a:lnTo>
                  <a:lnTo>
                    <a:pt x="74914" y="164316"/>
                  </a:lnTo>
                  <a:lnTo>
                    <a:pt x="65332" y="170764"/>
                  </a:lnTo>
                  <a:lnTo>
                    <a:pt x="57055" y="179880"/>
                  </a:lnTo>
                  <a:lnTo>
                    <a:pt x="50121" y="191633"/>
                  </a:lnTo>
                  <a:lnTo>
                    <a:pt x="44606" y="205988"/>
                  </a:lnTo>
                  <a:lnTo>
                    <a:pt x="40567" y="222933"/>
                  </a:lnTo>
                  <a:lnTo>
                    <a:pt x="38052" y="242411"/>
                  </a:lnTo>
                  <a:lnTo>
                    <a:pt x="37138" y="264424"/>
                  </a:lnTo>
                  <a:lnTo>
                    <a:pt x="37871" y="288912"/>
                  </a:lnTo>
                  <a:lnTo>
                    <a:pt x="40310" y="315868"/>
                  </a:lnTo>
                  <a:lnTo>
                    <a:pt x="28156" y="303105"/>
                  </a:lnTo>
                  <a:lnTo>
                    <a:pt x="18193" y="288217"/>
                  </a:lnTo>
                  <a:lnTo>
                    <a:pt x="10411" y="271520"/>
                  </a:lnTo>
                  <a:lnTo>
                    <a:pt x="4801" y="253317"/>
                  </a:lnTo>
                  <a:lnTo>
                    <a:pt x="1333" y="233924"/>
                  </a:lnTo>
                  <a:lnTo>
                    <a:pt x="0" y="213646"/>
                  </a:lnTo>
                  <a:lnTo>
                    <a:pt x="800" y="192786"/>
                  </a:lnTo>
                  <a:lnTo>
                    <a:pt x="3696" y="171669"/>
                  </a:lnTo>
                  <a:lnTo>
                    <a:pt x="8687" y="150600"/>
                  </a:lnTo>
                  <a:lnTo>
                    <a:pt x="15754" y="129873"/>
                  </a:lnTo>
                  <a:lnTo>
                    <a:pt x="24889" y="109823"/>
                  </a:lnTo>
                  <a:lnTo>
                    <a:pt x="36071" y="90735"/>
                  </a:lnTo>
                  <a:lnTo>
                    <a:pt x="49282" y="72933"/>
                  </a:lnTo>
                  <a:lnTo>
                    <a:pt x="64513" y="56721"/>
                  </a:lnTo>
                  <a:lnTo>
                    <a:pt x="81744" y="42405"/>
                  </a:lnTo>
                  <a:lnTo>
                    <a:pt x="119520" y="22555"/>
                  </a:lnTo>
                  <a:lnTo>
                    <a:pt x="156553" y="9154"/>
                  </a:lnTo>
                  <a:lnTo>
                    <a:pt x="192786" y="1772"/>
                  </a:lnTo>
                  <a:lnTo>
                    <a:pt x="228133" y="0"/>
                  </a:lnTo>
                  <a:lnTo>
                    <a:pt x="262519" y="3429"/>
                  </a:lnTo>
                  <a:lnTo>
                    <a:pt x="295875" y="11649"/>
                  </a:lnTo>
                  <a:lnTo>
                    <a:pt x="328127" y="24241"/>
                  </a:lnTo>
                  <a:lnTo>
                    <a:pt x="359197" y="40796"/>
                  </a:lnTo>
                  <a:lnTo>
                    <a:pt x="389020" y="60903"/>
                  </a:lnTo>
                  <a:lnTo>
                    <a:pt x="417509" y="84144"/>
                  </a:lnTo>
                  <a:lnTo>
                    <a:pt x="444608" y="110119"/>
                  </a:lnTo>
                  <a:lnTo>
                    <a:pt x="470230" y="138398"/>
                  </a:lnTo>
                  <a:lnTo>
                    <a:pt x="494300" y="168583"/>
                  </a:lnTo>
                  <a:lnTo>
                    <a:pt x="516750" y="200254"/>
                  </a:lnTo>
                  <a:lnTo>
                    <a:pt x="537515" y="233001"/>
                  </a:lnTo>
                  <a:lnTo>
                    <a:pt x="550116" y="256099"/>
                  </a:lnTo>
                  <a:lnTo>
                    <a:pt x="561442" y="278987"/>
                  </a:lnTo>
                  <a:lnTo>
                    <a:pt x="571519" y="301685"/>
                  </a:lnTo>
                  <a:lnTo>
                    <a:pt x="580415" y="324202"/>
                  </a:lnTo>
                  <a:lnTo>
                    <a:pt x="588159" y="346558"/>
                  </a:lnTo>
                  <a:lnTo>
                    <a:pt x="594789" y="368770"/>
                  </a:lnTo>
                  <a:lnTo>
                    <a:pt x="600370" y="390849"/>
                  </a:lnTo>
                  <a:lnTo>
                    <a:pt x="604933" y="412814"/>
                  </a:lnTo>
                  <a:lnTo>
                    <a:pt x="608514" y="434664"/>
                  </a:lnTo>
                  <a:lnTo>
                    <a:pt x="611172" y="456438"/>
                  </a:lnTo>
                  <a:lnTo>
                    <a:pt x="612953" y="478136"/>
                  </a:lnTo>
                  <a:lnTo>
                    <a:pt x="613886" y="499767"/>
                  </a:lnTo>
                  <a:lnTo>
                    <a:pt x="614029" y="521360"/>
                  </a:lnTo>
                  <a:lnTo>
                    <a:pt x="613410" y="542925"/>
                  </a:lnTo>
                  <a:lnTo>
                    <a:pt x="612096" y="564471"/>
                  </a:lnTo>
                  <a:close/>
                </a:path>
              </a:pathLst>
            </a:custGeom>
            <a:solidFill>
              <a:srgbClr val="67644D"/>
            </a:solidFill>
            <a:ln w="14087">
              <a:solidFill>
                <a:srgbClr val="4A5147"/>
              </a:solidFill>
              <a:prstDash val="solid"/>
            </a:ln>
          </p:spPr>
          <p:txBody>
            <a:bodyPr/>
            <a:lstStyle/>
            <a:p>
              <a:endParaRPr sz="1200"/>
            </a:p>
          </p:txBody>
        </p:sp>
        <p:sp>
          <p:nvSpPr>
            <p:cNvPr id="225" name="s2-managed-rooster__contour_225">
              <a:extLst>
                <a:ext uri="{FF2B5EF4-FFF2-40B4-BE49-F238E27FC236}">
                  <a16:creationId xmlns:a16="http://schemas.microsoft.com/office/drawing/2014/main" id="{6774727A-AD1E-4E7D-9763-A56309E021F1}"/>
                </a:ext>
              </a:extLst>
            </p:cNvPr>
            <p:cNvSpPr>
              <a:spLocks/>
            </p:cNvSpPr>
            <p:nvPr/>
          </p:nvSpPr>
          <p:spPr>
            <a:xfrm>
              <a:off x="3298628" y="3538849"/>
              <a:ext cx="388436" cy="289883"/>
            </a:xfrm>
            <a:custGeom>
              <a:avLst/>
              <a:gdLst/>
              <a:ahLst/>
              <a:cxnLst/>
              <a:rect l="0" t="0" r="0" b="0"/>
              <a:pathLst>
                <a:path w="582654" h="434826">
                  <a:moveTo>
                    <a:pt x="524647" y="434826"/>
                  </a:moveTo>
                  <a:lnTo>
                    <a:pt x="489461" y="409680"/>
                  </a:lnTo>
                  <a:lnTo>
                    <a:pt x="456638" y="384153"/>
                  </a:lnTo>
                  <a:lnTo>
                    <a:pt x="425872" y="358521"/>
                  </a:lnTo>
                  <a:lnTo>
                    <a:pt x="396869" y="333070"/>
                  </a:lnTo>
                  <a:lnTo>
                    <a:pt x="369351" y="308067"/>
                  </a:lnTo>
                  <a:lnTo>
                    <a:pt x="343005" y="283807"/>
                  </a:lnTo>
                  <a:lnTo>
                    <a:pt x="317535" y="260566"/>
                  </a:lnTo>
                  <a:lnTo>
                    <a:pt x="292665" y="238611"/>
                  </a:lnTo>
                  <a:lnTo>
                    <a:pt x="268091" y="218246"/>
                  </a:lnTo>
                  <a:lnTo>
                    <a:pt x="243507" y="199730"/>
                  </a:lnTo>
                  <a:lnTo>
                    <a:pt x="218637" y="183347"/>
                  </a:lnTo>
                  <a:lnTo>
                    <a:pt x="193177" y="169383"/>
                  </a:lnTo>
                  <a:lnTo>
                    <a:pt x="166830" y="158115"/>
                  </a:lnTo>
                  <a:lnTo>
                    <a:pt x="139303" y="149828"/>
                  </a:lnTo>
                  <a:lnTo>
                    <a:pt x="110309" y="144790"/>
                  </a:lnTo>
                  <a:lnTo>
                    <a:pt x="99155" y="147314"/>
                  </a:lnTo>
                  <a:lnTo>
                    <a:pt x="88897" y="151524"/>
                  </a:lnTo>
                  <a:lnTo>
                    <a:pt x="79553" y="157315"/>
                  </a:lnTo>
                  <a:lnTo>
                    <a:pt x="71133" y="164621"/>
                  </a:lnTo>
                  <a:lnTo>
                    <a:pt x="63656" y="173336"/>
                  </a:lnTo>
                  <a:lnTo>
                    <a:pt x="57140" y="183375"/>
                  </a:lnTo>
                  <a:lnTo>
                    <a:pt x="51597" y="194653"/>
                  </a:lnTo>
                  <a:lnTo>
                    <a:pt x="47044" y="207074"/>
                  </a:lnTo>
                  <a:lnTo>
                    <a:pt x="43482" y="220561"/>
                  </a:lnTo>
                  <a:lnTo>
                    <a:pt x="40948" y="235020"/>
                  </a:lnTo>
                  <a:lnTo>
                    <a:pt x="39443" y="250365"/>
                  </a:lnTo>
                  <a:lnTo>
                    <a:pt x="38976" y="266510"/>
                  </a:lnTo>
                  <a:lnTo>
                    <a:pt x="39576" y="283350"/>
                  </a:lnTo>
                  <a:lnTo>
                    <a:pt x="41253" y="300819"/>
                  </a:lnTo>
                  <a:lnTo>
                    <a:pt x="44015" y="318811"/>
                  </a:lnTo>
                  <a:lnTo>
                    <a:pt x="29080" y="292113"/>
                  </a:lnTo>
                  <a:lnTo>
                    <a:pt x="17345" y="265205"/>
                  </a:lnTo>
                  <a:lnTo>
                    <a:pt x="8677" y="238335"/>
                  </a:lnTo>
                  <a:lnTo>
                    <a:pt x="2981" y="211722"/>
                  </a:lnTo>
                  <a:lnTo>
                    <a:pt x="124" y="185614"/>
                  </a:lnTo>
                  <a:lnTo>
                    <a:pt x="0" y="160239"/>
                  </a:lnTo>
                  <a:lnTo>
                    <a:pt x="2476" y="135836"/>
                  </a:lnTo>
                  <a:lnTo>
                    <a:pt x="7439" y="112643"/>
                  </a:lnTo>
                  <a:lnTo>
                    <a:pt x="14783" y="90897"/>
                  </a:lnTo>
                  <a:lnTo>
                    <a:pt x="24374" y="70818"/>
                  </a:lnTo>
                  <a:lnTo>
                    <a:pt x="36100" y="52664"/>
                  </a:lnTo>
                  <a:lnTo>
                    <a:pt x="49844" y="36662"/>
                  </a:lnTo>
                  <a:lnTo>
                    <a:pt x="65494" y="23051"/>
                  </a:lnTo>
                  <a:lnTo>
                    <a:pt x="82925" y="12049"/>
                  </a:lnTo>
                  <a:lnTo>
                    <a:pt x="102022" y="3915"/>
                  </a:lnTo>
                  <a:lnTo>
                    <a:pt x="135265" y="0"/>
                  </a:lnTo>
                  <a:lnTo>
                    <a:pt x="168659" y="1295"/>
                  </a:lnTo>
                  <a:lnTo>
                    <a:pt x="202130" y="7496"/>
                  </a:lnTo>
                  <a:lnTo>
                    <a:pt x="235591" y="18298"/>
                  </a:lnTo>
                  <a:lnTo>
                    <a:pt x="268986" y="33376"/>
                  </a:lnTo>
                  <a:lnTo>
                    <a:pt x="302228" y="52445"/>
                  </a:lnTo>
                  <a:lnTo>
                    <a:pt x="335251" y="75171"/>
                  </a:lnTo>
                  <a:lnTo>
                    <a:pt x="367979" y="101260"/>
                  </a:lnTo>
                  <a:lnTo>
                    <a:pt x="400345" y="130407"/>
                  </a:lnTo>
                  <a:lnTo>
                    <a:pt x="432264" y="162287"/>
                  </a:lnTo>
                  <a:lnTo>
                    <a:pt x="463667" y="196596"/>
                  </a:lnTo>
                  <a:lnTo>
                    <a:pt x="494481" y="233029"/>
                  </a:lnTo>
                  <a:lnTo>
                    <a:pt x="524637" y="271272"/>
                  </a:lnTo>
                  <a:lnTo>
                    <a:pt x="554050" y="311020"/>
                  </a:lnTo>
                  <a:lnTo>
                    <a:pt x="582654" y="351958"/>
                  </a:lnTo>
                  <a:close/>
                </a:path>
              </a:pathLst>
            </a:custGeom>
            <a:solidFill>
              <a:srgbClr val="67644D"/>
            </a:solidFill>
            <a:ln w="14087">
              <a:solidFill>
                <a:srgbClr val="4A5147"/>
              </a:solidFill>
              <a:prstDash val="solid"/>
            </a:ln>
          </p:spPr>
          <p:txBody>
            <a:bodyPr/>
            <a:lstStyle/>
            <a:p>
              <a:endParaRPr sz="1200"/>
            </a:p>
          </p:txBody>
        </p:sp>
        <p:sp>
          <p:nvSpPr>
            <p:cNvPr id="226" name="s2-managed-rooster__contour_226">
              <a:extLst>
                <a:ext uri="{FF2B5EF4-FFF2-40B4-BE49-F238E27FC236}">
                  <a16:creationId xmlns:a16="http://schemas.microsoft.com/office/drawing/2014/main" id="{9707F5DA-7302-4EA8-BCB1-D7CD8ED7D41A}"/>
                </a:ext>
              </a:extLst>
            </p:cNvPr>
            <p:cNvSpPr>
              <a:spLocks/>
            </p:cNvSpPr>
            <p:nvPr/>
          </p:nvSpPr>
          <p:spPr>
            <a:xfrm>
              <a:off x="3343110" y="3640900"/>
              <a:ext cx="349478" cy="187833"/>
            </a:xfrm>
            <a:custGeom>
              <a:avLst/>
              <a:gdLst/>
              <a:ahLst/>
              <a:cxnLst/>
              <a:rect l="0" t="0" r="0" b="0"/>
              <a:pathLst>
                <a:path w="524218" h="281750">
                  <a:moveTo>
                    <a:pt x="457924" y="281750"/>
                  </a:moveTo>
                  <a:lnTo>
                    <a:pt x="423281" y="268195"/>
                  </a:lnTo>
                  <a:lnTo>
                    <a:pt x="392039" y="254165"/>
                  </a:lnTo>
                  <a:lnTo>
                    <a:pt x="363855" y="239849"/>
                  </a:lnTo>
                  <a:lnTo>
                    <a:pt x="338357" y="225457"/>
                  </a:lnTo>
                  <a:lnTo>
                    <a:pt x="315211" y="211160"/>
                  </a:lnTo>
                  <a:lnTo>
                    <a:pt x="294046" y="197158"/>
                  </a:lnTo>
                  <a:lnTo>
                    <a:pt x="274520" y="183642"/>
                  </a:lnTo>
                  <a:lnTo>
                    <a:pt x="256270" y="170812"/>
                  </a:lnTo>
                  <a:lnTo>
                    <a:pt x="238954" y="158839"/>
                  </a:lnTo>
                  <a:lnTo>
                    <a:pt x="222209" y="147933"/>
                  </a:lnTo>
                  <a:lnTo>
                    <a:pt x="205692" y="138284"/>
                  </a:lnTo>
                  <a:lnTo>
                    <a:pt x="189033" y="130073"/>
                  </a:lnTo>
                  <a:lnTo>
                    <a:pt x="171898" y="123492"/>
                  </a:lnTo>
                  <a:lnTo>
                    <a:pt x="153914" y="118748"/>
                  </a:lnTo>
                  <a:lnTo>
                    <a:pt x="134741" y="116014"/>
                  </a:lnTo>
                  <a:lnTo>
                    <a:pt x="121920" y="116891"/>
                  </a:lnTo>
                  <a:lnTo>
                    <a:pt x="109995" y="119453"/>
                  </a:lnTo>
                  <a:lnTo>
                    <a:pt x="98946" y="123635"/>
                  </a:lnTo>
                  <a:lnTo>
                    <a:pt x="88773" y="129369"/>
                  </a:lnTo>
                  <a:lnTo>
                    <a:pt x="79496" y="136579"/>
                  </a:lnTo>
                  <a:lnTo>
                    <a:pt x="71095" y="145180"/>
                  </a:lnTo>
                  <a:lnTo>
                    <a:pt x="63589" y="155115"/>
                  </a:lnTo>
                  <a:lnTo>
                    <a:pt x="56959" y="166297"/>
                  </a:lnTo>
                  <a:lnTo>
                    <a:pt x="51206" y="178660"/>
                  </a:lnTo>
                  <a:lnTo>
                    <a:pt x="46349" y="192129"/>
                  </a:lnTo>
                  <a:lnTo>
                    <a:pt x="42367" y="206626"/>
                  </a:lnTo>
                  <a:lnTo>
                    <a:pt x="39281" y="222085"/>
                  </a:lnTo>
                  <a:lnTo>
                    <a:pt x="37071" y="238430"/>
                  </a:lnTo>
                  <a:lnTo>
                    <a:pt x="35738" y="255575"/>
                  </a:lnTo>
                  <a:lnTo>
                    <a:pt x="35300" y="273463"/>
                  </a:lnTo>
                  <a:lnTo>
                    <a:pt x="20784" y="246983"/>
                  </a:lnTo>
                  <a:lnTo>
                    <a:pt x="10239" y="220723"/>
                  </a:lnTo>
                  <a:lnTo>
                    <a:pt x="3410" y="194901"/>
                  </a:lnTo>
                  <a:lnTo>
                    <a:pt x="76" y="169745"/>
                  </a:lnTo>
                  <a:lnTo>
                    <a:pt x="0" y="145475"/>
                  </a:lnTo>
                  <a:lnTo>
                    <a:pt x="2953" y="122311"/>
                  </a:lnTo>
                  <a:lnTo>
                    <a:pt x="8677" y="100470"/>
                  </a:lnTo>
                  <a:lnTo>
                    <a:pt x="16954" y="80181"/>
                  </a:lnTo>
                  <a:lnTo>
                    <a:pt x="27546" y="61655"/>
                  </a:lnTo>
                  <a:lnTo>
                    <a:pt x="40215" y="45120"/>
                  </a:lnTo>
                  <a:lnTo>
                    <a:pt x="54721" y="30794"/>
                  </a:lnTo>
                  <a:lnTo>
                    <a:pt x="70837" y="18898"/>
                  </a:lnTo>
                  <a:lnTo>
                    <a:pt x="88316" y="9649"/>
                  </a:lnTo>
                  <a:lnTo>
                    <a:pt x="106937" y="3277"/>
                  </a:lnTo>
                  <a:lnTo>
                    <a:pt x="126454" y="0"/>
                  </a:lnTo>
                  <a:lnTo>
                    <a:pt x="154419" y="4391"/>
                  </a:lnTo>
                  <a:lnTo>
                    <a:pt x="181975" y="10849"/>
                  </a:lnTo>
                  <a:lnTo>
                    <a:pt x="209188" y="19221"/>
                  </a:lnTo>
                  <a:lnTo>
                    <a:pt x="236087" y="29366"/>
                  </a:lnTo>
                  <a:lnTo>
                    <a:pt x="262728" y="41129"/>
                  </a:lnTo>
                  <a:lnTo>
                    <a:pt x="289141" y="54359"/>
                  </a:lnTo>
                  <a:lnTo>
                    <a:pt x="315373" y="68923"/>
                  </a:lnTo>
                  <a:lnTo>
                    <a:pt x="341481" y="84658"/>
                  </a:lnTo>
                  <a:lnTo>
                    <a:pt x="367503" y="101432"/>
                  </a:lnTo>
                  <a:lnTo>
                    <a:pt x="393468" y="119082"/>
                  </a:lnTo>
                  <a:lnTo>
                    <a:pt x="419443" y="137474"/>
                  </a:lnTo>
                  <a:lnTo>
                    <a:pt x="445465" y="156458"/>
                  </a:lnTo>
                  <a:lnTo>
                    <a:pt x="471564" y="175879"/>
                  </a:lnTo>
                  <a:lnTo>
                    <a:pt x="497805" y="195596"/>
                  </a:lnTo>
                  <a:lnTo>
                    <a:pt x="524218" y="215456"/>
                  </a:lnTo>
                  <a:close/>
                </a:path>
              </a:pathLst>
            </a:custGeom>
            <a:solidFill>
              <a:srgbClr val="67644D"/>
            </a:solidFill>
            <a:ln w="14087">
              <a:solidFill>
                <a:srgbClr val="4A5147"/>
              </a:solidFill>
              <a:prstDash val="solid"/>
            </a:ln>
          </p:spPr>
          <p:txBody>
            <a:bodyPr/>
            <a:lstStyle/>
            <a:p>
              <a:endParaRPr sz="1200"/>
            </a:p>
          </p:txBody>
        </p:sp>
        <p:sp>
          <p:nvSpPr>
            <p:cNvPr id="227" name="s2-managed-rooster__contour_227">
              <a:extLst>
                <a:ext uri="{FF2B5EF4-FFF2-40B4-BE49-F238E27FC236}">
                  <a16:creationId xmlns:a16="http://schemas.microsoft.com/office/drawing/2014/main" id="{F3187268-A5E1-40CE-85E4-7BFDB5ACFF90}"/>
                </a:ext>
              </a:extLst>
            </p:cNvPr>
            <p:cNvSpPr>
              <a:spLocks/>
            </p:cNvSpPr>
            <p:nvPr/>
          </p:nvSpPr>
          <p:spPr>
            <a:xfrm>
              <a:off x="3372167" y="3469641"/>
              <a:ext cx="281749" cy="303847"/>
            </a:xfrm>
            <a:custGeom>
              <a:avLst/>
              <a:gdLst/>
              <a:ahLst/>
              <a:cxnLst/>
              <a:rect l="0" t="0" r="0" b="0"/>
              <a:pathLst>
                <a:path w="422624" h="455771">
                  <a:moveTo>
                    <a:pt x="422624" y="455771"/>
                  </a:moveTo>
                  <a:lnTo>
                    <a:pt x="393621" y="410880"/>
                  </a:lnTo>
                  <a:lnTo>
                    <a:pt x="366084" y="366017"/>
                  </a:lnTo>
                  <a:lnTo>
                    <a:pt x="339690" y="321659"/>
                  </a:lnTo>
                  <a:lnTo>
                    <a:pt x="314135" y="278273"/>
                  </a:lnTo>
                  <a:lnTo>
                    <a:pt x="289112" y="236325"/>
                  </a:lnTo>
                  <a:lnTo>
                    <a:pt x="264319" y="196301"/>
                  </a:lnTo>
                  <a:lnTo>
                    <a:pt x="239420" y="158658"/>
                  </a:lnTo>
                  <a:lnTo>
                    <a:pt x="214141" y="123873"/>
                  </a:lnTo>
                  <a:lnTo>
                    <a:pt x="188138" y="92412"/>
                  </a:lnTo>
                  <a:lnTo>
                    <a:pt x="161134" y="64760"/>
                  </a:lnTo>
                  <a:lnTo>
                    <a:pt x="132798" y="41377"/>
                  </a:lnTo>
                  <a:lnTo>
                    <a:pt x="102822" y="22736"/>
                  </a:lnTo>
                  <a:lnTo>
                    <a:pt x="70904" y="9315"/>
                  </a:lnTo>
                  <a:lnTo>
                    <a:pt x="36738" y="1581"/>
                  </a:lnTo>
                  <a:lnTo>
                    <a:pt x="0" y="0"/>
                  </a:lnTo>
                </a:path>
              </a:pathLst>
            </a:custGeom>
            <a:noFill/>
            <a:ln w="11601">
              <a:solidFill>
                <a:srgbClr val="5C7D68"/>
              </a:solidFill>
              <a:prstDash val="solid"/>
            </a:ln>
          </p:spPr>
          <p:txBody>
            <a:bodyPr/>
            <a:lstStyle/>
            <a:p>
              <a:endParaRPr sz="1200"/>
            </a:p>
          </p:txBody>
        </p:sp>
        <p:sp>
          <p:nvSpPr>
            <p:cNvPr id="228" name="s2-managed-rooster__contour_228">
              <a:extLst>
                <a:ext uri="{FF2B5EF4-FFF2-40B4-BE49-F238E27FC236}">
                  <a16:creationId xmlns:a16="http://schemas.microsoft.com/office/drawing/2014/main" id="{F4CC1C23-FD14-4314-A65B-3A3D2F7B9475}"/>
                </a:ext>
              </a:extLst>
            </p:cNvPr>
            <p:cNvSpPr>
              <a:spLocks/>
            </p:cNvSpPr>
            <p:nvPr/>
          </p:nvSpPr>
          <p:spPr>
            <a:xfrm>
              <a:off x="3344545" y="3582347"/>
              <a:ext cx="281749" cy="224288"/>
            </a:xfrm>
            <a:custGeom>
              <a:avLst/>
              <a:gdLst/>
              <a:ahLst/>
              <a:cxnLst/>
              <a:rect l="0" t="0" r="0" b="0"/>
              <a:pathLst>
                <a:path w="422624" h="336433">
                  <a:moveTo>
                    <a:pt x="422624" y="336433"/>
                  </a:moveTo>
                  <a:lnTo>
                    <a:pt x="386820" y="289931"/>
                  </a:lnTo>
                  <a:lnTo>
                    <a:pt x="352292" y="246593"/>
                  </a:lnTo>
                  <a:lnTo>
                    <a:pt x="319011" y="206492"/>
                  </a:lnTo>
                  <a:lnTo>
                    <a:pt x="286912" y="169716"/>
                  </a:lnTo>
                  <a:lnTo>
                    <a:pt x="255965" y="136322"/>
                  </a:lnTo>
                  <a:lnTo>
                    <a:pt x="226133" y="106394"/>
                  </a:lnTo>
                  <a:lnTo>
                    <a:pt x="197348" y="80000"/>
                  </a:lnTo>
                  <a:lnTo>
                    <a:pt x="169583" y="57217"/>
                  </a:lnTo>
                  <a:lnTo>
                    <a:pt x="142799" y="38110"/>
                  </a:lnTo>
                  <a:lnTo>
                    <a:pt x="116938" y="22765"/>
                  </a:lnTo>
                  <a:lnTo>
                    <a:pt x="91954" y="11249"/>
                  </a:lnTo>
                  <a:lnTo>
                    <a:pt x="67818" y="3639"/>
                  </a:lnTo>
                  <a:lnTo>
                    <a:pt x="44472" y="0"/>
                  </a:lnTo>
                  <a:lnTo>
                    <a:pt x="21888" y="419"/>
                  </a:lnTo>
                  <a:lnTo>
                    <a:pt x="0" y="4963"/>
                  </a:lnTo>
                </a:path>
              </a:pathLst>
            </a:custGeom>
            <a:noFill/>
            <a:ln w="11601">
              <a:solidFill>
                <a:srgbClr val="5C7D68"/>
              </a:solidFill>
              <a:prstDash val="solid"/>
            </a:ln>
          </p:spPr>
          <p:txBody>
            <a:bodyPr/>
            <a:lstStyle/>
            <a:p>
              <a:endParaRPr sz="1200"/>
            </a:p>
          </p:txBody>
        </p:sp>
        <p:sp>
          <p:nvSpPr>
            <p:cNvPr id="229" name="s2-managed-rooster__line_229">
              <a:extLst>
                <a:ext uri="{FF2B5EF4-FFF2-40B4-BE49-F238E27FC236}">
                  <a16:creationId xmlns:a16="http://schemas.microsoft.com/office/drawing/2014/main" id="{6770EE32-F10C-4195-91CD-FE56DF82954D}"/>
                </a:ext>
              </a:extLst>
            </p:cNvPr>
            <p:cNvSpPr>
              <a:spLocks/>
            </p:cNvSpPr>
            <p:nvPr/>
          </p:nvSpPr>
          <p:spPr>
            <a:xfrm>
              <a:off x="3753358" y="3961321"/>
              <a:ext cx="11049" cy="104965"/>
            </a:xfrm>
            <a:custGeom>
              <a:avLst/>
              <a:gdLst/>
              <a:ahLst/>
              <a:cxnLst/>
              <a:rect l="0" t="0" r="0" b="0"/>
              <a:pathLst>
                <a:path w="16574" h="157448">
                  <a:moveTo>
                    <a:pt x="0" y="0"/>
                  </a:moveTo>
                  <a:lnTo>
                    <a:pt x="16574" y="157448"/>
                  </a:lnTo>
                </a:path>
              </a:pathLst>
            </a:custGeom>
            <a:noFill/>
            <a:ln w="24860">
              <a:solidFill>
                <a:srgbClr val="B68C45"/>
              </a:solidFill>
              <a:prstDash val="solid"/>
            </a:ln>
          </p:spPr>
          <p:txBody>
            <a:bodyPr/>
            <a:lstStyle/>
            <a:p>
              <a:endParaRPr sz="1200"/>
            </a:p>
          </p:txBody>
        </p:sp>
        <p:sp>
          <p:nvSpPr>
            <p:cNvPr id="230" name="s2-managed-rooster__line_230">
              <a:extLst>
                <a:ext uri="{FF2B5EF4-FFF2-40B4-BE49-F238E27FC236}">
                  <a16:creationId xmlns:a16="http://schemas.microsoft.com/office/drawing/2014/main" id="{15254C0B-DC70-4118-A7A4-55DEE370E142}"/>
                </a:ext>
              </a:extLst>
            </p:cNvPr>
            <p:cNvSpPr>
              <a:spLocks/>
            </p:cNvSpPr>
            <p:nvPr/>
          </p:nvSpPr>
          <p:spPr>
            <a:xfrm>
              <a:off x="3703637" y="4055238"/>
              <a:ext cx="55245" cy="27622"/>
            </a:xfrm>
            <a:custGeom>
              <a:avLst/>
              <a:gdLst/>
              <a:ahLst/>
              <a:cxnLst/>
              <a:rect l="0" t="0" r="0" b="0"/>
              <a:pathLst>
                <a:path w="82868" h="41434">
                  <a:moveTo>
                    <a:pt x="82868" y="0"/>
                  </a:moveTo>
                  <a:lnTo>
                    <a:pt x="0" y="41434"/>
                  </a:lnTo>
                </a:path>
              </a:pathLst>
            </a:custGeom>
            <a:noFill/>
            <a:ln w="19888">
              <a:solidFill>
                <a:srgbClr val="B68C45"/>
              </a:solidFill>
              <a:prstDash val="solid"/>
            </a:ln>
          </p:spPr>
          <p:txBody>
            <a:bodyPr/>
            <a:lstStyle/>
            <a:p>
              <a:endParaRPr sz="1200"/>
            </a:p>
          </p:txBody>
        </p:sp>
        <p:sp>
          <p:nvSpPr>
            <p:cNvPr id="231" name="s2-managed-rooster__line_231">
              <a:extLst>
                <a:ext uri="{FF2B5EF4-FFF2-40B4-BE49-F238E27FC236}">
                  <a16:creationId xmlns:a16="http://schemas.microsoft.com/office/drawing/2014/main" id="{12B6EE14-9D69-415D-98C0-0A7BE2293F46}"/>
                </a:ext>
              </a:extLst>
            </p:cNvPr>
            <p:cNvSpPr>
              <a:spLocks/>
            </p:cNvSpPr>
            <p:nvPr/>
          </p:nvSpPr>
          <p:spPr>
            <a:xfrm>
              <a:off x="3758883" y="4060762"/>
              <a:ext cx="60769" cy="22097"/>
            </a:xfrm>
            <a:custGeom>
              <a:avLst/>
              <a:gdLst/>
              <a:ahLst/>
              <a:cxnLst/>
              <a:rect l="0" t="0" r="0" b="0"/>
              <a:pathLst>
                <a:path w="91154" h="33147">
                  <a:moveTo>
                    <a:pt x="0" y="0"/>
                  </a:moveTo>
                  <a:lnTo>
                    <a:pt x="91154" y="33147"/>
                  </a:lnTo>
                </a:path>
              </a:pathLst>
            </a:custGeom>
            <a:noFill/>
            <a:ln w="19888">
              <a:solidFill>
                <a:srgbClr val="B68C45"/>
              </a:solidFill>
              <a:prstDash val="solid"/>
            </a:ln>
          </p:spPr>
          <p:txBody>
            <a:bodyPr/>
            <a:lstStyle/>
            <a:p>
              <a:endParaRPr sz="1200"/>
            </a:p>
          </p:txBody>
        </p:sp>
        <p:sp>
          <p:nvSpPr>
            <p:cNvPr id="232" name="s2-managed-rooster__line_232">
              <a:extLst>
                <a:ext uri="{FF2B5EF4-FFF2-40B4-BE49-F238E27FC236}">
                  <a16:creationId xmlns:a16="http://schemas.microsoft.com/office/drawing/2014/main" id="{2F0023B2-F40F-4E85-BB49-BB1DC68465A5}"/>
                </a:ext>
              </a:extLst>
            </p:cNvPr>
            <p:cNvSpPr>
              <a:spLocks/>
            </p:cNvSpPr>
            <p:nvPr/>
          </p:nvSpPr>
          <p:spPr>
            <a:xfrm>
              <a:off x="3869373" y="3955797"/>
              <a:ext cx="11049" cy="110489"/>
            </a:xfrm>
            <a:custGeom>
              <a:avLst/>
              <a:gdLst/>
              <a:ahLst/>
              <a:cxnLst/>
              <a:rect l="0" t="0" r="0" b="0"/>
              <a:pathLst>
                <a:path w="16574" h="165735">
                  <a:moveTo>
                    <a:pt x="0" y="0"/>
                  </a:moveTo>
                  <a:lnTo>
                    <a:pt x="16574" y="165735"/>
                  </a:lnTo>
                </a:path>
              </a:pathLst>
            </a:custGeom>
            <a:noFill/>
            <a:ln w="24860">
              <a:solidFill>
                <a:srgbClr val="B68C45"/>
              </a:solidFill>
              <a:prstDash val="solid"/>
            </a:ln>
          </p:spPr>
          <p:txBody>
            <a:bodyPr/>
            <a:lstStyle/>
            <a:p>
              <a:endParaRPr sz="1200"/>
            </a:p>
          </p:txBody>
        </p:sp>
        <p:sp>
          <p:nvSpPr>
            <p:cNvPr id="233" name="s2-managed-rooster__line_233">
              <a:extLst>
                <a:ext uri="{FF2B5EF4-FFF2-40B4-BE49-F238E27FC236}">
                  <a16:creationId xmlns:a16="http://schemas.microsoft.com/office/drawing/2014/main" id="{D3968DAA-A7D8-4C3E-93A4-8B379C960A72}"/>
                </a:ext>
              </a:extLst>
            </p:cNvPr>
            <p:cNvSpPr>
              <a:spLocks/>
            </p:cNvSpPr>
            <p:nvPr/>
          </p:nvSpPr>
          <p:spPr>
            <a:xfrm>
              <a:off x="3830701" y="4060762"/>
              <a:ext cx="44196" cy="27622"/>
            </a:xfrm>
            <a:custGeom>
              <a:avLst/>
              <a:gdLst/>
              <a:ahLst/>
              <a:cxnLst/>
              <a:rect l="0" t="0" r="0" b="0"/>
              <a:pathLst>
                <a:path w="66294" h="41434">
                  <a:moveTo>
                    <a:pt x="66294" y="0"/>
                  </a:moveTo>
                  <a:lnTo>
                    <a:pt x="0" y="41434"/>
                  </a:lnTo>
                </a:path>
              </a:pathLst>
            </a:custGeom>
            <a:noFill/>
            <a:ln w="19888">
              <a:solidFill>
                <a:srgbClr val="B68C45"/>
              </a:solidFill>
              <a:prstDash val="solid"/>
            </a:ln>
          </p:spPr>
          <p:txBody>
            <a:bodyPr/>
            <a:lstStyle/>
            <a:p>
              <a:endParaRPr sz="1200"/>
            </a:p>
          </p:txBody>
        </p:sp>
        <p:sp>
          <p:nvSpPr>
            <p:cNvPr id="234" name="s2-managed-rooster__line_234">
              <a:extLst>
                <a:ext uri="{FF2B5EF4-FFF2-40B4-BE49-F238E27FC236}">
                  <a16:creationId xmlns:a16="http://schemas.microsoft.com/office/drawing/2014/main" id="{F3752DB8-37C6-47D7-B941-FA66163BDC3D}"/>
                </a:ext>
              </a:extLst>
            </p:cNvPr>
            <p:cNvSpPr>
              <a:spLocks/>
            </p:cNvSpPr>
            <p:nvPr/>
          </p:nvSpPr>
          <p:spPr>
            <a:xfrm>
              <a:off x="3874897" y="4060762"/>
              <a:ext cx="55244" cy="22097"/>
            </a:xfrm>
            <a:custGeom>
              <a:avLst/>
              <a:gdLst/>
              <a:ahLst/>
              <a:cxnLst/>
              <a:rect l="0" t="0" r="0" b="0"/>
              <a:pathLst>
                <a:path w="82867" h="33147">
                  <a:moveTo>
                    <a:pt x="0" y="0"/>
                  </a:moveTo>
                  <a:lnTo>
                    <a:pt x="82867" y="33147"/>
                  </a:lnTo>
                </a:path>
              </a:pathLst>
            </a:custGeom>
            <a:noFill/>
            <a:ln w="19888">
              <a:solidFill>
                <a:srgbClr val="B68C45"/>
              </a:solidFill>
              <a:prstDash val="solid"/>
            </a:ln>
          </p:spPr>
          <p:txBody>
            <a:bodyPr/>
            <a:lstStyle/>
            <a:p>
              <a:endParaRPr sz="1200"/>
            </a:p>
          </p:txBody>
        </p:sp>
        <p:sp>
          <p:nvSpPr>
            <p:cNvPr id="235" name="s2-managed-rooster__contour_235">
              <a:extLst>
                <a:ext uri="{FF2B5EF4-FFF2-40B4-BE49-F238E27FC236}">
                  <a16:creationId xmlns:a16="http://schemas.microsoft.com/office/drawing/2014/main" id="{6B68E489-C3A2-4ED7-BD95-404952CEDBD3}"/>
                </a:ext>
              </a:extLst>
            </p:cNvPr>
            <p:cNvSpPr>
              <a:spLocks/>
            </p:cNvSpPr>
            <p:nvPr/>
          </p:nvSpPr>
          <p:spPr>
            <a:xfrm>
              <a:off x="3590182" y="3480798"/>
              <a:ext cx="423621" cy="498995"/>
            </a:xfrm>
            <a:custGeom>
              <a:avLst/>
              <a:gdLst/>
              <a:ahLst/>
              <a:cxnLst/>
              <a:rect l="0" t="0" r="0" b="0"/>
              <a:pathLst>
                <a:path w="635432" h="748494">
                  <a:moveTo>
                    <a:pt x="21022" y="356168"/>
                  </a:moveTo>
                  <a:lnTo>
                    <a:pt x="42567" y="339623"/>
                  </a:lnTo>
                  <a:lnTo>
                    <a:pt x="64113" y="326146"/>
                  </a:lnTo>
                  <a:lnTo>
                    <a:pt x="85658" y="315268"/>
                  </a:lnTo>
                  <a:lnTo>
                    <a:pt x="107204" y="306505"/>
                  </a:lnTo>
                  <a:lnTo>
                    <a:pt x="128749" y="299390"/>
                  </a:lnTo>
                  <a:lnTo>
                    <a:pt x="150295" y="293456"/>
                  </a:lnTo>
                  <a:lnTo>
                    <a:pt x="171841" y="288226"/>
                  </a:lnTo>
                  <a:lnTo>
                    <a:pt x="193386" y="283235"/>
                  </a:lnTo>
                  <a:lnTo>
                    <a:pt x="214932" y="278006"/>
                  </a:lnTo>
                  <a:lnTo>
                    <a:pt x="236477" y="272072"/>
                  </a:lnTo>
                  <a:lnTo>
                    <a:pt x="258023" y="264957"/>
                  </a:lnTo>
                  <a:lnTo>
                    <a:pt x="279568" y="256194"/>
                  </a:lnTo>
                  <a:lnTo>
                    <a:pt x="301114" y="245316"/>
                  </a:lnTo>
                  <a:lnTo>
                    <a:pt x="322659" y="231838"/>
                  </a:lnTo>
                  <a:lnTo>
                    <a:pt x="344205" y="215294"/>
                  </a:lnTo>
                  <a:lnTo>
                    <a:pt x="350044" y="190481"/>
                  </a:lnTo>
                  <a:lnTo>
                    <a:pt x="357549" y="165964"/>
                  </a:lnTo>
                  <a:lnTo>
                    <a:pt x="366608" y="142037"/>
                  </a:lnTo>
                  <a:lnTo>
                    <a:pt x="377133" y="118996"/>
                  </a:lnTo>
                  <a:lnTo>
                    <a:pt x="389011" y="97126"/>
                  </a:lnTo>
                  <a:lnTo>
                    <a:pt x="402145" y="76743"/>
                  </a:lnTo>
                  <a:lnTo>
                    <a:pt x="416423" y="58112"/>
                  </a:lnTo>
                  <a:lnTo>
                    <a:pt x="431749" y="41558"/>
                  </a:lnTo>
                  <a:lnTo>
                    <a:pt x="448018" y="27346"/>
                  </a:lnTo>
                  <a:lnTo>
                    <a:pt x="465134" y="15802"/>
                  </a:lnTo>
                  <a:lnTo>
                    <a:pt x="482975" y="7191"/>
                  </a:lnTo>
                  <a:lnTo>
                    <a:pt x="501453" y="1829"/>
                  </a:lnTo>
                  <a:lnTo>
                    <a:pt x="520465" y="0"/>
                  </a:lnTo>
                  <a:lnTo>
                    <a:pt x="539896" y="2000"/>
                  </a:lnTo>
                  <a:lnTo>
                    <a:pt x="559660" y="8125"/>
                  </a:lnTo>
                  <a:lnTo>
                    <a:pt x="575348" y="14173"/>
                  </a:lnTo>
                  <a:lnTo>
                    <a:pt x="589255" y="22231"/>
                  </a:lnTo>
                  <a:lnTo>
                    <a:pt x="601361" y="32128"/>
                  </a:lnTo>
                  <a:lnTo>
                    <a:pt x="611657" y="43653"/>
                  </a:lnTo>
                  <a:lnTo>
                    <a:pt x="620125" y="56617"/>
                  </a:lnTo>
                  <a:lnTo>
                    <a:pt x="626755" y="70837"/>
                  </a:lnTo>
                  <a:lnTo>
                    <a:pt x="631517" y="86125"/>
                  </a:lnTo>
                  <a:lnTo>
                    <a:pt x="634422" y="102270"/>
                  </a:lnTo>
                  <a:lnTo>
                    <a:pt x="635432" y="119101"/>
                  </a:lnTo>
                  <a:lnTo>
                    <a:pt x="634546" y="136417"/>
                  </a:lnTo>
                  <a:lnTo>
                    <a:pt x="631746" y="154029"/>
                  </a:lnTo>
                  <a:lnTo>
                    <a:pt x="627012" y="171736"/>
                  </a:lnTo>
                  <a:lnTo>
                    <a:pt x="620335" y="189367"/>
                  </a:lnTo>
                  <a:lnTo>
                    <a:pt x="611705" y="206712"/>
                  </a:lnTo>
                  <a:lnTo>
                    <a:pt x="601094" y="223580"/>
                  </a:lnTo>
                  <a:lnTo>
                    <a:pt x="593036" y="235087"/>
                  </a:lnTo>
                  <a:lnTo>
                    <a:pt x="585483" y="246440"/>
                  </a:lnTo>
                  <a:lnTo>
                    <a:pt x="578491" y="257718"/>
                  </a:lnTo>
                  <a:lnTo>
                    <a:pt x="572110" y="269005"/>
                  </a:lnTo>
                  <a:lnTo>
                    <a:pt x="566414" y="280359"/>
                  </a:lnTo>
                  <a:lnTo>
                    <a:pt x="561451" y="291865"/>
                  </a:lnTo>
                  <a:lnTo>
                    <a:pt x="557279" y="303590"/>
                  </a:lnTo>
                  <a:lnTo>
                    <a:pt x="553974" y="315611"/>
                  </a:lnTo>
                  <a:lnTo>
                    <a:pt x="551574" y="327993"/>
                  </a:lnTo>
                  <a:lnTo>
                    <a:pt x="550145" y="340824"/>
                  </a:lnTo>
                  <a:lnTo>
                    <a:pt x="549754" y="354168"/>
                  </a:lnTo>
                  <a:lnTo>
                    <a:pt x="550450" y="368103"/>
                  </a:lnTo>
                  <a:lnTo>
                    <a:pt x="552288" y="382695"/>
                  </a:lnTo>
                  <a:lnTo>
                    <a:pt x="555346" y="398031"/>
                  </a:lnTo>
                  <a:lnTo>
                    <a:pt x="559660" y="414176"/>
                  </a:lnTo>
                  <a:lnTo>
                    <a:pt x="572414" y="440569"/>
                  </a:lnTo>
                  <a:lnTo>
                    <a:pt x="581006" y="466630"/>
                  </a:lnTo>
                  <a:lnTo>
                    <a:pt x="585711" y="492271"/>
                  </a:lnTo>
                  <a:lnTo>
                    <a:pt x="586797" y="517379"/>
                  </a:lnTo>
                  <a:lnTo>
                    <a:pt x="584521" y="541849"/>
                  </a:lnTo>
                  <a:lnTo>
                    <a:pt x="579149" y="565595"/>
                  </a:lnTo>
                  <a:lnTo>
                    <a:pt x="570957" y="588493"/>
                  </a:lnTo>
                  <a:lnTo>
                    <a:pt x="560194" y="610448"/>
                  </a:lnTo>
                  <a:lnTo>
                    <a:pt x="547135" y="631355"/>
                  </a:lnTo>
                  <a:lnTo>
                    <a:pt x="532038" y="651119"/>
                  </a:lnTo>
                  <a:lnTo>
                    <a:pt x="515179" y="669627"/>
                  </a:lnTo>
                  <a:lnTo>
                    <a:pt x="496814" y="686781"/>
                  </a:lnTo>
                  <a:lnTo>
                    <a:pt x="477212" y="702469"/>
                  </a:lnTo>
                  <a:lnTo>
                    <a:pt x="456638" y="716604"/>
                  </a:lnTo>
                  <a:lnTo>
                    <a:pt x="435359" y="729072"/>
                  </a:lnTo>
                  <a:lnTo>
                    <a:pt x="408118" y="738921"/>
                  </a:lnTo>
                  <a:lnTo>
                    <a:pt x="379619" y="745360"/>
                  </a:lnTo>
                  <a:lnTo>
                    <a:pt x="350168" y="748494"/>
                  </a:lnTo>
                  <a:lnTo>
                    <a:pt x="320059" y="748446"/>
                  </a:lnTo>
                  <a:lnTo>
                    <a:pt x="289570" y="745341"/>
                  </a:lnTo>
                  <a:lnTo>
                    <a:pt x="259013" y="739283"/>
                  </a:lnTo>
                  <a:lnTo>
                    <a:pt x="228686" y="730396"/>
                  </a:lnTo>
                  <a:lnTo>
                    <a:pt x="198863" y="718795"/>
                  </a:lnTo>
                  <a:lnTo>
                    <a:pt x="169850" y="704612"/>
                  </a:lnTo>
                  <a:lnTo>
                    <a:pt x="141951" y="687943"/>
                  </a:lnTo>
                  <a:lnTo>
                    <a:pt x="115443" y="668922"/>
                  </a:lnTo>
                  <a:lnTo>
                    <a:pt x="90630" y="647662"/>
                  </a:lnTo>
                  <a:lnTo>
                    <a:pt x="67808" y="624278"/>
                  </a:lnTo>
                  <a:lnTo>
                    <a:pt x="47273" y="598894"/>
                  </a:lnTo>
                  <a:lnTo>
                    <a:pt x="29308" y="571624"/>
                  </a:lnTo>
                  <a:lnTo>
                    <a:pt x="23012" y="553822"/>
                  </a:lnTo>
                  <a:lnTo>
                    <a:pt x="17412" y="536829"/>
                  </a:lnTo>
                  <a:lnTo>
                    <a:pt x="12535" y="520579"/>
                  </a:lnTo>
                  <a:lnTo>
                    <a:pt x="8411" y="504987"/>
                  </a:lnTo>
                  <a:lnTo>
                    <a:pt x="5058" y="489985"/>
                  </a:lnTo>
                  <a:lnTo>
                    <a:pt x="2524" y="475498"/>
                  </a:lnTo>
                  <a:lnTo>
                    <a:pt x="829" y="461458"/>
                  </a:lnTo>
                  <a:lnTo>
                    <a:pt x="0" y="447780"/>
                  </a:lnTo>
                  <a:lnTo>
                    <a:pt x="76" y="434397"/>
                  </a:lnTo>
                  <a:lnTo>
                    <a:pt x="1076" y="421234"/>
                  </a:lnTo>
                  <a:lnTo>
                    <a:pt x="3029" y="408222"/>
                  </a:lnTo>
                  <a:lnTo>
                    <a:pt x="5972" y="395278"/>
                  </a:lnTo>
                  <a:lnTo>
                    <a:pt x="9935" y="382343"/>
                  </a:lnTo>
                  <a:lnTo>
                    <a:pt x="14935" y="369332"/>
                  </a:lnTo>
                  <a:lnTo>
                    <a:pt x="21022" y="356168"/>
                  </a:lnTo>
                  <a:close/>
                </a:path>
              </a:pathLst>
            </a:custGeom>
            <a:solidFill>
              <a:srgbClr val="BA8A51"/>
            </a:solidFill>
            <a:ln w="14087">
              <a:solidFill>
                <a:srgbClr val="4A5147"/>
              </a:solidFill>
              <a:prstDash val="solid"/>
            </a:ln>
          </p:spPr>
          <p:txBody>
            <a:bodyPr/>
            <a:lstStyle/>
            <a:p>
              <a:endParaRPr sz="1200"/>
            </a:p>
          </p:txBody>
        </p:sp>
        <p:sp>
          <p:nvSpPr>
            <p:cNvPr id="236" name="s2-managed-rooster__contour_236">
              <a:extLst>
                <a:ext uri="{FF2B5EF4-FFF2-40B4-BE49-F238E27FC236}">
                  <a16:creationId xmlns:a16="http://schemas.microsoft.com/office/drawing/2014/main" id="{5FAA902E-7DA5-4FD1-88A4-FD7EA28D7648}"/>
                </a:ext>
              </a:extLst>
            </p:cNvPr>
            <p:cNvSpPr>
              <a:spLocks/>
            </p:cNvSpPr>
            <p:nvPr/>
          </p:nvSpPr>
          <p:spPr>
            <a:xfrm>
              <a:off x="3676015" y="3668523"/>
              <a:ext cx="298189" cy="305523"/>
            </a:xfrm>
            <a:custGeom>
              <a:avLst/>
              <a:gdLst/>
              <a:ahLst/>
              <a:cxnLst/>
              <a:rect l="0" t="0" r="0" b="0"/>
              <a:pathLst>
                <a:path w="447284" h="458286">
                  <a:moveTo>
                    <a:pt x="223742" y="0"/>
                  </a:moveTo>
                  <a:lnTo>
                    <a:pt x="240411" y="2219"/>
                  </a:lnTo>
                  <a:lnTo>
                    <a:pt x="257175" y="5563"/>
                  </a:lnTo>
                  <a:lnTo>
                    <a:pt x="273929" y="10077"/>
                  </a:lnTo>
                  <a:lnTo>
                    <a:pt x="290551" y="15783"/>
                  </a:lnTo>
                  <a:lnTo>
                    <a:pt x="306915" y="22708"/>
                  </a:lnTo>
                  <a:lnTo>
                    <a:pt x="322917" y="30890"/>
                  </a:lnTo>
                  <a:lnTo>
                    <a:pt x="338433" y="40357"/>
                  </a:lnTo>
                  <a:lnTo>
                    <a:pt x="353349" y="51130"/>
                  </a:lnTo>
                  <a:lnTo>
                    <a:pt x="367532" y="63246"/>
                  </a:lnTo>
                  <a:lnTo>
                    <a:pt x="380886" y="76733"/>
                  </a:lnTo>
                  <a:lnTo>
                    <a:pt x="393278" y="91611"/>
                  </a:lnTo>
                  <a:lnTo>
                    <a:pt x="404593" y="107928"/>
                  </a:lnTo>
                  <a:lnTo>
                    <a:pt x="414719" y="125701"/>
                  </a:lnTo>
                  <a:lnTo>
                    <a:pt x="423529" y="144961"/>
                  </a:lnTo>
                  <a:lnTo>
                    <a:pt x="430911" y="165735"/>
                  </a:lnTo>
                  <a:lnTo>
                    <a:pt x="440360" y="192119"/>
                  </a:lnTo>
                  <a:lnTo>
                    <a:pt x="445703" y="218113"/>
                  </a:lnTo>
                  <a:lnTo>
                    <a:pt x="447284" y="243564"/>
                  </a:lnTo>
                  <a:lnTo>
                    <a:pt x="445418" y="268310"/>
                  </a:lnTo>
                  <a:lnTo>
                    <a:pt x="440426" y="292189"/>
                  </a:lnTo>
                  <a:lnTo>
                    <a:pt x="432635" y="315030"/>
                  </a:lnTo>
                  <a:lnTo>
                    <a:pt x="422367" y="336680"/>
                  </a:lnTo>
                  <a:lnTo>
                    <a:pt x="409956" y="356978"/>
                  </a:lnTo>
                  <a:lnTo>
                    <a:pt x="395707" y="375752"/>
                  </a:lnTo>
                  <a:lnTo>
                    <a:pt x="379962" y="392849"/>
                  </a:lnTo>
                  <a:lnTo>
                    <a:pt x="363036" y="408108"/>
                  </a:lnTo>
                  <a:lnTo>
                    <a:pt x="345262" y="421367"/>
                  </a:lnTo>
                  <a:lnTo>
                    <a:pt x="326946" y="432454"/>
                  </a:lnTo>
                  <a:lnTo>
                    <a:pt x="308439" y="441217"/>
                  </a:lnTo>
                  <a:lnTo>
                    <a:pt x="290036" y="447485"/>
                  </a:lnTo>
                  <a:lnTo>
                    <a:pt x="265300" y="454142"/>
                  </a:lnTo>
                  <a:lnTo>
                    <a:pt x="240897" y="457686"/>
                  </a:lnTo>
                  <a:lnTo>
                    <a:pt x="216913" y="458286"/>
                  </a:lnTo>
                  <a:lnTo>
                    <a:pt x="193462" y="456152"/>
                  </a:lnTo>
                  <a:lnTo>
                    <a:pt x="170650" y="451475"/>
                  </a:lnTo>
                  <a:lnTo>
                    <a:pt x="148561" y="444436"/>
                  </a:lnTo>
                  <a:lnTo>
                    <a:pt x="127321" y="435226"/>
                  </a:lnTo>
                  <a:lnTo>
                    <a:pt x="107023" y="424053"/>
                  </a:lnTo>
                  <a:lnTo>
                    <a:pt x="87773" y="411089"/>
                  </a:lnTo>
                  <a:lnTo>
                    <a:pt x="69666" y="396535"/>
                  </a:lnTo>
                  <a:lnTo>
                    <a:pt x="52816" y="380581"/>
                  </a:lnTo>
                  <a:lnTo>
                    <a:pt x="37319" y="363426"/>
                  </a:lnTo>
                  <a:lnTo>
                    <a:pt x="23289" y="345243"/>
                  </a:lnTo>
                  <a:lnTo>
                    <a:pt x="10811" y="326241"/>
                  </a:lnTo>
                  <a:lnTo>
                    <a:pt x="0" y="306610"/>
                  </a:lnTo>
                  <a:lnTo>
                    <a:pt x="21003" y="298885"/>
                  </a:lnTo>
                  <a:lnTo>
                    <a:pt x="40938" y="289027"/>
                  </a:lnTo>
                  <a:lnTo>
                    <a:pt x="59865" y="277111"/>
                  </a:lnTo>
                  <a:lnTo>
                    <a:pt x="77810" y="263195"/>
                  </a:lnTo>
                  <a:lnTo>
                    <a:pt x="94840" y="247374"/>
                  </a:lnTo>
                  <a:lnTo>
                    <a:pt x="110976" y="229705"/>
                  </a:lnTo>
                  <a:lnTo>
                    <a:pt x="126273" y="210274"/>
                  </a:lnTo>
                  <a:lnTo>
                    <a:pt x="140779" y="189147"/>
                  </a:lnTo>
                  <a:lnTo>
                    <a:pt x="154534" y="166402"/>
                  </a:lnTo>
                  <a:lnTo>
                    <a:pt x="167573" y="142103"/>
                  </a:lnTo>
                  <a:lnTo>
                    <a:pt x="179956" y="116338"/>
                  </a:lnTo>
                  <a:lnTo>
                    <a:pt x="191719" y="89164"/>
                  </a:lnTo>
                  <a:lnTo>
                    <a:pt x="202911" y="60674"/>
                  </a:lnTo>
                  <a:lnTo>
                    <a:pt x="213570" y="30928"/>
                  </a:lnTo>
                  <a:lnTo>
                    <a:pt x="223742" y="0"/>
                  </a:lnTo>
                  <a:close/>
                </a:path>
              </a:pathLst>
            </a:custGeom>
            <a:solidFill>
              <a:srgbClr val="A9865B"/>
            </a:solidFill>
            <a:ln w="14087">
              <a:noFill/>
              <a:prstDash val="solid"/>
            </a:ln>
          </p:spPr>
          <p:txBody>
            <a:bodyPr/>
            <a:lstStyle/>
            <a:p>
              <a:endParaRPr sz="1200"/>
            </a:p>
          </p:txBody>
        </p:sp>
        <p:sp>
          <p:nvSpPr>
            <p:cNvPr id="237" name="s2-managed-rooster__contour_237">
              <a:extLst>
                <a:ext uri="{FF2B5EF4-FFF2-40B4-BE49-F238E27FC236}">
                  <a16:creationId xmlns:a16="http://schemas.microsoft.com/office/drawing/2014/main" id="{3434A036-A377-42F9-BE20-D53DAE6861CF}"/>
                </a:ext>
              </a:extLst>
            </p:cNvPr>
            <p:cNvSpPr>
              <a:spLocks/>
            </p:cNvSpPr>
            <p:nvPr/>
          </p:nvSpPr>
          <p:spPr>
            <a:xfrm>
              <a:off x="3803079" y="3489040"/>
              <a:ext cx="191833" cy="312070"/>
            </a:xfrm>
            <a:custGeom>
              <a:avLst/>
              <a:gdLst/>
              <a:ahLst/>
              <a:cxnLst/>
              <a:rect l="0" t="0" r="0" b="0"/>
              <a:pathLst>
                <a:path w="287750" h="468106">
                  <a:moveTo>
                    <a:pt x="124301" y="62055"/>
                  </a:moveTo>
                  <a:lnTo>
                    <a:pt x="127025" y="49368"/>
                  </a:lnTo>
                  <a:lnTo>
                    <a:pt x="131740" y="37881"/>
                  </a:lnTo>
                  <a:lnTo>
                    <a:pt x="138227" y="27718"/>
                  </a:lnTo>
                  <a:lnTo>
                    <a:pt x="146256" y="18955"/>
                  </a:lnTo>
                  <a:lnTo>
                    <a:pt x="155610" y="11725"/>
                  </a:lnTo>
                  <a:lnTo>
                    <a:pt x="166068" y="6106"/>
                  </a:lnTo>
                  <a:lnTo>
                    <a:pt x="177413" y="2210"/>
                  </a:lnTo>
                  <a:lnTo>
                    <a:pt x="189414" y="143"/>
                  </a:lnTo>
                  <a:lnTo>
                    <a:pt x="201863" y="0"/>
                  </a:lnTo>
                  <a:lnTo>
                    <a:pt x="214532" y="1895"/>
                  </a:lnTo>
                  <a:lnTo>
                    <a:pt x="227200" y="5934"/>
                  </a:lnTo>
                  <a:lnTo>
                    <a:pt x="239649" y="12202"/>
                  </a:lnTo>
                  <a:lnTo>
                    <a:pt x="251660" y="20812"/>
                  </a:lnTo>
                  <a:lnTo>
                    <a:pt x="263004" y="31871"/>
                  </a:lnTo>
                  <a:lnTo>
                    <a:pt x="273463" y="45482"/>
                  </a:lnTo>
                  <a:lnTo>
                    <a:pt x="280464" y="62160"/>
                  </a:lnTo>
                  <a:lnTo>
                    <a:pt x="285026" y="78991"/>
                  </a:lnTo>
                  <a:lnTo>
                    <a:pt x="287388" y="95936"/>
                  </a:lnTo>
                  <a:lnTo>
                    <a:pt x="287750" y="112919"/>
                  </a:lnTo>
                  <a:lnTo>
                    <a:pt x="286350" y="129883"/>
                  </a:lnTo>
                  <a:lnTo>
                    <a:pt x="283407" y="146780"/>
                  </a:lnTo>
                  <a:lnTo>
                    <a:pt x="279130" y="163544"/>
                  </a:lnTo>
                  <a:lnTo>
                    <a:pt x="273758" y="180108"/>
                  </a:lnTo>
                  <a:lnTo>
                    <a:pt x="267500" y="196434"/>
                  </a:lnTo>
                  <a:lnTo>
                    <a:pt x="260575" y="212446"/>
                  </a:lnTo>
                  <a:lnTo>
                    <a:pt x="253203" y="228086"/>
                  </a:lnTo>
                  <a:lnTo>
                    <a:pt x="245621" y="243307"/>
                  </a:lnTo>
                  <a:lnTo>
                    <a:pt x="238030" y="258032"/>
                  </a:lnTo>
                  <a:lnTo>
                    <a:pt x="230667" y="272215"/>
                  </a:lnTo>
                  <a:lnTo>
                    <a:pt x="223742" y="285798"/>
                  </a:lnTo>
                  <a:lnTo>
                    <a:pt x="215456" y="426672"/>
                  </a:lnTo>
                  <a:lnTo>
                    <a:pt x="174022" y="368665"/>
                  </a:lnTo>
                  <a:lnTo>
                    <a:pt x="149162" y="468106"/>
                  </a:lnTo>
                  <a:lnTo>
                    <a:pt x="107728" y="393525"/>
                  </a:lnTo>
                  <a:lnTo>
                    <a:pt x="58007" y="451533"/>
                  </a:lnTo>
                  <a:lnTo>
                    <a:pt x="49721" y="327231"/>
                  </a:lnTo>
                  <a:lnTo>
                    <a:pt x="0" y="352092"/>
                  </a:lnTo>
                  <a:lnTo>
                    <a:pt x="12821" y="323745"/>
                  </a:lnTo>
                  <a:lnTo>
                    <a:pt x="24813" y="298161"/>
                  </a:lnTo>
                  <a:lnTo>
                    <a:pt x="35995" y="274996"/>
                  </a:lnTo>
                  <a:lnTo>
                    <a:pt x="46434" y="253898"/>
                  </a:lnTo>
                  <a:lnTo>
                    <a:pt x="56169" y="234544"/>
                  </a:lnTo>
                  <a:lnTo>
                    <a:pt x="65237" y="216589"/>
                  </a:lnTo>
                  <a:lnTo>
                    <a:pt x="73685" y="199692"/>
                  </a:lnTo>
                  <a:lnTo>
                    <a:pt x="81553" y="183518"/>
                  </a:lnTo>
                  <a:lnTo>
                    <a:pt x="88897" y="167726"/>
                  </a:lnTo>
                  <a:lnTo>
                    <a:pt x="95755" y="151981"/>
                  </a:lnTo>
                  <a:lnTo>
                    <a:pt x="102175" y="135941"/>
                  </a:lnTo>
                  <a:lnTo>
                    <a:pt x="108194" y="119263"/>
                  </a:lnTo>
                  <a:lnTo>
                    <a:pt x="113852" y="101622"/>
                  </a:lnTo>
                  <a:lnTo>
                    <a:pt x="119215" y="82667"/>
                  </a:lnTo>
                  <a:lnTo>
                    <a:pt x="124301" y="62055"/>
                  </a:lnTo>
                  <a:close/>
                </a:path>
              </a:pathLst>
            </a:custGeom>
            <a:solidFill>
              <a:srgbClr val="D9B271"/>
            </a:solidFill>
            <a:ln w="9115">
              <a:solidFill>
                <a:srgbClr val="8D683E"/>
              </a:solidFill>
              <a:prstDash val="solid"/>
            </a:ln>
          </p:spPr>
          <p:txBody>
            <a:bodyPr/>
            <a:lstStyle/>
            <a:p>
              <a:endParaRPr sz="1200"/>
            </a:p>
          </p:txBody>
        </p:sp>
        <p:sp>
          <p:nvSpPr>
            <p:cNvPr id="238" name="s2-managed-rooster__line_238">
              <a:extLst>
                <a:ext uri="{FF2B5EF4-FFF2-40B4-BE49-F238E27FC236}">
                  <a16:creationId xmlns:a16="http://schemas.microsoft.com/office/drawing/2014/main" id="{E95C4026-8D92-478B-B005-4D846241EC09}"/>
                </a:ext>
              </a:extLst>
            </p:cNvPr>
            <p:cNvSpPr>
              <a:spLocks/>
            </p:cNvSpPr>
            <p:nvPr/>
          </p:nvSpPr>
          <p:spPr>
            <a:xfrm>
              <a:off x="3852799" y="3591180"/>
              <a:ext cx="38671" cy="110489"/>
            </a:xfrm>
            <a:custGeom>
              <a:avLst/>
              <a:gdLst/>
              <a:ahLst/>
              <a:cxnLst/>
              <a:rect l="0" t="0" r="0" b="0"/>
              <a:pathLst>
                <a:path w="58007" h="165735">
                  <a:moveTo>
                    <a:pt x="58007" y="0"/>
                  </a:moveTo>
                  <a:lnTo>
                    <a:pt x="0" y="165735"/>
                  </a:lnTo>
                </a:path>
              </a:pathLst>
            </a:custGeom>
            <a:noFill/>
            <a:ln w="8287">
              <a:solidFill>
                <a:srgbClr val="9C713D"/>
              </a:solidFill>
              <a:prstDash val="solid"/>
            </a:ln>
          </p:spPr>
          <p:txBody>
            <a:bodyPr/>
            <a:lstStyle/>
            <a:p>
              <a:endParaRPr sz="1200"/>
            </a:p>
          </p:txBody>
        </p:sp>
        <p:sp>
          <p:nvSpPr>
            <p:cNvPr id="239" name="s2-managed-rooster__line_239">
              <a:extLst>
                <a:ext uri="{FF2B5EF4-FFF2-40B4-BE49-F238E27FC236}">
                  <a16:creationId xmlns:a16="http://schemas.microsoft.com/office/drawing/2014/main" id="{6E1314A4-963D-4CC8-B1FA-DD26DBE2DA3A}"/>
                </a:ext>
              </a:extLst>
            </p:cNvPr>
            <p:cNvSpPr>
              <a:spLocks/>
            </p:cNvSpPr>
            <p:nvPr/>
          </p:nvSpPr>
          <p:spPr>
            <a:xfrm>
              <a:off x="3896995" y="3596704"/>
              <a:ext cx="22098" cy="138112"/>
            </a:xfrm>
            <a:custGeom>
              <a:avLst/>
              <a:gdLst/>
              <a:ahLst/>
              <a:cxnLst/>
              <a:rect l="0" t="0" r="0" b="0"/>
              <a:pathLst>
                <a:path w="33147" h="207169">
                  <a:moveTo>
                    <a:pt x="33147" y="0"/>
                  </a:moveTo>
                  <a:lnTo>
                    <a:pt x="0" y="207169"/>
                  </a:lnTo>
                </a:path>
              </a:pathLst>
            </a:custGeom>
            <a:noFill/>
            <a:ln w="8287">
              <a:solidFill>
                <a:srgbClr val="9C713D"/>
              </a:solidFill>
              <a:prstDash val="solid"/>
            </a:ln>
          </p:spPr>
          <p:txBody>
            <a:bodyPr/>
            <a:lstStyle/>
            <a:p>
              <a:endParaRPr sz="1200"/>
            </a:p>
          </p:txBody>
        </p:sp>
        <p:sp>
          <p:nvSpPr>
            <p:cNvPr id="240" name="s2-managed-rooster__line_240">
              <a:extLst>
                <a:ext uri="{FF2B5EF4-FFF2-40B4-BE49-F238E27FC236}">
                  <a16:creationId xmlns:a16="http://schemas.microsoft.com/office/drawing/2014/main" id="{9FA528F6-71B7-4200-979D-684C5DB7193E}"/>
                </a:ext>
              </a:extLst>
            </p:cNvPr>
            <p:cNvSpPr>
              <a:spLocks/>
            </p:cNvSpPr>
            <p:nvPr/>
          </p:nvSpPr>
          <p:spPr>
            <a:xfrm>
              <a:off x="3935667" y="3596704"/>
              <a:ext cx="11049" cy="104965"/>
            </a:xfrm>
            <a:custGeom>
              <a:avLst/>
              <a:gdLst/>
              <a:ahLst/>
              <a:cxnLst/>
              <a:rect l="0" t="0" r="0" b="0"/>
              <a:pathLst>
                <a:path w="16574" h="157448">
                  <a:moveTo>
                    <a:pt x="16574" y="0"/>
                  </a:moveTo>
                  <a:lnTo>
                    <a:pt x="0" y="157448"/>
                  </a:lnTo>
                </a:path>
              </a:pathLst>
            </a:custGeom>
            <a:noFill/>
            <a:ln w="8287">
              <a:solidFill>
                <a:srgbClr val="9C713D"/>
              </a:solidFill>
              <a:prstDash val="solid"/>
            </a:ln>
          </p:spPr>
          <p:txBody>
            <a:bodyPr/>
            <a:lstStyle/>
            <a:p>
              <a:endParaRPr sz="1200"/>
            </a:p>
          </p:txBody>
        </p:sp>
        <p:sp>
          <p:nvSpPr>
            <p:cNvPr id="241" name="s2-managed-rooster__contour_241">
              <a:extLst>
                <a:ext uri="{FF2B5EF4-FFF2-40B4-BE49-F238E27FC236}">
                  <a16:creationId xmlns:a16="http://schemas.microsoft.com/office/drawing/2014/main" id="{3D75CB0F-FC46-473F-BCCE-082DA715670B}"/>
                </a:ext>
              </a:extLst>
            </p:cNvPr>
            <p:cNvSpPr>
              <a:spLocks/>
            </p:cNvSpPr>
            <p:nvPr/>
          </p:nvSpPr>
          <p:spPr>
            <a:xfrm>
              <a:off x="3608749" y="3711493"/>
              <a:ext cx="221951" cy="151364"/>
            </a:xfrm>
            <a:custGeom>
              <a:avLst/>
              <a:gdLst/>
              <a:ahLst/>
              <a:cxnLst/>
              <a:rect l="0" t="0" r="0" b="0"/>
              <a:pathLst>
                <a:path w="332927" h="227047">
                  <a:moveTo>
                    <a:pt x="18031" y="43272"/>
                  </a:moveTo>
                  <a:lnTo>
                    <a:pt x="42977" y="28337"/>
                  </a:lnTo>
                  <a:lnTo>
                    <a:pt x="67999" y="16640"/>
                  </a:lnTo>
                  <a:lnTo>
                    <a:pt x="92945" y="8068"/>
                  </a:lnTo>
                  <a:lnTo>
                    <a:pt x="117672" y="2553"/>
                  </a:lnTo>
                  <a:lnTo>
                    <a:pt x="142027" y="0"/>
                  </a:lnTo>
                  <a:lnTo>
                    <a:pt x="165868" y="314"/>
                  </a:lnTo>
                  <a:lnTo>
                    <a:pt x="189043" y="3410"/>
                  </a:lnTo>
                  <a:lnTo>
                    <a:pt x="211417" y="9211"/>
                  </a:lnTo>
                  <a:lnTo>
                    <a:pt x="232820" y="17612"/>
                  </a:lnTo>
                  <a:lnTo>
                    <a:pt x="253127" y="28537"/>
                  </a:lnTo>
                  <a:lnTo>
                    <a:pt x="272186" y="41891"/>
                  </a:lnTo>
                  <a:lnTo>
                    <a:pt x="289836" y="57588"/>
                  </a:lnTo>
                  <a:lnTo>
                    <a:pt x="305943" y="75543"/>
                  </a:lnTo>
                  <a:lnTo>
                    <a:pt x="320354" y="95660"/>
                  </a:lnTo>
                  <a:lnTo>
                    <a:pt x="332927" y="117853"/>
                  </a:lnTo>
                  <a:lnTo>
                    <a:pt x="325450" y="135207"/>
                  </a:lnTo>
                  <a:lnTo>
                    <a:pt x="316392" y="150857"/>
                  </a:lnTo>
                  <a:lnTo>
                    <a:pt x="305943" y="164859"/>
                  </a:lnTo>
                  <a:lnTo>
                    <a:pt x="294313" y="177260"/>
                  </a:lnTo>
                  <a:lnTo>
                    <a:pt x="281673" y="188138"/>
                  </a:lnTo>
                  <a:lnTo>
                    <a:pt x="268224" y="197539"/>
                  </a:lnTo>
                  <a:lnTo>
                    <a:pt x="254156" y="205521"/>
                  </a:lnTo>
                  <a:lnTo>
                    <a:pt x="239668" y="212160"/>
                  </a:lnTo>
                  <a:lnTo>
                    <a:pt x="224933" y="217494"/>
                  </a:lnTo>
                  <a:lnTo>
                    <a:pt x="210160" y="221590"/>
                  </a:lnTo>
                  <a:lnTo>
                    <a:pt x="195539" y="224514"/>
                  </a:lnTo>
                  <a:lnTo>
                    <a:pt x="181251" y="226314"/>
                  </a:lnTo>
                  <a:lnTo>
                    <a:pt x="167488" y="227047"/>
                  </a:lnTo>
                  <a:lnTo>
                    <a:pt x="154457" y="226790"/>
                  </a:lnTo>
                  <a:lnTo>
                    <a:pt x="142332" y="225581"/>
                  </a:lnTo>
                  <a:lnTo>
                    <a:pt x="117472" y="200720"/>
                  </a:lnTo>
                  <a:lnTo>
                    <a:pt x="84325" y="200720"/>
                  </a:lnTo>
                  <a:lnTo>
                    <a:pt x="34604" y="151000"/>
                  </a:lnTo>
                  <a:lnTo>
                    <a:pt x="28204" y="142818"/>
                  </a:lnTo>
                  <a:lnTo>
                    <a:pt x="22308" y="134845"/>
                  </a:lnTo>
                  <a:lnTo>
                    <a:pt x="16974" y="127064"/>
                  </a:lnTo>
                  <a:lnTo>
                    <a:pt x="12249" y="119463"/>
                  </a:lnTo>
                  <a:lnTo>
                    <a:pt x="8211" y="112024"/>
                  </a:lnTo>
                  <a:lnTo>
                    <a:pt x="4905" y="104727"/>
                  </a:lnTo>
                  <a:lnTo>
                    <a:pt x="2391" y="97565"/>
                  </a:lnTo>
                  <a:lnTo>
                    <a:pt x="743" y="90516"/>
                  </a:lnTo>
                  <a:lnTo>
                    <a:pt x="0" y="83582"/>
                  </a:lnTo>
                  <a:lnTo>
                    <a:pt x="229" y="76724"/>
                  </a:lnTo>
                  <a:lnTo>
                    <a:pt x="1495" y="69942"/>
                  </a:lnTo>
                  <a:lnTo>
                    <a:pt x="3848" y="63227"/>
                  </a:lnTo>
                  <a:lnTo>
                    <a:pt x="7344" y="56550"/>
                  </a:lnTo>
                  <a:lnTo>
                    <a:pt x="12059" y="49901"/>
                  </a:lnTo>
                  <a:lnTo>
                    <a:pt x="18031" y="43272"/>
                  </a:lnTo>
                  <a:close/>
                </a:path>
              </a:pathLst>
            </a:custGeom>
            <a:solidFill>
              <a:srgbClr val="A97849"/>
            </a:solidFill>
            <a:ln w="14087">
              <a:solidFill>
                <a:srgbClr val="4A5147"/>
              </a:solidFill>
              <a:prstDash val="solid"/>
            </a:ln>
          </p:spPr>
          <p:txBody>
            <a:bodyPr/>
            <a:lstStyle/>
            <a:p>
              <a:endParaRPr sz="1200"/>
            </a:p>
          </p:txBody>
        </p:sp>
        <p:sp>
          <p:nvSpPr>
            <p:cNvPr id="242" name="s2-managed-rooster__contour_242">
              <a:extLst>
                <a:ext uri="{FF2B5EF4-FFF2-40B4-BE49-F238E27FC236}">
                  <a16:creationId xmlns:a16="http://schemas.microsoft.com/office/drawing/2014/main" id="{9220BB47-29AB-4444-B878-754CF41A6AFC}"/>
                </a:ext>
              </a:extLst>
            </p:cNvPr>
            <p:cNvSpPr>
              <a:spLocks/>
            </p:cNvSpPr>
            <p:nvPr/>
          </p:nvSpPr>
          <p:spPr>
            <a:xfrm>
              <a:off x="3637343" y="3751479"/>
              <a:ext cx="160210" cy="55155"/>
            </a:xfrm>
            <a:custGeom>
              <a:avLst/>
              <a:gdLst/>
              <a:ahLst/>
              <a:cxnLst/>
              <a:rect l="0" t="0" r="0" b="0"/>
              <a:pathLst>
                <a:path w="240316" h="82734">
                  <a:moveTo>
                    <a:pt x="0" y="8153"/>
                  </a:moveTo>
                  <a:lnTo>
                    <a:pt x="19869" y="3943"/>
                  </a:lnTo>
                  <a:lnTo>
                    <a:pt x="39643" y="1248"/>
                  </a:lnTo>
                  <a:lnTo>
                    <a:pt x="59198" y="0"/>
                  </a:lnTo>
                  <a:lnTo>
                    <a:pt x="78457" y="171"/>
                  </a:lnTo>
                  <a:lnTo>
                    <a:pt x="97288" y="1705"/>
                  </a:lnTo>
                  <a:lnTo>
                    <a:pt x="115614" y="4572"/>
                  </a:lnTo>
                  <a:lnTo>
                    <a:pt x="133321" y="8725"/>
                  </a:lnTo>
                  <a:lnTo>
                    <a:pt x="150305" y="14107"/>
                  </a:lnTo>
                  <a:lnTo>
                    <a:pt x="166468" y="20679"/>
                  </a:lnTo>
                  <a:lnTo>
                    <a:pt x="181699" y="28413"/>
                  </a:lnTo>
                  <a:lnTo>
                    <a:pt x="195891" y="37243"/>
                  </a:lnTo>
                  <a:lnTo>
                    <a:pt x="208959" y="47130"/>
                  </a:lnTo>
                  <a:lnTo>
                    <a:pt x="220790" y="58045"/>
                  </a:lnTo>
                  <a:lnTo>
                    <a:pt x="231277" y="69923"/>
                  </a:lnTo>
                  <a:lnTo>
                    <a:pt x="240316" y="82734"/>
                  </a:lnTo>
                </a:path>
              </a:pathLst>
            </a:custGeom>
            <a:noFill/>
            <a:ln w="10773">
              <a:solidFill>
                <a:srgbClr val="D19051"/>
              </a:solidFill>
              <a:prstDash val="solid"/>
            </a:ln>
          </p:spPr>
          <p:txBody>
            <a:bodyPr/>
            <a:lstStyle/>
            <a:p>
              <a:endParaRPr sz="1200"/>
            </a:p>
          </p:txBody>
        </p:sp>
        <p:sp>
          <p:nvSpPr>
            <p:cNvPr id="243" name="s2-managed-rooster__contour_243">
              <a:extLst>
                <a:ext uri="{FF2B5EF4-FFF2-40B4-BE49-F238E27FC236}">
                  <a16:creationId xmlns:a16="http://schemas.microsoft.com/office/drawing/2014/main" id="{465D6B75-4B0D-4EDD-AEC0-8B3ACA110656}"/>
                </a:ext>
              </a:extLst>
            </p:cNvPr>
            <p:cNvSpPr>
              <a:spLocks/>
            </p:cNvSpPr>
            <p:nvPr/>
          </p:nvSpPr>
          <p:spPr>
            <a:xfrm>
              <a:off x="3877494" y="3413672"/>
              <a:ext cx="162693" cy="100164"/>
            </a:xfrm>
            <a:custGeom>
              <a:avLst/>
              <a:gdLst/>
              <a:ahLst/>
              <a:cxnLst/>
              <a:rect l="0" t="0" r="0" b="0"/>
              <a:pathLst>
                <a:path w="244040" h="150247">
                  <a:moveTo>
                    <a:pt x="37538" y="125387"/>
                  </a:moveTo>
                  <a:lnTo>
                    <a:pt x="26918" y="120310"/>
                  </a:lnTo>
                  <a:lnTo>
                    <a:pt x="18193" y="115081"/>
                  </a:lnTo>
                  <a:lnTo>
                    <a:pt x="11287" y="109738"/>
                  </a:lnTo>
                  <a:lnTo>
                    <a:pt x="6096" y="104356"/>
                  </a:lnTo>
                  <a:lnTo>
                    <a:pt x="2553" y="98993"/>
                  </a:lnTo>
                  <a:lnTo>
                    <a:pt x="543" y="93697"/>
                  </a:lnTo>
                  <a:lnTo>
                    <a:pt x="0" y="88535"/>
                  </a:lnTo>
                  <a:lnTo>
                    <a:pt x="829" y="83572"/>
                  </a:lnTo>
                  <a:lnTo>
                    <a:pt x="2934" y="78848"/>
                  </a:lnTo>
                  <a:lnTo>
                    <a:pt x="6229" y="74438"/>
                  </a:lnTo>
                  <a:lnTo>
                    <a:pt x="10639" y="70399"/>
                  </a:lnTo>
                  <a:lnTo>
                    <a:pt x="16059" y="66780"/>
                  </a:lnTo>
                  <a:lnTo>
                    <a:pt x="22412" y="63656"/>
                  </a:lnTo>
                  <a:lnTo>
                    <a:pt x="29594" y="61074"/>
                  </a:lnTo>
                  <a:lnTo>
                    <a:pt x="37538" y="59093"/>
                  </a:lnTo>
                  <a:lnTo>
                    <a:pt x="31775" y="52588"/>
                  </a:lnTo>
                  <a:lnTo>
                    <a:pt x="27661" y="46396"/>
                  </a:lnTo>
                  <a:lnTo>
                    <a:pt x="25079" y="40596"/>
                  </a:lnTo>
                  <a:lnTo>
                    <a:pt x="23908" y="35290"/>
                  </a:lnTo>
                  <a:lnTo>
                    <a:pt x="24032" y="30547"/>
                  </a:lnTo>
                  <a:lnTo>
                    <a:pt x="25336" y="26479"/>
                  </a:lnTo>
                  <a:lnTo>
                    <a:pt x="27708" y="23155"/>
                  </a:lnTo>
                  <a:lnTo>
                    <a:pt x="31013" y="20669"/>
                  </a:lnTo>
                  <a:lnTo>
                    <a:pt x="35147" y="19117"/>
                  </a:lnTo>
                  <a:lnTo>
                    <a:pt x="39995" y="18583"/>
                  </a:lnTo>
                  <a:lnTo>
                    <a:pt x="45425" y="19145"/>
                  </a:lnTo>
                  <a:lnTo>
                    <a:pt x="51330" y="20907"/>
                  </a:lnTo>
                  <a:lnTo>
                    <a:pt x="57579" y="23946"/>
                  </a:lnTo>
                  <a:lnTo>
                    <a:pt x="64075" y="28365"/>
                  </a:lnTo>
                  <a:lnTo>
                    <a:pt x="70685" y="34233"/>
                  </a:lnTo>
                  <a:lnTo>
                    <a:pt x="72761" y="25051"/>
                  </a:lnTo>
                  <a:lnTo>
                    <a:pt x="75590" y="17383"/>
                  </a:lnTo>
                  <a:lnTo>
                    <a:pt x="79038" y="11163"/>
                  </a:lnTo>
                  <a:lnTo>
                    <a:pt x="82972" y="6363"/>
                  </a:lnTo>
                  <a:lnTo>
                    <a:pt x="87259" y="2924"/>
                  </a:lnTo>
                  <a:lnTo>
                    <a:pt x="91764" y="819"/>
                  </a:lnTo>
                  <a:lnTo>
                    <a:pt x="96364" y="0"/>
                  </a:lnTo>
                  <a:lnTo>
                    <a:pt x="100917" y="410"/>
                  </a:lnTo>
                  <a:lnTo>
                    <a:pt x="105289" y="2010"/>
                  </a:lnTo>
                  <a:lnTo>
                    <a:pt x="109357" y="4772"/>
                  </a:lnTo>
                  <a:lnTo>
                    <a:pt x="112976" y="8630"/>
                  </a:lnTo>
                  <a:lnTo>
                    <a:pt x="116034" y="13545"/>
                  </a:lnTo>
                  <a:lnTo>
                    <a:pt x="118377" y="19488"/>
                  </a:lnTo>
                  <a:lnTo>
                    <a:pt x="119872" y="26394"/>
                  </a:lnTo>
                  <a:lnTo>
                    <a:pt x="120406" y="34233"/>
                  </a:lnTo>
                  <a:lnTo>
                    <a:pt x="128778" y="23822"/>
                  </a:lnTo>
                  <a:lnTo>
                    <a:pt x="137208" y="15716"/>
                  </a:lnTo>
                  <a:lnTo>
                    <a:pt x="145532" y="9773"/>
                  </a:lnTo>
                  <a:lnTo>
                    <a:pt x="153591" y="5858"/>
                  </a:lnTo>
                  <a:lnTo>
                    <a:pt x="161230" y="3848"/>
                  </a:lnTo>
                  <a:lnTo>
                    <a:pt x="168269" y="3600"/>
                  </a:lnTo>
                  <a:lnTo>
                    <a:pt x="174565" y="5001"/>
                  </a:lnTo>
                  <a:lnTo>
                    <a:pt x="179946" y="7896"/>
                  </a:lnTo>
                  <a:lnTo>
                    <a:pt x="184242" y="12154"/>
                  </a:lnTo>
                  <a:lnTo>
                    <a:pt x="187309" y="17659"/>
                  </a:lnTo>
                  <a:lnTo>
                    <a:pt x="188976" y="24270"/>
                  </a:lnTo>
                  <a:lnTo>
                    <a:pt x="189090" y="31842"/>
                  </a:lnTo>
                  <a:lnTo>
                    <a:pt x="187471" y="40262"/>
                  </a:lnTo>
                  <a:lnTo>
                    <a:pt x="183966" y="49397"/>
                  </a:lnTo>
                  <a:lnTo>
                    <a:pt x="178413" y="59093"/>
                  </a:lnTo>
                  <a:lnTo>
                    <a:pt x="191110" y="51997"/>
                  </a:lnTo>
                  <a:lnTo>
                    <a:pt x="202625" y="47168"/>
                  </a:lnTo>
                  <a:lnTo>
                    <a:pt x="212884" y="44444"/>
                  </a:lnTo>
                  <a:lnTo>
                    <a:pt x="221828" y="43663"/>
                  </a:lnTo>
                  <a:lnTo>
                    <a:pt x="229362" y="44672"/>
                  </a:lnTo>
                  <a:lnTo>
                    <a:pt x="235429" y="47292"/>
                  </a:lnTo>
                  <a:lnTo>
                    <a:pt x="239944" y="51378"/>
                  </a:lnTo>
                  <a:lnTo>
                    <a:pt x="242840" y="56759"/>
                  </a:lnTo>
                  <a:lnTo>
                    <a:pt x="244040" y="63265"/>
                  </a:lnTo>
                  <a:lnTo>
                    <a:pt x="243478" y="70752"/>
                  </a:lnTo>
                  <a:lnTo>
                    <a:pt x="241068" y="79048"/>
                  </a:lnTo>
                  <a:lnTo>
                    <a:pt x="236753" y="88001"/>
                  </a:lnTo>
                  <a:lnTo>
                    <a:pt x="230438" y="97431"/>
                  </a:lnTo>
                  <a:lnTo>
                    <a:pt x="222066" y="107185"/>
                  </a:lnTo>
                  <a:lnTo>
                    <a:pt x="211560" y="117100"/>
                  </a:lnTo>
                  <a:lnTo>
                    <a:pt x="153553" y="150247"/>
                  </a:lnTo>
                  <a:close/>
                </a:path>
              </a:pathLst>
            </a:custGeom>
            <a:solidFill>
              <a:srgbClr val="B8493E"/>
            </a:solidFill>
            <a:ln w="9115">
              <a:solidFill>
                <a:srgbClr val="803B33"/>
              </a:solidFill>
              <a:prstDash val="solid"/>
            </a:ln>
          </p:spPr>
          <p:txBody>
            <a:bodyPr/>
            <a:lstStyle/>
            <a:p>
              <a:endParaRPr sz="1200"/>
            </a:p>
          </p:txBody>
        </p:sp>
        <p:sp>
          <p:nvSpPr>
            <p:cNvPr id="244" name="s2-managed-rooster__contour_244">
              <a:extLst>
                <a:ext uri="{FF2B5EF4-FFF2-40B4-BE49-F238E27FC236}">
                  <a16:creationId xmlns:a16="http://schemas.microsoft.com/office/drawing/2014/main" id="{AA8CD076-1DEB-4EE4-B7F7-ABD755A84053}"/>
                </a:ext>
              </a:extLst>
            </p:cNvPr>
            <p:cNvSpPr>
              <a:spLocks/>
            </p:cNvSpPr>
            <p:nvPr/>
          </p:nvSpPr>
          <p:spPr>
            <a:xfrm>
              <a:off x="4007486" y="3552508"/>
              <a:ext cx="71818" cy="49720"/>
            </a:xfrm>
            <a:custGeom>
              <a:avLst/>
              <a:gdLst/>
              <a:ahLst/>
              <a:cxnLst/>
              <a:rect l="0" t="0" r="0" b="0"/>
              <a:pathLst>
                <a:path w="107728" h="74581">
                  <a:moveTo>
                    <a:pt x="0" y="0"/>
                  </a:moveTo>
                  <a:lnTo>
                    <a:pt x="107728" y="41434"/>
                  </a:lnTo>
                  <a:lnTo>
                    <a:pt x="8287" y="74581"/>
                  </a:lnTo>
                  <a:close/>
                </a:path>
              </a:pathLst>
            </a:custGeom>
            <a:solidFill>
              <a:srgbClr val="CEA653"/>
            </a:solidFill>
            <a:ln w="9115">
              <a:solidFill>
                <a:srgbClr val="8D7239"/>
              </a:solidFill>
              <a:prstDash val="solid"/>
            </a:ln>
          </p:spPr>
          <p:txBody>
            <a:bodyPr/>
            <a:lstStyle/>
            <a:p>
              <a:endParaRPr sz="1200"/>
            </a:p>
          </p:txBody>
        </p:sp>
        <p:sp>
          <p:nvSpPr>
            <p:cNvPr id="245" name="s2-managed-rooster__ellipse_245">
              <a:extLst>
                <a:ext uri="{FF2B5EF4-FFF2-40B4-BE49-F238E27FC236}">
                  <a16:creationId xmlns:a16="http://schemas.microsoft.com/office/drawing/2014/main" id="{AD22CAE1-98A8-4D54-AD09-BA4B7D4155DD}"/>
                </a:ext>
              </a:extLst>
            </p:cNvPr>
            <p:cNvSpPr>
              <a:spLocks/>
            </p:cNvSpPr>
            <p:nvPr/>
          </p:nvSpPr>
          <p:spPr>
            <a:xfrm>
              <a:off x="3952240" y="3607753"/>
              <a:ext cx="44196" cy="77343"/>
            </a:xfrm>
            <a:prstGeom prst="ellipse">
              <a:avLst/>
            </a:prstGeom>
            <a:solidFill>
              <a:srgbClr val="B8493E"/>
            </a:solidFill>
            <a:ln w="8287">
              <a:solidFill>
                <a:srgbClr val="803B33"/>
              </a:solidFill>
              <a:prstDash val="solid"/>
            </a:ln>
          </p:spPr>
          <p:txBody>
            <a:bodyPr/>
            <a:lstStyle/>
            <a:p>
              <a:endParaRPr sz="1200"/>
            </a:p>
          </p:txBody>
        </p:sp>
        <p:sp>
          <p:nvSpPr>
            <p:cNvPr id="246" name="s2-managed-rooster__ellipse_246">
              <a:extLst>
                <a:ext uri="{FF2B5EF4-FFF2-40B4-BE49-F238E27FC236}">
                  <a16:creationId xmlns:a16="http://schemas.microsoft.com/office/drawing/2014/main" id="{F770EAF9-40FA-4021-8D12-67604C47E15C}"/>
                </a:ext>
              </a:extLst>
            </p:cNvPr>
            <p:cNvSpPr>
              <a:spLocks/>
            </p:cNvSpPr>
            <p:nvPr/>
          </p:nvSpPr>
          <p:spPr>
            <a:xfrm>
              <a:off x="3963290" y="3552508"/>
              <a:ext cx="22098" cy="33147"/>
            </a:xfrm>
            <a:prstGeom prst="ellipse">
              <a:avLst/>
            </a:prstGeom>
            <a:solidFill>
              <a:srgbClr val="F2E7D1"/>
            </a:solidFill>
            <a:ln w="0">
              <a:noFill/>
              <a:prstDash val="solid"/>
            </a:ln>
          </p:spPr>
          <p:txBody>
            <a:bodyPr/>
            <a:lstStyle/>
            <a:p>
              <a:endParaRPr sz="1200"/>
            </a:p>
          </p:txBody>
        </p:sp>
        <p:sp>
          <p:nvSpPr>
            <p:cNvPr id="247" name="s2-managed-rooster__ellipse_247">
              <a:extLst>
                <a:ext uri="{FF2B5EF4-FFF2-40B4-BE49-F238E27FC236}">
                  <a16:creationId xmlns:a16="http://schemas.microsoft.com/office/drawing/2014/main" id="{19B6FDE5-52FE-4F08-9B59-94EC66EB11E2}"/>
                </a:ext>
              </a:extLst>
            </p:cNvPr>
            <p:cNvSpPr>
              <a:spLocks/>
            </p:cNvSpPr>
            <p:nvPr/>
          </p:nvSpPr>
          <p:spPr>
            <a:xfrm>
              <a:off x="3979863" y="3524886"/>
              <a:ext cx="22098" cy="22097"/>
            </a:xfrm>
            <a:prstGeom prst="ellipse">
              <a:avLst/>
            </a:prstGeom>
            <a:solidFill>
              <a:srgbClr val="1F2B28"/>
            </a:solidFill>
            <a:ln w="0">
              <a:noFill/>
              <a:prstDash val="solid"/>
            </a:ln>
          </p:spPr>
          <p:txBody>
            <a:bodyPr/>
            <a:lstStyle/>
            <a:p>
              <a:endParaRPr sz="1200"/>
            </a:p>
          </p:txBody>
        </p:sp>
        <p:sp>
          <p:nvSpPr>
            <p:cNvPr id="248" name="s2-managed-rooster__ellipse_248">
              <a:extLst>
                <a:ext uri="{FF2B5EF4-FFF2-40B4-BE49-F238E27FC236}">
                  <a16:creationId xmlns:a16="http://schemas.microsoft.com/office/drawing/2014/main" id="{2AF26D97-702A-45B6-9D47-B1B538920DFA}"/>
                </a:ext>
              </a:extLst>
            </p:cNvPr>
            <p:cNvSpPr>
              <a:spLocks/>
            </p:cNvSpPr>
            <p:nvPr/>
          </p:nvSpPr>
          <p:spPr>
            <a:xfrm>
              <a:off x="3984835" y="3525991"/>
              <a:ext cx="6076" cy="6076"/>
            </a:xfrm>
            <a:prstGeom prst="ellipse">
              <a:avLst/>
            </a:prstGeom>
            <a:solidFill>
              <a:srgbClr val="FFFFFF"/>
            </a:solidFill>
            <a:ln w="0">
              <a:noFill/>
              <a:prstDash val="solid"/>
            </a:ln>
          </p:spPr>
          <p:txBody>
            <a:bodyPr/>
            <a:lstStyle/>
            <a:p>
              <a:endParaRPr sz="1200"/>
            </a:p>
          </p:txBody>
        </p:sp>
        <p:sp>
          <p:nvSpPr>
            <p:cNvPr id="249" name="s2-managed-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1200"/>
            </a:p>
          </p:txBody>
        </p:sp>
        <p:sp>
          <p:nvSpPr>
            <p:cNvPr id="250" name="s2-managed-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1200"/>
            </a:p>
          </p:txBody>
        </p:sp>
        <p:sp>
          <p:nvSpPr>
            <p:cNvPr id="251" name="s2-managed-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1200"/>
            </a:p>
          </p:txBody>
        </p:sp>
        <p:sp>
          <p:nvSpPr>
            <p:cNvPr id="252" name="s2-managed-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1200"/>
            </a:p>
          </p:txBody>
        </p:sp>
        <p:sp>
          <p:nvSpPr>
            <p:cNvPr id="253" name="s2-managed-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1200"/>
            </a:p>
          </p:txBody>
        </p:sp>
        <p:sp>
          <p:nvSpPr>
            <p:cNvPr id="254" name="s2-managed-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1200"/>
            </a:p>
          </p:txBody>
        </p:sp>
        <p:sp>
          <p:nvSpPr>
            <p:cNvPr id="255" name="s2-managed-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1200"/>
            </a:p>
          </p:txBody>
        </p:sp>
        <p:sp>
          <p:nvSpPr>
            <p:cNvPr id="256" name="s2-managed-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1200"/>
            </a:p>
          </p:txBody>
        </p:sp>
        <p:sp>
          <p:nvSpPr>
            <p:cNvPr id="257" name="s2-managed-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1200"/>
            </a:p>
          </p:txBody>
        </p:sp>
        <p:sp>
          <p:nvSpPr>
            <p:cNvPr id="258" name="s2-managed-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1200"/>
            </a:p>
          </p:txBody>
        </p:sp>
        <p:sp>
          <p:nvSpPr>
            <p:cNvPr id="259" name="s2-managed-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1200"/>
            </a:p>
          </p:txBody>
        </p:sp>
        <p:sp>
          <p:nvSpPr>
            <p:cNvPr id="260" name="s2-managed-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1200"/>
            </a:p>
          </p:txBody>
        </p:sp>
        <p:sp>
          <p:nvSpPr>
            <p:cNvPr id="261" name="s2-managed-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1200"/>
            </a:p>
          </p:txBody>
        </p:sp>
        <p:sp>
          <p:nvSpPr>
            <p:cNvPr id="262" name="s2-managed-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1200"/>
            </a:p>
          </p:txBody>
        </p:sp>
        <p:sp>
          <p:nvSpPr>
            <p:cNvPr id="263" name="s2-managed-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1200"/>
            </a:p>
          </p:txBody>
        </p:sp>
        <p:sp>
          <p:nvSpPr>
            <p:cNvPr id="264" name="s2-managed-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1200"/>
            </a:p>
          </p:txBody>
        </p:sp>
        <p:sp>
          <p:nvSpPr>
            <p:cNvPr id="265" name="s2-managed-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1200"/>
            </a:p>
          </p:txBody>
        </p:sp>
        <p:sp>
          <p:nvSpPr>
            <p:cNvPr id="266" name="s2-chick__ellipse_266">
              <a:extLst>
                <a:ext uri="{FF2B5EF4-FFF2-40B4-BE49-F238E27FC236}">
                  <a16:creationId xmlns:a16="http://schemas.microsoft.com/office/drawing/2014/main" id="{86FCAE1D-F74B-4F06-8310-8F9A7F56F196}"/>
                </a:ext>
              </a:extLst>
            </p:cNvPr>
            <p:cNvSpPr>
              <a:spLocks/>
            </p:cNvSpPr>
            <p:nvPr/>
          </p:nvSpPr>
          <p:spPr>
            <a:xfrm>
              <a:off x="5040249" y="3962020"/>
              <a:ext cx="198882" cy="18415"/>
            </a:xfrm>
            <a:prstGeom prst="ellipse">
              <a:avLst/>
            </a:prstGeom>
            <a:solidFill>
              <a:srgbClr val="DCE2D6"/>
            </a:solidFill>
            <a:ln w="0">
              <a:noFill/>
              <a:prstDash val="solid"/>
            </a:ln>
          </p:spPr>
          <p:txBody>
            <a:bodyPr/>
            <a:lstStyle/>
            <a:p>
              <a:endParaRPr sz="1200"/>
            </a:p>
          </p:txBody>
        </p:sp>
        <p:sp>
          <p:nvSpPr>
            <p:cNvPr id="267" name="s2-chick__line_267">
              <a:extLst>
                <a:ext uri="{FF2B5EF4-FFF2-40B4-BE49-F238E27FC236}">
                  <a16:creationId xmlns:a16="http://schemas.microsoft.com/office/drawing/2014/main" id="{2589A4F4-6D43-441F-A935-1C1A50893849}"/>
                </a:ext>
              </a:extLst>
            </p:cNvPr>
            <p:cNvSpPr>
              <a:spLocks/>
            </p:cNvSpPr>
            <p:nvPr/>
          </p:nvSpPr>
          <p:spPr>
            <a:xfrm>
              <a:off x="5117592" y="3939922"/>
              <a:ext cx="3683" cy="33146"/>
            </a:xfrm>
            <a:custGeom>
              <a:avLst/>
              <a:gdLst/>
              <a:ahLst/>
              <a:cxnLst/>
              <a:rect l="0" t="0" r="0" b="0"/>
              <a:pathLst>
                <a:path w="5525" h="49720">
                  <a:moveTo>
                    <a:pt x="5525" y="0"/>
                  </a:moveTo>
                  <a:lnTo>
                    <a:pt x="0" y="49720"/>
                  </a:lnTo>
                </a:path>
              </a:pathLst>
            </a:custGeom>
            <a:noFill/>
            <a:ln w="8287">
              <a:solidFill>
                <a:srgbClr val="AC8444"/>
              </a:solidFill>
              <a:prstDash val="solid"/>
            </a:ln>
          </p:spPr>
          <p:txBody>
            <a:bodyPr/>
            <a:lstStyle/>
            <a:p>
              <a:endParaRPr sz="1200"/>
            </a:p>
          </p:txBody>
        </p:sp>
        <p:sp>
          <p:nvSpPr>
            <p:cNvPr id="268" name="s2-chick__line_268">
              <a:extLst>
                <a:ext uri="{FF2B5EF4-FFF2-40B4-BE49-F238E27FC236}">
                  <a16:creationId xmlns:a16="http://schemas.microsoft.com/office/drawing/2014/main" id="{05B25BF4-E526-4F37-98CA-757DFF8A25F3}"/>
                </a:ext>
              </a:extLst>
            </p:cNvPr>
            <p:cNvSpPr>
              <a:spLocks/>
            </p:cNvSpPr>
            <p:nvPr/>
          </p:nvSpPr>
          <p:spPr>
            <a:xfrm>
              <a:off x="5169154" y="3939922"/>
              <a:ext cx="63" cy="33146"/>
            </a:xfrm>
            <a:custGeom>
              <a:avLst/>
              <a:gdLst/>
              <a:ahLst/>
              <a:cxnLst/>
              <a:rect l="0" t="0" r="0" b="0"/>
              <a:pathLst>
                <a:path w="95" h="49720">
                  <a:moveTo>
                    <a:pt x="0" y="0"/>
                  </a:moveTo>
                  <a:lnTo>
                    <a:pt x="0" y="49720"/>
                  </a:lnTo>
                </a:path>
              </a:pathLst>
            </a:custGeom>
            <a:noFill/>
            <a:ln w="8287">
              <a:solidFill>
                <a:srgbClr val="AC8444"/>
              </a:solidFill>
              <a:prstDash val="solid"/>
            </a:ln>
          </p:spPr>
          <p:txBody>
            <a:bodyPr/>
            <a:lstStyle/>
            <a:p>
              <a:endParaRPr sz="1200"/>
            </a:p>
          </p:txBody>
        </p:sp>
        <p:sp>
          <p:nvSpPr>
            <p:cNvPr id="269" name="s2-chick__line_269">
              <a:extLst>
                <a:ext uri="{FF2B5EF4-FFF2-40B4-BE49-F238E27FC236}">
                  <a16:creationId xmlns:a16="http://schemas.microsoft.com/office/drawing/2014/main" id="{1DC7CEF0-094D-4D9F-8B7D-531443ACDFB6}"/>
                </a:ext>
              </a:extLst>
            </p:cNvPr>
            <p:cNvSpPr>
              <a:spLocks/>
            </p:cNvSpPr>
            <p:nvPr/>
          </p:nvSpPr>
          <p:spPr>
            <a:xfrm>
              <a:off x="5099177" y="3973068"/>
              <a:ext cx="18414" cy="63"/>
            </a:xfrm>
            <a:custGeom>
              <a:avLst/>
              <a:gdLst/>
              <a:ahLst/>
              <a:cxnLst/>
              <a:rect l="0" t="0" r="0" b="0"/>
              <a:pathLst>
                <a:path w="27622" h="95">
                  <a:moveTo>
                    <a:pt x="27622" y="0"/>
                  </a:moveTo>
                  <a:lnTo>
                    <a:pt x="0" y="0"/>
                  </a:lnTo>
                </a:path>
              </a:pathLst>
            </a:custGeom>
            <a:noFill/>
            <a:ln w="7182">
              <a:solidFill>
                <a:srgbClr val="AC8444"/>
              </a:solidFill>
              <a:prstDash val="solid"/>
            </a:ln>
          </p:spPr>
          <p:txBody>
            <a:bodyPr/>
            <a:lstStyle/>
            <a:p>
              <a:endParaRPr sz="1200"/>
            </a:p>
          </p:txBody>
        </p:sp>
        <p:sp>
          <p:nvSpPr>
            <p:cNvPr id="270" name="s2-chick__line_270">
              <a:extLst>
                <a:ext uri="{FF2B5EF4-FFF2-40B4-BE49-F238E27FC236}">
                  <a16:creationId xmlns:a16="http://schemas.microsoft.com/office/drawing/2014/main" id="{C9A82792-6F5B-4259-9DC0-870AA6D5E747}"/>
                </a:ext>
              </a:extLst>
            </p:cNvPr>
            <p:cNvSpPr>
              <a:spLocks/>
            </p:cNvSpPr>
            <p:nvPr/>
          </p:nvSpPr>
          <p:spPr>
            <a:xfrm>
              <a:off x="5169154" y="3973068"/>
              <a:ext cx="22098" cy="63"/>
            </a:xfrm>
            <a:custGeom>
              <a:avLst/>
              <a:gdLst/>
              <a:ahLst/>
              <a:cxnLst/>
              <a:rect l="0" t="0" r="0" b="0"/>
              <a:pathLst>
                <a:path w="33147" h="95">
                  <a:moveTo>
                    <a:pt x="0" y="0"/>
                  </a:moveTo>
                  <a:lnTo>
                    <a:pt x="33147" y="0"/>
                  </a:lnTo>
                </a:path>
              </a:pathLst>
            </a:custGeom>
            <a:noFill/>
            <a:ln w="7182">
              <a:solidFill>
                <a:srgbClr val="AC8444"/>
              </a:solidFill>
              <a:prstDash val="solid"/>
            </a:ln>
          </p:spPr>
          <p:txBody>
            <a:bodyPr/>
            <a:lstStyle/>
            <a:p>
              <a:endParaRPr sz="1200"/>
            </a:p>
          </p:txBody>
        </p:sp>
        <p:sp>
          <p:nvSpPr>
            <p:cNvPr id="271" name="s2-chick__ellipse_271">
              <a:extLst>
                <a:ext uri="{FF2B5EF4-FFF2-40B4-BE49-F238E27FC236}">
                  <a16:creationId xmlns:a16="http://schemas.microsoft.com/office/drawing/2014/main" id="{240810BE-B264-4492-8856-B7C323EFC8F7}"/>
                </a:ext>
              </a:extLst>
            </p:cNvPr>
            <p:cNvSpPr>
              <a:spLocks/>
            </p:cNvSpPr>
            <p:nvPr/>
          </p:nvSpPr>
          <p:spPr>
            <a:xfrm>
              <a:off x="5051298" y="3855212"/>
              <a:ext cx="132588" cy="99440"/>
            </a:xfrm>
            <a:prstGeom prst="ellipse">
              <a:avLst/>
            </a:prstGeom>
            <a:solidFill>
              <a:srgbClr val="E2BB6E"/>
            </a:solidFill>
            <a:ln w="5525">
              <a:solidFill>
                <a:srgbClr val="9E854F"/>
              </a:solidFill>
              <a:prstDash val="solid"/>
            </a:ln>
          </p:spPr>
          <p:txBody>
            <a:bodyPr/>
            <a:lstStyle/>
            <a:p>
              <a:endParaRPr sz="1200"/>
            </a:p>
          </p:txBody>
        </p:sp>
        <p:sp>
          <p:nvSpPr>
            <p:cNvPr id="272" name="s2-chick__ellipse_272">
              <a:extLst>
                <a:ext uri="{FF2B5EF4-FFF2-40B4-BE49-F238E27FC236}">
                  <a16:creationId xmlns:a16="http://schemas.microsoft.com/office/drawing/2014/main" id="{81A07B26-D78C-4C81-92AF-C1AAEBE5599E}"/>
                </a:ext>
              </a:extLst>
            </p:cNvPr>
            <p:cNvSpPr>
              <a:spLocks/>
            </p:cNvSpPr>
            <p:nvPr/>
          </p:nvSpPr>
          <p:spPr>
            <a:xfrm>
              <a:off x="5143373" y="3811016"/>
              <a:ext cx="84709" cy="88392"/>
            </a:xfrm>
            <a:prstGeom prst="ellipse">
              <a:avLst/>
            </a:prstGeom>
            <a:solidFill>
              <a:srgbClr val="F0CE82"/>
            </a:solidFill>
            <a:ln w="5525">
              <a:solidFill>
                <a:srgbClr val="9E854F"/>
              </a:solidFill>
              <a:prstDash val="solid"/>
            </a:ln>
          </p:spPr>
          <p:txBody>
            <a:bodyPr/>
            <a:lstStyle/>
            <a:p>
              <a:endParaRPr sz="1200"/>
            </a:p>
          </p:txBody>
        </p:sp>
        <p:sp>
          <p:nvSpPr>
            <p:cNvPr id="273" name="s2-chick__ellipse_273">
              <a:extLst>
                <a:ext uri="{FF2B5EF4-FFF2-40B4-BE49-F238E27FC236}">
                  <a16:creationId xmlns:a16="http://schemas.microsoft.com/office/drawing/2014/main" id="{2D5FF7F3-6E58-4D08-B7B0-C29EBAB8A3C8}"/>
                </a:ext>
              </a:extLst>
            </p:cNvPr>
            <p:cNvSpPr>
              <a:spLocks/>
            </p:cNvSpPr>
            <p:nvPr/>
          </p:nvSpPr>
          <p:spPr>
            <a:xfrm>
              <a:off x="5198618" y="3840480"/>
              <a:ext cx="11048" cy="11048"/>
            </a:xfrm>
            <a:prstGeom prst="ellipse">
              <a:avLst/>
            </a:prstGeom>
            <a:solidFill>
              <a:srgbClr val="253C3A"/>
            </a:solidFill>
            <a:ln w="0">
              <a:noFill/>
              <a:prstDash val="solid"/>
            </a:ln>
          </p:spPr>
          <p:txBody>
            <a:bodyPr/>
            <a:lstStyle/>
            <a:p>
              <a:endParaRPr sz="1200"/>
            </a:p>
          </p:txBody>
        </p:sp>
        <p:sp>
          <p:nvSpPr>
            <p:cNvPr id="274" name="s2-chick__path_274">
              <a:extLst>
                <a:ext uri="{FF2B5EF4-FFF2-40B4-BE49-F238E27FC236}">
                  <a16:creationId xmlns:a16="http://schemas.microsoft.com/office/drawing/2014/main" id="{8FE33EC7-8DD0-44E0-8293-661DC76C559A}"/>
                </a:ext>
              </a:extLst>
            </p:cNvPr>
            <p:cNvSpPr>
              <a:spLocks/>
            </p:cNvSpPr>
            <p:nvPr/>
          </p:nvSpPr>
          <p:spPr>
            <a:xfrm>
              <a:off x="5220716" y="3851529"/>
              <a:ext cx="29464" cy="22098"/>
            </a:xfrm>
            <a:custGeom>
              <a:avLst/>
              <a:gdLst/>
              <a:ahLst/>
              <a:cxnLst/>
              <a:rect l="0" t="0" r="0" b="0"/>
              <a:pathLst>
                <a:path w="44196" h="33147">
                  <a:moveTo>
                    <a:pt x="0" y="0"/>
                  </a:moveTo>
                  <a:lnTo>
                    <a:pt x="44196" y="22098"/>
                  </a:lnTo>
                  <a:lnTo>
                    <a:pt x="0" y="33147"/>
                  </a:lnTo>
                  <a:close/>
                </a:path>
              </a:pathLst>
            </a:custGeom>
            <a:solidFill>
              <a:srgbClr val="C69945"/>
            </a:solidFill>
            <a:ln w="0">
              <a:noFill/>
              <a:prstDash val="solid"/>
            </a:ln>
          </p:spPr>
          <p:txBody>
            <a:bodyPr/>
            <a:lstStyle/>
            <a:p>
              <a:endParaRPr sz="1200"/>
            </a:p>
          </p:txBody>
        </p:sp>
        <p:sp>
          <p:nvSpPr>
            <p:cNvPr id="275" name="s2-chick__contour_275">
              <a:extLst>
                <a:ext uri="{FF2B5EF4-FFF2-40B4-BE49-F238E27FC236}">
                  <a16:creationId xmlns:a16="http://schemas.microsoft.com/office/drawing/2014/main" id="{391ED0B7-34D0-481E-A91B-1AB045C2FE00}"/>
                </a:ext>
              </a:extLst>
            </p:cNvPr>
            <p:cNvSpPr>
              <a:spLocks/>
            </p:cNvSpPr>
            <p:nvPr/>
          </p:nvSpPr>
          <p:spPr>
            <a:xfrm>
              <a:off x="5062347" y="3885876"/>
              <a:ext cx="92075" cy="24580"/>
            </a:xfrm>
            <a:custGeom>
              <a:avLst/>
              <a:gdLst/>
              <a:ahLst/>
              <a:cxnLst/>
              <a:rect l="0" t="0" r="0" b="0"/>
              <a:pathLst>
                <a:path w="138113" h="36871">
                  <a:moveTo>
                    <a:pt x="0" y="25822"/>
                  </a:moveTo>
                  <a:lnTo>
                    <a:pt x="10077" y="18679"/>
                  </a:lnTo>
                  <a:lnTo>
                    <a:pt x="20374" y="12697"/>
                  </a:lnTo>
                  <a:lnTo>
                    <a:pt x="30804" y="7877"/>
                  </a:lnTo>
                  <a:lnTo>
                    <a:pt x="41291" y="4210"/>
                  </a:lnTo>
                  <a:lnTo>
                    <a:pt x="51768" y="1676"/>
                  </a:lnTo>
                  <a:lnTo>
                    <a:pt x="62141" y="276"/>
                  </a:lnTo>
                  <a:lnTo>
                    <a:pt x="72333" y="0"/>
                  </a:lnTo>
                  <a:lnTo>
                    <a:pt x="82277" y="819"/>
                  </a:lnTo>
                  <a:lnTo>
                    <a:pt x="91888" y="2753"/>
                  </a:lnTo>
                  <a:lnTo>
                    <a:pt x="101079" y="5772"/>
                  </a:lnTo>
                  <a:lnTo>
                    <a:pt x="109785" y="9868"/>
                  </a:lnTo>
                  <a:lnTo>
                    <a:pt x="117919" y="15040"/>
                  </a:lnTo>
                  <a:lnTo>
                    <a:pt x="125397" y="21269"/>
                  </a:lnTo>
                  <a:lnTo>
                    <a:pt x="132159" y="28546"/>
                  </a:lnTo>
                  <a:lnTo>
                    <a:pt x="138113" y="36871"/>
                  </a:lnTo>
                </a:path>
              </a:pathLst>
            </a:custGeom>
            <a:noFill/>
            <a:ln w="5525">
              <a:solidFill>
                <a:srgbClr val="C69A4C"/>
              </a:solidFill>
              <a:prstDash val="solid"/>
            </a:ln>
          </p:spPr>
          <p:txBody>
            <a:bodyPr/>
            <a:lstStyle/>
            <a:p>
              <a:endParaRPr sz="1200"/>
            </a:p>
          </p:txBody>
        </p:sp>
        <p:sp>
          <p:nvSpPr>
            <p:cNvPr id="276" name="s2-feed__grain_276">
              <a:extLst>
                <a:ext uri="{FF2B5EF4-FFF2-40B4-BE49-F238E27FC236}">
                  <a16:creationId xmlns:a16="http://schemas.microsoft.com/office/drawing/2014/main" id="{89D8BDA0-67CD-433E-BAE7-E4918011F851}"/>
                </a:ext>
              </a:extLst>
            </p:cNvPr>
            <p:cNvSpPr>
              <a:spLocks/>
            </p:cNvSpPr>
            <p:nvPr/>
          </p:nvSpPr>
          <p:spPr>
            <a:xfrm rot="1200000">
              <a:off x="4905375" y="3586163"/>
              <a:ext cx="28575" cy="14287"/>
            </a:xfrm>
            <a:prstGeom prst="ellipse">
              <a:avLst/>
            </a:prstGeom>
            <a:solidFill>
              <a:srgbClr val="D7B571"/>
            </a:solidFill>
            <a:ln w="3572">
              <a:solidFill>
                <a:srgbClr val="AC925E"/>
              </a:solidFill>
              <a:prstDash val="solid"/>
            </a:ln>
          </p:spPr>
          <p:txBody>
            <a:bodyPr/>
            <a:lstStyle/>
            <a:p>
              <a:endParaRPr sz="1200"/>
            </a:p>
          </p:txBody>
        </p:sp>
        <p:sp>
          <p:nvSpPr>
            <p:cNvPr id="277" name="s2-feed__grain_277">
              <a:extLst>
                <a:ext uri="{FF2B5EF4-FFF2-40B4-BE49-F238E27FC236}">
                  <a16:creationId xmlns:a16="http://schemas.microsoft.com/office/drawing/2014/main" id="{D246BDCF-0164-43C8-A58B-8E33B7070635}"/>
                </a:ext>
              </a:extLst>
            </p:cNvPr>
            <p:cNvSpPr>
              <a:spLocks/>
            </p:cNvSpPr>
            <p:nvPr/>
          </p:nvSpPr>
          <p:spPr>
            <a:xfrm rot="-960000">
              <a:off x="4981575" y="3543300"/>
              <a:ext cx="28575" cy="14287"/>
            </a:xfrm>
            <a:prstGeom prst="ellipse">
              <a:avLst/>
            </a:prstGeom>
            <a:solidFill>
              <a:srgbClr val="D7B571"/>
            </a:solidFill>
            <a:ln w="3572">
              <a:solidFill>
                <a:srgbClr val="AC925E"/>
              </a:solidFill>
              <a:prstDash val="solid"/>
            </a:ln>
          </p:spPr>
          <p:txBody>
            <a:bodyPr/>
            <a:lstStyle/>
            <a:p>
              <a:endParaRPr sz="1200"/>
            </a:p>
          </p:txBody>
        </p:sp>
        <p:sp>
          <p:nvSpPr>
            <p:cNvPr id="278" name="s2-feed__grain_278">
              <a:extLst>
                <a:ext uri="{FF2B5EF4-FFF2-40B4-BE49-F238E27FC236}">
                  <a16:creationId xmlns:a16="http://schemas.microsoft.com/office/drawing/2014/main" id="{AA05F6AB-87DF-4AE9-B74F-E7CEE5891EF2}"/>
                </a:ext>
              </a:extLst>
            </p:cNvPr>
            <p:cNvSpPr>
              <a:spLocks/>
            </p:cNvSpPr>
            <p:nvPr/>
          </p:nvSpPr>
          <p:spPr>
            <a:xfrm rot="1980000">
              <a:off x="5043487" y="3590925"/>
              <a:ext cx="28575" cy="14287"/>
            </a:xfrm>
            <a:prstGeom prst="ellipse">
              <a:avLst/>
            </a:prstGeom>
            <a:solidFill>
              <a:srgbClr val="D7B571"/>
            </a:solidFill>
            <a:ln w="3572">
              <a:solidFill>
                <a:srgbClr val="AC925E"/>
              </a:solidFill>
              <a:prstDash val="solid"/>
            </a:ln>
          </p:spPr>
          <p:txBody>
            <a:bodyPr/>
            <a:lstStyle/>
            <a:p>
              <a:endParaRPr sz="1200"/>
            </a:p>
          </p:txBody>
        </p:sp>
        <p:sp>
          <p:nvSpPr>
            <p:cNvPr id="279" name="s2-feed__grain_279">
              <a:extLst>
                <a:ext uri="{FF2B5EF4-FFF2-40B4-BE49-F238E27FC236}">
                  <a16:creationId xmlns:a16="http://schemas.microsoft.com/office/drawing/2014/main" id="{D7A04FAE-3A70-4E16-9218-A5ACCA5B35C7}"/>
                </a:ext>
              </a:extLst>
            </p:cNvPr>
            <p:cNvSpPr>
              <a:spLocks/>
            </p:cNvSpPr>
            <p:nvPr/>
          </p:nvSpPr>
          <p:spPr>
            <a:xfrm rot="540000">
              <a:off x="5129212" y="3538537"/>
              <a:ext cx="28575" cy="14287"/>
            </a:xfrm>
            <a:prstGeom prst="ellipse">
              <a:avLst/>
            </a:prstGeom>
            <a:solidFill>
              <a:srgbClr val="D7B571"/>
            </a:solidFill>
            <a:ln w="3572">
              <a:solidFill>
                <a:srgbClr val="AC925E"/>
              </a:solidFill>
              <a:prstDash val="solid"/>
            </a:ln>
          </p:spPr>
          <p:txBody>
            <a:bodyPr/>
            <a:lstStyle/>
            <a:p>
              <a:endParaRPr sz="1200"/>
            </a:p>
          </p:txBody>
        </p:sp>
        <p:sp>
          <p:nvSpPr>
            <p:cNvPr id="280" name="s2-feed__grain_280">
              <a:extLst>
                <a:ext uri="{FF2B5EF4-FFF2-40B4-BE49-F238E27FC236}">
                  <a16:creationId xmlns:a16="http://schemas.microsoft.com/office/drawing/2014/main" id="{A0ED0C36-97B2-42F0-AE4E-1B57FE27973A}"/>
                </a:ext>
              </a:extLst>
            </p:cNvPr>
            <p:cNvSpPr>
              <a:spLocks/>
            </p:cNvSpPr>
            <p:nvPr/>
          </p:nvSpPr>
          <p:spPr>
            <a:xfrm rot="-2100000">
              <a:off x="5181600" y="3609975"/>
              <a:ext cx="28575" cy="14287"/>
            </a:xfrm>
            <a:prstGeom prst="ellipse">
              <a:avLst/>
            </a:prstGeom>
            <a:solidFill>
              <a:srgbClr val="D7B571"/>
            </a:solidFill>
            <a:ln w="3572">
              <a:solidFill>
                <a:srgbClr val="AC925E"/>
              </a:solidFill>
              <a:prstDash val="solid"/>
            </a:ln>
          </p:spPr>
          <p:txBody>
            <a:bodyPr/>
            <a:lstStyle/>
            <a:p>
              <a:endParaRPr sz="1200"/>
            </a:p>
          </p:txBody>
        </p:sp>
        <p:sp>
          <p:nvSpPr>
            <p:cNvPr id="281" name="s2-feed__grain_281">
              <a:extLst>
                <a:ext uri="{FF2B5EF4-FFF2-40B4-BE49-F238E27FC236}">
                  <a16:creationId xmlns:a16="http://schemas.microsoft.com/office/drawing/2014/main" id="{4E13742A-A88F-43CE-B882-ABBDDCC8B4BB}"/>
                </a:ext>
              </a:extLst>
            </p:cNvPr>
            <p:cNvSpPr>
              <a:spLocks/>
            </p:cNvSpPr>
            <p:nvPr/>
          </p:nvSpPr>
          <p:spPr>
            <a:xfrm rot="-1320000">
              <a:off x="4957762" y="3657600"/>
              <a:ext cx="28575" cy="14287"/>
            </a:xfrm>
            <a:prstGeom prst="ellipse">
              <a:avLst/>
            </a:prstGeom>
            <a:solidFill>
              <a:srgbClr val="D7B571"/>
            </a:solidFill>
            <a:ln w="3572">
              <a:solidFill>
                <a:srgbClr val="AC925E"/>
              </a:solidFill>
              <a:prstDash val="solid"/>
            </a:ln>
          </p:spPr>
          <p:txBody>
            <a:bodyPr/>
            <a:lstStyle/>
            <a:p>
              <a:endParaRPr sz="1200"/>
            </a:p>
          </p:txBody>
        </p:sp>
        <p:sp>
          <p:nvSpPr>
            <p:cNvPr id="282" name="s2-feed__grain_282">
              <a:extLst>
                <a:ext uri="{FF2B5EF4-FFF2-40B4-BE49-F238E27FC236}">
                  <a16:creationId xmlns:a16="http://schemas.microsoft.com/office/drawing/2014/main" id="{09384E44-FEBE-4604-8F3F-7C9B441ECDB5}"/>
                </a:ext>
              </a:extLst>
            </p:cNvPr>
            <p:cNvSpPr>
              <a:spLocks/>
            </p:cNvSpPr>
            <p:nvPr/>
          </p:nvSpPr>
          <p:spPr>
            <a:xfrm rot="1260000">
              <a:off x="5076825" y="3671888"/>
              <a:ext cx="28575" cy="14287"/>
            </a:xfrm>
            <a:prstGeom prst="ellipse">
              <a:avLst/>
            </a:prstGeom>
            <a:solidFill>
              <a:srgbClr val="D7B571"/>
            </a:solidFill>
            <a:ln w="3572">
              <a:solidFill>
                <a:srgbClr val="AC925E"/>
              </a:solidFill>
              <a:prstDash val="solid"/>
            </a:ln>
          </p:spPr>
          <p:txBody>
            <a:bodyPr/>
            <a:lstStyle/>
            <a:p>
              <a:endParaRPr sz="1200"/>
            </a:p>
          </p:txBody>
        </p:sp>
        <p:sp>
          <p:nvSpPr>
            <p:cNvPr id="283" name="s2-feed__grain_283">
              <a:extLst>
                <a:ext uri="{FF2B5EF4-FFF2-40B4-BE49-F238E27FC236}">
                  <a16:creationId xmlns:a16="http://schemas.microsoft.com/office/drawing/2014/main" id="{6A0CE6D8-FAB5-429A-A3C1-DB3DD3B6DAED}"/>
                </a:ext>
              </a:extLst>
            </p:cNvPr>
            <p:cNvSpPr>
              <a:spLocks/>
            </p:cNvSpPr>
            <p:nvPr/>
          </p:nvSpPr>
          <p:spPr>
            <a:xfrm rot="480000">
              <a:off x="5148262" y="3681413"/>
              <a:ext cx="28575" cy="14287"/>
            </a:xfrm>
            <a:prstGeom prst="ellipse">
              <a:avLst/>
            </a:prstGeom>
            <a:solidFill>
              <a:srgbClr val="D7B571"/>
            </a:solidFill>
            <a:ln w="3572">
              <a:solidFill>
                <a:srgbClr val="AC925E"/>
              </a:solidFill>
              <a:prstDash val="solid"/>
            </a:ln>
          </p:spPr>
          <p:txBody>
            <a:bodyPr/>
            <a:lstStyle/>
            <a:p>
              <a:endParaRPr sz="1200"/>
            </a:p>
          </p:txBody>
        </p:sp>
        <p:sp>
          <p:nvSpPr>
            <p:cNvPr id="284" name="s2-eggs-and-bowl__egg_284">
              <a:extLst>
                <a:ext uri="{FF2B5EF4-FFF2-40B4-BE49-F238E27FC236}">
                  <a16:creationId xmlns:a16="http://schemas.microsoft.com/office/drawing/2014/main" id="{C5D59730-95F4-41D3-A4C1-FB1DC76E3791}"/>
                </a:ext>
              </a:extLst>
            </p:cNvPr>
            <p:cNvSpPr>
              <a:spLocks/>
            </p:cNvSpPr>
            <p:nvPr/>
          </p:nvSpPr>
          <p:spPr>
            <a:xfrm rot="-720000">
              <a:off x="4921250" y="4000500"/>
              <a:ext cx="95250" cy="133350"/>
            </a:xfrm>
            <a:prstGeom prst="ellipse">
              <a:avLst/>
            </a:prstGeom>
            <a:solidFill>
              <a:srgbClr val="FAF6E9"/>
            </a:solidFill>
            <a:ln w="9525">
              <a:solidFill>
                <a:srgbClr val="BCA888"/>
              </a:solidFill>
              <a:prstDash val="solid"/>
            </a:ln>
          </p:spPr>
          <p:txBody>
            <a:bodyPr/>
            <a:lstStyle/>
            <a:p>
              <a:endParaRPr sz="1200"/>
            </a:p>
          </p:txBody>
        </p:sp>
        <p:sp>
          <p:nvSpPr>
            <p:cNvPr id="285" name="s2-eggs-and-bowl__egg_285">
              <a:extLst>
                <a:ext uri="{FF2B5EF4-FFF2-40B4-BE49-F238E27FC236}">
                  <a16:creationId xmlns:a16="http://schemas.microsoft.com/office/drawing/2014/main" id="{B0668AD9-D64A-4C36-B401-1E4E5A936B35}"/>
                </a:ext>
              </a:extLst>
            </p:cNvPr>
            <p:cNvSpPr>
              <a:spLocks/>
            </p:cNvSpPr>
            <p:nvPr/>
          </p:nvSpPr>
          <p:spPr>
            <a:xfrm rot="780000">
              <a:off x="5035550" y="4019550"/>
              <a:ext cx="88900" cy="120650"/>
            </a:xfrm>
            <a:prstGeom prst="ellipse">
              <a:avLst/>
            </a:prstGeom>
            <a:solidFill>
              <a:srgbClr val="F0E4CC"/>
            </a:solidFill>
            <a:ln w="9525">
              <a:solidFill>
                <a:srgbClr val="BCA888"/>
              </a:solidFill>
              <a:prstDash val="solid"/>
            </a:ln>
          </p:spPr>
          <p:txBody>
            <a:bodyPr/>
            <a:lstStyle/>
            <a:p>
              <a:endParaRPr sz="1200"/>
            </a:p>
          </p:txBody>
        </p:sp>
        <p:sp>
          <p:nvSpPr>
            <p:cNvPr id="286" name="s2-eggs-and-bowl__path_286">
              <a:extLst>
                <a:ext uri="{FF2B5EF4-FFF2-40B4-BE49-F238E27FC236}">
                  <a16:creationId xmlns:a16="http://schemas.microsoft.com/office/drawing/2014/main" id="{ED09AE13-9ECF-4D75-8E3B-DE9A537378C3}"/>
                </a:ext>
              </a:extLst>
            </p:cNvPr>
            <p:cNvSpPr>
              <a:spLocks/>
            </p:cNvSpPr>
            <p:nvPr/>
          </p:nvSpPr>
          <p:spPr>
            <a:xfrm>
              <a:off x="5232400" y="3606800"/>
              <a:ext cx="317500" cy="127000"/>
            </a:xfrm>
            <a:custGeom>
              <a:avLst/>
              <a:gdLst/>
              <a:ahLst/>
              <a:cxnLst/>
              <a:rect l="0" t="0" r="0" b="0"/>
              <a:pathLst>
                <a:path w="476250" h="190500">
                  <a:moveTo>
                    <a:pt x="0" y="0"/>
                  </a:moveTo>
                  <a:lnTo>
                    <a:pt x="476250" y="0"/>
                  </a:lnTo>
                  <a:lnTo>
                    <a:pt x="400050" y="190500"/>
                  </a:lnTo>
                  <a:lnTo>
                    <a:pt x="85725" y="190500"/>
                  </a:lnTo>
                  <a:close/>
                </a:path>
              </a:pathLst>
            </a:custGeom>
            <a:solidFill>
              <a:srgbClr val="A18B70"/>
            </a:solidFill>
            <a:ln w="11430">
              <a:solidFill>
                <a:srgbClr val="786A57"/>
              </a:solidFill>
              <a:prstDash val="solid"/>
            </a:ln>
          </p:spPr>
          <p:txBody>
            <a:bodyPr/>
            <a:lstStyle/>
            <a:p>
              <a:endParaRPr sz="1200"/>
            </a:p>
          </p:txBody>
        </p:sp>
        <p:sp>
          <p:nvSpPr>
            <p:cNvPr id="287" name="s2-eggs-and-bowl__ellipse_287">
              <a:extLst>
                <a:ext uri="{FF2B5EF4-FFF2-40B4-BE49-F238E27FC236}">
                  <a16:creationId xmlns:a16="http://schemas.microsoft.com/office/drawing/2014/main" id="{3945F5E5-A6CD-4604-BCC9-355DA267FEEE}"/>
                </a:ext>
              </a:extLst>
            </p:cNvPr>
            <p:cNvSpPr>
              <a:spLocks/>
            </p:cNvSpPr>
            <p:nvPr/>
          </p:nvSpPr>
          <p:spPr>
            <a:xfrm>
              <a:off x="5232400" y="3575050"/>
              <a:ext cx="317500" cy="63500"/>
            </a:xfrm>
            <a:prstGeom prst="ellipse">
              <a:avLst/>
            </a:prstGeom>
            <a:solidFill>
              <a:srgbClr val="D5BD91"/>
            </a:solidFill>
            <a:ln w="11430">
              <a:solidFill>
                <a:srgbClr val="786A57"/>
              </a:solidFill>
              <a:prstDash val="solid"/>
            </a:ln>
          </p:spPr>
          <p:txBody>
            <a:bodyPr/>
            <a:lstStyle/>
            <a:p>
              <a:endParaRPr sz="1200"/>
            </a:p>
          </p:txBody>
        </p:sp>
        <p:sp>
          <p:nvSpPr>
            <p:cNvPr id="288" name="s3-transport-ground__ellipse_288">
              <a:extLst>
                <a:ext uri="{FF2B5EF4-FFF2-40B4-BE49-F238E27FC236}">
                  <a16:creationId xmlns:a16="http://schemas.microsoft.com/office/drawing/2014/main" id="{175F5EB1-CCDD-4A35-A498-14906458AF54}"/>
                </a:ext>
              </a:extLst>
            </p:cNvPr>
            <p:cNvSpPr>
              <a:spLocks/>
            </p:cNvSpPr>
            <p:nvPr/>
          </p:nvSpPr>
          <p:spPr>
            <a:xfrm>
              <a:off x="6038850" y="2717800"/>
              <a:ext cx="1162050" cy="171450"/>
            </a:xfrm>
            <a:prstGeom prst="ellipse">
              <a:avLst/>
            </a:prstGeom>
            <a:solidFill>
              <a:srgbClr val="E4EADE"/>
            </a:solidFill>
            <a:ln w="0">
              <a:noFill/>
              <a:prstDash val="solid"/>
            </a:ln>
          </p:spPr>
          <p:txBody>
            <a:bodyPr/>
            <a:lstStyle/>
            <a:p>
              <a:endParaRPr sz="1200"/>
            </a:p>
          </p:txBody>
        </p:sp>
        <p:sp>
          <p:nvSpPr>
            <p:cNvPr id="289" name="s3-traveller__ellipse_289">
              <a:extLst>
                <a:ext uri="{FF2B5EF4-FFF2-40B4-BE49-F238E27FC236}">
                  <a16:creationId xmlns:a16="http://schemas.microsoft.com/office/drawing/2014/main" id="{4157E6F0-4487-4538-9012-FE026B6B5925}"/>
                </a:ext>
              </a:extLst>
            </p:cNvPr>
            <p:cNvSpPr>
              <a:spLocks/>
            </p:cNvSpPr>
            <p:nvPr/>
          </p:nvSpPr>
          <p:spPr>
            <a:xfrm>
              <a:off x="6146292" y="2737994"/>
              <a:ext cx="406146" cy="41656"/>
            </a:xfrm>
            <a:prstGeom prst="ellipse">
              <a:avLst/>
            </a:prstGeom>
            <a:solidFill>
              <a:srgbClr val="DCE2D6"/>
            </a:solidFill>
            <a:ln w="0">
              <a:noFill/>
              <a:prstDash val="solid"/>
            </a:ln>
          </p:spPr>
          <p:txBody>
            <a:bodyPr/>
            <a:lstStyle/>
            <a:p>
              <a:endParaRPr sz="1200"/>
            </a:p>
          </p:txBody>
        </p:sp>
        <p:sp>
          <p:nvSpPr>
            <p:cNvPr id="290" name="s3-traveller__contour_290">
              <a:extLst>
                <a:ext uri="{FF2B5EF4-FFF2-40B4-BE49-F238E27FC236}">
                  <a16:creationId xmlns:a16="http://schemas.microsoft.com/office/drawing/2014/main" id="{FB5F0A6E-A00E-4A61-BA53-57EC3AC5CF5E}"/>
                </a:ext>
              </a:extLst>
            </p:cNvPr>
            <p:cNvSpPr>
              <a:spLocks/>
            </p:cNvSpPr>
            <p:nvPr/>
          </p:nvSpPr>
          <p:spPr>
            <a:xfrm>
              <a:off x="6161914" y="2425574"/>
              <a:ext cx="135382" cy="296799"/>
            </a:xfrm>
            <a:custGeom>
              <a:avLst/>
              <a:gdLst/>
              <a:ahLst/>
              <a:cxnLst/>
              <a:rect l="0" t="0" r="0" b="0"/>
              <a:pathLst>
                <a:path w="203073" h="445199">
                  <a:moveTo>
                    <a:pt x="203073" y="0"/>
                  </a:moveTo>
                  <a:lnTo>
                    <a:pt x="171831" y="257747"/>
                  </a:lnTo>
                  <a:lnTo>
                    <a:pt x="85915" y="437388"/>
                  </a:lnTo>
                  <a:lnTo>
                    <a:pt x="0" y="445199"/>
                  </a:lnTo>
                </a:path>
              </a:pathLst>
            </a:custGeom>
            <a:noFill/>
            <a:ln w="70295">
              <a:solidFill>
                <a:srgbClr val="5A625C"/>
              </a:solidFill>
              <a:prstDash val="solid"/>
            </a:ln>
          </p:spPr>
          <p:txBody>
            <a:bodyPr/>
            <a:lstStyle/>
            <a:p>
              <a:endParaRPr sz="1200"/>
            </a:p>
          </p:txBody>
        </p:sp>
        <p:sp>
          <p:nvSpPr>
            <p:cNvPr id="291" name="s3-traveller__contour_291">
              <a:extLst>
                <a:ext uri="{FF2B5EF4-FFF2-40B4-BE49-F238E27FC236}">
                  <a16:creationId xmlns:a16="http://schemas.microsoft.com/office/drawing/2014/main" id="{DE9DD6B5-CDA5-499E-BAF8-658246724511}"/>
                </a:ext>
              </a:extLst>
            </p:cNvPr>
            <p:cNvSpPr>
              <a:spLocks/>
            </p:cNvSpPr>
            <p:nvPr/>
          </p:nvSpPr>
          <p:spPr>
            <a:xfrm>
              <a:off x="6380608" y="2425574"/>
              <a:ext cx="192659" cy="281178"/>
            </a:xfrm>
            <a:custGeom>
              <a:avLst/>
              <a:gdLst/>
              <a:ahLst/>
              <a:cxnLst/>
              <a:rect l="0" t="0" r="0" b="0"/>
              <a:pathLst>
                <a:path w="288989" h="421767">
                  <a:moveTo>
                    <a:pt x="0" y="0"/>
                  </a:moveTo>
                  <a:lnTo>
                    <a:pt x="101536" y="249936"/>
                  </a:lnTo>
                  <a:lnTo>
                    <a:pt x="210883" y="413956"/>
                  </a:lnTo>
                  <a:lnTo>
                    <a:pt x="288989" y="421767"/>
                  </a:lnTo>
                </a:path>
              </a:pathLst>
            </a:custGeom>
            <a:noFill/>
            <a:ln w="70295">
              <a:solidFill>
                <a:srgbClr val="5A625C"/>
              </a:solidFill>
              <a:prstDash val="solid"/>
            </a:ln>
          </p:spPr>
          <p:txBody>
            <a:bodyPr/>
            <a:lstStyle/>
            <a:p>
              <a:endParaRPr sz="1200"/>
            </a:p>
          </p:txBody>
        </p:sp>
        <p:sp>
          <p:nvSpPr>
            <p:cNvPr id="292" name="s3-traveller__contour_292">
              <a:extLst>
                <a:ext uri="{FF2B5EF4-FFF2-40B4-BE49-F238E27FC236}">
                  <a16:creationId xmlns:a16="http://schemas.microsoft.com/office/drawing/2014/main" id="{49E84965-689D-4691-8200-5FC546334AAA}"/>
                </a:ext>
              </a:extLst>
            </p:cNvPr>
            <p:cNvSpPr>
              <a:spLocks/>
            </p:cNvSpPr>
            <p:nvPr/>
          </p:nvSpPr>
          <p:spPr>
            <a:xfrm>
              <a:off x="6245226" y="2168462"/>
              <a:ext cx="192659" cy="267525"/>
            </a:xfrm>
            <a:custGeom>
              <a:avLst/>
              <a:gdLst/>
              <a:ahLst/>
              <a:cxnLst/>
              <a:rect l="0" t="0" r="0" b="0"/>
              <a:pathLst>
                <a:path w="288989" h="401288">
                  <a:moveTo>
                    <a:pt x="31242" y="42005"/>
                  </a:moveTo>
                  <a:lnTo>
                    <a:pt x="40148" y="31794"/>
                  </a:lnTo>
                  <a:lnTo>
                    <a:pt x="51073" y="23031"/>
                  </a:lnTo>
                  <a:lnTo>
                    <a:pt x="63732" y="15697"/>
                  </a:lnTo>
                  <a:lnTo>
                    <a:pt x="77848" y="9782"/>
                  </a:lnTo>
                  <a:lnTo>
                    <a:pt x="93145" y="5267"/>
                  </a:lnTo>
                  <a:lnTo>
                    <a:pt x="109347" y="2143"/>
                  </a:lnTo>
                  <a:lnTo>
                    <a:pt x="126168" y="391"/>
                  </a:lnTo>
                  <a:lnTo>
                    <a:pt x="143342" y="0"/>
                  </a:lnTo>
                  <a:lnTo>
                    <a:pt x="160582" y="952"/>
                  </a:lnTo>
                  <a:lnTo>
                    <a:pt x="177613" y="3238"/>
                  </a:lnTo>
                  <a:lnTo>
                    <a:pt x="194167" y="6848"/>
                  </a:lnTo>
                  <a:lnTo>
                    <a:pt x="209950" y="11763"/>
                  </a:lnTo>
                  <a:lnTo>
                    <a:pt x="224685" y="17964"/>
                  </a:lnTo>
                  <a:lnTo>
                    <a:pt x="238106" y="25451"/>
                  </a:lnTo>
                  <a:lnTo>
                    <a:pt x="249936" y="34195"/>
                  </a:lnTo>
                  <a:lnTo>
                    <a:pt x="288989" y="401288"/>
                  </a:lnTo>
                  <a:lnTo>
                    <a:pt x="0" y="401288"/>
                  </a:lnTo>
                  <a:close/>
                </a:path>
              </a:pathLst>
            </a:custGeom>
            <a:solidFill>
              <a:srgbClr val="8196A0"/>
            </a:solidFill>
            <a:ln w="10935">
              <a:solidFill>
                <a:srgbClr val="566861"/>
              </a:solidFill>
              <a:prstDash val="solid"/>
            </a:ln>
          </p:spPr>
          <p:txBody>
            <a:bodyPr/>
            <a:lstStyle/>
            <a:p>
              <a:endParaRPr sz="1200"/>
            </a:p>
          </p:txBody>
        </p:sp>
        <p:sp>
          <p:nvSpPr>
            <p:cNvPr id="293" name="s3-traveller__ellipse_293">
              <a:extLst>
                <a:ext uri="{FF2B5EF4-FFF2-40B4-BE49-F238E27FC236}">
                  <a16:creationId xmlns:a16="http://schemas.microsoft.com/office/drawing/2014/main" id="{BE06B8BE-B01F-48F7-966D-01F6535D7A67}"/>
                </a:ext>
              </a:extLst>
            </p:cNvPr>
            <p:cNvSpPr>
              <a:spLocks/>
            </p:cNvSpPr>
            <p:nvPr/>
          </p:nvSpPr>
          <p:spPr>
            <a:xfrm>
              <a:off x="6266054" y="2009014"/>
              <a:ext cx="135382" cy="161416"/>
            </a:xfrm>
            <a:prstGeom prst="ellipse">
              <a:avLst/>
            </a:prstGeom>
            <a:solidFill>
              <a:srgbClr val="BD8B67"/>
            </a:solidFill>
            <a:ln w="7810">
              <a:solidFill>
                <a:srgbClr val="6F6554"/>
              </a:solidFill>
              <a:prstDash val="solid"/>
            </a:ln>
          </p:spPr>
          <p:txBody>
            <a:bodyPr/>
            <a:lstStyle/>
            <a:p>
              <a:endParaRPr sz="1200"/>
            </a:p>
          </p:txBody>
        </p:sp>
        <p:sp>
          <p:nvSpPr>
            <p:cNvPr id="294" name="s3-traveller__contour_294">
              <a:extLst>
                <a:ext uri="{FF2B5EF4-FFF2-40B4-BE49-F238E27FC236}">
                  <a16:creationId xmlns:a16="http://schemas.microsoft.com/office/drawing/2014/main" id="{FCE42ED8-8866-4ED4-827E-41F9B0089B40}"/>
                </a:ext>
              </a:extLst>
            </p:cNvPr>
            <p:cNvSpPr>
              <a:spLocks/>
            </p:cNvSpPr>
            <p:nvPr/>
          </p:nvSpPr>
          <p:spPr>
            <a:xfrm>
              <a:off x="6258294" y="1998555"/>
              <a:ext cx="143142" cy="98977"/>
            </a:xfrm>
            <a:custGeom>
              <a:avLst/>
              <a:gdLst/>
              <a:ahLst/>
              <a:cxnLst/>
              <a:rect l="0" t="0" r="0" b="0"/>
              <a:pathLst>
                <a:path w="214713" h="148466">
                  <a:moveTo>
                    <a:pt x="3829" y="148466"/>
                  </a:moveTo>
                  <a:lnTo>
                    <a:pt x="0" y="117529"/>
                  </a:lnTo>
                  <a:lnTo>
                    <a:pt x="705" y="90297"/>
                  </a:lnTo>
                  <a:lnTo>
                    <a:pt x="5458" y="66742"/>
                  </a:lnTo>
                  <a:lnTo>
                    <a:pt x="13792" y="46796"/>
                  </a:lnTo>
                  <a:lnTo>
                    <a:pt x="25232" y="30442"/>
                  </a:lnTo>
                  <a:lnTo>
                    <a:pt x="39319" y="17621"/>
                  </a:lnTo>
                  <a:lnTo>
                    <a:pt x="55569" y="8306"/>
                  </a:lnTo>
                  <a:lnTo>
                    <a:pt x="73514" y="2448"/>
                  </a:lnTo>
                  <a:lnTo>
                    <a:pt x="92678" y="0"/>
                  </a:lnTo>
                  <a:lnTo>
                    <a:pt x="112595" y="933"/>
                  </a:lnTo>
                  <a:lnTo>
                    <a:pt x="132788" y="5201"/>
                  </a:lnTo>
                  <a:lnTo>
                    <a:pt x="152791" y="12754"/>
                  </a:lnTo>
                  <a:lnTo>
                    <a:pt x="172126" y="23555"/>
                  </a:lnTo>
                  <a:lnTo>
                    <a:pt x="190319" y="37567"/>
                  </a:lnTo>
                  <a:lnTo>
                    <a:pt x="206902" y="54740"/>
                  </a:lnTo>
                  <a:lnTo>
                    <a:pt x="214713" y="125035"/>
                  </a:lnTo>
                  <a:lnTo>
                    <a:pt x="199396" y="112004"/>
                  </a:lnTo>
                  <a:lnTo>
                    <a:pt x="184623" y="101013"/>
                  </a:lnTo>
                  <a:lnTo>
                    <a:pt x="170345" y="91983"/>
                  </a:lnTo>
                  <a:lnTo>
                    <a:pt x="156486" y="84868"/>
                  </a:lnTo>
                  <a:lnTo>
                    <a:pt x="142970" y="79619"/>
                  </a:lnTo>
                  <a:lnTo>
                    <a:pt x="129731" y="76171"/>
                  </a:lnTo>
                  <a:lnTo>
                    <a:pt x="116710" y="74476"/>
                  </a:lnTo>
                  <a:lnTo>
                    <a:pt x="103813" y="74476"/>
                  </a:lnTo>
                  <a:lnTo>
                    <a:pt x="90992" y="76114"/>
                  </a:lnTo>
                  <a:lnTo>
                    <a:pt x="78172" y="79324"/>
                  </a:lnTo>
                  <a:lnTo>
                    <a:pt x="65284" y="84077"/>
                  </a:lnTo>
                  <a:lnTo>
                    <a:pt x="52254" y="90297"/>
                  </a:lnTo>
                  <a:lnTo>
                    <a:pt x="39014" y="97927"/>
                  </a:lnTo>
                  <a:lnTo>
                    <a:pt x="25498" y="106928"/>
                  </a:lnTo>
                  <a:lnTo>
                    <a:pt x="11640" y="117224"/>
                  </a:lnTo>
                  <a:close/>
                </a:path>
              </a:pathLst>
            </a:custGeom>
            <a:solidFill>
              <a:srgbClr val="4E4D40"/>
            </a:solidFill>
            <a:ln w="13278">
              <a:noFill/>
              <a:prstDash val="solid"/>
            </a:ln>
          </p:spPr>
          <p:txBody>
            <a:bodyPr/>
            <a:lstStyle/>
            <a:p>
              <a:endParaRPr sz="1200"/>
            </a:p>
          </p:txBody>
        </p:sp>
        <p:sp>
          <p:nvSpPr>
            <p:cNvPr id="295" name="s3-traveller__path_295">
              <a:extLst>
                <a:ext uri="{FF2B5EF4-FFF2-40B4-BE49-F238E27FC236}">
                  <a16:creationId xmlns:a16="http://schemas.microsoft.com/office/drawing/2014/main" id="{5DFDB3E2-6395-40A6-B440-84482ADF8B47}"/>
                </a:ext>
              </a:extLst>
            </p:cNvPr>
            <p:cNvSpPr>
              <a:spLocks/>
            </p:cNvSpPr>
            <p:nvPr/>
          </p:nvSpPr>
          <p:spPr>
            <a:xfrm>
              <a:off x="6391022" y="2087118"/>
              <a:ext cx="31242" cy="36449"/>
            </a:xfrm>
            <a:custGeom>
              <a:avLst/>
              <a:gdLst/>
              <a:ahLst/>
              <a:cxnLst/>
              <a:rect l="0" t="0" r="0" b="0"/>
              <a:pathLst>
                <a:path w="46863" h="54674">
                  <a:moveTo>
                    <a:pt x="0" y="0"/>
                  </a:moveTo>
                  <a:lnTo>
                    <a:pt x="46863" y="31242"/>
                  </a:lnTo>
                  <a:lnTo>
                    <a:pt x="0" y="54674"/>
                  </a:lnTo>
                  <a:close/>
                </a:path>
              </a:pathLst>
            </a:custGeom>
            <a:solidFill>
              <a:srgbClr val="BD8B67"/>
            </a:solidFill>
            <a:ln w="6248">
              <a:solidFill>
                <a:srgbClr val="6F6554"/>
              </a:solidFill>
              <a:prstDash val="solid"/>
            </a:ln>
          </p:spPr>
          <p:txBody>
            <a:bodyPr/>
            <a:lstStyle/>
            <a:p>
              <a:endParaRPr sz="1200"/>
            </a:p>
          </p:txBody>
        </p:sp>
        <p:sp>
          <p:nvSpPr>
            <p:cNvPr id="296" name="s3-traveller__ellipse_296">
              <a:extLst>
                <a:ext uri="{FF2B5EF4-FFF2-40B4-BE49-F238E27FC236}">
                  <a16:creationId xmlns:a16="http://schemas.microsoft.com/office/drawing/2014/main" id="{1248ACF9-6E27-4CE5-84E3-CD2C42AF03E5}"/>
                </a:ext>
              </a:extLst>
            </p:cNvPr>
            <p:cNvSpPr>
              <a:spLocks/>
            </p:cNvSpPr>
            <p:nvPr/>
          </p:nvSpPr>
          <p:spPr>
            <a:xfrm>
              <a:off x="6370194" y="2076704"/>
              <a:ext cx="10414" cy="10414"/>
            </a:xfrm>
            <a:prstGeom prst="ellipse">
              <a:avLst/>
            </a:prstGeom>
            <a:solidFill>
              <a:srgbClr val="333E34"/>
            </a:solidFill>
            <a:ln w="0">
              <a:noFill/>
              <a:prstDash val="solid"/>
            </a:ln>
          </p:spPr>
          <p:txBody>
            <a:bodyPr/>
            <a:lstStyle/>
            <a:p>
              <a:endParaRPr sz="1200"/>
            </a:p>
          </p:txBody>
        </p:sp>
        <p:sp>
          <p:nvSpPr>
            <p:cNvPr id="297" name="s3-traveller__contour_297">
              <a:extLst>
                <a:ext uri="{FF2B5EF4-FFF2-40B4-BE49-F238E27FC236}">
                  <a16:creationId xmlns:a16="http://schemas.microsoft.com/office/drawing/2014/main" id="{7BC4BBDC-D046-4C7F-B4D5-EEC801B14B54}"/>
                </a:ext>
              </a:extLst>
            </p:cNvPr>
            <p:cNvSpPr>
              <a:spLocks/>
            </p:cNvSpPr>
            <p:nvPr/>
          </p:nvSpPr>
          <p:spPr>
            <a:xfrm>
              <a:off x="6396228" y="2222500"/>
              <a:ext cx="161417" cy="78105"/>
            </a:xfrm>
            <a:custGeom>
              <a:avLst/>
              <a:gdLst/>
              <a:ahLst/>
              <a:cxnLst/>
              <a:rect l="0" t="0" r="0" b="0"/>
              <a:pathLst>
                <a:path w="242126" h="117158">
                  <a:moveTo>
                    <a:pt x="0" y="0"/>
                  </a:moveTo>
                  <a:lnTo>
                    <a:pt x="85915" y="117158"/>
                  </a:lnTo>
                  <a:lnTo>
                    <a:pt x="242126" y="54674"/>
                  </a:lnTo>
                </a:path>
              </a:pathLst>
            </a:custGeom>
            <a:noFill/>
            <a:ln w="70295">
              <a:solidFill>
                <a:srgbClr val="BD8B67"/>
              </a:solidFill>
              <a:prstDash val="solid"/>
            </a:ln>
          </p:spPr>
          <p:txBody>
            <a:bodyPr/>
            <a:lstStyle/>
            <a:p>
              <a:endParaRPr sz="1200"/>
            </a:p>
          </p:txBody>
        </p:sp>
        <p:sp>
          <p:nvSpPr>
            <p:cNvPr id="298" name="s3-traveller__contour_298">
              <a:extLst>
                <a:ext uri="{FF2B5EF4-FFF2-40B4-BE49-F238E27FC236}">
                  <a16:creationId xmlns:a16="http://schemas.microsoft.com/office/drawing/2014/main" id="{C8F2AED6-C149-4658-A8C8-846C904EDAA2}"/>
                </a:ext>
              </a:extLst>
            </p:cNvPr>
            <p:cNvSpPr>
              <a:spLocks/>
            </p:cNvSpPr>
            <p:nvPr/>
          </p:nvSpPr>
          <p:spPr>
            <a:xfrm>
              <a:off x="6396228" y="2217294"/>
              <a:ext cx="36449" cy="46862"/>
            </a:xfrm>
            <a:custGeom>
              <a:avLst/>
              <a:gdLst/>
              <a:ahLst/>
              <a:cxnLst/>
              <a:rect l="0" t="0" r="0" b="0"/>
              <a:pathLst>
                <a:path w="54674" h="70294">
                  <a:moveTo>
                    <a:pt x="0" y="0"/>
                  </a:moveTo>
                  <a:lnTo>
                    <a:pt x="54674" y="70294"/>
                  </a:lnTo>
                </a:path>
              </a:pathLst>
            </a:custGeom>
            <a:noFill/>
            <a:ln w="93726">
              <a:solidFill>
                <a:srgbClr val="8196A0"/>
              </a:solidFill>
              <a:prstDash val="solid"/>
            </a:ln>
          </p:spPr>
          <p:txBody>
            <a:bodyPr/>
            <a:lstStyle/>
            <a:p>
              <a:endParaRPr sz="1200"/>
            </a:p>
          </p:txBody>
        </p:sp>
        <p:sp>
          <p:nvSpPr>
            <p:cNvPr id="299" name="s3-traveller__contour_299">
              <a:extLst>
                <a:ext uri="{FF2B5EF4-FFF2-40B4-BE49-F238E27FC236}">
                  <a16:creationId xmlns:a16="http://schemas.microsoft.com/office/drawing/2014/main" id="{A8AAFD27-4156-4DCB-BCAA-789F55CA6D07}"/>
                </a:ext>
              </a:extLst>
            </p:cNvPr>
            <p:cNvSpPr>
              <a:spLocks/>
            </p:cNvSpPr>
            <p:nvPr/>
          </p:nvSpPr>
          <p:spPr>
            <a:xfrm>
              <a:off x="6161914" y="2217294"/>
              <a:ext cx="104140" cy="114554"/>
            </a:xfrm>
            <a:custGeom>
              <a:avLst/>
              <a:gdLst/>
              <a:ahLst/>
              <a:cxnLst/>
              <a:rect l="0" t="0" r="0" b="0"/>
              <a:pathLst>
                <a:path w="156210" h="171831">
                  <a:moveTo>
                    <a:pt x="156210" y="0"/>
                  </a:moveTo>
                  <a:lnTo>
                    <a:pt x="78105" y="132778"/>
                  </a:lnTo>
                  <a:lnTo>
                    <a:pt x="0" y="171831"/>
                  </a:lnTo>
                </a:path>
              </a:pathLst>
            </a:custGeom>
            <a:noFill/>
            <a:ln w="62484">
              <a:solidFill>
                <a:srgbClr val="BD8B67"/>
              </a:solidFill>
              <a:prstDash val="solid"/>
            </a:ln>
          </p:spPr>
          <p:txBody>
            <a:bodyPr/>
            <a:lstStyle/>
            <a:p>
              <a:endParaRPr sz="1200"/>
            </a:p>
          </p:txBody>
        </p:sp>
        <p:sp>
          <p:nvSpPr>
            <p:cNvPr id="300" name="s3-traveller__contour_300">
              <a:extLst>
                <a:ext uri="{FF2B5EF4-FFF2-40B4-BE49-F238E27FC236}">
                  <a16:creationId xmlns:a16="http://schemas.microsoft.com/office/drawing/2014/main" id="{F354BFFA-3E3B-4918-A81C-9DAC9C44D5DD}"/>
                </a:ext>
              </a:extLst>
            </p:cNvPr>
            <p:cNvSpPr>
              <a:spLocks/>
            </p:cNvSpPr>
            <p:nvPr/>
          </p:nvSpPr>
          <p:spPr>
            <a:xfrm>
              <a:off x="6240018" y="2212086"/>
              <a:ext cx="26035" cy="46862"/>
            </a:xfrm>
            <a:custGeom>
              <a:avLst/>
              <a:gdLst/>
              <a:ahLst/>
              <a:cxnLst/>
              <a:rect l="0" t="0" r="0" b="0"/>
              <a:pathLst>
                <a:path w="39053" h="70294">
                  <a:moveTo>
                    <a:pt x="39053" y="0"/>
                  </a:moveTo>
                  <a:lnTo>
                    <a:pt x="0" y="70294"/>
                  </a:lnTo>
                </a:path>
              </a:pathLst>
            </a:custGeom>
            <a:noFill/>
            <a:ln w="85916">
              <a:solidFill>
                <a:srgbClr val="8196A0"/>
              </a:solidFill>
              <a:prstDash val="solid"/>
            </a:ln>
          </p:spPr>
          <p:txBody>
            <a:bodyPr/>
            <a:lstStyle/>
            <a:p>
              <a:endParaRPr sz="1200"/>
            </a:p>
          </p:txBody>
        </p:sp>
        <p:sp>
          <p:nvSpPr>
            <p:cNvPr id="301" name="s3-traveller__contour_301">
              <a:extLst>
                <a:ext uri="{FF2B5EF4-FFF2-40B4-BE49-F238E27FC236}">
                  <a16:creationId xmlns:a16="http://schemas.microsoft.com/office/drawing/2014/main" id="{4BA6434D-4856-46DE-A849-488D91337C25}"/>
                </a:ext>
              </a:extLst>
            </p:cNvPr>
            <p:cNvSpPr>
              <a:spLocks/>
            </p:cNvSpPr>
            <p:nvPr/>
          </p:nvSpPr>
          <p:spPr>
            <a:xfrm>
              <a:off x="6437885" y="2295398"/>
              <a:ext cx="135382" cy="114554"/>
            </a:xfrm>
            <a:custGeom>
              <a:avLst/>
              <a:gdLst/>
              <a:ahLst/>
              <a:cxnLst/>
              <a:rect l="0" t="0" r="0" b="0"/>
              <a:pathLst>
                <a:path w="203073" h="171831">
                  <a:moveTo>
                    <a:pt x="0" y="0"/>
                  </a:moveTo>
                  <a:lnTo>
                    <a:pt x="203073" y="0"/>
                  </a:lnTo>
                  <a:lnTo>
                    <a:pt x="171831" y="171831"/>
                  </a:lnTo>
                  <a:lnTo>
                    <a:pt x="23431" y="171831"/>
                  </a:lnTo>
                  <a:close/>
                </a:path>
              </a:pathLst>
            </a:custGeom>
            <a:solidFill>
              <a:srgbClr val="C29C69"/>
            </a:solidFill>
            <a:ln w="11716">
              <a:solidFill>
                <a:srgbClr val="7D7054"/>
              </a:solidFill>
              <a:prstDash val="solid"/>
            </a:ln>
          </p:spPr>
          <p:txBody>
            <a:bodyPr/>
            <a:lstStyle/>
            <a:p>
              <a:endParaRPr sz="1200"/>
            </a:p>
          </p:txBody>
        </p:sp>
        <p:sp>
          <p:nvSpPr>
            <p:cNvPr id="302" name="s3-traveller__contour_302">
              <a:extLst>
                <a:ext uri="{FF2B5EF4-FFF2-40B4-BE49-F238E27FC236}">
                  <a16:creationId xmlns:a16="http://schemas.microsoft.com/office/drawing/2014/main" id="{281B8F0C-49D5-4325-AC65-3FEB2BEF2ED5}"/>
                </a:ext>
              </a:extLst>
            </p:cNvPr>
            <p:cNvSpPr>
              <a:spLocks/>
            </p:cNvSpPr>
            <p:nvPr/>
          </p:nvSpPr>
          <p:spPr>
            <a:xfrm>
              <a:off x="6442743" y="2222589"/>
              <a:ext cx="130524" cy="78016"/>
            </a:xfrm>
            <a:custGeom>
              <a:avLst/>
              <a:gdLst/>
              <a:ahLst/>
              <a:cxnLst/>
              <a:rect l="0" t="0" r="0" b="0"/>
              <a:pathLst>
                <a:path w="195786" h="117024">
                  <a:moveTo>
                    <a:pt x="524" y="117024"/>
                  </a:moveTo>
                  <a:lnTo>
                    <a:pt x="0" y="89125"/>
                  </a:lnTo>
                  <a:lnTo>
                    <a:pt x="4239" y="64856"/>
                  </a:lnTo>
                  <a:lnTo>
                    <a:pt x="12583" y="44291"/>
                  </a:lnTo>
                  <a:lnTo>
                    <a:pt x="24384" y="27518"/>
                  </a:lnTo>
                  <a:lnTo>
                    <a:pt x="38995" y="14621"/>
                  </a:lnTo>
                  <a:lnTo>
                    <a:pt x="55759" y="5677"/>
                  </a:lnTo>
                  <a:lnTo>
                    <a:pt x="74019" y="772"/>
                  </a:lnTo>
                  <a:lnTo>
                    <a:pt x="93126" y="0"/>
                  </a:lnTo>
                  <a:lnTo>
                    <a:pt x="112433" y="3429"/>
                  </a:lnTo>
                  <a:lnTo>
                    <a:pt x="131274" y="11144"/>
                  </a:lnTo>
                  <a:lnTo>
                    <a:pt x="149009" y="23241"/>
                  </a:lnTo>
                  <a:lnTo>
                    <a:pt x="164983" y="39795"/>
                  </a:lnTo>
                  <a:lnTo>
                    <a:pt x="178537" y="60884"/>
                  </a:lnTo>
                  <a:lnTo>
                    <a:pt x="189024" y="86601"/>
                  </a:lnTo>
                  <a:lnTo>
                    <a:pt x="195786" y="117024"/>
                  </a:lnTo>
                </a:path>
              </a:pathLst>
            </a:custGeom>
            <a:noFill/>
            <a:ln w="15621">
              <a:solidFill>
                <a:srgbClr val="7D7054"/>
              </a:solidFill>
              <a:prstDash val="solid"/>
            </a:ln>
          </p:spPr>
          <p:txBody>
            <a:bodyPr/>
            <a:lstStyle/>
            <a:p>
              <a:endParaRPr sz="1200"/>
            </a:p>
          </p:txBody>
        </p:sp>
        <p:sp>
          <p:nvSpPr>
            <p:cNvPr id="303" name="s3-traveller__line_303">
              <a:extLst>
                <a:ext uri="{FF2B5EF4-FFF2-40B4-BE49-F238E27FC236}">
                  <a16:creationId xmlns:a16="http://schemas.microsoft.com/office/drawing/2014/main" id="{A9810A5E-A407-4401-9EDA-17441A16F9EF}"/>
                </a:ext>
              </a:extLst>
            </p:cNvPr>
            <p:cNvSpPr>
              <a:spLocks/>
            </p:cNvSpPr>
            <p:nvPr/>
          </p:nvSpPr>
          <p:spPr>
            <a:xfrm>
              <a:off x="6453506" y="2316226"/>
              <a:ext cx="10414" cy="72898"/>
            </a:xfrm>
            <a:custGeom>
              <a:avLst/>
              <a:gdLst/>
              <a:ahLst/>
              <a:cxnLst/>
              <a:rect l="0" t="0" r="0" b="0"/>
              <a:pathLst>
                <a:path w="15621" h="109347">
                  <a:moveTo>
                    <a:pt x="0" y="0"/>
                  </a:moveTo>
                  <a:lnTo>
                    <a:pt x="15621" y="109347"/>
                  </a:lnTo>
                </a:path>
              </a:pathLst>
            </a:custGeom>
            <a:noFill/>
            <a:ln w="7810">
              <a:solidFill>
                <a:srgbClr val="E3C69A"/>
              </a:solidFill>
              <a:prstDash val="solid"/>
            </a:ln>
          </p:spPr>
          <p:txBody>
            <a:bodyPr/>
            <a:lstStyle/>
            <a:p>
              <a:endParaRPr sz="1200"/>
            </a:p>
          </p:txBody>
        </p:sp>
        <p:sp>
          <p:nvSpPr>
            <p:cNvPr id="304" name="s3-traveller__line_304">
              <a:extLst>
                <a:ext uri="{FF2B5EF4-FFF2-40B4-BE49-F238E27FC236}">
                  <a16:creationId xmlns:a16="http://schemas.microsoft.com/office/drawing/2014/main" id="{24D4B024-83CB-41A6-80B2-E47BDF021F96}"/>
                </a:ext>
              </a:extLst>
            </p:cNvPr>
            <p:cNvSpPr>
              <a:spLocks/>
            </p:cNvSpPr>
            <p:nvPr/>
          </p:nvSpPr>
          <p:spPr>
            <a:xfrm>
              <a:off x="6479541" y="2316226"/>
              <a:ext cx="5207" cy="72898"/>
            </a:xfrm>
            <a:custGeom>
              <a:avLst/>
              <a:gdLst/>
              <a:ahLst/>
              <a:cxnLst/>
              <a:rect l="0" t="0" r="0" b="0"/>
              <a:pathLst>
                <a:path w="7811" h="109347">
                  <a:moveTo>
                    <a:pt x="0" y="0"/>
                  </a:moveTo>
                  <a:lnTo>
                    <a:pt x="7811" y="109347"/>
                  </a:lnTo>
                </a:path>
              </a:pathLst>
            </a:custGeom>
            <a:noFill/>
            <a:ln w="7810">
              <a:solidFill>
                <a:srgbClr val="E3C69A"/>
              </a:solidFill>
              <a:prstDash val="solid"/>
            </a:ln>
          </p:spPr>
          <p:txBody>
            <a:bodyPr/>
            <a:lstStyle/>
            <a:p>
              <a:endParaRPr sz="1200"/>
            </a:p>
          </p:txBody>
        </p:sp>
        <p:sp>
          <p:nvSpPr>
            <p:cNvPr id="305" name="s3-traveller__line_305">
              <a:extLst>
                <a:ext uri="{FF2B5EF4-FFF2-40B4-BE49-F238E27FC236}">
                  <a16:creationId xmlns:a16="http://schemas.microsoft.com/office/drawing/2014/main" id="{1D87C1E2-9684-41B3-B076-436967E66ECF}"/>
                </a:ext>
              </a:extLst>
            </p:cNvPr>
            <p:cNvSpPr>
              <a:spLocks/>
            </p:cNvSpPr>
            <p:nvPr/>
          </p:nvSpPr>
          <p:spPr>
            <a:xfrm>
              <a:off x="6505576" y="2316226"/>
              <a:ext cx="63" cy="72898"/>
            </a:xfrm>
            <a:custGeom>
              <a:avLst/>
              <a:gdLst/>
              <a:ahLst/>
              <a:cxnLst/>
              <a:rect l="0" t="0" r="0" b="0"/>
              <a:pathLst>
                <a:path w="95" h="109347">
                  <a:moveTo>
                    <a:pt x="0" y="0"/>
                  </a:moveTo>
                  <a:lnTo>
                    <a:pt x="0" y="109347"/>
                  </a:lnTo>
                </a:path>
              </a:pathLst>
            </a:custGeom>
            <a:noFill/>
            <a:ln w="7810">
              <a:solidFill>
                <a:srgbClr val="E3C69A"/>
              </a:solidFill>
              <a:prstDash val="solid"/>
            </a:ln>
          </p:spPr>
          <p:txBody>
            <a:bodyPr/>
            <a:lstStyle/>
            <a:p>
              <a:endParaRPr sz="1200"/>
            </a:p>
          </p:txBody>
        </p:sp>
        <p:sp>
          <p:nvSpPr>
            <p:cNvPr id="306" name="s3-traveller__line_306">
              <a:extLst>
                <a:ext uri="{FF2B5EF4-FFF2-40B4-BE49-F238E27FC236}">
                  <a16:creationId xmlns:a16="http://schemas.microsoft.com/office/drawing/2014/main" id="{6064D5A4-9203-48C0-AE43-3AD6BC836C8F}"/>
                </a:ext>
              </a:extLst>
            </p:cNvPr>
            <p:cNvSpPr>
              <a:spLocks/>
            </p:cNvSpPr>
            <p:nvPr/>
          </p:nvSpPr>
          <p:spPr>
            <a:xfrm>
              <a:off x="6526404" y="2316226"/>
              <a:ext cx="5206" cy="72898"/>
            </a:xfrm>
            <a:custGeom>
              <a:avLst/>
              <a:gdLst/>
              <a:ahLst/>
              <a:cxnLst/>
              <a:rect l="0" t="0" r="0" b="0"/>
              <a:pathLst>
                <a:path w="7810" h="109347">
                  <a:moveTo>
                    <a:pt x="7810" y="0"/>
                  </a:moveTo>
                  <a:lnTo>
                    <a:pt x="0" y="109347"/>
                  </a:lnTo>
                </a:path>
              </a:pathLst>
            </a:custGeom>
            <a:noFill/>
            <a:ln w="7810">
              <a:solidFill>
                <a:srgbClr val="E3C69A"/>
              </a:solidFill>
              <a:prstDash val="solid"/>
            </a:ln>
          </p:spPr>
          <p:txBody>
            <a:bodyPr/>
            <a:lstStyle/>
            <a:p>
              <a:endParaRPr sz="1200"/>
            </a:p>
          </p:txBody>
        </p:sp>
        <p:sp>
          <p:nvSpPr>
            <p:cNvPr id="307" name="s3-traveller__ellipse_307">
              <a:extLst>
                <a:ext uri="{FF2B5EF4-FFF2-40B4-BE49-F238E27FC236}">
                  <a16:creationId xmlns:a16="http://schemas.microsoft.com/office/drawing/2014/main" id="{29C4C527-A33E-4745-BB15-494A711FE20B}"/>
                </a:ext>
              </a:extLst>
            </p:cNvPr>
            <p:cNvSpPr>
              <a:spLocks/>
            </p:cNvSpPr>
            <p:nvPr/>
          </p:nvSpPr>
          <p:spPr>
            <a:xfrm>
              <a:off x="6479541" y="2212086"/>
              <a:ext cx="46863" cy="72898"/>
            </a:xfrm>
            <a:prstGeom prst="ellipse">
              <a:avLst/>
            </a:prstGeom>
            <a:solidFill>
              <a:srgbClr val="B88B57"/>
            </a:solidFill>
            <a:ln w="0">
              <a:noFill/>
              <a:prstDash val="solid"/>
            </a:ln>
          </p:spPr>
          <p:txBody>
            <a:bodyPr/>
            <a:lstStyle/>
            <a:p>
              <a:endParaRPr sz="1200"/>
            </a:p>
          </p:txBody>
        </p:sp>
        <p:sp>
          <p:nvSpPr>
            <p:cNvPr id="308" name="s3-traveller__path_308">
              <a:extLst>
                <a:ext uri="{FF2B5EF4-FFF2-40B4-BE49-F238E27FC236}">
                  <a16:creationId xmlns:a16="http://schemas.microsoft.com/office/drawing/2014/main" id="{DC841BA2-8D88-4A22-A596-FFB2EB583F4B}"/>
                </a:ext>
              </a:extLst>
            </p:cNvPr>
            <p:cNvSpPr>
              <a:spLocks/>
            </p:cNvSpPr>
            <p:nvPr/>
          </p:nvSpPr>
          <p:spPr>
            <a:xfrm>
              <a:off x="6521197" y="2232914"/>
              <a:ext cx="31242" cy="20828"/>
            </a:xfrm>
            <a:custGeom>
              <a:avLst/>
              <a:gdLst/>
              <a:ahLst/>
              <a:cxnLst/>
              <a:rect l="0" t="0" r="0" b="0"/>
              <a:pathLst>
                <a:path w="46863" h="31242">
                  <a:moveTo>
                    <a:pt x="0" y="0"/>
                  </a:moveTo>
                  <a:lnTo>
                    <a:pt x="46863" y="23432"/>
                  </a:lnTo>
                  <a:lnTo>
                    <a:pt x="7810" y="31242"/>
                  </a:lnTo>
                  <a:close/>
                </a:path>
              </a:pathLst>
            </a:custGeom>
            <a:solidFill>
              <a:srgbClr val="CEAA5A"/>
            </a:solidFill>
            <a:ln w="0">
              <a:noFill/>
              <a:prstDash val="solid"/>
            </a:ln>
          </p:spPr>
          <p:txBody>
            <a:bodyPr/>
            <a:lstStyle/>
            <a:p>
              <a:endParaRPr sz="1200"/>
            </a:p>
          </p:txBody>
        </p:sp>
        <p:sp>
          <p:nvSpPr>
            <p:cNvPr id="309" name="s3-traveller__ellipse_309">
              <a:extLst>
                <a:ext uri="{FF2B5EF4-FFF2-40B4-BE49-F238E27FC236}">
                  <a16:creationId xmlns:a16="http://schemas.microsoft.com/office/drawing/2014/main" id="{85B2198F-A04C-44D8-B016-B6D80C7357EB}"/>
                </a:ext>
              </a:extLst>
            </p:cNvPr>
            <p:cNvSpPr>
              <a:spLocks/>
            </p:cNvSpPr>
            <p:nvPr/>
          </p:nvSpPr>
          <p:spPr>
            <a:xfrm>
              <a:off x="6510783" y="2227708"/>
              <a:ext cx="8331" cy="8331"/>
            </a:xfrm>
            <a:prstGeom prst="ellipse">
              <a:avLst/>
            </a:prstGeom>
            <a:solidFill>
              <a:srgbClr val="253C3A"/>
            </a:solidFill>
            <a:ln w="0">
              <a:noFill/>
              <a:prstDash val="solid"/>
            </a:ln>
          </p:spPr>
          <p:txBody>
            <a:bodyPr/>
            <a:lstStyle/>
            <a:p>
              <a:endParaRPr sz="1200"/>
            </a:p>
          </p:txBody>
        </p:sp>
        <p:sp>
          <p:nvSpPr>
            <p:cNvPr id="310" name="s3-traveller-small__ellipse_310">
              <a:extLst>
                <a:ext uri="{FF2B5EF4-FFF2-40B4-BE49-F238E27FC236}">
                  <a16:creationId xmlns:a16="http://schemas.microsoft.com/office/drawing/2014/main" id="{A5E2DBE6-1E4B-4496-B5FB-FD498F8BD1C0}"/>
                </a:ext>
              </a:extLst>
            </p:cNvPr>
            <p:cNvSpPr>
              <a:spLocks/>
            </p:cNvSpPr>
            <p:nvPr/>
          </p:nvSpPr>
          <p:spPr>
            <a:xfrm>
              <a:off x="6616446" y="2726310"/>
              <a:ext cx="326898" cy="33528"/>
            </a:xfrm>
            <a:prstGeom prst="ellipse">
              <a:avLst/>
            </a:prstGeom>
            <a:solidFill>
              <a:srgbClr val="DCE2D6"/>
            </a:solidFill>
            <a:ln w="0">
              <a:noFill/>
              <a:prstDash val="solid"/>
            </a:ln>
          </p:spPr>
          <p:txBody>
            <a:bodyPr/>
            <a:lstStyle/>
            <a:p>
              <a:endParaRPr sz="1200"/>
            </a:p>
          </p:txBody>
        </p:sp>
        <p:sp>
          <p:nvSpPr>
            <p:cNvPr id="311" name="s3-traveller-small__contour_311">
              <a:extLst>
                <a:ext uri="{FF2B5EF4-FFF2-40B4-BE49-F238E27FC236}">
                  <a16:creationId xmlns:a16="http://schemas.microsoft.com/office/drawing/2014/main" id="{0E5AC44A-9B1A-43E3-A7C2-9CDDC898A657}"/>
                </a:ext>
              </a:extLst>
            </p:cNvPr>
            <p:cNvSpPr>
              <a:spLocks/>
            </p:cNvSpPr>
            <p:nvPr/>
          </p:nvSpPr>
          <p:spPr>
            <a:xfrm>
              <a:off x="6629019" y="2474850"/>
              <a:ext cx="108966" cy="238887"/>
            </a:xfrm>
            <a:custGeom>
              <a:avLst/>
              <a:gdLst/>
              <a:ahLst/>
              <a:cxnLst/>
              <a:rect l="0" t="0" r="0" b="0"/>
              <a:pathLst>
                <a:path w="163449" h="358331">
                  <a:moveTo>
                    <a:pt x="163449" y="0"/>
                  </a:moveTo>
                  <a:lnTo>
                    <a:pt x="138303" y="207454"/>
                  </a:lnTo>
                  <a:lnTo>
                    <a:pt x="69151" y="352044"/>
                  </a:lnTo>
                  <a:lnTo>
                    <a:pt x="0" y="358331"/>
                  </a:lnTo>
                </a:path>
              </a:pathLst>
            </a:custGeom>
            <a:noFill/>
            <a:ln w="56579">
              <a:solidFill>
                <a:srgbClr val="5A625C"/>
              </a:solidFill>
              <a:prstDash val="solid"/>
            </a:ln>
          </p:spPr>
          <p:txBody>
            <a:bodyPr/>
            <a:lstStyle/>
            <a:p>
              <a:endParaRPr sz="1200"/>
            </a:p>
          </p:txBody>
        </p:sp>
        <p:sp>
          <p:nvSpPr>
            <p:cNvPr id="312" name="s3-traveller-small__contour_312">
              <a:extLst>
                <a:ext uri="{FF2B5EF4-FFF2-40B4-BE49-F238E27FC236}">
                  <a16:creationId xmlns:a16="http://schemas.microsoft.com/office/drawing/2014/main" id="{BF052ABA-E103-4B0C-A163-4613D2FC72B0}"/>
                </a:ext>
              </a:extLst>
            </p:cNvPr>
            <p:cNvSpPr>
              <a:spLocks/>
            </p:cNvSpPr>
            <p:nvPr/>
          </p:nvSpPr>
          <p:spPr>
            <a:xfrm>
              <a:off x="6805041" y="2474850"/>
              <a:ext cx="155066" cy="226314"/>
            </a:xfrm>
            <a:custGeom>
              <a:avLst/>
              <a:gdLst/>
              <a:ahLst/>
              <a:cxnLst/>
              <a:rect l="0" t="0" r="0" b="0"/>
              <a:pathLst>
                <a:path w="232600" h="339471">
                  <a:moveTo>
                    <a:pt x="0" y="0"/>
                  </a:moveTo>
                  <a:lnTo>
                    <a:pt x="81724" y="201168"/>
                  </a:lnTo>
                  <a:lnTo>
                    <a:pt x="169735" y="333185"/>
                  </a:lnTo>
                  <a:lnTo>
                    <a:pt x="232600" y="339471"/>
                  </a:lnTo>
                </a:path>
              </a:pathLst>
            </a:custGeom>
            <a:noFill/>
            <a:ln w="56579">
              <a:solidFill>
                <a:srgbClr val="5A625C"/>
              </a:solidFill>
              <a:prstDash val="solid"/>
            </a:ln>
          </p:spPr>
          <p:txBody>
            <a:bodyPr/>
            <a:lstStyle/>
            <a:p>
              <a:endParaRPr sz="1200"/>
            </a:p>
          </p:txBody>
        </p:sp>
        <p:sp>
          <p:nvSpPr>
            <p:cNvPr id="313" name="s3-traveller-small__contour_313">
              <a:extLst>
                <a:ext uri="{FF2B5EF4-FFF2-40B4-BE49-F238E27FC236}">
                  <a16:creationId xmlns:a16="http://schemas.microsoft.com/office/drawing/2014/main" id="{378F0B80-670E-43CC-83F1-85E6208EAD25}"/>
                </a:ext>
              </a:extLst>
            </p:cNvPr>
            <p:cNvSpPr>
              <a:spLocks/>
            </p:cNvSpPr>
            <p:nvPr/>
          </p:nvSpPr>
          <p:spPr>
            <a:xfrm>
              <a:off x="6696075" y="2267903"/>
              <a:ext cx="155067" cy="215328"/>
            </a:xfrm>
            <a:custGeom>
              <a:avLst/>
              <a:gdLst/>
              <a:ahLst/>
              <a:cxnLst/>
              <a:rect l="0" t="0" r="0" b="0"/>
              <a:pathLst>
                <a:path w="232601" h="322993">
                  <a:moveTo>
                    <a:pt x="25146" y="33814"/>
                  </a:moveTo>
                  <a:lnTo>
                    <a:pt x="32318" y="25594"/>
                  </a:lnTo>
                  <a:lnTo>
                    <a:pt x="41110" y="18545"/>
                  </a:lnTo>
                  <a:lnTo>
                    <a:pt x="51302" y="12640"/>
                  </a:lnTo>
                  <a:lnTo>
                    <a:pt x="62655" y="7877"/>
                  </a:lnTo>
                  <a:lnTo>
                    <a:pt x="74971" y="4248"/>
                  </a:lnTo>
                  <a:lnTo>
                    <a:pt x="88011" y="1724"/>
                  </a:lnTo>
                  <a:lnTo>
                    <a:pt x="101556" y="314"/>
                  </a:lnTo>
                  <a:lnTo>
                    <a:pt x="115376" y="0"/>
                  </a:lnTo>
                  <a:lnTo>
                    <a:pt x="129254" y="772"/>
                  </a:lnTo>
                  <a:lnTo>
                    <a:pt x="142961" y="2610"/>
                  </a:lnTo>
                  <a:lnTo>
                    <a:pt x="156277" y="5515"/>
                  </a:lnTo>
                  <a:lnTo>
                    <a:pt x="168983" y="9468"/>
                  </a:lnTo>
                  <a:lnTo>
                    <a:pt x="180842" y="14468"/>
                  </a:lnTo>
                  <a:lnTo>
                    <a:pt x="191653" y="20488"/>
                  </a:lnTo>
                  <a:lnTo>
                    <a:pt x="201168" y="27527"/>
                  </a:lnTo>
                  <a:lnTo>
                    <a:pt x="232601" y="322993"/>
                  </a:lnTo>
                  <a:lnTo>
                    <a:pt x="0" y="322993"/>
                  </a:lnTo>
                  <a:close/>
                </a:path>
              </a:pathLst>
            </a:custGeom>
            <a:solidFill>
              <a:srgbClr val="8196A0"/>
            </a:solidFill>
            <a:ln w="8801">
              <a:solidFill>
                <a:srgbClr val="566861"/>
              </a:solidFill>
              <a:prstDash val="solid"/>
            </a:ln>
          </p:spPr>
          <p:txBody>
            <a:bodyPr/>
            <a:lstStyle/>
            <a:p>
              <a:endParaRPr sz="1200"/>
            </a:p>
          </p:txBody>
        </p:sp>
        <p:sp>
          <p:nvSpPr>
            <p:cNvPr id="314" name="s3-traveller-small__ellipse_314">
              <a:extLst>
                <a:ext uri="{FF2B5EF4-FFF2-40B4-BE49-F238E27FC236}">
                  <a16:creationId xmlns:a16="http://schemas.microsoft.com/office/drawing/2014/main" id="{455312C0-742D-4C78-A9ED-45BA17428EF8}"/>
                </a:ext>
              </a:extLst>
            </p:cNvPr>
            <p:cNvSpPr>
              <a:spLocks/>
            </p:cNvSpPr>
            <p:nvPr/>
          </p:nvSpPr>
          <p:spPr>
            <a:xfrm>
              <a:off x="6712839" y="2139570"/>
              <a:ext cx="108966" cy="129921"/>
            </a:xfrm>
            <a:prstGeom prst="ellipse">
              <a:avLst/>
            </a:prstGeom>
            <a:solidFill>
              <a:srgbClr val="BD8B67"/>
            </a:solidFill>
            <a:ln w="6287">
              <a:solidFill>
                <a:srgbClr val="6F6554"/>
              </a:solidFill>
              <a:prstDash val="solid"/>
            </a:ln>
          </p:spPr>
          <p:txBody>
            <a:bodyPr/>
            <a:lstStyle/>
            <a:p>
              <a:endParaRPr sz="1200"/>
            </a:p>
          </p:txBody>
        </p:sp>
        <p:sp>
          <p:nvSpPr>
            <p:cNvPr id="315" name="s3-traveller-small__contour_315">
              <a:extLst>
                <a:ext uri="{FF2B5EF4-FFF2-40B4-BE49-F238E27FC236}">
                  <a16:creationId xmlns:a16="http://schemas.microsoft.com/office/drawing/2014/main" id="{8EA8A897-AEA9-4EA0-8A9C-01D054451F81}"/>
                </a:ext>
              </a:extLst>
            </p:cNvPr>
            <p:cNvSpPr>
              <a:spLocks/>
            </p:cNvSpPr>
            <p:nvPr/>
          </p:nvSpPr>
          <p:spPr>
            <a:xfrm>
              <a:off x="6706596" y="2131156"/>
              <a:ext cx="115208" cy="79660"/>
            </a:xfrm>
            <a:custGeom>
              <a:avLst/>
              <a:gdLst/>
              <a:ahLst/>
              <a:cxnLst/>
              <a:rect l="0" t="0" r="0" b="0"/>
              <a:pathLst>
                <a:path w="172812" h="119491">
                  <a:moveTo>
                    <a:pt x="3077" y="119491"/>
                  </a:moveTo>
                  <a:lnTo>
                    <a:pt x="0" y="94593"/>
                  </a:lnTo>
                  <a:lnTo>
                    <a:pt x="562" y="72676"/>
                  </a:lnTo>
                  <a:lnTo>
                    <a:pt x="4382" y="53711"/>
                  </a:lnTo>
                  <a:lnTo>
                    <a:pt x="11097" y="37662"/>
                  </a:lnTo>
                  <a:lnTo>
                    <a:pt x="20307" y="24498"/>
                  </a:lnTo>
                  <a:lnTo>
                    <a:pt x="31642" y="14183"/>
                  </a:lnTo>
                  <a:lnTo>
                    <a:pt x="44720" y="6677"/>
                  </a:lnTo>
                  <a:lnTo>
                    <a:pt x="59169" y="1962"/>
                  </a:lnTo>
                  <a:lnTo>
                    <a:pt x="74590" y="0"/>
                  </a:lnTo>
                  <a:lnTo>
                    <a:pt x="90621" y="743"/>
                  </a:lnTo>
                  <a:lnTo>
                    <a:pt x="106880" y="4181"/>
                  </a:lnTo>
                  <a:lnTo>
                    <a:pt x="122977" y="10258"/>
                  </a:lnTo>
                  <a:lnTo>
                    <a:pt x="138532" y="18955"/>
                  </a:lnTo>
                  <a:lnTo>
                    <a:pt x="153181" y="30232"/>
                  </a:lnTo>
                  <a:lnTo>
                    <a:pt x="166526" y="44053"/>
                  </a:lnTo>
                  <a:lnTo>
                    <a:pt x="172812" y="100632"/>
                  </a:lnTo>
                  <a:lnTo>
                    <a:pt x="160477" y="90145"/>
                  </a:lnTo>
                  <a:lnTo>
                    <a:pt x="148600" y="81296"/>
                  </a:lnTo>
                  <a:lnTo>
                    <a:pt x="137103" y="74028"/>
                  </a:lnTo>
                  <a:lnTo>
                    <a:pt x="125949" y="68304"/>
                  </a:lnTo>
                  <a:lnTo>
                    <a:pt x="115072" y="64075"/>
                  </a:lnTo>
                  <a:lnTo>
                    <a:pt x="104413" y="61303"/>
                  </a:lnTo>
                  <a:lnTo>
                    <a:pt x="93926" y="59941"/>
                  </a:lnTo>
                  <a:lnTo>
                    <a:pt x="83553" y="59941"/>
                  </a:lnTo>
                  <a:lnTo>
                    <a:pt x="73238" y="61255"/>
                  </a:lnTo>
                  <a:lnTo>
                    <a:pt x="62913" y="63846"/>
                  </a:lnTo>
                  <a:lnTo>
                    <a:pt x="52540" y="67666"/>
                  </a:lnTo>
                  <a:lnTo>
                    <a:pt x="42053" y="72666"/>
                  </a:lnTo>
                  <a:lnTo>
                    <a:pt x="31394" y="78810"/>
                  </a:lnTo>
                  <a:lnTo>
                    <a:pt x="20517" y="86058"/>
                  </a:lnTo>
                  <a:lnTo>
                    <a:pt x="9363" y="94345"/>
                  </a:lnTo>
                  <a:close/>
                </a:path>
              </a:pathLst>
            </a:custGeom>
            <a:solidFill>
              <a:srgbClr val="4E4D40"/>
            </a:solidFill>
            <a:ln w="10687">
              <a:noFill/>
              <a:prstDash val="solid"/>
            </a:ln>
          </p:spPr>
          <p:txBody>
            <a:bodyPr/>
            <a:lstStyle/>
            <a:p>
              <a:endParaRPr sz="1200"/>
            </a:p>
          </p:txBody>
        </p:sp>
        <p:sp>
          <p:nvSpPr>
            <p:cNvPr id="316" name="s3-traveller-small__path_316">
              <a:extLst>
                <a:ext uri="{FF2B5EF4-FFF2-40B4-BE49-F238E27FC236}">
                  <a16:creationId xmlns:a16="http://schemas.microsoft.com/office/drawing/2014/main" id="{A8C62C8F-6568-42A0-8C6C-0FB31F7A540A}"/>
                </a:ext>
              </a:extLst>
            </p:cNvPr>
            <p:cNvSpPr>
              <a:spLocks/>
            </p:cNvSpPr>
            <p:nvPr/>
          </p:nvSpPr>
          <p:spPr>
            <a:xfrm>
              <a:off x="6813423" y="2202435"/>
              <a:ext cx="25146" cy="29337"/>
            </a:xfrm>
            <a:custGeom>
              <a:avLst/>
              <a:gdLst/>
              <a:ahLst/>
              <a:cxnLst/>
              <a:rect l="0" t="0" r="0" b="0"/>
              <a:pathLst>
                <a:path w="37719" h="44006">
                  <a:moveTo>
                    <a:pt x="0" y="0"/>
                  </a:moveTo>
                  <a:lnTo>
                    <a:pt x="37719" y="25146"/>
                  </a:lnTo>
                  <a:lnTo>
                    <a:pt x="0" y="44006"/>
                  </a:lnTo>
                  <a:close/>
                </a:path>
              </a:pathLst>
            </a:custGeom>
            <a:solidFill>
              <a:srgbClr val="BD8B67"/>
            </a:solidFill>
            <a:ln w="5029">
              <a:solidFill>
                <a:srgbClr val="6F6554"/>
              </a:solidFill>
              <a:prstDash val="solid"/>
            </a:ln>
          </p:spPr>
          <p:txBody>
            <a:bodyPr/>
            <a:lstStyle/>
            <a:p>
              <a:endParaRPr sz="1200"/>
            </a:p>
          </p:txBody>
        </p:sp>
        <p:sp>
          <p:nvSpPr>
            <p:cNvPr id="317" name="s3-traveller-small__ellipse_317">
              <a:extLst>
                <a:ext uri="{FF2B5EF4-FFF2-40B4-BE49-F238E27FC236}">
                  <a16:creationId xmlns:a16="http://schemas.microsoft.com/office/drawing/2014/main" id="{9E009728-C414-4C73-9EB5-AAE70124BB75}"/>
                </a:ext>
              </a:extLst>
            </p:cNvPr>
            <p:cNvSpPr>
              <a:spLocks/>
            </p:cNvSpPr>
            <p:nvPr/>
          </p:nvSpPr>
          <p:spPr>
            <a:xfrm>
              <a:off x="6796659" y="2194053"/>
              <a:ext cx="8382" cy="8382"/>
            </a:xfrm>
            <a:prstGeom prst="ellipse">
              <a:avLst/>
            </a:prstGeom>
            <a:solidFill>
              <a:srgbClr val="333E34"/>
            </a:solidFill>
            <a:ln w="0">
              <a:noFill/>
              <a:prstDash val="solid"/>
            </a:ln>
          </p:spPr>
          <p:txBody>
            <a:bodyPr/>
            <a:lstStyle/>
            <a:p>
              <a:endParaRPr sz="1200"/>
            </a:p>
          </p:txBody>
        </p:sp>
        <p:sp>
          <p:nvSpPr>
            <p:cNvPr id="318" name="s3-traveller-small__contour_318">
              <a:extLst>
                <a:ext uri="{FF2B5EF4-FFF2-40B4-BE49-F238E27FC236}">
                  <a16:creationId xmlns:a16="http://schemas.microsoft.com/office/drawing/2014/main" id="{773FF3AF-09F4-464D-B781-0A0CA98C6C23}"/>
                </a:ext>
              </a:extLst>
            </p:cNvPr>
            <p:cNvSpPr>
              <a:spLocks/>
            </p:cNvSpPr>
            <p:nvPr/>
          </p:nvSpPr>
          <p:spPr>
            <a:xfrm>
              <a:off x="6817614" y="2311401"/>
              <a:ext cx="129920" cy="62864"/>
            </a:xfrm>
            <a:custGeom>
              <a:avLst/>
              <a:gdLst/>
              <a:ahLst/>
              <a:cxnLst/>
              <a:rect l="0" t="0" r="0" b="0"/>
              <a:pathLst>
                <a:path w="194881" h="94297">
                  <a:moveTo>
                    <a:pt x="0" y="0"/>
                  </a:moveTo>
                  <a:lnTo>
                    <a:pt x="69151" y="94297"/>
                  </a:lnTo>
                  <a:lnTo>
                    <a:pt x="194881" y="44006"/>
                  </a:lnTo>
                </a:path>
              </a:pathLst>
            </a:custGeom>
            <a:noFill/>
            <a:ln w="56579">
              <a:solidFill>
                <a:srgbClr val="BD8B67"/>
              </a:solidFill>
              <a:prstDash val="solid"/>
            </a:ln>
          </p:spPr>
          <p:txBody>
            <a:bodyPr/>
            <a:lstStyle/>
            <a:p>
              <a:endParaRPr sz="1200"/>
            </a:p>
          </p:txBody>
        </p:sp>
        <p:sp>
          <p:nvSpPr>
            <p:cNvPr id="319" name="s3-traveller-small__contour_319">
              <a:extLst>
                <a:ext uri="{FF2B5EF4-FFF2-40B4-BE49-F238E27FC236}">
                  <a16:creationId xmlns:a16="http://schemas.microsoft.com/office/drawing/2014/main" id="{C4338294-0651-408F-9D41-A5126A2B907A}"/>
                </a:ext>
              </a:extLst>
            </p:cNvPr>
            <p:cNvSpPr>
              <a:spLocks/>
            </p:cNvSpPr>
            <p:nvPr/>
          </p:nvSpPr>
          <p:spPr>
            <a:xfrm>
              <a:off x="6817614" y="2307209"/>
              <a:ext cx="29336" cy="37718"/>
            </a:xfrm>
            <a:custGeom>
              <a:avLst/>
              <a:gdLst/>
              <a:ahLst/>
              <a:cxnLst/>
              <a:rect l="0" t="0" r="0" b="0"/>
              <a:pathLst>
                <a:path w="44005" h="56578">
                  <a:moveTo>
                    <a:pt x="0" y="0"/>
                  </a:moveTo>
                  <a:lnTo>
                    <a:pt x="44005" y="56578"/>
                  </a:lnTo>
                </a:path>
              </a:pathLst>
            </a:custGeom>
            <a:noFill/>
            <a:ln w="75438">
              <a:solidFill>
                <a:srgbClr val="8196A0"/>
              </a:solidFill>
              <a:prstDash val="solid"/>
            </a:ln>
          </p:spPr>
          <p:txBody>
            <a:bodyPr/>
            <a:lstStyle/>
            <a:p>
              <a:endParaRPr sz="1200"/>
            </a:p>
          </p:txBody>
        </p:sp>
        <p:sp>
          <p:nvSpPr>
            <p:cNvPr id="320" name="s3-traveller-small__contour_320">
              <a:extLst>
                <a:ext uri="{FF2B5EF4-FFF2-40B4-BE49-F238E27FC236}">
                  <a16:creationId xmlns:a16="http://schemas.microsoft.com/office/drawing/2014/main" id="{E1321ADE-9788-44C8-A400-1F5B39DF48EA}"/>
                </a:ext>
              </a:extLst>
            </p:cNvPr>
            <p:cNvSpPr>
              <a:spLocks/>
            </p:cNvSpPr>
            <p:nvPr/>
          </p:nvSpPr>
          <p:spPr>
            <a:xfrm>
              <a:off x="6629019" y="2307209"/>
              <a:ext cx="83820" cy="92202"/>
            </a:xfrm>
            <a:custGeom>
              <a:avLst/>
              <a:gdLst/>
              <a:ahLst/>
              <a:cxnLst/>
              <a:rect l="0" t="0" r="0" b="0"/>
              <a:pathLst>
                <a:path w="125730" h="138303">
                  <a:moveTo>
                    <a:pt x="125730" y="0"/>
                  </a:moveTo>
                  <a:lnTo>
                    <a:pt x="62865" y="106871"/>
                  </a:lnTo>
                  <a:lnTo>
                    <a:pt x="0" y="138303"/>
                  </a:lnTo>
                </a:path>
              </a:pathLst>
            </a:custGeom>
            <a:noFill/>
            <a:ln w="50292">
              <a:solidFill>
                <a:srgbClr val="BD8B67"/>
              </a:solidFill>
              <a:prstDash val="solid"/>
            </a:ln>
          </p:spPr>
          <p:txBody>
            <a:bodyPr/>
            <a:lstStyle/>
            <a:p>
              <a:endParaRPr sz="1200"/>
            </a:p>
          </p:txBody>
        </p:sp>
        <p:sp>
          <p:nvSpPr>
            <p:cNvPr id="321" name="s3-traveller-small__contour_321">
              <a:extLst>
                <a:ext uri="{FF2B5EF4-FFF2-40B4-BE49-F238E27FC236}">
                  <a16:creationId xmlns:a16="http://schemas.microsoft.com/office/drawing/2014/main" id="{92605DA7-C051-41E7-A83B-50D9A58A1BED}"/>
                </a:ext>
              </a:extLst>
            </p:cNvPr>
            <p:cNvSpPr>
              <a:spLocks/>
            </p:cNvSpPr>
            <p:nvPr/>
          </p:nvSpPr>
          <p:spPr>
            <a:xfrm>
              <a:off x="6691884" y="2303019"/>
              <a:ext cx="20955" cy="37718"/>
            </a:xfrm>
            <a:custGeom>
              <a:avLst/>
              <a:gdLst/>
              <a:ahLst/>
              <a:cxnLst/>
              <a:rect l="0" t="0" r="0" b="0"/>
              <a:pathLst>
                <a:path w="31433" h="56578">
                  <a:moveTo>
                    <a:pt x="31433" y="0"/>
                  </a:moveTo>
                  <a:lnTo>
                    <a:pt x="0" y="56578"/>
                  </a:lnTo>
                </a:path>
              </a:pathLst>
            </a:custGeom>
            <a:noFill/>
            <a:ln w="69152">
              <a:solidFill>
                <a:srgbClr val="8196A0"/>
              </a:solidFill>
              <a:prstDash val="solid"/>
            </a:ln>
          </p:spPr>
          <p:txBody>
            <a:bodyPr/>
            <a:lstStyle/>
            <a:p>
              <a:endParaRPr sz="1200"/>
            </a:p>
          </p:txBody>
        </p:sp>
        <p:sp>
          <p:nvSpPr>
            <p:cNvPr id="322" name="s3-traveller-small__contour_322">
              <a:extLst>
                <a:ext uri="{FF2B5EF4-FFF2-40B4-BE49-F238E27FC236}">
                  <a16:creationId xmlns:a16="http://schemas.microsoft.com/office/drawing/2014/main" id="{81E60EE2-D3AD-47C8-B0E7-4EB6F57B6116}"/>
                </a:ext>
              </a:extLst>
            </p:cNvPr>
            <p:cNvSpPr>
              <a:spLocks/>
            </p:cNvSpPr>
            <p:nvPr/>
          </p:nvSpPr>
          <p:spPr>
            <a:xfrm>
              <a:off x="6851142" y="2370075"/>
              <a:ext cx="108966" cy="92202"/>
            </a:xfrm>
            <a:custGeom>
              <a:avLst/>
              <a:gdLst/>
              <a:ahLst/>
              <a:cxnLst/>
              <a:rect l="0" t="0" r="0" b="0"/>
              <a:pathLst>
                <a:path w="163449" h="138303">
                  <a:moveTo>
                    <a:pt x="0" y="0"/>
                  </a:moveTo>
                  <a:lnTo>
                    <a:pt x="163449" y="0"/>
                  </a:lnTo>
                  <a:lnTo>
                    <a:pt x="138303" y="138303"/>
                  </a:lnTo>
                  <a:lnTo>
                    <a:pt x="18860" y="138303"/>
                  </a:lnTo>
                  <a:close/>
                </a:path>
              </a:pathLst>
            </a:custGeom>
            <a:solidFill>
              <a:srgbClr val="C29C69"/>
            </a:solidFill>
            <a:ln w="9430">
              <a:solidFill>
                <a:srgbClr val="7D7054"/>
              </a:solidFill>
              <a:prstDash val="solid"/>
            </a:ln>
          </p:spPr>
          <p:txBody>
            <a:bodyPr/>
            <a:lstStyle/>
            <a:p>
              <a:endParaRPr sz="1200"/>
            </a:p>
          </p:txBody>
        </p:sp>
        <p:sp>
          <p:nvSpPr>
            <p:cNvPr id="323" name="s3-traveller-small__contour_323">
              <a:extLst>
                <a:ext uri="{FF2B5EF4-FFF2-40B4-BE49-F238E27FC236}">
                  <a16:creationId xmlns:a16="http://schemas.microsoft.com/office/drawing/2014/main" id="{C6B201D0-EC36-41B2-B55E-44B7B883342E}"/>
                </a:ext>
              </a:extLst>
            </p:cNvPr>
            <p:cNvSpPr>
              <a:spLocks/>
            </p:cNvSpPr>
            <p:nvPr/>
          </p:nvSpPr>
          <p:spPr>
            <a:xfrm>
              <a:off x="6855053" y="2311471"/>
              <a:ext cx="105054" cy="62795"/>
            </a:xfrm>
            <a:custGeom>
              <a:avLst/>
              <a:gdLst/>
              <a:ahLst/>
              <a:cxnLst/>
              <a:rect l="0" t="0" r="0" b="0"/>
              <a:pathLst>
                <a:path w="157582" h="94193">
                  <a:moveTo>
                    <a:pt x="419" y="94193"/>
                  </a:moveTo>
                  <a:lnTo>
                    <a:pt x="0" y="71742"/>
                  </a:lnTo>
                  <a:lnTo>
                    <a:pt x="3410" y="52207"/>
                  </a:lnTo>
                  <a:lnTo>
                    <a:pt x="10125" y="35652"/>
                  </a:lnTo>
                  <a:lnTo>
                    <a:pt x="19631" y="22155"/>
                  </a:lnTo>
                  <a:lnTo>
                    <a:pt x="31385" y="11773"/>
                  </a:lnTo>
                  <a:lnTo>
                    <a:pt x="44882" y="4572"/>
                  </a:lnTo>
                  <a:lnTo>
                    <a:pt x="59579" y="629"/>
                  </a:lnTo>
                  <a:lnTo>
                    <a:pt x="74952" y="0"/>
                  </a:lnTo>
                  <a:lnTo>
                    <a:pt x="90488" y="2762"/>
                  </a:lnTo>
                  <a:lnTo>
                    <a:pt x="105661" y="8973"/>
                  </a:lnTo>
                  <a:lnTo>
                    <a:pt x="119929" y="18707"/>
                  </a:lnTo>
                  <a:lnTo>
                    <a:pt x="132788" y="32033"/>
                  </a:lnTo>
                  <a:lnTo>
                    <a:pt x="143694" y="49006"/>
                  </a:lnTo>
                  <a:lnTo>
                    <a:pt x="152133" y="69704"/>
                  </a:lnTo>
                  <a:lnTo>
                    <a:pt x="157582" y="94193"/>
                  </a:lnTo>
                </a:path>
              </a:pathLst>
            </a:custGeom>
            <a:noFill/>
            <a:ln w="12573">
              <a:solidFill>
                <a:srgbClr val="7D7054"/>
              </a:solidFill>
              <a:prstDash val="solid"/>
            </a:ln>
          </p:spPr>
          <p:txBody>
            <a:bodyPr/>
            <a:lstStyle/>
            <a:p>
              <a:endParaRPr sz="1200"/>
            </a:p>
          </p:txBody>
        </p:sp>
        <p:sp>
          <p:nvSpPr>
            <p:cNvPr id="324" name="s3-traveller-small__line_324">
              <a:extLst>
                <a:ext uri="{FF2B5EF4-FFF2-40B4-BE49-F238E27FC236}">
                  <a16:creationId xmlns:a16="http://schemas.microsoft.com/office/drawing/2014/main" id="{C299011D-DFFF-40B0-9203-E282295D339A}"/>
                </a:ext>
              </a:extLst>
            </p:cNvPr>
            <p:cNvSpPr>
              <a:spLocks/>
            </p:cNvSpPr>
            <p:nvPr/>
          </p:nvSpPr>
          <p:spPr>
            <a:xfrm>
              <a:off x="6863715" y="2386839"/>
              <a:ext cx="8382" cy="58674"/>
            </a:xfrm>
            <a:custGeom>
              <a:avLst/>
              <a:gdLst/>
              <a:ahLst/>
              <a:cxnLst/>
              <a:rect l="0" t="0" r="0" b="0"/>
              <a:pathLst>
                <a:path w="12573" h="88011">
                  <a:moveTo>
                    <a:pt x="0" y="0"/>
                  </a:moveTo>
                  <a:lnTo>
                    <a:pt x="12573" y="88011"/>
                  </a:lnTo>
                </a:path>
              </a:pathLst>
            </a:custGeom>
            <a:noFill/>
            <a:ln w="6287">
              <a:solidFill>
                <a:srgbClr val="E3C69A"/>
              </a:solidFill>
              <a:prstDash val="solid"/>
            </a:ln>
          </p:spPr>
          <p:txBody>
            <a:bodyPr/>
            <a:lstStyle/>
            <a:p>
              <a:endParaRPr sz="1200"/>
            </a:p>
          </p:txBody>
        </p:sp>
        <p:sp>
          <p:nvSpPr>
            <p:cNvPr id="325" name="s3-traveller-small__line_325">
              <a:extLst>
                <a:ext uri="{FF2B5EF4-FFF2-40B4-BE49-F238E27FC236}">
                  <a16:creationId xmlns:a16="http://schemas.microsoft.com/office/drawing/2014/main" id="{79CAC5DB-4741-4B56-BFAF-1AB31AEA8FCC}"/>
                </a:ext>
              </a:extLst>
            </p:cNvPr>
            <p:cNvSpPr>
              <a:spLocks/>
            </p:cNvSpPr>
            <p:nvPr/>
          </p:nvSpPr>
          <p:spPr>
            <a:xfrm>
              <a:off x="6884670" y="2386839"/>
              <a:ext cx="4190" cy="58674"/>
            </a:xfrm>
            <a:custGeom>
              <a:avLst/>
              <a:gdLst/>
              <a:ahLst/>
              <a:cxnLst/>
              <a:rect l="0" t="0" r="0" b="0"/>
              <a:pathLst>
                <a:path w="6286" h="88011">
                  <a:moveTo>
                    <a:pt x="0" y="0"/>
                  </a:moveTo>
                  <a:lnTo>
                    <a:pt x="6286" y="88011"/>
                  </a:lnTo>
                </a:path>
              </a:pathLst>
            </a:custGeom>
            <a:noFill/>
            <a:ln w="6287">
              <a:solidFill>
                <a:srgbClr val="E3C69A"/>
              </a:solidFill>
              <a:prstDash val="solid"/>
            </a:ln>
          </p:spPr>
          <p:txBody>
            <a:bodyPr/>
            <a:lstStyle/>
            <a:p>
              <a:endParaRPr sz="1200"/>
            </a:p>
          </p:txBody>
        </p:sp>
        <p:sp>
          <p:nvSpPr>
            <p:cNvPr id="326" name="s3-traveller-small__line_326">
              <a:extLst>
                <a:ext uri="{FF2B5EF4-FFF2-40B4-BE49-F238E27FC236}">
                  <a16:creationId xmlns:a16="http://schemas.microsoft.com/office/drawing/2014/main" id="{2C078588-D46A-4BA3-8842-FF3AA7162B98}"/>
                </a:ext>
              </a:extLst>
            </p:cNvPr>
            <p:cNvSpPr>
              <a:spLocks/>
            </p:cNvSpPr>
            <p:nvPr/>
          </p:nvSpPr>
          <p:spPr>
            <a:xfrm>
              <a:off x="6905625" y="2386839"/>
              <a:ext cx="63" cy="58674"/>
            </a:xfrm>
            <a:custGeom>
              <a:avLst/>
              <a:gdLst/>
              <a:ahLst/>
              <a:cxnLst/>
              <a:rect l="0" t="0" r="0" b="0"/>
              <a:pathLst>
                <a:path w="95" h="88011">
                  <a:moveTo>
                    <a:pt x="0" y="0"/>
                  </a:moveTo>
                  <a:lnTo>
                    <a:pt x="0" y="88011"/>
                  </a:lnTo>
                </a:path>
              </a:pathLst>
            </a:custGeom>
            <a:noFill/>
            <a:ln w="6287">
              <a:solidFill>
                <a:srgbClr val="E3C69A"/>
              </a:solidFill>
              <a:prstDash val="solid"/>
            </a:ln>
          </p:spPr>
          <p:txBody>
            <a:bodyPr/>
            <a:lstStyle/>
            <a:p>
              <a:endParaRPr sz="1200"/>
            </a:p>
          </p:txBody>
        </p:sp>
        <p:sp>
          <p:nvSpPr>
            <p:cNvPr id="327" name="s3-traveller-small__line_327">
              <a:extLst>
                <a:ext uri="{FF2B5EF4-FFF2-40B4-BE49-F238E27FC236}">
                  <a16:creationId xmlns:a16="http://schemas.microsoft.com/office/drawing/2014/main" id="{46F94474-A721-4025-915C-A68033EAAE2F}"/>
                </a:ext>
              </a:extLst>
            </p:cNvPr>
            <p:cNvSpPr>
              <a:spLocks/>
            </p:cNvSpPr>
            <p:nvPr/>
          </p:nvSpPr>
          <p:spPr>
            <a:xfrm>
              <a:off x="6922389" y="2386839"/>
              <a:ext cx="4190" cy="58674"/>
            </a:xfrm>
            <a:custGeom>
              <a:avLst/>
              <a:gdLst/>
              <a:ahLst/>
              <a:cxnLst/>
              <a:rect l="0" t="0" r="0" b="0"/>
              <a:pathLst>
                <a:path w="6286" h="88011">
                  <a:moveTo>
                    <a:pt x="6286" y="0"/>
                  </a:moveTo>
                  <a:lnTo>
                    <a:pt x="0" y="88011"/>
                  </a:lnTo>
                </a:path>
              </a:pathLst>
            </a:custGeom>
            <a:noFill/>
            <a:ln w="6287">
              <a:solidFill>
                <a:srgbClr val="E3C69A"/>
              </a:solidFill>
              <a:prstDash val="solid"/>
            </a:ln>
          </p:spPr>
          <p:txBody>
            <a:bodyPr/>
            <a:lstStyle/>
            <a:p>
              <a:endParaRPr sz="1200"/>
            </a:p>
          </p:txBody>
        </p:sp>
        <p:sp>
          <p:nvSpPr>
            <p:cNvPr id="328" name="s3-traveller-small__ellipse_328">
              <a:extLst>
                <a:ext uri="{FF2B5EF4-FFF2-40B4-BE49-F238E27FC236}">
                  <a16:creationId xmlns:a16="http://schemas.microsoft.com/office/drawing/2014/main" id="{B0DE26AE-3D7C-421B-8E77-38642F682884}"/>
                </a:ext>
              </a:extLst>
            </p:cNvPr>
            <p:cNvSpPr>
              <a:spLocks/>
            </p:cNvSpPr>
            <p:nvPr/>
          </p:nvSpPr>
          <p:spPr>
            <a:xfrm>
              <a:off x="6884670" y="2303019"/>
              <a:ext cx="37719" cy="58674"/>
            </a:xfrm>
            <a:prstGeom prst="ellipse">
              <a:avLst/>
            </a:prstGeom>
            <a:solidFill>
              <a:srgbClr val="B88B57"/>
            </a:solidFill>
            <a:ln w="0">
              <a:noFill/>
              <a:prstDash val="solid"/>
            </a:ln>
          </p:spPr>
          <p:txBody>
            <a:bodyPr/>
            <a:lstStyle/>
            <a:p>
              <a:endParaRPr sz="1200"/>
            </a:p>
          </p:txBody>
        </p:sp>
        <p:sp>
          <p:nvSpPr>
            <p:cNvPr id="329" name="s3-traveller-small__path_329">
              <a:extLst>
                <a:ext uri="{FF2B5EF4-FFF2-40B4-BE49-F238E27FC236}">
                  <a16:creationId xmlns:a16="http://schemas.microsoft.com/office/drawing/2014/main" id="{4C3354F6-4F78-437E-8801-F573F866B4F1}"/>
                </a:ext>
              </a:extLst>
            </p:cNvPr>
            <p:cNvSpPr>
              <a:spLocks/>
            </p:cNvSpPr>
            <p:nvPr/>
          </p:nvSpPr>
          <p:spPr>
            <a:xfrm>
              <a:off x="6918198" y="2319783"/>
              <a:ext cx="25146" cy="16764"/>
            </a:xfrm>
            <a:custGeom>
              <a:avLst/>
              <a:gdLst/>
              <a:ahLst/>
              <a:cxnLst/>
              <a:rect l="0" t="0" r="0" b="0"/>
              <a:pathLst>
                <a:path w="37719" h="25146">
                  <a:moveTo>
                    <a:pt x="0" y="0"/>
                  </a:moveTo>
                  <a:lnTo>
                    <a:pt x="37719" y="18860"/>
                  </a:lnTo>
                  <a:lnTo>
                    <a:pt x="6287" y="25146"/>
                  </a:lnTo>
                  <a:close/>
                </a:path>
              </a:pathLst>
            </a:custGeom>
            <a:solidFill>
              <a:srgbClr val="CEAA5A"/>
            </a:solidFill>
            <a:ln w="0">
              <a:noFill/>
              <a:prstDash val="solid"/>
            </a:ln>
          </p:spPr>
          <p:txBody>
            <a:bodyPr/>
            <a:lstStyle/>
            <a:p>
              <a:endParaRPr sz="1200"/>
            </a:p>
          </p:txBody>
        </p:sp>
        <p:sp>
          <p:nvSpPr>
            <p:cNvPr id="330" name="s3-traveller-small__ellipse_330">
              <a:extLst>
                <a:ext uri="{FF2B5EF4-FFF2-40B4-BE49-F238E27FC236}">
                  <a16:creationId xmlns:a16="http://schemas.microsoft.com/office/drawing/2014/main" id="{FDC375D5-1B74-40AB-9289-E9700253D73A}"/>
                </a:ext>
              </a:extLst>
            </p:cNvPr>
            <p:cNvSpPr>
              <a:spLocks/>
            </p:cNvSpPr>
            <p:nvPr/>
          </p:nvSpPr>
          <p:spPr>
            <a:xfrm>
              <a:off x="6909816" y="2315592"/>
              <a:ext cx="6705" cy="6705"/>
            </a:xfrm>
            <a:prstGeom prst="ellipse">
              <a:avLst/>
            </a:prstGeom>
            <a:solidFill>
              <a:srgbClr val="253C3A"/>
            </a:solidFill>
            <a:ln w="0">
              <a:noFill/>
              <a:prstDash val="solid"/>
            </a:ln>
          </p:spPr>
          <p:txBody>
            <a:bodyPr/>
            <a:lstStyle/>
            <a:p>
              <a:endParaRPr sz="1200"/>
            </a:p>
          </p:txBody>
        </p:sp>
        <p:sp>
          <p:nvSpPr>
            <p:cNvPr id="331" name="s3-trade-boat__rect_331">
              <a:extLst>
                <a:ext uri="{FF2B5EF4-FFF2-40B4-BE49-F238E27FC236}">
                  <a16:creationId xmlns:a16="http://schemas.microsoft.com/office/drawing/2014/main" id="{FFBF97DA-3AD0-4C06-B3E8-CC59E3C86FAE}"/>
                </a:ext>
              </a:extLst>
            </p:cNvPr>
            <p:cNvSpPr>
              <a:spLocks/>
            </p:cNvSpPr>
            <p:nvPr/>
          </p:nvSpPr>
          <p:spPr>
            <a:xfrm>
              <a:off x="8139430" y="2007870"/>
              <a:ext cx="28575" cy="651510"/>
            </a:xfrm>
            <a:prstGeom prst="rect">
              <a:avLst/>
            </a:prstGeom>
            <a:solidFill>
              <a:srgbClr val="8F7053"/>
            </a:solidFill>
            <a:ln w="0">
              <a:noFill/>
              <a:prstDash val="solid"/>
            </a:ln>
          </p:spPr>
          <p:txBody>
            <a:bodyPr/>
            <a:lstStyle/>
            <a:p>
              <a:endParaRPr sz="1200"/>
            </a:p>
          </p:txBody>
        </p:sp>
        <p:sp>
          <p:nvSpPr>
            <p:cNvPr id="332" name="s3-trade-boat__contour_332">
              <a:extLst>
                <a:ext uri="{FF2B5EF4-FFF2-40B4-BE49-F238E27FC236}">
                  <a16:creationId xmlns:a16="http://schemas.microsoft.com/office/drawing/2014/main" id="{19E1FCEA-8F2D-46AE-9DDE-FEDCD66A11FA}"/>
                </a:ext>
              </a:extLst>
            </p:cNvPr>
            <p:cNvSpPr>
              <a:spLocks/>
            </p:cNvSpPr>
            <p:nvPr/>
          </p:nvSpPr>
          <p:spPr>
            <a:xfrm>
              <a:off x="7922260" y="2059305"/>
              <a:ext cx="205739" cy="354330"/>
            </a:xfrm>
            <a:custGeom>
              <a:avLst/>
              <a:gdLst/>
              <a:ahLst/>
              <a:cxnLst/>
              <a:rect l="0" t="0" r="0" b="0"/>
              <a:pathLst>
                <a:path w="308610" h="531495">
                  <a:moveTo>
                    <a:pt x="308610" y="0"/>
                  </a:moveTo>
                  <a:lnTo>
                    <a:pt x="273310" y="42615"/>
                  </a:lnTo>
                  <a:lnTo>
                    <a:pt x="239525" y="84668"/>
                  </a:lnTo>
                  <a:lnTo>
                    <a:pt x="207388" y="126054"/>
                  </a:lnTo>
                  <a:lnTo>
                    <a:pt x="177032" y="166659"/>
                  </a:lnTo>
                  <a:lnTo>
                    <a:pt x="148590" y="206378"/>
                  </a:lnTo>
                  <a:lnTo>
                    <a:pt x="122206" y="245107"/>
                  </a:lnTo>
                  <a:lnTo>
                    <a:pt x="98022" y="282740"/>
                  </a:lnTo>
                  <a:lnTo>
                    <a:pt x="76171" y="319164"/>
                  </a:lnTo>
                  <a:lnTo>
                    <a:pt x="56788" y="354282"/>
                  </a:lnTo>
                  <a:lnTo>
                    <a:pt x="40005" y="387982"/>
                  </a:lnTo>
                  <a:lnTo>
                    <a:pt x="25965" y="420157"/>
                  </a:lnTo>
                  <a:lnTo>
                    <a:pt x="14811" y="450704"/>
                  </a:lnTo>
                  <a:lnTo>
                    <a:pt x="6677" y="479517"/>
                  </a:lnTo>
                  <a:lnTo>
                    <a:pt x="1695" y="506482"/>
                  </a:lnTo>
                  <a:lnTo>
                    <a:pt x="0" y="531495"/>
                  </a:lnTo>
                  <a:lnTo>
                    <a:pt x="308610" y="531495"/>
                  </a:lnTo>
                  <a:close/>
                </a:path>
              </a:pathLst>
            </a:custGeom>
            <a:solidFill>
              <a:srgbClr val="F3EBD6"/>
            </a:solidFill>
            <a:ln w="12859">
              <a:solidFill>
                <a:srgbClr val="8D826A"/>
              </a:solidFill>
              <a:prstDash val="solid"/>
            </a:ln>
          </p:spPr>
          <p:txBody>
            <a:bodyPr/>
            <a:lstStyle/>
            <a:p>
              <a:endParaRPr sz="1200"/>
            </a:p>
          </p:txBody>
        </p:sp>
        <p:sp>
          <p:nvSpPr>
            <p:cNvPr id="333" name="s3-trade-boat__contour_333">
              <a:extLst>
                <a:ext uri="{FF2B5EF4-FFF2-40B4-BE49-F238E27FC236}">
                  <a16:creationId xmlns:a16="http://schemas.microsoft.com/office/drawing/2014/main" id="{5962E732-C17A-4B3B-924E-58CA791728D6}"/>
                </a:ext>
              </a:extLst>
            </p:cNvPr>
            <p:cNvSpPr>
              <a:spLocks/>
            </p:cNvSpPr>
            <p:nvPr/>
          </p:nvSpPr>
          <p:spPr>
            <a:xfrm>
              <a:off x="8190866" y="2053590"/>
              <a:ext cx="262889" cy="354330"/>
            </a:xfrm>
            <a:custGeom>
              <a:avLst/>
              <a:gdLst/>
              <a:ahLst/>
              <a:cxnLst/>
              <a:rect l="0" t="0" r="0" b="0"/>
              <a:pathLst>
                <a:path w="394335" h="531495">
                  <a:moveTo>
                    <a:pt x="0" y="0"/>
                  </a:moveTo>
                  <a:lnTo>
                    <a:pt x="43539" y="40910"/>
                  </a:lnTo>
                  <a:lnTo>
                    <a:pt x="84934" y="81296"/>
                  </a:lnTo>
                  <a:lnTo>
                    <a:pt x="124130" y="121110"/>
                  </a:lnTo>
                  <a:lnTo>
                    <a:pt x="161039" y="160287"/>
                  </a:lnTo>
                  <a:lnTo>
                    <a:pt x="195577" y="198758"/>
                  </a:lnTo>
                  <a:lnTo>
                    <a:pt x="227686" y="236468"/>
                  </a:lnTo>
                  <a:lnTo>
                    <a:pt x="257280" y="273348"/>
                  </a:lnTo>
                  <a:lnTo>
                    <a:pt x="284274" y="309353"/>
                  </a:lnTo>
                  <a:lnTo>
                    <a:pt x="308610" y="344405"/>
                  </a:lnTo>
                  <a:lnTo>
                    <a:pt x="330203" y="378457"/>
                  </a:lnTo>
                  <a:lnTo>
                    <a:pt x="348967" y="411442"/>
                  </a:lnTo>
                  <a:lnTo>
                    <a:pt x="364846" y="443303"/>
                  </a:lnTo>
                  <a:lnTo>
                    <a:pt x="377752" y="473974"/>
                  </a:lnTo>
                  <a:lnTo>
                    <a:pt x="387601" y="503387"/>
                  </a:lnTo>
                  <a:lnTo>
                    <a:pt x="394335" y="531495"/>
                  </a:lnTo>
                  <a:lnTo>
                    <a:pt x="0" y="531495"/>
                  </a:lnTo>
                  <a:close/>
                </a:path>
              </a:pathLst>
            </a:custGeom>
            <a:solidFill>
              <a:srgbClr val="DED4B5"/>
            </a:solidFill>
            <a:ln w="12859">
              <a:solidFill>
                <a:srgbClr val="8D826A"/>
              </a:solidFill>
              <a:prstDash val="solid"/>
            </a:ln>
          </p:spPr>
          <p:txBody>
            <a:bodyPr/>
            <a:lstStyle/>
            <a:p>
              <a:endParaRPr sz="1200"/>
            </a:p>
          </p:txBody>
        </p:sp>
        <p:sp>
          <p:nvSpPr>
            <p:cNvPr id="334" name="s3-trade-boat__line_334">
              <a:extLst>
                <a:ext uri="{FF2B5EF4-FFF2-40B4-BE49-F238E27FC236}">
                  <a16:creationId xmlns:a16="http://schemas.microsoft.com/office/drawing/2014/main" id="{CE884560-F5FB-49BD-AA70-077390F4CD8A}"/>
                </a:ext>
              </a:extLst>
            </p:cNvPr>
            <p:cNvSpPr>
              <a:spLocks/>
            </p:cNvSpPr>
            <p:nvPr/>
          </p:nvSpPr>
          <p:spPr>
            <a:xfrm>
              <a:off x="8013700" y="2436495"/>
              <a:ext cx="502919" cy="63"/>
            </a:xfrm>
            <a:custGeom>
              <a:avLst/>
              <a:gdLst/>
              <a:ahLst/>
              <a:cxnLst/>
              <a:rect l="0" t="0" r="0" b="0"/>
              <a:pathLst>
                <a:path w="754380" h="95">
                  <a:moveTo>
                    <a:pt x="0" y="0"/>
                  </a:moveTo>
                  <a:lnTo>
                    <a:pt x="754380" y="0"/>
                  </a:lnTo>
                </a:path>
              </a:pathLst>
            </a:custGeom>
            <a:noFill/>
            <a:ln w="25718">
              <a:solidFill>
                <a:srgbClr val="8F7053"/>
              </a:solidFill>
              <a:prstDash val="solid"/>
            </a:ln>
          </p:spPr>
          <p:txBody>
            <a:bodyPr/>
            <a:lstStyle/>
            <a:p>
              <a:endParaRPr sz="1200"/>
            </a:p>
          </p:txBody>
        </p:sp>
        <p:sp>
          <p:nvSpPr>
            <p:cNvPr id="335" name="s3-trade-boat__rect_335">
              <a:extLst>
                <a:ext uri="{FF2B5EF4-FFF2-40B4-BE49-F238E27FC236}">
                  <a16:creationId xmlns:a16="http://schemas.microsoft.com/office/drawing/2014/main" id="{2835A5DF-F04F-4DD7-B811-E70D25477B52}"/>
                </a:ext>
              </a:extLst>
            </p:cNvPr>
            <p:cNvSpPr>
              <a:spLocks/>
            </p:cNvSpPr>
            <p:nvPr/>
          </p:nvSpPr>
          <p:spPr>
            <a:xfrm>
              <a:off x="7887970" y="2459355"/>
              <a:ext cx="245745" cy="137160"/>
            </a:xfrm>
            <a:prstGeom prst="rect">
              <a:avLst/>
            </a:prstGeom>
            <a:solidFill>
              <a:srgbClr val="BDA17B"/>
            </a:solidFill>
            <a:ln w="10287">
              <a:solidFill>
                <a:srgbClr val="806D55"/>
              </a:solidFill>
              <a:prstDash val="solid"/>
            </a:ln>
          </p:spPr>
          <p:txBody>
            <a:bodyPr/>
            <a:lstStyle/>
            <a:p>
              <a:endParaRPr sz="1200"/>
            </a:p>
          </p:txBody>
        </p:sp>
        <p:sp>
          <p:nvSpPr>
            <p:cNvPr id="336" name="s3-trade-boat__rect_336">
              <a:extLst>
                <a:ext uri="{FF2B5EF4-FFF2-40B4-BE49-F238E27FC236}">
                  <a16:creationId xmlns:a16="http://schemas.microsoft.com/office/drawing/2014/main" id="{047F04C9-5EE7-41E2-BDEF-EEDF20F57698}"/>
                </a:ext>
              </a:extLst>
            </p:cNvPr>
            <p:cNvSpPr>
              <a:spLocks/>
            </p:cNvSpPr>
            <p:nvPr/>
          </p:nvSpPr>
          <p:spPr>
            <a:xfrm>
              <a:off x="8316596" y="2470785"/>
              <a:ext cx="171449" cy="125730"/>
            </a:xfrm>
            <a:prstGeom prst="rect">
              <a:avLst/>
            </a:prstGeom>
            <a:solidFill>
              <a:srgbClr val="BDA17B"/>
            </a:solidFill>
            <a:ln w="10287">
              <a:solidFill>
                <a:srgbClr val="806D55"/>
              </a:solidFill>
              <a:prstDash val="solid"/>
            </a:ln>
          </p:spPr>
          <p:txBody>
            <a:bodyPr/>
            <a:lstStyle/>
            <a:p>
              <a:endParaRPr sz="1200"/>
            </a:p>
          </p:txBody>
        </p:sp>
        <p:sp>
          <p:nvSpPr>
            <p:cNvPr id="337" name="s3-trade-boat__line_337">
              <a:extLst>
                <a:ext uri="{FF2B5EF4-FFF2-40B4-BE49-F238E27FC236}">
                  <a16:creationId xmlns:a16="http://schemas.microsoft.com/office/drawing/2014/main" id="{F9F4171C-A7EF-4308-B922-AFFDFFD213EE}"/>
                </a:ext>
              </a:extLst>
            </p:cNvPr>
            <p:cNvSpPr>
              <a:spLocks/>
            </p:cNvSpPr>
            <p:nvPr/>
          </p:nvSpPr>
          <p:spPr>
            <a:xfrm>
              <a:off x="791654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8" name="s3-trade-boat__line_338">
              <a:extLst>
                <a:ext uri="{FF2B5EF4-FFF2-40B4-BE49-F238E27FC236}">
                  <a16:creationId xmlns:a16="http://schemas.microsoft.com/office/drawing/2014/main" id="{80BCFABF-F404-48D1-B919-91F105ACA572}"/>
                </a:ext>
              </a:extLst>
            </p:cNvPr>
            <p:cNvSpPr>
              <a:spLocks/>
            </p:cNvSpPr>
            <p:nvPr/>
          </p:nvSpPr>
          <p:spPr>
            <a:xfrm>
              <a:off x="796798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9" name="s3-trade-boat__line_339">
              <a:extLst>
                <a:ext uri="{FF2B5EF4-FFF2-40B4-BE49-F238E27FC236}">
                  <a16:creationId xmlns:a16="http://schemas.microsoft.com/office/drawing/2014/main" id="{522FAAD4-B22A-40D5-9264-EB741108638C}"/>
                </a:ext>
              </a:extLst>
            </p:cNvPr>
            <p:cNvSpPr>
              <a:spLocks/>
            </p:cNvSpPr>
            <p:nvPr/>
          </p:nvSpPr>
          <p:spPr>
            <a:xfrm>
              <a:off x="801941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0" name="s3-trade-boat__line_340">
              <a:extLst>
                <a:ext uri="{FF2B5EF4-FFF2-40B4-BE49-F238E27FC236}">
                  <a16:creationId xmlns:a16="http://schemas.microsoft.com/office/drawing/2014/main" id="{BDDF5CCE-CA44-406E-A78B-EB70332BA5F8}"/>
                </a:ext>
              </a:extLst>
            </p:cNvPr>
            <p:cNvSpPr>
              <a:spLocks/>
            </p:cNvSpPr>
            <p:nvPr/>
          </p:nvSpPr>
          <p:spPr>
            <a:xfrm>
              <a:off x="807085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1" name="s3-trade-boat__ellipse_341">
              <a:extLst>
                <a:ext uri="{FF2B5EF4-FFF2-40B4-BE49-F238E27FC236}">
                  <a16:creationId xmlns:a16="http://schemas.microsoft.com/office/drawing/2014/main" id="{B6B9FA49-74E4-4E5F-950A-0A97A9058F8A}"/>
                </a:ext>
              </a:extLst>
            </p:cNvPr>
            <p:cNvSpPr>
              <a:spLocks/>
            </p:cNvSpPr>
            <p:nvPr/>
          </p:nvSpPr>
          <p:spPr>
            <a:xfrm>
              <a:off x="7967980" y="2413635"/>
              <a:ext cx="68579" cy="80010"/>
            </a:xfrm>
            <a:prstGeom prst="ellipse">
              <a:avLst/>
            </a:prstGeom>
            <a:solidFill>
              <a:srgbClr val="B3834E"/>
            </a:solidFill>
            <a:ln w="6001">
              <a:solidFill>
                <a:srgbClr val="745E40"/>
              </a:solidFill>
              <a:prstDash val="solid"/>
            </a:ln>
          </p:spPr>
          <p:txBody>
            <a:bodyPr/>
            <a:lstStyle/>
            <a:p>
              <a:endParaRPr sz="1200"/>
            </a:p>
          </p:txBody>
        </p:sp>
        <p:sp>
          <p:nvSpPr>
            <p:cNvPr id="342" name="s3-trade-boat__path_342">
              <a:extLst>
                <a:ext uri="{FF2B5EF4-FFF2-40B4-BE49-F238E27FC236}">
                  <a16:creationId xmlns:a16="http://schemas.microsoft.com/office/drawing/2014/main" id="{69D844F9-7594-4293-BD98-15F971173FB3}"/>
                </a:ext>
              </a:extLst>
            </p:cNvPr>
            <p:cNvSpPr>
              <a:spLocks/>
            </p:cNvSpPr>
            <p:nvPr/>
          </p:nvSpPr>
          <p:spPr>
            <a:xfrm>
              <a:off x="8030846" y="2436495"/>
              <a:ext cx="45719" cy="34290"/>
            </a:xfrm>
            <a:custGeom>
              <a:avLst/>
              <a:gdLst/>
              <a:ahLst/>
              <a:cxnLst/>
              <a:rect l="0" t="0" r="0" b="0"/>
              <a:pathLst>
                <a:path w="68580" h="51435">
                  <a:moveTo>
                    <a:pt x="0" y="0"/>
                  </a:moveTo>
                  <a:lnTo>
                    <a:pt x="68580" y="25717"/>
                  </a:lnTo>
                  <a:lnTo>
                    <a:pt x="0" y="51435"/>
                  </a:lnTo>
                  <a:close/>
                </a:path>
              </a:pathLst>
            </a:custGeom>
            <a:solidFill>
              <a:srgbClr val="C9A254"/>
            </a:solidFill>
            <a:ln w="0">
              <a:noFill/>
              <a:prstDash val="solid"/>
            </a:ln>
          </p:spPr>
          <p:txBody>
            <a:bodyPr/>
            <a:lstStyle/>
            <a:p>
              <a:endParaRPr sz="1200"/>
            </a:p>
          </p:txBody>
        </p:sp>
        <p:sp>
          <p:nvSpPr>
            <p:cNvPr id="343" name="s3-trade-boat__ellipse_343">
              <a:extLst>
                <a:ext uri="{FF2B5EF4-FFF2-40B4-BE49-F238E27FC236}">
                  <a16:creationId xmlns:a16="http://schemas.microsoft.com/office/drawing/2014/main" id="{9345384D-7423-4839-B99B-6F72B0A0F4A1}"/>
                </a:ext>
              </a:extLst>
            </p:cNvPr>
            <p:cNvSpPr>
              <a:spLocks/>
            </p:cNvSpPr>
            <p:nvPr/>
          </p:nvSpPr>
          <p:spPr>
            <a:xfrm>
              <a:off x="8013700" y="2430780"/>
              <a:ext cx="11429" cy="11430"/>
            </a:xfrm>
            <a:prstGeom prst="ellipse">
              <a:avLst/>
            </a:prstGeom>
            <a:solidFill>
              <a:srgbClr val="253C3A"/>
            </a:solidFill>
            <a:ln w="0">
              <a:noFill/>
              <a:prstDash val="solid"/>
            </a:ln>
          </p:spPr>
          <p:txBody>
            <a:bodyPr/>
            <a:lstStyle/>
            <a:p>
              <a:endParaRPr sz="1200"/>
            </a:p>
          </p:txBody>
        </p:sp>
        <p:sp>
          <p:nvSpPr>
            <p:cNvPr id="344" name="s3-trade-boat__ellipse_344">
              <a:extLst>
                <a:ext uri="{FF2B5EF4-FFF2-40B4-BE49-F238E27FC236}">
                  <a16:creationId xmlns:a16="http://schemas.microsoft.com/office/drawing/2014/main" id="{166023AD-24B7-4843-962E-0AAF319FFA03}"/>
                </a:ext>
              </a:extLst>
            </p:cNvPr>
            <p:cNvSpPr>
              <a:spLocks/>
            </p:cNvSpPr>
            <p:nvPr/>
          </p:nvSpPr>
          <p:spPr>
            <a:xfrm>
              <a:off x="7996556" y="2396490"/>
              <a:ext cx="40005" cy="22860"/>
            </a:xfrm>
            <a:prstGeom prst="ellipse">
              <a:avLst/>
            </a:prstGeom>
            <a:solidFill>
              <a:srgbClr val="B8493E"/>
            </a:solidFill>
            <a:ln w="0">
              <a:noFill/>
              <a:prstDash val="solid"/>
            </a:ln>
          </p:spPr>
          <p:txBody>
            <a:bodyPr/>
            <a:lstStyle/>
            <a:p>
              <a:endParaRPr sz="1200"/>
            </a:p>
          </p:txBody>
        </p:sp>
        <p:sp>
          <p:nvSpPr>
            <p:cNvPr id="345" name="s3-trade-boat__contour_345">
              <a:extLst>
                <a:ext uri="{FF2B5EF4-FFF2-40B4-BE49-F238E27FC236}">
                  <a16:creationId xmlns:a16="http://schemas.microsoft.com/office/drawing/2014/main" id="{C8C29385-3E27-492B-A9A5-2F1240BDA38D}"/>
                </a:ext>
              </a:extLst>
            </p:cNvPr>
            <p:cNvSpPr>
              <a:spLocks/>
            </p:cNvSpPr>
            <p:nvPr/>
          </p:nvSpPr>
          <p:spPr>
            <a:xfrm>
              <a:off x="7625081" y="2550795"/>
              <a:ext cx="1188719" cy="204050"/>
            </a:xfrm>
            <a:custGeom>
              <a:avLst/>
              <a:gdLst/>
              <a:ahLst/>
              <a:cxnLst/>
              <a:rect l="0" t="0" r="0" b="0"/>
              <a:pathLst>
                <a:path w="1783080" h="306076">
                  <a:moveTo>
                    <a:pt x="0" y="42863"/>
                  </a:moveTo>
                  <a:lnTo>
                    <a:pt x="93659" y="55655"/>
                  </a:lnTo>
                  <a:lnTo>
                    <a:pt x="195615" y="66532"/>
                  </a:lnTo>
                  <a:lnTo>
                    <a:pt x="304771" y="75438"/>
                  </a:lnTo>
                  <a:lnTo>
                    <a:pt x="420053" y="82286"/>
                  </a:lnTo>
                  <a:lnTo>
                    <a:pt x="540382" y="86992"/>
                  </a:lnTo>
                  <a:lnTo>
                    <a:pt x="664674" y="89497"/>
                  </a:lnTo>
                  <a:lnTo>
                    <a:pt x="791851" y="89716"/>
                  </a:lnTo>
                  <a:lnTo>
                    <a:pt x="920820" y="87563"/>
                  </a:lnTo>
                  <a:lnTo>
                    <a:pt x="1050512" y="82982"/>
                  </a:lnTo>
                  <a:lnTo>
                    <a:pt x="1179833" y="75886"/>
                  </a:lnTo>
                  <a:lnTo>
                    <a:pt x="1307706" y="66189"/>
                  </a:lnTo>
                  <a:lnTo>
                    <a:pt x="1433046" y="53835"/>
                  </a:lnTo>
                  <a:lnTo>
                    <a:pt x="1554775" y="38738"/>
                  </a:lnTo>
                  <a:lnTo>
                    <a:pt x="1671818" y="20812"/>
                  </a:lnTo>
                  <a:lnTo>
                    <a:pt x="1783080" y="0"/>
                  </a:lnTo>
                  <a:lnTo>
                    <a:pt x="1534478" y="265748"/>
                  </a:lnTo>
                  <a:lnTo>
                    <a:pt x="1434656" y="278225"/>
                  </a:lnTo>
                  <a:lnTo>
                    <a:pt x="1334395" y="288274"/>
                  </a:lnTo>
                  <a:lnTo>
                    <a:pt x="1234164" y="295989"/>
                  </a:lnTo>
                  <a:lnTo>
                    <a:pt x="1134437" y="301466"/>
                  </a:lnTo>
                  <a:lnTo>
                    <a:pt x="1035682" y="304800"/>
                  </a:lnTo>
                  <a:lnTo>
                    <a:pt x="938384" y="306076"/>
                  </a:lnTo>
                  <a:lnTo>
                    <a:pt x="842991" y="305381"/>
                  </a:lnTo>
                  <a:lnTo>
                    <a:pt x="750008" y="302809"/>
                  </a:lnTo>
                  <a:lnTo>
                    <a:pt x="659873" y="298456"/>
                  </a:lnTo>
                  <a:lnTo>
                    <a:pt x="573091" y="292417"/>
                  </a:lnTo>
                  <a:lnTo>
                    <a:pt x="490109" y="284778"/>
                  </a:lnTo>
                  <a:lnTo>
                    <a:pt x="411413" y="275625"/>
                  </a:lnTo>
                  <a:lnTo>
                    <a:pt x="337471" y="265052"/>
                  </a:lnTo>
                  <a:lnTo>
                    <a:pt x="268757" y="253155"/>
                  </a:lnTo>
                  <a:lnTo>
                    <a:pt x="205740" y="240030"/>
                  </a:lnTo>
                  <a:close/>
                </a:path>
              </a:pathLst>
            </a:custGeom>
            <a:solidFill>
              <a:srgbClr val="946B48"/>
            </a:solidFill>
            <a:ln w="15431">
              <a:solidFill>
                <a:srgbClr val="665748"/>
              </a:solidFill>
              <a:prstDash val="solid"/>
            </a:ln>
          </p:spPr>
          <p:txBody>
            <a:bodyPr/>
            <a:lstStyle/>
            <a:p>
              <a:endParaRPr sz="1200"/>
            </a:p>
          </p:txBody>
        </p:sp>
        <p:sp>
          <p:nvSpPr>
            <p:cNvPr id="346" name="s3-trade-boat__contour_346">
              <a:extLst>
                <a:ext uri="{FF2B5EF4-FFF2-40B4-BE49-F238E27FC236}">
                  <a16:creationId xmlns:a16="http://schemas.microsoft.com/office/drawing/2014/main" id="{C429B085-8C6B-46EB-A8BA-A59D3BAE0694}"/>
                </a:ext>
              </a:extLst>
            </p:cNvPr>
            <p:cNvSpPr>
              <a:spLocks/>
            </p:cNvSpPr>
            <p:nvPr/>
          </p:nvSpPr>
          <p:spPr>
            <a:xfrm>
              <a:off x="7722236" y="2630805"/>
              <a:ext cx="1022985" cy="53226"/>
            </a:xfrm>
            <a:custGeom>
              <a:avLst/>
              <a:gdLst/>
              <a:ahLst/>
              <a:cxnLst/>
              <a:rect l="0" t="0" r="0" b="0"/>
              <a:pathLst>
                <a:path w="1534478" h="79839">
                  <a:moveTo>
                    <a:pt x="0" y="17145"/>
                  </a:moveTo>
                  <a:lnTo>
                    <a:pt x="83029" y="34528"/>
                  </a:lnTo>
                  <a:lnTo>
                    <a:pt x="173622" y="49006"/>
                  </a:lnTo>
                  <a:lnTo>
                    <a:pt x="270681" y="60627"/>
                  </a:lnTo>
                  <a:lnTo>
                    <a:pt x="373094" y="69456"/>
                  </a:lnTo>
                  <a:lnTo>
                    <a:pt x="479746" y="75562"/>
                  </a:lnTo>
                  <a:lnTo>
                    <a:pt x="589512" y="79000"/>
                  </a:lnTo>
                  <a:lnTo>
                    <a:pt x="701297" y="79839"/>
                  </a:lnTo>
                  <a:lnTo>
                    <a:pt x="813978" y="78124"/>
                  </a:lnTo>
                  <a:lnTo>
                    <a:pt x="926449" y="73933"/>
                  </a:lnTo>
                  <a:lnTo>
                    <a:pt x="1037587" y="67313"/>
                  </a:lnTo>
                  <a:lnTo>
                    <a:pt x="1146296" y="58331"/>
                  </a:lnTo>
                  <a:lnTo>
                    <a:pt x="1251452" y="47044"/>
                  </a:lnTo>
                  <a:lnTo>
                    <a:pt x="1351940" y="33518"/>
                  </a:lnTo>
                  <a:lnTo>
                    <a:pt x="1446647" y="17821"/>
                  </a:lnTo>
                  <a:lnTo>
                    <a:pt x="1534478" y="0"/>
                  </a:lnTo>
                </a:path>
              </a:pathLst>
            </a:custGeom>
            <a:noFill/>
            <a:ln w="17145">
              <a:solidFill>
                <a:srgbClr val="C69B6F"/>
              </a:solidFill>
              <a:prstDash val="solid"/>
            </a:ln>
          </p:spPr>
          <p:txBody>
            <a:bodyPr/>
            <a:lstStyle/>
            <a:p>
              <a:endParaRPr sz="1200"/>
            </a:p>
          </p:txBody>
        </p:sp>
        <p:sp>
          <p:nvSpPr>
            <p:cNvPr id="347" name="s3-trade-boat__line_347">
              <a:extLst>
                <a:ext uri="{FF2B5EF4-FFF2-40B4-BE49-F238E27FC236}">
                  <a16:creationId xmlns:a16="http://schemas.microsoft.com/office/drawing/2014/main" id="{5C24D218-40D6-4971-81E1-A83E2177411A}"/>
                </a:ext>
              </a:extLst>
            </p:cNvPr>
            <p:cNvSpPr>
              <a:spLocks/>
            </p:cNvSpPr>
            <p:nvPr/>
          </p:nvSpPr>
          <p:spPr>
            <a:xfrm>
              <a:off x="7682230" y="2567940"/>
              <a:ext cx="1102995" cy="17145"/>
            </a:xfrm>
            <a:custGeom>
              <a:avLst/>
              <a:gdLst/>
              <a:ahLst/>
              <a:cxnLst/>
              <a:rect l="0" t="0" r="0" b="0"/>
              <a:pathLst>
                <a:path w="1654493" h="25718">
                  <a:moveTo>
                    <a:pt x="0" y="25718"/>
                  </a:moveTo>
                  <a:lnTo>
                    <a:pt x="1654493" y="0"/>
                  </a:lnTo>
                </a:path>
              </a:pathLst>
            </a:custGeom>
            <a:noFill/>
            <a:ln w="25718">
              <a:solidFill>
                <a:srgbClr val="665748"/>
              </a:solidFill>
              <a:prstDash val="solid"/>
            </a:ln>
          </p:spPr>
          <p:txBody>
            <a:bodyPr/>
            <a:lstStyle/>
            <a:p>
              <a:endParaRPr sz="1200"/>
            </a:p>
          </p:txBody>
        </p:sp>
        <p:sp>
          <p:nvSpPr>
            <p:cNvPr id="348" name="s3-trade-boat__contour_348">
              <a:extLst>
                <a:ext uri="{FF2B5EF4-FFF2-40B4-BE49-F238E27FC236}">
                  <a16:creationId xmlns:a16="http://schemas.microsoft.com/office/drawing/2014/main" id="{84209CA4-DCDD-4D5F-89E4-03685B1C8D3A}"/>
                </a:ext>
              </a:extLst>
            </p:cNvPr>
            <p:cNvSpPr>
              <a:spLocks/>
            </p:cNvSpPr>
            <p:nvPr/>
          </p:nvSpPr>
          <p:spPr>
            <a:xfrm>
              <a:off x="7573646" y="2767171"/>
              <a:ext cx="1274445" cy="29457"/>
            </a:xfrm>
            <a:custGeom>
              <a:avLst/>
              <a:gdLst/>
              <a:ahLst/>
              <a:cxnLst/>
              <a:rect l="0" t="0" r="0" b="0"/>
              <a:pathLst>
                <a:path w="1911668" h="44186">
                  <a:moveTo>
                    <a:pt x="0" y="35481"/>
                  </a:moveTo>
                  <a:lnTo>
                    <a:pt x="46682" y="21184"/>
                  </a:lnTo>
                  <a:lnTo>
                    <a:pt x="90888" y="12078"/>
                  </a:lnTo>
                  <a:lnTo>
                    <a:pt x="132912" y="7430"/>
                  </a:lnTo>
                  <a:lnTo>
                    <a:pt x="173003" y="6487"/>
                  </a:lnTo>
                  <a:lnTo>
                    <a:pt x="211455" y="8496"/>
                  </a:lnTo>
                  <a:lnTo>
                    <a:pt x="248536" y="12716"/>
                  </a:lnTo>
                  <a:lnTo>
                    <a:pt x="284512" y="18393"/>
                  </a:lnTo>
                  <a:lnTo>
                    <a:pt x="319678" y="24794"/>
                  </a:lnTo>
                  <a:lnTo>
                    <a:pt x="354282" y="31156"/>
                  </a:lnTo>
                  <a:lnTo>
                    <a:pt x="388620" y="36747"/>
                  </a:lnTo>
                  <a:lnTo>
                    <a:pt x="422958" y="40815"/>
                  </a:lnTo>
                  <a:lnTo>
                    <a:pt x="457562" y="42615"/>
                  </a:lnTo>
                  <a:lnTo>
                    <a:pt x="492728" y="41396"/>
                  </a:lnTo>
                  <a:lnTo>
                    <a:pt x="528704" y="36405"/>
                  </a:lnTo>
                  <a:lnTo>
                    <a:pt x="565785" y="26908"/>
                  </a:lnTo>
                  <a:lnTo>
                    <a:pt x="599980" y="17202"/>
                  </a:lnTo>
                  <a:lnTo>
                    <a:pt x="634051" y="11649"/>
                  </a:lnTo>
                  <a:lnTo>
                    <a:pt x="668103" y="9630"/>
                  </a:lnTo>
                  <a:lnTo>
                    <a:pt x="702250" y="10478"/>
                  </a:lnTo>
                  <a:lnTo>
                    <a:pt x="736597" y="13573"/>
                  </a:lnTo>
                  <a:lnTo>
                    <a:pt x="771249" y="18269"/>
                  </a:lnTo>
                  <a:lnTo>
                    <a:pt x="806310" y="23917"/>
                  </a:lnTo>
                  <a:lnTo>
                    <a:pt x="841896" y="29899"/>
                  </a:lnTo>
                  <a:lnTo>
                    <a:pt x="878100" y="35547"/>
                  </a:lnTo>
                  <a:lnTo>
                    <a:pt x="915038" y="40243"/>
                  </a:lnTo>
                  <a:lnTo>
                    <a:pt x="952814" y="43339"/>
                  </a:lnTo>
                  <a:lnTo>
                    <a:pt x="991533" y="44186"/>
                  </a:lnTo>
                  <a:lnTo>
                    <a:pt x="1031300" y="42167"/>
                  </a:lnTo>
                  <a:lnTo>
                    <a:pt x="1072229" y="36614"/>
                  </a:lnTo>
                  <a:lnTo>
                    <a:pt x="1114425" y="26908"/>
                  </a:lnTo>
                  <a:lnTo>
                    <a:pt x="1156297" y="16983"/>
                  </a:lnTo>
                  <a:lnTo>
                    <a:pt x="1196359" y="10859"/>
                  </a:lnTo>
                  <a:lnTo>
                    <a:pt x="1234850" y="7982"/>
                  </a:lnTo>
                  <a:lnTo>
                    <a:pt x="1272016" y="7801"/>
                  </a:lnTo>
                  <a:lnTo>
                    <a:pt x="1308097" y="9763"/>
                  </a:lnTo>
                  <a:lnTo>
                    <a:pt x="1343349" y="13325"/>
                  </a:lnTo>
                  <a:lnTo>
                    <a:pt x="1377991" y="17945"/>
                  </a:lnTo>
                  <a:lnTo>
                    <a:pt x="1412300" y="23070"/>
                  </a:lnTo>
                  <a:lnTo>
                    <a:pt x="1446486" y="28146"/>
                  </a:lnTo>
                  <a:lnTo>
                    <a:pt x="1480823" y="32623"/>
                  </a:lnTo>
                  <a:lnTo>
                    <a:pt x="1515532" y="35957"/>
                  </a:lnTo>
                  <a:lnTo>
                    <a:pt x="1550870" y="37605"/>
                  </a:lnTo>
                  <a:lnTo>
                    <a:pt x="1587075" y="37014"/>
                  </a:lnTo>
                  <a:lnTo>
                    <a:pt x="1624393" y="33633"/>
                  </a:lnTo>
                  <a:lnTo>
                    <a:pt x="1663065" y="26908"/>
                  </a:lnTo>
                  <a:lnTo>
                    <a:pt x="1679886" y="20507"/>
                  </a:lnTo>
                  <a:lnTo>
                    <a:pt x="1696145" y="15002"/>
                  </a:lnTo>
                  <a:lnTo>
                    <a:pt x="1711966" y="10382"/>
                  </a:lnTo>
                  <a:lnTo>
                    <a:pt x="1727464" y="6629"/>
                  </a:lnTo>
                  <a:lnTo>
                    <a:pt x="1742761" y="3734"/>
                  </a:lnTo>
                  <a:lnTo>
                    <a:pt x="1757982" y="1667"/>
                  </a:lnTo>
                  <a:lnTo>
                    <a:pt x="1773250" y="438"/>
                  </a:lnTo>
                  <a:lnTo>
                    <a:pt x="1788681" y="0"/>
                  </a:lnTo>
                  <a:lnTo>
                    <a:pt x="1804406" y="371"/>
                  </a:lnTo>
                  <a:lnTo>
                    <a:pt x="1820542" y="1505"/>
                  </a:lnTo>
                  <a:lnTo>
                    <a:pt x="1837211" y="3410"/>
                  </a:lnTo>
                  <a:lnTo>
                    <a:pt x="1854537" y="6058"/>
                  </a:lnTo>
                  <a:lnTo>
                    <a:pt x="1872644" y="9439"/>
                  </a:lnTo>
                  <a:lnTo>
                    <a:pt x="1891646" y="13535"/>
                  </a:lnTo>
                  <a:lnTo>
                    <a:pt x="1911668" y="18336"/>
                  </a:lnTo>
                </a:path>
              </a:pathLst>
            </a:custGeom>
            <a:noFill/>
            <a:ln w="17145">
              <a:solidFill>
                <a:srgbClr val="9DBDC7"/>
              </a:solidFill>
              <a:prstDash val="solid"/>
            </a:ln>
          </p:spPr>
          <p:txBody>
            <a:bodyPr/>
            <a:lstStyle/>
            <a:p>
              <a:endParaRPr sz="1200"/>
            </a:p>
          </p:txBody>
        </p:sp>
        <p:sp>
          <p:nvSpPr>
            <p:cNvPr id="349" name="s3-trade-boat__contour_349">
              <a:extLst>
                <a:ext uri="{FF2B5EF4-FFF2-40B4-BE49-F238E27FC236}">
                  <a16:creationId xmlns:a16="http://schemas.microsoft.com/office/drawing/2014/main" id="{60EA276C-5E01-4A72-8FDA-1930D2359AD1}"/>
                </a:ext>
              </a:extLst>
            </p:cNvPr>
            <p:cNvSpPr>
              <a:spLocks/>
            </p:cNvSpPr>
            <p:nvPr/>
          </p:nvSpPr>
          <p:spPr>
            <a:xfrm>
              <a:off x="7687946" y="2829299"/>
              <a:ext cx="1097279" cy="22332"/>
            </a:xfrm>
            <a:custGeom>
              <a:avLst/>
              <a:gdLst/>
              <a:ahLst/>
              <a:cxnLst/>
              <a:rect l="0" t="0" r="0" b="0"/>
              <a:pathLst>
                <a:path w="1645920" h="33499">
                  <a:moveTo>
                    <a:pt x="0" y="28013"/>
                  </a:moveTo>
                  <a:lnTo>
                    <a:pt x="43148" y="16593"/>
                  </a:lnTo>
                  <a:lnTo>
                    <a:pt x="83677" y="9373"/>
                  </a:lnTo>
                  <a:lnTo>
                    <a:pt x="121939" y="5725"/>
                  </a:lnTo>
                  <a:lnTo>
                    <a:pt x="158277" y="5048"/>
                  </a:lnTo>
                  <a:lnTo>
                    <a:pt x="193043" y="6744"/>
                  </a:lnTo>
                  <a:lnTo>
                    <a:pt x="226590" y="10182"/>
                  </a:lnTo>
                  <a:lnTo>
                    <a:pt x="259271" y="14764"/>
                  </a:lnTo>
                  <a:lnTo>
                    <a:pt x="291427" y="19888"/>
                  </a:lnTo>
                  <a:lnTo>
                    <a:pt x="323421" y="24927"/>
                  </a:lnTo>
                  <a:lnTo>
                    <a:pt x="355597" y="29280"/>
                  </a:lnTo>
                  <a:lnTo>
                    <a:pt x="388306" y="32347"/>
                  </a:lnTo>
                  <a:lnTo>
                    <a:pt x="421900" y="33499"/>
                  </a:lnTo>
                  <a:lnTo>
                    <a:pt x="456733" y="32137"/>
                  </a:lnTo>
                  <a:lnTo>
                    <a:pt x="493147" y="27661"/>
                  </a:lnTo>
                  <a:lnTo>
                    <a:pt x="531495" y="19441"/>
                  </a:lnTo>
                  <a:lnTo>
                    <a:pt x="571881" y="9630"/>
                  </a:lnTo>
                  <a:lnTo>
                    <a:pt x="610895" y="3791"/>
                  </a:lnTo>
                  <a:lnTo>
                    <a:pt x="648767" y="1333"/>
                  </a:lnTo>
                  <a:lnTo>
                    <a:pt x="685724" y="1667"/>
                  </a:lnTo>
                  <a:lnTo>
                    <a:pt x="721995" y="4201"/>
                  </a:lnTo>
                  <a:lnTo>
                    <a:pt x="757809" y="8334"/>
                  </a:lnTo>
                  <a:lnTo>
                    <a:pt x="793394" y="13468"/>
                  </a:lnTo>
                  <a:lnTo>
                    <a:pt x="828980" y="19012"/>
                  </a:lnTo>
                  <a:lnTo>
                    <a:pt x="864794" y="24374"/>
                  </a:lnTo>
                  <a:lnTo>
                    <a:pt x="901065" y="28966"/>
                  </a:lnTo>
                  <a:lnTo>
                    <a:pt x="938022" y="32185"/>
                  </a:lnTo>
                  <a:lnTo>
                    <a:pt x="975893" y="33433"/>
                  </a:lnTo>
                  <a:lnTo>
                    <a:pt x="1014908" y="32118"/>
                  </a:lnTo>
                  <a:lnTo>
                    <a:pt x="1055294" y="27651"/>
                  </a:lnTo>
                  <a:lnTo>
                    <a:pt x="1097280" y="19441"/>
                  </a:lnTo>
                  <a:lnTo>
                    <a:pt x="1142143" y="9515"/>
                  </a:lnTo>
                  <a:lnTo>
                    <a:pt x="1184367" y="3353"/>
                  </a:lnTo>
                  <a:lnTo>
                    <a:pt x="1224286" y="371"/>
                  </a:lnTo>
                  <a:lnTo>
                    <a:pt x="1262243" y="0"/>
                  </a:lnTo>
                  <a:lnTo>
                    <a:pt x="1298572" y="1657"/>
                  </a:lnTo>
                  <a:lnTo>
                    <a:pt x="1333605" y="4763"/>
                  </a:lnTo>
                  <a:lnTo>
                    <a:pt x="1367676" y="8734"/>
                  </a:lnTo>
                  <a:lnTo>
                    <a:pt x="1401127" y="13002"/>
                  </a:lnTo>
                  <a:lnTo>
                    <a:pt x="1434284" y="16974"/>
                  </a:lnTo>
                  <a:lnTo>
                    <a:pt x="1467488" y="20079"/>
                  </a:lnTo>
                  <a:lnTo>
                    <a:pt x="1501073" y="21736"/>
                  </a:lnTo>
                  <a:lnTo>
                    <a:pt x="1535373" y="21365"/>
                  </a:lnTo>
                  <a:lnTo>
                    <a:pt x="1570720" y="18383"/>
                  </a:lnTo>
                  <a:lnTo>
                    <a:pt x="1607458" y="12221"/>
                  </a:lnTo>
                  <a:lnTo>
                    <a:pt x="1645920" y="2296"/>
                  </a:lnTo>
                </a:path>
              </a:pathLst>
            </a:custGeom>
            <a:noFill/>
            <a:ln w="13716">
              <a:solidFill>
                <a:srgbClr val="BDD3D8"/>
              </a:solidFill>
              <a:prstDash val="solid"/>
            </a:ln>
          </p:spPr>
          <p:txBody>
            <a:bodyPr/>
            <a:lstStyle/>
            <a:p>
              <a:endParaRPr sz="1200"/>
            </a:p>
          </p:txBody>
        </p:sp>
        <p:sp>
          <p:nvSpPr>
            <p:cNvPr id="350" name="s3-dispersal-inputs__land-transport-input_350">
              <a:extLst>
                <a:ext uri="{FF2B5EF4-FFF2-40B4-BE49-F238E27FC236}">
                  <a16:creationId xmlns:a16="http://schemas.microsoft.com/office/drawing/2014/main" id="{927A2331-4430-46D5-8AEE-717A83E83F7B}"/>
                </a:ext>
              </a:extLst>
            </p:cNvPr>
            <p:cNvSpPr>
              <a:spLocks/>
            </p:cNvSpPr>
            <p:nvPr/>
          </p:nvSpPr>
          <p:spPr>
            <a:xfrm>
              <a:off x="6686550" y="2914650"/>
              <a:ext cx="1543050" cy="114300"/>
            </a:xfrm>
            <a:custGeom>
              <a:avLst/>
              <a:gdLst/>
              <a:ahLst/>
              <a:cxnLst/>
              <a:rect l="0" t="0" r="0" b="0"/>
              <a:pathLst>
                <a:path w="2314575" h="171450">
                  <a:moveTo>
                    <a:pt x="0" y="0"/>
                  </a:moveTo>
                  <a:lnTo>
                    <a:pt x="0" y="171450"/>
                  </a:lnTo>
                  <a:lnTo>
                    <a:pt x="2314575" y="171450"/>
                  </a:lnTo>
                </a:path>
              </a:pathLst>
            </a:custGeom>
            <a:noFill/>
            <a:ln w="24765">
              <a:solidFill>
                <a:srgbClr val="547D93"/>
              </a:solidFill>
              <a:prstDash val="solid"/>
            </a:ln>
          </p:spPr>
          <p:txBody>
            <a:bodyPr/>
            <a:lstStyle/>
            <a:p>
              <a:endParaRPr sz="1200"/>
            </a:p>
          </p:txBody>
        </p:sp>
        <p:sp>
          <p:nvSpPr>
            <p:cNvPr id="351" name="s3-dispersal-inputs__sea-transport-input_351">
              <a:extLst>
                <a:ext uri="{FF2B5EF4-FFF2-40B4-BE49-F238E27FC236}">
                  <a16:creationId xmlns:a16="http://schemas.microsoft.com/office/drawing/2014/main" id="{6EFB302C-4A6F-4D31-8922-127F40D62F2A}"/>
                </a:ext>
              </a:extLst>
            </p:cNvPr>
            <p:cNvSpPr>
              <a:spLocks/>
            </p:cNvSpPr>
            <p:nvPr/>
          </p:nvSpPr>
          <p:spPr>
            <a:xfrm>
              <a:off x="8229600" y="2921000"/>
              <a:ext cx="63" cy="107950"/>
            </a:xfrm>
            <a:custGeom>
              <a:avLst/>
              <a:gdLst/>
              <a:ahLst/>
              <a:cxnLst/>
              <a:rect l="0" t="0" r="0" b="0"/>
              <a:pathLst>
                <a:path w="95" h="161925">
                  <a:moveTo>
                    <a:pt x="0" y="0"/>
                  </a:moveTo>
                  <a:lnTo>
                    <a:pt x="0" y="161925"/>
                  </a:lnTo>
                </a:path>
              </a:pathLst>
            </a:custGeom>
            <a:noFill/>
            <a:ln w="24765">
              <a:solidFill>
                <a:srgbClr val="547D93"/>
              </a:solidFill>
              <a:prstDash val="solid"/>
            </a:ln>
          </p:spPr>
          <p:txBody>
            <a:bodyPr/>
            <a:lstStyle/>
            <a:p>
              <a:endParaRPr sz="1200"/>
            </a:p>
          </p:txBody>
        </p:sp>
        <p:sp>
          <p:nvSpPr>
            <p:cNvPr id="352" name="s3-dispersal-inputs__ellipse_352">
              <a:extLst>
                <a:ext uri="{FF2B5EF4-FFF2-40B4-BE49-F238E27FC236}">
                  <a16:creationId xmlns:a16="http://schemas.microsoft.com/office/drawing/2014/main" id="{2960EC20-D6B8-4160-92E9-B587B9A928BF}"/>
                </a:ext>
              </a:extLst>
            </p:cNvPr>
            <p:cNvSpPr>
              <a:spLocks/>
            </p:cNvSpPr>
            <p:nvPr/>
          </p:nvSpPr>
          <p:spPr>
            <a:xfrm>
              <a:off x="8207375" y="3006725"/>
              <a:ext cx="44450" cy="44450"/>
            </a:xfrm>
            <a:prstGeom prst="ellipse">
              <a:avLst/>
            </a:prstGeom>
            <a:solidFill>
              <a:srgbClr val="547D93"/>
            </a:solidFill>
            <a:ln w="0">
              <a:noFill/>
              <a:prstDash val="solid"/>
            </a:ln>
          </p:spPr>
          <p:txBody>
            <a:bodyPr/>
            <a:lstStyle/>
            <a:p>
              <a:endParaRPr sz="1200"/>
            </a:p>
          </p:txBody>
        </p:sp>
        <p:sp>
          <p:nvSpPr>
            <p:cNvPr id="353" name="s3-dispersal-inputs__introduced-chicken-population_353">
              <a:extLst>
                <a:ext uri="{FF2B5EF4-FFF2-40B4-BE49-F238E27FC236}">
                  <a16:creationId xmlns:a16="http://schemas.microsoft.com/office/drawing/2014/main" id="{255800A1-62B1-48D1-BEBC-025525DDFF13}"/>
                </a:ext>
              </a:extLst>
            </p:cNvPr>
            <p:cNvSpPr>
              <a:spLocks/>
            </p:cNvSpPr>
            <p:nvPr/>
          </p:nvSpPr>
          <p:spPr>
            <a:xfrm>
              <a:off x="8229600" y="3028950"/>
              <a:ext cx="247650" cy="330200"/>
            </a:xfrm>
            <a:custGeom>
              <a:avLst/>
              <a:gdLst/>
              <a:ahLst/>
              <a:cxnLst/>
              <a:rect l="0" t="0" r="0" b="0"/>
              <a:pathLst>
                <a:path w="371475" h="495300">
                  <a:moveTo>
                    <a:pt x="0" y="0"/>
                  </a:moveTo>
                  <a:lnTo>
                    <a:pt x="371475" y="0"/>
                  </a:lnTo>
                  <a:lnTo>
                    <a:pt x="371475" y="495300"/>
                  </a:lnTo>
                </a:path>
              </a:pathLst>
            </a:custGeom>
            <a:noFill/>
            <a:ln w="26670">
              <a:solidFill>
                <a:srgbClr val="547D93"/>
              </a:solidFill>
              <a:prstDash val="solid"/>
            </a:ln>
          </p:spPr>
          <p:txBody>
            <a:bodyPr/>
            <a:lstStyle/>
            <a:p>
              <a:endParaRPr sz="1200"/>
            </a:p>
          </p:txBody>
        </p:sp>
        <p:sp>
          <p:nvSpPr>
            <p:cNvPr id="354" name="s3-dispersal-inputs__introduced-chicken-population-tip_354">
              <a:extLst>
                <a:ext uri="{FF2B5EF4-FFF2-40B4-BE49-F238E27FC236}">
                  <a16:creationId xmlns:a16="http://schemas.microsoft.com/office/drawing/2014/main" id="{D65A9930-F89C-4C83-BDC6-F9C6D1BFAB86}"/>
                </a:ext>
              </a:extLst>
            </p:cNvPr>
            <p:cNvSpPr>
              <a:spLocks/>
            </p:cNvSpPr>
            <p:nvPr/>
          </p:nvSpPr>
          <p:spPr>
            <a:xfrm>
              <a:off x="8440928" y="3289300"/>
              <a:ext cx="72644" cy="69850"/>
            </a:xfrm>
            <a:custGeom>
              <a:avLst/>
              <a:gdLst/>
              <a:ahLst/>
              <a:cxnLst/>
              <a:rect l="0" t="0" r="0" b="0"/>
              <a:pathLst>
                <a:path w="108966" h="104775">
                  <a:moveTo>
                    <a:pt x="54483" y="104775"/>
                  </a:moveTo>
                  <a:lnTo>
                    <a:pt x="108966" y="0"/>
                  </a:lnTo>
                  <a:lnTo>
                    <a:pt x="0" y="0"/>
                  </a:lnTo>
                  <a:close/>
                </a:path>
              </a:pathLst>
            </a:custGeom>
            <a:solidFill>
              <a:srgbClr val="547D93"/>
            </a:solidFill>
            <a:ln w="0">
              <a:noFill/>
              <a:prstDash val="solid"/>
            </a:ln>
          </p:spPr>
          <p:txBody>
            <a:bodyPr/>
            <a:lstStyle/>
            <a:p>
              <a:endParaRPr sz="1200"/>
            </a:p>
          </p:txBody>
        </p:sp>
        <p:sp>
          <p:nvSpPr>
            <p:cNvPr id="355" name="s3-wild-panel__wild-population-frame_355">
              <a:extLst>
                <a:ext uri="{FF2B5EF4-FFF2-40B4-BE49-F238E27FC236}">
                  <a16:creationId xmlns:a16="http://schemas.microsoft.com/office/drawing/2014/main" id="{077E7EB5-6B3E-44A8-AD50-9855FB5BED85}"/>
                </a:ext>
              </a:extLst>
            </p:cNvPr>
            <p:cNvSpPr>
              <a:spLocks/>
            </p:cNvSpPr>
            <p:nvPr/>
          </p:nvSpPr>
          <p:spPr>
            <a:xfrm>
              <a:off x="6032500" y="3187700"/>
              <a:ext cx="1003300" cy="1168400"/>
            </a:xfrm>
            <a:prstGeom prst="roundRect">
              <a:avLst>
                <a:gd name="adj" fmla="val 3797"/>
              </a:avLst>
            </a:prstGeom>
            <a:solidFill>
              <a:srgbClr val="EFF3E9"/>
            </a:solidFill>
            <a:ln w="14288">
              <a:solidFill>
                <a:srgbClr val="B3C3AB"/>
              </a:solidFill>
              <a:prstDash val="solid"/>
            </a:ln>
          </p:spPr>
          <p:txBody>
            <a:bodyPr/>
            <a:lstStyle/>
            <a:p>
              <a:endParaRPr sz="1200"/>
            </a:p>
          </p:txBody>
        </p:sp>
        <p:sp>
          <p:nvSpPr>
            <p:cNvPr id="356" name="diagram__wild-label_356">
              <a:extLst>
                <a:ext uri="{FF2B5EF4-FFF2-40B4-BE49-F238E27FC236}">
                  <a16:creationId xmlns:a16="http://schemas.microsoft.com/office/drawing/2014/main" id="{CA1B97E2-B631-4173-9A70-CE83B8316DDE}"/>
                </a:ext>
              </a:extLst>
            </p:cNvPr>
            <p:cNvSpPr>
              <a:spLocks/>
            </p:cNvSpPr>
            <p:nvPr/>
          </p:nvSpPr>
          <p:spPr>
            <a:xfrm>
              <a:off x="6083300" y="3219450"/>
              <a:ext cx="901700" cy="660400"/>
            </a:xfrm>
            <a:prstGeom prst="rect">
              <a:avLst/>
            </a:prstGeom>
            <a:noFill/>
            <a:ln w="0">
              <a:noFill/>
            </a:ln>
          </p:spPr>
          <p:txBody>
            <a:bodyPr wrap="none" lIns="0" tIns="0" rIns="0" bIns="0" anchor="t">
              <a:noAutofit/>
            </a:bodyPr>
            <a:lstStyle>
              <a:defPPr algn="ctr">
                <a:defRPr sz="1200" b="1">
                  <a:solidFill>
                    <a:srgbClr val="547F62"/>
                  </a:solidFill>
                  <a:latin typeface="Microsoft YaHei"/>
                  <a:ea typeface="Microsoft YaHei"/>
                  <a:cs typeface="Microsoft YaHei"/>
                </a:defRPr>
              </a:defPPr>
            </a:lstStyle>
            <a:p>
              <a:pPr algn="ctr">
                <a:lnSpc>
                  <a:spcPct val="116000"/>
                </a:lnSpc>
                <a:buNone/>
                <a:defRPr sz="1200" b="1">
                  <a:solidFill>
                    <a:srgbClr val="547F62"/>
                  </a:solidFill>
                  <a:latin typeface="Microsoft YaHei"/>
                  <a:ea typeface="Microsoft YaHei"/>
                  <a:cs typeface="Microsoft YaHei"/>
                </a:defRPr>
              </a:pPr>
              <a:r>
                <a:rPr sz="1200" b="1">
                  <a:solidFill>
                    <a:srgbClr val="547F62"/>
                  </a:solidFill>
                  <a:latin typeface="Microsoft YaHei"/>
                  <a:ea typeface="Microsoft YaHei"/>
                  <a:cs typeface="Microsoft YaHei"/>
                </a:rPr>
                <a:t>当地野生</a:t>
              </a:r>
            </a:p>
            <a:p>
              <a:pPr algn="ctr">
                <a:lnSpc>
                  <a:spcPct val="116000"/>
                </a:lnSpc>
                <a:buNone/>
                <a:defRPr sz="1200" b="1">
                  <a:solidFill>
                    <a:srgbClr val="547F62"/>
                  </a:solidFill>
                  <a:latin typeface="Microsoft YaHei"/>
                  <a:ea typeface="Microsoft YaHei"/>
                  <a:cs typeface="Microsoft YaHei"/>
                </a:defRPr>
              </a:pPr>
              <a:r>
                <a:rPr sz="1200" b="1">
                  <a:solidFill>
                    <a:srgbClr val="547F62"/>
                  </a:solidFill>
                  <a:latin typeface="Microsoft YaHei"/>
                  <a:ea typeface="Microsoft YaHei"/>
                  <a:cs typeface="Microsoft YaHei"/>
                </a:rPr>
                <a:t>原鸡群体</a:t>
              </a:r>
            </a:p>
          </p:txBody>
        </p:sp>
        <p:sp>
          <p:nvSpPr>
            <p:cNvPr id="357" name="s3-local-red-junglefowl__ellipse_357">
              <a:extLst>
                <a:ext uri="{FF2B5EF4-FFF2-40B4-BE49-F238E27FC236}">
                  <a16:creationId xmlns:a16="http://schemas.microsoft.com/office/drawing/2014/main" id="{EB57A1DF-BA43-4F44-9305-0AC7D305EF50}"/>
                </a:ext>
              </a:extLst>
            </p:cNvPr>
            <p:cNvSpPr>
              <a:spLocks/>
            </p:cNvSpPr>
            <p:nvPr/>
          </p:nvSpPr>
          <p:spPr>
            <a:xfrm>
              <a:off x="6158866" y="4239260"/>
              <a:ext cx="257175" cy="25717"/>
            </a:xfrm>
            <a:prstGeom prst="ellipse">
              <a:avLst/>
            </a:prstGeom>
            <a:solidFill>
              <a:srgbClr val="DCE2D6">
                <a:alpha val="80000"/>
              </a:srgbClr>
            </a:solidFill>
            <a:ln w="0">
              <a:noFill/>
              <a:prstDash val="solid"/>
            </a:ln>
          </p:spPr>
          <p:txBody>
            <a:bodyPr/>
            <a:lstStyle/>
            <a:p>
              <a:endParaRPr sz="1200"/>
            </a:p>
          </p:txBody>
        </p:sp>
        <p:sp>
          <p:nvSpPr>
            <p:cNvPr id="358" name="s3-local-red-junglefowl__contour_358">
              <a:extLst>
                <a:ext uri="{FF2B5EF4-FFF2-40B4-BE49-F238E27FC236}">
                  <a16:creationId xmlns:a16="http://schemas.microsoft.com/office/drawing/2014/main" id="{7ABAD67A-D52E-41B9-99FF-770D98028859}"/>
                </a:ext>
              </a:extLst>
            </p:cNvPr>
            <p:cNvSpPr>
              <a:spLocks/>
            </p:cNvSpPr>
            <p:nvPr/>
          </p:nvSpPr>
          <p:spPr>
            <a:xfrm>
              <a:off x="6039238" y="390173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284741"/>
            </a:solidFill>
            <a:ln w="7287">
              <a:solidFill>
                <a:srgbClr val="4A5147"/>
              </a:solidFill>
              <a:prstDash val="solid"/>
            </a:ln>
          </p:spPr>
          <p:txBody>
            <a:bodyPr/>
            <a:lstStyle/>
            <a:p>
              <a:endParaRPr sz="1200"/>
            </a:p>
          </p:txBody>
        </p:sp>
        <p:sp>
          <p:nvSpPr>
            <p:cNvPr id="359" name="s3-local-red-junglefowl__contour_359">
              <a:extLst>
                <a:ext uri="{FF2B5EF4-FFF2-40B4-BE49-F238E27FC236}">
                  <a16:creationId xmlns:a16="http://schemas.microsoft.com/office/drawing/2014/main" id="{A3FCF44B-3875-4571-A72F-7CADD1300D45}"/>
                </a:ext>
              </a:extLst>
            </p:cNvPr>
            <p:cNvSpPr>
              <a:spLocks/>
            </p:cNvSpPr>
            <p:nvPr/>
          </p:nvSpPr>
          <p:spPr>
            <a:xfrm>
              <a:off x="6043677" y="396644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284741"/>
            </a:solidFill>
            <a:ln w="7287">
              <a:solidFill>
                <a:srgbClr val="4A5147"/>
              </a:solidFill>
              <a:prstDash val="solid"/>
            </a:ln>
          </p:spPr>
          <p:txBody>
            <a:bodyPr/>
            <a:lstStyle/>
            <a:p>
              <a:endParaRPr sz="1200"/>
            </a:p>
          </p:txBody>
        </p:sp>
        <p:sp>
          <p:nvSpPr>
            <p:cNvPr id="360" name="s3-local-red-junglefowl__contour_360">
              <a:extLst>
                <a:ext uri="{FF2B5EF4-FFF2-40B4-BE49-F238E27FC236}">
                  <a16:creationId xmlns:a16="http://schemas.microsoft.com/office/drawing/2014/main" id="{A91BCB72-AF91-473E-B9DA-3BF535F793CB}"/>
                </a:ext>
              </a:extLst>
            </p:cNvPr>
            <p:cNvSpPr>
              <a:spLocks/>
            </p:cNvSpPr>
            <p:nvPr/>
          </p:nvSpPr>
          <p:spPr>
            <a:xfrm>
              <a:off x="6066683" y="401923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284741"/>
            </a:solidFill>
            <a:ln w="7287">
              <a:solidFill>
                <a:srgbClr val="4A5147"/>
              </a:solidFill>
              <a:prstDash val="solid"/>
            </a:ln>
          </p:spPr>
          <p:txBody>
            <a:bodyPr/>
            <a:lstStyle/>
            <a:p>
              <a:endParaRPr sz="1200"/>
            </a:p>
          </p:txBody>
        </p:sp>
        <p:sp>
          <p:nvSpPr>
            <p:cNvPr id="361" name="s3-local-red-junglefowl__contour_361">
              <a:extLst>
                <a:ext uri="{FF2B5EF4-FFF2-40B4-BE49-F238E27FC236}">
                  <a16:creationId xmlns:a16="http://schemas.microsoft.com/office/drawing/2014/main" id="{B7CB3C89-5CD2-44D2-BD62-EBF94E5B7856}"/>
                </a:ext>
              </a:extLst>
            </p:cNvPr>
            <p:cNvSpPr>
              <a:spLocks/>
            </p:cNvSpPr>
            <p:nvPr/>
          </p:nvSpPr>
          <p:spPr>
            <a:xfrm>
              <a:off x="6081713" y="393065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62" name="s3-local-red-junglefowl__contour_362">
              <a:extLst>
                <a:ext uri="{FF2B5EF4-FFF2-40B4-BE49-F238E27FC236}">
                  <a16:creationId xmlns:a16="http://schemas.microsoft.com/office/drawing/2014/main" id="{DAD92666-F053-4D53-BB54-CEAB5D0019BE}"/>
                </a:ext>
              </a:extLst>
            </p:cNvPr>
            <p:cNvSpPr>
              <a:spLocks/>
            </p:cNvSpPr>
            <p:nvPr/>
          </p:nvSpPr>
          <p:spPr>
            <a:xfrm>
              <a:off x="6067426" y="3988949"/>
              <a:ext cx="145732" cy="116008"/>
            </a:xfrm>
            <a:custGeom>
              <a:avLst/>
              <a:gdLst/>
              <a:ahLst/>
              <a:cxnLst/>
              <a:rect l="0" t="0" r="0" b="0"/>
              <a:pathLst>
                <a:path w="218599" h="174012">
                  <a:moveTo>
                    <a:pt x="218599" y="174012"/>
                  </a:moveTo>
                  <a:lnTo>
                    <a:pt x="200082" y="149962"/>
                  </a:lnTo>
                  <a:lnTo>
                    <a:pt x="182223" y="127540"/>
                  </a:lnTo>
                  <a:lnTo>
                    <a:pt x="165002" y="106804"/>
                  </a:lnTo>
                  <a:lnTo>
                    <a:pt x="148400" y="87782"/>
                  </a:lnTo>
                  <a:lnTo>
                    <a:pt x="132397"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63" name="s3-local-red-junglefowl__line_363">
              <a:extLst>
                <a:ext uri="{FF2B5EF4-FFF2-40B4-BE49-F238E27FC236}">
                  <a16:creationId xmlns:a16="http://schemas.microsoft.com/office/drawing/2014/main" id="{84ADDA7A-1A69-4894-8775-A3CAD35139BB}"/>
                </a:ext>
              </a:extLst>
            </p:cNvPr>
            <p:cNvSpPr>
              <a:spLocks/>
            </p:cNvSpPr>
            <p:nvPr/>
          </p:nvSpPr>
          <p:spPr>
            <a:xfrm>
              <a:off x="6278880" y="418496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64" name="s3-local-red-junglefowl__line_364">
              <a:extLst>
                <a:ext uri="{FF2B5EF4-FFF2-40B4-BE49-F238E27FC236}">
                  <a16:creationId xmlns:a16="http://schemas.microsoft.com/office/drawing/2014/main" id="{7ED1A14D-4D41-4406-B9D2-3DC15938F5F4}"/>
                </a:ext>
              </a:extLst>
            </p:cNvPr>
            <p:cNvSpPr>
              <a:spLocks/>
            </p:cNvSpPr>
            <p:nvPr/>
          </p:nvSpPr>
          <p:spPr>
            <a:xfrm>
              <a:off x="6253163" y="423354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65" name="s3-local-red-junglefowl__line_365">
              <a:extLst>
                <a:ext uri="{FF2B5EF4-FFF2-40B4-BE49-F238E27FC236}">
                  <a16:creationId xmlns:a16="http://schemas.microsoft.com/office/drawing/2014/main" id="{D7C4FA2E-532E-418E-B958-08D3D6B1F395}"/>
                </a:ext>
              </a:extLst>
            </p:cNvPr>
            <p:cNvSpPr>
              <a:spLocks/>
            </p:cNvSpPr>
            <p:nvPr/>
          </p:nvSpPr>
          <p:spPr>
            <a:xfrm>
              <a:off x="6281738" y="423640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66" name="s3-local-red-junglefowl__line_366">
              <a:extLst>
                <a:ext uri="{FF2B5EF4-FFF2-40B4-BE49-F238E27FC236}">
                  <a16:creationId xmlns:a16="http://schemas.microsoft.com/office/drawing/2014/main" id="{9A35CB32-D86B-43D0-AEF4-480119C76085}"/>
                </a:ext>
              </a:extLst>
            </p:cNvPr>
            <p:cNvSpPr>
              <a:spLocks/>
            </p:cNvSpPr>
            <p:nvPr/>
          </p:nvSpPr>
          <p:spPr>
            <a:xfrm>
              <a:off x="6338888" y="4182110"/>
              <a:ext cx="5714" cy="57150"/>
            </a:xfrm>
            <a:custGeom>
              <a:avLst/>
              <a:gdLst/>
              <a:ahLst/>
              <a:cxnLst/>
              <a:rect l="0" t="0" r="0" b="0"/>
              <a:pathLst>
                <a:path w="8572" h="85725">
                  <a:moveTo>
                    <a:pt x="0" y="0"/>
                  </a:moveTo>
                  <a:lnTo>
                    <a:pt x="8572" y="85725"/>
                  </a:lnTo>
                </a:path>
              </a:pathLst>
            </a:custGeom>
            <a:noFill/>
            <a:ln w="12859">
              <a:solidFill>
                <a:srgbClr val="B68C45"/>
              </a:solidFill>
              <a:prstDash val="solid"/>
            </a:ln>
          </p:spPr>
          <p:txBody>
            <a:bodyPr/>
            <a:lstStyle/>
            <a:p>
              <a:endParaRPr sz="1200"/>
            </a:p>
          </p:txBody>
        </p:sp>
        <p:sp>
          <p:nvSpPr>
            <p:cNvPr id="367" name="s3-local-red-junglefowl__line_367">
              <a:extLst>
                <a:ext uri="{FF2B5EF4-FFF2-40B4-BE49-F238E27FC236}">
                  <a16:creationId xmlns:a16="http://schemas.microsoft.com/office/drawing/2014/main" id="{F84E4A79-3169-4511-AD62-1B167AAB3B0F}"/>
                </a:ext>
              </a:extLst>
            </p:cNvPr>
            <p:cNvSpPr>
              <a:spLocks/>
            </p:cNvSpPr>
            <p:nvPr/>
          </p:nvSpPr>
          <p:spPr>
            <a:xfrm>
              <a:off x="6318886" y="423640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68" name="s3-local-red-junglefowl__line_368">
              <a:extLst>
                <a:ext uri="{FF2B5EF4-FFF2-40B4-BE49-F238E27FC236}">
                  <a16:creationId xmlns:a16="http://schemas.microsoft.com/office/drawing/2014/main" id="{A48E9EFB-94C6-4AAB-AA4E-2D83FA416784}"/>
                </a:ext>
              </a:extLst>
            </p:cNvPr>
            <p:cNvSpPr>
              <a:spLocks/>
            </p:cNvSpPr>
            <p:nvPr/>
          </p:nvSpPr>
          <p:spPr>
            <a:xfrm>
              <a:off x="6341746" y="423640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69" name="s3-local-red-junglefowl__contour_369">
              <a:extLst>
                <a:ext uri="{FF2B5EF4-FFF2-40B4-BE49-F238E27FC236}">
                  <a16:creationId xmlns:a16="http://schemas.microsoft.com/office/drawing/2014/main" id="{4E5E1EA2-DD05-4F00-AA3A-63386C5AD378}"/>
                </a:ext>
              </a:extLst>
            </p:cNvPr>
            <p:cNvSpPr>
              <a:spLocks/>
            </p:cNvSpPr>
            <p:nvPr/>
          </p:nvSpPr>
          <p:spPr>
            <a:xfrm>
              <a:off x="6194482" y="393642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0"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B86A38"/>
            </a:solidFill>
            <a:ln w="7287">
              <a:solidFill>
                <a:srgbClr val="4A5147"/>
              </a:solidFill>
              <a:prstDash val="solid"/>
            </a:ln>
          </p:spPr>
          <p:txBody>
            <a:bodyPr/>
            <a:lstStyle/>
            <a:p>
              <a:endParaRPr sz="1200"/>
            </a:p>
          </p:txBody>
        </p:sp>
        <p:sp>
          <p:nvSpPr>
            <p:cNvPr id="370" name="s3-local-red-junglefowl__contour_370">
              <a:extLst>
                <a:ext uri="{FF2B5EF4-FFF2-40B4-BE49-F238E27FC236}">
                  <a16:creationId xmlns:a16="http://schemas.microsoft.com/office/drawing/2014/main" id="{8F854D17-78A7-452B-A9A6-4A166C09C763}"/>
                </a:ext>
              </a:extLst>
            </p:cNvPr>
            <p:cNvSpPr>
              <a:spLocks/>
            </p:cNvSpPr>
            <p:nvPr/>
          </p:nvSpPr>
          <p:spPr>
            <a:xfrm>
              <a:off x="6238876" y="403352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8" y="154600"/>
                  </a:lnTo>
                  <a:lnTo>
                    <a:pt x="21174" y="149495"/>
                  </a:lnTo>
                  <a:lnTo>
                    <a:pt x="30966" y="143332"/>
                  </a:lnTo>
                  <a:lnTo>
                    <a:pt x="40253" y="136141"/>
                  </a:lnTo>
                  <a:lnTo>
                    <a:pt x="49054" y="127949"/>
                  </a:lnTo>
                  <a:lnTo>
                    <a:pt x="57398" y="118815"/>
                  </a:lnTo>
                  <a:lnTo>
                    <a:pt x="65313" y="108766"/>
                  </a:lnTo>
                  <a:lnTo>
                    <a:pt x="72819" y="97831"/>
                  </a:lnTo>
                  <a:lnTo>
                    <a:pt x="79934" y="86068"/>
                  </a:lnTo>
                  <a:lnTo>
                    <a:pt x="86678" y="73504"/>
                  </a:lnTo>
                  <a:lnTo>
                    <a:pt x="93078" y="60169"/>
                  </a:lnTo>
                  <a:lnTo>
                    <a:pt x="99165" y="46120"/>
                  </a:lnTo>
                  <a:lnTo>
                    <a:pt x="104956" y="31385"/>
                  </a:lnTo>
                  <a:lnTo>
                    <a:pt x="110471" y="15992"/>
                  </a:lnTo>
                  <a:lnTo>
                    <a:pt x="115729" y="0"/>
                  </a:lnTo>
                  <a:close/>
                </a:path>
              </a:pathLst>
            </a:custGeom>
            <a:solidFill>
              <a:srgbClr val="293A36"/>
            </a:solidFill>
            <a:ln w="7287">
              <a:noFill/>
              <a:prstDash val="solid"/>
            </a:ln>
          </p:spPr>
          <p:txBody>
            <a:bodyPr/>
            <a:lstStyle/>
            <a:p>
              <a:endParaRPr sz="1200"/>
            </a:p>
          </p:txBody>
        </p:sp>
        <p:sp>
          <p:nvSpPr>
            <p:cNvPr id="371" name="s3-local-red-junglefowl__contour_371">
              <a:extLst>
                <a:ext uri="{FF2B5EF4-FFF2-40B4-BE49-F238E27FC236}">
                  <a16:creationId xmlns:a16="http://schemas.microsoft.com/office/drawing/2014/main" id="{643EEE68-B610-4778-AEE1-AE30F7BCFF21}"/>
                </a:ext>
              </a:extLst>
            </p:cNvPr>
            <p:cNvSpPr>
              <a:spLocks/>
            </p:cNvSpPr>
            <p:nvPr/>
          </p:nvSpPr>
          <p:spPr>
            <a:xfrm>
              <a:off x="6304598" y="394068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2" y="220694"/>
                  </a:lnTo>
                  <a:lnTo>
                    <a:pt x="90011" y="190690"/>
                  </a:lnTo>
                  <a:lnTo>
                    <a:pt x="77153" y="242125"/>
                  </a:lnTo>
                  <a:lnTo>
                    <a:pt x="55721" y="203549"/>
                  </a:lnTo>
                  <a:lnTo>
                    <a:pt x="30004" y="233553"/>
                  </a:lnTo>
                  <a:lnTo>
                    <a:pt x="25717"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CA05A"/>
            </a:solidFill>
            <a:ln w="4715">
              <a:solidFill>
                <a:srgbClr val="8D683E"/>
              </a:solidFill>
              <a:prstDash val="solid"/>
            </a:ln>
          </p:spPr>
          <p:txBody>
            <a:bodyPr/>
            <a:lstStyle/>
            <a:p>
              <a:endParaRPr sz="1200"/>
            </a:p>
          </p:txBody>
        </p:sp>
        <p:sp>
          <p:nvSpPr>
            <p:cNvPr id="372" name="s3-local-red-junglefowl__line_372">
              <a:extLst>
                <a:ext uri="{FF2B5EF4-FFF2-40B4-BE49-F238E27FC236}">
                  <a16:creationId xmlns:a16="http://schemas.microsoft.com/office/drawing/2014/main" id="{318B86A8-2D44-4BD0-85D0-E7C463780F5D}"/>
                </a:ext>
              </a:extLst>
            </p:cNvPr>
            <p:cNvSpPr>
              <a:spLocks/>
            </p:cNvSpPr>
            <p:nvPr/>
          </p:nvSpPr>
          <p:spPr>
            <a:xfrm>
              <a:off x="6330316" y="3993515"/>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73" name="s3-local-red-junglefowl__line_373">
              <a:extLst>
                <a:ext uri="{FF2B5EF4-FFF2-40B4-BE49-F238E27FC236}">
                  <a16:creationId xmlns:a16="http://schemas.microsoft.com/office/drawing/2014/main" id="{32F5CDA3-DFF8-4D20-A852-0949F58F7BC0}"/>
                </a:ext>
              </a:extLst>
            </p:cNvPr>
            <p:cNvSpPr>
              <a:spLocks/>
            </p:cNvSpPr>
            <p:nvPr/>
          </p:nvSpPr>
          <p:spPr>
            <a:xfrm>
              <a:off x="6353176" y="399637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374" name="s3-local-red-junglefowl__line_374">
              <a:extLst>
                <a:ext uri="{FF2B5EF4-FFF2-40B4-BE49-F238E27FC236}">
                  <a16:creationId xmlns:a16="http://schemas.microsoft.com/office/drawing/2014/main" id="{EDCD20F8-C089-4B9F-BA40-B7BA0FACB06A}"/>
                </a:ext>
              </a:extLst>
            </p:cNvPr>
            <p:cNvSpPr>
              <a:spLocks/>
            </p:cNvSpPr>
            <p:nvPr/>
          </p:nvSpPr>
          <p:spPr>
            <a:xfrm>
              <a:off x="6373178" y="399637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375" name="s3-local-red-junglefowl__contour_375">
              <a:extLst>
                <a:ext uri="{FF2B5EF4-FFF2-40B4-BE49-F238E27FC236}">
                  <a16:creationId xmlns:a16="http://schemas.microsoft.com/office/drawing/2014/main" id="{D7B37760-3E7C-4BD9-9361-9677A81D029C}"/>
                </a:ext>
              </a:extLst>
            </p:cNvPr>
            <p:cNvSpPr>
              <a:spLocks/>
            </p:cNvSpPr>
            <p:nvPr/>
          </p:nvSpPr>
          <p:spPr>
            <a:xfrm>
              <a:off x="6204084" y="405574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80"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A54C31"/>
            </a:solidFill>
            <a:ln w="7287">
              <a:solidFill>
                <a:srgbClr val="4A5147"/>
              </a:solidFill>
              <a:prstDash val="solid"/>
            </a:ln>
          </p:spPr>
          <p:txBody>
            <a:bodyPr/>
            <a:lstStyle/>
            <a:p>
              <a:endParaRPr sz="1200"/>
            </a:p>
          </p:txBody>
        </p:sp>
        <p:sp>
          <p:nvSpPr>
            <p:cNvPr id="376" name="s3-local-red-junglefowl__contour_376">
              <a:extLst>
                <a:ext uri="{FF2B5EF4-FFF2-40B4-BE49-F238E27FC236}">
                  <a16:creationId xmlns:a16="http://schemas.microsoft.com/office/drawing/2014/main" id="{7428D97E-F9F8-45D4-9258-9055BA892BEE}"/>
                </a:ext>
              </a:extLst>
            </p:cNvPr>
            <p:cNvSpPr>
              <a:spLocks/>
            </p:cNvSpPr>
            <p:nvPr/>
          </p:nvSpPr>
          <p:spPr>
            <a:xfrm>
              <a:off x="6218873" y="407642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377" name="s3-local-red-junglefowl__contour_377">
              <a:extLst>
                <a:ext uri="{FF2B5EF4-FFF2-40B4-BE49-F238E27FC236}">
                  <a16:creationId xmlns:a16="http://schemas.microsoft.com/office/drawing/2014/main" id="{0CDF0823-EFA9-457B-A2DB-6B6E17BD490A}"/>
                </a:ext>
              </a:extLst>
            </p:cNvPr>
            <p:cNvSpPr>
              <a:spLocks/>
            </p:cNvSpPr>
            <p:nvPr/>
          </p:nvSpPr>
          <p:spPr>
            <a:xfrm>
              <a:off x="6343092" y="390170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4"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378" name="s3-local-red-junglefowl__contour_378">
              <a:extLst>
                <a:ext uri="{FF2B5EF4-FFF2-40B4-BE49-F238E27FC236}">
                  <a16:creationId xmlns:a16="http://schemas.microsoft.com/office/drawing/2014/main" id="{C884258D-20C9-4B7E-9F99-69B727B55998}"/>
                </a:ext>
              </a:extLst>
            </p:cNvPr>
            <p:cNvSpPr>
              <a:spLocks/>
            </p:cNvSpPr>
            <p:nvPr/>
          </p:nvSpPr>
          <p:spPr>
            <a:xfrm>
              <a:off x="6410326" y="397351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379" name="s3-local-red-junglefowl__ellipse_379">
              <a:extLst>
                <a:ext uri="{FF2B5EF4-FFF2-40B4-BE49-F238E27FC236}">
                  <a16:creationId xmlns:a16="http://schemas.microsoft.com/office/drawing/2014/main" id="{BFE21A41-943F-41A7-A076-CF3D2C2B1C3D}"/>
                </a:ext>
              </a:extLst>
            </p:cNvPr>
            <p:cNvSpPr>
              <a:spLocks/>
            </p:cNvSpPr>
            <p:nvPr/>
          </p:nvSpPr>
          <p:spPr>
            <a:xfrm>
              <a:off x="6381750" y="4002088"/>
              <a:ext cx="22859" cy="40005"/>
            </a:xfrm>
            <a:prstGeom prst="ellipse">
              <a:avLst/>
            </a:prstGeom>
            <a:solidFill>
              <a:srgbClr val="B8493E"/>
            </a:solidFill>
            <a:ln w="4286">
              <a:solidFill>
                <a:srgbClr val="803B33"/>
              </a:solidFill>
              <a:prstDash val="solid"/>
            </a:ln>
          </p:spPr>
          <p:txBody>
            <a:bodyPr/>
            <a:lstStyle/>
            <a:p>
              <a:endParaRPr sz="1200"/>
            </a:p>
          </p:txBody>
        </p:sp>
        <p:sp>
          <p:nvSpPr>
            <p:cNvPr id="380" name="s3-local-red-junglefowl__ellipse_380">
              <a:extLst>
                <a:ext uri="{FF2B5EF4-FFF2-40B4-BE49-F238E27FC236}">
                  <a16:creationId xmlns:a16="http://schemas.microsoft.com/office/drawing/2014/main" id="{C4A86860-0A03-4EB3-B616-88C0CC778CB2}"/>
                </a:ext>
              </a:extLst>
            </p:cNvPr>
            <p:cNvSpPr>
              <a:spLocks/>
            </p:cNvSpPr>
            <p:nvPr/>
          </p:nvSpPr>
          <p:spPr>
            <a:xfrm>
              <a:off x="6387466" y="3973513"/>
              <a:ext cx="11429" cy="17145"/>
            </a:xfrm>
            <a:prstGeom prst="ellipse">
              <a:avLst/>
            </a:prstGeom>
            <a:solidFill>
              <a:srgbClr val="F2E7D1"/>
            </a:solidFill>
            <a:ln w="0">
              <a:noFill/>
              <a:prstDash val="solid"/>
            </a:ln>
          </p:spPr>
          <p:txBody>
            <a:bodyPr/>
            <a:lstStyle/>
            <a:p>
              <a:endParaRPr sz="1200"/>
            </a:p>
          </p:txBody>
        </p:sp>
        <p:sp>
          <p:nvSpPr>
            <p:cNvPr id="381" name="s3-local-red-junglefowl__ellipse_381">
              <a:extLst>
                <a:ext uri="{FF2B5EF4-FFF2-40B4-BE49-F238E27FC236}">
                  <a16:creationId xmlns:a16="http://schemas.microsoft.com/office/drawing/2014/main" id="{12918567-BC0F-4D30-A10A-9B12DF27C36E}"/>
                </a:ext>
              </a:extLst>
            </p:cNvPr>
            <p:cNvSpPr>
              <a:spLocks/>
            </p:cNvSpPr>
            <p:nvPr/>
          </p:nvSpPr>
          <p:spPr>
            <a:xfrm>
              <a:off x="6396038" y="3959225"/>
              <a:ext cx="11429" cy="11430"/>
            </a:xfrm>
            <a:prstGeom prst="ellipse">
              <a:avLst/>
            </a:prstGeom>
            <a:solidFill>
              <a:srgbClr val="1F2B28"/>
            </a:solidFill>
            <a:ln w="0">
              <a:noFill/>
              <a:prstDash val="solid"/>
            </a:ln>
          </p:spPr>
          <p:txBody>
            <a:bodyPr/>
            <a:lstStyle/>
            <a:p>
              <a:endParaRPr sz="1200"/>
            </a:p>
          </p:txBody>
        </p:sp>
        <p:sp>
          <p:nvSpPr>
            <p:cNvPr id="382" name="s3-local-red-junglefowl__ellipse_382">
              <a:extLst>
                <a:ext uri="{FF2B5EF4-FFF2-40B4-BE49-F238E27FC236}">
                  <a16:creationId xmlns:a16="http://schemas.microsoft.com/office/drawing/2014/main" id="{461460B4-A1C9-4332-8E7D-4994380D413F}"/>
                </a:ext>
              </a:extLst>
            </p:cNvPr>
            <p:cNvSpPr>
              <a:spLocks/>
            </p:cNvSpPr>
            <p:nvPr/>
          </p:nvSpPr>
          <p:spPr>
            <a:xfrm>
              <a:off x="6398610" y="3959797"/>
              <a:ext cx="3143" cy="3143"/>
            </a:xfrm>
            <a:prstGeom prst="ellipse">
              <a:avLst/>
            </a:prstGeom>
            <a:solidFill>
              <a:srgbClr val="FFFFFF"/>
            </a:solidFill>
            <a:ln w="0">
              <a:noFill/>
              <a:prstDash val="solid"/>
            </a:ln>
          </p:spPr>
          <p:txBody>
            <a:bodyPr/>
            <a:lstStyle/>
            <a:p>
              <a:endParaRPr sz="1200"/>
            </a:p>
          </p:txBody>
        </p:sp>
        <p:sp>
          <p:nvSpPr>
            <p:cNvPr id="383" name="s3-other-local-junglefowl__ellipse_383">
              <a:extLst>
                <a:ext uri="{FF2B5EF4-FFF2-40B4-BE49-F238E27FC236}">
                  <a16:creationId xmlns:a16="http://schemas.microsoft.com/office/drawing/2014/main" id="{188301BF-91FD-479C-A825-C28167E5F9F7}"/>
                </a:ext>
              </a:extLst>
            </p:cNvPr>
            <p:cNvSpPr>
              <a:spLocks/>
            </p:cNvSpPr>
            <p:nvPr/>
          </p:nvSpPr>
          <p:spPr>
            <a:xfrm>
              <a:off x="6628765" y="4245610"/>
              <a:ext cx="257175" cy="25717"/>
            </a:xfrm>
            <a:prstGeom prst="ellipse">
              <a:avLst/>
            </a:prstGeom>
            <a:solidFill>
              <a:srgbClr val="DCE2D6">
                <a:alpha val="80000"/>
              </a:srgbClr>
            </a:solidFill>
            <a:ln w="0">
              <a:noFill/>
              <a:prstDash val="solid"/>
            </a:ln>
          </p:spPr>
          <p:txBody>
            <a:bodyPr/>
            <a:lstStyle/>
            <a:p>
              <a:endParaRPr sz="1200"/>
            </a:p>
          </p:txBody>
        </p:sp>
        <p:sp>
          <p:nvSpPr>
            <p:cNvPr id="384" name="s3-other-local-junglefowl__contour_384">
              <a:extLst>
                <a:ext uri="{FF2B5EF4-FFF2-40B4-BE49-F238E27FC236}">
                  <a16:creationId xmlns:a16="http://schemas.microsoft.com/office/drawing/2014/main" id="{2F4F9ADA-C6BF-4E02-BAC5-76B1456FC6D6}"/>
                </a:ext>
              </a:extLst>
            </p:cNvPr>
            <p:cNvSpPr>
              <a:spLocks/>
            </p:cNvSpPr>
            <p:nvPr/>
          </p:nvSpPr>
          <p:spPr>
            <a:xfrm>
              <a:off x="6509138" y="390808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53685B"/>
            </a:solidFill>
            <a:ln w="7287">
              <a:solidFill>
                <a:srgbClr val="4A5147"/>
              </a:solidFill>
              <a:prstDash val="solid"/>
            </a:ln>
          </p:spPr>
          <p:txBody>
            <a:bodyPr/>
            <a:lstStyle/>
            <a:p>
              <a:endParaRPr sz="1200"/>
            </a:p>
          </p:txBody>
        </p:sp>
        <p:sp>
          <p:nvSpPr>
            <p:cNvPr id="385" name="s3-other-local-junglefowl__contour_385">
              <a:extLst>
                <a:ext uri="{FF2B5EF4-FFF2-40B4-BE49-F238E27FC236}">
                  <a16:creationId xmlns:a16="http://schemas.microsoft.com/office/drawing/2014/main" id="{A47A7691-F4B9-41A4-BF16-74571B7B524D}"/>
                </a:ext>
              </a:extLst>
            </p:cNvPr>
            <p:cNvSpPr>
              <a:spLocks/>
            </p:cNvSpPr>
            <p:nvPr/>
          </p:nvSpPr>
          <p:spPr>
            <a:xfrm>
              <a:off x="6513576" y="397279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53685B"/>
            </a:solidFill>
            <a:ln w="7287">
              <a:solidFill>
                <a:srgbClr val="4A5147"/>
              </a:solidFill>
              <a:prstDash val="solid"/>
            </a:ln>
          </p:spPr>
          <p:txBody>
            <a:bodyPr/>
            <a:lstStyle/>
            <a:p>
              <a:endParaRPr sz="1200"/>
            </a:p>
          </p:txBody>
        </p:sp>
        <p:sp>
          <p:nvSpPr>
            <p:cNvPr id="386" name="s3-other-local-junglefowl__contour_386">
              <a:extLst>
                <a:ext uri="{FF2B5EF4-FFF2-40B4-BE49-F238E27FC236}">
                  <a16:creationId xmlns:a16="http://schemas.microsoft.com/office/drawing/2014/main" id="{A16244BF-9170-4232-9DB1-8ADE68CB730E}"/>
                </a:ext>
              </a:extLst>
            </p:cNvPr>
            <p:cNvSpPr>
              <a:spLocks/>
            </p:cNvSpPr>
            <p:nvPr/>
          </p:nvSpPr>
          <p:spPr>
            <a:xfrm>
              <a:off x="6536582" y="402558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53685B"/>
            </a:solidFill>
            <a:ln w="7287">
              <a:solidFill>
                <a:srgbClr val="4A5147"/>
              </a:solidFill>
              <a:prstDash val="solid"/>
            </a:ln>
          </p:spPr>
          <p:txBody>
            <a:bodyPr/>
            <a:lstStyle/>
            <a:p>
              <a:endParaRPr sz="1200"/>
            </a:p>
          </p:txBody>
        </p:sp>
        <p:sp>
          <p:nvSpPr>
            <p:cNvPr id="387" name="s3-other-local-junglefowl__contour_387">
              <a:extLst>
                <a:ext uri="{FF2B5EF4-FFF2-40B4-BE49-F238E27FC236}">
                  <a16:creationId xmlns:a16="http://schemas.microsoft.com/office/drawing/2014/main" id="{623EDF50-396E-4D46-8D2F-E91C6D1C5E5B}"/>
                </a:ext>
              </a:extLst>
            </p:cNvPr>
            <p:cNvSpPr>
              <a:spLocks/>
            </p:cNvSpPr>
            <p:nvPr/>
          </p:nvSpPr>
          <p:spPr>
            <a:xfrm>
              <a:off x="6551613" y="393700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88" name="s3-other-local-junglefowl__contour_388">
              <a:extLst>
                <a:ext uri="{FF2B5EF4-FFF2-40B4-BE49-F238E27FC236}">
                  <a16:creationId xmlns:a16="http://schemas.microsoft.com/office/drawing/2014/main" id="{B0F5A366-71AA-4854-91B9-F3F9E78C8B5E}"/>
                </a:ext>
              </a:extLst>
            </p:cNvPr>
            <p:cNvSpPr>
              <a:spLocks/>
            </p:cNvSpPr>
            <p:nvPr/>
          </p:nvSpPr>
          <p:spPr>
            <a:xfrm>
              <a:off x="6537325" y="3995299"/>
              <a:ext cx="145732" cy="116008"/>
            </a:xfrm>
            <a:custGeom>
              <a:avLst/>
              <a:gdLst/>
              <a:ahLst/>
              <a:cxnLst/>
              <a:rect l="0" t="0" r="0" b="0"/>
              <a:pathLst>
                <a:path w="218599" h="174012">
                  <a:moveTo>
                    <a:pt x="218599" y="174012"/>
                  </a:moveTo>
                  <a:lnTo>
                    <a:pt x="200082" y="149962"/>
                  </a:lnTo>
                  <a:lnTo>
                    <a:pt x="182223" y="127540"/>
                  </a:lnTo>
                  <a:lnTo>
                    <a:pt x="165002" y="106804"/>
                  </a:lnTo>
                  <a:lnTo>
                    <a:pt x="148399" y="87782"/>
                  </a:lnTo>
                  <a:lnTo>
                    <a:pt x="132398"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89" name="s3-other-local-junglefowl__line_389">
              <a:extLst>
                <a:ext uri="{FF2B5EF4-FFF2-40B4-BE49-F238E27FC236}">
                  <a16:creationId xmlns:a16="http://schemas.microsoft.com/office/drawing/2014/main" id="{86A4DA2C-CB9F-4512-AB16-206A34E95351}"/>
                </a:ext>
              </a:extLst>
            </p:cNvPr>
            <p:cNvSpPr>
              <a:spLocks/>
            </p:cNvSpPr>
            <p:nvPr/>
          </p:nvSpPr>
          <p:spPr>
            <a:xfrm>
              <a:off x="6748780" y="419131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90" name="s3-other-local-junglefowl__line_390">
              <a:extLst>
                <a:ext uri="{FF2B5EF4-FFF2-40B4-BE49-F238E27FC236}">
                  <a16:creationId xmlns:a16="http://schemas.microsoft.com/office/drawing/2014/main" id="{EFA62CF4-10CF-406F-AF42-F6FE0F576BE2}"/>
                </a:ext>
              </a:extLst>
            </p:cNvPr>
            <p:cNvSpPr>
              <a:spLocks/>
            </p:cNvSpPr>
            <p:nvPr/>
          </p:nvSpPr>
          <p:spPr>
            <a:xfrm>
              <a:off x="6723063" y="423989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91" name="s3-other-local-junglefowl__line_391">
              <a:extLst>
                <a:ext uri="{FF2B5EF4-FFF2-40B4-BE49-F238E27FC236}">
                  <a16:creationId xmlns:a16="http://schemas.microsoft.com/office/drawing/2014/main" id="{D7C9D094-0EB0-4709-B22B-BDA064A5E755}"/>
                </a:ext>
              </a:extLst>
            </p:cNvPr>
            <p:cNvSpPr>
              <a:spLocks/>
            </p:cNvSpPr>
            <p:nvPr/>
          </p:nvSpPr>
          <p:spPr>
            <a:xfrm>
              <a:off x="6751637" y="424275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92" name="s3-other-local-junglefowl__line_392">
              <a:extLst>
                <a:ext uri="{FF2B5EF4-FFF2-40B4-BE49-F238E27FC236}">
                  <a16:creationId xmlns:a16="http://schemas.microsoft.com/office/drawing/2014/main" id="{E4A42999-3075-4E78-88C2-5854E5FDF53D}"/>
                </a:ext>
              </a:extLst>
            </p:cNvPr>
            <p:cNvSpPr>
              <a:spLocks/>
            </p:cNvSpPr>
            <p:nvPr/>
          </p:nvSpPr>
          <p:spPr>
            <a:xfrm>
              <a:off x="6808787" y="4188460"/>
              <a:ext cx="5715" cy="57150"/>
            </a:xfrm>
            <a:custGeom>
              <a:avLst/>
              <a:gdLst/>
              <a:ahLst/>
              <a:cxnLst/>
              <a:rect l="0" t="0" r="0" b="0"/>
              <a:pathLst>
                <a:path w="8573" h="85725">
                  <a:moveTo>
                    <a:pt x="0" y="0"/>
                  </a:moveTo>
                  <a:lnTo>
                    <a:pt x="8573" y="85725"/>
                  </a:lnTo>
                </a:path>
              </a:pathLst>
            </a:custGeom>
            <a:noFill/>
            <a:ln w="12859">
              <a:solidFill>
                <a:srgbClr val="B68C45"/>
              </a:solidFill>
              <a:prstDash val="solid"/>
            </a:ln>
          </p:spPr>
          <p:txBody>
            <a:bodyPr/>
            <a:lstStyle/>
            <a:p>
              <a:endParaRPr sz="1200"/>
            </a:p>
          </p:txBody>
        </p:sp>
        <p:sp>
          <p:nvSpPr>
            <p:cNvPr id="393" name="s3-other-local-junglefowl__line_393">
              <a:extLst>
                <a:ext uri="{FF2B5EF4-FFF2-40B4-BE49-F238E27FC236}">
                  <a16:creationId xmlns:a16="http://schemas.microsoft.com/office/drawing/2014/main" id="{F2B2216C-15D5-4BDF-A05E-7208E40C0E2E}"/>
                </a:ext>
              </a:extLst>
            </p:cNvPr>
            <p:cNvSpPr>
              <a:spLocks/>
            </p:cNvSpPr>
            <p:nvPr/>
          </p:nvSpPr>
          <p:spPr>
            <a:xfrm>
              <a:off x="6788785" y="424275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94" name="s3-other-local-junglefowl__line_394">
              <a:extLst>
                <a:ext uri="{FF2B5EF4-FFF2-40B4-BE49-F238E27FC236}">
                  <a16:creationId xmlns:a16="http://schemas.microsoft.com/office/drawing/2014/main" id="{F4C77192-D27D-4594-A27A-C0B9317BB07B}"/>
                </a:ext>
              </a:extLst>
            </p:cNvPr>
            <p:cNvSpPr>
              <a:spLocks/>
            </p:cNvSpPr>
            <p:nvPr/>
          </p:nvSpPr>
          <p:spPr>
            <a:xfrm>
              <a:off x="6811645" y="424275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95" name="s3-other-local-junglefowl__contour_395">
              <a:extLst>
                <a:ext uri="{FF2B5EF4-FFF2-40B4-BE49-F238E27FC236}">
                  <a16:creationId xmlns:a16="http://schemas.microsoft.com/office/drawing/2014/main" id="{DFE1809F-A0E0-4D47-9AFF-A5275EF9FBDE}"/>
                </a:ext>
              </a:extLst>
            </p:cNvPr>
            <p:cNvSpPr>
              <a:spLocks/>
            </p:cNvSpPr>
            <p:nvPr/>
          </p:nvSpPr>
          <p:spPr>
            <a:xfrm>
              <a:off x="6664382" y="394277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1"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85816F"/>
            </a:solidFill>
            <a:ln w="7287">
              <a:solidFill>
                <a:srgbClr val="4A5147"/>
              </a:solidFill>
              <a:prstDash val="solid"/>
            </a:ln>
          </p:spPr>
          <p:txBody>
            <a:bodyPr/>
            <a:lstStyle/>
            <a:p>
              <a:endParaRPr sz="1200"/>
            </a:p>
          </p:txBody>
        </p:sp>
        <p:sp>
          <p:nvSpPr>
            <p:cNvPr id="396" name="s3-other-local-junglefowl__contour_396">
              <a:extLst>
                <a:ext uri="{FF2B5EF4-FFF2-40B4-BE49-F238E27FC236}">
                  <a16:creationId xmlns:a16="http://schemas.microsoft.com/office/drawing/2014/main" id="{DEFBCCFC-7456-4E81-9758-F2574990D1F0}"/>
                </a:ext>
              </a:extLst>
            </p:cNvPr>
            <p:cNvSpPr>
              <a:spLocks/>
            </p:cNvSpPr>
            <p:nvPr/>
          </p:nvSpPr>
          <p:spPr>
            <a:xfrm>
              <a:off x="6708775" y="403987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9" y="154600"/>
                  </a:lnTo>
                  <a:lnTo>
                    <a:pt x="21174" y="149495"/>
                  </a:lnTo>
                  <a:lnTo>
                    <a:pt x="30966" y="143332"/>
                  </a:lnTo>
                  <a:lnTo>
                    <a:pt x="40253" y="136141"/>
                  </a:lnTo>
                  <a:lnTo>
                    <a:pt x="49054" y="127949"/>
                  </a:lnTo>
                  <a:lnTo>
                    <a:pt x="57398" y="118815"/>
                  </a:lnTo>
                  <a:lnTo>
                    <a:pt x="65313" y="108766"/>
                  </a:lnTo>
                  <a:lnTo>
                    <a:pt x="72819" y="97831"/>
                  </a:lnTo>
                  <a:lnTo>
                    <a:pt x="79934" y="86068"/>
                  </a:lnTo>
                  <a:lnTo>
                    <a:pt x="86677" y="73504"/>
                  </a:lnTo>
                  <a:lnTo>
                    <a:pt x="93078" y="60169"/>
                  </a:lnTo>
                  <a:lnTo>
                    <a:pt x="99165" y="46120"/>
                  </a:lnTo>
                  <a:lnTo>
                    <a:pt x="104956" y="31385"/>
                  </a:lnTo>
                  <a:lnTo>
                    <a:pt x="110471" y="15992"/>
                  </a:lnTo>
                  <a:lnTo>
                    <a:pt x="115729" y="0"/>
                  </a:lnTo>
                  <a:close/>
                </a:path>
              </a:pathLst>
            </a:custGeom>
            <a:solidFill>
              <a:srgbClr val="606B60"/>
            </a:solidFill>
            <a:ln w="7287">
              <a:noFill/>
              <a:prstDash val="solid"/>
            </a:ln>
          </p:spPr>
          <p:txBody>
            <a:bodyPr/>
            <a:lstStyle/>
            <a:p>
              <a:endParaRPr sz="1200"/>
            </a:p>
          </p:txBody>
        </p:sp>
        <p:sp>
          <p:nvSpPr>
            <p:cNvPr id="397" name="s3-other-local-junglefowl__contour_397">
              <a:extLst>
                <a:ext uri="{FF2B5EF4-FFF2-40B4-BE49-F238E27FC236}">
                  <a16:creationId xmlns:a16="http://schemas.microsoft.com/office/drawing/2014/main" id="{76D28F79-77E9-4CD5-9A24-BE297898A2DE}"/>
                </a:ext>
              </a:extLst>
            </p:cNvPr>
            <p:cNvSpPr>
              <a:spLocks/>
            </p:cNvSpPr>
            <p:nvPr/>
          </p:nvSpPr>
          <p:spPr>
            <a:xfrm>
              <a:off x="6774497" y="394703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3" y="220694"/>
                  </a:lnTo>
                  <a:lnTo>
                    <a:pt x="90011" y="190690"/>
                  </a:lnTo>
                  <a:lnTo>
                    <a:pt x="77153" y="242125"/>
                  </a:lnTo>
                  <a:lnTo>
                    <a:pt x="55721" y="203549"/>
                  </a:lnTo>
                  <a:lnTo>
                    <a:pt x="30004" y="233553"/>
                  </a:lnTo>
                  <a:lnTo>
                    <a:pt x="25718"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9CEAB"/>
            </a:solidFill>
            <a:ln w="4715">
              <a:solidFill>
                <a:srgbClr val="8D683E"/>
              </a:solidFill>
              <a:prstDash val="solid"/>
            </a:ln>
          </p:spPr>
          <p:txBody>
            <a:bodyPr/>
            <a:lstStyle/>
            <a:p>
              <a:endParaRPr sz="1200"/>
            </a:p>
          </p:txBody>
        </p:sp>
        <p:sp>
          <p:nvSpPr>
            <p:cNvPr id="398" name="s3-other-local-junglefowl__line_398">
              <a:extLst>
                <a:ext uri="{FF2B5EF4-FFF2-40B4-BE49-F238E27FC236}">
                  <a16:creationId xmlns:a16="http://schemas.microsoft.com/office/drawing/2014/main" id="{741270F7-3C9F-401B-9459-49AC9A7C6090}"/>
                </a:ext>
              </a:extLst>
            </p:cNvPr>
            <p:cNvSpPr>
              <a:spLocks/>
            </p:cNvSpPr>
            <p:nvPr/>
          </p:nvSpPr>
          <p:spPr>
            <a:xfrm>
              <a:off x="6800215" y="3999866"/>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99" name="s3-other-local-junglefowl__line_399">
              <a:extLst>
                <a:ext uri="{FF2B5EF4-FFF2-40B4-BE49-F238E27FC236}">
                  <a16:creationId xmlns:a16="http://schemas.microsoft.com/office/drawing/2014/main" id="{23CA40C6-6CB6-4052-9F11-C0170E284421}"/>
                </a:ext>
              </a:extLst>
            </p:cNvPr>
            <p:cNvSpPr>
              <a:spLocks/>
            </p:cNvSpPr>
            <p:nvPr/>
          </p:nvSpPr>
          <p:spPr>
            <a:xfrm>
              <a:off x="6823075" y="400272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400" name="s3-other-local-junglefowl__line_400">
              <a:extLst>
                <a:ext uri="{FF2B5EF4-FFF2-40B4-BE49-F238E27FC236}">
                  <a16:creationId xmlns:a16="http://schemas.microsoft.com/office/drawing/2014/main" id="{BCAFD1E8-4A5A-4FC3-B644-0E98B304D9AA}"/>
                </a:ext>
              </a:extLst>
            </p:cNvPr>
            <p:cNvSpPr>
              <a:spLocks/>
            </p:cNvSpPr>
            <p:nvPr/>
          </p:nvSpPr>
          <p:spPr>
            <a:xfrm>
              <a:off x="6843077" y="400272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401" name="s3-other-local-junglefowl__contour_401">
              <a:extLst>
                <a:ext uri="{FF2B5EF4-FFF2-40B4-BE49-F238E27FC236}">
                  <a16:creationId xmlns:a16="http://schemas.microsoft.com/office/drawing/2014/main" id="{C1C82E3C-02E1-48B7-922D-284D1D844F8E}"/>
                </a:ext>
              </a:extLst>
            </p:cNvPr>
            <p:cNvSpPr>
              <a:spLocks/>
            </p:cNvSpPr>
            <p:nvPr/>
          </p:nvSpPr>
          <p:spPr>
            <a:xfrm>
              <a:off x="6673983" y="406209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79"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827259"/>
            </a:solidFill>
            <a:ln w="7287">
              <a:solidFill>
                <a:srgbClr val="4A5147"/>
              </a:solidFill>
              <a:prstDash val="solid"/>
            </a:ln>
          </p:spPr>
          <p:txBody>
            <a:bodyPr/>
            <a:lstStyle/>
            <a:p>
              <a:endParaRPr sz="1200"/>
            </a:p>
          </p:txBody>
        </p:sp>
        <p:sp>
          <p:nvSpPr>
            <p:cNvPr id="402" name="s3-other-local-junglefowl__contour_402">
              <a:extLst>
                <a:ext uri="{FF2B5EF4-FFF2-40B4-BE49-F238E27FC236}">
                  <a16:creationId xmlns:a16="http://schemas.microsoft.com/office/drawing/2014/main" id="{0B48CE94-9C81-4D7B-BCFE-D58A9B0F97CA}"/>
                </a:ext>
              </a:extLst>
            </p:cNvPr>
            <p:cNvSpPr>
              <a:spLocks/>
            </p:cNvSpPr>
            <p:nvPr/>
          </p:nvSpPr>
          <p:spPr>
            <a:xfrm>
              <a:off x="6688773" y="408277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403" name="s3-other-local-junglefowl__contour_403">
              <a:extLst>
                <a:ext uri="{FF2B5EF4-FFF2-40B4-BE49-F238E27FC236}">
                  <a16:creationId xmlns:a16="http://schemas.microsoft.com/office/drawing/2014/main" id="{ECA5D631-6888-4AE8-920E-10F415537B0C}"/>
                </a:ext>
              </a:extLst>
            </p:cNvPr>
            <p:cNvSpPr>
              <a:spLocks/>
            </p:cNvSpPr>
            <p:nvPr/>
          </p:nvSpPr>
          <p:spPr>
            <a:xfrm>
              <a:off x="6812991" y="390805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5"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404" name="s3-other-local-junglefowl__contour_404">
              <a:extLst>
                <a:ext uri="{FF2B5EF4-FFF2-40B4-BE49-F238E27FC236}">
                  <a16:creationId xmlns:a16="http://schemas.microsoft.com/office/drawing/2014/main" id="{B62C85BA-191A-42AA-9046-12EC2E54493E}"/>
                </a:ext>
              </a:extLst>
            </p:cNvPr>
            <p:cNvSpPr>
              <a:spLocks/>
            </p:cNvSpPr>
            <p:nvPr/>
          </p:nvSpPr>
          <p:spPr>
            <a:xfrm>
              <a:off x="6880225" y="397986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405" name="s3-other-local-junglefowl__ellipse_405">
              <a:extLst>
                <a:ext uri="{FF2B5EF4-FFF2-40B4-BE49-F238E27FC236}">
                  <a16:creationId xmlns:a16="http://schemas.microsoft.com/office/drawing/2014/main" id="{B5C71002-5D6F-4B3F-A5EF-ADEF8DEEC384}"/>
                </a:ext>
              </a:extLst>
            </p:cNvPr>
            <p:cNvSpPr>
              <a:spLocks/>
            </p:cNvSpPr>
            <p:nvPr/>
          </p:nvSpPr>
          <p:spPr>
            <a:xfrm>
              <a:off x="6851650" y="4008438"/>
              <a:ext cx="22859" cy="40005"/>
            </a:xfrm>
            <a:prstGeom prst="ellipse">
              <a:avLst/>
            </a:prstGeom>
            <a:solidFill>
              <a:srgbClr val="B8493E"/>
            </a:solidFill>
            <a:ln w="4286">
              <a:solidFill>
                <a:srgbClr val="803B33"/>
              </a:solidFill>
              <a:prstDash val="solid"/>
            </a:ln>
          </p:spPr>
          <p:txBody>
            <a:bodyPr/>
            <a:lstStyle/>
            <a:p>
              <a:endParaRPr sz="1200"/>
            </a:p>
          </p:txBody>
        </p:sp>
        <p:sp>
          <p:nvSpPr>
            <p:cNvPr id="406" name="s3-other-local-junglefowl__ellipse_406">
              <a:extLst>
                <a:ext uri="{FF2B5EF4-FFF2-40B4-BE49-F238E27FC236}">
                  <a16:creationId xmlns:a16="http://schemas.microsoft.com/office/drawing/2014/main" id="{0C5EFB49-1157-412E-9D4C-5B3E8B517CB6}"/>
                </a:ext>
              </a:extLst>
            </p:cNvPr>
            <p:cNvSpPr>
              <a:spLocks/>
            </p:cNvSpPr>
            <p:nvPr/>
          </p:nvSpPr>
          <p:spPr>
            <a:xfrm>
              <a:off x="6857365" y="3979863"/>
              <a:ext cx="11429" cy="17145"/>
            </a:xfrm>
            <a:prstGeom prst="ellipse">
              <a:avLst/>
            </a:prstGeom>
            <a:solidFill>
              <a:srgbClr val="F2E7D1"/>
            </a:solidFill>
            <a:ln w="0">
              <a:noFill/>
              <a:prstDash val="solid"/>
            </a:ln>
          </p:spPr>
          <p:txBody>
            <a:bodyPr/>
            <a:lstStyle/>
            <a:p>
              <a:endParaRPr sz="1200"/>
            </a:p>
          </p:txBody>
        </p:sp>
        <p:sp>
          <p:nvSpPr>
            <p:cNvPr id="407" name="s3-other-local-junglefowl__ellipse_407">
              <a:extLst>
                <a:ext uri="{FF2B5EF4-FFF2-40B4-BE49-F238E27FC236}">
                  <a16:creationId xmlns:a16="http://schemas.microsoft.com/office/drawing/2014/main" id="{8D931F22-BCB0-4C1D-8777-1E0583E4F134}"/>
                </a:ext>
              </a:extLst>
            </p:cNvPr>
            <p:cNvSpPr>
              <a:spLocks/>
            </p:cNvSpPr>
            <p:nvPr/>
          </p:nvSpPr>
          <p:spPr>
            <a:xfrm>
              <a:off x="6865937" y="3965575"/>
              <a:ext cx="11429" cy="11430"/>
            </a:xfrm>
            <a:prstGeom prst="ellipse">
              <a:avLst/>
            </a:prstGeom>
            <a:solidFill>
              <a:srgbClr val="1F2B28"/>
            </a:solidFill>
            <a:ln w="0">
              <a:noFill/>
              <a:prstDash val="solid"/>
            </a:ln>
          </p:spPr>
          <p:txBody>
            <a:bodyPr/>
            <a:lstStyle/>
            <a:p>
              <a:endParaRPr sz="1200"/>
            </a:p>
          </p:txBody>
        </p:sp>
        <p:sp>
          <p:nvSpPr>
            <p:cNvPr id="408" name="s3-other-local-junglefowl__ellipse_408">
              <a:extLst>
                <a:ext uri="{FF2B5EF4-FFF2-40B4-BE49-F238E27FC236}">
                  <a16:creationId xmlns:a16="http://schemas.microsoft.com/office/drawing/2014/main" id="{C18E1A5F-F063-4A07-BDFD-792F033905BC}"/>
                </a:ext>
              </a:extLst>
            </p:cNvPr>
            <p:cNvSpPr>
              <a:spLocks/>
            </p:cNvSpPr>
            <p:nvPr/>
          </p:nvSpPr>
          <p:spPr>
            <a:xfrm>
              <a:off x="6868509" y="3966147"/>
              <a:ext cx="3143" cy="3143"/>
            </a:xfrm>
            <a:prstGeom prst="ellipse">
              <a:avLst/>
            </a:prstGeom>
            <a:solidFill>
              <a:srgbClr val="FFFFFF"/>
            </a:solidFill>
            <a:ln w="0">
              <a:noFill/>
              <a:prstDash val="solid"/>
            </a:ln>
          </p:spPr>
          <p:txBody>
            <a:bodyPr/>
            <a:lstStyle/>
            <a:p>
              <a:endParaRPr sz="1200"/>
            </a:p>
          </p:txBody>
        </p:sp>
        <p:sp>
          <p:nvSpPr>
            <p:cNvPr id="409" name="s3-local-ground__ellipse_409">
              <a:extLst>
                <a:ext uri="{FF2B5EF4-FFF2-40B4-BE49-F238E27FC236}">
                  <a16:creationId xmlns:a16="http://schemas.microsoft.com/office/drawing/2014/main" id="{ED92F8AD-64A5-4378-9364-4E2FBE0EC2EF}"/>
                </a:ext>
              </a:extLst>
            </p:cNvPr>
            <p:cNvSpPr>
              <a:spLocks/>
            </p:cNvSpPr>
            <p:nvPr/>
          </p:nvSpPr>
          <p:spPr>
            <a:xfrm>
              <a:off x="7683500" y="3829050"/>
              <a:ext cx="1206500" cy="330200"/>
            </a:xfrm>
            <a:prstGeom prst="ellipse">
              <a:avLst/>
            </a:prstGeom>
            <a:solidFill>
              <a:srgbClr val="E5EDF0"/>
            </a:solidFill>
            <a:ln w="0">
              <a:noFill/>
              <a:prstDash val="solid"/>
            </a:ln>
          </p:spPr>
          <p:txBody>
            <a:bodyPr/>
            <a:lstStyle/>
            <a:p>
              <a:endParaRPr sz="1200"/>
            </a:p>
          </p:txBody>
        </p:sp>
        <p:sp>
          <p:nvSpPr>
            <p:cNvPr id="410" name="s3-local-hen__ellipse_410">
              <a:extLst>
                <a:ext uri="{FF2B5EF4-FFF2-40B4-BE49-F238E27FC236}">
                  <a16:creationId xmlns:a16="http://schemas.microsoft.com/office/drawing/2014/main" id="{040E5B79-4BFF-41C3-90E5-F2280D22A1C5}"/>
                </a:ext>
              </a:extLst>
            </p:cNvPr>
            <p:cNvSpPr>
              <a:spLocks/>
            </p:cNvSpPr>
            <p:nvPr/>
          </p:nvSpPr>
          <p:spPr>
            <a:xfrm>
              <a:off x="7878445" y="4065270"/>
              <a:ext cx="404495" cy="40005"/>
            </a:xfrm>
            <a:prstGeom prst="ellipse">
              <a:avLst/>
            </a:prstGeom>
            <a:solidFill>
              <a:srgbClr val="DCE2D6">
                <a:alpha val="80000"/>
              </a:srgbClr>
            </a:solidFill>
            <a:ln w="0">
              <a:noFill/>
              <a:prstDash val="solid"/>
            </a:ln>
          </p:spPr>
          <p:txBody>
            <a:bodyPr/>
            <a:lstStyle/>
            <a:p>
              <a:endParaRPr sz="1200"/>
            </a:p>
          </p:txBody>
        </p:sp>
        <p:sp>
          <p:nvSpPr>
            <p:cNvPr id="411" name="s3-local-hen__contour_411">
              <a:extLst>
                <a:ext uri="{FF2B5EF4-FFF2-40B4-BE49-F238E27FC236}">
                  <a16:creationId xmlns:a16="http://schemas.microsoft.com/office/drawing/2014/main" id="{93C9A143-0CDC-4605-8EFB-D9BCDAB261DF}"/>
                </a:ext>
              </a:extLst>
            </p:cNvPr>
            <p:cNvSpPr>
              <a:spLocks/>
            </p:cNvSpPr>
            <p:nvPr/>
          </p:nvSpPr>
          <p:spPr>
            <a:xfrm>
              <a:off x="7753985" y="3700780"/>
              <a:ext cx="213360" cy="177800"/>
            </a:xfrm>
            <a:custGeom>
              <a:avLst/>
              <a:gdLst/>
              <a:ahLst/>
              <a:cxnLst/>
              <a:rect l="0" t="0" r="0" b="0"/>
              <a:pathLst>
                <a:path w="320040" h="266700">
                  <a:moveTo>
                    <a:pt x="300038" y="266700"/>
                  </a:moveTo>
                  <a:lnTo>
                    <a:pt x="277216" y="251108"/>
                  </a:lnTo>
                  <a:lnTo>
                    <a:pt x="254175" y="236172"/>
                  </a:lnTo>
                  <a:lnTo>
                    <a:pt x="231067" y="221685"/>
                  </a:lnTo>
                  <a:lnTo>
                    <a:pt x="208036" y="207397"/>
                  </a:lnTo>
                  <a:lnTo>
                    <a:pt x="185204" y="193110"/>
                  </a:lnTo>
                  <a:lnTo>
                    <a:pt x="162744" y="178584"/>
                  </a:lnTo>
                  <a:lnTo>
                    <a:pt x="140770" y="163592"/>
                  </a:lnTo>
                  <a:lnTo>
                    <a:pt x="119444" y="147914"/>
                  </a:lnTo>
                  <a:lnTo>
                    <a:pt x="98889" y="131321"/>
                  </a:lnTo>
                  <a:lnTo>
                    <a:pt x="79267" y="113595"/>
                  </a:lnTo>
                  <a:lnTo>
                    <a:pt x="60712" y="94507"/>
                  </a:lnTo>
                  <a:lnTo>
                    <a:pt x="43367" y="73819"/>
                  </a:lnTo>
                  <a:lnTo>
                    <a:pt x="27365" y="51330"/>
                  </a:lnTo>
                  <a:lnTo>
                    <a:pt x="12868" y="26794"/>
                  </a:lnTo>
                  <a:lnTo>
                    <a:pt x="0" y="0"/>
                  </a:lnTo>
                  <a:lnTo>
                    <a:pt x="15402" y="3162"/>
                  </a:lnTo>
                  <a:lnTo>
                    <a:pt x="29670" y="7182"/>
                  </a:lnTo>
                  <a:lnTo>
                    <a:pt x="42939" y="11840"/>
                  </a:lnTo>
                  <a:lnTo>
                    <a:pt x="55312" y="16926"/>
                  </a:lnTo>
                  <a:lnTo>
                    <a:pt x="66923" y="22222"/>
                  </a:lnTo>
                  <a:lnTo>
                    <a:pt x="77876" y="27527"/>
                  </a:lnTo>
                  <a:lnTo>
                    <a:pt x="88297" y="32604"/>
                  </a:lnTo>
                  <a:lnTo>
                    <a:pt x="98308" y="37271"/>
                  </a:lnTo>
                  <a:lnTo>
                    <a:pt x="108014" y="41281"/>
                  </a:lnTo>
                  <a:lnTo>
                    <a:pt x="117548" y="44453"/>
                  </a:lnTo>
                  <a:lnTo>
                    <a:pt x="127016" y="46549"/>
                  </a:lnTo>
                  <a:lnTo>
                    <a:pt x="136550" y="47368"/>
                  </a:lnTo>
                  <a:lnTo>
                    <a:pt x="146256" y="46692"/>
                  </a:lnTo>
                  <a:lnTo>
                    <a:pt x="156267" y="44310"/>
                  </a:lnTo>
                  <a:lnTo>
                    <a:pt x="166688" y="40005"/>
                  </a:lnTo>
                  <a:lnTo>
                    <a:pt x="260033" y="93345"/>
                  </a:lnTo>
                  <a:lnTo>
                    <a:pt x="320040" y="180023"/>
                  </a:lnTo>
                  <a:close/>
                </a:path>
              </a:pathLst>
            </a:custGeom>
            <a:solidFill>
              <a:srgbClr val="8F836B"/>
            </a:solidFill>
            <a:ln w="11335">
              <a:solidFill>
                <a:srgbClr val="4A5147"/>
              </a:solidFill>
              <a:prstDash val="solid"/>
            </a:ln>
          </p:spPr>
          <p:txBody>
            <a:bodyPr/>
            <a:lstStyle/>
            <a:p>
              <a:endParaRPr sz="1200"/>
            </a:p>
          </p:txBody>
        </p:sp>
        <p:sp>
          <p:nvSpPr>
            <p:cNvPr id="412" name="s3-local-hen__line_412">
              <a:extLst>
                <a:ext uri="{FF2B5EF4-FFF2-40B4-BE49-F238E27FC236}">
                  <a16:creationId xmlns:a16="http://schemas.microsoft.com/office/drawing/2014/main" id="{E2594796-4CD3-4ED5-A3D0-FBAE596EBE73}"/>
                </a:ext>
              </a:extLst>
            </p:cNvPr>
            <p:cNvSpPr>
              <a:spLocks/>
            </p:cNvSpPr>
            <p:nvPr/>
          </p:nvSpPr>
          <p:spPr>
            <a:xfrm>
              <a:off x="8051800" y="3985260"/>
              <a:ext cx="4445" cy="80010"/>
            </a:xfrm>
            <a:custGeom>
              <a:avLst/>
              <a:gdLst/>
              <a:ahLst/>
              <a:cxnLst/>
              <a:rect l="0" t="0" r="0" b="0"/>
              <a:pathLst>
                <a:path w="6668" h="120015">
                  <a:moveTo>
                    <a:pt x="0" y="0"/>
                  </a:moveTo>
                  <a:lnTo>
                    <a:pt x="6668" y="120015"/>
                  </a:lnTo>
                </a:path>
              </a:pathLst>
            </a:custGeom>
            <a:noFill/>
            <a:ln w="18669">
              <a:solidFill>
                <a:srgbClr val="B98E49"/>
              </a:solidFill>
              <a:prstDash val="solid"/>
            </a:ln>
          </p:spPr>
          <p:txBody>
            <a:bodyPr/>
            <a:lstStyle/>
            <a:p>
              <a:endParaRPr sz="1200"/>
            </a:p>
          </p:txBody>
        </p:sp>
        <p:sp>
          <p:nvSpPr>
            <p:cNvPr id="413" name="s3-local-hen__line_413">
              <a:extLst>
                <a:ext uri="{FF2B5EF4-FFF2-40B4-BE49-F238E27FC236}">
                  <a16:creationId xmlns:a16="http://schemas.microsoft.com/office/drawing/2014/main" id="{9833FEE6-A1DC-4393-A75C-36CBF5165E63}"/>
                </a:ext>
              </a:extLst>
            </p:cNvPr>
            <p:cNvSpPr>
              <a:spLocks/>
            </p:cNvSpPr>
            <p:nvPr/>
          </p:nvSpPr>
          <p:spPr>
            <a:xfrm>
              <a:off x="8011795" y="4060825"/>
              <a:ext cx="44450" cy="22225"/>
            </a:xfrm>
            <a:custGeom>
              <a:avLst/>
              <a:gdLst/>
              <a:ahLst/>
              <a:cxnLst/>
              <a:rect l="0" t="0" r="0" b="0"/>
              <a:pathLst>
                <a:path w="66675" h="33338">
                  <a:moveTo>
                    <a:pt x="66675" y="0"/>
                  </a:moveTo>
                  <a:lnTo>
                    <a:pt x="0" y="33338"/>
                  </a:lnTo>
                </a:path>
              </a:pathLst>
            </a:custGeom>
            <a:noFill/>
            <a:ln w="14669">
              <a:solidFill>
                <a:srgbClr val="B98E49"/>
              </a:solidFill>
              <a:prstDash val="solid"/>
            </a:ln>
          </p:spPr>
          <p:txBody>
            <a:bodyPr/>
            <a:lstStyle/>
            <a:p>
              <a:endParaRPr sz="1200"/>
            </a:p>
          </p:txBody>
        </p:sp>
        <p:sp>
          <p:nvSpPr>
            <p:cNvPr id="414" name="s3-local-hen__line_414">
              <a:extLst>
                <a:ext uri="{FF2B5EF4-FFF2-40B4-BE49-F238E27FC236}">
                  <a16:creationId xmlns:a16="http://schemas.microsoft.com/office/drawing/2014/main" id="{72B00865-B5CF-4850-BF06-831634684C8A}"/>
                </a:ext>
              </a:extLst>
            </p:cNvPr>
            <p:cNvSpPr>
              <a:spLocks/>
            </p:cNvSpPr>
            <p:nvPr/>
          </p:nvSpPr>
          <p:spPr>
            <a:xfrm>
              <a:off x="8056245" y="4060825"/>
              <a:ext cx="48895" cy="22225"/>
            </a:xfrm>
            <a:custGeom>
              <a:avLst/>
              <a:gdLst/>
              <a:ahLst/>
              <a:cxnLst/>
              <a:rect l="0" t="0" r="0" b="0"/>
              <a:pathLst>
                <a:path w="73343" h="33338">
                  <a:moveTo>
                    <a:pt x="0" y="0"/>
                  </a:moveTo>
                  <a:lnTo>
                    <a:pt x="73343" y="33338"/>
                  </a:lnTo>
                </a:path>
              </a:pathLst>
            </a:custGeom>
            <a:noFill/>
            <a:ln w="14669">
              <a:solidFill>
                <a:srgbClr val="B98E49"/>
              </a:solidFill>
              <a:prstDash val="solid"/>
            </a:ln>
          </p:spPr>
          <p:txBody>
            <a:bodyPr/>
            <a:lstStyle/>
            <a:p>
              <a:endParaRPr sz="1200"/>
            </a:p>
          </p:txBody>
        </p:sp>
        <p:sp>
          <p:nvSpPr>
            <p:cNvPr id="415" name="s3-local-hen__line_415">
              <a:extLst>
                <a:ext uri="{FF2B5EF4-FFF2-40B4-BE49-F238E27FC236}">
                  <a16:creationId xmlns:a16="http://schemas.microsoft.com/office/drawing/2014/main" id="{8D5666C4-2717-4F7B-BDDF-ADFCF85E008F}"/>
                </a:ext>
              </a:extLst>
            </p:cNvPr>
            <p:cNvSpPr>
              <a:spLocks/>
            </p:cNvSpPr>
            <p:nvPr/>
          </p:nvSpPr>
          <p:spPr>
            <a:xfrm>
              <a:off x="8149590" y="3989705"/>
              <a:ext cx="8890" cy="80010"/>
            </a:xfrm>
            <a:custGeom>
              <a:avLst/>
              <a:gdLst/>
              <a:ahLst/>
              <a:cxnLst/>
              <a:rect l="0" t="0" r="0" b="0"/>
              <a:pathLst>
                <a:path w="13335" h="120015">
                  <a:moveTo>
                    <a:pt x="0" y="0"/>
                  </a:moveTo>
                  <a:lnTo>
                    <a:pt x="13335" y="120015"/>
                  </a:lnTo>
                </a:path>
              </a:pathLst>
            </a:custGeom>
            <a:noFill/>
            <a:ln w="18669">
              <a:solidFill>
                <a:srgbClr val="B98E49"/>
              </a:solidFill>
              <a:prstDash val="solid"/>
            </a:ln>
          </p:spPr>
          <p:txBody>
            <a:bodyPr/>
            <a:lstStyle/>
            <a:p>
              <a:endParaRPr sz="1200"/>
            </a:p>
          </p:txBody>
        </p:sp>
        <p:sp>
          <p:nvSpPr>
            <p:cNvPr id="416" name="s3-local-hen__line_416">
              <a:extLst>
                <a:ext uri="{FF2B5EF4-FFF2-40B4-BE49-F238E27FC236}">
                  <a16:creationId xmlns:a16="http://schemas.microsoft.com/office/drawing/2014/main" id="{ADE86BD3-72F2-4C1A-9DE2-0A7FF618730F}"/>
                </a:ext>
              </a:extLst>
            </p:cNvPr>
            <p:cNvSpPr>
              <a:spLocks/>
            </p:cNvSpPr>
            <p:nvPr/>
          </p:nvSpPr>
          <p:spPr>
            <a:xfrm>
              <a:off x="8118475" y="4065270"/>
              <a:ext cx="40004" cy="17780"/>
            </a:xfrm>
            <a:custGeom>
              <a:avLst/>
              <a:gdLst/>
              <a:ahLst/>
              <a:cxnLst/>
              <a:rect l="0" t="0" r="0" b="0"/>
              <a:pathLst>
                <a:path w="60007" h="26670">
                  <a:moveTo>
                    <a:pt x="60007" y="0"/>
                  </a:moveTo>
                  <a:lnTo>
                    <a:pt x="0" y="26670"/>
                  </a:lnTo>
                </a:path>
              </a:pathLst>
            </a:custGeom>
            <a:noFill/>
            <a:ln w="14669">
              <a:solidFill>
                <a:srgbClr val="B98E49"/>
              </a:solidFill>
              <a:prstDash val="solid"/>
            </a:ln>
          </p:spPr>
          <p:txBody>
            <a:bodyPr/>
            <a:lstStyle/>
            <a:p>
              <a:endParaRPr sz="1200"/>
            </a:p>
          </p:txBody>
        </p:sp>
        <p:sp>
          <p:nvSpPr>
            <p:cNvPr id="417" name="s3-local-hen__line_417">
              <a:extLst>
                <a:ext uri="{FF2B5EF4-FFF2-40B4-BE49-F238E27FC236}">
                  <a16:creationId xmlns:a16="http://schemas.microsoft.com/office/drawing/2014/main" id="{22B20C82-38FD-4903-BC6E-18673696C773}"/>
                </a:ext>
              </a:extLst>
            </p:cNvPr>
            <p:cNvSpPr>
              <a:spLocks/>
            </p:cNvSpPr>
            <p:nvPr/>
          </p:nvSpPr>
          <p:spPr>
            <a:xfrm>
              <a:off x="8158480" y="4065270"/>
              <a:ext cx="44450" cy="17780"/>
            </a:xfrm>
            <a:custGeom>
              <a:avLst/>
              <a:gdLst/>
              <a:ahLst/>
              <a:cxnLst/>
              <a:rect l="0" t="0" r="0" b="0"/>
              <a:pathLst>
                <a:path w="66675" h="26670">
                  <a:moveTo>
                    <a:pt x="0" y="0"/>
                  </a:moveTo>
                  <a:lnTo>
                    <a:pt x="66675" y="26670"/>
                  </a:lnTo>
                </a:path>
              </a:pathLst>
            </a:custGeom>
            <a:noFill/>
            <a:ln w="14669">
              <a:solidFill>
                <a:srgbClr val="B98E49"/>
              </a:solidFill>
              <a:prstDash val="solid"/>
            </a:ln>
          </p:spPr>
          <p:txBody>
            <a:bodyPr/>
            <a:lstStyle/>
            <a:p>
              <a:endParaRPr sz="1200"/>
            </a:p>
          </p:txBody>
        </p:sp>
        <p:sp>
          <p:nvSpPr>
            <p:cNvPr id="418" name="s3-local-hen__contour_418">
              <a:extLst>
                <a:ext uri="{FF2B5EF4-FFF2-40B4-BE49-F238E27FC236}">
                  <a16:creationId xmlns:a16="http://schemas.microsoft.com/office/drawing/2014/main" id="{5CB38575-712A-4034-896E-C7757C96F068}"/>
                </a:ext>
              </a:extLst>
            </p:cNvPr>
            <p:cNvSpPr>
              <a:spLocks/>
            </p:cNvSpPr>
            <p:nvPr/>
          </p:nvSpPr>
          <p:spPr>
            <a:xfrm>
              <a:off x="7888471" y="3611804"/>
              <a:ext cx="383108" cy="386791"/>
            </a:xfrm>
            <a:custGeom>
              <a:avLst/>
              <a:gdLst/>
              <a:ahLst/>
              <a:cxnLst/>
              <a:rect l="0" t="0" r="0" b="0"/>
              <a:pathLst>
                <a:path w="574662" h="580187">
                  <a:moveTo>
                    <a:pt x="24965" y="280149"/>
                  </a:moveTo>
                  <a:lnTo>
                    <a:pt x="51273" y="264519"/>
                  </a:lnTo>
                  <a:lnTo>
                    <a:pt x="76867" y="251993"/>
                  </a:lnTo>
                  <a:lnTo>
                    <a:pt x="101717" y="242116"/>
                  </a:lnTo>
                  <a:lnTo>
                    <a:pt x="125825" y="234448"/>
                  </a:lnTo>
                  <a:lnTo>
                    <a:pt x="149181" y="228533"/>
                  </a:lnTo>
                  <a:lnTo>
                    <a:pt x="171755" y="223933"/>
                  </a:lnTo>
                  <a:lnTo>
                    <a:pt x="193558" y="220170"/>
                  </a:lnTo>
                  <a:lnTo>
                    <a:pt x="214551" y="216818"/>
                  </a:lnTo>
                  <a:lnTo>
                    <a:pt x="234753" y="213417"/>
                  </a:lnTo>
                  <a:lnTo>
                    <a:pt x="254127" y="209521"/>
                  </a:lnTo>
                  <a:lnTo>
                    <a:pt x="272682" y="204673"/>
                  </a:lnTo>
                  <a:lnTo>
                    <a:pt x="290389" y="198434"/>
                  </a:lnTo>
                  <a:lnTo>
                    <a:pt x="307238" y="190338"/>
                  </a:lnTo>
                  <a:lnTo>
                    <a:pt x="323231" y="179946"/>
                  </a:lnTo>
                  <a:lnTo>
                    <a:pt x="338338" y="166802"/>
                  </a:lnTo>
                  <a:lnTo>
                    <a:pt x="347348" y="149495"/>
                  </a:lnTo>
                  <a:lnTo>
                    <a:pt x="355806" y="132350"/>
                  </a:lnTo>
                  <a:lnTo>
                    <a:pt x="363884" y="115538"/>
                  </a:lnTo>
                  <a:lnTo>
                    <a:pt x="371761" y="99231"/>
                  </a:lnTo>
                  <a:lnTo>
                    <a:pt x="379581" y="83582"/>
                  </a:lnTo>
                  <a:lnTo>
                    <a:pt x="387515" y="68761"/>
                  </a:lnTo>
                  <a:lnTo>
                    <a:pt x="395745" y="54940"/>
                  </a:lnTo>
                  <a:lnTo>
                    <a:pt x="404412" y="42281"/>
                  </a:lnTo>
                  <a:lnTo>
                    <a:pt x="413709" y="30947"/>
                  </a:lnTo>
                  <a:lnTo>
                    <a:pt x="423777" y="21107"/>
                  </a:lnTo>
                  <a:lnTo>
                    <a:pt x="434797" y="12925"/>
                  </a:lnTo>
                  <a:lnTo>
                    <a:pt x="446942" y="6572"/>
                  </a:lnTo>
                  <a:lnTo>
                    <a:pt x="460353" y="2200"/>
                  </a:lnTo>
                  <a:lnTo>
                    <a:pt x="475212" y="0"/>
                  </a:lnTo>
                  <a:lnTo>
                    <a:pt x="491690" y="114"/>
                  </a:lnTo>
                  <a:lnTo>
                    <a:pt x="506978" y="1238"/>
                  </a:lnTo>
                  <a:lnTo>
                    <a:pt x="520798" y="4467"/>
                  </a:lnTo>
                  <a:lnTo>
                    <a:pt x="533133" y="9611"/>
                  </a:lnTo>
                  <a:lnTo>
                    <a:pt x="543944" y="16459"/>
                  </a:lnTo>
                  <a:lnTo>
                    <a:pt x="553183" y="24813"/>
                  </a:lnTo>
                  <a:lnTo>
                    <a:pt x="560822" y="34461"/>
                  </a:lnTo>
                  <a:lnTo>
                    <a:pt x="566823" y="45225"/>
                  </a:lnTo>
                  <a:lnTo>
                    <a:pt x="571157" y="56883"/>
                  </a:lnTo>
                  <a:lnTo>
                    <a:pt x="573776" y="69247"/>
                  </a:lnTo>
                  <a:lnTo>
                    <a:pt x="574662" y="82096"/>
                  </a:lnTo>
                  <a:lnTo>
                    <a:pt x="573767" y="95250"/>
                  </a:lnTo>
                  <a:lnTo>
                    <a:pt x="571062" y="108499"/>
                  </a:lnTo>
                  <a:lnTo>
                    <a:pt x="566499" y="121644"/>
                  </a:lnTo>
                  <a:lnTo>
                    <a:pt x="560060" y="134474"/>
                  </a:lnTo>
                  <a:lnTo>
                    <a:pt x="551698" y="146799"/>
                  </a:lnTo>
                  <a:lnTo>
                    <a:pt x="544306" y="156048"/>
                  </a:lnTo>
                  <a:lnTo>
                    <a:pt x="538105" y="165173"/>
                  </a:lnTo>
                  <a:lnTo>
                    <a:pt x="533029" y="174212"/>
                  </a:lnTo>
                  <a:lnTo>
                    <a:pt x="529018" y="183223"/>
                  </a:lnTo>
                  <a:lnTo>
                    <a:pt x="526018" y="192234"/>
                  </a:lnTo>
                  <a:lnTo>
                    <a:pt x="523961" y="201311"/>
                  </a:lnTo>
                  <a:lnTo>
                    <a:pt x="522799" y="210493"/>
                  </a:lnTo>
                  <a:lnTo>
                    <a:pt x="522456" y="219827"/>
                  </a:lnTo>
                  <a:lnTo>
                    <a:pt x="522894" y="229372"/>
                  </a:lnTo>
                  <a:lnTo>
                    <a:pt x="524037" y="239154"/>
                  </a:lnTo>
                  <a:lnTo>
                    <a:pt x="525837" y="249241"/>
                  </a:lnTo>
                  <a:lnTo>
                    <a:pt x="528228" y="259671"/>
                  </a:lnTo>
                  <a:lnTo>
                    <a:pt x="531152" y="270481"/>
                  </a:lnTo>
                  <a:lnTo>
                    <a:pt x="534553" y="281740"/>
                  </a:lnTo>
                  <a:lnTo>
                    <a:pt x="538363" y="293484"/>
                  </a:lnTo>
                  <a:lnTo>
                    <a:pt x="552650" y="327422"/>
                  </a:lnTo>
                  <a:lnTo>
                    <a:pt x="561080" y="359807"/>
                  </a:lnTo>
                  <a:lnTo>
                    <a:pt x="564023" y="390506"/>
                  </a:lnTo>
                  <a:lnTo>
                    <a:pt x="561842" y="419395"/>
                  </a:lnTo>
                  <a:lnTo>
                    <a:pt x="554907" y="446342"/>
                  </a:lnTo>
                  <a:lnTo>
                    <a:pt x="543592" y="471211"/>
                  </a:lnTo>
                  <a:lnTo>
                    <a:pt x="528257" y="493881"/>
                  </a:lnTo>
                  <a:lnTo>
                    <a:pt x="509264" y="514207"/>
                  </a:lnTo>
                  <a:lnTo>
                    <a:pt x="486994" y="532076"/>
                  </a:lnTo>
                  <a:lnTo>
                    <a:pt x="461810" y="547345"/>
                  </a:lnTo>
                  <a:lnTo>
                    <a:pt x="434073" y="559889"/>
                  </a:lnTo>
                  <a:lnTo>
                    <a:pt x="404155" y="569576"/>
                  </a:lnTo>
                  <a:lnTo>
                    <a:pt x="372427" y="576272"/>
                  </a:lnTo>
                  <a:lnTo>
                    <a:pt x="339252" y="579853"/>
                  </a:lnTo>
                  <a:lnTo>
                    <a:pt x="305000" y="580187"/>
                  </a:lnTo>
                  <a:lnTo>
                    <a:pt x="274796" y="579139"/>
                  </a:lnTo>
                  <a:lnTo>
                    <a:pt x="245593" y="576062"/>
                  </a:lnTo>
                  <a:lnTo>
                    <a:pt x="217522" y="571062"/>
                  </a:lnTo>
                  <a:lnTo>
                    <a:pt x="190690" y="564251"/>
                  </a:lnTo>
                  <a:lnTo>
                    <a:pt x="165230" y="555736"/>
                  </a:lnTo>
                  <a:lnTo>
                    <a:pt x="141246" y="545621"/>
                  </a:lnTo>
                  <a:lnTo>
                    <a:pt x="118862" y="534010"/>
                  </a:lnTo>
                  <a:lnTo>
                    <a:pt x="98203" y="521018"/>
                  </a:lnTo>
                  <a:lnTo>
                    <a:pt x="79372" y="506740"/>
                  </a:lnTo>
                  <a:lnTo>
                    <a:pt x="62503" y="491290"/>
                  </a:lnTo>
                  <a:lnTo>
                    <a:pt x="47701" y="474774"/>
                  </a:lnTo>
                  <a:lnTo>
                    <a:pt x="35100" y="457295"/>
                  </a:lnTo>
                  <a:lnTo>
                    <a:pt x="24803" y="438960"/>
                  </a:lnTo>
                  <a:lnTo>
                    <a:pt x="16945" y="419881"/>
                  </a:lnTo>
                  <a:lnTo>
                    <a:pt x="11630" y="400164"/>
                  </a:lnTo>
                  <a:lnTo>
                    <a:pt x="7982" y="390839"/>
                  </a:lnTo>
                  <a:lnTo>
                    <a:pt x="5039" y="381543"/>
                  </a:lnTo>
                  <a:lnTo>
                    <a:pt x="2772" y="372323"/>
                  </a:lnTo>
                  <a:lnTo>
                    <a:pt x="1191" y="363207"/>
                  </a:lnTo>
                  <a:lnTo>
                    <a:pt x="267" y="354235"/>
                  </a:lnTo>
                  <a:lnTo>
                    <a:pt x="0" y="345434"/>
                  </a:lnTo>
                  <a:lnTo>
                    <a:pt x="371" y="336852"/>
                  </a:lnTo>
                  <a:lnTo>
                    <a:pt x="1372" y="328527"/>
                  </a:lnTo>
                  <a:lnTo>
                    <a:pt x="2991" y="320478"/>
                  </a:lnTo>
                  <a:lnTo>
                    <a:pt x="5210" y="312744"/>
                  </a:lnTo>
                  <a:lnTo>
                    <a:pt x="8020" y="305371"/>
                  </a:lnTo>
                  <a:lnTo>
                    <a:pt x="11420" y="298390"/>
                  </a:lnTo>
                  <a:lnTo>
                    <a:pt x="15383" y="291836"/>
                  </a:lnTo>
                  <a:lnTo>
                    <a:pt x="19898" y="285740"/>
                  </a:lnTo>
                  <a:lnTo>
                    <a:pt x="24965" y="280149"/>
                  </a:lnTo>
                  <a:close/>
                </a:path>
              </a:pathLst>
            </a:custGeom>
            <a:solidFill>
              <a:srgbClr val="D8C4A3"/>
            </a:solidFill>
            <a:ln w="11335">
              <a:solidFill>
                <a:srgbClr val="4A5147"/>
              </a:solidFill>
              <a:prstDash val="solid"/>
            </a:ln>
          </p:spPr>
          <p:txBody>
            <a:bodyPr/>
            <a:lstStyle/>
            <a:p>
              <a:endParaRPr sz="1200"/>
            </a:p>
          </p:txBody>
        </p:sp>
        <p:sp>
          <p:nvSpPr>
            <p:cNvPr id="419" name="s3-local-hen__contour_419">
              <a:extLst>
                <a:ext uri="{FF2B5EF4-FFF2-40B4-BE49-F238E27FC236}">
                  <a16:creationId xmlns:a16="http://schemas.microsoft.com/office/drawing/2014/main" id="{CFF09BDC-5DBD-4B61-8CE7-80E7DD3B8177}"/>
                </a:ext>
              </a:extLst>
            </p:cNvPr>
            <p:cNvSpPr>
              <a:spLocks/>
            </p:cNvSpPr>
            <p:nvPr/>
          </p:nvSpPr>
          <p:spPr>
            <a:xfrm>
              <a:off x="8127365" y="3613620"/>
              <a:ext cx="135414" cy="229400"/>
            </a:xfrm>
            <a:custGeom>
              <a:avLst/>
              <a:gdLst/>
              <a:ahLst/>
              <a:cxnLst/>
              <a:rect l="0" t="0" r="0" b="0"/>
              <a:pathLst>
                <a:path w="203121" h="344100">
                  <a:moveTo>
                    <a:pt x="40005" y="104070"/>
                  </a:moveTo>
                  <a:lnTo>
                    <a:pt x="42205" y="88449"/>
                  </a:lnTo>
                  <a:lnTo>
                    <a:pt x="46025" y="73666"/>
                  </a:lnTo>
                  <a:lnTo>
                    <a:pt x="51311" y="59855"/>
                  </a:lnTo>
                  <a:lnTo>
                    <a:pt x="57922" y="47139"/>
                  </a:lnTo>
                  <a:lnTo>
                    <a:pt x="65684" y="35671"/>
                  </a:lnTo>
                  <a:lnTo>
                    <a:pt x="74466" y="25556"/>
                  </a:lnTo>
                  <a:lnTo>
                    <a:pt x="84096" y="16935"/>
                  </a:lnTo>
                  <a:lnTo>
                    <a:pt x="94421" y="9935"/>
                  </a:lnTo>
                  <a:lnTo>
                    <a:pt x="105289" y="4696"/>
                  </a:lnTo>
                  <a:lnTo>
                    <a:pt x="116557" y="1343"/>
                  </a:lnTo>
                  <a:lnTo>
                    <a:pt x="128064" y="0"/>
                  </a:lnTo>
                  <a:lnTo>
                    <a:pt x="139646" y="800"/>
                  </a:lnTo>
                  <a:lnTo>
                    <a:pt x="151162" y="3886"/>
                  </a:lnTo>
                  <a:lnTo>
                    <a:pt x="162449" y="9373"/>
                  </a:lnTo>
                  <a:lnTo>
                    <a:pt x="173355" y="17393"/>
                  </a:lnTo>
                  <a:lnTo>
                    <a:pt x="183975" y="28146"/>
                  </a:lnTo>
                  <a:lnTo>
                    <a:pt x="192005" y="39033"/>
                  </a:lnTo>
                  <a:lnTo>
                    <a:pt x="197682" y="50035"/>
                  </a:lnTo>
                  <a:lnTo>
                    <a:pt x="201254" y="61112"/>
                  </a:lnTo>
                  <a:lnTo>
                    <a:pt x="202987" y="72219"/>
                  </a:lnTo>
                  <a:lnTo>
                    <a:pt x="203121" y="83325"/>
                  </a:lnTo>
                  <a:lnTo>
                    <a:pt x="201901" y="94393"/>
                  </a:lnTo>
                  <a:lnTo>
                    <a:pt x="199577" y="105394"/>
                  </a:lnTo>
                  <a:lnTo>
                    <a:pt x="196396" y="116281"/>
                  </a:lnTo>
                  <a:lnTo>
                    <a:pt x="192615" y="127035"/>
                  </a:lnTo>
                  <a:lnTo>
                    <a:pt x="188481" y="137608"/>
                  </a:lnTo>
                  <a:lnTo>
                    <a:pt x="184233" y="147971"/>
                  </a:lnTo>
                  <a:lnTo>
                    <a:pt x="180137" y="158077"/>
                  </a:lnTo>
                  <a:lnTo>
                    <a:pt x="176422" y="167907"/>
                  </a:lnTo>
                  <a:lnTo>
                    <a:pt x="173355" y="177413"/>
                  </a:lnTo>
                  <a:lnTo>
                    <a:pt x="168545" y="187738"/>
                  </a:lnTo>
                  <a:lnTo>
                    <a:pt x="164706" y="197434"/>
                  </a:lnTo>
                  <a:lnTo>
                    <a:pt x="161782" y="206588"/>
                  </a:lnTo>
                  <a:lnTo>
                    <a:pt x="159668" y="215284"/>
                  </a:lnTo>
                  <a:lnTo>
                    <a:pt x="158296" y="223590"/>
                  </a:lnTo>
                  <a:lnTo>
                    <a:pt x="157563" y="231610"/>
                  </a:lnTo>
                  <a:lnTo>
                    <a:pt x="157410" y="239411"/>
                  </a:lnTo>
                  <a:lnTo>
                    <a:pt x="157744" y="247079"/>
                  </a:lnTo>
                  <a:lnTo>
                    <a:pt x="158477" y="254699"/>
                  </a:lnTo>
                  <a:lnTo>
                    <a:pt x="159525" y="262366"/>
                  </a:lnTo>
                  <a:lnTo>
                    <a:pt x="160820" y="270139"/>
                  </a:lnTo>
                  <a:lnTo>
                    <a:pt x="162258" y="278120"/>
                  </a:lnTo>
                  <a:lnTo>
                    <a:pt x="163773" y="286379"/>
                  </a:lnTo>
                  <a:lnTo>
                    <a:pt x="165278" y="295018"/>
                  </a:lnTo>
                  <a:lnTo>
                    <a:pt x="166688" y="304095"/>
                  </a:lnTo>
                  <a:lnTo>
                    <a:pt x="133350" y="344100"/>
                  </a:lnTo>
                  <a:lnTo>
                    <a:pt x="86677" y="297428"/>
                  </a:lnTo>
                  <a:lnTo>
                    <a:pt x="40005" y="317430"/>
                  </a:lnTo>
                  <a:lnTo>
                    <a:pt x="0" y="230753"/>
                  </a:lnTo>
                  <a:close/>
                </a:path>
              </a:pathLst>
            </a:custGeom>
            <a:solidFill>
              <a:srgbClr val="EADFC8"/>
            </a:solidFill>
            <a:ln w="11335">
              <a:noFill/>
              <a:prstDash val="solid"/>
            </a:ln>
          </p:spPr>
          <p:txBody>
            <a:bodyPr/>
            <a:lstStyle/>
            <a:p>
              <a:endParaRPr sz="1200"/>
            </a:p>
          </p:txBody>
        </p:sp>
        <p:sp>
          <p:nvSpPr>
            <p:cNvPr id="420" name="s3-local-hen__contour_420">
              <a:extLst>
                <a:ext uri="{FF2B5EF4-FFF2-40B4-BE49-F238E27FC236}">
                  <a16:creationId xmlns:a16="http://schemas.microsoft.com/office/drawing/2014/main" id="{B56F2F37-E641-47F8-9937-F2D2C5847F78}"/>
                </a:ext>
              </a:extLst>
            </p:cNvPr>
            <p:cNvSpPr>
              <a:spLocks/>
            </p:cNvSpPr>
            <p:nvPr/>
          </p:nvSpPr>
          <p:spPr>
            <a:xfrm>
              <a:off x="7926489" y="3795585"/>
              <a:ext cx="200876" cy="137788"/>
            </a:xfrm>
            <a:custGeom>
              <a:avLst/>
              <a:gdLst/>
              <a:ahLst/>
              <a:cxnLst/>
              <a:rect l="0" t="0" r="0" b="0"/>
              <a:pathLst>
                <a:path w="301314" h="206683">
                  <a:moveTo>
                    <a:pt x="7944" y="44482"/>
                  </a:moveTo>
                  <a:lnTo>
                    <a:pt x="27194" y="31051"/>
                  </a:lnTo>
                  <a:lnTo>
                    <a:pt x="47473" y="20079"/>
                  </a:lnTo>
                  <a:lnTo>
                    <a:pt x="68542" y="11516"/>
                  </a:lnTo>
                  <a:lnTo>
                    <a:pt x="90173" y="5344"/>
                  </a:lnTo>
                  <a:lnTo>
                    <a:pt x="112157" y="1514"/>
                  </a:lnTo>
                  <a:lnTo>
                    <a:pt x="134255" y="0"/>
                  </a:lnTo>
                  <a:lnTo>
                    <a:pt x="156248" y="752"/>
                  </a:lnTo>
                  <a:lnTo>
                    <a:pt x="177908" y="3753"/>
                  </a:lnTo>
                  <a:lnTo>
                    <a:pt x="199006" y="8953"/>
                  </a:lnTo>
                  <a:lnTo>
                    <a:pt x="219332" y="16326"/>
                  </a:lnTo>
                  <a:lnTo>
                    <a:pt x="238639" y="25832"/>
                  </a:lnTo>
                  <a:lnTo>
                    <a:pt x="256718" y="37443"/>
                  </a:lnTo>
                  <a:lnTo>
                    <a:pt x="273348" y="51111"/>
                  </a:lnTo>
                  <a:lnTo>
                    <a:pt x="288284" y="66799"/>
                  </a:lnTo>
                  <a:lnTo>
                    <a:pt x="301314" y="84487"/>
                  </a:lnTo>
                  <a:lnTo>
                    <a:pt x="296704" y="101279"/>
                  </a:lnTo>
                  <a:lnTo>
                    <a:pt x="290903" y="116977"/>
                  </a:lnTo>
                  <a:lnTo>
                    <a:pt x="283978" y="131531"/>
                  </a:lnTo>
                  <a:lnTo>
                    <a:pt x="275987" y="144913"/>
                  </a:lnTo>
                  <a:lnTo>
                    <a:pt x="266986" y="157086"/>
                  </a:lnTo>
                  <a:lnTo>
                    <a:pt x="257042" y="168021"/>
                  </a:lnTo>
                  <a:lnTo>
                    <a:pt x="246202" y="177670"/>
                  </a:lnTo>
                  <a:lnTo>
                    <a:pt x="234544" y="185995"/>
                  </a:lnTo>
                  <a:lnTo>
                    <a:pt x="222104" y="192976"/>
                  </a:lnTo>
                  <a:lnTo>
                    <a:pt x="208959" y="198577"/>
                  </a:lnTo>
                  <a:lnTo>
                    <a:pt x="195158" y="202749"/>
                  </a:lnTo>
                  <a:lnTo>
                    <a:pt x="180765" y="205464"/>
                  </a:lnTo>
                  <a:lnTo>
                    <a:pt x="165840" y="206683"/>
                  </a:lnTo>
                  <a:lnTo>
                    <a:pt x="150438" y="206378"/>
                  </a:lnTo>
                  <a:lnTo>
                    <a:pt x="134626" y="204502"/>
                  </a:lnTo>
                  <a:lnTo>
                    <a:pt x="117500" y="202463"/>
                  </a:lnTo>
                  <a:lnTo>
                    <a:pt x="100889" y="199034"/>
                  </a:lnTo>
                  <a:lnTo>
                    <a:pt x="84963" y="194262"/>
                  </a:lnTo>
                  <a:lnTo>
                    <a:pt x="69904" y="188166"/>
                  </a:lnTo>
                  <a:lnTo>
                    <a:pt x="55855" y="180794"/>
                  </a:lnTo>
                  <a:lnTo>
                    <a:pt x="42986" y="172174"/>
                  </a:lnTo>
                  <a:lnTo>
                    <a:pt x="31480" y="162354"/>
                  </a:lnTo>
                  <a:lnTo>
                    <a:pt x="21479" y="151352"/>
                  </a:lnTo>
                  <a:lnTo>
                    <a:pt x="13173" y="139217"/>
                  </a:lnTo>
                  <a:lnTo>
                    <a:pt x="6706" y="125978"/>
                  </a:lnTo>
                  <a:lnTo>
                    <a:pt x="2257" y="111671"/>
                  </a:lnTo>
                  <a:lnTo>
                    <a:pt x="0" y="96326"/>
                  </a:lnTo>
                  <a:lnTo>
                    <a:pt x="76" y="79991"/>
                  </a:lnTo>
                  <a:lnTo>
                    <a:pt x="2667" y="62703"/>
                  </a:lnTo>
                  <a:lnTo>
                    <a:pt x="7944" y="44482"/>
                  </a:lnTo>
                  <a:close/>
                </a:path>
              </a:pathLst>
            </a:custGeom>
            <a:solidFill>
              <a:srgbClr val="B99C76"/>
            </a:solidFill>
            <a:ln w="8001">
              <a:solidFill>
                <a:srgbClr val="4A5147"/>
              </a:solidFill>
              <a:prstDash val="solid"/>
            </a:ln>
          </p:spPr>
          <p:txBody>
            <a:bodyPr/>
            <a:lstStyle/>
            <a:p>
              <a:endParaRPr sz="1200"/>
            </a:p>
          </p:txBody>
        </p:sp>
        <p:sp>
          <p:nvSpPr>
            <p:cNvPr id="421" name="s3-local-hen__contour_421">
              <a:extLst>
                <a:ext uri="{FF2B5EF4-FFF2-40B4-BE49-F238E27FC236}">
                  <a16:creationId xmlns:a16="http://schemas.microsoft.com/office/drawing/2014/main" id="{6AF91531-2E0E-46DF-94E5-AA8014E3805E}"/>
                </a:ext>
              </a:extLst>
            </p:cNvPr>
            <p:cNvSpPr>
              <a:spLocks/>
            </p:cNvSpPr>
            <p:nvPr/>
          </p:nvSpPr>
          <p:spPr>
            <a:xfrm>
              <a:off x="7954010" y="3842404"/>
              <a:ext cx="142240" cy="40620"/>
            </a:xfrm>
            <a:custGeom>
              <a:avLst/>
              <a:gdLst/>
              <a:ahLst/>
              <a:cxnLst/>
              <a:rect l="0" t="0" r="0" b="0"/>
              <a:pathLst>
                <a:path w="213360" h="60931">
                  <a:moveTo>
                    <a:pt x="0" y="7591"/>
                  </a:moveTo>
                  <a:lnTo>
                    <a:pt x="16078" y="4124"/>
                  </a:lnTo>
                  <a:lnTo>
                    <a:pt x="32252" y="1705"/>
                  </a:lnTo>
                  <a:lnTo>
                    <a:pt x="48435" y="333"/>
                  </a:lnTo>
                  <a:lnTo>
                    <a:pt x="64541" y="0"/>
                  </a:lnTo>
                  <a:lnTo>
                    <a:pt x="80505" y="676"/>
                  </a:lnTo>
                  <a:lnTo>
                    <a:pt x="96222" y="2362"/>
                  </a:lnTo>
                  <a:lnTo>
                    <a:pt x="111623" y="5048"/>
                  </a:lnTo>
                  <a:lnTo>
                    <a:pt x="126625" y="8715"/>
                  </a:lnTo>
                  <a:lnTo>
                    <a:pt x="141141" y="13354"/>
                  </a:lnTo>
                  <a:lnTo>
                    <a:pt x="155077" y="18955"/>
                  </a:lnTo>
                  <a:lnTo>
                    <a:pt x="168373" y="25498"/>
                  </a:lnTo>
                  <a:lnTo>
                    <a:pt x="180927" y="32985"/>
                  </a:lnTo>
                  <a:lnTo>
                    <a:pt x="192672" y="41386"/>
                  </a:lnTo>
                  <a:lnTo>
                    <a:pt x="203502" y="50711"/>
                  </a:lnTo>
                  <a:lnTo>
                    <a:pt x="213360" y="60931"/>
                  </a:lnTo>
                </a:path>
              </a:pathLst>
            </a:custGeom>
            <a:noFill/>
            <a:ln w="8668">
              <a:solidFill>
                <a:srgbClr val="CBA16F"/>
              </a:solidFill>
              <a:prstDash val="solid"/>
            </a:ln>
          </p:spPr>
          <p:txBody>
            <a:bodyPr/>
            <a:lstStyle/>
            <a:p>
              <a:endParaRPr sz="1200"/>
            </a:p>
          </p:txBody>
        </p:sp>
        <p:sp>
          <p:nvSpPr>
            <p:cNvPr id="422" name="s3-local-hen__contour_422">
              <a:extLst>
                <a:ext uri="{FF2B5EF4-FFF2-40B4-BE49-F238E27FC236}">
                  <a16:creationId xmlns:a16="http://schemas.microsoft.com/office/drawing/2014/main" id="{72B795A6-FCCF-4478-A788-0332BECE9F2B}"/>
                </a:ext>
              </a:extLst>
            </p:cNvPr>
            <p:cNvSpPr>
              <a:spLocks/>
            </p:cNvSpPr>
            <p:nvPr/>
          </p:nvSpPr>
          <p:spPr>
            <a:xfrm>
              <a:off x="8165890" y="3578631"/>
              <a:ext cx="90544" cy="55473"/>
            </a:xfrm>
            <a:custGeom>
              <a:avLst/>
              <a:gdLst/>
              <a:ahLst/>
              <a:cxnLst/>
              <a:rect l="0" t="0" r="0" b="0"/>
              <a:pathLst>
                <a:path w="135817" h="83210">
                  <a:moveTo>
                    <a:pt x="15554" y="63208"/>
                  </a:moveTo>
                  <a:lnTo>
                    <a:pt x="9668" y="59131"/>
                  </a:lnTo>
                  <a:lnTo>
                    <a:pt x="5277" y="54959"/>
                  </a:lnTo>
                  <a:lnTo>
                    <a:pt x="2276" y="50778"/>
                  </a:lnTo>
                  <a:lnTo>
                    <a:pt x="552" y="46673"/>
                  </a:lnTo>
                  <a:lnTo>
                    <a:pt x="0" y="42710"/>
                  </a:lnTo>
                  <a:lnTo>
                    <a:pt x="514" y="38995"/>
                  </a:lnTo>
                  <a:lnTo>
                    <a:pt x="1991" y="35595"/>
                  </a:lnTo>
                  <a:lnTo>
                    <a:pt x="4315" y="32595"/>
                  </a:lnTo>
                  <a:lnTo>
                    <a:pt x="7391" y="30080"/>
                  </a:lnTo>
                  <a:lnTo>
                    <a:pt x="11106" y="28146"/>
                  </a:lnTo>
                  <a:lnTo>
                    <a:pt x="15354" y="26851"/>
                  </a:lnTo>
                  <a:lnTo>
                    <a:pt x="20031" y="26299"/>
                  </a:lnTo>
                  <a:lnTo>
                    <a:pt x="25032" y="26556"/>
                  </a:lnTo>
                  <a:lnTo>
                    <a:pt x="30242" y="27727"/>
                  </a:lnTo>
                  <a:lnTo>
                    <a:pt x="35557" y="29870"/>
                  </a:lnTo>
                  <a:lnTo>
                    <a:pt x="34823" y="22403"/>
                  </a:lnTo>
                  <a:lnTo>
                    <a:pt x="35204" y="16002"/>
                  </a:lnTo>
                  <a:lnTo>
                    <a:pt x="36566" y="10668"/>
                  </a:lnTo>
                  <a:lnTo>
                    <a:pt x="38786" y="6401"/>
                  </a:lnTo>
                  <a:lnTo>
                    <a:pt x="41729" y="3200"/>
                  </a:lnTo>
                  <a:lnTo>
                    <a:pt x="45263" y="1067"/>
                  </a:lnTo>
                  <a:lnTo>
                    <a:pt x="49263" y="0"/>
                  </a:lnTo>
                  <a:lnTo>
                    <a:pt x="53588" y="0"/>
                  </a:lnTo>
                  <a:lnTo>
                    <a:pt x="58122" y="1067"/>
                  </a:lnTo>
                  <a:lnTo>
                    <a:pt x="62722" y="3200"/>
                  </a:lnTo>
                  <a:lnTo>
                    <a:pt x="67266" y="6401"/>
                  </a:lnTo>
                  <a:lnTo>
                    <a:pt x="71618" y="10668"/>
                  </a:lnTo>
                  <a:lnTo>
                    <a:pt x="75648" y="16002"/>
                  </a:lnTo>
                  <a:lnTo>
                    <a:pt x="79229" y="22403"/>
                  </a:lnTo>
                  <a:lnTo>
                    <a:pt x="82229" y="29870"/>
                  </a:lnTo>
                  <a:lnTo>
                    <a:pt x="90126" y="23993"/>
                  </a:lnTo>
                  <a:lnTo>
                    <a:pt x="97736" y="19622"/>
                  </a:lnTo>
                  <a:lnTo>
                    <a:pt x="104956" y="16697"/>
                  </a:lnTo>
                  <a:lnTo>
                    <a:pt x="111671" y="15116"/>
                  </a:lnTo>
                  <a:lnTo>
                    <a:pt x="117786" y="14811"/>
                  </a:lnTo>
                  <a:lnTo>
                    <a:pt x="123196" y="15678"/>
                  </a:lnTo>
                  <a:lnTo>
                    <a:pt x="127778" y="17659"/>
                  </a:lnTo>
                  <a:lnTo>
                    <a:pt x="131445" y="20660"/>
                  </a:lnTo>
                  <a:lnTo>
                    <a:pt x="134074" y="24594"/>
                  </a:lnTo>
                  <a:lnTo>
                    <a:pt x="135569" y="29375"/>
                  </a:lnTo>
                  <a:lnTo>
                    <a:pt x="135817" y="34938"/>
                  </a:lnTo>
                  <a:lnTo>
                    <a:pt x="134712" y="41177"/>
                  </a:lnTo>
                  <a:lnTo>
                    <a:pt x="132159" y="48025"/>
                  </a:lnTo>
                  <a:lnTo>
                    <a:pt x="128035" y="55397"/>
                  </a:lnTo>
                  <a:lnTo>
                    <a:pt x="122234" y="63208"/>
                  </a:lnTo>
                  <a:lnTo>
                    <a:pt x="75562" y="83210"/>
                  </a:lnTo>
                  <a:close/>
                </a:path>
              </a:pathLst>
            </a:custGeom>
            <a:solidFill>
              <a:srgbClr val="B8493E"/>
            </a:solidFill>
            <a:ln w="7334">
              <a:solidFill>
                <a:srgbClr val="803B33"/>
              </a:solidFill>
              <a:prstDash val="solid"/>
            </a:ln>
          </p:spPr>
          <p:txBody>
            <a:bodyPr/>
            <a:lstStyle/>
            <a:p>
              <a:endParaRPr sz="1200"/>
            </a:p>
          </p:txBody>
        </p:sp>
        <p:sp>
          <p:nvSpPr>
            <p:cNvPr id="423" name="s3-local-hen__contour_423">
              <a:extLst>
                <a:ext uri="{FF2B5EF4-FFF2-40B4-BE49-F238E27FC236}">
                  <a16:creationId xmlns:a16="http://schemas.microsoft.com/office/drawing/2014/main" id="{CCFFA856-82AB-4AAF-9F1E-8E4FDC01DF38}"/>
                </a:ext>
              </a:extLst>
            </p:cNvPr>
            <p:cNvSpPr>
              <a:spLocks/>
            </p:cNvSpPr>
            <p:nvPr/>
          </p:nvSpPr>
          <p:spPr>
            <a:xfrm>
              <a:off x="8269605" y="3660775"/>
              <a:ext cx="53340" cy="35560"/>
            </a:xfrm>
            <a:custGeom>
              <a:avLst/>
              <a:gdLst/>
              <a:ahLst/>
              <a:cxnLst/>
              <a:rect l="0" t="0" r="0" b="0"/>
              <a:pathLst>
                <a:path w="80010" h="53340">
                  <a:moveTo>
                    <a:pt x="0" y="0"/>
                  </a:moveTo>
                  <a:lnTo>
                    <a:pt x="80010" y="33338"/>
                  </a:lnTo>
                  <a:lnTo>
                    <a:pt x="6668" y="53340"/>
                  </a:lnTo>
                  <a:close/>
                </a:path>
              </a:pathLst>
            </a:custGeom>
            <a:solidFill>
              <a:srgbClr val="D3AA5C"/>
            </a:solidFill>
            <a:ln w="6668">
              <a:solidFill>
                <a:srgbClr val="8D7239"/>
              </a:solidFill>
              <a:prstDash val="solid"/>
            </a:ln>
          </p:spPr>
          <p:txBody>
            <a:bodyPr/>
            <a:lstStyle/>
            <a:p>
              <a:endParaRPr sz="1200"/>
            </a:p>
          </p:txBody>
        </p:sp>
        <p:sp>
          <p:nvSpPr>
            <p:cNvPr id="424" name="s3-local-hen__ellipse_424">
              <a:extLst>
                <a:ext uri="{FF2B5EF4-FFF2-40B4-BE49-F238E27FC236}">
                  <a16:creationId xmlns:a16="http://schemas.microsoft.com/office/drawing/2014/main" id="{D2389884-4AF1-429C-B96A-BB1657E643FB}"/>
                </a:ext>
              </a:extLst>
            </p:cNvPr>
            <p:cNvSpPr>
              <a:spLocks/>
            </p:cNvSpPr>
            <p:nvPr/>
          </p:nvSpPr>
          <p:spPr>
            <a:xfrm>
              <a:off x="8234045" y="3705225"/>
              <a:ext cx="31114" cy="48895"/>
            </a:xfrm>
            <a:prstGeom prst="ellipse">
              <a:avLst/>
            </a:prstGeom>
            <a:solidFill>
              <a:srgbClr val="B8493E"/>
            </a:solidFill>
            <a:ln w="5334">
              <a:solidFill>
                <a:srgbClr val="803B33"/>
              </a:solidFill>
              <a:prstDash val="solid"/>
            </a:ln>
          </p:spPr>
          <p:txBody>
            <a:bodyPr/>
            <a:lstStyle/>
            <a:p>
              <a:endParaRPr sz="1200"/>
            </a:p>
          </p:txBody>
        </p:sp>
        <p:sp>
          <p:nvSpPr>
            <p:cNvPr id="425" name="s3-local-hen__ellipse_425">
              <a:extLst>
                <a:ext uri="{FF2B5EF4-FFF2-40B4-BE49-F238E27FC236}">
                  <a16:creationId xmlns:a16="http://schemas.microsoft.com/office/drawing/2014/main" id="{E415D703-3046-4114-877A-F836603A7AD3}"/>
                </a:ext>
              </a:extLst>
            </p:cNvPr>
            <p:cNvSpPr>
              <a:spLocks/>
            </p:cNvSpPr>
            <p:nvPr/>
          </p:nvSpPr>
          <p:spPr>
            <a:xfrm>
              <a:off x="8245157" y="3645217"/>
              <a:ext cx="15113" cy="15113"/>
            </a:xfrm>
            <a:prstGeom prst="ellipse">
              <a:avLst/>
            </a:prstGeom>
            <a:solidFill>
              <a:srgbClr val="1F2B28"/>
            </a:solidFill>
            <a:ln w="0">
              <a:noFill/>
              <a:prstDash val="solid"/>
            </a:ln>
          </p:spPr>
          <p:txBody>
            <a:bodyPr/>
            <a:lstStyle/>
            <a:p>
              <a:endParaRPr sz="1200"/>
            </a:p>
          </p:txBody>
        </p:sp>
        <p:sp>
          <p:nvSpPr>
            <p:cNvPr id="426" name="s3-local-hen__ellipse_426">
              <a:extLst>
                <a:ext uri="{FF2B5EF4-FFF2-40B4-BE49-F238E27FC236}">
                  <a16:creationId xmlns:a16="http://schemas.microsoft.com/office/drawing/2014/main" id="{7E342EFE-9DC5-4F38-BB17-9002D7C797BC}"/>
                </a:ext>
              </a:extLst>
            </p:cNvPr>
            <p:cNvSpPr>
              <a:spLocks/>
            </p:cNvSpPr>
            <p:nvPr/>
          </p:nvSpPr>
          <p:spPr>
            <a:xfrm>
              <a:off x="8247380" y="3645662"/>
              <a:ext cx="4000" cy="4000"/>
            </a:xfrm>
            <a:prstGeom prst="ellipse">
              <a:avLst/>
            </a:prstGeom>
            <a:solidFill>
              <a:srgbClr val="FFFFFF"/>
            </a:solidFill>
            <a:ln w="0">
              <a:noFill/>
              <a:prstDash val="solid"/>
            </a:ln>
          </p:spPr>
          <p:txBody>
            <a:bodyPr/>
            <a:lstStyle/>
            <a:p>
              <a:endParaRPr sz="1200"/>
            </a:p>
          </p:txBody>
        </p:sp>
        <p:sp>
          <p:nvSpPr>
            <p:cNvPr id="427" name="s3-local-rooster__ellipse_427">
              <a:extLst>
                <a:ext uri="{FF2B5EF4-FFF2-40B4-BE49-F238E27FC236}">
                  <a16:creationId xmlns:a16="http://schemas.microsoft.com/office/drawing/2014/main" id="{7DF70A5E-4BA9-4181-98A7-46E75987AC9D}"/>
                </a:ext>
              </a:extLst>
            </p:cNvPr>
            <p:cNvSpPr>
              <a:spLocks/>
            </p:cNvSpPr>
            <p:nvPr/>
          </p:nvSpPr>
          <p:spPr>
            <a:xfrm>
              <a:off x="8425180" y="3999230"/>
              <a:ext cx="342899" cy="34289"/>
            </a:xfrm>
            <a:prstGeom prst="ellipse">
              <a:avLst/>
            </a:prstGeom>
            <a:solidFill>
              <a:srgbClr val="DCE2D6">
                <a:alpha val="80000"/>
              </a:srgbClr>
            </a:solidFill>
            <a:ln w="0">
              <a:noFill/>
              <a:prstDash val="solid"/>
            </a:ln>
          </p:spPr>
          <p:txBody>
            <a:bodyPr/>
            <a:lstStyle/>
            <a:p>
              <a:endParaRPr sz="1200"/>
            </a:p>
          </p:txBody>
        </p:sp>
        <p:sp>
          <p:nvSpPr>
            <p:cNvPr id="428" name="s3-local-rooster__contour_428">
              <a:extLst>
                <a:ext uri="{FF2B5EF4-FFF2-40B4-BE49-F238E27FC236}">
                  <a16:creationId xmlns:a16="http://schemas.microsoft.com/office/drawing/2014/main" id="{60E5D61A-6BCE-4FC7-AF88-364E4A997435}"/>
                </a:ext>
              </a:extLst>
            </p:cNvPr>
            <p:cNvSpPr>
              <a:spLocks/>
            </p:cNvSpPr>
            <p:nvPr/>
          </p:nvSpPr>
          <p:spPr>
            <a:xfrm>
              <a:off x="8645272" y="3549199"/>
              <a:ext cx="282307" cy="278580"/>
            </a:xfrm>
            <a:custGeom>
              <a:avLst/>
              <a:gdLst/>
              <a:ahLst/>
              <a:cxnLst/>
              <a:rect l="0" t="0" r="0" b="0"/>
              <a:pathLst>
                <a:path w="423462" h="417871">
                  <a:moveTo>
                    <a:pt x="35624" y="417871"/>
                  </a:moveTo>
                  <a:lnTo>
                    <a:pt x="62303" y="407689"/>
                  </a:lnTo>
                  <a:lnTo>
                    <a:pt x="87535" y="395516"/>
                  </a:lnTo>
                  <a:lnTo>
                    <a:pt x="111385" y="381524"/>
                  </a:lnTo>
                  <a:lnTo>
                    <a:pt x="133921" y="365855"/>
                  </a:lnTo>
                  <a:lnTo>
                    <a:pt x="155219" y="348653"/>
                  </a:lnTo>
                  <a:lnTo>
                    <a:pt x="175346" y="330089"/>
                  </a:lnTo>
                  <a:lnTo>
                    <a:pt x="194377" y="310305"/>
                  </a:lnTo>
                  <a:lnTo>
                    <a:pt x="212379" y="289446"/>
                  </a:lnTo>
                  <a:lnTo>
                    <a:pt x="229429" y="267681"/>
                  </a:lnTo>
                  <a:lnTo>
                    <a:pt x="245593" y="245154"/>
                  </a:lnTo>
                  <a:lnTo>
                    <a:pt x="260947" y="222009"/>
                  </a:lnTo>
                  <a:lnTo>
                    <a:pt x="275558" y="198415"/>
                  </a:lnTo>
                  <a:lnTo>
                    <a:pt x="289503" y="174517"/>
                  </a:lnTo>
                  <a:lnTo>
                    <a:pt x="302847" y="150457"/>
                  </a:lnTo>
                  <a:lnTo>
                    <a:pt x="315658" y="126406"/>
                  </a:lnTo>
                  <a:lnTo>
                    <a:pt x="326774" y="119396"/>
                  </a:lnTo>
                  <a:lnTo>
                    <a:pt x="337242" y="114338"/>
                  </a:lnTo>
                  <a:lnTo>
                    <a:pt x="347024" y="111223"/>
                  </a:lnTo>
                  <a:lnTo>
                    <a:pt x="356064" y="110033"/>
                  </a:lnTo>
                  <a:lnTo>
                    <a:pt x="364341" y="110747"/>
                  </a:lnTo>
                  <a:lnTo>
                    <a:pt x="371799" y="113328"/>
                  </a:lnTo>
                  <a:lnTo>
                    <a:pt x="378409" y="117777"/>
                  </a:lnTo>
                  <a:lnTo>
                    <a:pt x="384124" y="124063"/>
                  </a:lnTo>
                  <a:lnTo>
                    <a:pt x="388906" y="132169"/>
                  </a:lnTo>
                  <a:lnTo>
                    <a:pt x="392706" y="142065"/>
                  </a:lnTo>
                  <a:lnTo>
                    <a:pt x="395497" y="153753"/>
                  </a:lnTo>
                  <a:lnTo>
                    <a:pt x="397221" y="167192"/>
                  </a:lnTo>
                  <a:lnTo>
                    <a:pt x="397859" y="182366"/>
                  </a:lnTo>
                  <a:lnTo>
                    <a:pt x="397354" y="199253"/>
                  </a:lnTo>
                  <a:lnTo>
                    <a:pt x="395668" y="217846"/>
                  </a:lnTo>
                  <a:lnTo>
                    <a:pt x="404051" y="209045"/>
                  </a:lnTo>
                  <a:lnTo>
                    <a:pt x="410918" y="198777"/>
                  </a:lnTo>
                  <a:lnTo>
                    <a:pt x="416290" y="187262"/>
                  </a:lnTo>
                  <a:lnTo>
                    <a:pt x="420157" y="174708"/>
                  </a:lnTo>
                  <a:lnTo>
                    <a:pt x="422548" y="161334"/>
                  </a:lnTo>
                  <a:lnTo>
                    <a:pt x="423462" y="147342"/>
                  </a:lnTo>
                  <a:lnTo>
                    <a:pt x="422920" y="132969"/>
                  </a:lnTo>
                  <a:lnTo>
                    <a:pt x="420919" y="118396"/>
                  </a:lnTo>
                  <a:lnTo>
                    <a:pt x="417481" y="103870"/>
                  </a:lnTo>
                  <a:lnTo>
                    <a:pt x="412604" y="89573"/>
                  </a:lnTo>
                  <a:lnTo>
                    <a:pt x="406308" y="75743"/>
                  </a:lnTo>
                  <a:lnTo>
                    <a:pt x="398593" y="62579"/>
                  </a:lnTo>
                  <a:lnTo>
                    <a:pt x="389487" y="50302"/>
                  </a:lnTo>
                  <a:lnTo>
                    <a:pt x="378981" y="39119"/>
                  </a:lnTo>
                  <a:lnTo>
                    <a:pt x="367093" y="29251"/>
                  </a:lnTo>
                  <a:lnTo>
                    <a:pt x="341043" y="15564"/>
                  </a:lnTo>
                  <a:lnTo>
                    <a:pt x="315497" y="6315"/>
                  </a:lnTo>
                  <a:lnTo>
                    <a:pt x="290513" y="1229"/>
                  </a:lnTo>
                  <a:lnTo>
                    <a:pt x="266138" y="0"/>
                  </a:lnTo>
                  <a:lnTo>
                    <a:pt x="242421" y="2372"/>
                  </a:lnTo>
                  <a:lnTo>
                    <a:pt x="219418" y="8039"/>
                  </a:lnTo>
                  <a:lnTo>
                    <a:pt x="197177" y="16726"/>
                  </a:lnTo>
                  <a:lnTo>
                    <a:pt x="175746" y="28137"/>
                  </a:lnTo>
                  <a:lnTo>
                    <a:pt x="155181" y="42005"/>
                  </a:lnTo>
                  <a:lnTo>
                    <a:pt x="135531" y="58036"/>
                  </a:lnTo>
                  <a:lnTo>
                    <a:pt x="116843" y="75952"/>
                  </a:lnTo>
                  <a:lnTo>
                    <a:pt x="99174" y="95450"/>
                  </a:lnTo>
                  <a:lnTo>
                    <a:pt x="82572" y="116272"/>
                  </a:lnTo>
                  <a:lnTo>
                    <a:pt x="67085" y="138113"/>
                  </a:lnTo>
                  <a:lnTo>
                    <a:pt x="52768" y="160696"/>
                  </a:lnTo>
                  <a:lnTo>
                    <a:pt x="44072" y="176622"/>
                  </a:lnTo>
                  <a:lnTo>
                    <a:pt x="36271" y="192405"/>
                  </a:lnTo>
                  <a:lnTo>
                    <a:pt x="29318" y="208064"/>
                  </a:lnTo>
                  <a:lnTo>
                    <a:pt x="23184" y="223590"/>
                  </a:lnTo>
                  <a:lnTo>
                    <a:pt x="17840" y="239011"/>
                  </a:lnTo>
                  <a:lnTo>
                    <a:pt x="13268" y="254327"/>
                  </a:lnTo>
                  <a:lnTo>
                    <a:pt x="9420" y="269558"/>
                  </a:lnTo>
                  <a:lnTo>
                    <a:pt x="6277" y="284702"/>
                  </a:lnTo>
                  <a:lnTo>
                    <a:pt x="3800" y="299780"/>
                  </a:lnTo>
                  <a:lnTo>
                    <a:pt x="1972" y="314792"/>
                  </a:lnTo>
                  <a:lnTo>
                    <a:pt x="743" y="329756"/>
                  </a:lnTo>
                  <a:lnTo>
                    <a:pt x="95" y="344672"/>
                  </a:lnTo>
                  <a:lnTo>
                    <a:pt x="0" y="359569"/>
                  </a:lnTo>
                  <a:lnTo>
                    <a:pt x="429" y="374437"/>
                  </a:lnTo>
                  <a:lnTo>
                    <a:pt x="1333" y="389296"/>
                  </a:lnTo>
                  <a:close/>
                </a:path>
              </a:pathLst>
            </a:custGeom>
            <a:solidFill>
              <a:srgbClr val="49685B"/>
            </a:solidFill>
            <a:ln w="9716">
              <a:solidFill>
                <a:srgbClr val="4A5147"/>
              </a:solidFill>
              <a:prstDash val="solid"/>
            </a:ln>
          </p:spPr>
          <p:txBody>
            <a:bodyPr/>
            <a:lstStyle/>
            <a:p>
              <a:endParaRPr sz="1200"/>
            </a:p>
          </p:txBody>
        </p:sp>
        <p:sp>
          <p:nvSpPr>
            <p:cNvPr id="429" name="s3-local-rooster__contour_429">
              <a:extLst>
                <a:ext uri="{FF2B5EF4-FFF2-40B4-BE49-F238E27FC236}">
                  <a16:creationId xmlns:a16="http://schemas.microsoft.com/office/drawing/2014/main" id="{FFCDA9A7-AE3E-4389-92DB-4192F1F91A2B}"/>
                </a:ext>
              </a:extLst>
            </p:cNvPr>
            <p:cNvSpPr>
              <a:spLocks/>
            </p:cNvSpPr>
            <p:nvPr/>
          </p:nvSpPr>
          <p:spPr>
            <a:xfrm>
              <a:off x="8653780" y="3635477"/>
              <a:ext cx="267887" cy="199923"/>
            </a:xfrm>
            <a:custGeom>
              <a:avLst/>
              <a:gdLst/>
              <a:ahLst/>
              <a:cxnLst/>
              <a:rect l="0" t="0" r="0" b="0"/>
              <a:pathLst>
                <a:path w="401831" h="299885">
                  <a:moveTo>
                    <a:pt x="40005" y="299885"/>
                  </a:moveTo>
                  <a:lnTo>
                    <a:pt x="64275" y="282540"/>
                  </a:lnTo>
                  <a:lnTo>
                    <a:pt x="86906" y="264938"/>
                  </a:lnTo>
                  <a:lnTo>
                    <a:pt x="108128" y="247259"/>
                  </a:lnTo>
                  <a:lnTo>
                    <a:pt x="128130" y="229705"/>
                  </a:lnTo>
                  <a:lnTo>
                    <a:pt x="147104" y="212465"/>
                  </a:lnTo>
                  <a:lnTo>
                    <a:pt x="165278" y="195739"/>
                  </a:lnTo>
                  <a:lnTo>
                    <a:pt x="182842" y="179708"/>
                  </a:lnTo>
                  <a:lnTo>
                    <a:pt x="199987" y="164563"/>
                  </a:lnTo>
                  <a:lnTo>
                    <a:pt x="216941" y="150514"/>
                  </a:lnTo>
                  <a:lnTo>
                    <a:pt x="233896" y="137751"/>
                  </a:lnTo>
                  <a:lnTo>
                    <a:pt x="251041" y="126454"/>
                  </a:lnTo>
                  <a:lnTo>
                    <a:pt x="268605" y="116824"/>
                  </a:lnTo>
                  <a:lnTo>
                    <a:pt x="286779" y="109052"/>
                  </a:lnTo>
                  <a:lnTo>
                    <a:pt x="305753" y="103337"/>
                  </a:lnTo>
                  <a:lnTo>
                    <a:pt x="325755" y="99860"/>
                  </a:lnTo>
                  <a:lnTo>
                    <a:pt x="333451" y="101603"/>
                  </a:lnTo>
                  <a:lnTo>
                    <a:pt x="340528" y="104499"/>
                  </a:lnTo>
                  <a:lnTo>
                    <a:pt x="346967" y="108499"/>
                  </a:lnTo>
                  <a:lnTo>
                    <a:pt x="352777" y="113538"/>
                  </a:lnTo>
                  <a:lnTo>
                    <a:pt x="357930" y="119548"/>
                  </a:lnTo>
                  <a:lnTo>
                    <a:pt x="362426" y="126473"/>
                  </a:lnTo>
                  <a:lnTo>
                    <a:pt x="366246" y="134245"/>
                  </a:lnTo>
                  <a:lnTo>
                    <a:pt x="369389" y="142818"/>
                  </a:lnTo>
                  <a:lnTo>
                    <a:pt x="371837" y="152114"/>
                  </a:lnTo>
                  <a:lnTo>
                    <a:pt x="373590" y="162087"/>
                  </a:lnTo>
                  <a:lnTo>
                    <a:pt x="374628" y="172669"/>
                  </a:lnTo>
                  <a:lnTo>
                    <a:pt x="374952" y="183804"/>
                  </a:lnTo>
                  <a:lnTo>
                    <a:pt x="374533" y="195424"/>
                  </a:lnTo>
                  <a:lnTo>
                    <a:pt x="373380" y="207464"/>
                  </a:lnTo>
                  <a:lnTo>
                    <a:pt x="371475" y="219875"/>
                  </a:lnTo>
                  <a:lnTo>
                    <a:pt x="381772" y="201463"/>
                  </a:lnTo>
                  <a:lnTo>
                    <a:pt x="389868" y="182909"/>
                  </a:lnTo>
                  <a:lnTo>
                    <a:pt x="395840" y="164373"/>
                  </a:lnTo>
                  <a:lnTo>
                    <a:pt x="399774" y="146018"/>
                  </a:lnTo>
                  <a:lnTo>
                    <a:pt x="401745" y="128016"/>
                  </a:lnTo>
                  <a:lnTo>
                    <a:pt x="401831" y="110509"/>
                  </a:lnTo>
                  <a:lnTo>
                    <a:pt x="400126" y="93688"/>
                  </a:lnTo>
                  <a:lnTo>
                    <a:pt x="396697" y="77686"/>
                  </a:lnTo>
                  <a:lnTo>
                    <a:pt x="391639" y="62694"/>
                  </a:lnTo>
                  <a:lnTo>
                    <a:pt x="385020" y="48844"/>
                  </a:lnTo>
                  <a:lnTo>
                    <a:pt x="376933" y="36328"/>
                  </a:lnTo>
                  <a:lnTo>
                    <a:pt x="367455" y="25289"/>
                  </a:lnTo>
                  <a:lnTo>
                    <a:pt x="356664" y="15897"/>
                  </a:lnTo>
                  <a:lnTo>
                    <a:pt x="344643" y="8315"/>
                  </a:lnTo>
                  <a:lnTo>
                    <a:pt x="331470" y="2705"/>
                  </a:lnTo>
                  <a:lnTo>
                    <a:pt x="308543" y="0"/>
                  </a:lnTo>
                  <a:lnTo>
                    <a:pt x="285512" y="895"/>
                  </a:lnTo>
                  <a:lnTo>
                    <a:pt x="262433" y="5172"/>
                  </a:lnTo>
                  <a:lnTo>
                    <a:pt x="239354" y="12621"/>
                  </a:lnTo>
                  <a:lnTo>
                    <a:pt x="216322" y="23022"/>
                  </a:lnTo>
                  <a:lnTo>
                    <a:pt x="193396" y="36176"/>
                  </a:lnTo>
                  <a:lnTo>
                    <a:pt x="170621" y="51845"/>
                  </a:lnTo>
                  <a:lnTo>
                    <a:pt x="148047" y="69847"/>
                  </a:lnTo>
                  <a:lnTo>
                    <a:pt x="125730" y="89935"/>
                  </a:lnTo>
                  <a:lnTo>
                    <a:pt x="103718" y="111928"/>
                  </a:lnTo>
                  <a:lnTo>
                    <a:pt x="82058" y="135588"/>
                  </a:lnTo>
                  <a:lnTo>
                    <a:pt x="60808" y="160715"/>
                  </a:lnTo>
                  <a:lnTo>
                    <a:pt x="40015" y="187090"/>
                  </a:lnTo>
                  <a:lnTo>
                    <a:pt x="19726" y="214503"/>
                  </a:lnTo>
                  <a:lnTo>
                    <a:pt x="0" y="242735"/>
                  </a:lnTo>
                  <a:close/>
                </a:path>
              </a:pathLst>
            </a:custGeom>
            <a:solidFill>
              <a:srgbClr val="49685B"/>
            </a:solidFill>
            <a:ln w="9716">
              <a:solidFill>
                <a:srgbClr val="4A5147"/>
              </a:solidFill>
              <a:prstDash val="solid"/>
            </a:ln>
          </p:spPr>
          <p:txBody>
            <a:bodyPr/>
            <a:lstStyle/>
            <a:p>
              <a:endParaRPr sz="1200"/>
            </a:p>
          </p:txBody>
        </p:sp>
        <p:sp>
          <p:nvSpPr>
            <p:cNvPr id="430" name="s3-local-rooster__contour_430">
              <a:extLst>
                <a:ext uri="{FF2B5EF4-FFF2-40B4-BE49-F238E27FC236}">
                  <a16:creationId xmlns:a16="http://schemas.microsoft.com/office/drawing/2014/main" id="{950382C5-2073-4EB0-B8D8-C12C5E7F5057}"/>
                </a:ext>
              </a:extLst>
            </p:cNvPr>
            <p:cNvSpPr>
              <a:spLocks/>
            </p:cNvSpPr>
            <p:nvPr/>
          </p:nvSpPr>
          <p:spPr>
            <a:xfrm>
              <a:off x="8649970" y="3705860"/>
              <a:ext cx="241020" cy="129539"/>
            </a:xfrm>
            <a:custGeom>
              <a:avLst/>
              <a:gdLst/>
              <a:ahLst/>
              <a:cxnLst/>
              <a:rect l="0" t="0" r="0" b="0"/>
              <a:pathLst>
                <a:path w="361531" h="194310">
                  <a:moveTo>
                    <a:pt x="45720" y="194310"/>
                  </a:moveTo>
                  <a:lnTo>
                    <a:pt x="69609" y="184956"/>
                  </a:lnTo>
                  <a:lnTo>
                    <a:pt x="91154" y="175279"/>
                  </a:lnTo>
                  <a:lnTo>
                    <a:pt x="110595" y="165411"/>
                  </a:lnTo>
                  <a:lnTo>
                    <a:pt x="128178" y="155486"/>
                  </a:lnTo>
                  <a:lnTo>
                    <a:pt x="144142" y="145628"/>
                  </a:lnTo>
                  <a:lnTo>
                    <a:pt x="158744" y="135969"/>
                  </a:lnTo>
                  <a:lnTo>
                    <a:pt x="172202" y="126654"/>
                  </a:lnTo>
                  <a:lnTo>
                    <a:pt x="184795" y="117796"/>
                  </a:lnTo>
                  <a:lnTo>
                    <a:pt x="196729" y="109547"/>
                  </a:lnTo>
                  <a:lnTo>
                    <a:pt x="208283" y="102022"/>
                  </a:lnTo>
                  <a:lnTo>
                    <a:pt x="219675" y="95364"/>
                  </a:lnTo>
                  <a:lnTo>
                    <a:pt x="231162" y="89706"/>
                  </a:lnTo>
                  <a:lnTo>
                    <a:pt x="242983" y="85173"/>
                  </a:lnTo>
                  <a:lnTo>
                    <a:pt x="255384" y="81896"/>
                  </a:lnTo>
                  <a:lnTo>
                    <a:pt x="268605" y="80010"/>
                  </a:lnTo>
                  <a:lnTo>
                    <a:pt x="277444" y="80610"/>
                  </a:lnTo>
                  <a:lnTo>
                    <a:pt x="285674" y="82382"/>
                  </a:lnTo>
                  <a:lnTo>
                    <a:pt x="293294" y="85268"/>
                  </a:lnTo>
                  <a:lnTo>
                    <a:pt x="300304" y="89221"/>
                  </a:lnTo>
                  <a:lnTo>
                    <a:pt x="306705" y="94193"/>
                  </a:lnTo>
                  <a:lnTo>
                    <a:pt x="312496" y="100127"/>
                  </a:lnTo>
                  <a:lnTo>
                    <a:pt x="317678" y="106975"/>
                  </a:lnTo>
                  <a:lnTo>
                    <a:pt x="322250" y="114691"/>
                  </a:lnTo>
                  <a:lnTo>
                    <a:pt x="326212" y="123215"/>
                  </a:lnTo>
                  <a:lnTo>
                    <a:pt x="329565" y="132502"/>
                  </a:lnTo>
                  <a:lnTo>
                    <a:pt x="332308" y="142504"/>
                  </a:lnTo>
                  <a:lnTo>
                    <a:pt x="334442" y="153162"/>
                  </a:lnTo>
                  <a:lnTo>
                    <a:pt x="335966" y="164430"/>
                  </a:lnTo>
                  <a:lnTo>
                    <a:pt x="336880" y="176260"/>
                  </a:lnTo>
                  <a:lnTo>
                    <a:pt x="337185" y="188595"/>
                  </a:lnTo>
                  <a:lnTo>
                    <a:pt x="347196" y="170336"/>
                  </a:lnTo>
                  <a:lnTo>
                    <a:pt x="354473" y="152219"/>
                  </a:lnTo>
                  <a:lnTo>
                    <a:pt x="359178" y="134417"/>
                  </a:lnTo>
                  <a:lnTo>
                    <a:pt x="361474" y="117072"/>
                  </a:lnTo>
                  <a:lnTo>
                    <a:pt x="361531" y="100327"/>
                  </a:lnTo>
                  <a:lnTo>
                    <a:pt x="359493" y="84353"/>
                  </a:lnTo>
                  <a:lnTo>
                    <a:pt x="355549" y="69294"/>
                  </a:lnTo>
                  <a:lnTo>
                    <a:pt x="349834" y="55293"/>
                  </a:lnTo>
                  <a:lnTo>
                    <a:pt x="342538" y="42520"/>
                  </a:lnTo>
                  <a:lnTo>
                    <a:pt x="333794" y="31118"/>
                  </a:lnTo>
                  <a:lnTo>
                    <a:pt x="323793" y="21231"/>
                  </a:lnTo>
                  <a:lnTo>
                    <a:pt x="312677" y="13030"/>
                  </a:lnTo>
                  <a:lnTo>
                    <a:pt x="300619" y="6658"/>
                  </a:lnTo>
                  <a:lnTo>
                    <a:pt x="287779" y="2257"/>
                  </a:lnTo>
                  <a:lnTo>
                    <a:pt x="274320" y="0"/>
                  </a:lnTo>
                  <a:lnTo>
                    <a:pt x="255032" y="3029"/>
                  </a:lnTo>
                  <a:lnTo>
                    <a:pt x="236029" y="7487"/>
                  </a:lnTo>
                  <a:lnTo>
                    <a:pt x="217265" y="13259"/>
                  </a:lnTo>
                  <a:lnTo>
                    <a:pt x="198711" y="20250"/>
                  </a:lnTo>
                  <a:lnTo>
                    <a:pt x="180337" y="28365"/>
                  </a:lnTo>
                  <a:lnTo>
                    <a:pt x="162125" y="37490"/>
                  </a:lnTo>
                  <a:lnTo>
                    <a:pt x="144028" y="47530"/>
                  </a:lnTo>
                  <a:lnTo>
                    <a:pt x="126025" y="58388"/>
                  </a:lnTo>
                  <a:lnTo>
                    <a:pt x="108080" y="69952"/>
                  </a:lnTo>
                  <a:lnTo>
                    <a:pt x="90173" y="82125"/>
                  </a:lnTo>
                  <a:lnTo>
                    <a:pt x="72257" y="94812"/>
                  </a:lnTo>
                  <a:lnTo>
                    <a:pt x="54312" y="107899"/>
                  </a:lnTo>
                  <a:lnTo>
                    <a:pt x="36309" y="121291"/>
                  </a:lnTo>
                  <a:lnTo>
                    <a:pt x="18221" y="134893"/>
                  </a:lnTo>
                  <a:lnTo>
                    <a:pt x="0" y="148590"/>
                  </a:lnTo>
                  <a:close/>
                </a:path>
              </a:pathLst>
            </a:custGeom>
            <a:solidFill>
              <a:srgbClr val="49685B"/>
            </a:solidFill>
            <a:ln w="9716">
              <a:solidFill>
                <a:srgbClr val="4A5147"/>
              </a:solidFill>
              <a:prstDash val="solid"/>
            </a:ln>
          </p:spPr>
          <p:txBody>
            <a:bodyPr/>
            <a:lstStyle/>
            <a:p>
              <a:endParaRPr sz="1200"/>
            </a:p>
          </p:txBody>
        </p:sp>
        <p:sp>
          <p:nvSpPr>
            <p:cNvPr id="431" name="s3-local-rooster__contour_431">
              <a:extLst>
                <a:ext uri="{FF2B5EF4-FFF2-40B4-BE49-F238E27FC236}">
                  <a16:creationId xmlns:a16="http://schemas.microsoft.com/office/drawing/2014/main" id="{1B21177E-687E-4D26-92E3-4DFCFE3B41D9}"/>
                </a:ext>
              </a:extLst>
            </p:cNvPr>
            <p:cNvSpPr>
              <a:spLocks/>
            </p:cNvSpPr>
            <p:nvPr/>
          </p:nvSpPr>
          <p:spPr>
            <a:xfrm>
              <a:off x="8676640" y="3587750"/>
              <a:ext cx="194309" cy="209549"/>
            </a:xfrm>
            <a:custGeom>
              <a:avLst/>
              <a:gdLst/>
              <a:ahLst/>
              <a:cxnLst/>
              <a:rect l="0" t="0" r="0" b="0"/>
              <a:pathLst>
                <a:path w="291465" h="314325">
                  <a:moveTo>
                    <a:pt x="0" y="314325"/>
                  </a:moveTo>
                  <a:lnTo>
                    <a:pt x="20002" y="283369"/>
                  </a:lnTo>
                  <a:lnTo>
                    <a:pt x="38995" y="252432"/>
                  </a:lnTo>
                  <a:lnTo>
                    <a:pt x="57198" y="221837"/>
                  </a:lnTo>
                  <a:lnTo>
                    <a:pt x="74819" y="191910"/>
                  </a:lnTo>
                  <a:lnTo>
                    <a:pt x="92078" y="162982"/>
                  </a:lnTo>
                  <a:lnTo>
                    <a:pt x="109176" y="135379"/>
                  </a:lnTo>
                  <a:lnTo>
                    <a:pt x="126349" y="109414"/>
                  </a:lnTo>
                  <a:lnTo>
                    <a:pt x="143780" y="85430"/>
                  </a:lnTo>
                  <a:lnTo>
                    <a:pt x="161715" y="63732"/>
                  </a:lnTo>
                  <a:lnTo>
                    <a:pt x="180337" y="44663"/>
                  </a:lnTo>
                  <a:lnTo>
                    <a:pt x="199882" y="28537"/>
                  </a:lnTo>
                  <a:lnTo>
                    <a:pt x="220551" y="15678"/>
                  </a:lnTo>
                  <a:lnTo>
                    <a:pt x="242564" y="6420"/>
                  </a:lnTo>
                  <a:lnTo>
                    <a:pt x="266128" y="1086"/>
                  </a:lnTo>
                  <a:lnTo>
                    <a:pt x="291465" y="0"/>
                  </a:lnTo>
                </a:path>
              </a:pathLst>
            </a:custGeom>
            <a:noFill/>
            <a:ln w="8001">
              <a:solidFill>
                <a:srgbClr val="5C7D68"/>
              </a:solidFill>
              <a:prstDash val="solid"/>
            </a:ln>
          </p:spPr>
          <p:txBody>
            <a:bodyPr/>
            <a:lstStyle/>
            <a:p>
              <a:endParaRPr sz="1200"/>
            </a:p>
          </p:txBody>
        </p:sp>
        <p:sp>
          <p:nvSpPr>
            <p:cNvPr id="432" name="s3-local-rooster__contour_432">
              <a:extLst>
                <a:ext uri="{FF2B5EF4-FFF2-40B4-BE49-F238E27FC236}">
                  <a16:creationId xmlns:a16="http://schemas.microsoft.com/office/drawing/2014/main" id="{74284D6C-EB0D-4BEE-9CD6-92407C25E8AB}"/>
                </a:ext>
              </a:extLst>
            </p:cNvPr>
            <p:cNvSpPr>
              <a:spLocks/>
            </p:cNvSpPr>
            <p:nvPr/>
          </p:nvSpPr>
          <p:spPr>
            <a:xfrm>
              <a:off x="8695690" y="3665481"/>
              <a:ext cx="194309" cy="154679"/>
            </a:xfrm>
            <a:custGeom>
              <a:avLst/>
              <a:gdLst/>
              <a:ahLst/>
              <a:cxnLst/>
              <a:rect l="0" t="0" r="0" b="0"/>
              <a:pathLst>
                <a:path w="291465" h="232019">
                  <a:moveTo>
                    <a:pt x="0" y="232019"/>
                  </a:moveTo>
                  <a:lnTo>
                    <a:pt x="24698" y="199949"/>
                  </a:lnTo>
                  <a:lnTo>
                    <a:pt x="48501" y="170059"/>
                  </a:lnTo>
                  <a:lnTo>
                    <a:pt x="71457" y="142408"/>
                  </a:lnTo>
                  <a:lnTo>
                    <a:pt x="93593" y="117043"/>
                  </a:lnTo>
                  <a:lnTo>
                    <a:pt x="114938" y="94012"/>
                  </a:lnTo>
                  <a:lnTo>
                    <a:pt x="135512" y="73371"/>
                  </a:lnTo>
                  <a:lnTo>
                    <a:pt x="155362" y="55169"/>
                  </a:lnTo>
                  <a:lnTo>
                    <a:pt x="174508" y="39453"/>
                  </a:lnTo>
                  <a:lnTo>
                    <a:pt x="192986" y="26279"/>
                  </a:lnTo>
                  <a:lnTo>
                    <a:pt x="210817" y="15697"/>
                  </a:lnTo>
                  <a:lnTo>
                    <a:pt x="228048" y="7753"/>
                  </a:lnTo>
                  <a:lnTo>
                    <a:pt x="244697" y="2505"/>
                  </a:lnTo>
                  <a:lnTo>
                    <a:pt x="260794" y="0"/>
                  </a:lnTo>
                  <a:lnTo>
                    <a:pt x="276368" y="286"/>
                  </a:lnTo>
                  <a:lnTo>
                    <a:pt x="291465" y="3419"/>
                  </a:lnTo>
                </a:path>
              </a:pathLst>
            </a:custGeom>
            <a:noFill/>
            <a:ln w="8001">
              <a:solidFill>
                <a:srgbClr val="5C7D68"/>
              </a:solidFill>
              <a:prstDash val="solid"/>
            </a:ln>
          </p:spPr>
          <p:txBody>
            <a:bodyPr/>
            <a:lstStyle/>
            <a:p>
              <a:endParaRPr sz="1200"/>
            </a:p>
          </p:txBody>
        </p:sp>
        <p:sp>
          <p:nvSpPr>
            <p:cNvPr id="433" name="s3-local-rooster__line_433">
              <a:extLst>
                <a:ext uri="{FF2B5EF4-FFF2-40B4-BE49-F238E27FC236}">
                  <a16:creationId xmlns:a16="http://schemas.microsoft.com/office/drawing/2014/main" id="{DE12C760-21E8-4FA7-A52E-8D9DF3EA718E}"/>
                </a:ext>
              </a:extLst>
            </p:cNvPr>
            <p:cNvSpPr>
              <a:spLocks/>
            </p:cNvSpPr>
            <p:nvPr/>
          </p:nvSpPr>
          <p:spPr>
            <a:xfrm>
              <a:off x="8600440" y="3926840"/>
              <a:ext cx="7619" cy="72389"/>
            </a:xfrm>
            <a:custGeom>
              <a:avLst/>
              <a:gdLst/>
              <a:ahLst/>
              <a:cxnLst/>
              <a:rect l="0" t="0" r="0" b="0"/>
              <a:pathLst>
                <a:path w="11430" h="108585">
                  <a:moveTo>
                    <a:pt x="11430" y="0"/>
                  </a:moveTo>
                  <a:lnTo>
                    <a:pt x="0" y="108585"/>
                  </a:lnTo>
                </a:path>
              </a:pathLst>
            </a:custGeom>
            <a:noFill/>
            <a:ln w="17145">
              <a:solidFill>
                <a:srgbClr val="B68C45"/>
              </a:solidFill>
              <a:prstDash val="solid"/>
            </a:ln>
          </p:spPr>
          <p:txBody>
            <a:bodyPr/>
            <a:lstStyle/>
            <a:p>
              <a:endParaRPr sz="1200"/>
            </a:p>
          </p:txBody>
        </p:sp>
        <p:sp>
          <p:nvSpPr>
            <p:cNvPr id="434" name="s3-local-rooster__line_434">
              <a:extLst>
                <a:ext uri="{FF2B5EF4-FFF2-40B4-BE49-F238E27FC236}">
                  <a16:creationId xmlns:a16="http://schemas.microsoft.com/office/drawing/2014/main" id="{1F2A6D29-9001-49D9-9678-9504D65530AE}"/>
                </a:ext>
              </a:extLst>
            </p:cNvPr>
            <p:cNvSpPr>
              <a:spLocks/>
            </p:cNvSpPr>
            <p:nvPr/>
          </p:nvSpPr>
          <p:spPr>
            <a:xfrm>
              <a:off x="8604250" y="3991610"/>
              <a:ext cx="38099" cy="19049"/>
            </a:xfrm>
            <a:custGeom>
              <a:avLst/>
              <a:gdLst/>
              <a:ahLst/>
              <a:cxnLst/>
              <a:rect l="0" t="0" r="0" b="0"/>
              <a:pathLst>
                <a:path w="57150" h="28575">
                  <a:moveTo>
                    <a:pt x="0" y="0"/>
                  </a:moveTo>
                  <a:lnTo>
                    <a:pt x="57150" y="28575"/>
                  </a:lnTo>
                </a:path>
              </a:pathLst>
            </a:custGeom>
            <a:noFill/>
            <a:ln w="13716">
              <a:solidFill>
                <a:srgbClr val="B68C45"/>
              </a:solidFill>
              <a:prstDash val="solid"/>
            </a:ln>
          </p:spPr>
          <p:txBody>
            <a:bodyPr/>
            <a:lstStyle/>
            <a:p>
              <a:endParaRPr sz="1200"/>
            </a:p>
          </p:txBody>
        </p:sp>
        <p:sp>
          <p:nvSpPr>
            <p:cNvPr id="435" name="s3-local-rooster__line_435">
              <a:extLst>
                <a:ext uri="{FF2B5EF4-FFF2-40B4-BE49-F238E27FC236}">
                  <a16:creationId xmlns:a16="http://schemas.microsoft.com/office/drawing/2014/main" id="{48F5F574-71FD-4CBF-88F3-C1FCA7FB4507}"/>
                </a:ext>
              </a:extLst>
            </p:cNvPr>
            <p:cNvSpPr>
              <a:spLocks/>
            </p:cNvSpPr>
            <p:nvPr/>
          </p:nvSpPr>
          <p:spPr>
            <a:xfrm>
              <a:off x="8562340" y="3995420"/>
              <a:ext cx="41909" cy="15239"/>
            </a:xfrm>
            <a:custGeom>
              <a:avLst/>
              <a:gdLst/>
              <a:ahLst/>
              <a:cxnLst/>
              <a:rect l="0" t="0" r="0" b="0"/>
              <a:pathLst>
                <a:path w="62865" h="22860">
                  <a:moveTo>
                    <a:pt x="62865" y="0"/>
                  </a:moveTo>
                  <a:lnTo>
                    <a:pt x="0" y="22860"/>
                  </a:lnTo>
                </a:path>
              </a:pathLst>
            </a:custGeom>
            <a:noFill/>
            <a:ln w="13716">
              <a:solidFill>
                <a:srgbClr val="B68C45"/>
              </a:solidFill>
              <a:prstDash val="solid"/>
            </a:ln>
          </p:spPr>
          <p:txBody>
            <a:bodyPr/>
            <a:lstStyle/>
            <a:p>
              <a:endParaRPr sz="1200"/>
            </a:p>
          </p:txBody>
        </p:sp>
        <p:sp>
          <p:nvSpPr>
            <p:cNvPr id="436" name="s3-local-rooster__line_436">
              <a:extLst>
                <a:ext uri="{FF2B5EF4-FFF2-40B4-BE49-F238E27FC236}">
                  <a16:creationId xmlns:a16="http://schemas.microsoft.com/office/drawing/2014/main" id="{F5A492FF-C0EA-44FE-B1FF-04C883D19364}"/>
                </a:ext>
              </a:extLst>
            </p:cNvPr>
            <p:cNvSpPr>
              <a:spLocks/>
            </p:cNvSpPr>
            <p:nvPr/>
          </p:nvSpPr>
          <p:spPr>
            <a:xfrm>
              <a:off x="8520430" y="3923030"/>
              <a:ext cx="7619" cy="76199"/>
            </a:xfrm>
            <a:custGeom>
              <a:avLst/>
              <a:gdLst/>
              <a:ahLst/>
              <a:cxnLst/>
              <a:rect l="0" t="0" r="0" b="0"/>
              <a:pathLst>
                <a:path w="11430" h="114300">
                  <a:moveTo>
                    <a:pt x="11430" y="0"/>
                  </a:moveTo>
                  <a:lnTo>
                    <a:pt x="0" y="114300"/>
                  </a:lnTo>
                </a:path>
              </a:pathLst>
            </a:custGeom>
            <a:noFill/>
            <a:ln w="17145">
              <a:solidFill>
                <a:srgbClr val="B68C45"/>
              </a:solidFill>
              <a:prstDash val="solid"/>
            </a:ln>
          </p:spPr>
          <p:txBody>
            <a:bodyPr/>
            <a:lstStyle/>
            <a:p>
              <a:endParaRPr sz="1200"/>
            </a:p>
          </p:txBody>
        </p:sp>
        <p:sp>
          <p:nvSpPr>
            <p:cNvPr id="437" name="s3-local-rooster__line_437">
              <a:extLst>
                <a:ext uri="{FF2B5EF4-FFF2-40B4-BE49-F238E27FC236}">
                  <a16:creationId xmlns:a16="http://schemas.microsoft.com/office/drawing/2014/main" id="{96F098BF-1B01-4E4F-8539-60178DA83EBE}"/>
                </a:ext>
              </a:extLst>
            </p:cNvPr>
            <p:cNvSpPr>
              <a:spLocks/>
            </p:cNvSpPr>
            <p:nvPr/>
          </p:nvSpPr>
          <p:spPr>
            <a:xfrm>
              <a:off x="8524240" y="3995420"/>
              <a:ext cx="30479" cy="19049"/>
            </a:xfrm>
            <a:custGeom>
              <a:avLst/>
              <a:gdLst/>
              <a:ahLst/>
              <a:cxnLst/>
              <a:rect l="0" t="0" r="0" b="0"/>
              <a:pathLst>
                <a:path w="45720" h="28575">
                  <a:moveTo>
                    <a:pt x="0" y="0"/>
                  </a:moveTo>
                  <a:lnTo>
                    <a:pt x="45720" y="28575"/>
                  </a:lnTo>
                </a:path>
              </a:pathLst>
            </a:custGeom>
            <a:noFill/>
            <a:ln w="13716">
              <a:solidFill>
                <a:srgbClr val="B68C45"/>
              </a:solidFill>
              <a:prstDash val="solid"/>
            </a:ln>
          </p:spPr>
          <p:txBody>
            <a:bodyPr/>
            <a:lstStyle/>
            <a:p>
              <a:endParaRPr sz="1200"/>
            </a:p>
          </p:txBody>
        </p:sp>
        <p:sp>
          <p:nvSpPr>
            <p:cNvPr id="438" name="s3-local-rooster__line_438">
              <a:extLst>
                <a:ext uri="{FF2B5EF4-FFF2-40B4-BE49-F238E27FC236}">
                  <a16:creationId xmlns:a16="http://schemas.microsoft.com/office/drawing/2014/main" id="{A0E57461-C77E-4CC9-B035-B5915ADB045E}"/>
                </a:ext>
              </a:extLst>
            </p:cNvPr>
            <p:cNvSpPr>
              <a:spLocks/>
            </p:cNvSpPr>
            <p:nvPr/>
          </p:nvSpPr>
          <p:spPr>
            <a:xfrm>
              <a:off x="8486140" y="3995420"/>
              <a:ext cx="38099" cy="15239"/>
            </a:xfrm>
            <a:custGeom>
              <a:avLst/>
              <a:gdLst/>
              <a:ahLst/>
              <a:cxnLst/>
              <a:rect l="0" t="0" r="0" b="0"/>
              <a:pathLst>
                <a:path w="57150" h="22860">
                  <a:moveTo>
                    <a:pt x="57150" y="0"/>
                  </a:moveTo>
                  <a:lnTo>
                    <a:pt x="0" y="22860"/>
                  </a:lnTo>
                </a:path>
              </a:pathLst>
            </a:custGeom>
            <a:noFill/>
            <a:ln w="13716">
              <a:solidFill>
                <a:srgbClr val="B68C45"/>
              </a:solidFill>
              <a:prstDash val="solid"/>
            </a:ln>
          </p:spPr>
          <p:txBody>
            <a:bodyPr/>
            <a:lstStyle/>
            <a:p>
              <a:endParaRPr sz="1200"/>
            </a:p>
          </p:txBody>
        </p:sp>
        <p:sp>
          <p:nvSpPr>
            <p:cNvPr id="439" name="s3-local-rooster__contour_439">
              <a:extLst>
                <a:ext uri="{FF2B5EF4-FFF2-40B4-BE49-F238E27FC236}">
                  <a16:creationId xmlns:a16="http://schemas.microsoft.com/office/drawing/2014/main" id="{7E4095AE-8894-48FE-B171-415104AB53A5}"/>
                </a:ext>
              </a:extLst>
            </p:cNvPr>
            <p:cNvSpPr>
              <a:spLocks/>
            </p:cNvSpPr>
            <p:nvPr/>
          </p:nvSpPr>
          <p:spPr>
            <a:xfrm>
              <a:off x="8428444" y="3595446"/>
              <a:ext cx="292150" cy="344131"/>
            </a:xfrm>
            <a:custGeom>
              <a:avLst/>
              <a:gdLst/>
              <a:ahLst/>
              <a:cxnLst/>
              <a:rect l="0" t="0" r="0" b="0"/>
              <a:pathLst>
                <a:path w="438226" h="516198">
                  <a:moveTo>
                    <a:pt x="423729" y="245631"/>
                  </a:moveTo>
                  <a:lnTo>
                    <a:pt x="408870" y="234220"/>
                  </a:lnTo>
                  <a:lnTo>
                    <a:pt x="394011" y="224923"/>
                  </a:lnTo>
                  <a:lnTo>
                    <a:pt x="379152" y="217418"/>
                  </a:lnTo>
                  <a:lnTo>
                    <a:pt x="364293" y="211379"/>
                  </a:lnTo>
                  <a:lnTo>
                    <a:pt x="349434" y="206473"/>
                  </a:lnTo>
                  <a:lnTo>
                    <a:pt x="334575" y="202378"/>
                  </a:lnTo>
                  <a:lnTo>
                    <a:pt x="319716" y="198777"/>
                  </a:lnTo>
                  <a:lnTo>
                    <a:pt x="304857" y="195329"/>
                  </a:lnTo>
                  <a:lnTo>
                    <a:pt x="289998" y="191729"/>
                  </a:lnTo>
                  <a:lnTo>
                    <a:pt x="275139" y="187633"/>
                  </a:lnTo>
                  <a:lnTo>
                    <a:pt x="260280" y="182728"/>
                  </a:lnTo>
                  <a:lnTo>
                    <a:pt x="245421" y="176689"/>
                  </a:lnTo>
                  <a:lnTo>
                    <a:pt x="230562" y="169183"/>
                  </a:lnTo>
                  <a:lnTo>
                    <a:pt x="215703" y="159887"/>
                  </a:lnTo>
                  <a:lnTo>
                    <a:pt x="200844" y="148476"/>
                  </a:lnTo>
                  <a:lnTo>
                    <a:pt x="196815" y="131369"/>
                  </a:lnTo>
                  <a:lnTo>
                    <a:pt x="191643" y="114452"/>
                  </a:lnTo>
                  <a:lnTo>
                    <a:pt x="185395" y="97955"/>
                  </a:lnTo>
                  <a:lnTo>
                    <a:pt x="178137" y="82067"/>
                  </a:lnTo>
                  <a:lnTo>
                    <a:pt x="169945" y="66980"/>
                  </a:lnTo>
                  <a:lnTo>
                    <a:pt x="160887" y="52921"/>
                  </a:lnTo>
                  <a:lnTo>
                    <a:pt x="151038" y="40081"/>
                  </a:lnTo>
                  <a:lnTo>
                    <a:pt x="140465" y="28651"/>
                  </a:lnTo>
                  <a:lnTo>
                    <a:pt x="129245" y="18860"/>
                  </a:lnTo>
                  <a:lnTo>
                    <a:pt x="117443" y="10897"/>
                  </a:lnTo>
                  <a:lnTo>
                    <a:pt x="105137" y="4953"/>
                  </a:lnTo>
                  <a:lnTo>
                    <a:pt x="92392" y="1257"/>
                  </a:lnTo>
                  <a:lnTo>
                    <a:pt x="79286" y="0"/>
                  </a:lnTo>
                  <a:lnTo>
                    <a:pt x="65884" y="1372"/>
                  </a:lnTo>
                  <a:lnTo>
                    <a:pt x="52254" y="5601"/>
                  </a:lnTo>
                  <a:lnTo>
                    <a:pt x="41434" y="9773"/>
                  </a:lnTo>
                  <a:lnTo>
                    <a:pt x="31842" y="15335"/>
                  </a:lnTo>
                  <a:lnTo>
                    <a:pt x="23498" y="22155"/>
                  </a:lnTo>
                  <a:lnTo>
                    <a:pt x="16393" y="30099"/>
                  </a:lnTo>
                  <a:lnTo>
                    <a:pt x="10554" y="39043"/>
                  </a:lnTo>
                  <a:lnTo>
                    <a:pt x="5982" y="48854"/>
                  </a:lnTo>
                  <a:lnTo>
                    <a:pt x="2696" y="59388"/>
                  </a:lnTo>
                  <a:lnTo>
                    <a:pt x="695" y="70533"/>
                  </a:lnTo>
                  <a:lnTo>
                    <a:pt x="0" y="82134"/>
                  </a:lnTo>
                  <a:lnTo>
                    <a:pt x="610" y="94078"/>
                  </a:lnTo>
                  <a:lnTo>
                    <a:pt x="2543" y="106223"/>
                  </a:lnTo>
                  <a:lnTo>
                    <a:pt x="5801" y="118434"/>
                  </a:lnTo>
                  <a:lnTo>
                    <a:pt x="10411" y="130588"/>
                  </a:lnTo>
                  <a:lnTo>
                    <a:pt x="16364" y="142551"/>
                  </a:lnTo>
                  <a:lnTo>
                    <a:pt x="23679" y="154191"/>
                  </a:lnTo>
                  <a:lnTo>
                    <a:pt x="29232" y="162125"/>
                  </a:lnTo>
                  <a:lnTo>
                    <a:pt x="34442" y="169955"/>
                  </a:lnTo>
                  <a:lnTo>
                    <a:pt x="39272" y="177736"/>
                  </a:lnTo>
                  <a:lnTo>
                    <a:pt x="43663" y="185518"/>
                  </a:lnTo>
                  <a:lnTo>
                    <a:pt x="47596" y="193348"/>
                  </a:lnTo>
                  <a:lnTo>
                    <a:pt x="51016" y="201282"/>
                  </a:lnTo>
                  <a:lnTo>
                    <a:pt x="53892" y="209369"/>
                  </a:lnTo>
                  <a:lnTo>
                    <a:pt x="56178" y="217656"/>
                  </a:lnTo>
                  <a:lnTo>
                    <a:pt x="57836" y="226200"/>
                  </a:lnTo>
                  <a:lnTo>
                    <a:pt x="58817" y="235048"/>
                  </a:lnTo>
                  <a:lnTo>
                    <a:pt x="59093" y="244250"/>
                  </a:lnTo>
                  <a:lnTo>
                    <a:pt x="58607" y="253860"/>
                  </a:lnTo>
                  <a:lnTo>
                    <a:pt x="57340" y="263928"/>
                  </a:lnTo>
                  <a:lnTo>
                    <a:pt x="55235" y="274501"/>
                  </a:lnTo>
                  <a:lnTo>
                    <a:pt x="52254" y="285636"/>
                  </a:lnTo>
                  <a:lnTo>
                    <a:pt x="43463" y="303838"/>
                  </a:lnTo>
                  <a:lnTo>
                    <a:pt x="37528" y="321812"/>
                  </a:lnTo>
                  <a:lnTo>
                    <a:pt x="34290" y="339490"/>
                  </a:lnTo>
                  <a:lnTo>
                    <a:pt x="33538" y="356807"/>
                  </a:lnTo>
                  <a:lnTo>
                    <a:pt x="35109" y="373685"/>
                  </a:lnTo>
                  <a:lnTo>
                    <a:pt x="38814" y="390058"/>
                  </a:lnTo>
                  <a:lnTo>
                    <a:pt x="44463" y="405851"/>
                  </a:lnTo>
                  <a:lnTo>
                    <a:pt x="51892" y="420995"/>
                  </a:lnTo>
                  <a:lnTo>
                    <a:pt x="60893" y="435416"/>
                  </a:lnTo>
                  <a:lnTo>
                    <a:pt x="71304" y="449047"/>
                  </a:lnTo>
                  <a:lnTo>
                    <a:pt x="82934" y="461810"/>
                  </a:lnTo>
                  <a:lnTo>
                    <a:pt x="95593" y="473640"/>
                  </a:lnTo>
                  <a:lnTo>
                    <a:pt x="109118" y="484461"/>
                  </a:lnTo>
                  <a:lnTo>
                    <a:pt x="123301" y="494205"/>
                  </a:lnTo>
                  <a:lnTo>
                    <a:pt x="137979" y="502806"/>
                  </a:lnTo>
                  <a:lnTo>
                    <a:pt x="156762" y="509597"/>
                  </a:lnTo>
                  <a:lnTo>
                    <a:pt x="176422" y="514036"/>
                  </a:lnTo>
                  <a:lnTo>
                    <a:pt x="196729" y="516198"/>
                  </a:lnTo>
                  <a:lnTo>
                    <a:pt x="217494" y="516169"/>
                  </a:lnTo>
                  <a:lnTo>
                    <a:pt x="238525" y="514026"/>
                  </a:lnTo>
                  <a:lnTo>
                    <a:pt x="259594" y="509845"/>
                  </a:lnTo>
                  <a:lnTo>
                    <a:pt x="280511" y="503720"/>
                  </a:lnTo>
                  <a:lnTo>
                    <a:pt x="301085" y="495719"/>
                  </a:lnTo>
                  <a:lnTo>
                    <a:pt x="321088" y="485937"/>
                  </a:lnTo>
                  <a:lnTo>
                    <a:pt x="340328" y="474440"/>
                  </a:lnTo>
                  <a:lnTo>
                    <a:pt x="358616" y="461324"/>
                  </a:lnTo>
                  <a:lnTo>
                    <a:pt x="375723" y="446665"/>
                  </a:lnTo>
                  <a:lnTo>
                    <a:pt x="391458" y="430540"/>
                  </a:lnTo>
                  <a:lnTo>
                    <a:pt x="405632" y="413033"/>
                  </a:lnTo>
                  <a:lnTo>
                    <a:pt x="418014" y="394221"/>
                  </a:lnTo>
                  <a:lnTo>
                    <a:pt x="422358" y="381943"/>
                  </a:lnTo>
                  <a:lnTo>
                    <a:pt x="426215" y="370227"/>
                  </a:lnTo>
                  <a:lnTo>
                    <a:pt x="429577" y="359016"/>
                  </a:lnTo>
                  <a:lnTo>
                    <a:pt x="432425" y="348263"/>
                  </a:lnTo>
                  <a:lnTo>
                    <a:pt x="434740" y="337918"/>
                  </a:lnTo>
                  <a:lnTo>
                    <a:pt x="436483" y="327927"/>
                  </a:lnTo>
                  <a:lnTo>
                    <a:pt x="437655" y="318240"/>
                  </a:lnTo>
                  <a:lnTo>
                    <a:pt x="438226" y="308810"/>
                  </a:lnTo>
                  <a:lnTo>
                    <a:pt x="438179" y="299580"/>
                  </a:lnTo>
                  <a:lnTo>
                    <a:pt x="437483" y="290503"/>
                  </a:lnTo>
                  <a:lnTo>
                    <a:pt x="436140" y="281530"/>
                  </a:lnTo>
                  <a:lnTo>
                    <a:pt x="434111" y="272606"/>
                  </a:lnTo>
                  <a:lnTo>
                    <a:pt x="431378" y="263681"/>
                  </a:lnTo>
                  <a:lnTo>
                    <a:pt x="427920" y="254708"/>
                  </a:lnTo>
                  <a:lnTo>
                    <a:pt x="423729" y="245631"/>
                  </a:lnTo>
                  <a:close/>
                </a:path>
              </a:pathLst>
            </a:custGeom>
            <a:solidFill>
              <a:srgbClr val="A2673E"/>
            </a:solidFill>
            <a:ln w="9716">
              <a:solidFill>
                <a:srgbClr val="4A5147"/>
              </a:solidFill>
              <a:prstDash val="solid"/>
            </a:ln>
          </p:spPr>
          <p:txBody>
            <a:bodyPr/>
            <a:lstStyle/>
            <a:p>
              <a:endParaRPr sz="1200"/>
            </a:p>
          </p:txBody>
        </p:sp>
        <p:sp>
          <p:nvSpPr>
            <p:cNvPr id="440" name="s3-local-rooster__contour_440">
              <a:extLst>
                <a:ext uri="{FF2B5EF4-FFF2-40B4-BE49-F238E27FC236}">
                  <a16:creationId xmlns:a16="http://schemas.microsoft.com/office/drawing/2014/main" id="{7A4D5C62-C6A9-4873-9244-E44427DDC420}"/>
                </a:ext>
              </a:extLst>
            </p:cNvPr>
            <p:cNvSpPr>
              <a:spLocks/>
            </p:cNvSpPr>
            <p:nvPr/>
          </p:nvSpPr>
          <p:spPr>
            <a:xfrm>
              <a:off x="8455749" y="3724910"/>
              <a:ext cx="205651" cy="210705"/>
            </a:xfrm>
            <a:custGeom>
              <a:avLst/>
              <a:gdLst/>
              <a:ahLst/>
              <a:cxnLst/>
              <a:rect l="0" t="0" r="0" b="0"/>
              <a:pathLst>
                <a:path w="308477" h="316059">
                  <a:moveTo>
                    <a:pt x="154172" y="0"/>
                  </a:moveTo>
                  <a:lnTo>
                    <a:pt x="142675" y="1524"/>
                  </a:lnTo>
                  <a:lnTo>
                    <a:pt x="131112" y="3839"/>
                  </a:lnTo>
                  <a:lnTo>
                    <a:pt x="119558" y="6953"/>
                  </a:lnTo>
                  <a:lnTo>
                    <a:pt x="108099" y="10887"/>
                  </a:lnTo>
                  <a:lnTo>
                    <a:pt x="96812" y="15659"/>
                  </a:lnTo>
                  <a:lnTo>
                    <a:pt x="85773" y="21307"/>
                  </a:lnTo>
                  <a:lnTo>
                    <a:pt x="75076" y="27832"/>
                  </a:lnTo>
                  <a:lnTo>
                    <a:pt x="64789" y="35262"/>
                  </a:lnTo>
                  <a:lnTo>
                    <a:pt x="55007" y="43615"/>
                  </a:lnTo>
                  <a:lnTo>
                    <a:pt x="45796" y="52921"/>
                  </a:lnTo>
                  <a:lnTo>
                    <a:pt x="37252" y="63179"/>
                  </a:lnTo>
                  <a:lnTo>
                    <a:pt x="29451" y="74428"/>
                  </a:lnTo>
                  <a:lnTo>
                    <a:pt x="22469" y="86687"/>
                  </a:lnTo>
                  <a:lnTo>
                    <a:pt x="16393" y="99974"/>
                  </a:lnTo>
                  <a:lnTo>
                    <a:pt x="11297" y="114300"/>
                  </a:lnTo>
                  <a:lnTo>
                    <a:pt x="4782" y="132493"/>
                  </a:lnTo>
                  <a:lnTo>
                    <a:pt x="1095" y="150419"/>
                  </a:lnTo>
                  <a:lnTo>
                    <a:pt x="0" y="167973"/>
                  </a:lnTo>
                  <a:lnTo>
                    <a:pt x="1295" y="185042"/>
                  </a:lnTo>
                  <a:lnTo>
                    <a:pt x="4734" y="201511"/>
                  </a:lnTo>
                  <a:lnTo>
                    <a:pt x="10106" y="217265"/>
                  </a:lnTo>
                  <a:lnTo>
                    <a:pt x="17183" y="232191"/>
                  </a:lnTo>
                  <a:lnTo>
                    <a:pt x="25756" y="246193"/>
                  </a:lnTo>
                  <a:lnTo>
                    <a:pt x="35576" y="259137"/>
                  </a:lnTo>
                  <a:lnTo>
                    <a:pt x="46434" y="270929"/>
                  </a:lnTo>
                  <a:lnTo>
                    <a:pt x="58102" y="281454"/>
                  </a:lnTo>
                  <a:lnTo>
                    <a:pt x="70371" y="290598"/>
                  </a:lnTo>
                  <a:lnTo>
                    <a:pt x="82991" y="298247"/>
                  </a:lnTo>
                  <a:lnTo>
                    <a:pt x="95764" y="304286"/>
                  </a:lnTo>
                  <a:lnTo>
                    <a:pt x="108452" y="308610"/>
                  </a:lnTo>
                  <a:lnTo>
                    <a:pt x="125511" y="313201"/>
                  </a:lnTo>
                  <a:lnTo>
                    <a:pt x="142342" y="315639"/>
                  </a:lnTo>
                  <a:lnTo>
                    <a:pt x="158877" y="316059"/>
                  </a:lnTo>
                  <a:lnTo>
                    <a:pt x="175050" y="314592"/>
                  </a:lnTo>
                  <a:lnTo>
                    <a:pt x="190786" y="311363"/>
                  </a:lnTo>
                  <a:lnTo>
                    <a:pt x="206016" y="306505"/>
                  </a:lnTo>
                  <a:lnTo>
                    <a:pt x="220666" y="300161"/>
                  </a:lnTo>
                  <a:lnTo>
                    <a:pt x="234667" y="292446"/>
                  </a:lnTo>
                  <a:lnTo>
                    <a:pt x="247945" y="283512"/>
                  </a:lnTo>
                  <a:lnTo>
                    <a:pt x="260433" y="273472"/>
                  </a:lnTo>
                  <a:lnTo>
                    <a:pt x="272053" y="262471"/>
                  </a:lnTo>
                  <a:lnTo>
                    <a:pt x="282740" y="250641"/>
                  </a:lnTo>
                  <a:lnTo>
                    <a:pt x="292418" y="238106"/>
                  </a:lnTo>
                  <a:lnTo>
                    <a:pt x="301019" y="225000"/>
                  </a:lnTo>
                  <a:lnTo>
                    <a:pt x="308477" y="211455"/>
                  </a:lnTo>
                  <a:lnTo>
                    <a:pt x="293989" y="206131"/>
                  </a:lnTo>
                  <a:lnTo>
                    <a:pt x="280245" y="199330"/>
                  </a:lnTo>
                  <a:lnTo>
                    <a:pt x="267195" y="191110"/>
                  </a:lnTo>
                  <a:lnTo>
                    <a:pt x="254813" y="181518"/>
                  </a:lnTo>
                  <a:lnTo>
                    <a:pt x="243068" y="170602"/>
                  </a:lnTo>
                  <a:lnTo>
                    <a:pt x="231943" y="158420"/>
                  </a:lnTo>
                  <a:lnTo>
                    <a:pt x="221390" y="145018"/>
                  </a:lnTo>
                  <a:lnTo>
                    <a:pt x="211388" y="130445"/>
                  </a:lnTo>
                  <a:lnTo>
                    <a:pt x="201901" y="114757"/>
                  </a:lnTo>
                  <a:lnTo>
                    <a:pt x="192910" y="98003"/>
                  </a:lnTo>
                  <a:lnTo>
                    <a:pt x="184366" y="80229"/>
                  </a:lnTo>
                  <a:lnTo>
                    <a:pt x="176251" y="61493"/>
                  </a:lnTo>
                  <a:lnTo>
                    <a:pt x="168535" y="41843"/>
                  </a:lnTo>
                  <a:lnTo>
                    <a:pt x="161192" y="21326"/>
                  </a:lnTo>
                  <a:lnTo>
                    <a:pt x="154172" y="0"/>
                  </a:lnTo>
                  <a:close/>
                </a:path>
              </a:pathLst>
            </a:custGeom>
            <a:solidFill>
              <a:srgbClr val="655F48"/>
            </a:solidFill>
            <a:ln w="9716">
              <a:noFill/>
              <a:prstDash val="solid"/>
            </a:ln>
          </p:spPr>
          <p:txBody>
            <a:bodyPr/>
            <a:lstStyle/>
            <a:p>
              <a:endParaRPr sz="1200"/>
            </a:p>
          </p:txBody>
        </p:sp>
        <p:sp>
          <p:nvSpPr>
            <p:cNvPr id="441" name="s3-local-rooster__contour_441">
              <a:extLst>
                <a:ext uri="{FF2B5EF4-FFF2-40B4-BE49-F238E27FC236}">
                  <a16:creationId xmlns:a16="http://schemas.microsoft.com/office/drawing/2014/main" id="{E28E3092-6CAA-4E4D-BC3E-4389D75A4076}"/>
                </a:ext>
              </a:extLst>
            </p:cNvPr>
            <p:cNvSpPr>
              <a:spLocks/>
            </p:cNvSpPr>
            <p:nvPr/>
          </p:nvSpPr>
          <p:spPr>
            <a:xfrm>
              <a:off x="8441468" y="3601129"/>
              <a:ext cx="132301" cy="215220"/>
            </a:xfrm>
            <a:custGeom>
              <a:avLst/>
              <a:gdLst/>
              <a:ahLst/>
              <a:cxnLst/>
              <a:rect l="0" t="0" r="0" b="0"/>
              <a:pathLst>
                <a:path w="198453" h="322831">
                  <a:moveTo>
                    <a:pt x="112728" y="42796"/>
                  </a:moveTo>
                  <a:lnTo>
                    <a:pt x="110852" y="34042"/>
                  </a:lnTo>
                  <a:lnTo>
                    <a:pt x="107594" y="26127"/>
                  </a:lnTo>
                  <a:lnTo>
                    <a:pt x="103127" y="19117"/>
                  </a:lnTo>
                  <a:lnTo>
                    <a:pt x="97593" y="13078"/>
                  </a:lnTo>
                  <a:lnTo>
                    <a:pt x="91135" y="8087"/>
                  </a:lnTo>
                  <a:lnTo>
                    <a:pt x="83925" y="4210"/>
                  </a:lnTo>
                  <a:lnTo>
                    <a:pt x="76105" y="1524"/>
                  </a:lnTo>
                  <a:lnTo>
                    <a:pt x="67818" y="95"/>
                  </a:lnTo>
                  <a:lnTo>
                    <a:pt x="59236" y="0"/>
                  </a:lnTo>
                  <a:lnTo>
                    <a:pt x="50502" y="1305"/>
                  </a:lnTo>
                  <a:lnTo>
                    <a:pt x="41758" y="4086"/>
                  </a:lnTo>
                  <a:lnTo>
                    <a:pt x="33176" y="8411"/>
                  </a:lnTo>
                  <a:lnTo>
                    <a:pt x="24898" y="14354"/>
                  </a:lnTo>
                  <a:lnTo>
                    <a:pt x="17069" y="21984"/>
                  </a:lnTo>
                  <a:lnTo>
                    <a:pt x="9858" y="31366"/>
                  </a:lnTo>
                  <a:lnTo>
                    <a:pt x="5029" y="42863"/>
                  </a:lnTo>
                  <a:lnTo>
                    <a:pt x="1886" y="54473"/>
                  </a:lnTo>
                  <a:lnTo>
                    <a:pt x="257" y="66161"/>
                  </a:lnTo>
                  <a:lnTo>
                    <a:pt x="0" y="77867"/>
                  </a:lnTo>
                  <a:lnTo>
                    <a:pt x="972" y="89573"/>
                  </a:lnTo>
                  <a:lnTo>
                    <a:pt x="3000" y="101222"/>
                  </a:lnTo>
                  <a:lnTo>
                    <a:pt x="5944" y="112786"/>
                  </a:lnTo>
                  <a:lnTo>
                    <a:pt x="9658" y="124216"/>
                  </a:lnTo>
                  <a:lnTo>
                    <a:pt x="13973" y="135474"/>
                  </a:lnTo>
                  <a:lnTo>
                    <a:pt x="18745" y="146514"/>
                  </a:lnTo>
                  <a:lnTo>
                    <a:pt x="23832" y="157305"/>
                  </a:lnTo>
                  <a:lnTo>
                    <a:pt x="29061" y="167792"/>
                  </a:lnTo>
                  <a:lnTo>
                    <a:pt x="34290" y="177956"/>
                  </a:lnTo>
                  <a:lnTo>
                    <a:pt x="39376" y="187738"/>
                  </a:lnTo>
                  <a:lnTo>
                    <a:pt x="44148" y="197101"/>
                  </a:lnTo>
                  <a:lnTo>
                    <a:pt x="49863" y="294256"/>
                  </a:lnTo>
                  <a:lnTo>
                    <a:pt x="78438" y="254251"/>
                  </a:lnTo>
                  <a:lnTo>
                    <a:pt x="95583" y="322831"/>
                  </a:lnTo>
                  <a:lnTo>
                    <a:pt x="124158" y="271396"/>
                  </a:lnTo>
                  <a:lnTo>
                    <a:pt x="158448" y="311401"/>
                  </a:lnTo>
                  <a:lnTo>
                    <a:pt x="164163" y="225676"/>
                  </a:lnTo>
                  <a:lnTo>
                    <a:pt x="198453" y="242821"/>
                  </a:lnTo>
                  <a:lnTo>
                    <a:pt x="189605" y="223276"/>
                  </a:lnTo>
                  <a:lnTo>
                    <a:pt x="181346" y="205626"/>
                  </a:lnTo>
                  <a:lnTo>
                    <a:pt x="173631" y="189652"/>
                  </a:lnTo>
                  <a:lnTo>
                    <a:pt x="166430" y="175098"/>
                  </a:lnTo>
                  <a:lnTo>
                    <a:pt x="159715" y="161754"/>
                  </a:lnTo>
                  <a:lnTo>
                    <a:pt x="153467" y="149371"/>
                  </a:lnTo>
                  <a:lnTo>
                    <a:pt x="147638" y="137722"/>
                  </a:lnTo>
                  <a:lnTo>
                    <a:pt x="142208" y="126559"/>
                  </a:lnTo>
                  <a:lnTo>
                    <a:pt x="137141" y="115672"/>
                  </a:lnTo>
                  <a:lnTo>
                    <a:pt x="132417" y="104813"/>
                  </a:lnTo>
                  <a:lnTo>
                    <a:pt x="127987" y="93755"/>
                  </a:lnTo>
                  <a:lnTo>
                    <a:pt x="123835" y="82248"/>
                  </a:lnTo>
                  <a:lnTo>
                    <a:pt x="119929" y="70085"/>
                  </a:lnTo>
                  <a:lnTo>
                    <a:pt x="116243" y="57007"/>
                  </a:lnTo>
                  <a:lnTo>
                    <a:pt x="112728" y="42796"/>
                  </a:lnTo>
                  <a:close/>
                </a:path>
              </a:pathLst>
            </a:custGeom>
            <a:solidFill>
              <a:srgbClr val="C69757"/>
            </a:solidFill>
            <a:ln w="6287">
              <a:solidFill>
                <a:srgbClr val="8D683E"/>
              </a:solidFill>
              <a:prstDash val="solid"/>
            </a:ln>
          </p:spPr>
          <p:txBody>
            <a:bodyPr/>
            <a:lstStyle/>
            <a:p>
              <a:endParaRPr sz="1200"/>
            </a:p>
          </p:txBody>
        </p:sp>
        <p:sp>
          <p:nvSpPr>
            <p:cNvPr id="442" name="s3-local-rooster__line_442">
              <a:extLst>
                <a:ext uri="{FF2B5EF4-FFF2-40B4-BE49-F238E27FC236}">
                  <a16:creationId xmlns:a16="http://schemas.microsoft.com/office/drawing/2014/main" id="{1A0BC8F2-2B0E-4BCA-89E3-7F3CBED71D62}"/>
                </a:ext>
              </a:extLst>
            </p:cNvPr>
            <p:cNvSpPr>
              <a:spLocks/>
            </p:cNvSpPr>
            <p:nvPr/>
          </p:nvSpPr>
          <p:spPr>
            <a:xfrm>
              <a:off x="8512810" y="3671570"/>
              <a:ext cx="26669" cy="76199"/>
            </a:xfrm>
            <a:custGeom>
              <a:avLst/>
              <a:gdLst/>
              <a:ahLst/>
              <a:cxnLst/>
              <a:rect l="0" t="0" r="0" b="0"/>
              <a:pathLst>
                <a:path w="40005" h="114300">
                  <a:moveTo>
                    <a:pt x="0" y="0"/>
                  </a:moveTo>
                  <a:lnTo>
                    <a:pt x="40005" y="114300"/>
                  </a:lnTo>
                </a:path>
              </a:pathLst>
            </a:custGeom>
            <a:noFill/>
            <a:ln w="5715">
              <a:solidFill>
                <a:srgbClr val="9C713D"/>
              </a:solidFill>
              <a:prstDash val="solid"/>
            </a:ln>
          </p:spPr>
          <p:txBody>
            <a:bodyPr/>
            <a:lstStyle/>
            <a:p>
              <a:endParaRPr sz="1200"/>
            </a:p>
          </p:txBody>
        </p:sp>
        <p:sp>
          <p:nvSpPr>
            <p:cNvPr id="443" name="s3-local-rooster__line_443">
              <a:extLst>
                <a:ext uri="{FF2B5EF4-FFF2-40B4-BE49-F238E27FC236}">
                  <a16:creationId xmlns:a16="http://schemas.microsoft.com/office/drawing/2014/main" id="{3F8EBD06-AFC3-4958-B208-97B130498FC9}"/>
                </a:ext>
              </a:extLst>
            </p:cNvPr>
            <p:cNvSpPr>
              <a:spLocks/>
            </p:cNvSpPr>
            <p:nvPr/>
          </p:nvSpPr>
          <p:spPr>
            <a:xfrm>
              <a:off x="8493760" y="3675380"/>
              <a:ext cx="15239" cy="95249"/>
            </a:xfrm>
            <a:custGeom>
              <a:avLst/>
              <a:gdLst/>
              <a:ahLst/>
              <a:cxnLst/>
              <a:rect l="0" t="0" r="0" b="0"/>
              <a:pathLst>
                <a:path w="22860" h="142875">
                  <a:moveTo>
                    <a:pt x="0" y="0"/>
                  </a:moveTo>
                  <a:lnTo>
                    <a:pt x="22860" y="142875"/>
                  </a:lnTo>
                </a:path>
              </a:pathLst>
            </a:custGeom>
            <a:noFill/>
            <a:ln w="5715">
              <a:solidFill>
                <a:srgbClr val="9C713D"/>
              </a:solidFill>
              <a:prstDash val="solid"/>
            </a:ln>
          </p:spPr>
          <p:txBody>
            <a:bodyPr/>
            <a:lstStyle/>
            <a:p>
              <a:endParaRPr sz="1200"/>
            </a:p>
          </p:txBody>
        </p:sp>
        <p:sp>
          <p:nvSpPr>
            <p:cNvPr id="444" name="s3-local-rooster__line_444">
              <a:extLst>
                <a:ext uri="{FF2B5EF4-FFF2-40B4-BE49-F238E27FC236}">
                  <a16:creationId xmlns:a16="http://schemas.microsoft.com/office/drawing/2014/main" id="{30AD9DC1-C341-471A-926B-CA0422C76D74}"/>
                </a:ext>
              </a:extLst>
            </p:cNvPr>
            <p:cNvSpPr>
              <a:spLocks/>
            </p:cNvSpPr>
            <p:nvPr/>
          </p:nvSpPr>
          <p:spPr>
            <a:xfrm>
              <a:off x="8474710" y="3675380"/>
              <a:ext cx="7619" cy="72389"/>
            </a:xfrm>
            <a:custGeom>
              <a:avLst/>
              <a:gdLst/>
              <a:ahLst/>
              <a:cxnLst/>
              <a:rect l="0" t="0" r="0" b="0"/>
              <a:pathLst>
                <a:path w="11430" h="108585">
                  <a:moveTo>
                    <a:pt x="0" y="0"/>
                  </a:moveTo>
                  <a:lnTo>
                    <a:pt x="11430" y="108585"/>
                  </a:lnTo>
                </a:path>
              </a:pathLst>
            </a:custGeom>
            <a:noFill/>
            <a:ln w="5715">
              <a:solidFill>
                <a:srgbClr val="9C713D"/>
              </a:solidFill>
              <a:prstDash val="solid"/>
            </a:ln>
          </p:spPr>
          <p:txBody>
            <a:bodyPr/>
            <a:lstStyle/>
            <a:p>
              <a:endParaRPr sz="1200"/>
            </a:p>
          </p:txBody>
        </p:sp>
        <p:sp>
          <p:nvSpPr>
            <p:cNvPr id="445" name="s3-local-rooster__contour_445">
              <a:extLst>
                <a:ext uri="{FF2B5EF4-FFF2-40B4-BE49-F238E27FC236}">
                  <a16:creationId xmlns:a16="http://schemas.microsoft.com/office/drawing/2014/main" id="{BC7E8E71-AB27-4498-985E-DF0558CEA435}"/>
                </a:ext>
              </a:extLst>
            </p:cNvPr>
            <p:cNvSpPr>
              <a:spLocks/>
            </p:cNvSpPr>
            <p:nvPr/>
          </p:nvSpPr>
          <p:spPr>
            <a:xfrm>
              <a:off x="8554720" y="3754545"/>
              <a:ext cx="153073" cy="104387"/>
            </a:xfrm>
            <a:custGeom>
              <a:avLst/>
              <a:gdLst/>
              <a:ahLst/>
              <a:cxnLst/>
              <a:rect l="0" t="0" r="0" b="0"/>
              <a:pathLst>
                <a:path w="229610" h="156581">
                  <a:moveTo>
                    <a:pt x="217170" y="29842"/>
                  </a:moveTo>
                  <a:lnTo>
                    <a:pt x="199968" y="19545"/>
                  </a:lnTo>
                  <a:lnTo>
                    <a:pt x="182709" y="11468"/>
                  </a:lnTo>
                  <a:lnTo>
                    <a:pt x="165506" y="5563"/>
                  </a:lnTo>
                  <a:lnTo>
                    <a:pt x="148457" y="1762"/>
                  </a:lnTo>
                  <a:lnTo>
                    <a:pt x="131655" y="0"/>
                  </a:lnTo>
                  <a:lnTo>
                    <a:pt x="115214" y="219"/>
                  </a:lnTo>
                  <a:lnTo>
                    <a:pt x="99231" y="2353"/>
                  </a:lnTo>
                  <a:lnTo>
                    <a:pt x="83801" y="6353"/>
                  </a:lnTo>
                  <a:lnTo>
                    <a:pt x="69037" y="12144"/>
                  </a:lnTo>
                  <a:lnTo>
                    <a:pt x="55035" y="19679"/>
                  </a:lnTo>
                  <a:lnTo>
                    <a:pt x="41891" y="28889"/>
                  </a:lnTo>
                  <a:lnTo>
                    <a:pt x="29718" y="39719"/>
                  </a:lnTo>
                  <a:lnTo>
                    <a:pt x="18612" y="52102"/>
                  </a:lnTo>
                  <a:lnTo>
                    <a:pt x="8668" y="65970"/>
                  </a:lnTo>
                  <a:lnTo>
                    <a:pt x="0" y="81277"/>
                  </a:lnTo>
                  <a:lnTo>
                    <a:pt x="5163" y="93250"/>
                  </a:lnTo>
                  <a:lnTo>
                    <a:pt x="11411" y="104042"/>
                  </a:lnTo>
                  <a:lnTo>
                    <a:pt x="18612" y="113690"/>
                  </a:lnTo>
                  <a:lnTo>
                    <a:pt x="26632" y="122253"/>
                  </a:lnTo>
                  <a:lnTo>
                    <a:pt x="35347" y="129750"/>
                  </a:lnTo>
                  <a:lnTo>
                    <a:pt x="44625" y="136236"/>
                  </a:lnTo>
                  <a:lnTo>
                    <a:pt x="54321" y="141742"/>
                  </a:lnTo>
                  <a:lnTo>
                    <a:pt x="64322" y="146314"/>
                  </a:lnTo>
                  <a:lnTo>
                    <a:pt x="74476" y="149990"/>
                  </a:lnTo>
                  <a:lnTo>
                    <a:pt x="84668" y="152819"/>
                  </a:lnTo>
                  <a:lnTo>
                    <a:pt x="94755" y="154829"/>
                  </a:lnTo>
                  <a:lnTo>
                    <a:pt x="104604" y="156077"/>
                  </a:lnTo>
                  <a:lnTo>
                    <a:pt x="114090" y="156581"/>
                  </a:lnTo>
                  <a:lnTo>
                    <a:pt x="123082" y="156400"/>
                  </a:lnTo>
                  <a:lnTo>
                    <a:pt x="131445" y="155572"/>
                  </a:lnTo>
                  <a:lnTo>
                    <a:pt x="148590" y="138427"/>
                  </a:lnTo>
                  <a:lnTo>
                    <a:pt x="171450" y="138427"/>
                  </a:lnTo>
                  <a:lnTo>
                    <a:pt x="205740" y="104137"/>
                  </a:lnTo>
                  <a:lnTo>
                    <a:pt x="210150" y="98498"/>
                  </a:lnTo>
                  <a:lnTo>
                    <a:pt x="214217" y="93002"/>
                  </a:lnTo>
                  <a:lnTo>
                    <a:pt x="217903" y="87630"/>
                  </a:lnTo>
                  <a:lnTo>
                    <a:pt x="221151" y="82391"/>
                  </a:lnTo>
                  <a:lnTo>
                    <a:pt x="223942" y="77257"/>
                  </a:lnTo>
                  <a:lnTo>
                    <a:pt x="226219" y="72228"/>
                  </a:lnTo>
                  <a:lnTo>
                    <a:pt x="227952" y="67285"/>
                  </a:lnTo>
                  <a:lnTo>
                    <a:pt x="229095" y="62427"/>
                  </a:lnTo>
                  <a:lnTo>
                    <a:pt x="229610" y="57636"/>
                  </a:lnTo>
                  <a:lnTo>
                    <a:pt x="229448" y="52911"/>
                  </a:lnTo>
                  <a:lnTo>
                    <a:pt x="228581" y="48235"/>
                  </a:lnTo>
                  <a:lnTo>
                    <a:pt x="226952" y="43605"/>
                  </a:lnTo>
                  <a:lnTo>
                    <a:pt x="224542" y="38995"/>
                  </a:lnTo>
                  <a:lnTo>
                    <a:pt x="221294" y="34414"/>
                  </a:lnTo>
                  <a:lnTo>
                    <a:pt x="217170" y="29842"/>
                  </a:lnTo>
                  <a:close/>
                </a:path>
              </a:pathLst>
            </a:custGeom>
            <a:solidFill>
              <a:srgbClr val="824F35"/>
            </a:solidFill>
            <a:ln w="9716">
              <a:solidFill>
                <a:srgbClr val="4A5147"/>
              </a:solidFill>
              <a:prstDash val="solid"/>
            </a:ln>
          </p:spPr>
          <p:txBody>
            <a:bodyPr/>
            <a:lstStyle/>
            <a:p>
              <a:endParaRPr sz="1200"/>
            </a:p>
          </p:txBody>
        </p:sp>
        <p:sp>
          <p:nvSpPr>
            <p:cNvPr id="446" name="s3-local-rooster__contour_446">
              <a:extLst>
                <a:ext uri="{FF2B5EF4-FFF2-40B4-BE49-F238E27FC236}">
                  <a16:creationId xmlns:a16="http://schemas.microsoft.com/office/drawing/2014/main" id="{39E0397C-3523-470C-A359-2DFF6C83F482}"/>
                </a:ext>
              </a:extLst>
            </p:cNvPr>
            <p:cNvSpPr>
              <a:spLocks/>
            </p:cNvSpPr>
            <p:nvPr/>
          </p:nvSpPr>
          <p:spPr>
            <a:xfrm>
              <a:off x="8577580" y="3782123"/>
              <a:ext cx="110489" cy="38036"/>
            </a:xfrm>
            <a:custGeom>
              <a:avLst/>
              <a:gdLst/>
              <a:ahLst/>
              <a:cxnLst/>
              <a:rect l="0" t="0" r="0" b="0"/>
              <a:pathLst>
                <a:path w="165735" h="57055">
                  <a:moveTo>
                    <a:pt x="165735" y="5620"/>
                  </a:moveTo>
                  <a:lnTo>
                    <a:pt x="152029" y="2715"/>
                  </a:lnTo>
                  <a:lnTo>
                    <a:pt x="138398" y="857"/>
                  </a:lnTo>
                  <a:lnTo>
                    <a:pt x="124911" y="0"/>
                  </a:lnTo>
                  <a:lnTo>
                    <a:pt x="111633" y="114"/>
                  </a:lnTo>
                  <a:lnTo>
                    <a:pt x="98641" y="1172"/>
                  </a:lnTo>
                  <a:lnTo>
                    <a:pt x="86001" y="3153"/>
                  </a:lnTo>
                  <a:lnTo>
                    <a:pt x="73790" y="6010"/>
                  </a:lnTo>
                  <a:lnTo>
                    <a:pt x="62074" y="9725"/>
                  </a:lnTo>
                  <a:lnTo>
                    <a:pt x="50930" y="14259"/>
                  </a:lnTo>
                  <a:lnTo>
                    <a:pt x="40424" y="19593"/>
                  </a:lnTo>
                  <a:lnTo>
                    <a:pt x="30632" y="25679"/>
                  </a:lnTo>
                  <a:lnTo>
                    <a:pt x="21622" y="32499"/>
                  </a:lnTo>
                  <a:lnTo>
                    <a:pt x="13468" y="40024"/>
                  </a:lnTo>
                  <a:lnTo>
                    <a:pt x="6239" y="48225"/>
                  </a:lnTo>
                  <a:lnTo>
                    <a:pt x="0" y="57055"/>
                  </a:lnTo>
                </a:path>
              </a:pathLst>
            </a:custGeom>
            <a:noFill/>
            <a:ln w="7430">
              <a:solidFill>
                <a:srgbClr val="D19051"/>
              </a:solidFill>
              <a:prstDash val="solid"/>
            </a:ln>
          </p:spPr>
          <p:txBody>
            <a:bodyPr/>
            <a:lstStyle/>
            <a:p>
              <a:endParaRPr sz="1200"/>
            </a:p>
          </p:txBody>
        </p:sp>
        <p:sp>
          <p:nvSpPr>
            <p:cNvPr id="447" name="s3-local-rooster__contour_447">
              <a:extLst>
                <a:ext uri="{FF2B5EF4-FFF2-40B4-BE49-F238E27FC236}">
                  <a16:creationId xmlns:a16="http://schemas.microsoft.com/office/drawing/2014/main" id="{3A959C96-D80E-490B-9A18-63385187E0E0}"/>
                </a:ext>
              </a:extLst>
            </p:cNvPr>
            <p:cNvSpPr>
              <a:spLocks/>
            </p:cNvSpPr>
            <p:nvPr/>
          </p:nvSpPr>
          <p:spPr>
            <a:xfrm>
              <a:off x="8410245" y="3549149"/>
              <a:ext cx="112204" cy="69081"/>
            </a:xfrm>
            <a:custGeom>
              <a:avLst/>
              <a:gdLst/>
              <a:ahLst/>
              <a:cxnLst/>
              <a:rect l="0" t="0" r="0" b="0"/>
              <a:pathLst>
                <a:path w="168307" h="103622">
                  <a:moveTo>
                    <a:pt x="142418" y="86477"/>
                  </a:moveTo>
                  <a:lnTo>
                    <a:pt x="149743" y="82982"/>
                  </a:lnTo>
                  <a:lnTo>
                    <a:pt x="155762" y="79372"/>
                  </a:lnTo>
                  <a:lnTo>
                    <a:pt x="160525" y="75686"/>
                  </a:lnTo>
                  <a:lnTo>
                    <a:pt x="164097" y="71980"/>
                  </a:lnTo>
                  <a:lnTo>
                    <a:pt x="166545" y="68275"/>
                  </a:lnTo>
                  <a:lnTo>
                    <a:pt x="167926" y="64627"/>
                  </a:lnTo>
                  <a:lnTo>
                    <a:pt x="168307" y="61065"/>
                  </a:lnTo>
                  <a:lnTo>
                    <a:pt x="167735" y="57636"/>
                  </a:lnTo>
                  <a:lnTo>
                    <a:pt x="166287" y="54378"/>
                  </a:lnTo>
                  <a:lnTo>
                    <a:pt x="164011" y="51340"/>
                  </a:lnTo>
                  <a:lnTo>
                    <a:pt x="160972" y="48549"/>
                  </a:lnTo>
                  <a:lnTo>
                    <a:pt x="157229" y="46063"/>
                  </a:lnTo>
                  <a:lnTo>
                    <a:pt x="152848" y="43901"/>
                  </a:lnTo>
                  <a:lnTo>
                    <a:pt x="147895" y="42120"/>
                  </a:lnTo>
                  <a:lnTo>
                    <a:pt x="142418" y="40757"/>
                  </a:lnTo>
                  <a:lnTo>
                    <a:pt x="146390" y="36271"/>
                  </a:lnTo>
                  <a:lnTo>
                    <a:pt x="149228" y="32004"/>
                  </a:lnTo>
                  <a:lnTo>
                    <a:pt x="151009" y="28003"/>
                  </a:lnTo>
                  <a:lnTo>
                    <a:pt x="151819" y="24336"/>
                  </a:lnTo>
                  <a:lnTo>
                    <a:pt x="151733" y="21069"/>
                  </a:lnTo>
                  <a:lnTo>
                    <a:pt x="150828" y="18259"/>
                  </a:lnTo>
                  <a:lnTo>
                    <a:pt x="149200" y="15973"/>
                  </a:lnTo>
                  <a:lnTo>
                    <a:pt x="146914" y="14259"/>
                  </a:lnTo>
                  <a:lnTo>
                    <a:pt x="144066" y="13192"/>
                  </a:lnTo>
                  <a:lnTo>
                    <a:pt x="140722" y="12821"/>
                  </a:lnTo>
                  <a:lnTo>
                    <a:pt x="136979" y="13211"/>
                  </a:lnTo>
                  <a:lnTo>
                    <a:pt x="132912" y="14421"/>
                  </a:lnTo>
                  <a:lnTo>
                    <a:pt x="128597" y="16516"/>
                  </a:lnTo>
                  <a:lnTo>
                    <a:pt x="124120" y="19564"/>
                  </a:lnTo>
                  <a:lnTo>
                    <a:pt x="119558" y="23612"/>
                  </a:lnTo>
                  <a:lnTo>
                    <a:pt x="118129" y="17278"/>
                  </a:lnTo>
                  <a:lnTo>
                    <a:pt x="116176" y="11992"/>
                  </a:lnTo>
                  <a:lnTo>
                    <a:pt x="113795" y="7706"/>
                  </a:lnTo>
                  <a:lnTo>
                    <a:pt x="111081" y="4391"/>
                  </a:lnTo>
                  <a:lnTo>
                    <a:pt x="108128" y="2019"/>
                  </a:lnTo>
                  <a:lnTo>
                    <a:pt x="105023" y="571"/>
                  </a:lnTo>
                  <a:lnTo>
                    <a:pt x="101851" y="0"/>
                  </a:lnTo>
                  <a:lnTo>
                    <a:pt x="98708" y="286"/>
                  </a:lnTo>
                  <a:lnTo>
                    <a:pt x="95688" y="1391"/>
                  </a:lnTo>
                  <a:lnTo>
                    <a:pt x="92888" y="3296"/>
                  </a:lnTo>
                  <a:lnTo>
                    <a:pt x="90392" y="5953"/>
                  </a:lnTo>
                  <a:lnTo>
                    <a:pt x="88287" y="9344"/>
                  </a:lnTo>
                  <a:lnTo>
                    <a:pt x="86668" y="13440"/>
                  </a:lnTo>
                  <a:lnTo>
                    <a:pt x="85630" y="18212"/>
                  </a:lnTo>
                  <a:lnTo>
                    <a:pt x="85268" y="23612"/>
                  </a:lnTo>
                  <a:lnTo>
                    <a:pt x="79496" y="16431"/>
                  </a:lnTo>
                  <a:lnTo>
                    <a:pt x="73685" y="10839"/>
                  </a:lnTo>
                  <a:lnTo>
                    <a:pt x="67942" y="6744"/>
                  </a:lnTo>
                  <a:lnTo>
                    <a:pt x="62379" y="4048"/>
                  </a:lnTo>
                  <a:lnTo>
                    <a:pt x="57112" y="2657"/>
                  </a:lnTo>
                  <a:lnTo>
                    <a:pt x="52254" y="2486"/>
                  </a:lnTo>
                  <a:lnTo>
                    <a:pt x="47920" y="3448"/>
                  </a:lnTo>
                  <a:lnTo>
                    <a:pt x="44206" y="5448"/>
                  </a:lnTo>
                  <a:lnTo>
                    <a:pt x="41243" y="8392"/>
                  </a:lnTo>
                  <a:lnTo>
                    <a:pt x="39129" y="12182"/>
                  </a:lnTo>
                  <a:lnTo>
                    <a:pt x="37976" y="16735"/>
                  </a:lnTo>
                  <a:lnTo>
                    <a:pt x="37900" y="21965"/>
                  </a:lnTo>
                  <a:lnTo>
                    <a:pt x="39014" y="27775"/>
                  </a:lnTo>
                  <a:lnTo>
                    <a:pt x="41434" y="34071"/>
                  </a:lnTo>
                  <a:lnTo>
                    <a:pt x="45263" y="40757"/>
                  </a:lnTo>
                  <a:lnTo>
                    <a:pt x="36509" y="35862"/>
                  </a:lnTo>
                  <a:lnTo>
                    <a:pt x="28565" y="32528"/>
                  </a:lnTo>
                  <a:lnTo>
                    <a:pt x="21488" y="30651"/>
                  </a:lnTo>
                  <a:lnTo>
                    <a:pt x="15326" y="30118"/>
                  </a:lnTo>
                  <a:lnTo>
                    <a:pt x="10125" y="30813"/>
                  </a:lnTo>
                  <a:lnTo>
                    <a:pt x="5944" y="32623"/>
                  </a:lnTo>
                  <a:lnTo>
                    <a:pt x="2829" y="35433"/>
                  </a:lnTo>
                  <a:lnTo>
                    <a:pt x="829" y="39148"/>
                  </a:lnTo>
                  <a:lnTo>
                    <a:pt x="0" y="43634"/>
                  </a:lnTo>
                  <a:lnTo>
                    <a:pt x="391" y="48797"/>
                  </a:lnTo>
                  <a:lnTo>
                    <a:pt x="2048" y="54521"/>
                  </a:lnTo>
                  <a:lnTo>
                    <a:pt x="5029" y="60693"/>
                  </a:lnTo>
                  <a:lnTo>
                    <a:pt x="9382" y="67199"/>
                  </a:lnTo>
                  <a:lnTo>
                    <a:pt x="15154" y="73924"/>
                  </a:lnTo>
                  <a:lnTo>
                    <a:pt x="22403" y="80762"/>
                  </a:lnTo>
                  <a:lnTo>
                    <a:pt x="62408" y="103622"/>
                  </a:lnTo>
                  <a:close/>
                </a:path>
              </a:pathLst>
            </a:custGeom>
            <a:solidFill>
              <a:srgbClr val="B8493E"/>
            </a:solidFill>
            <a:ln w="6287">
              <a:solidFill>
                <a:srgbClr val="803B33"/>
              </a:solidFill>
              <a:prstDash val="solid"/>
            </a:ln>
          </p:spPr>
          <p:txBody>
            <a:bodyPr/>
            <a:lstStyle/>
            <a:p>
              <a:endParaRPr sz="1200"/>
            </a:p>
          </p:txBody>
        </p:sp>
        <p:sp>
          <p:nvSpPr>
            <p:cNvPr id="448" name="s3-local-rooster__contour_448">
              <a:extLst>
                <a:ext uri="{FF2B5EF4-FFF2-40B4-BE49-F238E27FC236}">
                  <a16:creationId xmlns:a16="http://schemas.microsoft.com/office/drawing/2014/main" id="{64BB6053-0E67-422A-858E-348126BE0D00}"/>
                </a:ext>
              </a:extLst>
            </p:cNvPr>
            <p:cNvSpPr>
              <a:spLocks/>
            </p:cNvSpPr>
            <p:nvPr/>
          </p:nvSpPr>
          <p:spPr>
            <a:xfrm>
              <a:off x="8383270" y="3644900"/>
              <a:ext cx="49529" cy="34289"/>
            </a:xfrm>
            <a:custGeom>
              <a:avLst/>
              <a:gdLst/>
              <a:ahLst/>
              <a:cxnLst/>
              <a:rect l="0" t="0" r="0" b="0"/>
              <a:pathLst>
                <a:path w="74295" h="51435">
                  <a:moveTo>
                    <a:pt x="74295" y="0"/>
                  </a:moveTo>
                  <a:lnTo>
                    <a:pt x="0" y="28575"/>
                  </a:lnTo>
                  <a:lnTo>
                    <a:pt x="68580" y="51435"/>
                  </a:lnTo>
                  <a:close/>
                </a:path>
              </a:pathLst>
            </a:custGeom>
            <a:solidFill>
              <a:srgbClr val="CEA653"/>
            </a:solidFill>
            <a:ln w="6287">
              <a:solidFill>
                <a:srgbClr val="8D7239"/>
              </a:solidFill>
              <a:prstDash val="solid"/>
            </a:ln>
          </p:spPr>
          <p:txBody>
            <a:bodyPr/>
            <a:lstStyle/>
            <a:p>
              <a:endParaRPr sz="1200"/>
            </a:p>
          </p:txBody>
        </p:sp>
        <p:sp>
          <p:nvSpPr>
            <p:cNvPr id="449" name="s3-local-rooster__ellipse_449">
              <a:extLst>
                <a:ext uri="{FF2B5EF4-FFF2-40B4-BE49-F238E27FC236}">
                  <a16:creationId xmlns:a16="http://schemas.microsoft.com/office/drawing/2014/main" id="{D6C63551-426A-41B5-8AC4-EF6E316C5EFF}"/>
                </a:ext>
              </a:extLst>
            </p:cNvPr>
            <p:cNvSpPr>
              <a:spLocks/>
            </p:cNvSpPr>
            <p:nvPr/>
          </p:nvSpPr>
          <p:spPr>
            <a:xfrm>
              <a:off x="8440420" y="3683000"/>
              <a:ext cx="30479" cy="53339"/>
            </a:xfrm>
            <a:prstGeom prst="ellipse">
              <a:avLst/>
            </a:prstGeom>
            <a:solidFill>
              <a:srgbClr val="B8493E"/>
            </a:solidFill>
            <a:ln w="5715">
              <a:solidFill>
                <a:srgbClr val="803B33"/>
              </a:solidFill>
              <a:prstDash val="solid"/>
            </a:ln>
          </p:spPr>
          <p:txBody>
            <a:bodyPr/>
            <a:lstStyle/>
            <a:p>
              <a:endParaRPr sz="1200"/>
            </a:p>
          </p:txBody>
        </p:sp>
        <p:sp>
          <p:nvSpPr>
            <p:cNvPr id="450" name="s3-local-rooster__ellipse_450">
              <a:extLst>
                <a:ext uri="{FF2B5EF4-FFF2-40B4-BE49-F238E27FC236}">
                  <a16:creationId xmlns:a16="http://schemas.microsoft.com/office/drawing/2014/main" id="{011C0084-0BB9-43F9-861C-3C302840CA3E}"/>
                </a:ext>
              </a:extLst>
            </p:cNvPr>
            <p:cNvSpPr>
              <a:spLocks/>
            </p:cNvSpPr>
            <p:nvPr/>
          </p:nvSpPr>
          <p:spPr>
            <a:xfrm>
              <a:off x="8448040" y="3644900"/>
              <a:ext cx="15239" cy="22859"/>
            </a:xfrm>
            <a:prstGeom prst="ellipse">
              <a:avLst/>
            </a:prstGeom>
            <a:solidFill>
              <a:srgbClr val="F2E7D1"/>
            </a:solidFill>
            <a:ln w="0">
              <a:noFill/>
              <a:prstDash val="solid"/>
            </a:ln>
          </p:spPr>
          <p:txBody>
            <a:bodyPr/>
            <a:lstStyle/>
            <a:p>
              <a:endParaRPr sz="1200"/>
            </a:p>
          </p:txBody>
        </p:sp>
        <p:sp>
          <p:nvSpPr>
            <p:cNvPr id="451" name="s3-local-rooster__ellipse_451">
              <a:extLst>
                <a:ext uri="{FF2B5EF4-FFF2-40B4-BE49-F238E27FC236}">
                  <a16:creationId xmlns:a16="http://schemas.microsoft.com/office/drawing/2014/main" id="{12174F3A-262D-4B2B-9A5D-508408DDEC20}"/>
                </a:ext>
              </a:extLst>
            </p:cNvPr>
            <p:cNvSpPr>
              <a:spLocks/>
            </p:cNvSpPr>
            <p:nvPr/>
          </p:nvSpPr>
          <p:spPr>
            <a:xfrm>
              <a:off x="8436610" y="3625850"/>
              <a:ext cx="15239" cy="15239"/>
            </a:xfrm>
            <a:prstGeom prst="ellipse">
              <a:avLst/>
            </a:prstGeom>
            <a:solidFill>
              <a:srgbClr val="1F2B28"/>
            </a:solidFill>
            <a:ln w="0">
              <a:noFill/>
              <a:prstDash val="solid"/>
            </a:ln>
          </p:spPr>
          <p:txBody>
            <a:bodyPr/>
            <a:lstStyle/>
            <a:p>
              <a:endParaRPr sz="1200"/>
            </a:p>
          </p:txBody>
        </p:sp>
        <p:sp>
          <p:nvSpPr>
            <p:cNvPr id="452" name="s3-local-rooster__ellipse_452">
              <a:extLst>
                <a:ext uri="{FF2B5EF4-FFF2-40B4-BE49-F238E27FC236}">
                  <a16:creationId xmlns:a16="http://schemas.microsoft.com/office/drawing/2014/main" id="{1141F981-17D3-447B-8EF8-887C11D6BFA6}"/>
                </a:ext>
              </a:extLst>
            </p:cNvPr>
            <p:cNvSpPr>
              <a:spLocks/>
            </p:cNvSpPr>
            <p:nvPr/>
          </p:nvSpPr>
          <p:spPr>
            <a:xfrm>
              <a:off x="8444230" y="3626612"/>
              <a:ext cx="4191" cy="4191"/>
            </a:xfrm>
            <a:prstGeom prst="ellipse">
              <a:avLst/>
            </a:prstGeom>
            <a:solidFill>
              <a:srgbClr val="FFFFFF"/>
            </a:solidFill>
            <a:ln w="0">
              <a:noFill/>
              <a:prstDash val="solid"/>
            </a:ln>
          </p:spPr>
          <p:txBody>
            <a:bodyPr/>
            <a:lstStyle/>
            <a:p>
              <a:endParaRPr sz="1200"/>
            </a:p>
          </p:txBody>
        </p:sp>
        <p:sp>
          <p:nvSpPr>
            <p:cNvPr id="453" name="s3-introgression-arrow__wild-introgression_453">
              <a:extLst>
                <a:ext uri="{FF2B5EF4-FFF2-40B4-BE49-F238E27FC236}">
                  <a16:creationId xmlns:a16="http://schemas.microsoft.com/office/drawing/2014/main" id="{287EB889-FF26-4EF5-B269-22B223356AA2}"/>
                </a:ext>
              </a:extLst>
            </p:cNvPr>
            <p:cNvSpPr>
              <a:spLocks/>
            </p:cNvSpPr>
            <p:nvPr/>
          </p:nvSpPr>
          <p:spPr>
            <a:xfrm>
              <a:off x="7061200" y="3892550"/>
              <a:ext cx="603250" cy="63"/>
            </a:xfrm>
            <a:custGeom>
              <a:avLst/>
              <a:gdLst/>
              <a:ahLst/>
              <a:cxnLst/>
              <a:rect l="0" t="0" r="0" b="0"/>
              <a:pathLst>
                <a:path w="904875" h="95">
                  <a:moveTo>
                    <a:pt x="0" y="0"/>
                  </a:moveTo>
                  <a:lnTo>
                    <a:pt x="904875" y="0"/>
                  </a:lnTo>
                </a:path>
              </a:pathLst>
            </a:custGeom>
            <a:noFill/>
            <a:ln w="30480">
              <a:solidFill>
                <a:srgbClr val="547F62"/>
              </a:solidFill>
              <a:prstDash val="solid"/>
            </a:ln>
          </p:spPr>
          <p:txBody>
            <a:bodyPr/>
            <a:lstStyle/>
            <a:p>
              <a:endParaRPr sz="1200"/>
            </a:p>
          </p:txBody>
        </p:sp>
        <p:sp>
          <p:nvSpPr>
            <p:cNvPr id="454" name="s3-introgression-arrow__wild-introgression-tip_454">
              <a:extLst>
                <a:ext uri="{FF2B5EF4-FFF2-40B4-BE49-F238E27FC236}">
                  <a16:creationId xmlns:a16="http://schemas.microsoft.com/office/drawing/2014/main" id="{FC94F305-0EB1-44B4-98AD-68324407F617}"/>
                </a:ext>
              </a:extLst>
            </p:cNvPr>
            <p:cNvSpPr>
              <a:spLocks/>
            </p:cNvSpPr>
            <p:nvPr/>
          </p:nvSpPr>
          <p:spPr>
            <a:xfrm>
              <a:off x="7588250" y="3852926"/>
              <a:ext cx="76200" cy="79248"/>
            </a:xfrm>
            <a:custGeom>
              <a:avLst/>
              <a:gdLst/>
              <a:ahLst/>
              <a:cxnLst/>
              <a:rect l="0" t="0" r="0" b="0"/>
              <a:pathLst>
                <a:path w="114300" h="118872">
                  <a:moveTo>
                    <a:pt x="114300" y="59436"/>
                  </a:moveTo>
                  <a:lnTo>
                    <a:pt x="0" y="0"/>
                  </a:lnTo>
                  <a:lnTo>
                    <a:pt x="0" y="118872"/>
                  </a:lnTo>
                  <a:close/>
                </a:path>
              </a:pathLst>
            </a:custGeom>
            <a:solidFill>
              <a:srgbClr val="547F62"/>
            </a:solidFill>
            <a:ln w="0">
              <a:noFill/>
              <a:prstDash val="solid"/>
            </a:ln>
          </p:spPr>
          <p:txBody>
            <a:bodyPr/>
            <a:lstStyle/>
            <a:p>
              <a:endParaRPr sz="1200"/>
            </a:p>
          </p:txBody>
        </p:sp>
        <p:sp>
          <p:nvSpPr>
            <p:cNvPr id="455" name="diagram__introgression-label_455">
              <a:extLst>
                <a:ext uri="{FF2B5EF4-FFF2-40B4-BE49-F238E27FC236}">
                  <a16:creationId xmlns:a16="http://schemas.microsoft.com/office/drawing/2014/main" id="{C8565EE1-0033-4488-9B7C-0392199F092A}"/>
                </a:ext>
              </a:extLst>
            </p:cNvPr>
            <p:cNvSpPr>
              <a:spLocks/>
            </p:cNvSpPr>
            <p:nvPr/>
          </p:nvSpPr>
          <p:spPr>
            <a:xfrm>
              <a:off x="7048500" y="3136900"/>
              <a:ext cx="1270000" cy="450850"/>
            </a:xfrm>
            <a:prstGeom prst="rect">
              <a:avLst/>
            </a:prstGeom>
            <a:noFill/>
            <a:ln w="0">
              <a:noFill/>
            </a:ln>
          </p:spPr>
          <p:txBody>
            <a:bodyPr wrap="none" lIns="0" tIns="0" rIns="0" bIns="0" anchor="t">
              <a:noAutofit/>
            </a:bodyPr>
            <a:lstStyle>
              <a:defPPr algn="ctr">
                <a:defRPr sz="1200" b="0">
                  <a:solidFill>
                    <a:srgbClr val="547F62"/>
                  </a:solidFill>
                  <a:latin typeface="Microsoft YaHei"/>
                  <a:ea typeface="Microsoft YaHei"/>
                  <a:cs typeface="Microsoft YaHei"/>
                </a:defRPr>
              </a:defPPr>
            </a:lstStyle>
            <a:p>
              <a:pPr algn="ctr">
                <a:lnSpc>
                  <a:spcPct val="116000"/>
                </a:lnSpc>
                <a:buNone/>
                <a:defRPr sz="1200" b="0">
                  <a:solidFill>
                    <a:srgbClr val="547F62"/>
                  </a:solidFill>
                  <a:latin typeface="Microsoft YaHei"/>
                  <a:ea typeface="Microsoft YaHei"/>
                  <a:cs typeface="Microsoft YaHei"/>
                </a:defRPr>
              </a:pPr>
              <a:r>
                <a:rPr sz="1200">
                  <a:solidFill>
                    <a:srgbClr val="547F62"/>
                  </a:solidFill>
                  <a:latin typeface="Microsoft YaHei"/>
                  <a:ea typeface="Microsoft YaHei"/>
                  <a:cs typeface="Microsoft YaHei"/>
                </a:rPr>
                <a:t>杂交与局部</a:t>
              </a:r>
            </a:p>
            <a:p>
              <a:pPr algn="ctr">
                <a:lnSpc>
                  <a:spcPct val="116000"/>
                </a:lnSpc>
                <a:buNone/>
                <a:defRPr sz="1200" b="0">
                  <a:solidFill>
                    <a:srgbClr val="547F62"/>
                  </a:solidFill>
                  <a:latin typeface="Microsoft YaHei"/>
                  <a:ea typeface="Microsoft YaHei"/>
                  <a:cs typeface="Microsoft YaHei"/>
                </a:defRPr>
              </a:pPr>
              <a:r>
                <a:rPr sz="1200">
                  <a:solidFill>
                    <a:srgbClr val="547F62"/>
                  </a:solidFill>
                  <a:latin typeface="Microsoft YaHei"/>
                  <a:ea typeface="Microsoft YaHei"/>
                  <a:cs typeface="Microsoft YaHei"/>
                </a:rPr>
                <a:t>基因渗入</a:t>
              </a:r>
            </a:p>
          </p:txBody>
        </p:sp>
        <p:sp>
          <p:nvSpPr>
            <p:cNvPr id="456" name="s4-global-distribution__ellipse_456">
              <a:extLst>
                <a:ext uri="{FF2B5EF4-FFF2-40B4-BE49-F238E27FC236}">
                  <a16:creationId xmlns:a16="http://schemas.microsoft.com/office/drawing/2014/main" id="{F5E29353-0E18-4CFA-B44D-6DC7E8A3DCF6}"/>
                </a:ext>
              </a:extLst>
            </p:cNvPr>
            <p:cNvSpPr>
              <a:spLocks/>
            </p:cNvSpPr>
            <p:nvPr/>
          </p:nvSpPr>
          <p:spPr>
            <a:xfrm>
              <a:off x="10001250" y="2019300"/>
              <a:ext cx="1003300" cy="1003300"/>
            </a:xfrm>
            <a:prstGeom prst="ellipse">
              <a:avLst/>
            </a:prstGeom>
            <a:solidFill>
              <a:srgbClr val="EAF2F0"/>
            </a:solidFill>
            <a:ln w="15240">
              <a:solidFill>
                <a:srgbClr val="BDD1CC"/>
              </a:solidFill>
              <a:prstDash val="solid"/>
            </a:ln>
          </p:spPr>
          <p:txBody>
            <a:bodyPr/>
            <a:lstStyle/>
            <a:p>
              <a:endParaRPr sz="1200"/>
            </a:p>
          </p:txBody>
        </p:sp>
        <p:sp>
          <p:nvSpPr>
            <p:cNvPr id="457" name="s4-global-distribution__continental-silhouette_457">
              <a:extLst>
                <a:ext uri="{FF2B5EF4-FFF2-40B4-BE49-F238E27FC236}">
                  <a16:creationId xmlns:a16="http://schemas.microsoft.com/office/drawing/2014/main" id="{F5EA2DE2-8C47-44CE-AA02-FECB9B4D0D57}"/>
                </a:ext>
              </a:extLst>
            </p:cNvPr>
            <p:cNvSpPr>
              <a:spLocks/>
            </p:cNvSpPr>
            <p:nvPr/>
          </p:nvSpPr>
          <p:spPr>
            <a:xfrm>
              <a:off x="10112730" y="2153075"/>
              <a:ext cx="245250" cy="222954"/>
            </a:xfrm>
            <a:custGeom>
              <a:avLst/>
              <a:gdLst/>
              <a:ahLst/>
              <a:cxnLst/>
              <a:rect l="0" t="0" r="0" b="0"/>
              <a:pathLst>
                <a:path w="367875" h="334432">
                  <a:moveTo>
                    <a:pt x="0" y="150495"/>
                  </a:moveTo>
                  <a:lnTo>
                    <a:pt x="8906" y="129635"/>
                  </a:lnTo>
                  <a:lnTo>
                    <a:pt x="18869" y="110519"/>
                  </a:lnTo>
                  <a:lnTo>
                    <a:pt x="29823" y="93107"/>
                  </a:lnTo>
                  <a:lnTo>
                    <a:pt x="41719" y="77333"/>
                  </a:lnTo>
                  <a:lnTo>
                    <a:pt x="54493" y="63170"/>
                  </a:lnTo>
                  <a:lnTo>
                    <a:pt x="68085" y="50559"/>
                  </a:lnTo>
                  <a:lnTo>
                    <a:pt x="82439" y="39472"/>
                  </a:lnTo>
                  <a:lnTo>
                    <a:pt x="97479" y="29861"/>
                  </a:lnTo>
                  <a:lnTo>
                    <a:pt x="113167" y="21669"/>
                  </a:lnTo>
                  <a:lnTo>
                    <a:pt x="129435" y="14859"/>
                  </a:lnTo>
                  <a:lnTo>
                    <a:pt x="146218" y="9392"/>
                  </a:lnTo>
                  <a:lnTo>
                    <a:pt x="163468" y="5210"/>
                  </a:lnTo>
                  <a:lnTo>
                    <a:pt x="181118" y="2286"/>
                  </a:lnTo>
                  <a:lnTo>
                    <a:pt x="199101" y="562"/>
                  </a:lnTo>
                  <a:lnTo>
                    <a:pt x="217380" y="0"/>
                  </a:lnTo>
                  <a:lnTo>
                    <a:pt x="342786" y="50159"/>
                  </a:lnTo>
                  <a:lnTo>
                    <a:pt x="367875" y="133769"/>
                  </a:lnTo>
                  <a:lnTo>
                    <a:pt x="309343" y="175574"/>
                  </a:lnTo>
                  <a:lnTo>
                    <a:pt x="334432" y="225742"/>
                  </a:lnTo>
                  <a:lnTo>
                    <a:pt x="242459" y="267548"/>
                  </a:lnTo>
                  <a:lnTo>
                    <a:pt x="192291" y="334432"/>
                  </a:lnTo>
                  <a:lnTo>
                    <a:pt x="150495" y="292627"/>
                  </a:lnTo>
                  <a:lnTo>
                    <a:pt x="91964" y="275901"/>
                  </a:lnTo>
                  <a:lnTo>
                    <a:pt x="58522" y="225742"/>
                  </a:lnTo>
                  <a:close/>
                </a:path>
              </a:pathLst>
            </a:custGeom>
            <a:solidFill>
              <a:srgbClr val="ADC8BC"/>
            </a:solidFill>
            <a:ln w="0">
              <a:noFill/>
              <a:prstDash val="solid"/>
            </a:ln>
          </p:spPr>
          <p:txBody>
            <a:bodyPr/>
            <a:lstStyle/>
            <a:p>
              <a:endParaRPr sz="1200"/>
            </a:p>
          </p:txBody>
        </p:sp>
        <p:sp>
          <p:nvSpPr>
            <p:cNvPr id="458" name="s4-global-distribution__continental-silhouette_458">
              <a:extLst>
                <a:ext uri="{FF2B5EF4-FFF2-40B4-BE49-F238E27FC236}">
                  <a16:creationId xmlns:a16="http://schemas.microsoft.com/office/drawing/2014/main" id="{62DF1786-A924-46DB-BC37-3EC7FCDF9273}"/>
                </a:ext>
              </a:extLst>
            </p:cNvPr>
            <p:cNvSpPr>
              <a:spLocks/>
            </p:cNvSpPr>
            <p:nvPr/>
          </p:nvSpPr>
          <p:spPr>
            <a:xfrm>
              <a:off x="10240924" y="2398325"/>
              <a:ext cx="183940" cy="429190"/>
            </a:xfrm>
            <a:custGeom>
              <a:avLst/>
              <a:gdLst/>
              <a:ahLst/>
              <a:cxnLst/>
              <a:rect l="0" t="0" r="0" b="0"/>
              <a:pathLst>
                <a:path w="275911" h="643785">
                  <a:moveTo>
                    <a:pt x="16726" y="0"/>
                  </a:moveTo>
                  <a:lnTo>
                    <a:pt x="58531" y="33442"/>
                  </a:lnTo>
                  <a:lnTo>
                    <a:pt x="83610" y="117053"/>
                  </a:lnTo>
                  <a:lnTo>
                    <a:pt x="101984" y="118034"/>
                  </a:lnTo>
                  <a:lnTo>
                    <a:pt x="120206" y="120863"/>
                  </a:lnTo>
                  <a:lnTo>
                    <a:pt x="138122" y="125416"/>
                  </a:lnTo>
                  <a:lnTo>
                    <a:pt x="155600" y="131521"/>
                  </a:lnTo>
                  <a:lnTo>
                    <a:pt x="172488" y="139036"/>
                  </a:lnTo>
                  <a:lnTo>
                    <a:pt x="188624" y="147818"/>
                  </a:lnTo>
                  <a:lnTo>
                    <a:pt x="203873" y="157715"/>
                  </a:lnTo>
                  <a:lnTo>
                    <a:pt x="218075" y="168573"/>
                  </a:lnTo>
                  <a:lnTo>
                    <a:pt x="231096" y="180261"/>
                  </a:lnTo>
                  <a:lnTo>
                    <a:pt x="242783" y="192605"/>
                  </a:lnTo>
                  <a:lnTo>
                    <a:pt x="252974" y="205473"/>
                  </a:lnTo>
                  <a:lnTo>
                    <a:pt x="261528" y="218723"/>
                  </a:lnTo>
                  <a:lnTo>
                    <a:pt x="268310" y="232181"/>
                  </a:lnTo>
                  <a:lnTo>
                    <a:pt x="273148" y="245716"/>
                  </a:lnTo>
                  <a:lnTo>
                    <a:pt x="275911" y="259185"/>
                  </a:lnTo>
                  <a:lnTo>
                    <a:pt x="234105" y="351158"/>
                  </a:lnTo>
                  <a:lnTo>
                    <a:pt x="192300" y="384600"/>
                  </a:lnTo>
                  <a:lnTo>
                    <a:pt x="175584" y="493290"/>
                  </a:lnTo>
                  <a:lnTo>
                    <a:pt x="125416" y="627059"/>
                  </a:lnTo>
                  <a:lnTo>
                    <a:pt x="100336" y="643785"/>
                  </a:lnTo>
                  <a:lnTo>
                    <a:pt x="91973" y="510007"/>
                  </a:lnTo>
                  <a:lnTo>
                    <a:pt x="41805" y="401317"/>
                  </a:lnTo>
                  <a:lnTo>
                    <a:pt x="25089" y="284264"/>
                  </a:lnTo>
                  <a:lnTo>
                    <a:pt x="0" y="192300"/>
                  </a:lnTo>
                  <a:lnTo>
                    <a:pt x="16726" y="117053"/>
                  </a:lnTo>
                  <a:close/>
                </a:path>
              </a:pathLst>
            </a:custGeom>
            <a:solidFill>
              <a:srgbClr val="ADC8BC"/>
            </a:solidFill>
            <a:ln w="0">
              <a:noFill/>
              <a:prstDash val="solid"/>
            </a:ln>
          </p:spPr>
          <p:txBody>
            <a:bodyPr/>
            <a:lstStyle/>
            <a:p>
              <a:endParaRPr sz="1200"/>
            </a:p>
          </p:txBody>
        </p:sp>
        <p:sp>
          <p:nvSpPr>
            <p:cNvPr id="459" name="s4-global-distribution__continental-silhouette_459">
              <a:extLst>
                <a:ext uri="{FF2B5EF4-FFF2-40B4-BE49-F238E27FC236}">
                  <a16:creationId xmlns:a16="http://schemas.microsoft.com/office/drawing/2014/main" id="{3CE85A97-25AB-4372-AC95-374765E8E4C4}"/>
                </a:ext>
              </a:extLst>
            </p:cNvPr>
            <p:cNvSpPr>
              <a:spLocks/>
            </p:cNvSpPr>
            <p:nvPr/>
          </p:nvSpPr>
          <p:spPr>
            <a:xfrm>
              <a:off x="10486180" y="2141924"/>
              <a:ext cx="418039" cy="306565"/>
            </a:xfrm>
            <a:custGeom>
              <a:avLst/>
              <a:gdLst/>
              <a:ahLst/>
              <a:cxnLst/>
              <a:rect l="0" t="0" r="0" b="0"/>
              <a:pathLst>
                <a:path w="627059" h="459848">
                  <a:moveTo>
                    <a:pt x="0" y="142132"/>
                  </a:moveTo>
                  <a:lnTo>
                    <a:pt x="75248" y="66885"/>
                  </a:lnTo>
                  <a:lnTo>
                    <a:pt x="150495" y="58531"/>
                  </a:lnTo>
                  <a:lnTo>
                    <a:pt x="175574" y="8363"/>
                  </a:lnTo>
                  <a:lnTo>
                    <a:pt x="292627" y="0"/>
                  </a:lnTo>
                  <a:lnTo>
                    <a:pt x="359512" y="33442"/>
                  </a:lnTo>
                  <a:lnTo>
                    <a:pt x="434759" y="33442"/>
                  </a:lnTo>
                  <a:lnTo>
                    <a:pt x="493290" y="83610"/>
                  </a:lnTo>
                  <a:lnTo>
                    <a:pt x="551812" y="108690"/>
                  </a:lnTo>
                  <a:lnTo>
                    <a:pt x="593617" y="192300"/>
                  </a:lnTo>
                  <a:lnTo>
                    <a:pt x="551812" y="242468"/>
                  </a:lnTo>
                  <a:lnTo>
                    <a:pt x="627059" y="292627"/>
                  </a:lnTo>
                  <a:lnTo>
                    <a:pt x="568538" y="342795"/>
                  </a:lnTo>
                  <a:lnTo>
                    <a:pt x="484927" y="367875"/>
                  </a:lnTo>
                  <a:lnTo>
                    <a:pt x="434759" y="342795"/>
                  </a:lnTo>
                  <a:lnTo>
                    <a:pt x="409680" y="418043"/>
                  </a:lnTo>
                  <a:lnTo>
                    <a:pt x="359512" y="459848"/>
                  </a:lnTo>
                  <a:lnTo>
                    <a:pt x="300990" y="401317"/>
                  </a:lnTo>
                  <a:lnTo>
                    <a:pt x="259185" y="451485"/>
                  </a:lnTo>
                  <a:lnTo>
                    <a:pt x="217380" y="376238"/>
                  </a:lnTo>
                  <a:lnTo>
                    <a:pt x="175574" y="359521"/>
                  </a:lnTo>
                  <a:lnTo>
                    <a:pt x="150495" y="300990"/>
                  </a:lnTo>
                  <a:lnTo>
                    <a:pt x="66885" y="292627"/>
                  </a:lnTo>
                  <a:lnTo>
                    <a:pt x="50159" y="225743"/>
                  </a:lnTo>
                  <a:lnTo>
                    <a:pt x="8353" y="209026"/>
                  </a:lnTo>
                  <a:close/>
                </a:path>
              </a:pathLst>
            </a:custGeom>
            <a:solidFill>
              <a:srgbClr val="ADC8BC"/>
            </a:solidFill>
            <a:ln w="0">
              <a:noFill/>
              <a:prstDash val="solid"/>
            </a:ln>
          </p:spPr>
          <p:txBody>
            <a:bodyPr/>
            <a:lstStyle/>
            <a:p>
              <a:endParaRPr sz="1200"/>
            </a:p>
          </p:txBody>
        </p:sp>
        <p:sp>
          <p:nvSpPr>
            <p:cNvPr id="460" name="s4-global-distribution__continental-silhouette_460">
              <a:extLst>
                <a:ext uri="{FF2B5EF4-FFF2-40B4-BE49-F238E27FC236}">
                  <a16:creationId xmlns:a16="http://schemas.microsoft.com/office/drawing/2014/main" id="{29B92CFE-F461-4567-BDF0-E9D880FC8547}"/>
                </a:ext>
              </a:extLst>
            </p:cNvPr>
            <p:cNvSpPr>
              <a:spLocks/>
            </p:cNvSpPr>
            <p:nvPr/>
          </p:nvSpPr>
          <p:spPr>
            <a:xfrm>
              <a:off x="10452735" y="2353735"/>
              <a:ext cx="228530" cy="395744"/>
            </a:xfrm>
            <a:custGeom>
              <a:avLst/>
              <a:gdLst/>
              <a:ahLst/>
              <a:cxnLst/>
              <a:rect l="0" t="0" r="0" b="0"/>
              <a:pathLst>
                <a:path w="342795" h="593617">
                  <a:moveTo>
                    <a:pt x="100327" y="16716"/>
                  </a:moveTo>
                  <a:lnTo>
                    <a:pt x="183937" y="0"/>
                  </a:lnTo>
                  <a:lnTo>
                    <a:pt x="242468" y="41805"/>
                  </a:lnTo>
                  <a:lnTo>
                    <a:pt x="292627" y="83601"/>
                  </a:lnTo>
                  <a:lnTo>
                    <a:pt x="342795" y="209017"/>
                  </a:lnTo>
                  <a:lnTo>
                    <a:pt x="292627" y="317706"/>
                  </a:lnTo>
                  <a:lnTo>
                    <a:pt x="250822" y="367875"/>
                  </a:lnTo>
                  <a:lnTo>
                    <a:pt x="242468" y="468201"/>
                  </a:lnTo>
                  <a:lnTo>
                    <a:pt x="167221" y="593617"/>
                  </a:lnTo>
                  <a:lnTo>
                    <a:pt x="125416" y="535086"/>
                  </a:lnTo>
                  <a:lnTo>
                    <a:pt x="108690" y="434759"/>
                  </a:lnTo>
                  <a:lnTo>
                    <a:pt x="58522" y="326069"/>
                  </a:lnTo>
                  <a:lnTo>
                    <a:pt x="50168" y="200654"/>
                  </a:lnTo>
                  <a:lnTo>
                    <a:pt x="0" y="142132"/>
                  </a:lnTo>
                  <a:lnTo>
                    <a:pt x="33442" y="58522"/>
                  </a:lnTo>
                  <a:close/>
                </a:path>
              </a:pathLst>
            </a:custGeom>
            <a:solidFill>
              <a:srgbClr val="ADC8BC"/>
            </a:solidFill>
            <a:ln w="0">
              <a:noFill/>
              <a:prstDash val="solid"/>
            </a:ln>
          </p:spPr>
          <p:txBody>
            <a:bodyPr/>
            <a:lstStyle/>
            <a:p>
              <a:endParaRPr sz="1200"/>
            </a:p>
          </p:txBody>
        </p:sp>
        <p:sp>
          <p:nvSpPr>
            <p:cNvPr id="461" name="s4-global-distribution__continental-silhouette_461">
              <a:extLst>
                <a:ext uri="{FF2B5EF4-FFF2-40B4-BE49-F238E27FC236}">
                  <a16:creationId xmlns:a16="http://schemas.microsoft.com/office/drawing/2014/main" id="{36C61538-A043-41F9-A377-B8ABBA111B14}"/>
                </a:ext>
              </a:extLst>
            </p:cNvPr>
            <p:cNvSpPr>
              <a:spLocks/>
            </p:cNvSpPr>
            <p:nvPr/>
          </p:nvSpPr>
          <p:spPr>
            <a:xfrm>
              <a:off x="10748150" y="2671445"/>
              <a:ext cx="161645" cy="133775"/>
            </a:xfrm>
            <a:custGeom>
              <a:avLst/>
              <a:gdLst/>
              <a:ahLst/>
              <a:cxnLst/>
              <a:rect l="0" t="0" r="0" b="0"/>
              <a:pathLst>
                <a:path w="242468" h="200663">
                  <a:moveTo>
                    <a:pt x="0" y="58522"/>
                  </a:moveTo>
                  <a:lnTo>
                    <a:pt x="100336" y="0"/>
                  </a:lnTo>
                  <a:lnTo>
                    <a:pt x="167221" y="8363"/>
                  </a:lnTo>
                  <a:lnTo>
                    <a:pt x="242468" y="83610"/>
                  </a:lnTo>
                  <a:lnTo>
                    <a:pt x="192300" y="175574"/>
                  </a:lnTo>
                  <a:lnTo>
                    <a:pt x="91973" y="200663"/>
                  </a:lnTo>
                  <a:lnTo>
                    <a:pt x="8363" y="158858"/>
                  </a:lnTo>
                  <a:close/>
                </a:path>
              </a:pathLst>
            </a:custGeom>
            <a:solidFill>
              <a:srgbClr val="ADC8BC"/>
            </a:solidFill>
            <a:ln w="0">
              <a:noFill/>
              <a:prstDash val="solid"/>
            </a:ln>
          </p:spPr>
          <p:txBody>
            <a:bodyPr/>
            <a:lstStyle/>
            <a:p>
              <a:endParaRPr sz="1200"/>
            </a:p>
          </p:txBody>
        </p:sp>
        <p:sp>
          <p:nvSpPr>
            <p:cNvPr id="462" name="s4-global-distribution__continental-silhouette_462">
              <a:extLst>
                <a:ext uri="{FF2B5EF4-FFF2-40B4-BE49-F238E27FC236}">
                  <a16:creationId xmlns:a16="http://schemas.microsoft.com/office/drawing/2014/main" id="{6C32079A-208D-4BFD-82D6-55FA8F3F9DF2}"/>
                </a:ext>
              </a:extLst>
            </p:cNvPr>
            <p:cNvSpPr>
              <a:spLocks/>
            </p:cNvSpPr>
            <p:nvPr/>
          </p:nvSpPr>
          <p:spPr>
            <a:xfrm>
              <a:off x="10385850" y="2086184"/>
              <a:ext cx="94754" cy="111480"/>
            </a:xfrm>
            <a:custGeom>
              <a:avLst/>
              <a:gdLst/>
              <a:ahLst/>
              <a:cxnLst/>
              <a:rect l="0" t="0" r="0" b="0"/>
              <a:pathLst>
                <a:path w="142132" h="167221">
                  <a:moveTo>
                    <a:pt x="0" y="50168"/>
                  </a:moveTo>
                  <a:lnTo>
                    <a:pt x="75248" y="0"/>
                  </a:lnTo>
                  <a:lnTo>
                    <a:pt x="142132" y="66894"/>
                  </a:lnTo>
                  <a:lnTo>
                    <a:pt x="100327" y="158858"/>
                  </a:lnTo>
                  <a:lnTo>
                    <a:pt x="33442" y="167221"/>
                  </a:lnTo>
                  <a:close/>
                </a:path>
              </a:pathLst>
            </a:custGeom>
            <a:solidFill>
              <a:srgbClr val="ADC8BC"/>
            </a:solidFill>
            <a:ln w="0">
              <a:noFill/>
              <a:prstDash val="solid"/>
            </a:ln>
          </p:spPr>
          <p:txBody>
            <a:bodyPr/>
            <a:lstStyle/>
            <a:p>
              <a:endParaRPr sz="1200"/>
            </a:p>
          </p:txBody>
        </p:sp>
        <p:sp>
          <p:nvSpPr>
            <p:cNvPr id="463" name="s4-global-distribution__continental-silhouette_463">
              <a:extLst>
                <a:ext uri="{FF2B5EF4-FFF2-40B4-BE49-F238E27FC236}">
                  <a16:creationId xmlns:a16="http://schemas.microsoft.com/office/drawing/2014/main" id="{F092457F-3CED-4030-B123-09C61CD81BBC}"/>
                </a:ext>
              </a:extLst>
            </p:cNvPr>
            <p:cNvSpPr>
              <a:spLocks/>
            </p:cNvSpPr>
            <p:nvPr/>
          </p:nvSpPr>
          <p:spPr>
            <a:xfrm>
              <a:off x="10686840" y="2465210"/>
              <a:ext cx="27870" cy="66890"/>
            </a:xfrm>
            <a:custGeom>
              <a:avLst/>
              <a:gdLst/>
              <a:ahLst/>
              <a:cxnLst/>
              <a:rect l="0" t="0" r="0" b="0"/>
              <a:pathLst>
                <a:path w="41805" h="100336">
                  <a:moveTo>
                    <a:pt x="8353" y="0"/>
                  </a:moveTo>
                  <a:lnTo>
                    <a:pt x="41805" y="50168"/>
                  </a:lnTo>
                  <a:lnTo>
                    <a:pt x="25079" y="100336"/>
                  </a:lnTo>
                  <a:lnTo>
                    <a:pt x="0" y="58531"/>
                  </a:lnTo>
                  <a:close/>
                </a:path>
              </a:pathLst>
            </a:custGeom>
            <a:solidFill>
              <a:srgbClr val="ADC8BC"/>
            </a:solidFill>
            <a:ln w="0">
              <a:noFill/>
              <a:prstDash val="solid"/>
            </a:ln>
          </p:spPr>
          <p:txBody>
            <a:bodyPr/>
            <a:lstStyle/>
            <a:p>
              <a:endParaRPr sz="1200"/>
            </a:p>
          </p:txBody>
        </p:sp>
        <p:sp>
          <p:nvSpPr>
            <p:cNvPr id="464" name="s4-global-distribution__continental-silhouette_464">
              <a:extLst>
                <a:ext uri="{FF2B5EF4-FFF2-40B4-BE49-F238E27FC236}">
                  <a16:creationId xmlns:a16="http://schemas.microsoft.com/office/drawing/2014/main" id="{F5F04F2E-D9A0-4479-B4B5-B2AC59FBAB9B}"/>
                </a:ext>
              </a:extLst>
            </p:cNvPr>
            <p:cNvSpPr>
              <a:spLocks/>
            </p:cNvSpPr>
            <p:nvPr/>
          </p:nvSpPr>
          <p:spPr>
            <a:xfrm>
              <a:off x="10759300" y="2498655"/>
              <a:ext cx="78035" cy="72460"/>
            </a:xfrm>
            <a:custGeom>
              <a:avLst/>
              <a:gdLst/>
              <a:ahLst/>
              <a:cxnLst/>
              <a:rect l="0" t="0" r="0" b="0"/>
              <a:pathLst>
                <a:path w="117053" h="108690">
                  <a:moveTo>
                    <a:pt x="0" y="0"/>
                  </a:moveTo>
                  <a:lnTo>
                    <a:pt x="33442" y="41805"/>
                  </a:lnTo>
                  <a:lnTo>
                    <a:pt x="100327" y="66885"/>
                  </a:lnTo>
                  <a:lnTo>
                    <a:pt x="117053" y="108690"/>
                  </a:lnTo>
                  <a:lnTo>
                    <a:pt x="83610" y="108690"/>
                  </a:lnTo>
                  <a:lnTo>
                    <a:pt x="25079" y="66885"/>
                  </a:lnTo>
                  <a:close/>
                </a:path>
              </a:pathLst>
            </a:custGeom>
            <a:solidFill>
              <a:srgbClr val="ADC8BC"/>
            </a:solidFill>
            <a:ln w="0">
              <a:noFill/>
              <a:prstDash val="solid"/>
            </a:ln>
          </p:spPr>
          <p:txBody>
            <a:bodyPr/>
            <a:lstStyle/>
            <a:p>
              <a:endParaRPr sz="1200"/>
            </a:p>
          </p:txBody>
        </p:sp>
        <p:sp>
          <p:nvSpPr>
            <p:cNvPr id="465" name="s4-global-distribution__contour_465">
              <a:extLst>
                <a:ext uri="{FF2B5EF4-FFF2-40B4-BE49-F238E27FC236}">
                  <a16:creationId xmlns:a16="http://schemas.microsoft.com/office/drawing/2014/main" id="{44017BB5-996E-4C41-A11B-18BB4025BC25}"/>
                </a:ext>
              </a:extLst>
            </p:cNvPr>
            <p:cNvSpPr>
              <a:spLocks/>
            </p:cNvSpPr>
            <p:nvPr/>
          </p:nvSpPr>
          <p:spPr>
            <a:xfrm>
              <a:off x="10051415" y="2347538"/>
              <a:ext cx="902970" cy="50787"/>
            </a:xfrm>
            <a:custGeom>
              <a:avLst/>
              <a:gdLst/>
              <a:ahLst/>
              <a:cxnLst/>
              <a:rect l="0" t="0" r="0" b="0"/>
              <a:pathLst>
                <a:path w="1354455" h="76181">
                  <a:moveTo>
                    <a:pt x="0" y="67818"/>
                  </a:moveTo>
                  <a:lnTo>
                    <a:pt x="76457" y="50654"/>
                  </a:lnTo>
                  <a:lnTo>
                    <a:pt x="158182" y="35957"/>
                  </a:lnTo>
                  <a:lnTo>
                    <a:pt x="244402" y="23736"/>
                  </a:lnTo>
                  <a:lnTo>
                    <a:pt x="334375" y="14021"/>
                  </a:lnTo>
                  <a:lnTo>
                    <a:pt x="427330" y="6820"/>
                  </a:lnTo>
                  <a:lnTo>
                    <a:pt x="522522" y="2134"/>
                  </a:lnTo>
                  <a:lnTo>
                    <a:pt x="619173" y="0"/>
                  </a:lnTo>
                  <a:lnTo>
                    <a:pt x="716547" y="419"/>
                  </a:lnTo>
                  <a:lnTo>
                    <a:pt x="813873" y="3410"/>
                  </a:lnTo>
                  <a:lnTo>
                    <a:pt x="910399" y="8982"/>
                  </a:lnTo>
                  <a:lnTo>
                    <a:pt x="1005364" y="17164"/>
                  </a:lnTo>
                  <a:lnTo>
                    <a:pt x="1098013" y="27956"/>
                  </a:lnTo>
                  <a:lnTo>
                    <a:pt x="1187577" y="41377"/>
                  </a:lnTo>
                  <a:lnTo>
                    <a:pt x="1273312" y="57445"/>
                  </a:lnTo>
                  <a:lnTo>
                    <a:pt x="1354455" y="76181"/>
                  </a:lnTo>
                </a:path>
              </a:pathLst>
            </a:custGeom>
            <a:noFill/>
            <a:ln w="8361">
              <a:solidFill>
                <a:srgbClr val="D1DFDA"/>
              </a:solidFill>
              <a:prstDash val="solid"/>
            </a:ln>
          </p:spPr>
          <p:txBody>
            <a:bodyPr/>
            <a:lstStyle/>
            <a:p>
              <a:endParaRPr sz="1200"/>
            </a:p>
          </p:txBody>
        </p:sp>
        <p:sp>
          <p:nvSpPr>
            <p:cNvPr id="466" name="s4-global-distribution__contour_466">
              <a:extLst>
                <a:ext uri="{FF2B5EF4-FFF2-40B4-BE49-F238E27FC236}">
                  <a16:creationId xmlns:a16="http://schemas.microsoft.com/office/drawing/2014/main" id="{80838059-86C0-49AD-BF0B-C858B5D762B7}"/>
                </a:ext>
              </a:extLst>
            </p:cNvPr>
            <p:cNvSpPr>
              <a:spLocks/>
            </p:cNvSpPr>
            <p:nvPr/>
          </p:nvSpPr>
          <p:spPr>
            <a:xfrm>
              <a:off x="10051415" y="2637999"/>
              <a:ext cx="902970" cy="59112"/>
            </a:xfrm>
            <a:custGeom>
              <a:avLst/>
              <a:gdLst/>
              <a:ahLst/>
              <a:cxnLst/>
              <a:rect l="0" t="0" r="0" b="0"/>
              <a:pathLst>
                <a:path w="1354455" h="88668">
                  <a:moveTo>
                    <a:pt x="0" y="8363"/>
                  </a:moveTo>
                  <a:lnTo>
                    <a:pt x="76457" y="28651"/>
                  </a:lnTo>
                  <a:lnTo>
                    <a:pt x="158182" y="46025"/>
                  </a:lnTo>
                  <a:lnTo>
                    <a:pt x="244402" y="60465"/>
                  </a:lnTo>
                  <a:lnTo>
                    <a:pt x="334375" y="71971"/>
                  </a:lnTo>
                  <a:lnTo>
                    <a:pt x="427330" y="80515"/>
                  </a:lnTo>
                  <a:lnTo>
                    <a:pt x="522522" y="86087"/>
                  </a:lnTo>
                  <a:lnTo>
                    <a:pt x="619173" y="88668"/>
                  </a:lnTo>
                  <a:lnTo>
                    <a:pt x="716547" y="88249"/>
                  </a:lnTo>
                  <a:lnTo>
                    <a:pt x="813873" y="84820"/>
                  </a:lnTo>
                  <a:lnTo>
                    <a:pt x="910399" y="78343"/>
                  </a:lnTo>
                  <a:lnTo>
                    <a:pt x="1005364" y="68828"/>
                  </a:lnTo>
                  <a:lnTo>
                    <a:pt x="1098013" y="56255"/>
                  </a:lnTo>
                  <a:lnTo>
                    <a:pt x="1187577" y="40605"/>
                  </a:lnTo>
                  <a:lnTo>
                    <a:pt x="1273312" y="21860"/>
                  </a:lnTo>
                  <a:lnTo>
                    <a:pt x="1354455" y="0"/>
                  </a:lnTo>
                </a:path>
              </a:pathLst>
            </a:custGeom>
            <a:noFill/>
            <a:ln w="8361">
              <a:solidFill>
                <a:srgbClr val="D1DFDA"/>
              </a:solidFill>
              <a:prstDash val="solid"/>
            </a:ln>
          </p:spPr>
          <p:txBody>
            <a:bodyPr/>
            <a:lstStyle/>
            <a:p>
              <a:endParaRPr sz="1200"/>
            </a:p>
          </p:txBody>
        </p:sp>
        <p:sp>
          <p:nvSpPr>
            <p:cNvPr id="467" name="s4-global-distribution__line_467">
              <a:extLst>
                <a:ext uri="{FF2B5EF4-FFF2-40B4-BE49-F238E27FC236}">
                  <a16:creationId xmlns:a16="http://schemas.microsoft.com/office/drawing/2014/main" id="{8CBAB6B1-E0D2-4AB6-9936-1D7EC1088AC0}"/>
                </a:ext>
              </a:extLst>
            </p:cNvPr>
            <p:cNvSpPr>
              <a:spLocks/>
            </p:cNvSpPr>
            <p:nvPr/>
          </p:nvSpPr>
          <p:spPr>
            <a:xfrm>
              <a:off x="10006825" y="2520950"/>
              <a:ext cx="992149" cy="63"/>
            </a:xfrm>
            <a:custGeom>
              <a:avLst/>
              <a:gdLst/>
              <a:ahLst/>
              <a:cxnLst/>
              <a:rect l="0" t="0" r="0" b="0"/>
              <a:pathLst>
                <a:path w="1488224" h="95">
                  <a:moveTo>
                    <a:pt x="0" y="0"/>
                  </a:moveTo>
                  <a:lnTo>
                    <a:pt x="1488224" y="0"/>
                  </a:lnTo>
                </a:path>
              </a:pathLst>
            </a:custGeom>
            <a:noFill/>
            <a:ln w="8361">
              <a:solidFill>
                <a:srgbClr val="D1DFDA"/>
              </a:solidFill>
              <a:prstDash val="solid"/>
            </a:ln>
          </p:spPr>
          <p:txBody>
            <a:bodyPr/>
            <a:lstStyle/>
            <a:p>
              <a:endParaRPr sz="1200"/>
            </a:p>
          </p:txBody>
        </p:sp>
        <p:sp>
          <p:nvSpPr>
            <p:cNvPr id="468" name="s4-global-distribution__contour_468">
              <a:extLst>
                <a:ext uri="{FF2B5EF4-FFF2-40B4-BE49-F238E27FC236}">
                  <a16:creationId xmlns:a16="http://schemas.microsoft.com/office/drawing/2014/main" id="{E402E288-26D6-48CB-A5DD-84C526656D1B}"/>
                </a:ext>
              </a:extLst>
            </p:cNvPr>
            <p:cNvSpPr>
              <a:spLocks/>
            </p:cNvSpPr>
            <p:nvPr/>
          </p:nvSpPr>
          <p:spPr>
            <a:xfrm>
              <a:off x="10298970" y="2024875"/>
              <a:ext cx="203930" cy="992149"/>
            </a:xfrm>
            <a:custGeom>
              <a:avLst/>
              <a:gdLst/>
              <a:ahLst/>
              <a:cxnLst/>
              <a:rect l="0" t="0" r="0" b="0"/>
              <a:pathLst>
                <a:path w="305895" h="1488224">
                  <a:moveTo>
                    <a:pt x="305895" y="0"/>
                  </a:moveTo>
                  <a:lnTo>
                    <a:pt x="229419" y="78476"/>
                  </a:lnTo>
                  <a:lnTo>
                    <a:pt x="163868" y="165840"/>
                  </a:lnTo>
                  <a:lnTo>
                    <a:pt x="109252" y="260718"/>
                  </a:lnTo>
                  <a:lnTo>
                    <a:pt x="65551" y="361760"/>
                  </a:lnTo>
                  <a:lnTo>
                    <a:pt x="32776" y="467582"/>
                  </a:lnTo>
                  <a:lnTo>
                    <a:pt x="10925" y="576824"/>
                  </a:lnTo>
                  <a:lnTo>
                    <a:pt x="0" y="688124"/>
                  </a:lnTo>
                  <a:lnTo>
                    <a:pt x="0" y="800100"/>
                  </a:lnTo>
                  <a:lnTo>
                    <a:pt x="10925" y="911400"/>
                  </a:lnTo>
                  <a:lnTo>
                    <a:pt x="32776" y="1020642"/>
                  </a:lnTo>
                  <a:lnTo>
                    <a:pt x="65551" y="1126465"/>
                  </a:lnTo>
                  <a:lnTo>
                    <a:pt x="109252" y="1227506"/>
                  </a:lnTo>
                  <a:lnTo>
                    <a:pt x="163868" y="1322384"/>
                  </a:lnTo>
                  <a:lnTo>
                    <a:pt x="229419" y="1409748"/>
                  </a:lnTo>
                  <a:lnTo>
                    <a:pt x="305895" y="1488224"/>
                  </a:lnTo>
                </a:path>
              </a:pathLst>
            </a:custGeom>
            <a:noFill/>
            <a:ln w="8361">
              <a:solidFill>
                <a:srgbClr val="D1DFDA"/>
              </a:solidFill>
              <a:prstDash val="solid"/>
            </a:ln>
          </p:spPr>
          <p:txBody>
            <a:bodyPr/>
            <a:lstStyle/>
            <a:p>
              <a:endParaRPr sz="1200"/>
            </a:p>
          </p:txBody>
        </p:sp>
        <p:sp>
          <p:nvSpPr>
            <p:cNvPr id="469" name="s4-global-distribution__contour_469">
              <a:extLst>
                <a:ext uri="{FF2B5EF4-FFF2-40B4-BE49-F238E27FC236}">
                  <a16:creationId xmlns:a16="http://schemas.microsoft.com/office/drawing/2014/main" id="{8C39127D-D630-42FA-A0B8-905EBE84467A}"/>
                </a:ext>
              </a:extLst>
            </p:cNvPr>
            <p:cNvSpPr>
              <a:spLocks/>
            </p:cNvSpPr>
            <p:nvPr/>
          </p:nvSpPr>
          <p:spPr>
            <a:xfrm>
              <a:off x="10502900" y="2024875"/>
              <a:ext cx="203930" cy="992149"/>
            </a:xfrm>
            <a:custGeom>
              <a:avLst/>
              <a:gdLst/>
              <a:ahLst/>
              <a:cxnLst/>
              <a:rect l="0" t="0" r="0" b="0"/>
              <a:pathLst>
                <a:path w="305895" h="1488224">
                  <a:moveTo>
                    <a:pt x="0" y="0"/>
                  </a:moveTo>
                  <a:lnTo>
                    <a:pt x="76476" y="78476"/>
                  </a:lnTo>
                  <a:lnTo>
                    <a:pt x="142027" y="165840"/>
                  </a:lnTo>
                  <a:lnTo>
                    <a:pt x="196644" y="260718"/>
                  </a:lnTo>
                  <a:lnTo>
                    <a:pt x="240344" y="361760"/>
                  </a:lnTo>
                  <a:lnTo>
                    <a:pt x="273120" y="467582"/>
                  </a:lnTo>
                  <a:lnTo>
                    <a:pt x="294970" y="576824"/>
                  </a:lnTo>
                  <a:lnTo>
                    <a:pt x="305895" y="688124"/>
                  </a:lnTo>
                  <a:lnTo>
                    <a:pt x="305895" y="800100"/>
                  </a:lnTo>
                  <a:lnTo>
                    <a:pt x="294970" y="911400"/>
                  </a:lnTo>
                  <a:lnTo>
                    <a:pt x="273120" y="1020642"/>
                  </a:lnTo>
                  <a:lnTo>
                    <a:pt x="240344" y="1126465"/>
                  </a:lnTo>
                  <a:lnTo>
                    <a:pt x="196644" y="1227506"/>
                  </a:lnTo>
                  <a:lnTo>
                    <a:pt x="142027" y="1322384"/>
                  </a:lnTo>
                  <a:lnTo>
                    <a:pt x="76476" y="1409748"/>
                  </a:lnTo>
                  <a:lnTo>
                    <a:pt x="0" y="1488224"/>
                  </a:lnTo>
                </a:path>
              </a:pathLst>
            </a:custGeom>
            <a:noFill/>
            <a:ln w="8361">
              <a:solidFill>
                <a:srgbClr val="D1DFDA"/>
              </a:solidFill>
              <a:prstDash val="solid"/>
            </a:ln>
          </p:spPr>
          <p:txBody>
            <a:bodyPr/>
            <a:lstStyle/>
            <a:p>
              <a:endParaRPr sz="1200"/>
            </a:p>
          </p:txBody>
        </p:sp>
        <p:sp>
          <p:nvSpPr>
            <p:cNvPr id="470" name="s4-ongoing-gene-flow__ongoing-exchange-upper_470">
              <a:extLst>
                <a:ext uri="{FF2B5EF4-FFF2-40B4-BE49-F238E27FC236}">
                  <a16:creationId xmlns:a16="http://schemas.microsoft.com/office/drawing/2014/main" id="{4A427BE1-6CC9-4629-83CA-941BF142AE14}"/>
                </a:ext>
              </a:extLst>
            </p:cNvPr>
            <p:cNvSpPr>
              <a:spLocks/>
            </p:cNvSpPr>
            <p:nvPr/>
          </p:nvSpPr>
          <p:spPr>
            <a:xfrm>
              <a:off x="9903480" y="1847901"/>
              <a:ext cx="1291539" cy="903262"/>
            </a:xfrm>
            <a:custGeom>
              <a:avLst/>
              <a:gdLst/>
              <a:ahLst/>
              <a:cxnLst/>
              <a:rect l="0" t="0" r="0" b="0"/>
              <a:pathLst>
                <a:path w="1937309" h="1354893">
                  <a:moveTo>
                    <a:pt x="0" y="504749"/>
                  </a:moveTo>
                  <a:lnTo>
                    <a:pt x="22803" y="468154"/>
                  </a:lnTo>
                  <a:lnTo>
                    <a:pt x="47187" y="432530"/>
                  </a:lnTo>
                  <a:lnTo>
                    <a:pt x="73095" y="397935"/>
                  </a:lnTo>
                  <a:lnTo>
                    <a:pt x="100489" y="364446"/>
                  </a:lnTo>
                  <a:lnTo>
                    <a:pt x="129311" y="332118"/>
                  </a:lnTo>
                  <a:lnTo>
                    <a:pt x="159525" y="301000"/>
                  </a:lnTo>
                  <a:lnTo>
                    <a:pt x="191062" y="271167"/>
                  </a:lnTo>
                  <a:lnTo>
                    <a:pt x="223876" y="242649"/>
                  </a:lnTo>
                  <a:lnTo>
                    <a:pt x="257899" y="215513"/>
                  </a:lnTo>
                  <a:lnTo>
                    <a:pt x="293075" y="189805"/>
                  </a:lnTo>
                  <a:lnTo>
                    <a:pt x="329336" y="165564"/>
                  </a:lnTo>
                  <a:lnTo>
                    <a:pt x="366627" y="142837"/>
                  </a:lnTo>
                  <a:lnTo>
                    <a:pt x="404870" y="121672"/>
                  </a:lnTo>
                  <a:lnTo>
                    <a:pt x="444008" y="102108"/>
                  </a:lnTo>
                  <a:lnTo>
                    <a:pt x="483956" y="84163"/>
                  </a:lnTo>
                  <a:lnTo>
                    <a:pt x="524647" y="67885"/>
                  </a:lnTo>
                  <a:lnTo>
                    <a:pt x="566014" y="53302"/>
                  </a:lnTo>
                  <a:lnTo>
                    <a:pt x="607981" y="40434"/>
                  </a:lnTo>
                  <a:lnTo>
                    <a:pt x="650472" y="29308"/>
                  </a:lnTo>
                  <a:lnTo>
                    <a:pt x="693410" y="19945"/>
                  </a:lnTo>
                  <a:lnTo>
                    <a:pt x="736721" y="12354"/>
                  </a:lnTo>
                  <a:lnTo>
                    <a:pt x="780317" y="6553"/>
                  </a:lnTo>
                  <a:lnTo>
                    <a:pt x="824122" y="2562"/>
                  </a:lnTo>
                  <a:lnTo>
                    <a:pt x="868070" y="371"/>
                  </a:lnTo>
                  <a:lnTo>
                    <a:pt x="912076" y="0"/>
                  </a:lnTo>
                  <a:lnTo>
                    <a:pt x="956053" y="1438"/>
                  </a:lnTo>
                  <a:lnTo>
                    <a:pt x="999925" y="4696"/>
                  </a:lnTo>
                  <a:lnTo>
                    <a:pt x="1043626" y="9754"/>
                  </a:lnTo>
                  <a:lnTo>
                    <a:pt x="1087060" y="16602"/>
                  </a:lnTo>
                  <a:lnTo>
                    <a:pt x="1130160" y="25241"/>
                  </a:lnTo>
                  <a:lnTo>
                    <a:pt x="1172842" y="35643"/>
                  </a:lnTo>
                  <a:lnTo>
                    <a:pt x="1215028" y="47796"/>
                  </a:lnTo>
                  <a:lnTo>
                    <a:pt x="1256652" y="61674"/>
                  </a:lnTo>
                  <a:lnTo>
                    <a:pt x="1297638" y="77257"/>
                  </a:lnTo>
                  <a:lnTo>
                    <a:pt x="1337901" y="94517"/>
                  </a:lnTo>
                  <a:lnTo>
                    <a:pt x="1377382" y="113424"/>
                  </a:lnTo>
                  <a:lnTo>
                    <a:pt x="1415996" y="133931"/>
                  </a:lnTo>
                  <a:lnTo>
                    <a:pt x="1453686" y="156019"/>
                  </a:lnTo>
                  <a:lnTo>
                    <a:pt x="1490386" y="179642"/>
                  </a:lnTo>
                  <a:lnTo>
                    <a:pt x="1526019" y="204749"/>
                  </a:lnTo>
                  <a:lnTo>
                    <a:pt x="1560519" y="231305"/>
                  </a:lnTo>
                  <a:lnTo>
                    <a:pt x="1593837" y="259261"/>
                  </a:lnTo>
                  <a:lnTo>
                    <a:pt x="1625908" y="288560"/>
                  </a:lnTo>
                  <a:lnTo>
                    <a:pt x="1656674" y="319154"/>
                  </a:lnTo>
                  <a:lnTo>
                    <a:pt x="1686077" y="350996"/>
                  </a:lnTo>
                  <a:lnTo>
                    <a:pt x="1714062" y="384010"/>
                  </a:lnTo>
                  <a:lnTo>
                    <a:pt x="1740589" y="418157"/>
                  </a:lnTo>
                  <a:lnTo>
                    <a:pt x="1765602" y="453361"/>
                  </a:lnTo>
                  <a:lnTo>
                    <a:pt x="1789062" y="489566"/>
                  </a:lnTo>
                  <a:lnTo>
                    <a:pt x="1810922" y="526704"/>
                  </a:lnTo>
                  <a:lnTo>
                    <a:pt x="1831143" y="564709"/>
                  </a:lnTo>
                  <a:lnTo>
                    <a:pt x="1849688" y="603514"/>
                  </a:lnTo>
                  <a:lnTo>
                    <a:pt x="1866529" y="643052"/>
                  </a:lnTo>
                  <a:lnTo>
                    <a:pt x="1881635" y="683247"/>
                  </a:lnTo>
                  <a:lnTo>
                    <a:pt x="1894970" y="724024"/>
                  </a:lnTo>
                  <a:lnTo>
                    <a:pt x="1906514" y="765315"/>
                  </a:lnTo>
                  <a:lnTo>
                    <a:pt x="1916259" y="807053"/>
                  </a:lnTo>
                  <a:lnTo>
                    <a:pt x="1924164" y="849144"/>
                  </a:lnTo>
                  <a:lnTo>
                    <a:pt x="1930232" y="891530"/>
                  </a:lnTo>
                  <a:lnTo>
                    <a:pt x="1934451" y="934126"/>
                  </a:lnTo>
                  <a:lnTo>
                    <a:pt x="1936813" y="976855"/>
                  </a:lnTo>
                  <a:lnTo>
                    <a:pt x="1937309" y="1019642"/>
                  </a:lnTo>
                  <a:lnTo>
                    <a:pt x="1935937" y="1062419"/>
                  </a:lnTo>
                  <a:lnTo>
                    <a:pt x="1932699" y="1105091"/>
                  </a:lnTo>
                  <a:lnTo>
                    <a:pt x="1927612" y="1147601"/>
                  </a:lnTo>
                  <a:lnTo>
                    <a:pt x="1920669" y="1189853"/>
                  </a:lnTo>
                  <a:lnTo>
                    <a:pt x="1911896" y="1231783"/>
                  </a:lnTo>
                  <a:lnTo>
                    <a:pt x="1901304" y="1273321"/>
                  </a:lnTo>
                  <a:lnTo>
                    <a:pt x="1888912" y="1314383"/>
                  </a:lnTo>
                  <a:lnTo>
                    <a:pt x="1874739" y="1354893"/>
                  </a:lnTo>
                </a:path>
              </a:pathLst>
            </a:custGeom>
            <a:noFill/>
            <a:ln w="30480">
              <a:solidFill>
                <a:srgbClr val="846786"/>
              </a:solidFill>
              <a:prstDash val="solid"/>
            </a:ln>
          </p:spPr>
          <p:txBody>
            <a:bodyPr/>
            <a:lstStyle/>
            <a:p>
              <a:endParaRPr sz="1200"/>
            </a:p>
          </p:txBody>
        </p:sp>
        <p:sp>
          <p:nvSpPr>
            <p:cNvPr id="471" name="s4-ongoing-gene-flow__ongoing-exchange-upper-tip_471">
              <a:extLst>
                <a:ext uri="{FF2B5EF4-FFF2-40B4-BE49-F238E27FC236}">
                  <a16:creationId xmlns:a16="http://schemas.microsoft.com/office/drawing/2014/main" id="{B41D9417-1FAA-4A24-AAE6-46DE123DB017}"/>
                </a:ext>
              </a:extLst>
            </p:cNvPr>
            <p:cNvSpPr>
              <a:spLocks/>
            </p:cNvSpPr>
            <p:nvPr/>
          </p:nvSpPr>
          <p:spPr>
            <a:xfrm>
              <a:off x="11141063" y="2666155"/>
              <a:ext cx="74809" cy="85007"/>
            </a:xfrm>
            <a:custGeom>
              <a:avLst/>
              <a:gdLst/>
              <a:ahLst/>
              <a:cxnLst/>
              <a:rect l="0" t="0" r="0" b="0"/>
              <a:pathLst>
                <a:path w="112214" h="127511">
                  <a:moveTo>
                    <a:pt x="18364" y="127511"/>
                  </a:moveTo>
                  <a:lnTo>
                    <a:pt x="112214" y="39243"/>
                  </a:lnTo>
                  <a:lnTo>
                    <a:pt x="0" y="0"/>
                  </a:lnTo>
                  <a:close/>
                </a:path>
              </a:pathLst>
            </a:custGeom>
            <a:solidFill>
              <a:srgbClr val="846786"/>
            </a:solidFill>
            <a:ln w="0">
              <a:noFill/>
              <a:prstDash val="solid"/>
            </a:ln>
          </p:spPr>
          <p:txBody>
            <a:bodyPr/>
            <a:lstStyle/>
            <a:p>
              <a:endParaRPr sz="1200"/>
            </a:p>
          </p:txBody>
        </p:sp>
        <p:sp>
          <p:nvSpPr>
            <p:cNvPr id="472" name="s4-ongoing-gene-flow__ongoing-exchange-lower_472">
              <a:extLst>
                <a:ext uri="{FF2B5EF4-FFF2-40B4-BE49-F238E27FC236}">
                  <a16:creationId xmlns:a16="http://schemas.microsoft.com/office/drawing/2014/main" id="{A8A6E508-ACA9-4112-A3B3-9CF9309BD48A}"/>
                </a:ext>
              </a:extLst>
            </p:cNvPr>
            <p:cNvSpPr>
              <a:spLocks/>
            </p:cNvSpPr>
            <p:nvPr/>
          </p:nvSpPr>
          <p:spPr>
            <a:xfrm>
              <a:off x="9810783" y="2290737"/>
              <a:ext cx="1291539" cy="903262"/>
            </a:xfrm>
            <a:custGeom>
              <a:avLst/>
              <a:gdLst/>
              <a:ahLst/>
              <a:cxnLst/>
              <a:rect l="0" t="0" r="0" b="0"/>
              <a:pathLst>
                <a:path w="1937309" h="1354893">
                  <a:moveTo>
                    <a:pt x="1937309" y="850144"/>
                  </a:moveTo>
                  <a:lnTo>
                    <a:pt x="1914506" y="886739"/>
                  </a:lnTo>
                  <a:lnTo>
                    <a:pt x="1890122" y="922363"/>
                  </a:lnTo>
                  <a:lnTo>
                    <a:pt x="1864214" y="956958"/>
                  </a:lnTo>
                  <a:lnTo>
                    <a:pt x="1836820" y="990448"/>
                  </a:lnTo>
                  <a:lnTo>
                    <a:pt x="1807997" y="1022775"/>
                  </a:lnTo>
                  <a:lnTo>
                    <a:pt x="1777784" y="1053894"/>
                  </a:lnTo>
                  <a:lnTo>
                    <a:pt x="1746247" y="1083726"/>
                  </a:lnTo>
                  <a:lnTo>
                    <a:pt x="1713433" y="1112244"/>
                  </a:lnTo>
                  <a:lnTo>
                    <a:pt x="1679410" y="1139381"/>
                  </a:lnTo>
                  <a:lnTo>
                    <a:pt x="1644234" y="1165088"/>
                  </a:lnTo>
                  <a:lnTo>
                    <a:pt x="1607972" y="1189330"/>
                  </a:lnTo>
                  <a:lnTo>
                    <a:pt x="1570682" y="1212056"/>
                  </a:lnTo>
                  <a:lnTo>
                    <a:pt x="1532439" y="1233221"/>
                  </a:lnTo>
                  <a:lnTo>
                    <a:pt x="1493301" y="1252785"/>
                  </a:lnTo>
                  <a:lnTo>
                    <a:pt x="1453353" y="1270730"/>
                  </a:lnTo>
                  <a:lnTo>
                    <a:pt x="1412662" y="1287008"/>
                  </a:lnTo>
                  <a:lnTo>
                    <a:pt x="1371295" y="1301591"/>
                  </a:lnTo>
                  <a:lnTo>
                    <a:pt x="1329328" y="1314460"/>
                  </a:lnTo>
                  <a:lnTo>
                    <a:pt x="1286837" y="1325585"/>
                  </a:lnTo>
                  <a:lnTo>
                    <a:pt x="1243898" y="1334948"/>
                  </a:lnTo>
                  <a:lnTo>
                    <a:pt x="1200588" y="1342539"/>
                  </a:lnTo>
                  <a:lnTo>
                    <a:pt x="1156992" y="1348340"/>
                  </a:lnTo>
                  <a:lnTo>
                    <a:pt x="1113187" y="1352331"/>
                  </a:lnTo>
                  <a:lnTo>
                    <a:pt x="1069238" y="1354522"/>
                  </a:lnTo>
                  <a:lnTo>
                    <a:pt x="1025233" y="1354893"/>
                  </a:lnTo>
                  <a:lnTo>
                    <a:pt x="981256" y="1353455"/>
                  </a:lnTo>
                  <a:lnTo>
                    <a:pt x="937384" y="1350197"/>
                  </a:lnTo>
                  <a:lnTo>
                    <a:pt x="893683" y="1345140"/>
                  </a:lnTo>
                  <a:lnTo>
                    <a:pt x="850249" y="1338291"/>
                  </a:lnTo>
                  <a:lnTo>
                    <a:pt x="807148" y="1329652"/>
                  </a:lnTo>
                  <a:lnTo>
                    <a:pt x="764467" y="1319251"/>
                  </a:lnTo>
                  <a:lnTo>
                    <a:pt x="722281" y="1307097"/>
                  </a:lnTo>
                  <a:lnTo>
                    <a:pt x="680656" y="1293219"/>
                  </a:lnTo>
                  <a:lnTo>
                    <a:pt x="639670" y="1277636"/>
                  </a:lnTo>
                  <a:lnTo>
                    <a:pt x="599408" y="1260377"/>
                  </a:lnTo>
                  <a:lnTo>
                    <a:pt x="559927" y="1241469"/>
                  </a:lnTo>
                  <a:lnTo>
                    <a:pt x="521313" y="1220962"/>
                  </a:lnTo>
                  <a:lnTo>
                    <a:pt x="483622" y="1198874"/>
                  </a:lnTo>
                  <a:lnTo>
                    <a:pt x="446923" y="1175252"/>
                  </a:lnTo>
                  <a:lnTo>
                    <a:pt x="411289" y="1150144"/>
                  </a:lnTo>
                  <a:lnTo>
                    <a:pt x="376790" y="1123588"/>
                  </a:lnTo>
                  <a:lnTo>
                    <a:pt x="343471" y="1095632"/>
                  </a:lnTo>
                  <a:lnTo>
                    <a:pt x="311401" y="1066333"/>
                  </a:lnTo>
                  <a:lnTo>
                    <a:pt x="280635" y="1035739"/>
                  </a:lnTo>
                  <a:lnTo>
                    <a:pt x="251231" y="1003897"/>
                  </a:lnTo>
                  <a:lnTo>
                    <a:pt x="223247" y="970883"/>
                  </a:lnTo>
                  <a:lnTo>
                    <a:pt x="196720" y="936736"/>
                  </a:lnTo>
                  <a:lnTo>
                    <a:pt x="171707" y="901532"/>
                  </a:lnTo>
                  <a:lnTo>
                    <a:pt x="148247" y="865327"/>
                  </a:lnTo>
                  <a:lnTo>
                    <a:pt x="126387" y="828189"/>
                  </a:lnTo>
                  <a:lnTo>
                    <a:pt x="106166" y="790184"/>
                  </a:lnTo>
                  <a:lnTo>
                    <a:pt x="87620" y="751380"/>
                  </a:lnTo>
                  <a:lnTo>
                    <a:pt x="70780" y="711841"/>
                  </a:lnTo>
                  <a:lnTo>
                    <a:pt x="55674" y="671646"/>
                  </a:lnTo>
                  <a:lnTo>
                    <a:pt x="42339" y="630869"/>
                  </a:lnTo>
                  <a:lnTo>
                    <a:pt x="30794" y="589578"/>
                  </a:lnTo>
                  <a:lnTo>
                    <a:pt x="21050" y="547840"/>
                  </a:lnTo>
                  <a:lnTo>
                    <a:pt x="13144" y="505749"/>
                  </a:lnTo>
                  <a:lnTo>
                    <a:pt x="7077" y="463363"/>
                  </a:lnTo>
                  <a:lnTo>
                    <a:pt x="2857" y="420767"/>
                  </a:lnTo>
                  <a:lnTo>
                    <a:pt x="495" y="378038"/>
                  </a:lnTo>
                  <a:lnTo>
                    <a:pt x="0" y="335251"/>
                  </a:lnTo>
                  <a:lnTo>
                    <a:pt x="1372" y="292475"/>
                  </a:lnTo>
                  <a:lnTo>
                    <a:pt x="4610" y="249803"/>
                  </a:lnTo>
                  <a:lnTo>
                    <a:pt x="9696" y="207293"/>
                  </a:lnTo>
                  <a:lnTo>
                    <a:pt x="16640" y="165040"/>
                  </a:lnTo>
                  <a:lnTo>
                    <a:pt x="25413" y="123111"/>
                  </a:lnTo>
                  <a:lnTo>
                    <a:pt x="36004" y="81572"/>
                  </a:lnTo>
                  <a:lnTo>
                    <a:pt x="48397" y="40510"/>
                  </a:lnTo>
                  <a:lnTo>
                    <a:pt x="62570" y="0"/>
                  </a:lnTo>
                </a:path>
              </a:pathLst>
            </a:custGeom>
            <a:noFill/>
            <a:ln w="30480">
              <a:solidFill>
                <a:srgbClr val="846786"/>
              </a:solidFill>
              <a:prstDash val="solid"/>
            </a:ln>
          </p:spPr>
          <p:txBody>
            <a:bodyPr/>
            <a:lstStyle/>
            <a:p>
              <a:endParaRPr sz="1200"/>
            </a:p>
          </p:txBody>
        </p:sp>
        <p:sp>
          <p:nvSpPr>
            <p:cNvPr id="473" name="s4-ongoing-gene-flow__ongoing-exchange-lower-tip_473">
              <a:extLst>
                <a:ext uri="{FF2B5EF4-FFF2-40B4-BE49-F238E27FC236}">
                  <a16:creationId xmlns:a16="http://schemas.microsoft.com/office/drawing/2014/main" id="{91AA7FAA-BA69-4E42-8D70-7737EEDAC8E5}"/>
                </a:ext>
              </a:extLst>
            </p:cNvPr>
            <p:cNvSpPr>
              <a:spLocks/>
            </p:cNvSpPr>
            <p:nvPr/>
          </p:nvSpPr>
          <p:spPr>
            <a:xfrm>
              <a:off x="9789929" y="2290737"/>
              <a:ext cx="74809" cy="85007"/>
            </a:xfrm>
            <a:custGeom>
              <a:avLst/>
              <a:gdLst/>
              <a:ahLst/>
              <a:cxnLst/>
              <a:rect l="0" t="0" r="0" b="0"/>
              <a:pathLst>
                <a:path w="112214" h="127511">
                  <a:moveTo>
                    <a:pt x="93850" y="0"/>
                  </a:moveTo>
                  <a:lnTo>
                    <a:pt x="0" y="88268"/>
                  </a:lnTo>
                  <a:lnTo>
                    <a:pt x="112214" y="127511"/>
                  </a:lnTo>
                  <a:close/>
                </a:path>
              </a:pathLst>
            </a:custGeom>
            <a:solidFill>
              <a:srgbClr val="846786"/>
            </a:solidFill>
            <a:ln w="0">
              <a:noFill/>
              <a:prstDash val="solid"/>
            </a:ln>
          </p:spPr>
          <p:txBody>
            <a:bodyPr/>
            <a:lstStyle/>
            <a:p>
              <a:endParaRPr sz="1200"/>
            </a:p>
          </p:txBody>
        </p:sp>
        <p:sp>
          <p:nvSpPr>
            <p:cNvPr id="474" name="s4-ground__ellipse_474">
              <a:extLst>
                <a:ext uri="{FF2B5EF4-FFF2-40B4-BE49-F238E27FC236}">
                  <a16:creationId xmlns:a16="http://schemas.microsoft.com/office/drawing/2014/main" id="{039BEB20-1C12-460B-8F5B-EF67AAFC502E}"/>
                </a:ext>
              </a:extLst>
            </p:cNvPr>
            <p:cNvSpPr>
              <a:spLocks/>
            </p:cNvSpPr>
            <p:nvPr/>
          </p:nvSpPr>
          <p:spPr>
            <a:xfrm>
              <a:off x="9207500" y="3765550"/>
              <a:ext cx="2571750" cy="406400"/>
            </a:xfrm>
            <a:prstGeom prst="ellipse">
              <a:avLst/>
            </a:prstGeom>
            <a:solidFill>
              <a:srgbClr val="EEE8EE"/>
            </a:solidFill>
            <a:ln w="0">
              <a:noFill/>
              <a:prstDash val="solid"/>
            </a:ln>
          </p:spPr>
          <p:txBody>
            <a:bodyPr/>
            <a:lstStyle/>
            <a:p>
              <a:endParaRPr sz="1200"/>
            </a:p>
          </p:txBody>
        </p:sp>
        <p:sp>
          <p:nvSpPr>
            <p:cNvPr id="475" name="s4-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1200"/>
            </a:p>
          </p:txBody>
        </p:sp>
        <p:sp>
          <p:nvSpPr>
            <p:cNvPr id="476" name="s4-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1200"/>
            </a:p>
          </p:txBody>
        </p:sp>
        <p:sp>
          <p:nvSpPr>
            <p:cNvPr id="477" name="s4-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1200"/>
            </a:p>
          </p:txBody>
        </p:sp>
        <p:sp>
          <p:nvSpPr>
            <p:cNvPr id="478" name="s4-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1200"/>
            </a:p>
          </p:txBody>
        </p:sp>
        <p:sp>
          <p:nvSpPr>
            <p:cNvPr id="479" name="s4-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1200"/>
            </a:p>
          </p:txBody>
        </p:sp>
        <p:sp>
          <p:nvSpPr>
            <p:cNvPr id="480" name="s4-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1200"/>
            </a:p>
          </p:txBody>
        </p:sp>
        <p:sp>
          <p:nvSpPr>
            <p:cNvPr id="481" name="s4-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1200"/>
            </a:p>
          </p:txBody>
        </p:sp>
        <p:sp>
          <p:nvSpPr>
            <p:cNvPr id="482" name="s4-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1200"/>
            </a:p>
          </p:txBody>
        </p:sp>
        <p:sp>
          <p:nvSpPr>
            <p:cNvPr id="483" name="s4-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1200"/>
            </a:p>
          </p:txBody>
        </p:sp>
        <p:sp>
          <p:nvSpPr>
            <p:cNvPr id="484" name="s4-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1200"/>
            </a:p>
          </p:txBody>
        </p:sp>
        <p:sp>
          <p:nvSpPr>
            <p:cNvPr id="485" name="s4-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1200"/>
            </a:p>
          </p:txBody>
        </p:sp>
        <p:sp>
          <p:nvSpPr>
            <p:cNvPr id="486" name="s4-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1200"/>
            </a:p>
          </p:txBody>
        </p:sp>
        <p:sp>
          <p:nvSpPr>
            <p:cNvPr id="487" name="s4-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1200"/>
            </a:p>
          </p:txBody>
        </p:sp>
        <p:sp>
          <p:nvSpPr>
            <p:cNvPr id="488" name="s4-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1200"/>
            </a:p>
          </p:txBody>
        </p:sp>
        <p:sp>
          <p:nvSpPr>
            <p:cNvPr id="489" name="s4-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1200"/>
            </a:p>
          </p:txBody>
        </p:sp>
        <p:sp>
          <p:nvSpPr>
            <p:cNvPr id="490" name="s4-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1200"/>
            </a:p>
          </p:txBody>
        </p:sp>
        <p:sp>
          <p:nvSpPr>
            <p:cNvPr id="491" name="s4-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1200"/>
            </a:p>
          </p:txBody>
        </p:sp>
        <p:sp>
          <p:nvSpPr>
            <p:cNvPr id="492" name="s4-crested-chicken__ellipse_492">
              <a:extLst>
                <a:ext uri="{FF2B5EF4-FFF2-40B4-BE49-F238E27FC236}">
                  <a16:creationId xmlns:a16="http://schemas.microsoft.com/office/drawing/2014/main" id="{D9B9B17A-1995-4024-B9F9-7E4162463A40}"/>
                </a:ext>
              </a:extLst>
            </p:cNvPr>
            <p:cNvSpPr>
              <a:spLocks/>
            </p:cNvSpPr>
            <p:nvPr/>
          </p:nvSpPr>
          <p:spPr>
            <a:xfrm>
              <a:off x="10311447" y="4115436"/>
              <a:ext cx="491172" cy="48577"/>
            </a:xfrm>
            <a:prstGeom prst="ellipse">
              <a:avLst/>
            </a:prstGeom>
            <a:solidFill>
              <a:srgbClr val="DCE2D6">
                <a:alpha val="80000"/>
              </a:srgbClr>
            </a:solidFill>
            <a:ln w="0">
              <a:noFill/>
              <a:prstDash val="solid"/>
            </a:ln>
          </p:spPr>
          <p:txBody>
            <a:bodyPr/>
            <a:lstStyle/>
            <a:p>
              <a:endParaRPr sz="1200"/>
            </a:p>
          </p:txBody>
        </p:sp>
        <p:sp>
          <p:nvSpPr>
            <p:cNvPr id="493" name="s4-crested-chicken__contour_493">
              <a:extLst>
                <a:ext uri="{FF2B5EF4-FFF2-40B4-BE49-F238E27FC236}">
                  <a16:creationId xmlns:a16="http://schemas.microsoft.com/office/drawing/2014/main" id="{C8F6ED5F-83DD-4D11-9A9B-03ED20BE6990}"/>
                </a:ext>
              </a:extLst>
            </p:cNvPr>
            <p:cNvSpPr>
              <a:spLocks/>
            </p:cNvSpPr>
            <p:nvPr/>
          </p:nvSpPr>
          <p:spPr>
            <a:xfrm>
              <a:off x="10160317" y="3672841"/>
              <a:ext cx="259080" cy="215899"/>
            </a:xfrm>
            <a:custGeom>
              <a:avLst/>
              <a:gdLst/>
              <a:ahLst/>
              <a:cxnLst/>
              <a:rect l="0" t="0" r="0" b="0"/>
              <a:pathLst>
                <a:path w="388620" h="323850">
                  <a:moveTo>
                    <a:pt x="364331" y="323850"/>
                  </a:moveTo>
                  <a:lnTo>
                    <a:pt x="336614" y="304914"/>
                  </a:lnTo>
                  <a:lnTo>
                    <a:pt x="308648" y="286779"/>
                  </a:lnTo>
                  <a:lnTo>
                    <a:pt x="280587" y="269186"/>
                  </a:lnTo>
                  <a:lnTo>
                    <a:pt x="252613" y="251841"/>
                  </a:lnTo>
                  <a:lnTo>
                    <a:pt x="224895" y="234496"/>
                  </a:lnTo>
                  <a:lnTo>
                    <a:pt x="197615" y="216846"/>
                  </a:lnTo>
                  <a:lnTo>
                    <a:pt x="170936" y="198644"/>
                  </a:lnTo>
                  <a:lnTo>
                    <a:pt x="145037" y="179613"/>
                  </a:lnTo>
                  <a:lnTo>
                    <a:pt x="120082" y="159468"/>
                  </a:lnTo>
                  <a:lnTo>
                    <a:pt x="96260" y="137932"/>
                  </a:lnTo>
                  <a:lnTo>
                    <a:pt x="73724" y="114757"/>
                  </a:lnTo>
                  <a:lnTo>
                    <a:pt x="52654" y="89640"/>
                  </a:lnTo>
                  <a:lnTo>
                    <a:pt x="33233" y="62332"/>
                  </a:lnTo>
                  <a:lnTo>
                    <a:pt x="15621" y="32537"/>
                  </a:lnTo>
                  <a:lnTo>
                    <a:pt x="0" y="0"/>
                  </a:lnTo>
                  <a:lnTo>
                    <a:pt x="18698" y="3839"/>
                  </a:lnTo>
                  <a:lnTo>
                    <a:pt x="36033" y="8725"/>
                  </a:lnTo>
                  <a:lnTo>
                    <a:pt x="52140" y="14383"/>
                  </a:lnTo>
                  <a:lnTo>
                    <a:pt x="67170" y="20555"/>
                  </a:lnTo>
                  <a:lnTo>
                    <a:pt x="81258" y="26984"/>
                  </a:lnTo>
                  <a:lnTo>
                    <a:pt x="94564" y="33423"/>
                  </a:lnTo>
                  <a:lnTo>
                    <a:pt x="107223" y="39595"/>
                  </a:lnTo>
                  <a:lnTo>
                    <a:pt x="119367" y="45253"/>
                  </a:lnTo>
                  <a:lnTo>
                    <a:pt x="131159" y="50130"/>
                  </a:lnTo>
                  <a:lnTo>
                    <a:pt x="142732" y="53978"/>
                  </a:lnTo>
                  <a:lnTo>
                    <a:pt x="154238" y="56521"/>
                  </a:lnTo>
                  <a:lnTo>
                    <a:pt x="165811" y="57512"/>
                  </a:lnTo>
                  <a:lnTo>
                    <a:pt x="177603" y="56693"/>
                  </a:lnTo>
                  <a:lnTo>
                    <a:pt x="189748" y="53807"/>
                  </a:lnTo>
                  <a:lnTo>
                    <a:pt x="202406" y="48578"/>
                  </a:lnTo>
                  <a:lnTo>
                    <a:pt x="315754" y="113347"/>
                  </a:lnTo>
                  <a:lnTo>
                    <a:pt x="388620" y="218599"/>
                  </a:lnTo>
                  <a:close/>
                </a:path>
              </a:pathLst>
            </a:custGeom>
            <a:solidFill>
              <a:srgbClr val="2D3B37"/>
            </a:solidFill>
            <a:ln w="13764">
              <a:solidFill>
                <a:srgbClr val="4A5147"/>
              </a:solidFill>
              <a:prstDash val="solid"/>
            </a:ln>
          </p:spPr>
          <p:txBody>
            <a:bodyPr/>
            <a:lstStyle/>
            <a:p>
              <a:endParaRPr sz="1200"/>
            </a:p>
          </p:txBody>
        </p:sp>
        <p:sp>
          <p:nvSpPr>
            <p:cNvPr id="494" name="s4-crested-chicken__line_494">
              <a:extLst>
                <a:ext uri="{FF2B5EF4-FFF2-40B4-BE49-F238E27FC236}">
                  <a16:creationId xmlns:a16="http://schemas.microsoft.com/office/drawing/2014/main" id="{41C5EE6F-D28E-4C1E-8DCF-E1DBD142192D}"/>
                </a:ext>
              </a:extLst>
            </p:cNvPr>
            <p:cNvSpPr>
              <a:spLocks/>
            </p:cNvSpPr>
            <p:nvPr/>
          </p:nvSpPr>
          <p:spPr>
            <a:xfrm>
              <a:off x="10521950" y="4018281"/>
              <a:ext cx="5397" cy="97155"/>
            </a:xfrm>
            <a:custGeom>
              <a:avLst/>
              <a:gdLst/>
              <a:ahLst/>
              <a:cxnLst/>
              <a:rect l="0" t="0" r="0" b="0"/>
              <a:pathLst>
                <a:path w="8096" h="145733">
                  <a:moveTo>
                    <a:pt x="0" y="0"/>
                  </a:moveTo>
                  <a:lnTo>
                    <a:pt x="8096" y="145733"/>
                  </a:lnTo>
                </a:path>
              </a:pathLst>
            </a:custGeom>
            <a:noFill/>
            <a:ln w="22670">
              <a:solidFill>
                <a:srgbClr val="B98E49"/>
              </a:solidFill>
              <a:prstDash val="solid"/>
            </a:ln>
          </p:spPr>
          <p:txBody>
            <a:bodyPr/>
            <a:lstStyle/>
            <a:p>
              <a:endParaRPr sz="1200"/>
            </a:p>
          </p:txBody>
        </p:sp>
        <p:sp>
          <p:nvSpPr>
            <p:cNvPr id="495" name="s4-crested-chicken__line_495">
              <a:extLst>
                <a:ext uri="{FF2B5EF4-FFF2-40B4-BE49-F238E27FC236}">
                  <a16:creationId xmlns:a16="http://schemas.microsoft.com/office/drawing/2014/main" id="{6CB70C1F-4E98-49FE-9BC8-6A4AC26D3BB4}"/>
                </a:ext>
              </a:extLst>
            </p:cNvPr>
            <p:cNvSpPr>
              <a:spLocks/>
            </p:cNvSpPr>
            <p:nvPr/>
          </p:nvSpPr>
          <p:spPr>
            <a:xfrm>
              <a:off x="10473372" y="4110038"/>
              <a:ext cx="53975" cy="26987"/>
            </a:xfrm>
            <a:custGeom>
              <a:avLst/>
              <a:gdLst/>
              <a:ahLst/>
              <a:cxnLst/>
              <a:rect l="0" t="0" r="0" b="0"/>
              <a:pathLst>
                <a:path w="80963" h="40481">
                  <a:moveTo>
                    <a:pt x="80963" y="0"/>
                  </a:moveTo>
                  <a:lnTo>
                    <a:pt x="0" y="40481"/>
                  </a:lnTo>
                </a:path>
              </a:pathLst>
            </a:custGeom>
            <a:noFill/>
            <a:ln w="17812">
              <a:solidFill>
                <a:srgbClr val="B98E49"/>
              </a:solidFill>
              <a:prstDash val="solid"/>
            </a:ln>
          </p:spPr>
          <p:txBody>
            <a:bodyPr/>
            <a:lstStyle/>
            <a:p>
              <a:endParaRPr sz="1200"/>
            </a:p>
          </p:txBody>
        </p:sp>
        <p:sp>
          <p:nvSpPr>
            <p:cNvPr id="496" name="s4-crested-chicken__line_496">
              <a:extLst>
                <a:ext uri="{FF2B5EF4-FFF2-40B4-BE49-F238E27FC236}">
                  <a16:creationId xmlns:a16="http://schemas.microsoft.com/office/drawing/2014/main" id="{9C357952-41CB-4AB2-B03A-E322476A5D60}"/>
                </a:ext>
              </a:extLst>
            </p:cNvPr>
            <p:cNvSpPr>
              <a:spLocks/>
            </p:cNvSpPr>
            <p:nvPr/>
          </p:nvSpPr>
          <p:spPr>
            <a:xfrm>
              <a:off x="10527347" y="4110038"/>
              <a:ext cx="59372" cy="26987"/>
            </a:xfrm>
            <a:custGeom>
              <a:avLst/>
              <a:gdLst/>
              <a:ahLst/>
              <a:cxnLst/>
              <a:rect l="0" t="0" r="0" b="0"/>
              <a:pathLst>
                <a:path w="89059" h="40481">
                  <a:moveTo>
                    <a:pt x="0" y="0"/>
                  </a:moveTo>
                  <a:lnTo>
                    <a:pt x="89059" y="40481"/>
                  </a:lnTo>
                </a:path>
              </a:pathLst>
            </a:custGeom>
            <a:noFill/>
            <a:ln w="17812">
              <a:solidFill>
                <a:srgbClr val="B98E49"/>
              </a:solidFill>
              <a:prstDash val="solid"/>
            </a:ln>
          </p:spPr>
          <p:txBody>
            <a:bodyPr/>
            <a:lstStyle/>
            <a:p>
              <a:endParaRPr sz="1200"/>
            </a:p>
          </p:txBody>
        </p:sp>
        <p:sp>
          <p:nvSpPr>
            <p:cNvPr id="497" name="s4-crested-chicken__line_497">
              <a:extLst>
                <a:ext uri="{FF2B5EF4-FFF2-40B4-BE49-F238E27FC236}">
                  <a16:creationId xmlns:a16="http://schemas.microsoft.com/office/drawing/2014/main" id="{78AD23E3-47A5-4EE8-8794-55CDF9E93610}"/>
                </a:ext>
              </a:extLst>
            </p:cNvPr>
            <p:cNvSpPr>
              <a:spLocks/>
            </p:cNvSpPr>
            <p:nvPr/>
          </p:nvSpPr>
          <p:spPr>
            <a:xfrm>
              <a:off x="10640695" y="4023678"/>
              <a:ext cx="10795" cy="97155"/>
            </a:xfrm>
            <a:custGeom>
              <a:avLst/>
              <a:gdLst/>
              <a:ahLst/>
              <a:cxnLst/>
              <a:rect l="0" t="0" r="0" b="0"/>
              <a:pathLst>
                <a:path w="16193" h="145733">
                  <a:moveTo>
                    <a:pt x="0" y="0"/>
                  </a:moveTo>
                  <a:lnTo>
                    <a:pt x="16193" y="145733"/>
                  </a:lnTo>
                </a:path>
              </a:pathLst>
            </a:custGeom>
            <a:noFill/>
            <a:ln w="22670">
              <a:solidFill>
                <a:srgbClr val="B98E49"/>
              </a:solidFill>
              <a:prstDash val="solid"/>
            </a:ln>
          </p:spPr>
          <p:txBody>
            <a:bodyPr/>
            <a:lstStyle/>
            <a:p>
              <a:endParaRPr sz="1200"/>
            </a:p>
          </p:txBody>
        </p:sp>
        <p:sp>
          <p:nvSpPr>
            <p:cNvPr id="498" name="s4-crested-chicken__line_498">
              <a:extLst>
                <a:ext uri="{FF2B5EF4-FFF2-40B4-BE49-F238E27FC236}">
                  <a16:creationId xmlns:a16="http://schemas.microsoft.com/office/drawing/2014/main" id="{B0594B91-D8AD-422E-8908-91B295A5819F}"/>
                </a:ext>
              </a:extLst>
            </p:cNvPr>
            <p:cNvSpPr>
              <a:spLocks/>
            </p:cNvSpPr>
            <p:nvPr/>
          </p:nvSpPr>
          <p:spPr>
            <a:xfrm>
              <a:off x="10602912" y="4115436"/>
              <a:ext cx="48577" cy="21589"/>
            </a:xfrm>
            <a:custGeom>
              <a:avLst/>
              <a:gdLst/>
              <a:ahLst/>
              <a:cxnLst/>
              <a:rect l="0" t="0" r="0" b="0"/>
              <a:pathLst>
                <a:path w="72866" h="32385">
                  <a:moveTo>
                    <a:pt x="72866" y="0"/>
                  </a:moveTo>
                  <a:lnTo>
                    <a:pt x="0" y="32385"/>
                  </a:lnTo>
                </a:path>
              </a:pathLst>
            </a:custGeom>
            <a:noFill/>
            <a:ln w="17812">
              <a:solidFill>
                <a:srgbClr val="B98E49"/>
              </a:solidFill>
              <a:prstDash val="solid"/>
            </a:ln>
          </p:spPr>
          <p:txBody>
            <a:bodyPr/>
            <a:lstStyle/>
            <a:p>
              <a:endParaRPr sz="1200"/>
            </a:p>
          </p:txBody>
        </p:sp>
        <p:sp>
          <p:nvSpPr>
            <p:cNvPr id="499" name="s4-crested-chicken__line_499">
              <a:extLst>
                <a:ext uri="{FF2B5EF4-FFF2-40B4-BE49-F238E27FC236}">
                  <a16:creationId xmlns:a16="http://schemas.microsoft.com/office/drawing/2014/main" id="{CAE2F00E-E468-438B-97FE-2D9E8197E45E}"/>
                </a:ext>
              </a:extLst>
            </p:cNvPr>
            <p:cNvSpPr>
              <a:spLocks/>
            </p:cNvSpPr>
            <p:nvPr/>
          </p:nvSpPr>
          <p:spPr>
            <a:xfrm>
              <a:off x="10651490" y="4115436"/>
              <a:ext cx="53975" cy="21589"/>
            </a:xfrm>
            <a:custGeom>
              <a:avLst/>
              <a:gdLst/>
              <a:ahLst/>
              <a:cxnLst/>
              <a:rect l="0" t="0" r="0" b="0"/>
              <a:pathLst>
                <a:path w="80963" h="32385">
                  <a:moveTo>
                    <a:pt x="0" y="0"/>
                  </a:moveTo>
                  <a:lnTo>
                    <a:pt x="80963" y="32385"/>
                  </a:lnTo>
                </a:path>
              </a:pathLst>
            </a:custGeom>
            <a:noFill/>
            <a:ln w="17812">
              <a:solidFill>
                <a:srgbClr val="B98E49"/>
              </a:solidFill>
              <a:prstDash val="solid"/>
            </a:ln>
          </p:spPr>
          <p:txBody>
            <a:bodyPr/>
            <a:lstStyle/>
            <a:p>
              <a:endParaRPr sz="1200"/>
            </a:p>
          </p:txBody>
        </p:sp>
        <p:sp>
          <p:nvSpPr>
            <p:cNvPr id="500" name="s4-crested-chicken__contour_500">
              <a:extLst>
                <a:ext uri="{FF2B5EF4-FFF2-40B4-BE49-F238E27FC236}">
                  <a16:creationId xmlns:a16="http://schemas.microsoft.com/office/drawing/2014/main" id="{6B2C0F0B-C79D-4F45-83C2-829540FCC3FB}"/>
                </a:ext>
              </a:extLst>
            </p:cNvPr>
            <p:cNvSpPr>
              <a:spLocks/>
            </p:cNvSpPr>
            <p:nvPr/>
          </p:nvSpPr>
          <p:spPr>
            <a:xfrm>
              <a:off x="10300049" y="3564732"/>
              <a:ext cx="540912" cy="514019"/>
            </a:xfrm>
            <a:custGeom>
              <a:avLst/>
              <a:gdLst/>
              <a:ahLst/>
              <a:cxnLst/>
              <a:rect l="0" t="0" r="0" b="0"/>
              <a:pathLst>
                <a:path w="811368" h="771030">
                  <a:moveTo>
                    <a:pt x="41386" y="348377"/>
                  </a:moveTo>
                  <a:lnTo>
                    <a:pt x="63265" y="322545"/>
                  </a:lnTo>
                  <a:lnTo>
                    <a:pt x="86687" y="299942"/>
                  </a:lnTo>
                  <a:lnTo>
                    <a:pt x="111471" y="280368"/>
                  </a:lnTo>
                  <a:lnTo>
                    <a:pt x="137408" y="263604"/>
                  </a:lnTo>
                  <a:lnTo>
                    <a:pt x="164325" y="249422"/>
                  </a:lnTo>
                  <a:lnTo>
                    <a:pt x="192043" y="237620"/>
                  </a:lnTo>
                  <a:lnTo>
                    <a:pt x="220361" y="227981"/>
                  </a:lnTo>
                  <a:lnTo>
                    <a:pt x="249088" y="220275"/>
                  </a:lnTo>
                  <a:lnTo>
                    <a:pt x="278054" y="214303"/>
                  </a:lnTo>
                  <a:lnTo>
                    <a:pt x="307067" y="209845"/>
                  </a:lnTo>
                  <a:lnTo>
                    <a:pt x="335928" y="206673"/>
                  </a:lnTo>
                  <a:lnTo>
                    <a:pt x="364455" y="204587"/>
                  </a:lnTo>
                  <a:lnTo>
                    <a:pt x="392478" y="203368"/>
                  </a:lnTo>
                  <a:lnTo>
                    <a:pt x="419786" y="202787"/>
                  </a:lnTo>
                  <a:lnTo>
                    <a:pt x="446199" y="202644"/>
                  </a:lnTo>
                  <a:lnTo>
                    <a:pt x="455828" y="180213"/>
                  </a:lnTo>
                  <a:lnTo>
                    <a:pt x="465353" y="158382"/>
                  </a:lnTo>
                  <a:lnTo>
                    <a:pt x="474888" y="137293"/>
                  </a:lnTo>
                  <a:lnTo>
                    <a:pt x="484565" y="117110"/>
                  </a:lnTo>
                  <a:lnTo>
                    <a:pt x="494481" y="97993"/>
                  </a:lnTo>
                  <a:lnTo>
                    <a:pt x="504749" y="80096"/>
                  </a:lnTo>
                  <a:lnTo>
                    <a:pt x="515503" y="63589"/>
                  </a:lnTo>
                  <a:lnTo>
                    <a:pt x="526837" y="48616"/>
                  </a:lnTo>
                  <a:lnTo>
                    <a:pt x="538886" y="35347"/>
                  </a:lnTo>
                  <a:lnTo>
                    <a:pt x="551745" y="23927"/>
                  </a:lnTo>
                  <a:lnTo>
                    <a:pt x="565547" y="14526"/>
                  </a:lnTo>
                  <a:lnTo>
                    <a:pt x="580406" y="7296"/>
                  </a:lnTo>
                  <a:lnTo>
                    <a:pt x="596417" y="2400"/>
                  </a:lnTo>
                  <a:lnTo>
                    <a:pt x="613715" y="0"/>
                  </a:lnTo>
                  <a:lnTo>
                    <a:pt x="632412" y="238"/>
                  </a:lnTo>
                  <a:lnTo>
                    <a:pt x="650977" y="1600"/>
                  </a:lnTo>
                  <a:lnTo>
                    <a:pt x="667760" y="5525"/>
                  </a:lnTo>
                  <a:lnTo>
                    <a:pt x="682742" y="11763"/>
                  </a:lnTo>
                  <a:lnTo>
                    <a:pt x="695858" y="20079"/>
                  </a:lnTo>
                  <a:lnTo>
                    <a:pt x="707079" y="30223"/>
                  </a:lnTo>
                  <a:lnTo>
                    <a:pt x="716356" y="41948"/>
                  </a:lnTo>
                  <a:lnTo>
                    <a:pt x="723643" y="55016"/>
                  </a:lnTo>
                  <a:lnTo>
                    <a:pt x="728901" y="69171"/>
                  </a:lnTo>
                  <a:lnTo>
                    <a:pt x="732091" y="84182"/>
                  </a:lnTo>
                  <a:lnTo>
                    <a:pt x="733168" y="99793"/>
                  </a:lnTo>
                  <a:lnTo>
                    <a:pt x="732082" y="115767"/>
                  </a:lnTo>
                  <a:lnTo>
                    <a:pt x="728786" y="131855"/>
                  </a:lnTo>
                  <a:lnTo>
                    <a:pt x="723252" y="147809"/>
                  </a:lnTo>
                  <a:lnTo>
                    <a:pt x="715432" y="163392"/>
                  </a:lnTo>
                  <a:lnTo>
                    <a:pt x="705279" y="178356"/>
                  </a:lnTo>
                  <a:lnTo>
                    <a:pt x="701573" y="191519"/>
                  </a:lnTo>
                  <a:lnTo>
                    <a:pt x="700059" y="205111"/>
                  </a:lnTo>
                  <a:lnTo>
                    <a:pt x="700554" y="219094"/>
                  </a:lnTo>
                  <a:lnTo>
                    <a:pt x="702850" y="233477"/>
                  </a:lnTo>
                  <a:lnTo>
                    <a:pt x="706774" y="248221"/>
                  </a:lnTo>
                  <a:lnTo>
                    <a:pt x="712146" y="263338"/>
                  </a:lnTo>
                  <a:lnTo>
                    <a:pt x="718766" y="278787"/>
                  </a:lnTo>
                  <a:lnTo>
                    <a:pt x="726443" y="294580"/>
                  </a:lnTo>
                  <a:lnTo>
                    <a:pt x="735006" y="310677"/>
                  </a:lnTo>
                  <a:lnTo>
                    <a:pt x="744264" y="327089"/>
                  </a:lnTo>
                  <a:lnTo>
                    <a:pt x="754018" y="343776"/>
                  </a:lnTo>
                  <a:lnTo>
                    <a:pt x="764086" y="360750"/>
                  </a:lnTo>
                  <a:lnTo>
                    <a:pt x="774297" y="377971"/>
                  </a:lnTo>
                  <a:lnTo>
                    <a:pt x="784441" y="395449"/>
                  </a:lnTo>
                  <a:lnTo>
                    <a:pt x="794337" y="413147"/>
                  </a:lnTo>
                  <a:lnTo>
                    <a:pt x="805834" y="450132"/>
                  </a:lnTo>
                  <a:lnTo>
                    <a:pt x="811368" y="486404"/>
                  </a:lnTo>
                  <a:lnTo>
                    <a:pt x="811244" y="521703"/>
                  </a:lnTo>
                  <a:lnTo>
                    <a:pt x="805767" y="555746"/>
                  </a:lnTo>
                  <a:lnTo>
                    <a:pt x="795233" y="588264"/>
                  </a:lnTo>
                  <a:lnTo>
                    <a:pt x="779955" y="618982"/>
                  </a:lnTo>
                  <a:lnTo>
                    <a:pt x="760228" y="647633"/>
                  </a:lnTo>
                  <a:lnTo>
                    <a:pt x="736359" y="673932"/>
                  </a:lnTo>
                  <a:lnTo>
                    <a:pt x="708650" y="697621"/>
                  </a:lnTo>
                  <a:lnTo>
                    <a:pt x="677389" y="718404"/>
                  </a:lnTo>
                  <a:lnTo>
                    <a:pt x="642899" y="736025"/>
                  </a:lnTo>
                  <a:lnTo>
                    <a:pt x="605466" y="750208"/>
                  </a:lnTo>
                  <a:lnTo>
                    <a:pt x="565404" y="760676"/>
                  </a:lnTo>
                  <a:lnTo>
                    <a:pt x="523008" y="767163"/>
                  </a:lnTo>
                  <a:lnTo>
                    <a:pt x="478584" y="769382"/>
                  </a:lnTo>
                  <a:lnTo>
                    <a:pt x="432406" y="771030"/>
                  </a:lnTo>
                  <a:lnTo>
                    <a:pt x="387858" y="769572"/>
                  </a:lnTo>
                  <a:lnTo>
                    <a:pt x="345091" y="765172"/>
                  </a:lnTo>
                  <a:lnTo>
                    <a:pt x="304219" y="757961"/>
                  </a:lnTo>
                  <a:lnTo>
                    <a:pt x="265386" y="748093"/>
                  </a:lnTo>
                  <a:lnTo>
                    <a:pt x="228705" y="735701"/>
                  </a:lnTo>
                  <a:lnTo>
                    <a:pt x="194310" y="720938"/>
                  </a:lnTo>
                  <a:lnTo>
                    <a:pt x="162335" y="703936"/>
                  </a:lnTo>
                  <a:lnTo>
                    <a:pt x="132902" y="684857"/>
                  </a:lnTo>
                  <a:lnTo>
                    <a:pt x="106156" y="663835"/>
                  </a:lnTo>
                  <a:lnTo>
                    <a:pt x="82210" y="641004"/>
                  </a:lnTo>
                  <a:lnTo>
                    <a:pt x="61208" y="616525"/>
                  </a:lnTo>
                  <a:lnTo>
                    <a:pt x="43263" y="590531"/>
                  </a:lnTo>
                  <a:lnTo>
                    <a:pt x="28518" y="563175"/>
                  </a:lnTo>
                  <a:lnTo>
                    <a:pt x="17097" y="534591"/>
                  </a:lnTo>
                  <a:lnTo>
                    <a:pt x="11259" y="520132"/>
                  </a:lnTo>
                  <a:lnTo>
                    <a:pt x="6677" y="505892"/>
                  </a:lnTo>
                  <a:lnTo>
                    <a:pt x="3305" y="491909"/>
                  </a:lnTo>
                  <a:lnTo>
                    <a:pt x="1095" y="478174"/>
                  </a:lnTo>
                  <a:lnTo>
                    <a:pt x="10" y="464725"/>
                  </a:lnTo>
                  <a:lnTo>
                    <a:pt x="0" y="451552"/>
                  </a:lnTo>
                  <a:lnTo>
                    <a:pt x="1029" y="438693"/>
                  </a:lnTo>
                  <a:lnTo>
                    <a:pt x="3048" y="426139"/>
                  </a:lnTo>
                  <a:lnTo>
                    <a:pt x="6020" y="413928"/>
                  </a:lnTo>
                  <a:lnTo>
                    <a:pt x="9896" y="402050"/>
                  </a:lnTo>
                  <a:lnTo>
                    <a:pt x="14640" y="390544"/>
                  </a:lnTo>
                  <a:lnTo>
                    <a:pt x="20203" y="379400"/>
                  </a:lnTo>
                  <a:lnTo>
                    <a:pt x="26546" y="368656"/>
                  </a:lnTo>
                  <a:lnTo>
                    <a:pt x="33623" y="358302"/>
                  </a:lnTo>
                  <a:lnTo>
                    <a:pt x="41386" y="348377"/>
                  </a:lnTo>
                  <a:close/>
                </a:path>
              </a:pathLst>
            </a:custGeom>
            <a:solidFill>
              <a:srgbClr val="424C49"/>
            </a:solidFill>
            <a:ln w="13764">
              <a:solidFill>
                <a:srgbClr val="4A5147"/>
              </a:solidFill>
              <a:prstDash val="solid"/>
            </a:ln>
          </p:spPr>
          <p:txBody>
            <a:bodyPr/>
            <a:lstStyle/>
            <a:p>
              <a:endParaRPr sz="1200"/>
            </a:p>
          </p:txBody>
        </p:sp>
        <p:sp>
          <p:nvSpPr>
            <p:cNvPr id="501" name="s4-crested-chicken__contour_501">
              <a:extLst>
                <a:ext uri="{FF2B5EF4-FFF2-40B4-BE49-F238E27FC236}">
                  <a16:creationId xmlns:a16="http://schemas.microsoft.com/office/drawing/2014/main" id="{E79AB142-18EF-441F-BBB7-A9AEB192A0C8}"/>
                </a:ext>
              </a:extLst>
            </p:cNvPr>
            <p:cNvSpPr>
              <a:spLocks/>
            </p:cNvSpPr>
            <p:nvPr/>
          </p:nvSpPr>
          <p:spPr>
            <a:xfrm>
              <a:off x="10613707" y="3567005"/>
              <a:ext cx="164426" cy="278555"/>
            </a:xfrm>
            <a:custGeom>
              <a:avLst/>
              <a:gdLst/>
              <a:ahLst/>
              <a:cxnLst/>
              <a:rect l="0" t="0" r="0" b="0"/>
              <a:pathLst>
                <a:path w="246640" h="417833">
                  <a:moveTo>
                    <a:pt x="48577" y="126368"/>
                  </a:moveTo>
                  <a:lnTo>
                    <a:pt x="51244" y="107394"/>
                  </a:lnTo>
                  <a:lnTo>
                    <a:pt x="55883" y="89440"/>
                  </a:lnTo>
                  <a:lnTo>
                    <a:pt x="62313" y="72676"/>
                  </a:lnTo>
                  <a:lnTo>
                    <a:pt x="70333" y="57245"/>
                  </a:lnTo>
                  <a:lnTo>
                    <a:pt x="79762" y="43310"/>
                  </a:lnTo>
                  <a:lnTo>
                    <a:pt x="90421" y="31023"/>
                  </a:lnTo>
                  <a:lnTo>
                    <a:pt x="102108" y="20564"/>
                  </a:lnTo>
                  <a:lnTo>
                    <a:pt x="114652" y="12068"/>
                  </a:lnTo>
                  <a:lnTo>
                    <a:pt x="127854" y="5705"/>
                  </a:lnTo>
                  <a:lnTo>
                    <a:pt x="141532" y="1629"/>
                  </a:lnTo>
                  <a:lnTo>
                    <a:pt x="155505" y="0"/>
                  </a:lnTo>
                  <a:lnTo>
                    <a:pt x="169564" y="972"/>
                  </a:lnTo>
                  <a:lnTo>
                    <a:pt x="183547" y="4715"/>
                  </a:lnTo>
                  <a:lnTo>
                    <a:pt x="197253" y="11373"/>
                  </a:lnTo>
                  <a:lnTo>
                    <a:pt x="210502" y="21117"/>
                  </a:lnTo>
                  <a:lnTo>
                    <a:pt x="223399" y="34176"/>
                  </a:lnTo>
                  <a:lnTo>
                    <a:pt x="233143" y="47396"/>
                  </a:lnTo>
                  <a:lnTo>
                    <a:pt x="240040" y="60760"/>
                  </a:lnTo>
                  <a:lnTo>
                    <a:pt x="244383" y="74200"/>
                  </a:lnTo>
                  <a:lnTo>
                    <a:pt x="246488" y="87687"/>
                  </a:lnTo>
                  <a:lnTo>
                    <a:pt x="246640" y="101175"/>
                  </a:lnTo>
                  <a:lnTo>
                    <a:pt x="245164" y="114614"/>
                  </a:lnTo>
                  <a:lnTo>
                    <a:pt x="242345" y="127968"/>
                  </a:lnTo>
                  <a:lnTo>
                    <a:pt x="238487" y="141199"/>
                  </a:lnTo>
                  <a:lnTo>
                    <a:pt x="233896" y="154257"/>
                  </a:lnTo>
                  <a:lnTo>
                    <a:pt x="228867" y="167097"/>
                  </a:lnTo>
                  <a:lnTo>
                    <a:pt x="223714" y="179670"/>
                  </a:lnTo>
                  <a:lnTo>
                    <a:pt x="218732" y="191948"/>
                  </a:lnTo>
                  <a:lnTo>
                    <a:pt x="214227" y="203883"/>
                  </a:lnTo>
                  <a:lnTo>
                    <a:pt x="210502" y="215427"/>
                  </a:lnTo>
                  <a:lnTo>
                    <a:pt x="204654" y="227962"/>
                  </a:lnTo>
                  <a:lnTo>
                    <a:pt x="200006" y="239744"/>
                  </a:lnTo>
                  <a:lnTo>
                    <a:pt x="196444" y="250860"/>
                  </a:lnTo>
                  <a:lnTo>
                    <a:pt x="193881" y="261404"/>
                  </a:lnTo>
                  <a:lnTo>
                    <a:pt x="192215" y="271501"/>
                  </a:lnTo>
                  <a:lnTo>
                    <a:pt x="191329" y="281235"/>
                  </a:lnTo>
                  <a:lnTo>
                    <a:pt x="191138" y="290703"/>
                  </a:lnTo>
                  <a:lnTo>
                    <a:pt x="191538" y="300018"/>
                  </a:lnTo>
                  <a:lnTo>
                    <a:pt x="192434" y="309277"/>
                  </a:lnTo>
                  <a:lnTo>
                    <a:pt x="193710" y="318583"/>
                  </a:lnTo>
                  <a:lnTo>
                    <a:pt x="195272" y="328022"/>
                  </a:lnTo>
                  <a:lnTo>
                    <a:pt x="197034" y="337709"/>
                  </a:lnTo>
                  <a:lnTo>
                    <a:pt x="198872" y="347748"/>
                  </a:lnTo>
                  <a:lnTo>
                    <a:pt x="200692" y="358226"/>
                  </a:lnTo>
                  <a:lnTo>
                    <a:pt x="202406" y="369256"/>
                  </a:lnTo>
                  <a:lnTo>
                    <a:pt x="161925" y="417833"/>
                  </a:lnTo>
                  <a:lnTo>
                    <a:pt x="105251" y="361159"/>
                  </a:lnTo>
                  <a:lnTo>
                    <a:pt x="48577" y="385448"/>
                  </a:lnTo>
                  <a:lnTo>
                    <a:pt x="0" y="280197"/>
                  </a:lnTo>
                  <a:close/>
                </a:path>
              </a:pathLst>
            </a:custGeom>
            <a:solidFill>
              <a:srgbClr val="5D6B60"/>
            </a:solidFill>
            <a:ln w="13764">
              <a:noFill/>
              <a:prstDash val="solid"/>
            </a:ln>
          </p:spPr>
          <p:txBody>
            <a:bodyPr/>
            <a:lstStyle/>
            <a:p>
              <a:endParaRPr sz="1200"/>
            </a:p>
          </p:txBody>
        </p:sp>
        <p:sp>
          <p:nvSpPr>
            <p:cNvPr id="502" name="s4-crested-chicken__contour_502">
              <a:extLst>
                <a:ext uri="{FF2B5EF4-FFF2-40B4-BE49-F238E27FC236}">
                  <a16:creationId xmlns:a16="http://schemas.microsoft.com/office/drawing/2014/main" id="{2D31F10C-8FB9-42F2-8064-2555687EFBED}"/>
                </a:ext>
              </a:extLst>
            </p:cNvPr>
            <p:cNvSpPr>
              <a:spLocks/>
            </p:cNvSpPr>
            <p:nvPr/>
          </p:nvSpPr>
          <p:spPr>
            <a:xfrm>
              <a:off x="10369784" y="3787960"/>
              <a:ext cx="243922" cy="167315"/>
            </a:xfrm>
            <a:custGeom>
              <a:avLst/>
              <a:gdLst/>
              <a:ahLst/>
              <a:cxnLst/>
              <a:rect l="0" t="0" r="0" b="0"/>
              <a:pathLst>
                <a:path w="365884" h="250974">
                  <a:moveTo>
                    <a:pt x="9649" y="54016"/>
                  </a:moveTo>
                  <a:lnTo>
                    <a:pt x="33033" y="37709"/>
                  </a:lnTo>
                  <a:lnTo>
                    <a:pt x="57645" y="24384"/>
                  </a:lnTo>
                  <a:lnTo>
                    <a:pt x="83229" y="13992"/>
                  </a:lnTo>
                  <a:lnTo>
                    <a:pt x="109499" y="6487"/>
                  </a:lnTo>
                  <a:lnTo>
                    <a:pt x="136188" y="1838"/>
                  </a:lnTo>
                  <a:lnTo>
                    <a:pt x="163020" y="0"/>
                  </a:lnTo>
                  <a:lnTo>
                    <a:pt x="189728" y="924"/>
                  </a:lnTo>
                  <a:lnTo>
                    <a:pt x="216027" y="4562"/>
                  </a:lnTo>
                  <a:lnTo>
                    <a:pt x="241659" y="10878"/>
                  </a:lnTo>
                  <a:lnTo>
                    <a:pt x="266329" y="19831"/>
                  </a:lnTo>
                  <a:lnTo>
                    <a:pt x="289779" y="31375"/>
                  </a:lnTo>
                  <a:lnTo>
                    <a:pt x="311734" y="45463"/>
                  </a:lnTo>
                  <a:lnTo>
                    <a:pt x="331918" y="62065"/>
                  </a:lnTo>
                  <a:lnTo>
                    <a:pt x="350063" y="81115"/>
                  </a:lnTo>
                  <a:lnTo>
                    <a:pt x="365884" y="102594"/>
                  </a:lnTo>
                  <a:lnTo>
                    <a:pt x="360283" y="122987"/>
                  </a:lnTo>
                  <a:lnTo>
                    <a:pt x="353244" y="142046"/>
                  </a:lnTo>
                  <a:lnTo>
                    <a:pt x="344834" y="159725"/>
                  </a:lnTo>
                  <a:lnTo>
                    <a:pt x="335128" y="175974"/>
                  </a:lnTo>
                  <a:lnTo>
                    <a:pt x="324202" y="190757"/>
                  </a:lnTo>
                  <a:lnTo>
                    <a:pt x="312125" y="204025"/>
                  </a:lnTo>
                  <a:lnTo>
                    <a:pt x="298971" y="215741"/>
                  </a:lnTo>
                  <a:lnTo>
                    <a:pt x="284797" y="225857"/>
                  </a:lnTo>
                  <a:lnTo>
                    <a:pt x="269700" y="234334"/>
                  </a:lnTo>
                  <a:lnTo>
                    <a:pt x="253736" y="241125"/>
                  </a:lnTo>
                  <a:lnTo>
                    <a:pt x="236982" y="246193"/>
                  </a:lnTo>
                  <a:lnTo>
                    <a:pt x="219504" y="249488"/>
                  </a:lnTo>
                  <a:lnTo>
                    <a:pt x="201378" y="250974"/>
                  </a:lnTo>
                  <a:lnTo>
                    <a:pt x="182680" y="250603"/>
                  </a:lnTo>
                  <a:lnTo>
                    <a:pt x="163478" y="248326"/>
                  </a:lnTo>
                  <a:lnTo>
                    <a:pt x="142675" y="245850"/>
                  </a:lnTo>
                  <a:lnTo>
                    <a:pt x="122511" y="241687"/>
                  </a:lnTo>
                  <a:lnTo>
                    <a:pt x="103175" y="235887"/>
                  </a:lnTo>
                  <a:lnTo>
                    <a:pt x="84877" y="228495"/>
                  </a:lnTo>
                  <a:lnTo>
                    <a:pt x="67818" y="219542"/>
                  </a:lnTo>
                  <a:lnTo>
                    <a:pt x="52207" y="209074"/>
                  </a:lnTo>
                  <a:lnTo>
                    <a:pt x="38224" y="197139"/>
                  </a:lnTo>
                  <a:lnTo>
                    <a:pt x="26089" y="183785"/>
                  </a:lnTo>
                  <a:lnTo>
                    <a:pt x="15992" y="169050"/>
                  </a:lnTo>
                  <a:lnTo>
                    <a:pt x="8153" y="152972"/>
                  </a:lnTo>
                  <a:lnTo>
                    <a:pt x="2753" y="135598"/>
                  </a:lnTo>
                  <a:lnTo>
                    <a:pt x="0" y="116977"/>
                  </a:lnTo>
                  <a:lnTo>
                    <a:pt x="95" y="97136"/>
                  </a:lnTo>
                  <a:lnTo>
                    <a:pt x="3248" y="76143"/>
                  </a:lnTo>
                  <a:lnTo>
                    <a:pt x="9649" y="54016"/>
                  </a:lnTo>
                  <a:close/>
                </a:path>
              </a:pathLst>
            </a:custGeom>
            <a:solidFill>
              <a:srgbClr val="303E3B"/>
            </a:solidFill>
            <a:ln w="9716">
              <a:solidFill>
                <a:srgbClr val="4A5147"/>
              </a:solidFill>
              <a:prstDash val="solid"/>
            </a:ln>
          </p:spPr>
          <p:txBody>
            <a:bodyPr/>
            <a:lstStyle/>
            <a:p>
              <a:endParaRPr sz="1200"/>
            </a:p>
          </p:txBody>
        </p:sp>
        <p:sp>
          <p:nvSpPr>
            <p:cNvPr id="503" name="s4-crested-chicken__contour_503">
              <a:extLst>
                <a:ext uri="{FF2B5EF4-FFF2-40B4-BE49-F238E27FC236}">
                  <a16:creationId xmlns:a16="http://schemas.microsoft.com/office/drawing/2014/main" id="{D0C21751-3CCE-4E76-BDFE-4786B397A56F}"/>
                </a:ext>
              </a:extLst>
            </p:cNvPr>
            <p:cNvSpPr>
              <a:spLocks/>
            </p:cNvSpPr>
            <p:nvPr/>
          </p:nvSpPr>
          <p:spPr>
            <a:xfrm>
              <a:off x="10403205" y="3844811"/>
              <a:ext cx="172720" cy="49326"/>
            </a:xfrm>
            <a:custGeom>
              <a:avLst/>
              <a:gdLst/>
              <a:ahLst/>
              <a:cxnLst/>
              <a:rect l="0" t="0" r="0" b="0"/>
              <a:pathLst>
                <a:path w="259080" h="73990">
                  <a:moveTo>
                    <a:pt x="0" y="9220"/>
                  </a:moveTo>
                  <a:lnTo>
                    <a:pt x="19526" y="5010"/>
                  </a:lnTo>
                  <a:lnTo>
                    <a:pt x="39157" y="2076"/>
                  </a:lnTo>
                  <a:lnTo>
                    <a:pt x="58807" y="410"/>
                  </a:lnTo>
                  <a:lnTo>
                    <a:pt x="78381" y="0"/>
                  </a:lnTo>
                  <a:lnTo>
                    <a:pt x="97755" y="829"/>
                  </a:lnTo>
                  <a:lnTo>
                    <a:pt x="116843" y="2877"/>
                  </a:lnTo>
                  <a:lnTo>
                    <a:pt x="135550" y="6134"/>
                  </a:lnTo>
                  <a:lnTo>
                    <a:pt x="153762" y="10582"/>
                  </a:lnTo>
                  <a:lnTo>
                    <a:pt x="171383" y="16212"/>
                  </a:lnTo>
                  <a:lnTo>
                    <a:pt x="188309" y="23012"/>
                  </a:lnTo>
                  <a:lnTo>
                    <a:pt x="204454" y="30966"/>
                  </a:lnTo>
                  <a:lnTo>
                    <a:pt x="219704" y="40053"/>
                  </a:lnTo>
                  <a:lnTo>
                    <a:pt x="233953" y="50263"/>
                  </a:lnTo>
                  <a:lnTo>
                    <a:pt x="247117" y="61579"/>
                  </a:lnTo>
                  <a:lnTo>
                    <a:pt x="259080" y="73990"/>
                  </a:lnTo>
                </a:path>
              </a:pathLst>
            </a:custGeom>
            <a:noFill/>
            <a:ln w="10525">
              <a:solidFill>
                <a:srgbClr val="718378"/>
              </a:solidFill>
              <a:prstDash val="solid"/>
            </a:ln>
          </p:spPr>
          <p:txBody>
            <a:bodyPr/>
            <a:lstStyle/>
            <a:p>
              <a:endParaRPr sz="1200"/>
            </a:p>
          </p:txBody>
        </p:sp>
        <p:sp>
          <p:nvSpPr>
            <p:cNvPr id="504" name="s4-crested-chicken__contour_504">
              <a:extLst>
                <a:ext uri="{FF2B5EF4-FFF2-40B4-BE49-F238E27FC236}">
                  <a16:creationId xmlns:a16="http://schemas.microsoft.com/office/drawing/2014/main" id="{A224C3FA-982D-4118-BB08-F80255F39E9C}"/>
                </a:ext>
              </a:extLst>
            </p:cNvPr>
            <p:cNvSpPr>
              <a:spLocks/>
            </p:cNvSpPr>
            <p:nvPr/>
          </p:nvSpPr>
          <p:spPr>
            <a:xfrm>
              <a:off x="10660488" y="3524517"/>
              <a:ext cx="109950" cy="67360"/>
            </a:xfrm>
            <a:custGeom>
              <a:avLst/>
              <a:gdLst/>
              <a:ahLst/>
              <a:cxnLst/>
              <a:rect l="0" t="0" r="0" b="0"/>
              <a:pathLst>
                <a:path w="164925" h="101041">
                  <a:moveTo>
                    <a:pt x="18888" y="76752"/>
                  </a:moveTo>
                  <a:lnTo>
                    <a:pt x="11744" y="71799"/>
                  </a:lnTo>
                  <a:lnTo>
                    <a:pt x="6410" y="66742"/>
                  </a:lnTo>
                  <a:lnTo>
                    <a:pt x="2762" y="61665"/>
                  </a:lnTo>
                  <a:lnTo>
                    <a:pt x="667" y="56664"/>
                  </a:lnTo>
                  <a:lnTo>
                    <a:pt x="0" y="51864"/>
                  </a:lnTo>
                  <a:lnTo>
                    <a:pt x="619" y="47349"/>
                  </a:lnTo>
                  <a:lnTo>
                    <a:pt x="2419" y="43215"/>
                  </a:lnTo>
                  <a:lnTo>
                    <a:pt x="5239" y="39576"/>
                  </a:lnTo>
                  <a:lnTo>
                    <a:pt x="8982" y="36528"/>
                  </a:lnTo>
                  <a:lnTo>
                    <a:pt x="13487" y="34176"/>
                  </a:lnTo>
                  <a:lnTo>
                    <a:pt x="18650" y="32604"/>
                  </a:lnTo>
                  <a:lnTo>
                    <a:pt x="24327" y="31928"/>
                  </a:lnTo>
                  <a:lnTo>
                    <a:pt x="30394" y="32252"/>
                  </a:lnTo>
                  <a:lnTo>
                    <a:pt x="36719" y="33661"/>
                  </a:lnTo>
                  <a:lnTo>
                    <a:pt x="43177" y="36271"/>
                  </a:lnTo>
                  <a:lnTo>
                    <a:pt x="42291" y="27203"/>
                  </a:lnTo>
                  <a:lnTo>
                    <a:pt x="42748" y="19431"/>
                  </a:lnTo>
                  <a:lnTo>
                    <a:pt x="44406" y="12954"/>
                  </a:lnTo>
                  <a:lnTo>
                    <a:pt x="47101" y="7772"/>
                  </a:lnTo>
                  <a:lnTo>
                    <a:pt x="50673" y="3886"/>
                  </a:lnTo>
                  <a:lnTo>
                    <a:pt x="54969" y="1295"/>
                  </a:lnTo>
                  <a:lnTo>
                    <a:pt x="59817" y="0"/>
                  </a:lnTo>
                  <a:lnTo>
                    <a:pt x="65075" y="0"/>
                  </a:lnTo>
                  <a:lnTo>
                    <a:pt x="70571" y="1295"/>
                  </a:lnTo>
                  <a:lnTo>
                    <a:pt x="76162" y="3886"/>
                  </a:lnTo>
                  <a:lnTo>
                    <a:pt x="81677" y="7772"/>
                  </a:lnTo>
                  <a:lnTo>
                    <a:pt x="86963" y="12954"/>
                  </a:lnTo>
                  <a:lnTo>
                    <a:pt x="91859" y="19431"/>
                  </a:lnTo>
                  <a:lnTo>
                    <a:pt x="96202" y="27203"/>
                  </a:lnTo>
                  <a:lnTo>
                    <a:pt x="99851" y="36271"/>
                  </a:lnTo>
                  <a:lnTo>
                    <a:pt x="109433" y="29127"/>
                  </a:lnTo>
                  <a:lnTo>
                    <a:pt x="118682" y="23832"/>
                  </a:lnTo>
                  <a:lnTo>
                    <a:pt x="127444" y="20269"/>
                  </a:lnTo>
                  <a:lnTo>
                    <a:pt x="135607" y="18355"/>
                  </a:lnTo>
                  <a:lnTo>
                    <a:pt x="143027" y="17983"/>
                  </a:lnTo>
                  <a:lnTo>
                    <a:pt x="149590" y="19040"/>
                  </a:lnTo>
                  <a:lnTo>
                    <a:pt x="155162" y="21441"/>
                  </a:lnTo>
                  <a:lnTo>
                    <a:pt x="159610" y="25079"/>
                  </a:lnTo>
                  <a:lnTo>
                    <a:pt x="162811" y="29861"/>
                  </a:lnTo>
                  <a:lnTo>
                    <a:pt x="164621" y="35671"/>
                  </a:lnTo>
                  <a:lnTo>
                    <a:pt x="164925" y="42415"/>
                  </a:lnTo>
                  <a:lnTo>
                    <a:pt x="163582" y="50006"/>
                  </a:lnTo>
                  <a:lnTo>
                    <a:pt x="160477" y="58322"/>
                  </a:lnTo>
                  <a:lnTo>
                    <a:pt x="155467" y="67266"/>
                  </a:lnTo>
                  <a:lnTo>
                    <a:pt x="148428" y="76752"/>
                  </a:lnTo>
                  <a:lnTo>
                    <a:pt x="91754" y="101041"/>
                  </a:lnTo>
                  <a:close/>
                </a:path>
              </a:pathLst>
            </a:custGeom>
            <a:solidFill>
              <a:srgbClr val="B8493E"/>
            </a:solidFill>
            <a:ln w="8906">
              <a:solidFill>
                <a:srgbClr val="803B33"/>
              </a:solidFill>
              <a:prstDash val="solid"/>
            </a:ln>
          </p:spPr>
          <p:txBody>
            <a:bodyPr/>
            <a:lstStyle/>
            <a:p>
              <a:endParaRPr sz="1200"/>
            </a:p>
          </p:txBody>
        </p:sp>
        <p:sp>
          <p:nvSpPr>
            <p:cNvPr id="505" name="s4-crested-chicken__contour_505">
              <a:extLst>
                <a:ext uri="{FF2B5EF4-FFF2-40B4-BE49-F238E27FC236}">
                  <a16:creationId xmlns:a16="http://schemas.microsoft.com/office/drawing/2014/main" id="{5092616C-2D90-4276-B20F-5FA7FE54D644}"/>
                </a:ext>
              </a:extLst>
            </p:cNvPr>
            <p:cNvSpPr>
              <a:spLocks/>
            </p:cNvSpPr>
            <p:nvPr/>
          </p:nvSpPr>
          <p:spPr>
            <a:xfrm>
              <a:off x="10786427" y="3624263"/>
              <a:ext cx="64770" cy="43179"/>
            </a:xfrm>
            <a:custGeom>
              <a:avLst/>
              <a:gdLst/>
              <a:ahLst/>
              <a:cxnLst/>
              <a:rect l="0" t="0" r="0" b="0"/>
              <a:pathLst>
                <a:path w="97155" h="64770">
                  <a:moveTo>
                    <a:pt x="0" y="0"/>
                  </a:moveTo>
                  <a:lnTo>
                    <a:pt x="97155" y="40481"/>
                  </a:lnTo>
                  <a:lnTo>
                    <a:pt x="8096" y="64770"/>
                  </a:lnTo>
                  <a:close/>
                </a:path>
              </a:pathLst>
            </a:custGeom>
            <a:solidFill>
              <a:srgbClr val="D3AA5C"/>
            </a:solidFill>
            <a:ln w="8096">
              <a:solidFill>
                <a:srgbClr val="8D7239"/>
              </a:solidFill>
              <a:prstDash val="solid"/>
            </a:ln>
          </p:spPr>
          <p:txBody>
            <a:bodyPr/>
            <a:lstStyle/>
            <a:p>
              <a:endParaRPr sz="1200"/>
            </a:p>
          </p:txBody>
        </p:sp>
        <p:sp>
          <p:nvSpPr>
            <p:cNvPr id="506" name="s4-crested-chicken__ellipse_506">
              <a:extLst>
                <a:ext uri="{FF2B5EF4-FFF2-40B4-BE49-F238E27FC236}">
                  <a16:creationId xmlns:a16="http://schemas.microsoft.com/office/drawing/2014/main" id="{8808A4C4-526C-4671-A45D-7D6012ADC128}"/>
                </a:ext>
              </a:extLst>
            </p:cNvPr>
            <p:cNvSpPr>
              <a:spLocks/>
            </p:cNvSpPr>
            <p:nvPr/>
          </p:nvSpPr>
          <p:spPr>
            <a:xfrm>
              <a:off x="10743247" y="3678238"/>
              <a:ext cx="37782" cy="59372"/>
            </a:xfrm>
            <a:prstGeom prst="ellipse">
              <a:avLst/>
            </a:prstGeom>
            <a:solidFill>
              <a:srgbClr val="B8493E"/>
            </a:solidFill>
            <a:ln w="6477">
              <a:solidFill>
                <a:srgbClr val="803B33"/>
              </a:solidFill>
              <a:prstDash val="solid"/>
            </a:ln>
          </p:spPr>
          <p:txBody>
            <a:bodyPr/>
            <a:lstStyle/>
            <a:p>
              <a:endParaRPr sz="1200"/>
            </a:p>
          </p:txBody>
        </p:sp>
        <p:sp>
          <p:nvSpPr>
            <p:cNvPr id="507" name="s4-crested-chicken__ellipse_507">
              <a:extLst>
                <a:ext uri="{FF2B5EF4-FFF2-40B4-BE49-F238E27FC236}">
                  <a16:creationId xmlns:a16="http://schemas.microsoft.com/office/drawing/2014/main" id="{3E1A43FB-777C-4879-ACCF-5F7231FB862B}"/>
                </a:ext>
              </a:extLst>
            </p:cNvPr>
            <p:cNvSpPr>
              <a:spLocks/>
            </p:cNvSpPr>
            <p:nvPr/>
          </p:nvSpPr>
          <p:spPr>
            <a:xfrm>
              <a:off x="10756741" y="3605372"/>
              <a:ext cx="18351" cy="18351"/>
            </a:xfrm>
            <a:prstGeom prst="ellipse">
              <a:avLst/>
            </a:prstGeom>
            <a:solidFill>
              <a:srgbClr val="1F2B28"/>
            </a:solidFill>
            <a:ln w="0">
              <a:noFill/>
              <a:prstDash val="solid"/>
            </a:ln>
          </p:spPr>
          <p:txBody>
            <a:bodyPr/>
            <a:lstStyle/>
            <a:p>
              <a:endParaRPr sz="1200"/>
            </a:p>
          </p:txBody>
        </p:sp>
        <p:sp>
          <p:nvSpPr>
            <p:cNvPr id="508" name="s4-crested-chicken__ellipse_508">
              <a:extLst>
                <a:ext uri="{FF2B5EF4-FFF2-40B4-BE49-F238E27FC236}">
                  <a16:creationId xmlns:a16="http://schemas.microsoft.com/office/drawing/2014/main" id="{EED50D27-83AB-4F88-BA72-87232B2F16BB}"/>
                </a:ext>
              </a:extLst>
            </p:cNvPr>
            <p:cNvSpPr>
              <a:spLocks/>
            </p:cNvSpPr>
            <p:nvPr/>
          </p:nvSpPr>
          <p:spPr>
            <a:xfrm>
              <a:off x="10759440" y="3605912"/>
              <a:ext cx="4858" cy="4857"/>
            </a:xfrm>
            <a:prstGeom prst="ellipse">
              <a:avLst/>
            </a:prstGeom>
            <a:solidFill>
              <a:srgbClr val="FFFFFF"/>
            </a:solidFill>
            <a:ln w="0">
              <a:noFill/>
              <a:prstDash val="solid"/>
            </a:ln>
          </p:spPr>
          <p:txBody>
            <a:bodyPr/>
            <a:lstStyle/>
            <a:p>
              <a:endParaRPr sz="1200"/>
            </a:p>
          </p:txBody>
        </p:sp>
        <p:sp>
          <p:nvSpPr>
            <p:cNvPr id="509" name="s4-crested-chicken__crest_509">
              <a:extLst>
                <a:ext uri="{FF2B5EF4-FFF2-40B4-BE49-F238E27FC236}">
                  <a16:creationId xmlns:a16="http://schemas.microsoft.com/office/drawing/2014/main" id="{A6D2AAEE-F281-4B00-A604-DF1FDDD3C63C}"/>
                </a:ext>
              </a:extLst>
            </p:cNvPr>
            <p:cNvSpPr>
              <a:spLocks/>
            </p:cNvSpPr>
            <p:nvPr/>
          </p:nvSpPr>
          <p:spPr>
            <a:xfrm>
              <a:off x="10630522" y="3465424"/>
              <a:ext cx="196221" cy="124421"/>
            </a:xfrm>
            <a:custGeom>
              <a:avLst/>
              <a:gdLst/>
              <a:ahLst/>
              <a:cxnLst/>
              <a:rect l="0" t="0" r="0" b="0"/>
              <a:pathLst>
                <a:path w="294332" h="186633">
                  <a:moveTo>
                    <a:pt x="23355" y="173488"/>
                  </a:moveTo>
                  <a:lnTo>
                    <a:pt x="17316" y="169736"/>
                  </a:lnTo>
                  <a:lnTo>
                    <a:pt x="12144" y="165040"/>
                  </a:lnTo>
                  <a:lnTo>
                    <a:pt x="7877" y="159563"/>
                  </a:lnTo>
                  <a:lnTo>
                    <a:pt x="4505" y="153438"/>
                  </a:lnTo>
                  <a:lnTo>
                    <a:pt x="2067" y="146799"/>
                  </a:lnTo>
                  <a:lnTo>
                    <a:pt x="552" y="139808"/>
                  </a:lnTo>
                  <a:lnTo>
                    <a:pt x="0" y="132598"/>
                  </a:lnTo>
                  <a:lnTo>
                    <a:pt x="400" y="125320"/>
                  </a:lnTo>
                  <a:lnTo>
                    <a:pt x="1791" y="118110"/>
                  </a:lnTo>
                  <a:lnTo>
                    <a:pt x="4162" y="111119"/>
                  </a:lnTo>
                  <a:lnTo>
                    <a:pt x="7553" y="104480"/>
                  </a:lnTo>
                  <a:lnTo>
                    <a:pt x="11954" y="98355"/>
                  </a:lnTo>
                  <a:lnTo>
                    <a:pt x="17402" y="92878"/>
                  </a:lnTo>
                  <a:lnTo>
                    <a:pt x="23889" y="88182"/>
                  </a:lnTo>
                  <a:lnTo>
                    <a:pt x="31452" y="84430"/>
                  </a:lnTo>
                  <a:lnTo>
                    <a:pt x="27642" y="74943"/>
                  </a:lnTo>
                  <a:lnTo>
                    <a:pt x="25822" y="65980"/>
                  </a:lnTo>
                  <a:lnTo>
                    <a:pt x="25813" y="57617"/>
                  </a:lnTo>
                  <a:lnTo>
                    <a:pt x="27451" y="49940"/>
                  </a:lnTo>
                  <a:lnTo>
                    <a:pt x="30556" y="43053"/>
                  </a:lnTo>
                  <a:lnTo>
                    <a:pt x="34947" y="37014"/>
                  </a:lnTo>
                  <a:lnTo>
                    <a:pt x="40472" y="31937"/>
                  </a:lnTo>
                  <a:lnTo>
                    <a:pt x="46939" y="27889"/>
                  </a:lnTo>
                  <a:lnTo>
                    <a:pt x="54188" y="24975"/>
                  </a:lnTo>
                  <a:lnTo>
                    <a:pt x="62036" y="23260"/>
                  </a:lnTo>
                  <a:lnTo>
                    <a:pt x="70323" y="22841"/>
                  </a:lnTo>
                  <a:lnTo>
                    <a:pt x="78867" y="23803"/>
                  </a:lnTo>
                  <a:lnTo>
                    <a:pt x="87497" y="26241"/>
                  </a:lnTo>
                  <a:lnTo>
                    <a:pt x="96031" y="30223"/>
                  </a:lnTo>
                  <a:lnTo>
                    <a:pt x="104318" y="35852"/>
                  </a:lnTo>
                  <a:lnTo>
                    <a:pt x="109785" y="25479"/>
                  </a:lnTo>
                  <a:lnTo>
                    <a:pt x="116357" y="16974"/>
                  </a:lnTo>
                  <a:lnTo>
                    <a:pt x="123815" y="10268"/>
                  </a:lnTo>
                  <a:lnTo>
                    <a:pt x="131959" y="5286"/>
                  </a:lnTo>
                  <a:lnTo>
                    <a:pt x="140599" y="1972"/>
                  </a:lnTo>
                  <a:lnTo>
                    <a:pt x="149523" y="229"/>
                  </a:lnTo>
                  <a:lnTo>
                    <a:pt x="158544" y="0"/>
                  </a:lnTo>
                  <a:lnTo>
                    <a:pt x="167440" y="1210"/>
                  </a:lnTo>
                  <a:lnTo>
                    <a:pt x="176022" y="3791"/>
                  </a:lnTo>
                  <a:lnTo>
                    <a:pt x="184080" y="7668"/>
                  </a:lnTo>
                  <a:lnTo>
                    <a:pt x="191424" y="12764"/>
                  </a:lnTo>
                  <a:lnTo>
                    <a:pt x="197844" y="19012"/>
                  </a:lnTo>
                  <a:lnTo>
                    <a:pt x="203149" y="26337"/>
                  </a:lnTo>
                  <a:lnTo>
                    <a:pt x="207121" y="34681"/>
                  </a:lnTo>
                  <a:lnTo>
                    <a:pt x="209569" y="43948"/>
                  </a:lnTo>
                  <a:lnTo>
                    <a:pt x="222180" y="41758"/>
                  </a:lnTo>
                  <a:lnTo>
                    <a:pt x="234067" y="41539"/>
                  </a:lnTo>
                  <a:lnTo>
                    <a:pt x="245126" y="43110"/>
                  </a:lnTo>
                  <a:lnTo>
                    <a:pt x="255280" y="46272"/>
                  </a:lnTo>
                  <a:lnTo>
                    <a:pt x="264443" y="50844"/>
                  </a:lnTo>
                  <a:lnTo>
                    <a:pt x="272529" y="56645"/>
                  </a:lnTo>
                  <a:lnTo>
                    <a:pt x="279444" y="63475"/>
                  </a:lnTo>
                  <a:lnTo>
                    <a:pt x="285102" y="71161"/>
                  </a:lnTo>
                  <a:lnTo>
                    <a:pt x="289427" y="79505"/>
                  </a:lnTo>
                  <a:lnTo>
                    <a:pt x="292332" y="88325"/>
                  </a:lnTo>
                  <a:lnTo>
                    <a:pt x="293722" y="97441"/>
                  </a:lnTo>
                  <a:lnTo>
                    <a:pt x="293513" y="106642"/>
                  </a:lnTo>
                  <a:lnTo>
                    <a:pt x="291617" y="115767"/>
                  </a:lnTo>
                  <a:lnTo>
                    <a:pt x="287960" y="124616"/>
                  </a:lnTo>
                  <a:lnTo>
                    <a:pt x="282435" y="133007"/>
                  </a:lnTo>
                  <a:lnTo>
                    <a:pt x="287969" y="140884"/>
                  </a:lnTo>
                  <a:lnTo>
                    <a:pt x="291694" y="148276"/>
                  </a:lnTo>
                  <a:lnTo>
                    <a:pt x="293770" y="155162"/>
                  </a:lnTo>
                  <a:lnTo>
                    <a:pt x="294332" y="161477"/>
                  </a:lnTo>
                  <a:lnTo>
                    <a:pt x="293532" y="167192"/>
                  </a:lnTo>
                  <a:lnTo>
                    <a:pt x="291503" y="172260"/>
                  </a:lnTo>
                  <a:lnTo>
                    <a:pt x="288398" y="176632"/>
                  </a:lnTo>
                  <a:lnTo>
                    <a:pt x="284350" y="180270"/>
                  </a:lnTo>
                  <a:lnTo>
                    <a:pt x="279521" y="183137"/>
                  </a:lnTo>
                  <a:lnTo>
                    <a:pt x="274044" y="185185"/>
                  </a:lnTo>
                  <a:lnTo>
                    <a:pt x="268053" y="186366"/>
                  </a:lnTo>
                  <a:lnTo>
                    <a:pt x="261709" y="186633"/>
                  </a:lnTo>
                  <a:lnTo>
                    <a:pt x="255146" y="185957"/>
                  </a:lnTo>
                  <a:lnTo>
                    <a:pt x="248517" y="184290"/>
                  </a:lnTo>
                  <a:lnTo>
                    <a:pt x="241954" y="181585"/>
                  </a:lnTo>
                  <a:lnTo>
                    <a:pt x="224866" y="174127"/>
                  </a:lnTo>
                  <a:lnTo>
                    <a:pt x="209064" y="167907"/>
                  </a:lnTo>
                  <a:lnTo>
                    <a:pt x="194348" y="162868"/>
                  </a:lnTo>
                  <a:lnTo>
                    <a:pt x="180499" y="158953"/>
                  </a:lnTo>
                  <a:lnTo>
                    <a:pt x="167288" y="156096"/>
                  </a:lnTo>
                  <a:lnTo>
                    <a:pt x="154515" y="154248"/>
                  </a:lnTo>
                  <a:lnTo>
                    <a:pt x="141961" y="153353"/>
                  </a:lnTo>
                  <a:lnTo>
                    <a:pt x="129397" y="153353"/>
                  </a:lnTo>
                  <a:lnTo>
                    <a:pt x="116624" y="154191"/>
                  </a:lnTo>
                  <a:lnTo>
                    <a:pt x="103422" y="155800"/>
                  </a:lnTo>
                  <a:lnTo>
                    <a:pt x="89564" y="158125"/>
                  </a:lnTo>
                  <a:lnTo>
                    <a:pt x="74847" y="161115"/>
                  </a:lnTo>
                  <a:lnTo>
                    <a:pt x="59055" y="164716"/>
                  </a:lnTo>
                  <a:lnTo>
                    <a:pt x="41958" y="168859"/>
                  </a:lnTo>
                  <a:lnTo>
                    <a:pt x="23355" y="173488"/>
                  </a:lnTo>
                  <a:close/>
                </a:path>
              </a:pathLst>
            </a:custGeom>
            <a:solidFill>
              <a:srgbClr val="64776A"/>
            </a:solidFill>
            <a:ln w="8906">
              <a:solidFill>
                <a:srgbClr val="4A5147"/>
              </a:solidFill>
              <a:prstDash val="solid"/>
            </a:ln>
          </p:spPr>
          <p:txBody>
            <a:bodyPr/>
            <a:lstStyle/>
            <a:p>
              <a:endParaRPr sz="1200"/>
            </a:p>
          </p:txBody>
        </p:sp>
        <p:sp>
          <p:nvSpPr>
            <p:cNvPr id="510" name="s4-crested-chicken__crest-feathers_510">
              <a:extLst>
                <a:ext uri="{FF2B5EF4-FFF2-40B4-BE49-F238E27FC236}">
                  <a16:creationId xmlns:a16="http://schemas.microsoft.com/office/drawing/2014/main" id="{A536893B-00FD-4BF7-9EC7-6B4A62D64EE7}"/>
                </a:ext>
              </a:extLst>
            </p:cNvPr>
            <p:cNvSpPr>
              <a:spLocks/>
            </p:cNvSpPr>
            <p:nvPr/>
          </p:nvSpPr>
          <p:spPr>
            <a:xfrm>
              <a:off x="10667682" y="3514516"/>
              <a:ext cx="124142" cy="39579"/>
            </a:xfrm>
            <a:custGeom>
              <a:avLst/>
              <a:gdLst/>
              <a:ahLst/>
              <a:cxnLst/>
              <a:rect l="0" t="0" r="0" b="0"/>
              <a:pathLst>
                <a:path w="186214" h="59369">
                  <a:moveTo>
                    <a:pt x="0" y="10792"/>
                  </a:moveTo>
                  <a:lnTo>
                    <a:pt x="10335" y="6477"/>
                  </a:lnTo>
                  <a:lnTo>
                    <a:pt x="21774" y="3239"/>
                  </a:lnTo>
                  <a:lnTo>
                    <a:pt x="34138" y="1076"/>
                  </a:lnTo>
                  <a:lnTo>
                    <a:pt x="47225" y="0"/>
                  </a:lnTo>
                  <a:lnTo>
                    <a:pt x="60874" y="0"/>
                  </a:lnTo>
                  <a:lnTo>
                    <a:pt x="74876" y="1076"/>
                  </a:lnTo>
                  <a:lnTo>
                    <a:pt x="89049" y="3239"/>
                  </a:lnTo>
                  <a:lnTo>
                    <a:pt x="103213" y="6477"/>
                  </a:lnTo>
                  <a:lnTo>
                    <a:pt x="117167" y="10792"/>
                  </a:lnTo>
                  <a:lnTo>
                    <a:pt x="130740" y="16193"/>
                  </a:lnTo>
                  <a:lnTo>
                    <a:pt x="143732" y="22669"/>
                  </a:lnTo>
                  <a:lnTo>
                    <a:pt x="155962" y="30223"/>
                  </a:lnTo>
                  <a:lnTo>
                    <a:pt x="167249" y="38862"/>
                  </a:lnTo>
                  <a:lnTo>
                    <a:pt x="177394" y="48578"/>
                  </a:lnTo>
                  <a:lnTo>
                    <a:pt x="186214" y="59369"/>
                  </a:lnTo>
                </a:path>
              </a:pathLst>
            </a:custGeom>
            <a:noFill/>
            <a:ln w="7287">
              <a:solidFill>
                <a:srgbClr val="83988B"/>
              </a:solidFill>
              <a:prstDash val="solid"/>
            </a:ln>
          </p:spPr>
          <p:txBody>
            <a:bodyPr/>
            <a:lstStyle/>
            <a:p>
              <a:endParaRPr sz="1200"/>
            </a:p>
          </p:txBody>
        </p:sp>
        <p:sp>
          <p:nvSpPr>
            <p:cNvPr id="511" name="s4-brown-chicken__ellipse_511">
              <a:extLst>
                <a:ext uri="{FF2B5EF4-FFF2-40B4-BE49-F238E27FC236}">
                  <a16:creationId xmlns:a16="http://schemas.microsoft.com/office/drawing/2014/main" id="{C72FD389-8165-472A-BBB2-69C7DE7D39A9}"/>
                </a:ext>
              </a:extLst>
            </p:cNvPr>
            <p:cNvSpPr>
              <a:spLocks/>
            </p:cNvSpPr>
            <p:nvPr/>
          </p:nvSpPr>
          <p:spPr>
            <a:xfrm>
              <a:off x="11036554" y="4140454"/>
              <a:ext cx="531495" cy="53149"/>
            </a:xfrm>
            <a:prstGeom prst="ellipse">
              <a:avLst/>
            </a:prstGeom>
            <a:solidFill>
              <a:srgbClr val="DCE2D6">
                <a:alpha val="80000"/>
              </a:srgbClr>
            </a:solidFill>
            <a:ln w="0">
              <a:noFill/>
              <a:prstDash val="solid"/>
            </a:ln>
          </p:spPr>
          <p:txBody>
            <a:bodyPr/>
            <a:lstStyle/>
            <a:p>
              <a:endParaRPr sz="1200"/>
            </a:p>
          </p:txBody>
        </p:sp>
        <p:sp>
          <p:nvSpPr>
            <p:cNvPr id="512" name="s4-brown-chicken__contour_512">
              <a:extLst>
                <a:ext uri="{FF2B5EF4-FFF2-40B4-BE49-F238E27FC236}">
                  <a16:creationId xmlns:a16="http://schemas.microsoft.com/office/drawing/2014/main" id="{36A6806E-18AD-4737-B78E-D060F630F47B}"/>
                </a:ext>
              </a:extLst>
            </p:cNvPr>
            <p:cNvSpPr>
              <a:spLocks/>
            </p:cNvSpPr>
            <p:nvPr/>
          </p:nvSpPr>
          <p:spPr>
            <a:xfrm>
              <a:off x="11377695" y="3442913"/>
              <a:ext cx="437584" cy="431793"/>
            </a:xfrm>
            <a:custGeom>
              <a:avLst/>
              <a:gdLst/>
              <a:ahLst/>
              <a:cxnLst/>
              <a:rect l="0" t="0" r="0" b="0"/>
              <a:pathLst>
                <a:path w="656377" h="647690">
                  <a:moveTo>
                    <a:pt x="55216" y="647690"/>
                  </a:moveTo>
                  <a:lnTo>
                    <a:pt x="96574" y="631908"/>
                  </a:lnTo>
                  <a:lnTo>
                    <a:pt x="135674" y="613048"/>
                  </a:lnTo>
                  <a:lnTo>
                    <a:pt x="172641" y="591350"/>
                  </a:lnTo>
                  <a:lnTo>
                    <a:pt x="207569" y="567061"/>
                  </a:lnTo>
                  <a:lnTo>
                    <a:pt x="240582" y="540410"/>
                  </a:lnTo>
                  <a:lnTo>
                    <a:pt x="271786" y="511626"/>
                  </a:lnTo>
                  <a:lnTo>
                    <a:pt x="301285" y="480955"/>
                  </a:lnTo>
                  <a:lnTo>
                    <a:pt x="329194" y="448637"/>
                  </a:lnTo>
                  <a:lnTo>
                    <a:pt x="355616" y="414899"/>
                  </a:lnTo>
                  <a:lnTo>
                    <a:pt x="380676" y="379971"/>
                  </a:lnTo>
                  <a:lnTo>
                    <a:pt x="404470" y="344110"/>
                  </a:lnTo>
                  <a:lnTo>
                    <a:pt x="427120" y="307534"/>
                  </a:lnTo>
                  <a:lnTo>
                    <a:pt x="448732" y="270491"/>
                  </a:lnTo>
                  <a:lnTo>
                    <a:pt x="469411" y="233201"/>
                  </a:lnTo>
                  <a:lnTo>
                    <a:pt x="489271" y="195920"/>
                  </a:lnTo>
                  <a:lnTo>
                    <a:pt x="506501" y="185052"/>
                  </a:lnTo>
                  <a:lnTo>
                    <a:pt x="522732" y="177213"/>
                  </a:lnTo>
                  <a:lnTo>
                    <a:pt x="537886" y="172393"/>
                  </a:lnTo>
                  <a:lnTo>
                    <a:pt x="551907" y="170545"/>
                  </a:lnTo>
                  <a:lnTo>
                    <a:pt x="564728" y="171640"/>
                  </a:lnTo>
                  <a:lnTo>
                    <a:pt x="576291" y="175651"/>
                  </a:lnTo>
                  <a:lnTo>
                    <a:pt x="586540" y="182547"/>
                  </a:lnTo>
                  <a:lnTo>
                    <a:pt x="595389" y="192291"/>
                  </a:lnTo>
                  <a:lnTo>
                    <a:pt x="602799" y="204845"/>
                  </a:lnTo>
                  <a:lnTo>
                    <a:pt x="608695" y="220199"/>
                  </a:lnTo>
                  <a:lnTo>
                    <a:pt x="613010" y="238306"/>
                  </a:lnTo>
                  <a:lnTo>
                    <a:pt x="615696" y="259128"/>
                  </a:lnTo>
                  <a:lnTo>
                    <a:pt x="616677" y="282654"/>
                  </a:lnTo>
                  <a:lnTo>
                    <a:pt x="615896" y="308839"/>
                  </a:lnTo>
                  <a:lnTo>
                    <a:pt x="613286" y="337652"/>
                  </a:lnTo>
                  <a:lnTo>
                    <a:pt x="626278" y="324002"/>
                  </a:lnTo>
                  <a:lnTo>
                    <a:pt x="636927" y="308096"/>
                  </a:lnTo>
                  <a:lnTo>
                    <a:pt x="645243" y="290246"/>
                  </a:lnTo>
                  <a:lnTo>
                    <a:pt x="651253" y="270786"/>
                  </a:lnTo>
                  <a:lnTo>
                    <a:pt x="654949" y="250050"/>
                  </a:lnTo>
                  <a:lnTo>
                    <a:pt x="656377" y="228381"/>
                  </a:lnTo>
                  <a:lnTo>
                    <a:pt x="655530" y="206083"/>
                  </a:lnTo>
                  <a:lnTo>
                    <a:pt x="652424" y="183509"/>
                  </a:lnTo>
                  <a:lnTo>
                    <a:pt x="647090" y="160982"/>
                  </a:lnTo>
                  <a:lnTo>
                    <a:pt x="639537" y="138836"/>
                  </a:lnTo>
                  <a:lnTo>
                    <a:pt x="629774" y="117396"/>
                  </a:lnTo>
                  <a:lnTo>
                    <a:pt x="617820" y="96993"/>
                  </a:lnTo>
                  <a:lnTo>
                    <a:pt x="603695" y="77962"/>
                  </a:lnTo>
                  <a:lnTo>
                    <a:pt x="587416" y="60627"/>
                  </a:lnTo>
                  <a:lnTo>
                    <a:pt x="568995" y="45329"/>
                  </a:lnTo>
                  <a:lnTo>
                    <a:pt x="528618" y="24117"/>
                  </a:lnTo>
                  <a:lnTo>
                    <a:pt x="489023" y="9782"/>
                  </a:lnTo>
                  <a:lnTo>
                    <a:pt x="450294" y="1886"/>
                  </a:lnTo>
                  <a:lnTo>
                    <a:pt x="412509" y="0"/>
                  </a:lnTo>
                  <a:lnTo>
                    <a:pt x="375752" y="3667"/>
                  </a:lnTo>
                  <a:lnTo>
                    <a:pt x="340100" y="12449"/>
                  </a:lnTo>
                  <a:lnTo>
                    <a:pt x="305619" y="25908"/>
                  </a:lnTo>
                  <a:lnTo>
                    <a:pt x="272405" y="43605"/>
                  </a:lnTo>
                  <a:lnTo>
                    <a:pt x="240535" y="65103"/>
                  </a:lnTo>
                  <a:lnTo>
                    <a:pt x="210074" y="89945"/>
                  </a:lnTo>
                  <a:lnTo>
                    <a:pt x="181108" y="117710"/>
                  </a:lnTo>
                  <a:lnTo>
                    <a:pt x="153724" y="147942"/>
                  </a:lnTo>
                  <a:lnTo>
                    <a:pt x="127987" y="180213"/>
                  </a:lnTo>
                  <a:lnTo>
                    <a:pt x="103984" y="214065"/>
                  </a:lnTo>
                  <a:lnTo>
                    <a:pt x="81791" y="249069"/>
                  </a:lnTo>
                  <a:lnTo>
                    <a:pt x="68323" y="273758"/>
                  </a:lnTo>
                  <a:lnTo>
                    <a:pt x="56217" y="298228"/>
                  </a:lnTo>
                  <a:lnTo>
                    <a:pt x="45434" y="322488"/>
                  </a:lnTo>
                  <a:lnTo>
                    <a:pt x="35928" y="346558"/>
                  </a:lnTo>
                  <a:lnTo>
                    <a:pt x="27661" y="370456"/>
                  </a:lnTo>
                  <a:lnTo>
                    <a:pt x="20564" y="394202"/>
                  </a:lnTo>
                  <a:lnTo>
                    <a:pt x="14602" y="417805"/>
                  </a:lnTo>
                  <a:lnTo>
                    <a:pt x="9725" y="441274"/>
                  </a:lnTo>
                  <a:lnTo>
                    <a:pt x="5896" y="464639"/>
                  </a:lnTo>
                  <a:lnTo>
                    <a:pt x="3048" y="487918"/>
                  </a:lnTo>
                  <a:lnTo>
                    <a:pt x="1153" y="511102"/>
                  </a:lnTo>
                  <a:lnTo>
                    <a:pt x="152" y="534238"/>
                  </a:lnTo>
                  <a:lnTo>
                    <a:pt x="0" y="557317"/>
                  </a:lnTo>
                  <a:lnTo>
                    <a:pt x="657" y="580368"/>
                  </a:lnTo>
                  <a:lnTo>
                    <a:pt x="2067" y="603399"/>
                  </a:lnTo>
                  <a:close/>
                </a:path>
              </a:pathLst>
            </a:custGeom>
            <a:solidFill>
              <a:srgbClr val="426459"/>
            </a:solidFill>
            <a:ln w="15059">
              <a:solidFill>
                <a:srgbClr val="4A5147"/>
              </a:solidFill>
              <a:prstDash val="solid"/>
            </a:ln>
          </p:spPr>
          <p:txBody>
            <a:bodyPr/>
            <a:lstStyle/>
            <a:p>
              <a:endParaRPr sz="1200"/>
            </a:p>
          </p:txBody>
        </p:sp>
        <p:sp>
          <p:nvSpPr>
            <p:cNvPr id="513" name="s4-brown-chicken__contour_513">
              <a:extLst>
                <a:ext uri="{FF2B5EF4-FFF2-40B4-BE49-F238E27FC236}">
                  <a16:creationId xmlns:a16="http://schemas.microsoft.com/office/drawing/2014/main" id="{FF1200F6-A201-4FEE-AE30-5E4CF526E8C3}"/>
                </a:ext>
              </a:extLst>
            </p:cNvPr>
            <p:cNvSpPr>
              <a:spLocks/>
            </p:cNvSpPr>
            <p:nvPr/>
          </p:nvSpPr>
          <p:spPr>
            <a:xfrm>
              <a:off x="11390884" y="3576637"/>
              <a:ext cx="415226" cy="309879"/>
            </a:xfrm>
            <a:custGeom>
              <a:avLst/>
              <a:gdLst/>
              <a:ahLst/>
              <a:cxnLst/>
              <a:rect l="0" t="0" r="0" b="0"/>
              <a:pathLst>
                <a:path w="622840" h="464820">
                  <a:moveTo>
                    <a:pt x="62008" y="464820"/>
                  </a:moveTo>
                  <a:lnTo>
                    <a:pt x="99622" y="437940"/>
                  </a:lnTo>
                  <a:lnTo>
                    <a:pt x="134712" y="410651"/>
                  </a:lnTo>
                  <a:lnTo>
                    <a:pt x="167602" y="383257"/>
                  </a:lnTo>
                  <a:lnTo>
                    <a:pt x="198596" y="356044"/>
                  </a:lnTo>
                  <a:lnTo>
                    <a:pt x="228019" y="329317"/>
                  </a:lnTo>
                  <a:lnTo>
                    <a:pt x="256184" y="303390"/>
                  </a:lnTo>
                  <a:lnTo>
                    <a:pt x="283397" y="278540"/>
                  </a:lnTo>
                  <a:lnTo>
                    <a:pt x="309982" y="255079"/>
                  </a:lnTo>
                  <a:lnTo>
                    <a:pt x="336261" y="233305"/>
                  </a:lnTo>
                  <a:lnTo>
                    <a:pt x="362531" y="213512"/>
                  </a:lnTo>
                  <a:lnTo>
                    <a:pt x="389115" y="195996"/>
                  </a:lnTo>
                  <a:lnTo>
                    <a:pt x="416338" y="181070"/>
                  </a:lnTo>
                  <a:lnTo>
                    <a:pt x="444503" y="169031"/>
                  </a:lnTo>
                  <a:lnTo>
                    <a:pt x="473926" y="160163"/>
                  </a:lnTo>
                  <a:lnTo>
                    <a:pt x="504920" y="154781"/>
                  </a:lnTo>
                  <a:lnTo>
                    <a:pt x="516846" y="157486"/>
                  </a:lnTo>
                  <a:lnTo>
                    <a:pt x="527809" y="161982"/>
                  </a:lnTo>
                  <a:lnTo>
                    <a:pt x="537801" y="168173"/>
                  </a:lnTo>
                  <a:lnTo>
                    <a:pt x="546802" y="175974"/>
                  </a:lnTo>
                  <a:lnTo>
                    <a:pt x="554793" y="185290"/>
                  </a:lnTo>
                  <a:lnTo>
                    <a:pt x="561756" y="196025"/>
                  </a:lnTo>
                  <a:lnTo>
                    <a:pt x="567680" y="208083"/>
                  </a:lnTo>
                  <a:lnTo>
                    <a:pt x="572557" y="221361"/>
                  </a:lnTo>
                  <a:lnTo>
                    <a:pt x="576358" y="235782"/>
                  </a:lnTo>
                  <a:lnTo>
                    <a:pt x="579063" y="251241"/>
                  </a:lnTo>
                  <a:lnTo>
                    <a:pt x="580682" y="267643"/>
                  </a:lnTo>
                  <a:lnTo>
                    <a:pt x="581168" y="284893"/>
                  </a:lnTo>
                  <a:lnTo>
                    <a:pt x="580530" y="302895"/>
                  </a:lnTo>
                  <a:lnTo>
                    <a:pt x="578739" y="321564"/>
                  </a:lnTo>
                  <a:lnTo>
                    <a:pt x="575786" y="340804"/>
                  </a:lnTo>
                  <a:lnTo>
                    <a:pt x="591750" y="312268"/>
                  </a:lnTo>
                  <a:lnTo>
                    <a:pt x="604304" y="283502"/>
                  </a:lnTo>
                  <a:lnTo>
                    <a:pt x="613562" y="254775"/>
                  </a:lnTo>
                  <a:lnTo>
                    <a:pt x="619649" y="226324"/>
                  </a:lnTo>
                  <a:lnTo>
                    <a:pt x="622706" y="198415"/>
                  </a:lnTo>
                  <a:lnTo>
                    <a:pt x="622840" y="171298"/>
                  </a:lnTo>
                  <a:lnTo>
                    <a:pt x="620192" y="145209"/>
                  </a:lnTo>
                  <a:lnTo>
                    <a:pt x="614886" y="120415"/>
                  </a:lnTo>
                  <a:lnTo>
                    <a:pt x="607038" y="97165"/>
                  </a:lnTo>
                  <a:lnTo>
                    <a:pt x="596779" y="75714"/>
                  </a:lnTo>
                  <a:lnTo>
                    <a:pt x="584244" y="56302"/>
                  </a:lnTo>
                  <a:lnTo>
                    <a:pt x="569547" y="39195"/>
                  </a:lnTo>
                  <a:lnTo>
                    <a:pt x="552821" y="24641"/>
                  </a:lnTo>
                  <a:lnTo>
                    <a:pt x="534191" y="12887"/>
                  </a:lnTo>
                  <a:lnTo>
                    <a:pt x="513779" y="4191"/>
                  </a:lnTo>
                  <a:lnTo>
                    <a:pt x="478241" y="0"/>
                  </a:lnTo>
                  <a:lnTo>
                    <a:pt x="442541" y="1391"/>
                  </a:lnTo>
                  <a:lnTo>
                    <a:pt x="406775" y="8020"/>
                  </a:lnTo>
                  <a:lnTo>
                    <a:pt x="370999" y="19564"/>
                  </a:lnTo>
                  <a:lnTo>
                    <a:pt x="335299" y="35690"/>
                  </a:lnTo>
                  <a:lnTo>
                    <a:pt x="299761" y="56064"/>
                  </a:lnTo>
                  <a:lnTo>
                    <a:pt x="264462" y="80362"/>
                  </a:lnTo>
                  <a:lnTo>
                    <a:pt x="229476" y="108252"/>
                  </a:lnTo>
                  <a:lnTo>
                    <a:pt x="194882" y="139408"/>
                  </a:lnTo>
                  <a:lnTo>
                    <a:pt x="160763" y="173479"/>
                  </a:lnTo>
                  <a:lnTo>
                    <a:pt x="127187" y="210160"/>
                  </a:lnTo>
                  <a:lnTo>
                    <a:pt x="94250" y="249107"/>
                  </a:lnTo>
                  <a:lnTo>
                    <a:pt x="62017" y="289989"/>
                  </a:lnTo>
                  <a:lnTo>
                    <a:pt x="30575" y="332470"/>
                  </a:lnTo>
                  <a:lnTo>
                    <a:pt x="0" y="376238"/>
                  </a:lnTo>
                  <a:close/>
                </a:path>
              </a:pathLst>
            </a:custGeom>
            <a:solidFill>
              <a:srgbClr val="426459"/>
            </a:solidFill>
            <a:ln w="15059">
              <a:solidFill>
                <a:srgbClr val="4A5147"/>
              </a:solidFill>
              <a:prstDash val="solid"/>
            </a:ln>
          </p:spPr>
          <p:txBody>
            <a:bodyPr/>
            <a:lstStyle/>
            <a:p>
              <a:endParaRPr sz="1200"/>
            </a:p>
          </p:txBody>
        </p:sp>
        <p:sp>
          <p:nvSpPr>
            <p:cNvPr id="514" name="s4-brown-chicken__contour_514">
              <a:extLst>
                <a:ext uri="{FF2B5EF4-FFF2-40B4-BE49-F238E27FC236}">
                  <a16:creationId xmlns:a16="http://schemas.microsoft.com/office/drawing/2014/main" id="{550D618A-81A9-457A-BB86-8447221D555C}"/>
                </a:ext>
              </a:extLst>
            </p:cNvPr>
            <p:cNvSpPr>
              <a:spLocks/>
            </p:cNvSpPr>
            <p:nvPr/>
          </p:nvSpPr>
          <p:spPr>
            <a:xfrm>
              <a:off x="11384979" y="3685731"/>
              <a:ext cx="373576" cy="200787"/>
            </a:xfrm>
            <a:custGeom>
              <a:avLst/>
              <a:gdLst/>
              <a:ahLst/>
              <a:cxnLst/>
              <a:rect l="0" t="0" r="0" b="0"/>
              <a:pathLst>
                <a:path w="560365" h="301181">
                  <a:moveTo>
                    <a:pt x="70866" y="301181"/>
                  </a:moveTo>
                  <a:lnTo>
                    <a:pt x="107899" y="286683"/>
                  </a:lnTo>
                  <a:lnTo>
                    <a:pt x="141294" y="271691"/>
                  </a:lnTo>
                  <a:lnTo>
                    <a:pt x="171421" y="256394"/>
                  </a:lnTo>
                  <a:lnTo>
                    <a:pt x="198672" y="241002"/>
                  </a:lnTo>
                  <a:lnTo>
                    <a:pt x="223428" y="225723"/>
                  </a:lnTo>
                  <a:lnTo>
                    <a:pt x="246050" y="210760"/>
                  </a:lnTo>
                  <a:lnTo>
                    <a:pt x="266919" y="196310"/>
                  </a:lnTo>
                  <a:lnTo>
                    <a:pt x="286426" y="182585"/>
                  </a:lnTo>
                  <a:lnTo>
                    <a:pt x="304933" y="169793"/>
                  </a:lnTo>
                  <a:lnTo>
                    <a:pt x="322831" y="158134"/>
                  </a:lnTo>
                  <a:lnTo>
                    <a:pt x="340500" y="147818"/>
                  </a:lnTo>
                  <a:lnTo>
                    <a:pt x="358302" y="139036"/>
                  </a:lnTo>
                  <a:lnTo>
                    <a:pt x="376618" y="132007"/>
                  </a:lnTo>
                  <a:lnTo>
                    <a:pt x="395840" y="126930"/>
                  </a:lnTo>
                  <a:lnTo>
                    <a:pt x="416338" y="124016"/>
                  </a:lnTo>
                  <a:lnTo>
                    <a:pt x="430035" y="124949"/>
                  </a:lnTo>
                  <a:lnTo>
                    <a:pt x="442798" y="127692"/>
                  </a:lnTo>
                  <a:lnTo>
                    <a:pt x="454609" y="132169"/>
                  </a:lnTo>
                  <a:lnTo>
                    <a:pt x="465468" y="138293"/>
                  </a:lnTo>
                  <a:lnTo>
                    <a:pt x="475393" y="145999"/>
                  </a:lnTo>
                  <a:lnTo>
                    <a:pt x="484365" y="155200"/>
                  </a:lnTo>
                  <a:lnTo>
                    <a:pt x="492404" y="165811"/>
                  </a:lnTo>
                  <a:lnTo>
                    <a:pt x="499491" y="177765"/>
                  </a:lnTo>
                  <a:lnTo>
                    <a:pt x="505625" y="190986"/>
                  </a:lnTo>
                  <a:lnTo>
                    <a:pt x="510826" y="205378"/>
                  </a:lnTo>
                  <a:lnTo>
                    <a:pt x="515074" y="220875"/>
                  </a:lnTo>
                  <a:lnTo>
                    <a:pt x="518389" y="237401"/>
                  </a:lnTo>
                  <a:lnTo>
                    <a:pt x="520751" y="254870"/>
                  </a:lnTo>
                  <a:lnTo>
                    <a:pt x="522160" y="273206"/>
                  </a:lnTo>
                  <a:lnTo>
                    <a:pt x="522637" y="292322"/>
                  </a:lnTo>
                  <a:lnTo>
                    <a:pt x="538153" y="264014"/>
                  </a:lnTo>
                  <a:lnTo>
                    <a:pt x="549431" y="235944"/>
                  </a:lnTo>
                  <a:lnTo>
                    <a:pt x="556727" y="208350"/>
                  </a:lnTo>
                  <a:lnTo>
                    <a:pt x="560289" y="181461"/>
                  </a:lnTo>
                  <a:lnTo>
                    <a:pt x="560365" y="155515"/>
                  </a:lnTo>
                  <a:lnTo>
                    <a:pt x="557222" y="130750"/>
                  </a:lnTo>
                  <a:lnTo>
                    <a:pt x="551097" y="107404"/>
                  </a:lnTo>
                  <a:lnTo>
                    <a:pt x="542249" y="85706"/>
                  </a:lnTo>
                  <a:lnTo>
                    <a:pt x="530924" y="65903"/>
                  </a:lnTo>
                  <a:lnTo>
                    <a:pt x="517388" y="48225"/>
                  </a:lnTo>
                  <a:lnTo>
                    <a:pt x="501882" y="32909"/>
                  </a:lnTo>
                  <a:lnTo>
                    <a:pt x="484651" y="20193"/>
                  </a:lnTo>
                  <a:lnTo>
                    <a:pt x="465963" y="10316"/>
                  </a:lnTo>
                  <a:lnTo>
                    <a:pt x="446056" y="3505"/>
                  </a:lnTo>
                  <a:lnTo>
                    <a:pt x="425196" y="0"/>
                  </a:lnTo>
                  <a:lnTo>
                    <a:pt x="395307" y="4696"/>
                  </a:lnTo>
                  <a:lnTo>
                    <a:pt x="365846" y="11601"/>
                  </a:lnTo>
                  <a:lnTo>
                    <a:pt x="336756" y="20555"/>
                  </a:lnTo>
                  <a:lnTo>
                    <a:pt x="308000" y="31394"/>
                  </a:lnTo>
                  <a:lnTo>
                    <a:pt x="279530" y="43967"/>
                  </a:lnTo>
                  <a:lnTo>
                    <a:pt x="251289" y="58112"/>
                  </a:lnTo>
                  <a:lnTo>
                    <a:pt x="223247" y="73676"/>
                  </a:lnTo>
                  <a:lnTo>
                    <a:pt x="195339" y="90497"/>
                  </a:lnTo>
                  <a:lnTo>
                    <a:pt x="167526" y="108423"/>
                  </a:lnTo>
                  <a:lnTo>
                    <a:pt x="139760" y="127292"/>
                  </a:lnTo>
                  <a:lnTo>
                    <a:pt x="112004" y="146952"/>
                  </a:lnTo>
                  <a:lnTo>
                    <a:pt x="84191" y="167240"/>
                  </a:lnTo>
                  <a:lnTo>
                    <a:pt x="56283" y="188004"/>
                  </a:lnTo>
                  <a:lnTo>
                    <a:pt x="28232" y="209083"/>
                  </a:lnTo>
                  <a:lnTo>
                    <a:pt x="0" y="230315"/>
                  </a:lnTo>
                  <a:close/>
                </a:path>
              </a:pathLst>
            </a:custGeom>
            <a:solidFill>
              <a:srgbClr val="426459"/>
            </a:solidFill>
            <a:ln w="15059">
              <a:solidFill>
                <a:srgbClr val="4A5147"/>
              </a:solidFill>
              <a:prstDash val="solid"/>
            </a:ln>
          </p:spPr>
          <p:txBody>
            <a:bodyPr/>
            <a:lstStyle/>
            <a:p>
              <a:endParaRPr sz="1200"/>
            </a:p>
          </p:txBody>
        </p:sp>
        <p:sp>
          <p:nvSpPr>
            <p:cNvPr id="515" name="s4-brown-chicken__contour_515">
              <a:extLst>
                <a:ext uri="{FF2B5EF4-FFF2-40B4-BE49-F238E27FC236}">
                  <a16:creationId xmlns:a16="http://schemas.microsoft.com/office/drawing/2014/main" id="{AD6DA40C-95FE-4EDE-9FFA-9D816653A801}"/>
                </a:ext>
              </a:extLst>
            </p:cNvPr>
            <p:cNvSpPr>
              <a:spLocks/>
            </p:cNvSpPr>
            <p:nvPr/>
          </p:nvSpPr>
          <p:spPr>
            <a:xfrm>
              <a:off x="11426317" y="3502660"/>
              <a:ext cx="301180" cy="324802"/>
            </a:xfrm>
            <a:custGeom>
              <a:avLst/>
              <a:gdLst/>
              <a:ahLst/>
              <a:cxnLst/>
              <a:rect l="0" t="0" r="0" b="0"/>
              <a:pathLst>
                <a:path w="451771" h="487204">
                  <a:moveTo>
                    <a:pt x="0" y="487204"/>
                  </a:moveTo>
                  <a:lnTo>
                    <a:pt x="31004" y="439217"/>
                  </a:lnTo>
                  <a:lnTo>
                    <a:pt x="60436" y="391258"/>
                  </a:lnTo>
                  <a:lnTo>
                    <a:pt x="88649" y="343843"/>
                  </a:lnTo>
                  <a:lnTo>
                    <a:pt x="115967" y="297466"/>
                  </a:lnTo>
                  <a:lnTo>
                    <a:pt x="142713" y="252622"/>
                  </a:lnTo>
                  <a:lnTo>
                    <a:pt x="169231" y="209836"/>
                  </a:lnTo>
                  <a:lnTo>
                    <a:pt x="195834" y="169593"/>
                  </a:lnTo>
                  <a:lnTo>
                    <a:pt x="222866" y="132417"/>
                  </a:lnTo>
                  <a:lnTo>
                    <a:pt x="250650" y="98784"/>
                  </a:lnTo>
                  <a:lnTo>
                    <a:pt x="279530" y="69228"/>
                  </a:lnTo>
                  <a:lnTo>
                    <a:pt x="309820" y="44234"/>
                  </a:lnTo>
                  <a:lnTo>
                    <a:pt x="341862" y="24308"/>
                  </a:lnTo>
                  <a:lnTo>
                    <a:pt x="375980" y="9954"/>
                  </a:lnTo>
                  <a:lnTo>
                    <a:pt x="412499" y="1686"/>
                  </a:lnTo>
                  <a:lnTo>
                    <a:pt x="451771" y="0"/>
                  </a:lnTo>
                </a:path>
              </a:pathLst>
            </a:custGeom>
            <a:noFill/>
            <a:ln w="12402">
              <a:solidFill>
                <a:srgbClr val="5C7D68"/>
              </a:solidFill>
              <a:prstDash val="solid"/>
            </a:ln>
          </p:spPr>
          <p:txBody>
            <a:bodyPr/>
            <a:lstStyle/>
            <a:p>
              <a:endParaRPr sz="1200"/>
            </a:p>
          </p:txBody>
        </p:sp>
        <p:sp>
          <p:nvSpPr>
            <p:cNvPr id="516" name="s4-brown-chicken__contour_516">
              <a:extLst>
                <a:ext uri="{FF2B5EF4-FFF2-40B4-BE49-F238E27FC236}">
                  <a16:creationId xmlns:a16="http://schemas.microsoft.com/office/drawing/2014/main" id="{51F2D39C-2D6E-4CF9-B86A-AEF9C5881234}"/>
                </a:ext>
              </a:extLst>
            </p:cNvPr>
            <p:cNvSpPr>
              <a:spLocks/>
            </p:cNvSpPr>
            <p:nvPr/>
          </p:nvSpPr>
          <p:spPr>
            <a:xfrm>
              <a:off x="11455845" y="3623139"/>
              <a:ext cx="301180" cy="239756"/>
            </a:xfrm>
            <a:custGeom>
              <a:avLst/>
              <a:gdLst/>
              <a:ahLst/>
              <a:cxnLst/>
              <a:rect l="0" t="0" r="0" b="0"/>
              <a:pathLst>
                <a:path w="451771" h="359635">
                  <a:moveTo>
                    <a:pt x="0" y="359635"/>
                  </a:moveTo>
                  <a:lnTo>
                    <a:pt x="38271" y="309924"/>
                  </a:lnTo>
                  <a:lnTo>
                    <a:pt x="75181" y="263595"/>
                  </a:lnTo>
                  <a:lnTo>
                    <a:pt x="110766" y="220742"/>
                  </a:lnTo>
                  <a:lnTo>
                    <a:pt x="145075" y="181423"/>
                  </a:lnTo>
                  <a:lnTo>
                    <a:pt x="178146" y="145723"/>
                  </a:lnTo>
                  <a:lnTo>
                    <a:pt x="210045" y="113729"/>
                  </a:lnTo>
                  <a:lnTo>
                    <a:pt x="240811" y="85515"/>
                  </a:lnTo>
                  <a:lnTo>
                    <a:pt x="270491" y="61160"/>
                  </a:lnTo>
                  <a:lnTo>
                    <a:pt x="299123" y="40738"/>
                  </a:lnTo>
                  <a:lnTo>
                    <a:pt x="326774" y="24336"/>
                  </a:lnTo>
                  <a:lnTo>
                    <a:pt x="353473" y="12021"/>
                  </a:lnTo>
                  <a:lnTo>
                    <a:pt x="379276" y="3886"/>
                  </a:lnTo>
                  <a:lnTo>
                    <a:pt x="404231" y="0"/>
                  </a:lnTo>
                  <a:lnTo>
                    <a:pt x="428377" y="448"/>
                  </a:lnTo>
                  <a:lnTo>
                    <a:pt x="451771" y="5305"/>
                  </a:lnTo>
                </a:path>
              </a:pathLst>
            </a:custGeom>
            <a:noFill/>
            <a:ln w="12402">
              <a:solidFill>
                <a:srgbClr val="5C7D68"/>
              </a:solidFill>
              <a:prstDash val="solid"/>
            </a:ln>
          </p:spPr>
          <p:txBody>
            <a:bodyPr/>
            <a:lstStyle/>
            <a:p>
              <a:endParaRPr sz="1200"/>
            </a:p>
          </p:txBody>
        </p:sp>
        <p:sp>
          <p:nvSpPr>
            <p:cNvPr id="517" name="s4-brown-chicken__line_517">
              <a:extLst>
                <a:ext uri="{FF2B5EF4-FFF2-40B4-BE49-F238E27FC236}">
                  <a16:creationId xmlns:a16="http://schemas.microsoft.com/office/drawing/2014/main" id="{B9607539-C54A-48E1-8DE1-0F57961844CC}"/>
                </a:ext>
              </a:extLst>
            </p:cNvPr>
            <p:cNvSpPr>
              <a:spLocks/>
            </p:cNvSpPr>
            <p:nvPr/>
          </p:nvSpPr>
          <p:spPr>
            <a:xfrm>
              <a:off x="11308207" y="4028249"/>
              <a:ext cx="11811" cy="112204"/>
            </a:xfrm>
            <a:custGeom>
              <a:avLst/>
              <a:gdLst/>
              <a:ahLst/>
              <a:cxnLst/>
              <a:rect l="0" t="0" r="0" b="0"/>
              <a:pathLst>
                <a:path w="17717" h="168307">
                  <a:moveTo>
                    <a:pt x="17717" y="0"/>
                  </a:moveTo>
                  <a:lnTo>
                    <a:pt x="0" y="168307"/>
                  </a:lnTo>
                </a:path>
              </a:pathLst>
            </a:custGeom>
            <a:noFill/>
            <a:ln w="26575">
              <a:solidFill>
                <a:srgbClr val="B68C45"/>
              </a:solidFill>
              <a:prstDash val="solid"/>
            </a:ln>
          </p:spPr>
          <p:txBody>
            <a:bodyPr/>
            <a:lstStyle/>
            <a:p>
              <a:endParaRPr sz="1200"/>
            </a:p>
          </p:txBody>
        </p:sp>
        <p:sp>
          <p:nvSpPr>
            <p:cNvPr id="518" name="s4-brown-chicken__line_518">
              <a:extLst>
                <a:ext uri="{FF2B5EF4-FFF2-40B4-BE49-F238E27FC236}">
                  <a16:creationId xmlns:a16="http://schemas.microsoft.com/office/drawing/2014/main" id="{4B89CB4A-A82A-4C65-AA41-2150787E821C}"/>
                </a:ext>
              </a:extLst>
            </p:cNvPr>
            <p:cNvSpPr>
              <a:spLocks/>
            </p:cNvSpPr>
            <p:nvPr/>
          </p:nvSpPr>
          <p:spPr>
            <a:xfrm>
              <a:off x="11314113" y="4128642"/>
              <a:ext cx="59054" cy="29527"/>
            </a:xfrm>
            <a:custGeom>
              <a:avLst/>
              <a:gdLst/>
              <a:ahLst/>
              <a:cxnLst/>
              <a:rect l="0" t="0" r="0" b="0"/>
              <a:pathLst>
                <a:path w="88582" h="44291">
                  <a:moveTo>
                    <a:pt x="0" y="0"/>
                  </a:moveTo>
                  <a:lnTo>
                    <a:pt x="88582" y="44291"/>
                  </a:lnTo>
                </a:path>
              </a:pathLst>
            </a:custGeom>
            <a:noFill/>
            <a:ln w="21260">
              <a:solidFill>
                <a:srgbClr val="B68C45"/>
              </a:solidFill>
              <a:prstDash val="solid"/>
            </a:ln>
          </p:spPr>
          <p:txBody>
            <a:bodyPr/>
            <a:lstStyle/>
            <a:p>
              <a:endParaRPr sz="1200"/>
            </a:p>
          </p:txBody>
        </p:sp>
        <p:sp>
          <p:nvSpPr>
            <p:cNvPr id="519" name="s4-brown-chicken__line_519">
              <a:extLst>
                <a:ext uri="{FF2B5EF4-FFF2-40B4-BE49-F238E27FC236}">
                  <a16:creationId xmlns:a16="http://schemas.microsoft.com/office/drawing/2014/main" id="{AF33B40F-52AF-4251-AF9B-0D9293870335}"/>
                </a:ext>
              </a:extLst>
            </p:cNvPr>
            <p:cNvSpPr>
              <a:spLocks/>
            </p:cNvSpPr>
            <p:nvPr/>
          </p:nvSpPr>
          <p:spPr>
            <a:xfrm>
              <a:off x="11249152" y="4134548"/>
              <a:ext cx="64960" cy="23621"/>
            </a:xfrm>
            <a:custGeom>
              <a:avLst/>
              <a:gdLst/>
              <a:ahLst/>
              <a:cxnLst/>
              <a:rect l="0" t="0" r="0" b="0"/>
              <a:pathLst>
                <a:path w="97441" h="35433">
                  <a:moveTo>
                    <a:pt x="97441" y="0"/>
                  </a:moveTo>
                  <a:lnTo>
                    <a:pt x="0" y="35433"/>
                  </a:lnTo>
                </a:path>
              </a:pathLst>
            </a:custGeom>
            <a:noFill/>
            <a:ln w="21260">
              <a:solidFill>
                <a:srgbClr val="B68C45"/>
              </a:solidFill>
              <a:prstDash val="solid"/>
            </a:ln>
          </p:spPr>
          <p:txBody>
            <a:bodyPr/>
            <a:lstStyle/>
            <a:p>
              <a:endParaRPr sz="1200"/>
            </a:p>
          </p:txBody>
        </p:sp>
        <p:sp>
          <p:nvSpPr>
            <p:cNvPr id="520" name="s4-brown-chicken__line_520">
              <a:extLst>
                <a:ext uri="{FF2B5EF4-FFF2-40B4-BE49-F238E27FC236}">
                  <a16:creationId xmlns:a16="http://schemas.microsoft.com/office/drawing/2014/main" id="{1AE1F5D7-4485-4188-97E1-0556533DA8B1}"/>
                </a:ext>
              </a:extLst>
            </p:cNvPr>
            <p:cNvSpPr>
              <a:spLocks/>
            </p:cNvSpPr>
            <p:nvPr/>
          </p:nvSpPr>
          <p:spPr>
            <a:xfrm>
              <a:off x="11184191" y="4022344"/>
              <a:ext cx="11811" cy="118109"/>
            </a:xfrm>
            <a:custGeom>
              <a:avLst/>
              <a:gdLst/>
              <a:ahLst/>
              <a:cxnLst/>
              <a:rect l="0" t="0" r="0" b="0"/>
              <a:pathLst>
                <a:path w="17717" h="177165">
                  <a:moveTo>
                    <a:pt x="17717" y="0"/>
                  </a:moveTo>
                  <a:lnTo>
                    <a:pt x="0" y="177165"/>
                  </a:lnTo>
                </a:path>
              </a:pathLst>
            </a:custGeom>
            <a:noFill/>
            <a:ln w="26575">
              <a:solidFill>
                <a:srgbClr val="B68C45"/>
              </a:solidFill>
              <a:prstDash val="solid"/>
            </a:ln>
          </p:spPr>
          <p:txBody>
            <a:bodyPr/>
            <a:lstStyle/>
            <a:p>
              <a:endParaRPr sz="1200"/>
            </a:p>
          </p:txBody>
        </p:sp>
        <p:sp>
          <p:nvSpPr>
            <p:cNvPr id="521" name="s4-brown-chicken__line_521">
              <a:extLst>
                <a:ext uri="{FF2B5EF4-FFF2-40B4-BE49-F238E27FC236}">
                  <a16:creationId xmlns:a16="http://schemas.microsoft.com/office/drawing/2014/main" id="{E605D1CE-DA94-49A0-B23E-2C564472B77C}"/>
                </a:ext>
              </a:extLst>
            </p:cNvPr>
            <p:cNvSpPr>
              <a:spLocks/>
            </p:cNvSpPr>
            <p:nvPr/>
          </p:nvSpPr>
          <p:spPr>
            <a:xfrm>
              <a:off x="11190097" y="4134548"/>
              <a:ext cx="47244" cy="29527"/>
            </a:xfrm>
            <a:custGeom>
              <a:avLst/>
              <a:gdLst/>
              <a:ahLst/>
              <a:cxnLst/>
              <a:rect l="0" t="0" r="0" b="0"/>
              <a:pathLst>
                <a:path w="70866" h="44291">
                  <a:moveTo>
                    <a:pt x="0" y="0"/>
                  </a:moveTo>
                  <a:lnTo>
                    <a:pt x="70866" y="44291"/>
                  </a:lnTo>
                </a:path>
              </a:pathLst>
            </a:custGeom>
            <a:noFill/>
            <a:ln w="21260">
              <a:solidFill>
                <a:srgbClr val="B68C45"/>
              </a:solidFill>
              <a:prstDash val="solid"/>
            </a:ln>
          </p:spPr>
          <p:txBody>
            <a:bodyPr/>
            <a:lstStyle/>
            <a:p>
              <a:endParaRPr sz="1200"/>
            </a:p>
          </p:txBody>
        </p:sp>
        <p:sp>
          <p:nvSpPr>
            <p:cNvPr id="522" name="s4-brown-chicken__line_522">
              <a:extLst>
                <a:ext uri="{FF2B5EF4-FFF2-40B4-BE49-F238E27FC236}">
                  <a16:creationId xmlns:a16="http://schemas.microsoft.com/office/drawing/2014/main" id="{D1BC1A26-156E-4E5F-BF2A-683F02AECF17}"/>
                </a:ext>
              </a:extLst>
            </p:cNvPr>
            <p:cNvSpPr>
              <a:spLocks/>
            </p:cNvSpPr>
            <p:nvPr/>
          </p:nvSpPr>
          <p:spPr>
            <a:xfrm>
              <a:off x="11131042" y="4134548"/>
              <a:ext cx="59054" cy="23621"/>
            </a:xfrm>
            <a:custGeom>
              <a:avLst/>
              <a:gdLst/>
              <a:ahLst/>
              <a:cxnLst/>
              <a:rect l="0" t="0" r="0" b="0"/>
              <a:pathLst>
                <a:path w="88582" h="35433">
                  <a:moveTo>
                    <a:pt x="88582" y="0"/>
                  </a:moveTo>
                  <a:lnTo>
                    <a:pt x="0" y="35433"/>
                  </a:lnTo>
                </a:path>
              </a:pathLst>
            </a:custGeom>
            <a:noFill/>
            <a:ln w="21260">
              <a:solidFill>
                <a:srgbClr val="B68C45"/>
              </a:solidFill>
              <a:prstDash val="solid"/>
            </a:ln>
          </p:spPr>
          <p:txBody>
            <a:bodyPr/>
            <a:lstStyle/>
            <a:p>
              <a:endParaRPr sz="1200"/>
            </a:p>
          </p:txBody>
        </p:sp>
        <p:sp>
          <p:nvSpPr>
            <p:cNvPr id="523" name="s4-brown-chicken__contour_523">
              <a:extLst>
                <a:ext uri="{FF2B5EF4-FFF2-40B4-BE49-F238E27FC236}">
                  <a16:creationId xmlns:a16="http://schemas.microsoft.com/office/drawing/2014/main" id="{3C608A38-1CD0-4B05-BF16-9F71492847E5}"/>
                </a:ext>
              </a:extLst>
            </p:cNvPr>
            <p:cNvSpPr>
              <a:spLocks/>
            </p:cNvSpPr>
            <p:nvPr/>
          </p:nvSpPr>
          <p:spPr>
            <a:xfrm>
              <a:off x="11041609" y="3514585"/>
              <a:ext cx="452837" cy="533412"/>
            </a:xfrm>
            <a:custGeom>
              <a:avLst/>
              <a:gdLst/>
              <a:ahLst/>
              <a:cxnLst/>
              <a:rect l="0" t="0" r="0" b="0"/>
              <a:pathLst>
                <a:path w="679256" h="800119">
                  <a:moveTo>
                    <a:pt x="656787" y="380733"/>
                  </a:moveTo>
                  <a:lnTo>
                    <a:pt x="633755" y="363055"/>
                  </a:lnTo>
                  <a:lnTo>
                    <a:pt x="610724" y="348644"/>
                  </a:lnTo>
                  <a:lnTo>
                    <a:pt x="587693" y="337014"/>
                  </a:lnTo>
                  <a:lnTo>
                    <a:pt x="564661" y="327641"/>
                  </a:lnTo>
                  <a:lnTo>
                    <a:pt x="541630" y="320040"/>
                  </a:lnTo>
                  <a:lnTo>
                    <a:pt x="518598" y="313696"/>
                  </a:lnTo>
                  <a:lnTo>
                    <a:pt x="495567" y="308105"/>
                  </a:lnTo>
                  <a:lnTo>
                    <a:pt x="472535" y="302771"/>
                  </a:lnTo>
                  <a:lnTo>
                    <a:pt x="449504" y="297180"/>
                  </a:lnTo>
                  <a:lnTo>
                    <a:pt x="426472" y="290836"/>
                  </a:lnTo>
                  <a:lnTo>
                    <a:pt x="403441" y="283235"/>
                  </a:lnTo>
                  <a:lnTo>
                    <a:pt x="380409" y="273863"/>
                  </a:lnTo>
                  <a:lnTo>
                    <a:pt x="357378" y="262233"/>
                  </a:lnTo>
                  <a:lnTo>
                    <a:pt x="334347" y="247821"/>
                  </a:lnTo>
                  <a:lnTo>
                    <a:pt x="311315" y="230143"/>
                  </a:lnTo>
                  <a:lnTo>
                    <a:pt x="305076" y="203625"/>
                  </a:lnTo>
                  <a:lnTo>
                    <a:pt x="297056" y="177413"/>
                  </a:lnTo>
                  <a:lnTo>
                    <a:pt x="287360" y="151838"/>
                  </a:lnTo>
                  <a:lnTo>
                    <a:pt x="276111" y="127206"/>
                  </a:lnTo>
                  <a:lnTo>
                    <a:pt x="263414" y="103832"/>
                  </a:lnTo>
                  <a:lnTo>
                    <a:pt x="249374" y="82029"/>
                  </a:lnTo>
                  <a:lnTo>
                    <a:pt x="234115" y="62122"/>
                  </a:lnTo>
                  <a:lnTo>
                    <a:pt x="217732" y="44425"/>
                  </a:lnTo>
                  <a:lnTo>
                    <a:pt x="200339" y="29242"/>
                  </a:lnTo>
                  <a:lnTo>
                    <a:pt x="182051" y="16888"/>
                  </a:lnTo>
                  <a:lnTo>
                    <a:pt x="162973" y="7687"/>
                  </a:lnTo>
                  <a:lnTo>
                    <a:pt x="143218" y="1953"/>
                  </a:lnTo>
                  <a:lnTo>
                    <a:pt x="122901" y="0"/>
                  </a:lnTo>
                  <a:lnTo>
                    <a:pt x="102127" y="2134"/>
                  </a:lnTo>
                  <a:lnTo>
                    <a:pt x="81001" y="8687"/>
                  </a:lnTo>
                  <a:lnTo>
                    <a:pt x="64227" y="15145"/>
                  </a:lnTo>
                  <a:lnTo>
                    <a:pt x="49368" y="23765"/>
                  </a:lnTo>
                  <a:lnTo>
                    <a:pt x="36424" y="34338"/>
                  </a:lnTo>
                  <a:lnTo>
                    <a:pt x="25422" y="46663"/>
                  </a:lnTo>
                  <a:lnTo>
                    <a:pt x="16364" y="60522"/>
                  </a:lnTo>
                  <a:lnTo>
                    <a:pt x="9287" y="75724"/>
                  </a:lnTo>
                  <a:lnTo>
                    <a:pt x="4181" y="92059"/>
                  </a:lnTo>
                  <a:lnTo>
                    <a:pt x="1086" y="109328"/>
                  </a:lnTo>
                  <a:lnTo>
                    <a:pt x="0" y="127321"/>
                  </a:lnTo>
                  <a:lnTo>
                    <a:pt x="952" y="145828"/>
                  </a:lnTo>
                  <a:lnTo>
                    <a:pt x="3943" y="164649"/>
                  </a:lnTo>
                  <a:lnTo>
                    <a:pt x="9001" y="183585"/>
                  </a:lnTo>
                  <a:lnTo>
                    <a:pt x="16135" y="202425"/>
                  </a:lnTo>
                  <a:lnTo>
                    <a:pt x="25365" y="220961"/>
                  </a:lnTo>
                  <a:lnTo>
                    <a:pt x="36709" y="239001"/>
                  </a:lnTo>
                  <a:lnTo>
                    <a:pt x="45320" y="251298"/>
                  </a:lnTo>
                  <a:lnTo>
                    <a:pt x="53397" y="263433"/>
                  </a:lnTo>
                  <a:lnTo>
                    <a:pt x="60874" y="275501"/>
                  </a:lnTo>
                  <a:lnTo>
                    <a:pt x="67694" y="287560"/>
                  </a:lnTo>
                  <a:lnTo>
                    <a:pt x="73781" y="299695"/>
                  </a:lnTo>
                  <a:lnTo>
                    <a:pt x="79086" y="311991"/>
                  </a:lnTo>
                  <a:lnTo>
                    <a:pt x="83544" y="324526"/>
                  </a:lnTo>
                  <a:lnTo>
                    <a:pt x="87078" y="337376"/>
                  </a:lnTo>
                  <a:lnTo>
                    <a:pt x="89649" y="350615"/>
                  </a:lnTo>
                  <a:lnTo>
                    <a:pt x="91173" y="364331"/>
                  </a:lnTo>
                  <a:lnTo>
                    <a:pt x="91592" y="378590"/>
                  </a:lnTo>
                  <a:lnTo>
                    <a:pt x="90849" y="393487"/>
                  </a:lnTo>
                  <a:lnTo>
                    <a:pt x="88878" y="409089"/>
                  </a:lnTo>
                  <a:lnTo>
                    <a:pt x="85620" y="425482"/>
                  </a:lnTo>
                  <a:lnTo>
                    <a:pt x="81001" y="442741"/>
                  </a:lnTo>
                  <a:lnTo>
                    <a:pt x="67370" y="470954"/>
                  </a:lnTo>
                  <a:lnTo>
                    <a:pt x="58179" y="498815"/>
                  </a:lnTo>
                  <a:lnTo>
                    <a:pt x="53149" y="526218"/>
                  </a:lnTo>
                  <a:lnTo>
                    <a:pt x="51997" y="553060"/>
                  </a:lnTo>
                  <a:lnTo>
                    <a:pt x="54426" y="579225"/>
                  </a:lnTo>
                  <a:lnTo>
                    <a:pt x="60169" y="604599"/>
                  </a:lnTo>
                  <a:lnTo>
                    <a:pt x="68932" y="629079"/>
                  </a:lnTo>
                  <a:lnTo>
                    <a:pt x="80429" y="652548"/>
                  </a:lnTo>
                  <a:lnTo>
                    <a:pt x="94393" y="674894"/>
                  </a:lnTo>
                  <a:lnTo>
                    <a:pt x="110528" y="696020"/>
                  </a:lnTo>
                  <a:lnTo>
                    <a:pt x="128549" y="715804"/>
                  </a:lnTo>
                  <a:lnTo>
                    <a:pt x="148180" y="734139"/>
                  </a:lnTo>
                  <a:lnTo>
                    <a:pt x="169135" y="750922"/>
                  </a:lnTo>
                  <a:lnTo>
                    <a:pt x="191129" y="766029"/>
                  </a:lnTo>
                  <a:lnTo>
                    <a:pt x="213874" y="779355"/>
                  </a:lnTo>
                  <a:lnTo>
                    <a:pt x="242992" y="789889"/>
                  </a:lnTo>
                  <a:lnTo>
                    <a:pt x="273453" y="796766"/>
                  </a:lnTo>
                  <a:lnTo>
                    <a:pt x="304933" y="800119"/>
                  </a:lnTo>
                  <a:lnTo>
                    <a:pt x="337128" y="800071"/>
                  </a:lnTo>
                  <a:lnTo>
                    <a:pt x="369713" y="796747"/>
                  </a:lnTo>
                  <a:lnTo>
                    <a:pt x="402374" y="790270"/>
                  </a:lnTo>
                  <a:lnTo>
                    <a:pt x="434807" y="780774"/>
                  </a:lnTo>
                  <a:lnTo>
                    <a:pt x="466687" y="768372"/>
                  </a:lnTo>
                  <a:lnTo>
                    <a:pt x="497691" y="753208"/>
                  </a:lnTo>
                  <a:lnTo>
                    <a:pt x="527523" y="735387"/>
                  </a:lnTo>
                  <a:lnTo>
                    <a:pt x="555860" y="715061"/>
                  </a:lnTo>
                  <a:lnTo>
                    <a:pt x="582378" y="692334"/>
                  </a:lnTo>
                  <a:lnTo>
                    <a:pt x="606771" y="667341"/>
                  </a:lnTo>
                  <a:lnTo>
                    <a:pt x="628726" y="640204"/>
                  </a:lnTo>
                  <a:lnTo>
                    <a:pt x="647929" y="611048"/>
                  </a:lnTo>
                  <a:lnTo>
                    <a:pt x="654653" y="592017"/>
                  </a:lnTo>
                  <a:lnTo>
                    <a:pt x="660644" y="573853"/>
                  </a:lnTo>
                  <a:lnTo>
                    <a:pt x="665855" y="556479"/>
                  </a:lnTo>
                  <a:lnTo>
                    <a:pt x="670274" y="539810"/>
                  </a:lnTo>
                  <a:lnTo>
                    <a:pt x="673846" y="523780"/>
                  </a:lnTo>
                  <a:lnTo>
                    <a:pt x="676561" y="508292"/>
                  </a:lnTo>
                  <a:lnTo>
                    <a:pt x="678371" y="493281"/>
                  </a:lnTo>
                  <a:lnTo>
                    <a:pt x="679256" y="478660"/>
                  </a:lnTo>
                  <a:lnTo>
                    <a:pt x="679180" y="464353"/>
                  </a:lnTo>
                  <a:lnTo>
                    <a:pt x="678113" y="450285"/>
                  </a:lnTo>
                  <a:lnTo>
                    <a:pt x="676018" y="436378"/>
                  </a:lnTo>
                  <a:lnTo>
                    <a:pt x="672875" y="422548"/>
                  </a:lnTo>
                  <a:lnTo>
                    <a:pt x="668636" y="408708"/>
                  </a:lnTo>
                  <a:lnTo>
                    <a:pt x="663292" y="394802"/>
                  </a:lnTo>
                  <a:lnTo>
                    <a:pt x="656787" y="380733"/>
                  </a:lnTo>
                  <a:close/>
                </a:path>
              </a:pathLst>
            </a:custGeom>
            <a:solidFill>
              <a:srgbClr val="B56F3D"/>
            </a:solidFill>
            <a:ln w="15059">
              <a:solidFill>
                <a:srgbClr val="4A5147"/>
              </a:solidFill>
              <a:prstDash val="solid"/>
            </a:ln>
          </p:spPr>
          <p:txBody>
            <a:bodyPr/>
            <a:lstStyle/>
            <a:p>
              <a:endParaRPr sz="1200"/>
            </a:p>
          </p:txBody>
        </p:sp>
        <p:sp>
          <p:nvSpPr>
            <p:cNvPr id="524" name="s4-brown-chicken__contour_524">
              <a:extLst>
                <a:ext uri="{FF2B5EF4-FFF2-40B4-BE49-F238E27FC236}">
                  <a16:creationId xmlns:a16="http://schemas.microsoft.com/office/drawing/2014/main" id="{F7DCA3F8-50FD-4ABE-A7B4-D662497CEB7E}"/>
                </a:ext>
              </a:extLst>
            </p:cNvPr>
            <p:cNvSpPr>
              <a:spLocks/>
            </p:cNvSpPr>
            <p:nvPr/>
          </p:nvSpPr>
          <p:spPr>
            <a:xfrm>
              <a:off x="11083938" y="3715258"/>
              <a:ext cx="318757" cy="326599"/>
            </a:xfrm>
            <a:custGeom>
              <a:avLst/>
              <a:gdLst/>
              <a:ahLst/>
              <a:cxnLst/>
              <a:rect l="0" t="0" r="0" b="0"/>
              <a:pathLst>
                <a:path w="478136" h="489899">
                  <a:moveTo>
                    <a:pt x="238963" y="0"/>
                  </a:moveTo>
                  <a:lnTo>
                    <a:pt x="221151" y="2372"/>
                  </a:lnTo>
                  <a:lnTo>
                    <a:pt x="203225" y="5944"/>
                  </a:lnTo>
                  <a:lnTo>
                    <a:pt x="185318" y="10773"/>
                  </a:lnTo>
                  <a:lnTo>
                    <a:pt x="167554" y="16869"/>
                  </a:lnTo>
                  <a:lnTo>
                    <a:pt x="150057" y="24279"/>
                  </a:lnTo>
                  <a:lnTo>
                    <a:pt x="132950" y="33023"/>
                  </a:lnTo>
                  <a:lnTo>
                    <a:pt x="116367" y="43139"/>
                  </a:lnTo>
                  <a:lnTo>
                    <a:pt x="100422" y="54654"/>
                  </a:lnTo>
                  <a:lnTo>
                    <a:pt x="85258" y="67608"/>
                  </a:lnTo>
                  <a:lnTo>
                    <a:pt x="70980" y="82020"/>
                  </a:lnTo>
                  <a:lnTo>
                    <a:pt x="57741" y="97936"/>
                  </a:lnTo>
                  <a:lnTo>
                    <a:pt x="45644" y="115367"/>
                  </a:lnTo>
                  <a:lnTo>
                    <a:pt x="34823" y="134369"/>
                  </a:lnTo>
                  <a:lnTo>
                    <a:pt x="25403" y="154953"/>
                  </a:lnTo>
                  <a:lnTo>
                    <a:pt x="17507" y="177165"/>
                  </a:lnTo>
                  <a:lnTo>
                    <a:pt x="7410" y="205369"/>
                  </a:lnTo>
                  <a:lnTo>
                    <a:pt x="1695" y="233153"/>
                  </a:lnTo>
                  <a:lnTo>
                    <a:pt x="0" y="260366"/>
                  </a:lnTo>
                  <a:lnTo>
                    <a:pt x="2000" y="286817"/>
                  </a:lnTo>
                  <a:lnTo>
                    <a:pt x="7334" y="312334"/>
                  </a:lnTo>
                  <a:lnTo>
                    <a:pt x="15669" y="336756"/>
                  </a:lnTo>
                  <a:lnTo>
                    <a:pt x="26641" y="359902"/>
                  </a:lnTo>
                  <a:lnTo>
                    <a:pt x="39910" y="381591"/>
                  </a:lnTo>
                  <a:lnTo>
                    <a:pt x="55140" y="401669"/>
                  </a:lnTo>
                  <a:lnTo>
                    <a:pt x="71971" y="419948"/>
                  </a:lnTo>
                  <a:lnTo>
                    <a:pt x="90059" y="436255"/>
                  </a:lnTo>
                  <a:lnTo>
                    <a:pt x="109061" y="450428"/>
                  </a:lnTo>
                  <a:lnTo>
                    <a:pt x="128635" y="462277"/>
                  </a:lnTo>
                  <a:lnTo>
                    <a:pt x="148428" y="471640"/>
                  </a:lnTo>
                  <a:lnTo>
                    <a:pt x="168097" y="478345"/>
                  </a:lnTo>
                  <a:lnTo>
                    <a:pt x="194539" y="485470"/>
                  </a:lnTo>
                  <a:lnTo>
                    <a:pt x="220628" y="489252"/>
                  </a:lnTo>
                  <a:lnTo>
                    <a:pt x="246259" y="489899"/>
                  </a:lnTo>
                  <a:lnTo>
                    <a:pt x="271329" y="487613"/>
                  </a:lnTo>
                  <a:lnTo>
                    <a:pt x="295723" y="482613"/>
                  </a:lnTo>
                  <a:lnTo>
                    <a:pt x="319326" y="475088"/>
                  </a:lnTo>
                  <a:lnTo>
                    <a:pt x="342033" y="465249"/>
                  </a:lnTo>
                  <a:lnTo>
                    <a:pt x="363731" y="453295"/>
                  </a:lnTo>
                  <a:lnTo>
                    <a:pt x="384305" y="439436"/>
                  </a:lnTo>
                  <a:lnTo>
                    <a:pt x="403660" y="423882"/>
                  </a:lnTo>
                  <a:lnTo>
                    <a:pt x="421672" y="406832"/>
                  </a:lnTo>
                  <a:lnTo>
                    <a:pt x="438236" y="388487"/>
                  </a:lnTo>
                  <a:lnTo>
                    <a:pt x="453247" y="369056"/>
                  </a:lnTo>
                  <a:lnTo>
                    <a:pt x="466582" y="348748"/>
                  </a:lnTo>
                  <a:lnTo>
                    <a:pt x="478136" y="327755"/>
                  </a:lnTo>
                  <a:lnTo>
                    <a:pt x="455686" y="319497"/>
                  </a:lnTo>
                  <a:lnTo>
                    <a:pt x="434369" y="308962"/>
                  </a:lnTo>
                  <a:lnTo>
                    <a:pt x="414147" y="296218"/>
                  </a:lnTo>
                  <a:lnTo>
                    <a:pt x="394954" y="281349"/>
                  </a:lnTo>
                  <a:lnTo>
                    <a:pt x="376761" y="264433"/>
                  </a:lnTo>
                  <a:lnTo>
                    <a:pt x="359502" y="245554"/>
                  </a:lnTo>
                  <a:lnTo>
                    <a:pt x="343148" y="224780"/>
                  </a:lnTo>
                  <a:lnTo>
                    <a:pt x="327650" y="202187"/>
                  </a:lnTo>
                  <a:lnTo>
                    <a:pt x="312944" y="177870"/>
                  </a:lnTo>
                  <a:lnTo>
                    <a:pt x="298999" y="151905"/>
                  </a:lnTo>
                  <a:lnTo>
                    <a:pt x="285769" y="124358"/>
                  </a:lnTo>
                  <a:lnTo>
                    <a:pt x="273196" y="95317"/>
                  </a:lnTo>
                  <a:lnTo>
                    <a:pt x="261233" y="64856"/>
                  </a:lnTo>
                  <a:lnTo>
                    <a:pt x="249841" y="33061"/>
                  </a:lnTo>
                  <a:lnTo>
                    <a:pt x="238963" y="0"/>
                  </a:lnTo>
                  <a:close/>
                </a:path>
              </a:pathLst>
            </a:custGeom>
            <a:solidFill>
              <a:srgbClr val="87563C"/>
            </a:solidFill>
            <a:ln w="15059">
              <a:noFill/>
              <a:prstDash val="solid"/>
            </a:ln>
          </p:spPr>
          <p:txBody>
            <a:bodyPr/>
            <a:lstStyle/>
            <a:p>
              <a:endParaRPr sz="1200"/>
            </a:p>
          </p:txBody>
        </p:sp>
        <p:sp>
          <p:nvSpPr>
            <p:cNvPr id="525" name="s4-brown-chicken__contour_525">
              <a:extLst>
                <a:ext uri="{FF2B5EF4-FFF2-40B4-BE49-F238E27FC236}">
                  <a16:creationId xmlns:a16="http://schemas.microsoft.com/office/drawing/2014/main" id="{8F942FDB-3E62-4F99-9301-BA5B0733CCF3}"/>
                </a:ext>
              </a:extLst>
            </p:cNvPr>
            <p:cNvSpPr>
              <a:spLocks/>
            </p:cNvSpPr>
            <p:nvPr/>
          </p:nvSpPr>
          <p:spPr>
            <a:xfrm>
              <a:off x="11061801" y="3523399"/>
              <a:ext cx="205066" cy="333590"/>
            </a:xfrm>
            <a:custGeom>
              <a:avLst/>
              <a:gdLst/>
              <a:ahLst/>
              <a:cxnLst/>
              <a:rect l="0" t="0" r="0" b="0"/>
              <a:pathLst>
                <a:path w="307600" h="500386">
                  <a:moveTo>
                    <a:pt x="174727" y="66332"/>
                  </a:moveTo>
                  <a:lnTo>
                    <a:pt x="171812" y="52768"/>
                  </a:lnTo>
                  <a:lnTo>
                    <a:pt x="166773" y="40491"/>
                  </a:lnTo>
                  <a:lnTo>
                    <a:pt x="159849" y="29623"/>
                  </a:lnTo>
                  <a:lnTo>
                    <a:pt x="151267" y="20260"/>
                  </a:lnTo>
                  <a:lnTo>
                    <a:pt x="141265" y="12525"/>
                  </a:lnTo>
                  <a:lnTo>
                    <a:pt x="130083" y="6525"/>
                  </a:lnTo>
                  <a:lnTo>
                    <a:pt x="117958" y="2362"/>
                  </a:lnTo>
                  <a:lnTo>
                    <a:pt x="105118" y="152"/>
                  </a:lnTo>
                  <a:lnTo>
                    <a:pt x="91811" y="0"/>
                  </a:lnTo>
                  <a:lnTo>
                    <a:pt x="78267" y="2029"/>
                  </a:lnTo>
                  <a:lnTo>
                    <a:pt x="64722" y="6334"/>
                  </a:lnTo>
                  <a:lnTo>
                    <a:pt x="51416" y="13040"/>
                  </a:lnTo>
                  <a:lnTo>
                    <a:pt x="38586" y="22250"/>
                  </a:lnTo>
                  <a:lnTo>
                    <a:pt x="26460" y="34071"/>
                  </a:lnTo>
                  <a:lnTo>
                    <a:pt x="15278" y="48616"/>
                  </a:lnTo>
                  <a:lnTo>
                    <a:pt x="7801" y="66437"/>
                  </a:lnTo>
                  <a:lnTo>
                    <a:pt x="2915" y="84439"/>
                  </a:lnTo>
                  <a:lnTo>
                    <a:pt x="400" y="102546"/>
                  </a:lnTo>
                  <a:lnTo>
                    <a:pt x="0" y="120701"/>
                  </a:lnTo>
                  <a:lnTo>
                    <a:pt x="1495" y="138836"/>
                  </a:lnTo>
                  <a:lnTo>
                    <a:pt x="4648" y="156896"/>
                  </a:lnTo>
                  <a:lnTo>
                    <a:pt x="9211" y="174822"/>
                  </a:lnTo>
                  <a:lnTo>
                    <a:pt x="14964" y="192529"/>
                  </a:lnTo>
                  <a:lnTo>
                    <a:pt x="21660" y="209979"/>
                  </a:lnTo>
                  <a:lnTo>
                    <a:pt x="29061" y="227095"/>
                  </a:lnTo>
                  <a:lnTo>
                    <a:pt x="36928" y="243811"/>
                  </a:lnTo>
                  <a:lnTo>
                    <a:pt x="45044" y="260080"/>
                  </a:lnTo>
                  <a:lnTo>
                    <a:pt x="53149" y="275825"/>
                  </a:lnTo>
                  <a:lnTo>
                    <a:pt x="61027" y="290989"/>
                  </a:lnTo>
                  <a:lnTo>
                    <a:pt x="68428" y="305505"/>
                  </a:lnTo>
                  <a:lnTo>
                    <a:pt x="77286" y="456095"/>
                  </a:lnTo>
                  <a:lnTo>
                    <a:pt x="121577" y="394087"/>
                  </a:lnTo>
                  <a:lnTo>
                    <a:pt x="148152" y="500386"/>
                  </a:lnTo>
                  <a:lnTo>
                    <a:pt x="192443" y="420662"/>
                  </a:lnTo>
                  <a:lnTo>
                    <a:pt x="245593" y="482670"/>
                  </a:lnTo>
                  <a:lnTo>
                    <a:pt x="254451" y="349796"/>
                  </a:lnTo>
                  <a:lnTo>
                    <a:pt x="307600" y="376371"/>
                  </a:lnTo>
                  <a:lnTo>
                    <a:pt x="293894" y="346072"/>
                  </a:lnTo>
                  <a:lnTo>
                    <a:pt x="281083" y="318726"/>
                  </a:lnTo>
                  <a:lnTo>
                    <a:pt x="269119" y="293951"/>
                  </a:lnTo>
                  <a:lnTo>
                    <a:pt x="257966" y="271405"/>
                  </a:lnTo>
                  <a:lnTo>
                    <a:pt x="247564" y="250717"/>
                  </a:lnTo>
                  <a:lnTo>
                    <a:pt x="237868" y="231524"/>
                  </a:lnTo>
                  <a:lnTo>
                    <a:pt x="228838" y="213465"/>
                  </a:lnTo>
                  <a:lnTo>
                    <a:pt x="220418" y="196167"/>
                  </a:lnTo>
                  <a:lnTo>
                    <a:pt x="212569" y="179289"/>
                  </a:lnTo>
                  <a:lnTo>
                    <a:pt x="205235" y="162458"/>
                  </a:lnTo>
                  <a:lnTo>
                    <a:pt x="198377" y="145313"/>
                  </a:lnTo>
                  <a:lnTo>
                    <a:pt x="191948" y="127492"/>
                  </a:lnTo>
                  <a:lnTo>
                    <a:pt x="185890" y="108623"/>
                  </a:lnTo>
                  <a:lnTo>
                    <a:pt x="180165" y="88363"/>
                  </a:lnTo>
                  <a:lnTo>
                    <a:pt x="174727" y="66332"/>
                  </a:lnTo>
                  <a:close/>
                </a:path>
              </a:pathLst>
            </a:custGeom>
            <a:solidFill>
              <a:srgbClr val="D6A36C"/>
            </a:solidFill>
            <a:ln w="9744">
              <a:solidFill>
                <a:srgbClr val="8D683E"/>
              </a:solidFill>
              <a:prstDash val="solid"/>
            </a:ln>
          </p:spPr>
          <p:txBody>
            <a:bodyPr/>
            <a:lstStyle/>
            <a:p>
              <a:endParaRPr sz="1200"/>
            </a:p>
          </p:txBody>
        </p:sp>
        <p:sp>
          <p:nvSpPr>
            <p:cNvPr id="526" name="s4-brown-chicken__line_526">
              <a:extLst>
                <a:ext uri="{FF2B5EF4-FFF2-40B4-BE49-F238E27FC236}">
                  <a16:creationId xmlns:a16="http://schemas.microsoft.com/office/drawing/2014/main" id="{5F4DDC84-CD3D-48D0-BB76-AFFF42A1C0E6}"/>
                </a:ext>
              </a:extLst>
            </p:cNvPr>
            <p:cNvSpPr>
              <a:spLocks/>
            </p:cNvSpPr>
            <p:nvPr/>
          </p:nvSpPr>
          <p:spPr>
            <a:xfrm>
              <a:off x="11172381" y="3632581"/>
              <a:ext cx="41338" cy="118109"/>
            </a:xfrm>
            <a:custGeom>
              <a:avLst/>
              <a:gdLst/>
              <a:ahLst/>
              <a:cxnLst/>
              <a:rect l="0" t="0" r="0" b="0"/>
              <a:pathLst>
                <a:path w="62008" h="177165">
                  <a:moveTo>
                    <a:pt x="0" y="0"/>
                  </a:moveTo>
                  <a:lnTo>
                    <a:pt x="62008" y="177165"/>
                  </a:lnTo>
                </a:path>
              </a:pathLst>
            </a:custGeom>
            <a:noFill/>
            <a:ln w="8858">
              <a:solidFill>
                <a:srgbClr val="9C713D"/>
              </a:solidFill>
              <a:prstDash val="solid"/>
            </a:ln>
          </p:spPr>
          <p:txBody>
            <a:bodyPr/>
            <a:lstStyle/>
            <a:p>
              <a:endParaRPr sz="1200"/>
            </a:p>
          </p:txBody>
        </p:sp>
        <p:sp>
          <p:nvSpPr>
            <p:cNvPr id="527" name="s4-brown-chicken__line_527">
              <a:extLst>
                <a:ext uri="{FF2B5EF4-FFF2-40B4-BE49-F238E27FC236}">
                  <a16:creationId xmlns:a16="http://schemas.microsoft.com/office/drawing/2014/main" id="{F0211C37-CBD3-4955-AD67-17CA245BC253}"/>
                </a:ext>
              </a:extLst>
            </p:cNvPr>
            <p:cNvSpPr>
              <a:spLocks/>
            </p:cNvSpPr>
            <p:nvPr/>
          </p:nvSpPr>
          <p:spPr>
            <a:xfrm>
              <a:off x="11142853" y="3638487"/>
              <a:ext cx="23622" cy="147637"/>
            </a:xfrm>
            <a:custGeom>
              <a:avLst/>
              <a:gdLst/>
              <a:ahLst/>
              <a:cxnLst/>
              <a:rect l="0" t="0" r="0" b="0"/>
              <a:pathLst>
                <a:path w="35433" h="221456">
                  <a:moveTo>
                    <a:pt x="0" y="0"/>
                  </a:moveTo>
                  <a:lnTo>
                    <a:pt x="35433" y="221456"/>
                  </a:lnTo>
                </a:path>
              </a:pathLst>
            </a:custGeom>
            <a:noFill/>
            <a:ln w="8858">
              <a:solidFill>
                <a:srgbClr val="9C713D"/>
              </a:solidFill>
              <a:prstDash val="solid"/>
            </a:ln>
          </p:spPr>
          <p:txBody>
            <a:bodyPr/>
            <a:lstStyle/>
            <a:p>
              <a:endParaRPr sz="1200"/>
            </a:p>
          </p:txBody>
        </p:sp>
        <p:sp>
          <p:nvSpPr>
            <p:cNvPr id="528" name="s4-brown-chicken__line_528">
              <a:extLst>
                <a:ext uri="{FF2B5EF4-FFF2-40B4-BE49-F238E27FC236}">
                  <a16:creationId xmlns:a16="http://schemas.microsoft.com/office/drawing/2014/main" id="{D7CB1B6E-D4A7-4ED4-A310-B1A9DE6F26CD}"/>
                </a:ext>
              </a:extLst>
            </p:cNvPr>
            <p:cNvSpPr>
              <a:spLocks/>
            </p:cNvSpPr>
            <p:nvPr/>
          </p:nvSpPr>
          <p:spPr>
            <a:xfrm>
              <a:off x="11113325" y="3638487"/>
              <a:ext cx="11810" cy="112204"/>
            </a:xfrm>
            <a:custGeom>
              <a:avLst/>
              <a:gdLst/>
              <a:ahLst/>
              <a:cxnLst/>
              <a:rect l="0" t="0" r="0" b="0"/>
              <a:pathLst>
                <a:path w="17716" h="168307">
                  <a:moveTo>
                    <a:pt x="0" y="0"/>
                  </a:moveTo>
                  <a:lnTo>
                    <a:pt x="17716" y="168307"/>
                  </a:lnTo>
                </a:path>
              </a:pathLst>
            </a:custGeom>
            <a:noFill/>
            <a:ln w="8858">
              <a:solidFill>
                <a:srgbClr val="9C713D"/>
              </a:solidFill>
              <a:prstDash val="solid"/>
            </a:ln>
          </p:spPr>
          <p:txBody>
            <a:bodyPr/>
            <a:lstStyle/>
            <a:p>
              <a:endParaRPr sz="1200"/>
            </a:p>
          </p:txBody>
        </p:sp>
        <p:sp>
          <p:nvSpPr>
            <p:cNvPr id="529" name="s4-brown-chicken__contour_529">
              <a:extLst>
                <a:ext uri="{FF2B5EF4-FFF2-40B4-BE49-F238E27FC236}">
                  <a16:creationId xmlns:a16="http://schemas.microsoft.com/office/drawing/2014/main" id="{FF81D333-76B1-4565-95AE-31D2020E64F9}"/>
                </a:ext>
              </a:extLst>
            </p:cNvPr>
            <p:cNvSpPr>
              <a:spLocks/>
            </p:cNvSpPr>
            <p:nvPr/>
          </p:nvSpPr>
          <p:spPr>
            <a:xfrm>
              <a:off x="11237341" y="3761187"/>
              <a:ext cx="237261" cy="161810"/>
            </a:xfrm>
            <a:custGeom>
              <a:avLst/>
              <a:gdLst/>
              <a:ahLst/>
              <a:cxnLst/>
              <a:rect l="0" t="0" r="0" b="0"/>
              <a:pathLst>
                <a:path w="355892" h="242716">
                  <a:moveTo>
                    <a:pt x="336613" y="46263"/>
                  </a:moveTo>
                  <a:lnTo>
                    <a:pt x="309943" y="30299"/>
                  </a:lnTo>
                  <a:lnTo>
                    <a:pt x="283197" y="17793"/>
                  </a:lnTo>
                  <a:lnTo>
                    <a:pt x="256537" y="8630"/>
                  </a:lnTo>
                  <a:lnTo>
                    <a:pt x="230105" y="2734"/>
                  </a:lnTo>
                  <a:lnTo>
                    <a:pt x="204064" y="0"/>
                  </a:lnTo>
                  <a:lnTo>
                    <a:pt x="178584" y="343"/>
                  </a:lnTo>
                  <a:lnTo>
                    <a:pt x="153810" y="3658"/>
                  </a:lnTo>
                  <a:lnTo>
                    <a:pt x="129892" y="9849"/>
                  </a:lnTo>
                  <a:lnTo>
                    <a:pt x="107004" y="18840"/>
                  </a:lnTo>
                  <a:lnTo>
                    <a:pt x="85306" y="30518"/>
                  </a:lnTo>
                  <a:lnTo>
                    <a:pt x="64932" y="44787"/>
                  </a:lnTo>
                  <a:lnTo>
                    <a:pt x="46063" y="61570"/>
                  </a:lnTo>
                  <a:lnTo>
                    <a:pt x="28842" y="80762"/>
                  </a:lnTo>
                  <a:lnTo>
                    <a:pt x="13440" y="102260"/>
                  </a:lnTo>
                  <a:lnTo>
                    <a:pt x="0" y="125987"/>
                  </a:lnTo>
                  <a:lnTo>
                    <a:pt x="8001" y="144542"/>
                  </a:lnTo>
                  <a:lnTo>
                    <a:pt x="17678" y="161268"/>
                  </a:lnTo>
                  <a:lnTo>
                    <a:pt x="28842" y="176232"/>
                  </a:lnTo>
                  <a:lnTo>
                    <a:pt x="41281" y="189490"/>
                  </a:lnTo>
                  <a:lnTo>
                    <a:pt x="54788" y="201120"/>
                  </a:lnTo>
                  <a:lnTo>
                    <a:pt x="69161" y="211169"/>
                  </a:lnTo>
                  <a:lnTo>
                    <a:pt x="84201" y="219704"/>
                  </a:lnTo>
                  <a:lnTo>
                    <a:pt x="99698" y="226800"/>
                  </a:lnTo>
                  <a:lnTo>
                    <a:pt x="115443" y="232496"/>
                  </a:lnTo>
                  <a:lnTo>
                    <a:pt x="131235" y="236877"/>
                  </a:lnTo>
                  <a:lnTo>
                    <a:pt x="146866" y="240001"/>
                  </a:lnTo>
                  <a:lnTo>
                    <a:pt x="162144" y="241925"/>
                  </a:lnTo>
                  <a:lnTo>
                    <a:pt x="176851" y="242716"/>
                  </a:lnTo>
                  <a:lnTo>
                    <a:pt x="190786" y="242430"/>
                  </a:lnTo>
                  <a:lnTo>
                    <a:pt x="203740" y="241144"/>
                  </a:lnTo>
                  <a:lnTo>
                    <a:pt x="230314" y="214570"/>
                  </a:lnTo>
                  <a:lnTo>
                    <a:pt x="265747" y="214570"/>
                  </a:lnTo>
                  <a:lnTo>
                    <a:pt x="318897" y="161420"/>
                  </a:lnTo>
                  <a:lnTo>
                    <a:pt x="325736" y="152676"/>
                  </a:lnTo>
                  <a:lnTo>
                    <a:pt x="332041" y="144151"/>
                  </a:lnTo>
                  <a:lnTo>
                    <a:pt x="337747" y="135836"/>
                  </a:lnTo>
                  <a:lnTo>
                    <a:pt x="342795" y="127711"/>
                  </a:lnTo>
                  <a:lnTo>
                    <a:pt x="347110" y="119758"/>
                  </a:lnTo>
                  <a:lnTo>
                    <a:pt x="350644" y="111957"/>
                  </a:lnTo>
                  <a:lnTo>
                    <a:pt x="353330" y="104299"/>
                  </a:lnTo>
                  <a:lnTo>
                    <a:pt x="355092" y="96774"/>
                  </a:lnTo>
                  <a:lnTo>
                    <a:pt x="355892" y="89354"/>
                  </a:lnTo>
                  <a:lnTo>
                    <a:pt x="355644" y="82020"/>
                  </a:lnTo>
                  <a:lnTo>
                    <a:pt x="354292" y="74781"/>
                  </a:lnTo>
                  <a:lnTo>
                    <a:pt x="351777" y="67589"/>
                  </a:lnTo>
                  <a:lnTo>
                    <a:pt x="348034" y="60455"/>
                  </a:lnTo>
                  <a:lnTo>
                    <a:pt x="343005" y="53350"/>
                  </a:lnTo>
                  <a:lnTo>
                    <a:pt x="336613" y="46263"/>
                  </a:lnTo>
                  <a:close/>
                </a:path>
              </a:pathLst>
            </a:custGeom>
            <a:solidFill>
              <a:srgbClr val="9F5036"/>
            </a:solidFill>
            <a:ln w="15059">
              <a:solidFill>
                <a:srgbClr val="4A5147"/>
              </a:solidFill>
              <a:prstDash val="solid"/>
            </a:ln>
          </p:spPr>
          <p:txBody>
            <a:bodyPr/>
            <a:lstStyle/>
            <a:p>
              <a:endParaRPr sz="1200"/>
            </a:p>
          </p:txBody>
        </p:sp>
        <p:sp>
          <p:nvSpPr>
            <p:cNvPr id="530" name="s4-brown-chicken__contour_530">
              <a:extLst>
                <a:ext uri="{FF2B5EF4-FFF2-40B4-BE49-F238E27FC236}">
                  <a16:creationId xmlns:a16="http://schemas.microsoft.com/office/drawing/2014/main" id="{D6B17737-6EFD-4994-83BB-C6015362E168}"/>
                </a:ext>
              </a:extLst>
            </p:cNvPr>
            <p:cNvSpPr>
              <a:spLocks/>
            </p:cNvSpPr>
            <p:nvPr/>
          </p:nvSpPr>
          <p:spPr>
            <a:xfrm>
              <a:off x="11272774" y="3803936"/>
              <a:ext cx="171259" cy="58959"/>
            </a:xfrm>
            <a:custGeom>
              <a:avLst/>
              <a:gdLst/>
              <a:ahLst/>
              <a:cxnLst/>
              <a:rect l="0" t="0" r="0" b="0"/>
              <a:pathLst>
                <a:path w="256889" h="88440">
                  <a:moveTo>
                    <a:pt x="256889" y="8715"/>
                  </a:moveTo>
                  <a:lnTo>
                    <a:pt x="235649" y="4220"/>
                  </a:lnTo>
                  <a:lnTo>
                    <a:pt x="214513" y="1333"/>
                  </a:lnTo>
                  <a:lnTo>
                    <a:pt x="193605" y="0"/>
                  </a:lnTo>
                  <a:lnTo>
                    <a:pt x="173022" y="181"/>
                  </a:lnTo>
                  <a:lnTo>
                    <a:pt x="152886" y="1829"/>
                  </a:lnTo>
                  <a:lnTo>
                    <a:pt x="133302" y="4886"/>
                  </a:lnTo>
                  <a:lnTo>
                    <a:pt x="114376" y="9325"/>
                  </a:lnTo>
                  <a:lnTo>
                    <a:pt x="96222" y="15078"/>
                  </a:lnTo>
                  <a:lnTo>
                    <a:pt x="78943" y="22108"/>
                  </a:lnTo>
                  <a:lnTo>
                    <a:pt x="62665" y="30366"/>
                  </a:lnTo>
                  <a:lnTo>
                    <a:pt x="47482" y="39815"/>
                  </a:lnTo>
                  <a:lnTo>
                    <a:pt x="33518" y="50387"/>
                  </a:lnTo>
                  <a:lnTo>
                    <a:pt x="20879" y="62046"/>
                  </a:lnTo>
                  <a:lnTo>
                    <a:pt x="9668" y="74743"/>
                  </a:lnTo>
                  <a:lnTo>
                    <a:pt x="0" y="88440"/>
                  </a:lnTo>
                </a:path>
              </a:pathLst>
            </a:custGeom>
            <a:noFill/>
            <a:ln w="11516">
              <a:solidFill>
                <a:srgbClr val="D19051"/>
              </a:solidFill>
              <a:prstDash val="solid"/>
            </a:ln>
          </p:spPr>
          <p:txBody>
            <a:bodyPr/>
            <a:lstStyle/>
            <a:p>
              <a:endParaRPr sz="1200"/>
            </a:p>
          </p:txBody>
        </p:sp>
        <p:sp>
          <p:nvSpPr>
            <p:cNvPr id="531" name="s4-brown-chicken__contour_531">
              <a:extLst>
                <a:ext uri="{FF2B5EF4-FFF2-40B4-BE49-F238E27FC236}">
                  <a16:creationId xmlns:a16="http://schemas.microsoft.com/office/drawing/2014/main" id="{952DF73D-C642-4FEB-A22E-F13E15EF3AEB}"/>
                </a:ext>
              </a:extLst>
            </p:cNvPr>
            <p:cNvSpPr>
              <a:spLocks/>
            </p:cNvSpPr>
            <p:nvPr/>
          </p:nvSpPr>
          <p:spPr>
            <a:xfrm>
              <a:off x="11013402" y="3442830"/>
              <a:ext cx="173920" cy="107073"/>
            </a:xfrm>
            <a:custGeom>
              <a:avLst/>
              <a:gdLst/>
              <a:ahLst/>
              <a:cxnLst/>
              <a:rect l="0" t="0" r="0" b="0"/>
              <a:pathLst>
                <a:path w="260880" h="160611">
                  <a:moveTo>
                    <a:pt x="220751" y="134036"/>
                  </a:moveTo>
                  <a:lnTo>
                    <a:pt x="232105" y="128616"/>
                  </a:lnTo>
                  <a:lnTo>
                    <a:pt x="241430" y="123015"/>
                  </a:lnTo>
                  <a:lnTo>
                    <a:pt x="248812" y="117310"/>
                  </a:lnTo>
                  <a:lnTo>
                    <a:pt x="254356" y="111557"/>
                  </a:lnTo>
                  <a:lnTo>
                    <a:pt x="258156" y="105823"/>
                  </a:lnTo>
                  <a:lnTo>
                    <a:pt x="260299" y="100165"/>
                  </a:lnTo>
                  <a:lnTo>
                    <a:pt x="260880" y="94640"/>
                  </a:lnTo>
                  <a:lnTo>
                    <a:pt x="259994" y="89335"/>
                  </a:lnTo>
                  <a:lnTo>
                    <a:pt x="257746" y="84287"/>
                  </a:lnTo>
                  <a:lnTo>
                    <a:pt x="254213" y="79572"/>
                  </a:lnTo>
                  <a:lnTo>
                    <a:pt x="249507" y="75257"/>
                  </a:lnTo>
                  <a:lnTo>
                    <a:pt x="243716" y="71390"/>
                  </a:lnTo>
                  <a:lnTo>
                    <a:pt x="236925" y="68047"/>
                  </a:lnTo>
                  <a:lnTo>
                    <a:pt x="229238" y="65284"/>
                  </a:lnTo>
                  <a:lnTo>
                    <a:pt x="220751" y="63170"/>
                  </a:lnTo>
                  <a:lnTo>
                    <a:pt x="226914" y="56217"/>
                  </a:lnTo>
                  <a:lnTo>
                    <a:pt x="231315" y="49597"/>
                  </a:lnTo>
                  <a:lnTo>
                    <a:pt x="234077" y="43396"/>
                  </a:lnTo>
                  <a:lnTo>
                    <a:pt x="235325" y="37719"/>
                  </a:lnTo>
                  <a:lnTo>
                    <a:pt x="235191" y="32661"/>
                  </a:lnTo>
                  <a:lnTo>
                    <a:pt x="233791" y="28308"/>
                  </a:lnTo>
                  <a:lnTo>
                    <a:pt x="231257" y="24755"/>
                  </a:lnTo>
                  <a:lnTo>
                    <a:pt x="227724" y="22098"/>
                  </a:lnTo>
                  <a:lnTo>
                    <a:pt x="223304" y="20441"/>
                  </a:lnTo>
                  <a:lnTo>
                    <a:pt x="218123" y="19860"/>
                  </a:lnTo>
                  <a:lnTo>
                    <a:pt x="212322" y="20469"/>
                  </a:lnTo>
                  <a:lnTo>
                    <a:pt x="206007" y="22355"/>
                  </a:lnTo>
                  <a:lnTo>
                    <a:pt x="199320" y="25603"/>
                  </a:lnTo>
                  <a:lnTo>
                    <a:pt x="192386" y="30318"/>
                  </a:lnTo>
                  <a:lnTo>
                    <a:pt x="185318" y="36595"/>
                  </a:lnTo>
                  <a:lnTo>
                    <a:pt x="183099" y="26784"/>
                  </a:lnTo>
                  <a:lnTo>
                    <a:pt x="180070" y="18583"/>
                  </a:lnTo>
                  <a:lnTo>
                    <a:pt x="176393" y="11935"/>
                  </a:lnTo>
                  <a:lnTo>
                    <a:pt x="172183" y="6801"/>
                  </a:lnTo>
                  <a:lnTo>
                    <a:pt x="167602" y="3134"/>
                  </a:lnTo>
                  <a:lnTo>
                    <a:pt x="162782" y="876"/>
                  </a:lnTo>
                  <a:lnTo>
                    <a:pt x="157867" y="0"/>
                  </a:lnTo>
                  <a:lnTo>
                    <a:pt x="153000" y="438"/>
                  </a:lnTo>
                  <a:lnTo>
                    <a:pt x="148323" y="2153"/>
                  </a:lnTo>
                  <a:lnTo>
                    <a:pt x="143980" y="5096"/>
                  </a:lnTo>
                  <a:lnTo>
                    <a:pt x="140103" y="9230"/>
                  </a:lnTo>
                  <a:lnTo>
                    <a:pt x="136846" y="14488"/>
                  </a:lnTo>
                  <a:lnTo>
                    <a:pt x="134341" y="20831"/>
                  </a:lnTo>
                  <a:lnTo>
                    <a:pt x="132740" y="28213"/>
                  </a:lnTo>
                  <a:lnTo>
                    <a:pt x="132169" y="36595"/>
                  </a:lnTo>
                  <a:lnTo>
                    <a:pt x="123225" y="25470"/>
                  </a:lnTo>
                  <a:lnTo>
                    <a:pt x="114214" y="16802"/>
                  </a:lnTo>
                  <a:lnTo>
                    <a:pt x="105308" y="10449"/>
                  </a:lnTo>
                  <a:lnTo>
                    <a:pt x="96698" y="6267"/>
                  </a:lnTo>
                  <a:lnTo>
                    <a:pt x="88535" y="4115"/>
                  </a:lnTo>
                  <a:lnTo>
                    <a:pt x="81001" y="3858"/>
                  </a:lnTo>
                  <a:lnTo>
                    <a:pt x="74276" y="5344"/>
                  </a:lnTo>
                  <a:lnTo>
                    <a:pt x="68523" y="8439"/>
                  </a:lnTo>
                  <a:lnTo>
                    <a:pt x="63922" y="12992"/>
                  </a:lnTo>
                  <a:lnTo>
                    <a:pt x="60646" y="18879"/>
                  </a:lnTo>
                  <a:lnTo>
                    <a:pt x="58865" y="25946"/>
                  </a:lnTo>
                  <a:lnTo>
                    <a:pt x="58750" y="34042"/>
                  </a:lnTo>
                  <a:lnTo>
                    <a:pt x="60484" y="43043"/>
                  </a:lnTo>
                  <a:lnTo>
                    <a:pt x="64227" y="52797"/>
                  </a:lnTo>
                  <a:lnTo>
                    <a:pt x="70161" y="63170"/>
                  </a:lnTo>
                  <a:lnTo>
                    <a:pt x="56588" y="55578"/>
                  </a:lnTo>
                  <a:lnTo>
                    <a:pt x="44282" y="50416"/>
                  </a:lnTo>
                  <a:lnTo>
                    <a:pt x="33309" y="47511"/>
                  </a:lnTo>
                  <a:lnTo>
                    <a:pt x="23755" y="46672"/>
                  </a:lnTo>
                  <a:lnTo>
                    <a:pt x="15697" y="47749"/>
                  </a:lnTo>
                  <a:lnTo>
                    <a:pt x="9220" y="50559"/>
                  </a:lnTo>
                  <a:lnTo>
                    <a:pt x="4391" y="54921"/>
                  </a:lnTo>
                  <a:lnTo>
                    <a:pt x="1286" y="60674"/>
                  </a:lnTo>
                  <a:lnTo>
                    <a:pt x="0" y="67637"/>
                  </a:lnTo>
                  <a:lnTo>
                    <a:pt x="610" y="75638"/>
                  </a:lnTo>
                  <a:lnTo>
                    <a:pt x="3181" y="84506"/>
                  </a:lnTo>
                  <a:lnTo>
                    <a:pt x="7801" y="94069"/>
                  </a:lnTo>
                  <a:lnTo>
                    <a:pt x="14545" y="104146"/>
                  </a:lnTo>
                  <a:lnTo>
                    <a:pt x="23498" y="114576"/>
                  </a:lnTo>
                  <a:lnTo>
                    <a:pt x="34728" y="125178"/>
                  </a:lnTo>
                  <a:lnTo>
                    <a:pt x="96736" y="160611"/>
                  </a:lnTo>
                  <a:close/>
                </a:path>
              </a:pathLst>
            </a:custGeom>
            <a:solidFill>
              <a:srgbClr val="B8493E"/>
            </a:solidFill>
            <a:ln w="9744">
              <a:solidFill>
                <a:srgbClr val="803B33"/>
              </a:solidFill>
              <a:prstDash val="solid"/>
            </a:ln>
          </p:spPr>
          <p:txBody>
            <a:bodyPr/>
            <a:lstStyle/>
            <a:p>
              <a:endParaRPr sz="1200"/>
            </a:p>
          </p:txBody>
        </p:sp>
        <p:sp>
          <p:nvSpPr>
            <p:cNvPr id="532" name="s4-brown-chicken__contour_532">
              <a:extLst>
                <a:ext uri="{FF2B5EF4-FFF2-40B4-BE49-F238E27FC236}">
                  <a16:creationId xmlns:a16="http://schemas.microsoft.com/office/drawing/2014/main" id="{CF7B51E4-E22B-47D8-8573-29BD660D8A42}"/>
                </a:ext>
              </a:extLst>
            </p:cNvPr>
            <p:cNvSpPr>
              <a:spLocks/>
            </p:cNvSpPr>
            <p:nvPr/>
          </p:nvSpPr>
          <p:spPr>
            <a:xfrm>
              <a:off x="10971593" y="3591243"/>
              <a:ext cx="76771" cy="53149"/>
            </a:xfrm>
            <a:custGeom>
              <a:avLst/>
              <a:gdLst/>
              <a:ahLst/>
              <a:cxnLst/>
              <a:rect l="0" t="0" r="0" b="0"/>
              <a:pathLst>
                <a:path w="115157" h="79724">
                  <a:moveTo>
                    <a:pt x="115157" y="0"/>
                  </a:moveTo>
                  <a:lnTo>
                    <a:pt x="0" y="44291"/>
                  </a:lnTo>
                  <a:lnTo>
                    <a:pt x="106299" y="79724"/>
                  </a:lnTo>
                  <a:close/>
                </a:path>
              </a:pathLst>
            </a:custGeom>
            <a:solidFill>
              <a:srgbClr val="CEA653"/>
            </a:solidFill>
            <a:ln w="9744">
              <a:solidFill>
                <a:srgbClr val="8D7239"/>
              </a:solidFill>
              <a:prstDash val="solid"/>
            </a:ln>
          </p:spPr>
          <p:txBody>
            <a:bodyPr/>
            <a:lstStyle/>
            <a:p>
              <a:endParaRPr sz="1200"/>
            </a:p>
          </p:txBody>
        </p:sp>
        <p:sp>
          <p:nvSpPr>
            <p:cNvPr id="533" name="s4-brown-chicken__ellipse_533">
              <a:extLst>
                <a:ext uri="{FF2B5EF4-FFF2-40B4-BE49-F238E27FC236}">
                  <a16:creationId xmlns:a16="http://schemas.microsoft.com/office/drawing/2014/main" id="{DD9F33AE-02E2-4C0E-B1CD-76F792316A9E}"/>
                </a:ext>
              </a:extLst>
            </p:cNvPr>
            <p:cNvSpPr>
              <a:spLocks/>
            </p:cNvSpPr>
            <p:nvPr/>
          </p:nvSpPr>
          <p:spPr>
            <a:xfrm>
              <a:off x="11060176" y="3650297"/>
              <a:ext cx="47244" cy="82677"/>
            </a:xfrm>
            <a:prstGeom prst="ellipse">
              <a:avLst/>
            </a:prstGeom>
            <a:solidFill>
              <a:srgbClr val="B8493E"/>
            </a:solidFill>
            <a:ln w="8858">
              <a:solidFill>
                <a:srgbClr val="803B33"/>
              </a:solidFill>
              <a:prstDash val="solid"/>
            </a:ln>
          </p:spPr>
          <p:txBody>
            <a:bodyPr/>
            <a:lstStyle/>
            <a:p>
              <a:endParaRPr sz="1200"/>
            </a:p>
          </p:txBody>
        </p:sp>
        <p:sp>
          <p:nvSpPr>
            <p:cNvPr id="534" name="s4-brown-chicken__ellipse_534">
              <a:extLst>
                <a:ext uri="{FF2B5EF4-FFF2-40B4-BE49-F238E27FC236}">
                  <a16:creationId xmlns:a16="http://schemas.microsoft.com/office/drawing/2014/main" id="{92690DE3-4882-4D8D-8881-F1D1EF63B2E9}"/>
                </a:ext>
              </a:extLst>
            </p:cNvPr>
            <p:cNvSpPr>
              <a:spLocks/>
            </p:cNvSpPr>
            <p:nvPr/>
          </p:nvSpPr>
          <p:spPr>
            <a:xfrm>
              <a:off x="11071987" y="3591243"/>
              <a:ext cx="23622" cy="35433"/>
            </a:xfrm>
            <a:prstGeom prst="ellipse">
              <a:avLst/>
            </a:prstGeom>
            <a:solidFill>
              <a:srgbClr val="F2E7D1"/>
            </a:solidFill>
            <a:ln w="0">
              <a:noFill/>
              <a:prstDash val="solid"/>
            </a:ln>
          </p:spPr>
          <p:txBody>
            <a:bodyPr/>
            <a:lstStyle/>
            <a:p>
              <a:endParaRPr sz="1200"/>
            </a:p>
          </p:txBody>
        </p:sp>
        <p:sp>
          <p:nvSpPr>
            <p:cNvPr id="535" name="s4-brown-chicken__ellipse_535">
              <a:extLst>
                <a:ext uri="{FF2B5EF4-FFF2-40B4-BE49-F238E27FC236}">
                  <a16:creationId xmlns:a16="http://schemas.microsoft.com/office/drawing/2014/main" id="{5B282463-BEFC-440A-9014-D318CC61AE10}"/>
                </a:ext>
              </a:extLst>
            </p:cNvPr>
            <p:cNvSpPr>
              <a:spLocks/>
            </p:cNvSpPr>
            <p:nvPr/>
          </p:nvSpPr>
          <p:spPr>
            <a:xfrm>
              <a:off x="11054271" y="3561715"/>
              <a:ext cx="23622" cy="23621"/>
            </a:xfrm>
            <a:prstGeom prst="ellipse">
              <a:avLst/>
            </a:prstGeom>
            <a:solidFill>
              <a:srgbClr val="1F2B28"/>
            </a:solidFill>
            <a:ln w="0">
              <a:noFill/>
              <a:prstDash val="solid"/>
            </a:ln>
          </p:spPr>
          <p:txBody>
            <a:bodyPr/>
            <a:lstStyle/>
            <a:p>
              <a:endParaRPr sz="1200"/>
            </a:p>
          </p:txBody>
        </p:sp>
        <p:sp>
          <p:nvSpPr>
            <p:cNvPr id="536" name="s4-brown-chicken__ellipse_536">
              <a:extLst>
                <a:ext uri="{FF2B5EF4-FFF2-40B4-BE49-F238E27FC236}">
                  <a16:creationId xmlns:a16="http://schemas.microsoft.com/office/drawing/2014/main" id="{94A05350-1D83-4034-A8DC-3D14B9111D56}"/>
                </a:ext>
              </a:extLst>
            </p:cNvPr>
            <p:cNvSpPr>
              <a:spLocks/>
            </p:cNvSpPr>
            <p:nvPr/>
          </p:nvSpPr>
          <p:spPr>
            <a:xfrm>
              <a:off x="11066081" y="3562896"/>
              <a:ext cx="6496" cy="6495"/>
            </a:xfrm>
            <a:prstGeom prst="ellipse">
              <a:avLst/>
            </a:prstGeom>
            <a:solidFill>
              <a:srgbClr val="FFFFFF"/>
            </a:solidFill>
            <a:ln w="0">
              <a:noFill/>
              <a:prstDash val="solid"/>
            </a:ln>
          </p:spPr>
          <p:txBody>
            <a:bodyPr/>
            <a:lstStyle/>
            <a:p>
              <a:endParaRPr sz="1200"/>
            </a:p>
          </p:txBody>
        </p:sp>
        <p:sp>
          <p:nvSpPr>
            <p:cNvPr id="537" name="diagram__early-transition-hypothesis_537-source-anchor">
              <a:extLst>
                <a:ext uri="{FF2B5EF4-FFF2-40B4-BE49-F238E27FC236}">
                  <a16:creationId xmlns:a16="http://schemas.microsoft.com/office/drawing/2014/main" id="{08B28656-F694-4E68-9DC5-2B4A945A450F}"/>
                </a:ext>
              </a:extLst>
            </p:cNvPr>
            <p:cNvSpPr>
              <a:spLocks/>
            </p:cNvSpPr>
            <p:nvPr/>
          </p:nvSpPr>
          <p:spPr>
            <a:xfrm>
              <a:off x="2946400" y="2806700"/>
              <a:ext cx="12700" cy="12700"/>
            </a:xfrm>
            <a:prstGeom prst="rect">
              <a:avLst/>
            </a:prstGeom>
            <a:noFill/>
            <a:ln w="0">
              <a:noFill/>
            </a:ln>
          </p:spPr>
          <p:txBody>
            <a:bodyPr/>
            <a:lstStyle/>
            <a:p>
              <a:endParaRPr sz="1200"/>
            </a:p>
          </p:txBody>
        </p:sp>
        <p:sp>
          <p:nvSpPr>
            <p:cNvPr id="538" name="diagram__early-transition-hypothesis_537-destination-anchor">
              <a:extLst>
                <a:ext uri="{FF2B5EF4-FFF2-40B4-BE49-F238E27FC236}">
                  <a16:creationId xmlns:a16="http://schemas.microsoft.com/office/drawing/2014/main" id="{F943C18A-C808-49FA-8DDC-6330FF2EEAAC}"/>
                </a:ext>
              </a:extLst>
            </p:cNvPr>
            <p:cNvSpPr>
              <a:spLocks/>
            </p:cNvSpPr>
            <p:nvPr/>
          </p:nvSpPr>
          <p:spPr>
            <a:xfrm>
              <a:off x="3194050" y="2806700"/>
              <a:ext cx="12700" cy="12700"/>
            </a:xfrm>
            <a:prstGeom prst="rect">
              <a:avLst/>
            </a:prstGeom>
            <a:noFill/>
            <a:ln w="0">
              <a:noFill/>
            </a:ln>
          </p:spPr>
          <p:txBody>
            <a:bodyPr/>
            <a:lstStyle/>
            <a:p>
              <a:endParaRPr sz="1200"/>
            </a:p>
          </p:txBody>
        </p:sp>
        <p:sp>
          <p:nvSpPr>
            <p:cNvPr id="540" name="diagram__management-to-dispersal_538-source-anchor">
              <a:extLst>
                <a:ext uri="{FF2B5EF4-FFF2-40B4-BE49-F238E27FC236}">
                  <a16:creationId xmlns:a16="http://schemas.microsoft.com/office/drawing/2014/main" id="{FD407BC8-F1F7-4CF1-B5BC-3D2C3F73AB44}"/>
                </a:ext>
              </a:extLst>
            </p:cNvPr>
            <p:cNvSpPr>
              <a:spLocks/>
            </p:cNvSpPr>
            <p:nvPr/>
          </p:nvSpPr>
          <p:spPr>
            <a:xfrm>
              <a:off x="5772150" y="2806700"/>
              <a:ext cx="12700" cy="12700"/>
            </a:xfrm>
            <a:prstGeom prst="rect">
              <a:avLst/>
            </a:prstGeom>
            <a:noFill/>
            <a:ln w="0">
              <a:noFill/>
            </a:ln>
          </p:spPr>
          <p:txBody>
            <a:bodyPr/>
            <a:lstStyle/>
            <a:p>
              <a:endParaRPr sz="1200"/>
            </a:p>
          </p:txBody>
        </p:sp>
        <p:sp>
          <p:nvSpPr>
            <p:cNvPr id="541" name="diagram__management-to-dispersal_538-destination-anchor">
              <a:extLst>
                <a:ext uri="{FF2B5EF4-FFF2-40B4-BE49-F238E27FC236}">
                  <a16:creationId xmlns:a16="http://schemas.microsoft.com/office/drawing/2014/main" id="{F3130364-F3B0-4CF3-ACD8-EEFF07998B71}"/>
                </a:ext>
              </a:extLst>
            </p:cNvPr>
            <p:cNvSpPr>
              <a:spLocks/>
            </p:cNvSpPr>
            <p:nvPr/>
          </p:nvSpPr>
          <p:spPr>
            <a:xfrm>
              <a:off x="6019800" y="2806700"/>
              <a:ext cx="12700" cy="12700"/>
            </a:xfrm>
            <a:prstGeom prst="rect">
              <a:avLst/>
            </a:prstGeom>
            <a:noFill/>
            <a:ln w="0">
              <a:noFill/>
            </a:ln>
          </p:spPr>
          <p:txBody>
            <a:bodyPr/>
            <a:lstStyle/>
            <a:p>
              <a:endParaRPr sz="1200"/>
            </a:p>
          </p:txBody>
        </p:sp>
        <p:sp>
          <p:nvSpPr>
            <p:cNvPr id="543" name="diagram__dispersal-to-global-diversity_539-source-anchor">
              <a:extLst>
                <a:ext uri="{FF2B5EF4-FFF2-40B4-BE49-F238E27FC236}">
                  <a16:creationId xmlns:a16="http://schemas.microsoft.com/office/drawing/2014/main" id="{D243508E-2394-4A73-A2C1-1E25D8E69550}"/>
                </a:ext>
              </a:extLst>
            </p:cNvPr>
            <p:cNvSpPr>
              <a:spLocks/>
            </p:cNvSpPr>
            <p:nvPr/>
          </p:nvSpPr>
          <p:spPr>
            <a:xfrm>
              <a:off x="8883650" y="2806700"/>
              <a:ext cx="12700" cy="12700"/>
            </a:xfrm>
            <a:prstGeom prst="rect">
              <a:avLst/>
            </a:prstGeom>
            <a:noFill/>
            <a:ln w="0">
              <a:noFill/>
            </a:ln>
          </p:spPr>
          <p:txBody>
            <a:bodyPr/>
            <a:lstStyle/>
            <a:p>
              <a:endParaRPr sz="1200"/>
            </a:p>
          </p:txBody>
        </p:sp>
        <p:sp>
          <p:nvSpPr>
            <p:cNvPr id="544" name="diagram__dispersal-to-global-diversity_539-destination-anchor">
              <a:extLst>
                <a:ext uri="{FF2B5EF4-FFF2-40B4-BE49-F238E27FC236}">
                  <a16:creationId xmlns:a16="http://schemas.microsoft.com/office/drawing/2014/main" id="{FBDAA23B-2DE0-4D28-BDF8-E55F2430564A}"/>
                </a:ext>
              </a:extLst>
            </p:cNvPr>
            <p:cNvSpPr>
              <a:spLocks/>
            </p:cNvSpPr>
            <p:nvPr/>
          </p:nvSpPr>
          <p:spPr>
            <a:xfrm>
              <a:off x="9163050" y="2806700"/>
              <a:ext cx="12700" cy="12700"/>
            </a:xfrm>
            <a:prstGeom prst="rect">
              <a:avLst/>
            </a:prstGeom>
            <a:noFill/>
            <a:ln w="0">
              <a:noFill/>
            </a:ln>
          </p:spPr>
          <p:txBody>
            <a:bodyPr/>
            <a:lstStyle/>
            <a:p>
              <a:endParaRPr sz="1200"/>
            </a:p>
          </p:txBody>
        </p:sp>
        <p:sp>
          <p:nvSpPr>
            <p:cNvPr id="546" name="diagram__stage-1-caption_540">
              <a:extLst>
                <a:ext uri="{FF2B5EF4-FFF2-40B4-BE49-F238E27FC236}">
                  <a16:creationId xmlns:a16="http://schemas.microsoft.com/office/drawing/2014/main" id="{FBF02453-FED8-4697-AA23-97FEAF17CAE6}"/>
                </a:ext>
              </a:extLst>
            </p:cNvPr>
            <p:cNvSpPr>
              <a:spLocks/>
            </p:cNvSpPr>
            <p:nvPr/>
          </p:nvSpPr>
          <p:spPr>
            <a:xfrm>
              <a:off x="38100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农业改变食物与栖息环境</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可能促进原鸡反复接近聚落</a:t>
              </a:r>
            </a:p>
          </p:txBody>
        </p:sp>
        <p:sp>
          <p:nvSpPr>
            <p:cNvPr id="547" name="diagram__stage-2-caption_541">
              <a:extLst>
                <a:ext uri="{FF2B5EF4-FFF2-40B4-BE49-F238E27FC236}">
                  <a16:creationId xmlns:a16="http://schemas.microsoft.com/office/drawing/2014/main" id="{8314496C-F1BB-4F0B-BB88-FB6D5C48E210}"/>
                </a:ext>
              </a:extLst>
            </p:cNvPr>
            <p:cNvSpPr>
              <a:spLocks/>
            </p:cNvSpPr>
            <p:nvPr/>
          </p:nvSpPr>
          <p:spPr>
            <a:xfrm>
              <a:off x="320675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持续饲养与繁殖管理</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逐步适应人类环境</a:t>
              </a:r>
            </a:p>
          </p:txBody>
        </p:sp>
        <p:sp>
          <p:nvSpPr>
            <p:cNvPr id="548" name="diagram__stage-3-caption_542">
              <a:extLst>
                <a:ext uri="{FF2B5EF4-FFF2-40B4-BE49-F238E27FC236}">
                  <a16:creationId xmlns:a16="http://schemas.microsoft.com/office/drawing/2014/main" id="{A7E8C1E0-DE5B-4FF5-B2A0-836AC6287959}"/>
                </a:ext>
              </a:extLst>
            </p:cNvPr>
            <p:cNvSpPr>
              <a:spLocks/>
            </p:cNvSpPr>
            <p:nvPr/>
          </p:nvSpPr>
          <p:spPr>
            <a:xfrm>
              <a:off x="6032500" y="4489450"/>
              <a:ext cx="285750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迁移、贸易与引种</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鸡群混合与地方分化</a:t>
              </a:r>
            </a:p>
          </p:txBody>
        </p:sp>
        <p:sp>
          <p:nvSpPr>
            <p:cNvPr id="549" name="diagram__stage-4-caption_543">
              <a:extLst>
                <a:ext uri="{FF2B5EF4-FFF2-40B4-BE49-F238E27FC236}">
                  <a16:creationId xmlns:a16="http://schemas.microsoft.com/office/drawing/2014/main" id="{39787DB5-27E3-4E69-BF5C-4799DA4E0FF7}"/>
                </a:ext>
              </a:extLst>
            </p:cNvPr>
            <p:cNvSpPr>
              <a:spLocks/>
            </p:cNvSpPr>
            <p:nvPr/>
          </p:nvSpPr>
          <p:spPr>
            <a:xfrm>
              <a:off x="9175750" y="4489450"/>
              <a:ext cx="263525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持续引种与基因交流</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品种继续形成与分化</a:t>
              </a:r>
            </a:p>
          </p:txBody>
        </p:sp>
        <p:sp>
          <p:nvSpPr>
            <p:cNvPr id="550" name="shared-evolutionary-drivers__line_544">
              <a:extLst>
                <a:ext uri="{FF2B5EF4-FFF2-40B4-BE49-F238E27FC236}">
                  <a16:creationId xmlns:a16="http://schemas.microsoft.com/office/drawing/2014/main" id="{A30B4CF8-0538-436B-8968-0AC75654BD60}"/>
                </a:ext>
              </a:extLst>
            </p:cNvPr>
            <p:cNvSpPr>
              <a:spLocks/>
            </p:cNvSpPr>
            <p:nvPr/>
          </p:nvSpPr>
          <p:spPr>
            <a:xfrm>
              <a:off x="3270250" y="5422899"/>
              <a:ext cx="8540750" cy="63"/>
            </a:xfrm>
            <a:custGeom>
              <a:avLst/>
              <a:gdLst/>
              <a:ahLst/>
              <a:cxnLst/>
              <a:rect l="0" t="0" r="0" b="0"/>
              <a:pathLst>
                <a:path w="12811125" h="95">
                  <a:moveTo>
                    <a:pt x="0" y="0"/>
                  </a:moveTo>
                  <a:lnTo>
                    <a:pt x="12811125" y="0"/>
                  </a:lnTo>
                </a:path>
              </a:pathLst>
            </a:custGeom>
            <a:noFill/>
            <a:ln w="20955">
              <a:solidFill>
                <a:srgbClr val="A9BBB2"/>
              </a:solidFill>
              <a:prstDash val="solid"/>
            </a:ln>
          </p:spPr>
          <p:txBody>
            <a:bodyPr/>
            <a:lstStyle/>
            <a:p>
              <a:endParaRPr sz="1200"/>
            </a:p>
          </p:txBody>
        </p:sp>
        <p:sp>
          <p:nvSpPr>
            <p:cNvPr id="551" name="shared-evolutionary-drivers__driver-to-stage_545">
              <a:extLst>
                <a:ext uri="{FF2B5EF4-FFF2-40B4-BE49-F238E27FC236}">
                  <a16:creationId xmlns:a16="http://schemas.microsoft.com/office/drawing/2014/main" id="{9A5D16A7-663A-4663-ACC3-13349BABFC3D}"/>
                </a:ext>
              </a:extLst>
            </p:cNvPr>
            <p:cNvSpPr>
              <a:spLocks/>
            </p:cNvSpPr>
            <p:nvPr/>
          </p:nvSpPr>
          <p:spPr>
            <a:xfrm>
              <a:off x="44894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2" name="shared-evolutionary-drivers__driver-to-stage-tip_546">
              <a:extLst>
                <a:ext uri="{FF2B5EF4-FFF2-40B4-BE49-F238E27FC236}">
                  <a16:creationId xmlns:a16="http://schemas.microsoft.com/office/drawing/2014/main" id="{F7852F94-C4B9-4F73-9C21-5E50EB2F77F1}"/>
                </a:ext>
              </a:extLst>
            </p:cNvPr>
            <p:cNvSpPr>
              <a:spLocks/>
            </p:cNvSpPr>
            <p:nvPr/>
          </p:nvSpPr>
          <p:spPr>
            <a:xfrm>
              <a:off x="44531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3" name="shared-evolutionary-drivers__driver-to-stage_547">
              <a:extLst>
                <a:ext uri="{FF2B5EF4-FFF2-40B4-BE49-F238E27FC236}">
                  <a16:creationId xmlns:a16="http://schemas.microsoft.com/office/drawing/2014/main" id="{9701AA6D-D095-4E69-BF58-DC0A36172917}"/>
                </a:ext>
              </a:extLst>
            </p:cNvPr>
            <p:cNvSpPr>
              <a:spLocks/>
            </p:cNvSpPr>
            <p:nvPr/>
          </p:nvSpPr>
          <p:spPr>
            <a:xfrm>
              <a:off x="74612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4" name="shared-evolutionary-drivers__driver-to-stage-tip_548">
              <a:extLst>
                <a:ext uri="{FF2B5EF4-FFF2-40B4-BE49-F238E27FC236}">
                  <a16:creationId xmlns:a16="http://schemas.microsoft.com/office/drawing/2014/main" id="{73CDC72E-115B-49D4-A665-617E728A26BA}"/>
                </a:ext>
              </a:extLst>
            </p:cNvPr>
            <p:cNvSpPr>
              <a:spLocks/>
            </p:cNvSpPr>
            <p:nvPr/>
          </p:nvSpPr>
          <p:spPr>
            <a:xfrm>
              <a:off x="74249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5" name="shared-evolutionary-drivers__driver-to-stage_549">
              <a:extLst>
                <a:ext uri="{FF2B5EF4-FFF2-40B4-BE49-F238E27FC236}">
                  <a16:creationId xmlns:a16="http://schemas.microsoft.com/office/drawing/2014/main" id="{6F0C83B7-BD1E-476B-AD09-E0DFEE3F54E9}"/>
                </a:ext>
              </a:extLst>
            </p:cNvPr>
            <p:cNvSpPr>
              <a:spLocks/>
            </p:cNvSpPr>
            <p:nvPr/>
          </p:nvSpPr>
          <p:spPr>
            <a:xfrm>
              <a:off x="104965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6" name="shared-evolutionary-drivers__driver-to-stage-tip_550">
              <a:extLst>
                <a:ext uri="{FF2B5EF4-FFF2-40B4-BE49-F238E27FC236}">
                  <a16:creationId xmlns:a16="http://schemas.microsoft.com/office/drawing/2014/main" id="{7A35F6E9-B78B-4DA7-8FB6-2739A4CE3A3F}"/>
                </a:ext>
              </a:extLst>
            </p:cNvPr>
            <p:cNvSpPr>
              <a:spLocks/>
            </p:cNvSpPr>
            <p:nvPr/>
          </p:nvSpPr>
          <p:spPr>
            <a:xfrm>
              <a:off x="104602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7" name="diagram__shared-driver-label_551">
              <a:extLst>
                <a:ext uri="{FF2B5EF4-FFF2-40B4-BE49-F238E27FC236}">
                  <a16:creationId xmlns:a16="http://schemas.microsoft.com/office/drawing/2014/main" id="{3750F022-E960-4C4E-8A36-896EE012F63F}"/>
                </a:ext>
              </a:extLst>
            </p:cNvPr>
            <p:cNvSpPr>
              <a:spLocks/>
            </p:cNvSpPr>
            <p:nvPr/>
          </p:nvSpPr>
          <p:spPr>
            <a:xfrm>
              <a:off x="3206750" y="5588000"/>
              <a:ext cx="8604250" cy="323850"/>
            </a:xfrm>
            <a:prstGeom prst="rect">
              <a:avLst/>
            </a:prstGeom>
            <a:noFill/>
            <a:ln w="0">
              <a:noFill/>
            </a:ln>
          </p:spPr>
          <p:txBody>
            <a:bodyPr wrap="none" lIns="0" tIns="0" rIns="0" bIns="0" anchor="t">
              <a:noAutofit/>
            </a:bodyPr>
            <a:lstStyle>
              <a:defPPr algn="ctr">
                <a:defRPr sz="1500" b="1">
                  <a:solidFill>
                    <a:srgbClr val="253C3A"/>
                  </a:solidFill>
                  <a:latin typeface="Microsoft YaHei"/>
                  <a:ea typeface="Microsoft YaHei"/>
                  <a:cs typeface="Microsoft YaHei"/>
                </a:defRPr>
              </a:defPPr>
            </a:lstStyle>
            <a:p>
              <a:pPr algn="ctr">
                <a:lnSpc>
                  <a:spcPct val="116000"/>
                </a:lnSpc>
                <a:buNone/>
                <a:defRPr sz="1500" b="1">
                  <a:solidFill>
                    <a:srgbClr val="253C3A"/>
                  </a:solidFill>
                  <a:latin typeface="Microsoft YaHei"/>
                  <a:ea typeface="Microsoft YaHei"/>
                  <a:cs typeface="Microsoft YaHei"/>
                </a:defRPr>
              </a:pPr>
              <a:r>
                <a:rPr sz="1500" b="1">
                  <a:solidFill>
                    <a:srgbClr val="253C3A"/>
                  </a:solidFill>
                  <a:latin typeface="Microsoft YaHei"/>
                  <a:ea typeface="Microsoft YaHei"/>
                  <a:cs typeface="Microsoft YaHei"/>
                </a:rPr>
                <a:t>人工选择、自然选择与遗传漂变</a:t>
              </a:r>
            </a:p>
          </p:txBody>
        </p:sp>
        <p:sp>
          <p:nvSpPr>
            <p:cNvPr id="558" name="diagram__shared-driver-explanation_552">
              <a:extLst>
                <a:ext uri="{FF2B5EF4-FFF2-40B4-BE49-F238E27FC236}">
                  <a16:creationId xmlns:a16="http://schemas.microsoft.com/office/drawing/2014/main" id="{87916B09-F526-499C-B34F-FC1C9330020A}"/>
                </a:ext>
              </a:extLst>
            </p:cNvPr>
            <p:cNvSpPr>
              <a:spLocks/>
            </p:cNvSpPr>
            <p:nvPr/>
          </p:nvSpPr>
          <p:spPr>
            <a:xfrm>
              <a:off x="3206750" y="5911850"/>
              <a:ext cx="8604250" cy="266700"/>
            </a:xfrm>
            <a:prstGeom prst="rect">
              <a:avLst/>
            </a:prstGeom>
            <a:noFill/>
            <a:ln w="0">
              <a:noFill/>
            </a:ln>
          </p:spPr>
          <p:txBody>
            <a:bodyPr wrap="none" lIns="0" tIns="0" rIns="0" bIns="0" anchor="t">
              <a:noAutofit/>
            </a:bodyPr>
            <a:lstStyle>
              <a:defPPr algn="ctr">
                <a:defRPr sz="1200" b="0">
                  <a:solidFill>
                    <a:srgbClr val="60706D"/>
                  </a:solidFill>
                  <a:latin typeface="Microsoft YaHei"/>
                  <a:ea typeface="Microsoft YaHei"/>
                  <a:cs typeface="Microsoft YaHei"/>
                </a:defRPr>
              </a:defPPr>
            </a:lstStyle>
            <a:p>
              <a:pPr algn="ctr">
                <a:lnSpc>
                  <a:spcPct val="116000"/>
                </a:lnSpc>
                <a:buNone/>
                <a:defRPr sz="1200" b="0">
                  <a:solidFill>
                    <a:srgbClr val="60706D"/>
                  </a:solidFill>
                  <a:latin typeface="Microsoft YaHei"/>
                  <a:ea typeface="Microsoft YaHei"/>
                  <a:cs typeface="Microsoft YaHei"/>
                </a:defRPr>
              </a:pPr>
              <a:r>
                <a:rPr sz="1200">
                  <a:solidFill>
                    <a:srgbClr val="60706D"/>
                  </a:solidFill>
                  <a:latin typeface="Microsoft YaHei"/>
                  <a:ea typeface="Microsoft YaHei"/>
                  <a:cs typeface="Microsoft YaHei"/>
                </a:rPr>
                <a:t>持续影响行为、生长、繁殖性状与群体组成</a:t>
              </a:r>
            </a:p>
          </p:txBody>
        </p:sp>
        <p:sp>
          <p:nvSpPr>
            <p:cNvPr id="559" name="diagram__legend-rule_553">
              <a:extLst>
                <a:ext uri="{FF2B5EF4-FFF2-40B4-BE49-F238E27FC236}">
                  <a16:creationId xmlns:a16="http://schemas.microsoft.com/office/drawing/2014/main" id="{95533B7E-C502-4280-AF4A-C32EF48DCD36}"/>
                </a:ext>
              </a:extLst>
            </p:cNvPr>
            <p:cNvSpPr>
              <a:spLocks/>
            </p:cNvSpPr>
            <p:nvPr/>
          </p:nvSpPr>
          <p:spPr>
            <a:xfrm>
              <a:off x="381000" y="6299201"/>
              <a:ext cx="11430000" cy="63"/>
            </a:xfrm>
            <a:custGeom>
              <a:avLst/>
              <a:gdLst/>
              <a:ahLst/>
              <a:cxnLst/>
              <a:rect l="0" t="0" r="0" b="0"/>
              <a:pathLst>
                <a:path w="17145000" h="95">
                  <a:moveTo>
                    <a:pt x="0" y="0"/>
                  </a:moveTo>
                  <a:lnTo>
                    <a:pt x="17145000" y="0"/>
                  </a:lnTo>
                </a:path>
              </a:pathLst>
            </a:custGeom>
            <a:noFill/>
            <a:ln w="11430">
              <a:solidFill>
                <a:srgbClr val="D6DEDA"/>
              </a:solidFill>
              <a:prstDash val="solid"/>
            </a:ln>
          </p:spPr>
          <p:txBody>
            <a:bodyPr/>
            <a:lstStyle/>
            <a:p>
              <a:endParaRPr sz="1200"/>
            </a:p>
          </p:txBody>
        </p:sp>
        <p:sp>
          <p:nvSpPr>
            <p:cNvPr id="560" name="diagram__evidence-note_554">
              <a:extLst>
                <a:ext uri="{FF2B5EF4-FFF2-40B4-BE49-F238E27FC236}">
                  <a16:creationId xmlns:a16="http://schemas.microsoft.com/office/drawing/2014/main" id="{D11B0229-DF7A-44E1-A457-43AF8170115F}"/>
                </a:ext>
              </a:extLst>
            </p:cNvPr>
            <p:cNvSpPr>
              <a:spLocks/>
            </p:cNvSpPr>
            <p:nvPr/>
          </p:nvSpPr>
          <p:spPr>
            <a:xfrm>
              <a:off x="381000" y="6419850"/>
              <a:ext cx="11430000" cy="304800"/>
            </a:xfrm>
            <a:prstGeom prst="rect">
              <a:avLst/>
            </a:prstGeom>
            <a:noFill/>
            <a:ln w="0">
              <a:noFill/>
            </a:ln>
          </p:spPr>
          <p:txBody>
            <a:bodyPr wrap="none" lIns="0" tIns="0" rIns="0" bIns="0" anchor="t">
              <a:noAutofit/>
            </a:bodyPr>
            <a:lstStyle>
              <a:defPPr algn="l">
                <a:defRPr sz="1125" b="0">
                  <a:solidFill>
                    <a:srgbClr val="627470"/>
                  </a:solidFill>
                  <a:latin typeface="Microsoft YaHei"/>
                  <a:ea typeface="Microsoft YaHei"/>
                  <a:cs typeface="Microsoft YaHei"/>
                </a:defRPr>
              </a:defPPr>
            </a:lstStyle>
            <a:p>
              <a:pPr algn="l">
                <a:lnSpc>
                  <a:spcPct val="116000"/>
                </a:lnSpc>
                <a:buNone/>
                <a:defRPr sz="1125" b="0">
                  <a:solidFill>
                    <a:srgbClr val="627470"/>
                  </a:solidFill>
                  <a:latin typeface="Microsoft YaHei"/>
                  <a:ea typeface="Microsoft YaHei"/>
                  <a:cs typeface="Microsoft YaHei"/>
                </a:defRPr>
              </a:pPr>
              <a:r>
                <a:rPr sz="1125" b="0">
                  <a:solidFill>
                    <a:srgbClr val="627470"/>
                  </a:solidFill>
                  <a:latin typeface="Microsoft YaHei"/>
                  <a:ea typeface="Microsoft YaHei"/>
                  <a:cs typeface="Microsoft YaHei"/>
                </a:rPr>
                <a:t>各过程可相互重叠，不表示统一的年代分期。野生原鸡的局部渗入涉及部分鸡群。</a:t>
              </a:r>
            </a:p>
          </p:txBody>
        </p:sp>
      </p:grpSp>
    </p:spTree>
    <p:extLst>
      <p:ext uri="{BB962C8B-B14F-4D97-AF65-F5344CB8AC3E}">
        <p14:creationId xmlns:p14="http://schemas.microsoft.com/office/powerpoint/2010/main" val="3520276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9" name="Fig1_2_editable_figure">
            <a:extLst>
              <a:ext uri="{FF2B5EF4-FFF2-40B4-BE49-F238E27FC236}">
                <a16:creationId xmlns:a16="http://schemas.microsoft.com/office/drawing/2014/main" id="{1A28C60F-7919-19E1-F303-0EFD37D54387}"/>
              </a:ext>
            </a:extLst>
          </p:cNvPr>
          <p:cNvGrpSpPr>
            <a:grpSpLocks noChangeAspect="1"/>
          </p:cNvGrpSpPr>
          <p:nvPr/>
        </p:nvGrpSpPr>
        <p:grpSpPr>
          <a:xfrm>
            <a:off x="381000" y="787401"/>
            <a:ext cx="11434279" cy="5937249"/>
            <a:chOff x="381000" y="787401"/>
            <a:chExt cx="11434279" cy="5937249"/>
          </a:xfrm>
        </p:grpSpPr>
        <p:sp>
          <p:nvSpPr>
            <p:cNvPr id="2" name="diagram__line_2">
              <a:extLst>
                <a:ext uri="{FF2B5EF4-FFF2-40B4-BE49-F238E27FC236}">
                  <a16:creationId xmlns:a16="http://schemas.microsoft.com/office/drawing/2014/main" id="{FA41A02B-5A50-4617-8318-799CB683284D}"/>
                </a:ext>
              </a:extLst>
            </p:cNvPr>
            <p:cNvSpPr>
              <a:spLocks/>
            </p:cNvSpPr>
            <p:nvPr/>
          </p:nvSpPr>
          <p:spPr>
            <a:xfrm>
              <a:off x="381000" y="787401"/>
              <a:ext cx="11430000" cy="63"/>
            </a:xfrm>
            <a:custGeom>
              <a:avLst/>
              <a:gdLst/>
              <a:ahLst/>
              <a:cxnLst/>
              <a:rect l="0" t="0" r="0" b="0"/>
              <a:pathLst>
                <a:path w="17145000" h="95">
                  <a:moveTo>
                    <a:pt x="0" y="0"/>
                  </a:moveTo>
                  <a:lnTo>
                    <a:pt x="17145000" y="0"/>
                  </a:lnTo>
                </a:path>
              </a:pathLst>
            </a:custGeom>
            <a:noFill/>
            <a:ln w="14288">
              <a:solidFill>
                <a:srgbClr val="D6DEDA"/>
              </a:solidFill>
              <a:prstDash val="solid"/>
            </a:ln>
          </p:spPr>
          <p:txBody>
            <a:bodyPr/>
            <a:lstStyle/>
            <a:p>
              <a:endParaRPr sz="1200"/>
            </a:p>
          </p:txBody>
        </p:sp>
        <p:sp>
          <p:nvSpPr>
            <p:cNvPr id="3" name="diagram__stage-1-number_3">
              <a:extLst>
                <a:ext uri="{FF2B5EF4-FFF2-40B4-BE49-F238E27FC236}">
                  <a16:creationId xmlns:a16="http://schemas.microsoft.com/office/drawing/2014/main" id="{49860A7D-2961-436B-9D9D-7162EFD3E1DE}"/>
                </a:ext>
              </a:extLst>
            </p:cNvPr>
            <p:cNvSpPr>
              <a:spLocks/>
            </p:cNvSpPr>
            <p:nvPr/>
          </p:nvSpPr>
          <p:spPr>
            <a:xfrm>
              <a:off x="381000" y="1060450"/>
              <a:ext cx="298450" cy="368300"/>
            </a:xfrm>
            <a:prstGeom prst="rect">
              <a:avLst/>
            </a:prstGeom>
            <a:noFill/>
            <a:ln w="0">
              <a:noFill/>
            </a:ln>
          </p:spPr>
          <p:txBody>
            <a:bodyPr wrap="none" lIns="0" tIns="0" rIns="0" bIns="0" anchor="t">
              <a:noAutofit/>
            </a:bodyPr>
            <a:lstStyle>
              <a:defPPr algn="l">
                <a:defRPr sz="2175" b="1">
                  <a:solidFill>
                    <a:srgbClr val="547F62"/>
                  </a:solidFill>
                  <a:latin typeface="Arial"/>
                  <a:ea typeface="Arial"/>
                  <a:cs typeface="Arial"/>
                </a:defRPr>
              </a:defPPr>
            </a:lstStyle>
            <a:p>
              <a:pPr algn="l">
                <a:lnSpc>
                  <a:spcPct val="116000"/>
                </a:lnSpc>
                <a:buNone/>
                <a:defRPr sz="2175" b="1">
                  <a:solidFill>
                    <a:srgbClr val="547F62"/>
                  </a:solidFill>
                  <a:latin typeface="Arial"/>
                  <a:ea typeface="Arial"/>
                  <a:cs typeface="Arial"/>
                </a:defRPr>
              </a:pPr>
              <a:r>
                <a:rPr sz="1450" b="1">
                  <a:solidFill>
                    <a:srgbClr val="547F62"/>
                  </a:solidFill>
                  <a:latin typeface="Arial"/>
                  <a:ea typeface="Arial"/>
                  <a:cs typeface="Arial"/>
                </a:rPr>
                <a:t>01</a:t>
              </a:r>
            </a:p>
          </p:txBody>
        </p:sp>
        <p:sp>
          <p:nvSpPr>
            <p:cNvPr id="4" name="diagram__stage-1-heading_4">
              <a:extLst>
                <a:ext uri="{FF2B5EF4-FFF2-40B4-BE49-F238E27FC236}">
                  <a16:creationId xmlns:a16="http://schemas.microsoft.com/office/drawing/2014/main" id="{7CDEC842-D78C-4361-80BC-07D4414CEB5D}"/>
                </a:ext>
              </a:extLst>
            </p:cNvPr>
            <p:cNvSpPr>
              <a:spLocks/>
            </p:cNvSpPr>
            <p:nvPr/>
          </p:nvSpPr>
          <p:spPr>
            <a:xfrm>
              <a:off x="730250" y="1009650"/>
              <a:ext cx="222250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Agriculture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commensalism</a:t>
              </a:r>
            </a:p>
          </p:txBody>
        </p:sp>
        <p:sp>
          <p:nvSpPr>
            <p:cNvPr id="5" name="diagram__stage-1-rule_5">
              <a:extLst>
                <a:ext uri="{FF2B5EF4-FFF2-40B4-BE49-F238E27FC236}">
                  <a16:creationId xmlns:a16="http://schemas.microsoft.com/office/drawing/2014/main" id="{C5299A12-2221-43EB-8A8C-2DBF6F1CA866}"/>
                </a:ext>
              </a:extLst>
            </p:cNvPr>
            <p:cNvSpPr>
              <a:spLocks/>
            </p:cNvSpPr>
            <p:nvPr/>
          </p:nvSpPr>
          <p:spPr>
            <a:xfrm>
              <a:off x="381000" y="1581151"/>
              <a:ext cx="2571750" cy="63"/>
            </a:xfrm>
            <a:custGeom>
              <a:avLst/>
              <a:gdLst/>
              <a:ahLst/>
              <a:cxnLst/>
              <a:rect l="0" t="0" r="0" b="0"/>
              <a:pathLst>
                <a:path w="3857625" h="95">
                  <a:moveTo>
                    <a:pt x="0" y="0"/>
                  </a:moveTo>
                  <a:lnTo>
                    <a:pt x="3857625" y="0"/>
                  </a:lnTo>
                </a:path>
              </a:pathLst>
            </a:custGeom>
            <a:noFill/>
            <a:ln w="28575">
              <a:solidFill>
                <a:srgbClr val="547F62"/>
              </a:solidFill>
              <a:prstDash val="solid"/>
            </a:ln>
          </p:spPr>
          <p:txBody>
            <a:bodyPr/>
            <a:lstStyle/>
            <a:p>
              <a:endParaRPr sz="1200"/>
            </a:p>
          </p:txBody>
        </p:sp>
        <p:sp>
          <p:nvSpPr>
            <p:cNvPr id="6" name="diagram__stage-2-number_6">
              <a:extLst>
                <a:ext uri="{FF2B5EF4-FFF2-40B4-BE49-F238E27FC236}">
                  <a16:creationId xmlns:a16="http://schemas.microsoft.com/office/drawing/2014/main" id="{97CB39BB-876F-4ACD-AEAC-FFD8261E8F64}"/>
                </a:ext>
              </a:extLst>
            </p:cNvPr>
            <p:cNvSpPr>
              <a:spLocks/>
            </p:cNvSpPr>
            <p:nvPr/>
          </p:nvSpPr>
          <p:spPr>
            <a:xfrm>
              <a:off x="3206750" y="1060450"/>
              <a:ext cx="298450" cy="368300"/>
            </a:xfrm>
            <a:prstGeom prst="rect">
              <a:avLst/>
            </a:prstGeom>
            <a:noFill/>
            <a:ln w="0">
              <a:noFill/>
            </a:ln>
          </p:spPr>
          <p:txBody>
            <a:bodyPr wrap="none" lIns="0" tIns="0" rIns="0" bIns="0" anchor="t">
              <a:noAutofit/>
            </a:bodyPr>
            <a:lstStyle>
              <a:defPPr algn="l">
                <a:defRPr sz="2175" b="1">
                  <a:solidFill>
                    <a:srgbClr val="AC7941"/>
                  </a:solidFill>
                  <a:latin typeface="Arial"/>
                  <a:ea typeface="Arial"/>
                  <a:cs typeface="Arial"/>
                </a:defRPr>
              </a:defPPr>
            </a:lstStyle>
            <a:p>
              <a:pPr algn="l">
                <a:lnSpc>
                  <a:spcPct val="116000"/>
                </a:lnSpc>
                <a:buNone/>
                <a:defRPr sz="2175" b="1">
                  <a:solidFill>
                    <a:srgbClr val="AC7941"/>
                  </a:solidFill>
                  <a:latin typeface="Arial"/>
                  <a:ea typeface="Arial"/>
                  <a:cs typeface="Arial"/>
                </a:defRPr>
              </a:pPr>
              <a:r>
                <a:rPr sz="1450" b="1">
                  <a:solidFill>
                    <a:srgbClr val="AC7941"/>
                  </a:solidFill>
                  <a:latin typeface="Arial"/>
                  <a:ea typeface="Arial"/>
                  <a:cs typeface="Arial"/>
                </a:rPr>
                <a:t>02</a:t>
              </a:r>
            </a:p>
          </p:txBody>
        </p:sp>
        <p:sp>
          <p:nvSpPr>
            <p:cNvPr id="7" name="diagram__stage-2-heading_7">
              <a:extLst>
                <a:ext uri="{FF2B5EF4-FFF2-40B4-BE49-F238E27FC236}">
                  <a16:creationId xmlns:a16="http://schemas.microsoft.com/office/drawing/2014/main" id="{031F01D4-1482-4480-87A8-F0C4D983C259}"/>
                </a:ext>
              </a:extLst>
            </p:cNvPr>
            <p:cNvSpPr>
              <a:spLocks/>
            </p:cNvSpPr>
            <p:nvPr/>
          </p:nvSpPr>
          <p:spPr>
            <a:xfrm>
              <a:off x="3556000" y="1009650"/>
              <a:ext cx="222250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Management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domestication</a:t>
              </a:r>
            </a:p>
          </p:txBody>
        </p:sp>
        <p:sp>
          <p:nvSpPr>
            <p:cNvPr id="8" name="diagram__stage-2-rule_8">
              <a:extLst>
                <a:ext uri="{FF2B5EF4-FFF2-40B4-BE49-F238E27FC236}">
                  <a16:creationId xmlns:a16="http://schemas.microsoft.com/office/drawing/2014/main" id="{15CF57A6-0C90-445D-85A6-1E7FEC20AE46}"/>
                </a:ext>
              </a:extLst>
            </p:cNvPr>
            <p:cNvSpPr>
              <a:spLocks/>
            </p:cNvSpPr>
            <p:nvPr/>
          </p:nvSpPr>
          <p:spPr>
            <a:xfrm>
              <a:off x="3206750" y="1581151"/>
              <a:ext cx="2571750" cy="63"/>
            </a:xfrm>
            <a:custGeom>
              <a:avLst/>
              <a:gdLst/>
              <a:ahLst/>
              <a:cxnLst/>
              <a:rect l="0" t="0" r="0" b="0"/>
              <a:pathLst>
                <a:path w="3857625" h="95">
                  <a:moveTo>
                    <a:pt x="0" y="0"/>
                  </a:moveTo>
                  <a:lnTo>
                    <a:pt x="3857625" y="0"/>
                  </a:lnTo>
                </a:path>
              </a:pathLst>
            </a:custGeom>
            <a:noFill/>
            <a:ln w="28575">
              <a:solidFill>
                <a:srgbClr val="AC7941"/>
              </a:solidFill>
              <a:prstDash val="solid"/>
            </a:ln>
          </p:spPr>
          <p:txBody>
            <a:bodyPr/>
            <a:lstStyle/>
            <a:p>
              <a:endParaRPr sz="1200"/>
            </a:p>
          </p:txBody>
        </p:sp>
        <p:sp>
          <p:nvSpPr>
            <p:cNvPr id="9" name="diagram__stage-3-number_9">
              <a:extLst>
                <a:ext uri="{FF2B5EF4-FFF2-40B4-BE49-F238E27FC236}">
                  <a16:creationId xmlns:a16="http://schemas.microsoft.com/office/drawing/2014/main" id="{1077A005-AF3F-4DB3-8934-3D7812FB9D2C}"/>
                </a:ext>
              </a:extLst>
            </p:cNvPr>
            <p:cNvSpPr>
              <a:spLocks/>
            </p:cNvSpPr>
            <p:nvPr/>
          </p:nvSpPr>
          <p:spPr>
            <a:xfrm>
              <a:off x="6032500" y="1060450"/>
              <a:ext cx="298450" cy="368300"/>
            </a:xfrm>
            <a:prstGeom prst="rect">
              <a:avLst/>
            </a:prstGeom>
            <a:noFill/>
            <a:ln w="0">
              <a:noFill/>
            </a:ln>
          </p:spPr>
          <p:txBody>
            <a:bodyPr wrap="none" lIns="0" tIns="0" rIns="0" bIns="0" anchor="t">
              <a:noAutofit/>
            </a:bodyPr>
            <a:lstStyle>
              <a:defPPr algn="l">
                <a:defRPr sz="2175" b="1">
                  <a:solidFill>
                    <a:srgbClr val="547D93"/>
                  </a:solidFill>
                  <a:latin typeface="Arial"/>
                  <a:ea typeface="Arial"/>
                  <a:cs typeface="Arial"/>
                </a:defRPr>
              </a:defPPr>
            </a:lstStyle>
            <a:p>
              <a:pPr algn="l">
                <a:lnSpc>
                  <a:spcPct val="116000"/>
                </a:lnSpc>
                <a:buNone/>
                <a:defRPr sz="2175" b="1">
                  <a:solidFill>
                    <a:srgbClr val="547D93"/>
                  </a:solidFill>
                  <a:latin typeface="Arial"/>
                  <a:ea typeface="Arial"/>
                  <a:cs typeface="Arial"/>
                </a:defRPr>
              </a:pPr>
              <a:r>
                <a:rPr sz="1450" b="1">
                  <a:solidFill>
                    <a:srgbClr val="547D93"/>
                  </a:solidFill>
                  <a:latin typeface="Arial"/>
                  <a:ea typeface="Arial"/>
                  <a:cs typeface="Arial"/>
                </a:rPr>
                <a:t>03</a:t>
              </a:r>
            </a:p>
          </p:txBody>
        </p:sp>
        <p:sp>
          <p:nvSpPr>
            <p:cNvPr id="10" name="diagram__stage-3-heading_10">
              <a:extLst>
                <a:ext uri="{FF2B5EF4-FFF2-40B4-BE49-F238E27FC236}">
                  <a16:creationId xmlns:a16="http://schemas.microsoft.com/office/drawing/2014/main" id="{19A70982-D89E-4496-B593-08E56BC487E2}"/>
                </a:ext>
              </a:extLst>
            </p:cNvPr>
            <p:cNvSpPr>
              <a:spLocks/>
            </p:cNvSpPr>
            <p:nvPr/>
          </p:nvSpPr>
          <p:spPr>
            <a:xfrm>
              <a:off x="6381750" y="1009650"/>
              <a:ext cx="250825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Dispersal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local diversification</a:t>
              </a:r>
            </a:p>
          </p:txBody>
        </p:sp>
        <p:sp>
          <p:nvSpPr>
            <p:cNvPr id="11" name="diagram__stage-3-rule_11">
              <a:extLst>
                <a:ext uri="{FF2B5EF4-FFF2-40B4-BE49-F238E27FC236}">
                  <a16:creationId xmlns:a16="http://schemas.microsoft.com/office/drawing/2014/main" id="{462D5D4C-2A53-4269-8553-1EAE9ED0C250}"/>
                </a:ext>
              </a:extLst>
            </p:cNvPr>
            <p:cNvSpPr>
              <a:spLocks/>
            </p:cNvSpPr>
            <p:nvPr/>
          </p:nvSpPr>
          <p:spPr>
            <a:xfrm>
              <a:off x="6032500" y="1581151"/>
              <a:ext cx="2857500" cy="63"/>
            </a:xfrm>
            <a:custGeom>
              <a:avLst/>
              <a:gdLst/>
              <a:ahLst/>
              <a:cxnLst/>
              <a:rect l="0" t="0" r="0" b="0"/>
              <a:pathLst>
                <a:path w="4286250" h="95">
                  <a:moveTo>
                    <a:pt x="0" y="0"/>
                  </a:moveTo>
                  <a:lnTo>
                    <a:pt x="4286250" y="0"/>
                  </a:lnTo>
                </a:path>
              </a:pathLst>
            </a:custGeom>
            <a:noFill/>
            <a:ln w="28575">
              <a:solidFill>
                <a:srgbClr val="547D93"/>
              </a:solidFill>
              <a:prstDash val="solid"/>
            </a:ln>
          </p:spPr>
          <p:txBody>
            <a:bodyPr/>
            <a:lstStyle/>
            <a:p>
              <a:endParaRPr sz="1200"/>
            </a:p>
          </p:txBody>
        </p:sp>
        <p:sp>
          <p:nvSpPr>
            <p:cNvPr id="12" name="diagram__stage-4-number_12">
              <a:extLst>
                <a:ext uri="{FF2B5EF4-FFF2-40B4-BE49-F238E27FC236}">
                  <a16:creationId xmlns:a16="http://schemas.microsoft.com/office/drawing/2014/main" id="{1251C28E-E29D-491C-8428-600940FE062E}"/>
                </a:ext>
              </a:extLst>
            </p:cNvPr>
            <p:cNvSpPr>
              <a:spLocks/>
            </p:cNvSpPr>
            <p:nvPr/>
          </p:nvSpPr>
          <p:spPr>
            <a:xfrm>
              <a:off x="9175750" y="1060450"/>
              <a:ext cx="298450" cy="368300"/>
            </a:xfrm>
            <a:prstGeom prst="rect">
              <a:avLst/>
            </a:prstGeom>
            <a:noFill/>
            <a:ln w="0">
              <a:noFill/>
            </a:ln>
          </p:spPr>
          <p:txBody>
            <a:bodyPr wrap="none" lIns="0" tIns="0" rIns="0" bIns="0" anchor="t">
              <a:noAutofit/>
            </a:bodyPr>
            <a:lstStyle>
              <a:defPPr algn="l">
                <a:defRPr sz="2175" b="1">
                  <a:solidFill>
                    <a:srgbClr val="846786"/>
                  </a:solidFill>
                  <a:latin typeface="Arial"/>
                  <a:ea typeface="Arial"/>
                  <a:cs typeface="Arial"/>
                </a:defRPr>
              </a:defPPr>
            </a:lstStyle>
            <a:p>
              <a:pPr algn="l">
                <a:lnSpc>
                  <a:spcPct val="116000"/>
                </a:lnSpc>
                <a:buNone/>
                <a:defRPr sz="2175" b="1">
                  <a:solidFill>
                    <a:srgbClr val="846786"/>
                  </a:solidFill>
                  <a:latin typeface="Arial"/>
                  <a:ea typeface="Arial"/>
                  <a:cs typeface="Arial"/>
                </a:defRPr>
              </a:pPr>
              <a:r>
                <a:rPr sz="1450" b="1">
                  <a:solidFill>
                    <a:srgbClr val="846786"/>
                  </a:solidFill>
                  <a:latin typeface="Arial"/>
                  <a:ea typeface="Arial"/>
                  <a:cs typeface="Arial"/>
                </a:rPr>
                <a:t>04</a:t>
              </a:r>
            </a:p>
          </p:txBody>
        </p:sp>
        <p:sp>
          <p:nvSpPr>
            <p:cNvPr id="13" name="diagram__stage-4-heading_13">
              <a:extLst>
                <a:ext uri="{FF2B5EF4-FFF2-40B4-BE49-F238E27FC236}">
                  <a16:creationId xmlns:a16="http://schemas.microsoft.com/office/drawing/2014/main" id="{0ECB9689-2FE2-47DA-A652-45F09CBB6DEA}"/>
                </a:ext>
              </a:extLst>
            </p:cNvPr>
            <p:cNvSpPr>
              <a:spLocks/>
            </p:cNvSpPr>
            <p:nvPr/>
          </p:nvSpPr>
          <p:spPr>
            <a:xfrm>
              <a:off x="9525000" y="1009650"/>
              <a:ext cx="228600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Global distribution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ongoing evolution</a:t>
              </a:r>
            </a:p>
          </p:txBody>
        </p:sp>
        <p:sp>
          <p:nvSpPr>
            <p:cNvPr id="14" name="diagram__stage-4-rule_14">
              <a:extLst>
                <a:ext uri="{FF2B5EF4-FFF2-40B4-BE49-F238E27FC236}">
                  <a16:creationId xmlns:a16="http://schemas.microsoft.com/office/drawing/2014/main" id="{68334342-C175-4A11-94BF-BCF3CB86ACD8}"/>
                </a:ext>
              </a:extLst>
            </p:cNvPr>
            <p:cNvSpPr>
              <a:spLocks/>
            </p:cNvSpPr>
            <p:nvPr/>
          </p:nvSpPr>
          <p:spPr>
            <a:xfrm>
              <a:off x="9175750" y="1581151"/>
              <a:ext cx="2635250" cy="63"/>
            </a:xfrm>
            <a:custGeom>
              <a:avLst/>
              <a:gdLst/>
              <a:ahLst/>
              <a:cxnLst/>
              <a:rect l="0" t="0" r="0" b="0"/>
              <a:pathLst>
                <a:path w="3952875" h="95">
                  <a:moveTo>
                    <a:pt x="0" y="0"/>
                  </a:moveTo>
                  <a:lnTo>
                    <a:pt x="3952875" y="0"/>
                  </a:lnTo>
                </a:path>
              </a:pathLst>
            </a:custGeom>
            <a:noFill/>
            <a:ln w="28575">
              <a:solidFill>
                <a:srgbClr val="846786"/>
              </a:solidFill>
              <a:prstDash val="solid"/>
            </a:ln>
          </p:spPr>
          <p:txBody>
            <a:bodyPr/>
            <a:lstStyle/>
            <a:p>
              <a:endParaRPr sz="1200"/>
            </a:p>
          </p:txBody>
        </p:sp>
        <p:sp>
          <p:nvSpPr>
            <p:cNvPr id="15" name="s1-ground__ellipse_15">
              <a:extLst>
                <a:ext uri="{FF2B5EF4-FFF2-40B4-BE49-F238E27FC236}">
                  <a16:creationId xmlns:a16="http://schemas.microsoft.com/office/drawing/2014/main" id="{F3C53ED4-50E8-47E5-985E-4B502B3BEB9F}"/>
                </a:ext>
              </a:extLst>
            </p:cNvPr>
            <p:cNvSpPr>
              <a:spLocks/>
            </p:cNvSpPr>
            <p:nvPr/>
          </p:nvSpPr>
          <p:spPr>
            <a:xfrm>
              <a:off x="412750" y="3422650"/>
              <a:ext cx="2476500" cy="711200"/>
            </a:xfrm>
            <a:prstGeom prst="ellipse">
              <a:avLst/>
            </a:prstGeom>
            <a:solidFill>
              <a:srgbClr val="E9EFDE"/>
            </a:solidFill>
            <a:ln w="0">
              <a:noFill/>
              <a:prstDash val="solid"/>
            </a:ln>
          </p:spPr>
          <p:txBody>
            <a:bodyPr/>
            <a:lstStyle/>
            <a:p>
              <a:endParaRPr sz="1200"/>
            </a:p>
          </p:txBody>
        </p:sp>
        <p:sp>
          <p:nvSpPr>
            <p:cNvPr id="16" name="s1-ground__path_16">
              <a:extLst>
                <a:ext uri="{FF2B5EF4-FFF2-40B4-BE49-F238E27FC236}">
                  <a16:creationId xmlns:a16="http://schemas.microsoft.com/office/drawing/2014/main" id="{1907946F-AB47-4D8F-8DD5-9DBF56080DB4}"/>
                </a:ext>
              </a:extLst>
            </p:cNvPr>
            <p:cNvSpPr>
              <a:spLocks/>
            </p:cNvSpPr>
            <p:nvPr/>
          </p:nvSpPr>
          <p:spPr>
            <a:xfrm>
              <a:off x="1250950" y="2482850"/>
              <a:ext cx="1593850" cy="914400"/>
            </a:xfrm>
            <a:custGeom>
              <a:avLst/>
              <a:gdLst/>
              <a:ahLst/>
              <a:cxnLst/>
              <a:rect l="0" t="0" r="0" b="0"/>
              <a:pathLst>
                <a:path w="2390775" h="1371600">
                  <a:moveTo>
                    <a:pt x="419100" y="0"/>
                  </a:moveTo>
                  <a:lnTo>
                    <a:pt x="2390775" y="457200"/>
                  </a:lnTo>
                  <a:lnTo>
                    <a:pt x="1714500" y="1371600"/>
                  </a:lnTo>
                  <a:lnTo>
                    <a:pt x="0" y="809625"/>
                  </a:lnTo>
                  <a:close/>
                </a:path>
              </a:pathLst>
            </a:custGeom>
            <a:solidFill>
              <a:srgbClr val="D8D8A8"/>
            </a:solidFill>
            <a:ln w="11430">
              <a:solidFill>
                <a:srgbClr val="B5BA8A"/>
              </a:solidFill>
              <a:prstDash val="solid"/>
            </a:ln>
          </p:spPr>
          <p:txBody>
            <a:bodyPr/>
            <a:lstStyle/>
            <a:p>
              <a:endParaRPr sz="1200"/>
            </a:p>
          </p:txBody>
        </p:sp>
        <p:sp>
          <p:nvSpPr>
            <p:cNvPr id="17" name="s1-ground__line_17">
              <a:extLst>
                <a:ext uri="{FF2B5EF4-FFF2-40B4-BE49-F238E27FC236}">
                  <a16:creationId xmlns:a16="http://schemas.microsoft.com/office/drawing/2014/main" id="{ADD780C4-6E2B-48DA-8F42-57440D963DCC}"/>
                </a:ext>
              </a:extLst>
            </p:cNvPr>
            <p:cNvSpPr>
              <a:spLocks/>
            </p:cNvSpPr>
            <p:nvPr/>
          </p:nvSpPr>
          <p:spPr>
            <a:xfrm>
              <a:off x="1339850" y="2552700"/>
              <a:ext cx="190500" cy="488950"/>
            </a:xfrm>
            <a:custGeom>
              <a:avLst/>
              <a:gdLst/>
              <a:ahLst/>
              <a:cxnLst/>
              <a:rect l="0" t="0" r="0" b="0"/>
              <a:pathLst>
                <a:path w="285750" h="733425">
                  <a:moveTo>
                    <a:pt x="285750" y="0"/>
                  </a:moveTo>
                  <a:lnTo>
                    <a:pt x="0" y="733425"/>
                  </a:lnTo>
                </a:path>
              </a:pathLst>
            </a:custGeom>
            <a:noFill/>
            <a:ln w="10478">
              <a:solidFill>
                <a:srgbClr val="BFC291"/>
              </a:solidFill>
              <a:prstDash val="solid"/>
            </a:ln>
          </p:spPr>
          <p:txBody>
            <a:bodyPr/>
            <a:lstStyle/>
            <a:p>
              <a:endParaRPr sz="1200"/>
            </a:p>
          </p:txBody>
        </p:sp>
        <p:sp>
          <p:nvSpPr>
            <p:cNvPr id="18" name="s1-ground__line_18">
              <a:extLst>
                <a:ext uri="{FF2B5EF4-FFF2-40B4-BE49-F238E27FC236}">
                  <a16:creationId xmlns:a16="http://schemas.microsoft.com/office/drawing/2014/main" id="{D68DE19C-040D-45A3-9F0C-23DE4ECE6B98}"/>
                </a:ext>
              </a:extLst>
            </p:cNvPr>
            <p:cNvSpPr>
              <a:spLocks/>
            </p:cNvSpPr>
            <p:nvPr/>
          </p:nvSpPr>
          <p:spPr>
            <a:xfrm>
              <a:off x="1549400" y="2603500"/>
              <a:ext cx="190500" cy="495300"/>
            </a:xfrm>
            <a:custGeom>
              <a:avLst/>
              <a:gdLst/>
              <a:ahLst/>
              <a:cxnLst/>
              <a:rect l="0" t="0" r="0" b="0"/>
              <a:pathLst>
                <a:path w="285750" h="742950">
                  <a:moveTo>
                    <a:pt x="285750" y="0"/>
                  </a:moveTo>
                  <a:lnTo>
                    <a:pt x="0" y="742950"/>
                  </a:lnTo>
                </a:path>
              </a:pathLst>
            </a:custGeom>
            <a:noFill/>
            <a:ln w="10478">
              <a:solidFill>
                <a:srgbClr val="BFC291"/>
              </a:solidFill>
              <a:prstDash val="solid"/>
            </a:ln>
          </p:spPr>
          <p:txBody>
            <a:bodyPr/>
            <a:lstStyle/>
            <a:p>
              <a:endParaRPr sz="1200"/>
            </a:p>
          </p:txBody>
        </p:sp>
        <p:sp>
          <p:nvSpPr>
            <p:cNvPr id="19" name="s1-ground__line_19">
              <a:extLst>
                <a:ext uri="{FF2B5EF4-FFF2-40B4-BE49-F238E27FC236}">
                  <a16:creationId xmlns:a16="http://schemas.microsoft.com/office/drawing/2014/main" id="{1E68BCA3-772B-4818-A472-282599B20C04}"/>
                </a:ext>
              </a:extLst>
            </p:cNvPr>
            <p:cNvSpPr>
              <a:spLocks/>
            </p:cNvSpPr>
            <p:nvPr/>
          </p:nvSpPr>
          <p:spPr>
            <a:xfrm>
              <a:off x="1758950" y="2654300"/>
              <a:ext cx="190500" cy="501650"/>
            </a:xfrm>
            <a:custGeom>
              <a:avLst/>
              <a:gdLst/>
              <a:ahLst/>
              <a:cxnLst/>
              <a:rect l="0" t="0" r="0" b="0"/>
              <a:pathLst>
                <a:path w="285750" h="752475">
                  <a:moveTo>
                    <a:pt x="285750" y="0"/>
                  </a:moveTo>
                  <a:lnTo>
                    <a:pt x="0" y="752475"/>
                  </a:lnTo>
                </a:path>
              </a:pathLst>
            </a:custGeom>
            <a:noFill/>
            <a:ln w="10478">
              <a:solidFill>
                <a:srgbClr val="BFC291"/>
              </a:solidFill>
              <a:prstDash val="solid"/>
            </a:ln>
          </p:spPr>
          <p:txBody>
            <a:bodyPr/>
            <a:lstStyle/>
            <a:p>
              <a:endParaRPr sz="1200"/>
            </a:p>
          </p:txBody>
        </p:sp>
        <p:sp>
          <p:nvSpPr>
            <p:cNvPr id="20" name="s1-ground__line_20">
              <a:extLst>
                <a:ext uri="{FF2B5EF4-FFF2-40B4-BE49-F238E27FC236}">
                  <a16:creationId xmlns:a16="http://schemas.microsoft.com/office/drawing/2014/main" id="{67EDAAF1-A49C-40C6-8BCA-96EC523D8C6A}"/>
                </a:ext>
              </a:extLst>
            </p:cNvPr>
            <p:cNvSpPr>
              <a:spLocks/>
            </p:cNvSpPr>
            <p:nvPr/>
          </p:nvSpPr>
          <p:spPr>
            <a:xfrm>
              <a:off x="1968500" y="2705100"/>
              <a:ext cx="190500" cy="508000"/>
            </a:xfrm>
            <a:custGeom>
              <a:avLst/>
              <a:gdLst/>
              <a:ahLst/>
              <a:cxnLst/>
              <a:rect l="0" t="0" r="0" b="0"/>
              <a:pathLst>
                <a:path w="285750" h="762000">
                  <a:moveTo>
                    <a:pt x="285750" y="0"/>
                  </a:moveTo>
                  <a:lnTo>
                    <a:pt x="0" y="762000"/>
                  </a:lnTo>
                </a:path>
              </a:pathLst>
            </a:custGeom>
            <a:noFill/>
            <a:ln w="10478">
              <a:solidFill>
                <a:srgbClr val="BFC291"/>
              </a:solidFill>
              <a:prstDash val="solid"/>
            </a:ln>
          </p:spPr>
          <p:txBody>
            <a:bodyPr/>
            <a:lstStyle/>
            <a:p>
              <a:endParaRPr sz="1200"/>
            </a:p>
          </p:txBody>
        </p:sp>
        <p:sp>
          <p:nvSpPr>
            <p:cNvPr id="21" name="s1-ground__line_21">
              <a:extLst>
                <a:ext uri="{FF2B5EF4-FFF2-40B4-BE49-F238E27FC236}">
                  <a16:creationId xmlns:a16="http://schemas.microsoft.com/office/drawing/2014/main" id="{6FD57065-C093-4382-B45E-D945FC1B5D35}"/>
                </a:ext>
              </a:extLst>
            </p:cNvPr>
            <p:cNvSpPr>
              <a:spLocks/>
            </p:cNvSpPr>
            <p:nvPr/>
          </p:nvSpPr>
          <p:spPr>
            <a:xfrm>
              <a:off x="2178050" y="2755900"/>
              <a:ext cx="190500" cy="514350"/>
            </a:xfrm>
            <a:custGeom>
              <a:avLst/>
              <a:gdLst/>
              <a:ahLst/>
              <a:cxnLst/>
              <a:rect l="0" t="0" r="0" b="0"/>
              <a:pathLst>
                <a:path w="285750" h="771525">
                  <a:moveTo>
                    <a:pt x="285750" y="0"/>
                  </a:moveTo>
                  <a:lnTo>
                    <a:pt x="0" y="771525"/>
                  </a:lnTo>
                </a:path>
              </a:pathLst>
            </a:custGeom>
            <a:noFill/>
            <a:ln w="10478">
              <a:solidFill>
                <a:srgbClr val="BFC291"/>
              </a:solidFill>
              <a:prstDash val="solid"/>
            </a:ln>
          </p:spPr>
          <p:txBody>
            <a:bodyPr/>
            <a:lstStyle/>
            <a:p>
              <a:endParaRPr sz="1200"/>
            </a:p>
          </p:txBody>
        </p:sp>
        <p:sp>
          <p:nvSpPr>
            <p:cNvPr id="22" name="s1-tree-left__rect_22">
              <a:extLst>
                <a:ext uri="{FF2B5EF4-FFF2-40B4-BE49-F238E27FC236}">
                  <a16:creationId xmlns:a16="http://schemas.microsoft.com/office/drawing/2014/main" id="{679EE035-6CEE-4C14-9307-6002C10C6EFF}"/>
                </a:ext>
              </a:extLst>
            </p:cNvPr>
            <p:cNvSpPr>
              <a:spLocks/>
            </p:cNvSpPr>
            <p:nvPr/>
          </p:nvSpPr>
          <p:spPr>
            <a:xfrm>
              <a:off x="559435" y="2108582"/>
              <a:ext cx="41909" cy="247269"/>
            </a:xfrm>
            <a:prstGeom prst="rect">
              <a:avLst/>
            </a:prstGeom>
            <a:solidFill>
              <a:srgbClr val="9B8964"/>
            </a:solidFill>
            <a:ln w="0">
              <a:noFill/>
              <a:prstDash val="solid"/>
            </a:ln>
          </p:spPr>
          <p:txBody>
            <a:bodyPr/>
            <a:lstStyle/>
            <a:p>
              <a:endParaRPr sz="1200"/>
            </a:p>
          </p:txBody>
        </p:sp>
        <p:sp>
          <p:nvSpPr>
            <p:cNvPr id="23" name="s1-tree-left__ellipse_23">
              <a:extLst>
                <a:ext uri="{FF2B5EF4-FFF2-40B4-BE49-F238E27FC236}">
                  <a16:creationId xmlns:a16="http://schemas.microsoft.com/office/drawing/2014/main" id="{301E6386-5840-4D93-8666-D5E2F0C2441D}"/>
                </a:ext>
              </a:extLst>
            </p:cNvPr>
            <p:cNvSpPr>
              <a:spLocks/>
            </p:cNvSpPr>
            <p:nvPr/>
          </p:nvSpPr>
          <p:spPr>
            <a:xfrm>
              <a:off x="437896" y="2016379"/>
              <a:ext cx="176021" cy="180213"/>
            </a:xfrm>
            <a:prstGeom prst="ellipse">
              <a:avLst/>
            </a:prstGeom>
            <a:solidFill>
              <a:srgbClr val="A5B591"/>
            </a:solidFill>
            <a:ln w="0">
              <a:noFill/>
              <a:prstDash val="solid"/>
            </a:ln>
          </p:spPr>
          <p:txBody>
            <a:bodyPr/>
            <a:lstStyle/>
            <a:p>
              <a:endParaRPr sz="1200"/>
            </a:p>
          </p:txBody>
        </p:sp>
        <p:sp>
          <p:nvSpPr>
            <p:cNvPr id="24" name="s1-tree-left__ellipse_24">
              <a:extLst>
                <a:ext uri="{FF2B5EF4-FFF2-40B4-BE49-F238E27FC236}">
                  <a16:creationId xmlns:a16="http://schemas.microsoft.com/office/drawing/2014/main" id="{3AB2AD14-108C-4D38-B661-77DC7380274F}"/>
                </a:ext>
              </a:extLst>
            </p:cNvPr>
            <p:cNvSpPr>
              <a:spLocks/>
            </p:cNvSpPr>
            <p:nvPr/>
          </p:nvSpPr>
          <p:spPr>
            <a:xfrm>
              <a:off x="551053" y="1999615"/>
              <a:ext cx="167639" cy="205359"/>
            </a:xfrm>
            <a:prstGeom prst="ellipse">
              <a:avLst/>
            </a:prstGeom>
            <a:solidFill>
              <a:srgbClr val="B6C4A0"/>
            </a:solidFill>
            <a:ln w="0">
              <a:noFill/>
              <a:prstDash val="solid"/>
            </a:ln>
          </p:spPr>
          <p:txBody>
            <a:bodyPr/>
            <a:lstStyle/>
            <a:p>
              <a:endParaRPr sz="1200"/>
            </a:p>
          </p:txBody>
        </p:sp>
        <p:sp>
          <p:nvSpPr>
            <p:cNvPr id="25" name="s1-tree-left__ellipse_25">
              <a:extLst>
                <a:ext uri="{FF2B5EF4-FFF2-40B4-BE49-F238E27FC236}">
                  <a16:creationId xmlns:a16="http://schemas.microsoft.com/office/drawing/2014/main" id="{B17673D3-54A9-492F-88E3-A372942CE746}"/>
                </a:ext>
              </a:extLst>
            </p:cNvPr>
            <p:cNvSpPr>
              <a:spLocks/>
            </p:cNvSpPr>
            <p:nvPr/>
          </p:nvSpPr>
          <p:spPr>
            <a:xfrm>
              <a:off x="496570" y="1936750"/>
              <a:ext cx="163449" cy="184404"/>
            </a:xfrm>
            <a:prstGeom prst="ellipse">
              <a:avLst/>
            </a:prstGeom>
            <a:solidFill>
              <a:srgbClr val="9FB18A"/>
            </a:solidFill>
            <a:ln w="0">
              <a:noFill/>
              <a:prstDash val="solid"/>
            </a:ln>
          </p:spPr>
          <p:txBody>
            <a:bodyPr/>
            <a:lstStyle/>
            <a:p>
              <a:endParaRPr sz="1200"/>
            </a:p>
          </p:txBody>
        </p:sp>
        <p:sp>
          <p:nvSpPr>
            <p:cNvPr id="26" name="s1-tree-left__ellipse_26">
              <a:extLst>
                <a:ext uri="{FF2B5EF4-FFF2-40B4-BE49-F238E27FC236}">
                  <a16:creationId xmlns:a16="http://schemas.microsoft.com/office/drawing/2014/main" id="{132D2B4A-574E-46DC-BAAD-1266EE240AC1}"/>
                </a:ext>
              </a:extLst>
            </p:cNvPr>
            <p:cNvSpPr>
              <a:spLocks/>
            </p:cNvSpPr>
            <p:nvPr/>
          </p:nvSpPr>
          <p:spPr>
            <a:xfrm>
              <a:off x="500761" y="2087626"/>
              <a:ext cx="155067" cy="125730"/>
            </a:xfrm>
            <a:prstGeom prst="ellipse">
              <a:avLst/>
            </a:prstGeom>
            <a:solidFill>
              <a:srgbClr val="ADC09A"/>
            </a:solidFill>
            <a:ln w="0">
              <a:noFill/>
              <a:prstDash val="solid"/>
            </a:ln>
          </p:spPr>
          <p:txBody>
            <a:bodyPr/>
            <a:lstStyle/>
            <a:p>
              <a:endParaRPr sz="1200"/>
            </a:p>
          </p:txBody>
        </p:sp>
        <p:sp>
          <p:nvSpPr>
            <p:cNvPr id="27" name="s1-tree-right__rect_27">
              <a:extLst>
                <a:ext uri="{FF2B5EF4-FFF2-40B4-BE49-F238E27FC236}">
                  <a16:creationId xmlns:a16="http://schemas.microsoft.com/office/drawing/2014/main" id="{D692A2CB-7239-424C-BE4A-0E37D6C9735F}"/>
                </a:ext>
              </a:extLst>
            </p:cNvPr>
            <p:cNvSpPr>
              <a:spLocks/>
            </p:cNvSpPr>
            <p:nvPr/>
          </p:nvSpPr>
          <p:spPr>
            <a:xfrm>
              <a:off x="1114108" y="2041334"/>
              <a:ext cx="42545" cy="251015"/>
            </a:xfrm>
            <a:prstGeom prst="rect">
              <a:avLst/>
            </a:prstGeom>
            <a:solidFill>
              <a:srgbClr val="9B8964"/>
            </a:solidFill>
            <a:ln w="0">
              <a:noFill/>
              <a:prstDash val="solid"/>
            </a:ln>
          </p:spPr>
          <p:txBody>
            <a:bodyPr/>
            <a:lstStyle/>
            <a:p>
              <a:endParaRPr sz="1200"/>
            </a:p>
          </p:txBody>
        </p:sp>
        <p:sp>
          <p:nvSpPr>
            <p:cNvPr id="28" name="s1-tree-right__ellipse_28">
              <a:extLst>
                <a:ext uri="{FF2B5EF4-FFF2-40B4-BE49-F238E27FC236}">
                  <a16:creationId xmlns:a16="http://schemas.microsoft.com/office/drawing/2014/main" id="{9B64DF97-5A31-4C26-B869-65F27DD7CFB5}"/>
                </a:ext>
              </a:extLst>
            </p:cNvPr>
            <p:cNvSpPr>
              <a:spLocks/>
            </p:cNvSpPr>
            <p:nvPr/>
          </p:nvSpPr>
          <p:spPr>
            <a:xfrm>
              <a:off x="990728" y="1947735"/>
              <a:ext cx="178689" cy="182943"/>
            </a:xfrm>
            <a:prstGeom prst="ellipse">
              <a:avLst/>
            </a:prstGeom>
            <a:solidFill>
              <a:srgbClr val="A5B591"/>
            </a:solidFill>
            <a:ln w="0">
              <a:noFill/>
              <a:prstDash val="solid"/>
            </a:ln>
          </p:spPr>
          <p:txBody>
            <a:bodyPr/>
            <a:lstStyle/>
            <a:p>
              <a:endParaRPr sz="1200"/>
            </a:p>
          </p:txBody>
        </p:sp>
        <p:sp>
          <p:nvSpPr>
            <p:cNvPr id="29" name="s1-tree-right__ellipse_29">
              <a:extLst>
                <a:ext uri="{FF2B5EF4-FFF2-40B4-BE49-F238E27FC236}">
                  <a16:creationId xmlns:a16="http://schemas.microsoft.com/office/drawing/2014/main" id="{9F769A25-8790-4C5E-9AB8-608F353199D4}"/>
                </a:ext>
              </a:extLst>
            </p:cNvPr>
            <p:cNvSpPr>
              <a:spLocks/>
            </p:cNvSpPr>
            <p:nvPr/>
          </p:nvSpPr>
          <p:spPr>
            <a:xfrm>
              <a:off x="1105599" y="1930717"/>
              <a:ext cx="170179" cy="208470"/>
            </a:xfrm>
            <a:prstGeom prst="ellipse">
              <a:avLst/>
            </a:prstGeom>
            <a:solidFill>
              <a:srgbClr val="B6C4A0"/>
            </a:solidFill>
            <a:ln w="0">
              <a:noFill/>
              <a:prstDash val="solid"/>
            </a:ln>
          </p:spPr>
          <p:txBody>
            <a:bodyPr/>
            <a:lstStyle/>
            <a:p>
              <a:endParaRPr sz="1200"/>
            </a:p>
          </p:txBody>
        </p:sp>
        <p:sp>
          <p:nvSpPr>
            <p:cNvPr id="30" name="s1-tree-right__ellipse_30">
              <a:extLst>
                <a:ext uri="{FF2B5EF4-FFF2-40B4-BE49-F238E27FC236}">
                  <a16:creationId xmlns:a16="http://schemas.microsoft.com/office/drawing/2014/main" id="{C34DC344-9900-4161-8ADC-5DD5316EB5AA}"/>
                </a:ext>
              </a:extLst>
            </p:cNvPr>
            <p:cNvSpPr>
              <a:spLocks/>
            </p:cNvSpPr>
            <p:nvPr/>
          </p:nvSpPr>
          <p:spPr>
            <a:xfrm>
              <a:off x="1050290" y="1866900"/>
              <a:ext cx="165925" cy="187198"/>
            </a:xfrm>
            <a:prstGeom prst="ellipse">
              <a:avLst/>
            </a:prstGeom>
            <a:solidFill>
              <a:srgbClr val="9FB18A"/>
            </a:solidFill>
            <a:ln w="0">
              <a:noFill/>
              <a:prstDash val="solid"/>
            </a:ln>
          </p:spPr>
          <p:txBody>
            <a:bodyPr/>
            <a:lstStyle/>
            <a:p>
              <a:endParaRPr sz="1200"/>
            </a:p>
          </p:txBody>
        </p:sp>
        <p:sp>
          <p:nvSpPr>
            <p:cNvPr id="31" name="s1-tree-right__ellipse_31">
              <a:extLst>
                <a:ext uri="{FF2B5EF4-FFF2-40B4-BE49-F238E27FC236}">
                  <a16:creationId xmlns:a16="http://schemas.microsoft.com/office/drawing/2014/main" id="{A89C0BF7-CC5B-44F5-BBA2-668FC859D059}"/>
                </a:ext>
              </a:extLst>
            </p:cNvPr>
            <p:cNvSpPr>
              <a:spLocks/>
            </p:cNvSpPr>
            <p:nvPr/>
          </p:nvSpPr>
          <p:spPr>
            <a:xfrm>
              <a:off x="1054545" y="2020062"/>
              <a:ext cx="157416" cy="127635"/>
            </a:xfrm>
            <a:prstGeom prst="ellipse">
              <a:avLst/>
            </a:prstGeom>
            <a:solidFill>
              <a:srgbClr val="ADC09A"/>
            </a:solidFill>
            <a:ln w="0">
              <a:noFill/>
              <a:prstDash val="solid"/>
            </a:ln>
          </p:spPr>
          <p:txBody>
            <a:bodyPr/>
            <a:lstStyle/>
            <a:p>
              <a:endParaRPr sz="1200"/>
            </a:p>
          </p:txBody>
        </p:sp>
        <p:sp>
          <p:nvSpPr>
            <p:cNvPr id="32" name="s1-settlement-background__ellipse_32">
              <a:extLst>
                <a:ext uri="{FF2B5EF4-FFF2-40B4-BE49-F238E27FC236}">
                  <a16:creationId xmlns:a16="http://schemas.microsoft.com/office/drawing/2014/main" id="{6C15796E-A3A9-458C-9875-224788404B53}"/>
                </a:ext>
              </a:extLst>
            </p:cNvPr>
            <p:cNvSpPr>
              <a:spLocks/>
            </p:cNvSpPr>
            <p:nvPr/>
          </p:nvSpPr>
          <p:spPr>
            <a:xfrm>
              <a:off x="1069658" y="2526412"/>
              <a:ext cx="520065" cy="40005"/>
            </a:xfrm>
            <a:prstGeom prst="ellipse">
              <a:avLst/>
            </a:prstGeom>
            <a:solidFill>
              <a:srgbClr val="CBD6BD"/>
            </a:solidFill>
            <a:ln w="0">
              <a:noFill/>
              <a:prstDash val="solid"/>
            </a:ln>
          </p:spPr>
          <p:txBody>
            <a:bodyPr/>
            <a:lstStyle/>
            <a:p>
              <a:endParaRPr sz="1200"/>
            </a:p>
          </p:txBody>
        </p:sp>
        <p:sp>
          <p:nvSpPr>
            <p:cNvPr id="33" name="s1-settlement-background__rect_33">
              <a:extLst>
                <a:ext uri="{FF2B5EF4-FFF2-40B4-BE49-F238E27FC236}">
                  <a16:creationId xmlns:a16="http://schemas.microsoft.com/office/drawing/2014/main" id="{57FA327A-798A-4279-AF87-C6EB1D9241DD}"/>
                </a:ext>
              </a:extLst>
            </p:cNvPr>
            <p:cNvSpPr>
              <a:spLocks/>
            </p:cNvSpPr>
            <p:nvPr/>
          </p:nvSpPr>
          <p:spPr>
            <a:xfrm>
              <a:off x="1117664" y="2254377"/>
              <a:ext cx="424053" cy="280035"/>
            </a:xfrm>
            <a:prstGeom prst="rect">
              <a:avLst/>
            </a:prstGeom>
            <a:solidFill>
              <a:srgbClr val="D8B991"/>
            </a:solidFill>
            <a:ln w="9601">
              <a:solidFill>
                <a:srgbClr val="776750"/>
              </a:solidFill>
              <a:prstDash val="solid"/>
            </a:ln>
          </p:spPr>
          <p:txBody>
            <a:bodyPr/>
            <a:lstStyle/>
            <a:p>
              <a:endParaRPr sz="1200"/>
            </a:p>
          </p:txBody>
        </p:sp>
        <p:sp>
          <p:nvSpPr>
            <p:cNvPr id="34" name="s1-settlement-background__rect_34">
              <a:extLst>
                <a:ext uri="{FF2B5EF4-FFF2-40B4-BE49-F238E27FC236}">
                  <a16:creationId xmlns:a16="http://schemas.microsoft.com/office/drawing/2014/main" id="{1D893BDF-C154-47BA-8223-3906341BC453}"/>
                </a:ext>
              </a:extLst>
            </p:cNvPr>
            <p:cNvSpPr>
              <a:spLocks/>
            </p:cNvSpPr>
            <p:nvPr/>
          </p:nvSpPr>
          <p:spPr>
            <a:xfrm>
              <a:off x="1277684" y="2374392"/>
              <a:ext cx="104013" cy="160020"/>
            </a:xfrm>
            <a:prstGeom prst="rect">
              <a:avLst/>
            </a:prstGeom>
            <a:solidFill>
              <a:srgbClr val="665444"/>
            </a:solidFill>
            <a:ln w="0">
              <a:noFill/>
              <a:prstDash val="solid"/>
            </a:ln>
          </p:spPr>
          <p:txBody>
            <a:bodyPr/>
            <a:lstStyle/>
            <a:p>
              <a:endParaRPr sz="1200"/>
            </a:p>
          </p:txBody>
        </p:sp>
        <p:sp>
          <p:nvSpPr>
            <p:cNvPr id="35" name="s1-settlement-background__rect_35">
              <a:extLst>
                <a:ext uri="{FF2B5EF4-FFF2-40B4-BE49-F238E27FC236}">
                  <a16:creationId xmlns:a16="http://schemas.microsoft.com/office/drawing/2014/main" id="{73EA820D-D563-441B-A123-24E60BC55DDA}"/>
                </a:ext>
              </a:extLst>
            </p:cNvPr>
            <p:cNvSpPr>
              <a:spLocks/>
            </p:cNvSpPr>
            <p:nvPr/>
          </p:nvSpPr>
          <p:spPr>
            <a:xfrm>
              <a:off x="1169671" y="2326386"/>
              <a:ext cx="64007" cy="72009"/>
            </a:xfrm>
            <a:prstGeom prst="rect">
              <a:avLst/>
            </a:prstGeom>
            <a:solidFill>
              <a:srgbClr val="7B6751"/>
            </a:solidFill>
            <a:ln w="0">
              <a:noFill/>
              <a:prstDash val="solid"/>
            </a:ln>
          </p:spPr>
          <p:txBody>
            <a:bodyPr/>
            <a:lstStyle/>
            <a:p>
              <a:endParaRPr sz="1200"/>
            </a:p>
          </p:txBody>
        </p:sp>
        <p:sp>
          <p:nvSpPr>
            <p:cNvPr id="36" name="s1-settlement-background__rect_36">
              <a:extLst>
                <a:ext uri="{FF2B5EF4-FFF2-40B4-BE49-F238E27FC236}">
                  <a16:creationId xmlns:a16="http://schemas.microsoft.com/office/drawing/2014/main" id="{F4AE40F6-A4D3-487D-85E1-3850ABFF1A5A}"/>
                </a:ext>
              </a:extLst>
            </p:cNvPr>
            <p:cNvSpPr>
              <a:spLocks/>
            </p:cNvSpPr>
            <p:nvPr/>
          </p:nvSpPr>
          <p:spPr>
            <a:xfrm>
              <a:off x="1445705" y="2338387"/>
              <a:ext cx="48005" cy="60007"/>
            </a:xfrm>
            <a:prstGeom prst="rect">
              <a:avLst/>
            </a:prstGeom>
            <a:solidFill>
              <a:srgbClr val="7B6751"/>
            </a:solidFill>
            <a:ln w="0">
              <a:noFill/>
              <a:prstDash val="solid"/>
            </a:ln>
          </p:spPr>
          <p:txBody>
            <a:bodyPr/>
            <a:lstStyle/>
            <a:p>
              <a:endParaRPr sz="1200"/>
            </a:p>
          </p:txBody>
        </p:sp>
        <p:sp>
          <p:nvSpPr>
            <p:cNvPr id="37" name="s1-settlement-background__line_37">
              <a:extLst>
                <a:ext uri="{FF2B5EF4-FFF2-40B4-BE49-F238E27FC236}">
                  <a16:creationId xmlns:a16="http://schemas.microsoft.com/office/drawing/2014/main" id="{A64BD505-6D01-4601-BBEA-3322235AFA7D}"/>
                </a:ext>
              </a:extLst>
            </p:cNvPr>
            <p:cNvSpPr>
              <a:spLocks/>
            </p:cNvSpPr>
            <p:nvPr/>
          </p:nvSpPr>
          <p:spPr>
            <a:xfrm>
              <a:off x="1277684" y="2366391"/>
              <a:ext cx="104012" cy="63"/>
            </a:xfrm>
            <a:custGeom>
              <a:avLst/>
              <a:gdLst/>
              <a:ahLst/>
              <a:cxnLst/>
              <a:rect l="0" t="0" r="0" b="0"/>
              <a:pathLst>
                <a:path w="156019" h="95">
                  <a:moveTo>
                    <a:pt x="0" y="0"/>
                  </a:moveTo>
                  <a:lnTo>
                    <a:pt x="156019" y="0"/>
                  </a:lnTo>
                </a:path>
              </a:pathLst>
            </a:custGeom>
            <a:noFill/>
            <a:ln w="12002">
              <a:solidFill>
                <a:srgbClr val="9B7C59"/>
              </a:solidFill>
              <a:prstDash val="solid"/>
            </a:ln>
          </p:spPr>
          <p:txBody>
            <a:bodyPr/>
            <a:lstStyle/>
            <a:p>
              <a:endParaRPr sz="1200"/>
            </a:p>
          </p:txBody>
        </p:sp>
        <p:sp>
          <p:nvSpPr>
            <p:cNvPr id="38" name="s1-settlement-background__path_38">
              <a:extLst>
                <a:ext uri="{FF2B5EF4-FFF2-40B4-BE49-F238E27FC236}">
                  <a16:creationId xmlns:a16="http://schemas.microsoft.com/office/drawing/2014/main" id="{4555992A-C2E2-442C-B73D-41F8B5799373}"/>
                </a:ext>
              </a:extLst>
            </p:cNvPr>
            <p:cNvSpPr>
              <a:spLocks/>
            </p:cNvSpPr>
            <p:nvPr/>
          </p:nvSpPr>
          <p:spPr>
            <a:xfrm>
              <a:off x="1041655" y="2070354"/>
              <a:ext cx="572071" cy="196024"/>
            </a:xfrm>
            <a:custGeom>
              <a:avLst/>
              <a:gdLst/>
              <a:ahLst/>
              <a:cxnLst/>
              <a:rect l="0" t="0" r="0" b="0"/>
              <a:pathLst>
                <a:path w="858107" h="294037">
                  <a:moveTo>
                    <a:pt x="0" y="294037"/>
                  </a:moveTo>
                  <a:lnTo>
                    <a:pt x="420052" y="0"/>
                  </a:lnTo>
                  <a:lnTo>
                    <a:pt x="858107" y="294037"/>
                  </a:lnTo>
                  <a:close/>
                </a:path>
              </a:pathLst>
            </a:custGeom>
            <a:solidFill>
              <a:srgbClr val="B68A55"/>
            </a:solidFill>
            <a:ln w="10801">
              <a:solidFill>
                <a:srgbClr val="776750"/>
              </a:solidFill>
              <a:prstDash val="solid"/>
            </a:ln>
          </p:spPr>
          <p:txBody>
            <a:bodyPr/>
            <a:lstStyle/>
            <a:p>
              <a:endParaRPr sz="1200"/>
            </a:p>
          </p:txBody>
        </p:sp>
        <p:sp>
          <p:nvSpPr>
            <p:cNvPr id="39" name="s1-settlement-background__path_39">
              <a:extLst>
                <a:ext uri="{FF2B5EF4-FFF2-40B4-BE49-F238E27FC236}">
                  <a16:creationId xmlns:a16="http://schemas.microsoft.com/office/drawing/2014/main" id="{393E3666-AC43-4C59-8B0B-EF6AB73B567F}"/>
                </a:ext>
              </a:extLst>
            </p:cNvPr>
            <p:cNvSpPr>
              <a:spLocks/>
            </p:cNvSpPr>
            <p:nvPr/>
          </p:nvSpPr>
          <p:spPr>
            <a:xfrm>
              <a:off x="1041655" y="2266379"/>
              <a:ext cx="572071" cy="32004"/>
            </a:xfrm>
            <a:custGeom>
              <a:avLst/>
              <a:gdLst/>
              <a:ahLst/>
              <a:cxnLst/>
              <a:rect l="0" t="0" r="0" b="0"/>
              <a:pathLst>
                <a:path w="858107" h="48006">
                  <a:moveTo>
                    <a:pt x="0" y="0"/>
                  </a:moveTo>
                  <a:lnTo>
                    <a:pt x="858107" y="0"/>
                  </a:lnTo>
                  <a:lnTo>
                    <a:pt x="786098" y="48006"/>
                  </a:lnTo>
                  <a:lnTo>
                    <a:pt x="72009" y="48006"/>
                  </a:lnTo>
                  <a:close/>
                </a:path>
              </a:pathLst>
            </a:custGeom>
            <a:solidFill>
              <a:srgbClr val="BE965D"/>
            </a:solidFill>
            <a:ln w="7201">
              <a:solidFill>
                <a:srgbClr val="776750"/>
              </a:solidFill>
              <a:prstDash val="solid"/>
            </a:ln>
          </p:spPr>
          <p:txBody>
            <a:bodyPr/>
            <a:lstStyle/>
            <a:p>
              <a:endParaRPr sz="1200"/>
            </a:p>
          </p:txBody>
        </p:sp>
        <p:sp>
          <p:nvSpPr>
            <p:cNvPr id="40" name="s1-settlement-background__line_40">
              <a:extLst>
                <a:ext uri="{FF2B5EF4-FFF2-40B4-BE49-F238E27FC236}">
                  <a16:creationId xmlns:a16="http://schemas.microsoft.com/office/drawing/2014/main" id="{506BC96D-6835-4D2C-842D-E13EFB26F7AE}"/>
                </a:ext>
              </a:extLst>
            </p:cNvPr>
            <p:cNvSpPr>
              <a:spLocks/>
            </p:cNvSpPr>
            <p:nvPr/>
          </p:nvSpPr>
          <p:spPr>
            <a:xfrm>
              <a:off x="1109664" y="2102358"/>
              <a:ext cx="204025" cy="144018"/>
            </a:xfrm>
            <a:custGeom>
              <a:avLst/>
              <a:gdLst/>
              <a:ahLst/>
              <a:cxnLst/>
              <a:rect l="0" t="0" r="0" b="0"/>
              <a:pathLst>
                <a:path w="306038" h="216027">
                  <a:moveTo>
                    <a:pt x="306038" y="0"/>
                  </a:moveTo>
                  <a:lnTo>
                    <a:pt x="0" y="216027"/>
                  </a:lnTo>
                </a:path>
              </a:pathLst>
            </a:custGeom>
            <a:noFill/>
            <a:ln w="8401">
              <a:solidFill>
                <a:srgbClr val="D4B480"/>
              </a:solidFill>
              <a:prstDash val="solid"/>
            </a:ln>
          </p:spPr>
          <p:txBody>
            <a:bodyPr/>
            <a:lstStyle/>
            <a:p>
              <a:endParaRPr sz="1200"/>
            </a:p>
          </p:txBody>
        </p:sp>
        <p:sp>
          <p:nvSpPr>
            <p:cNvPr id="41" name="s1-settlement-background__line_41">
              <a:extLst>
                <a:ext uri="{FF2B5EF4-FFF2-40B4-BE49-F238E27FC236}">
                  <a16:creationId xmlns:a16="http://schemas.microsoft.com/office/drawing/2014/main" id="{220487C2-7DDF-4610-88AD-50629D90FCCD}"/>
                </a:ext>
              </a:extLst>
            </p:cNvPr>
            <p:cNvSpPr>
              <a:spLocks/>
            </p:cNvSpPr>
            <p:nvPr/>
          </p:nvSpPr>
          <p:spPr>
            <a:xfrm>
              <a:off x="1193674" y="2110359"/>
              <a:ext cx="132016" cy="140017"/>
            </a:xfrm>
            <a:custGeom>
              <a:avLst/>
              <a:gdLst/>
              <a:ahLst/>
              <a:cxnLst/>
              <a:rect l="0" t="0" r="0" b="0"/>
              <a:pathLst>
                <a:path w="198025" h="210026">
                  <a:moveTo>
                    <a:pt x="198025" y="0"/>
                  </a:moveTo>
                  <a:lnTo>
                    <a:pt x="0" y="210026"/>
                  </a:lnTo>
                </a:path>
              </a:pathLst>
            </a:custGeom>
            <a:noFill/>
            <a:ln w="8401">
              <a:solidFill>
                <a:srgbClr val="D4B480"/>
              </a:solidFill>
              <a:prstDash val="solid"/>
            </a:ln>
          </p:spPr>
          <p:txBody>
            <a:bodyPr/>
            <a:lstStyle/>
            <a:p>
              <a:endParaRPr sz="1200"/>
            </a:p>
          </p:txBody>
        </p:sp>
        <p:sp>
          <p:nvSpPr>
            <p:cNvPr id="42" name="s1-settlement-background__line_42">
              <a:extLst>
                <a:ext uri="{FF2B5EF4-FFF2-40B4-BE49-F238E27FC236}">
                  <a16:creationId xmlns:a16="http://schemas.microsoft.com/office/drawing/2014/main" id="{457B9620-37FB-49D9-84B9-9D3DB79E348B}"/>
                </a:ext>
              </a:extLst>
            </p:cNvPr>
            <p:cNvSpPr>
              <a:spLocks/>
            </p:cNvSpPr>
            <p:nvPr/>
          </p:nvSpPr>
          <p:spPr>
            <a:xfrm>
              <a:off x="1269683" y="2114359"/>
              <a:ext cx="68008" cy="132016"/>
            </a:xfrm>
            <a:custGeom>
              <a:avLst/>
              <a:gdLst/>
              <a:ahLst/>
              <a:cxnLst/>
              <a:rect l="0" t="0" r="0" b="0"/>
              <a:pathLst>
                <a:path w="102013" h="198025">
                  <a:moveTo>
                    <a:pt x="102013" y="0"/>
                  </a:moveTo>
                  <a:lnTo>
                    <a:pt x="0" y="198025"/>
                  </a:lnTo>
                </a:path>
              </a:pathLst>
            </a:custGeom>
            <a:noFill/>
            <a:ln w="8401">
              <a:solidFill>
                <a:srgbClr val="D4B480"/>
              </a:solidFill>
              <a:prstDash val="solid"/>
            </a:ln>
          </p:spPr>
          <p:txBody>
            <a:bodyPr/>
            <a:lstStyle/>
            <a:p>
              <a:endParaRPr sz="1200"/>
            </a:p>
          </p:txBody>
        </p:sp>
        <p:sp>
          <p:nvSpPr>
            <p:cNvPr id="43" name="s1-settlement-background__line_43">
              <a:extLst>
                <a:ext uri="{FF2B5EF4-FFF2-40B4-BE49-F238E27FC236}">
                  <a16:creationId xmlns:a16="http://schemas.microsoft.com/office/drawing/2014/main" id="{EF53906D-ABDE-4045-8054-7F8320789264}"/>
                </a:ext>
              </a:extLst>
            </p:cNvPr>
            <p:cNvSpPr>
              <a:spLocks/>
            </p:cNvSpPr>
            <p:nvPr/>
          </p:nvSpPr>
          <p:spPr>
            <a:xfrm>
              <a:off x="1345693" y="2126361"/>
              <a:ext cx="28003" cy="124015"/>
            </a:xfrm>
            <a:custGeom>
              <a:avLst/>
              <a:gdLst/>
              <a:ahLst/>
              <a:cxnLst/>
              <a:rect l="0" t="0" r="0" b="0"/>
              <a:pathLst>
                <a:path w="42005" h="186023">
                  <a:moveTo>
                    <a:pt x="0" y="0"/>
                  </a:moveTo>
                  <a:lnTo>
                    <a:pt x="42005" y="186023"/>
                  </a:lnTo>
                </a:path>
              </a:pathLst>
            </a:custGeom>
            <a:noFill/>
            <a:ln w="8401">
              <a:solidFill>
                <a:srgbClr val="D4B480"/>
              </a:solidFill>
              <a:prstDash val="solid"/>
            </a:ln>
          </p:spPr>
          <p:txBody>
            <a:bodyPr/>
            <a:lstStyle/>
            <a:p>
              <a:endParaRPr sz="1200"/>
            </a:p>
          </p:txBody>
        </p:sp>
        <p:sp>
          <p:nvSpPr>
            <p:cNvPr id="44" name="s1-settlement-background__line_44">
              <a:extLst>
                <a:ext uri="{FF2B5EF4-FFF2-40B4-BE49-F238E27FC236}">
                  <a16:creationId xmlns:a16="http://schemas.microsoft.com/office/drawing/2014/main" id="{FED74693-F2F1-4C76-B03F-3A14BAA33B6E}"/>
                </a:ext>
              </a:extLst>
            </p:cNvPr>
            <p:cNvSpPr>
              <a:spLocks/>
            </p:cNvSpPr>
            <p:nvPr/>
          </p:nvSpPr>
          <p:spPr>
            <a:xfrm>
              <a:off x="1357694" y="2122361"/>
              <a:ext cx="120015" cy="128016"/>
            </a:xfrm>
            <a:custGeom>
              <a:avLst/>
              <a:gdLst/>
              <a:ahLst/>
              <a:cxnLst/>
              <a:rect l="0" t="0" r="0" b="0"/>
              <a:pathLst>
                <a:path w="180023" h="192024">
                  <a:moveTo>
                    <a:pt x="0" y="0"/>
                  </a:moveTo>
                  <a:lnTo>
                    <a:pt x="180023" y="192024"/>
                  </a:lnTo>
                </a:path>
              </a:pathLst>
            </a:custGeom>
            <a:noFill/>
            <a:ln w="8401">
              <a:solidFill>
                <a:srgbClr val="D4B480"/>
              </a:solidFill>
              <a:prstDash val="solid"/>
            </a:ln>
          </p:spPr>
          <p:txBody>
            <a:bodyPr/>
            <a:lstStyle/>
            <a:p>
              <a:endParaRPr sz="1200"/>
            </a:p>
          </p:txBody>
        </p:sp>
        <p:sp>
          <p:nvSpPr>
            <p:cNvPr id="45" name="s1-settlement-background__line_45">
              <a:extLst>
                <a:ext uri="{FF2B5EF4-FFF2-40B4-BE49-F238E27FC236}">
                  <a16:creationId xmlns:a16="http://schemas.microsoft.com/office/drawing/2014/main" id="{7E492416-D083-4496-A603-7C09733F8312}"/>
                </a:ext>
              </a:extLst>
            </p:cNvPr>
            <p:cNvSpPr>
              <a:spLocks/>
            </p:cNvSpPr>
            <p:nvPr/>
          </p:nvSpPr>
          <p:spPr>
            <a:xfrm>
              <a:off x="1369696" y="2134362"/>
              <a:ext cx="196024" cy="120014"/>
            </a:xfrm>
            <a:custGeom>
              <a:avLst/>
              <a:gdLst/>
              <a:ahLst/>
              <a:cxnLst/>
              <a:rect l="0" t="0" r="0" b="0"/>
              <a:pathLst>
                <a:path w="294037" h="180022">
                  <a:moveTo>
                    <a:pt x="0" y="0"/>
                  </a:moveTo>
                  <a:lnTo>
                    <a:pt x="294037" y="180022"/>
                  </a:lnTo>
                </a:path>
              </a:pathLst>
            </a:custGeom>
            <a:noFill/>
            <a:ln w="8401">
              <a:solidFill>
                <a:srgbClr val="D4B480"/>
              </a:solidFill>
              <a:prstDash val="solid"/>
            </a:ln>
          </p:spPr>
          <p:txBody>
            <a:bodyPr/>
            <a:lstStyle/>
            <a:p>
              <a:endParaRPr sz="1200"/>
            </a:p>
          </p:txBody>
        </p:sp>
        <p:sp>
          <p:nvSpPr>
            <p:cNvPr id="46" name="s1-settlement-background__line_46">
              <a:extLst>
                <a:ext uri="{FF2B5EF4-FFF2-40B4-BE49-F238E27FC236}">
                  <a16:creationId xmlns:a16="http://schemas.microsoft.com/office/drawing/2014/main" id="{67F7E428-FBF4-4F8C-BB4E-9E1C8A18BEFC}"/>
                </a:ext>
              </a:extLst>
            </p:cNvPr>
            <p:cNvSpPr>
              <a:spLocks/>
            </p:cNvSpPr>
            <p:nvPr/>
          </p:nvSpPr>
          <p:spPr>
            <a:xfrm>
              <a:off x="1141668" y="2454402"/>
              <a:ext cx="63" cy="68008"/>
            </a:xfrm>
            <a:custGeom>
              <a:avLst/>
              <a:gdLst/>
              <a:ahLst/>
              <a:cxnLst/>
              <a:rect l="0" t="0" r="0" b="0"/>
              <a:pathLst>
                <a:path w="95" h="102013">
                  <a:moveTo>
                    <a:pt x="0" y="0"/>
                  </a:moveTo>
                  <a:lnTo>
                    <a:pt x="0" y="102013"/>
                  </a:lnTo>
                </a:path>
              </a:pathLst>
            </a:custGeom>
            <a:noFill/>
            <a:ln w="6001">
              <a:solidFill>
                <a:srgbClr val="B4936E"/>
              </a:solidFill>
              <a:prstDash val="solid"/>
            </a:ln>
          </p:spPr>
          <p:txBody>
            <a:bodyPr/>
            <a:lstStyle/>
            <a:p>
              <a:endParaRPr sz="1200"/>
            </a:p>
          </p:txBody>
        </p:sp>
        <p:sp>
          <p:nvSpPr>
            <p:cNvPr id="47" name="s1-settlement-background__line_47">
              <a:extLst>
                <a:ext uri="{FF2B5EF4-FFF2-40B4-BE49-F238E27FC236}">
                  <a16:creationId xmlns:a16="http://schemas.microsoft.com/office/drawing/2014/main" id="{15661291-A5AB-40A0-90A2-57AA03CED0F2}"/>
                </a:ext>
              </a:extLst>
            </p:cNvPr>
            <p:cNvSpPr>
              <a:spLocks/>
            </p:cNvSpPr>
            <p:nvPr/>
          </p:nvSpPr>
          <p:spPr>
            <a:xfrm>
              <a:off x="1513714" y="2450401"/>
              <a:ext cx="63" cy="72009"/>
            </a:xfrm>
            <a:custGeom>
              <a:avLst/>
              <a:gdLst/>
              <a:ahLst/>
              <a:cxnLst/>
              <a:rect l="0" t="0" r="0" b="0"/>
              <a:pathLst>
                <a:path w="95" h="108014">
                  <a:moveTo>
                    <a:pt x="0" y="0"/>
                  </a:moveTo>
                  <a:lnTo>
                    <a:pt x="0" y="108014"/>
                  </a:lnTo>
                </a:path>
              </a:pathLst>
            </a:custGeom>
            <a:noFill/>
            <a:ln w="6001">
              <a:solidFill>
                <a:srgbClr val="B4936E"/>
              </a:solidFill>
              <a:prstDash val="solid"/>
            </a:ln>
          </p:spPr>
          <p:txBody>
            <a:bodyPr/>
            <a:lstStyle/>
            <a:p>
              <a:endParaRPr sz="1200"/>
            </a:p>
          </p:txBody>
        </p:sp>
        <p:sp>
          <p:nvSpPr>
            <p:cNvPr id="48" name="s1-settlement__ellipse_48">
              <a:extLst>
                <a:ext uri="{FF2B5EF4-FFF2-40B4-BE49-F238E27FC236}">
                  <a16:creationId xmlns:a16="http://schemas.microsoft.com/office/drawing/2014/main" id="{9B626075-66EF-49B5-A8C8-DD2201379CE0}"/>
                </a:ext>
              </a:extLst>
            </p:cNvPr>
            <p:cNvSpPr>
              <a:spLocks/>
            </p:cNvSpPr>
            <p:nvPr/>
          </p:nvSpPr>
          <p:spPr>
            <a:xfrm>
              <a:off x="596900" y="3092450"/>
              <a:ext cx="825500" cy="63500"/>
            </a:xfrm>
            <a:prstGeom prst="ellipse">
              <a:avLst/>
            </a:prstGeom>
            <a:solidFill>
              <a:srgbClr val="CBD6BD"/>
            </a:solidFill>
            <a:ln w="0">
              <a:noFill/>
              <a:prstDash val="solid"/>
            </a:ln>
          </p:spPr>
          <p:txBody>
            <a:bodyPr/>
            <a:lstStyle/>
            <a:p>
              <a:endParaRPr sz="1200"/>
            </a:p>
          </p:txBody>
        </p:sp>
        <p:sp>
          <p:nvSpPr>
            <p:cNvPr id="49" name="s1-settlement__rect_49">
              <a:extLst>
                <a:ext uri="{FF2B5EF4-FFF2-40B4-BE49-F238E27FC236}">
                  <a16:creationId xmlns:a16="http://schemas.microsoft.com/office/drawing/2014/main" id="{BFB4DDBA-2509-4221-9DFA-F817A0A1AD9A}"/>
                </a:ext>
              </a:extLst>
            </p:cNvPr>
            <p:cNvSpPr>
              <a:spLocks/>
            </p:cNvSpPr>
            <p:nvPr/>
          </p:nvSpPr>
          <p:spPr>
            <a:xfrm>
              <a:off x="673100" y="2660650"/>
              <a:ext cx="673100" cy="444500"/>
            </a:xfrm>
            <a:prstGeom prst="rect">
              <a:avLst/>
            </a:prstGeom>
            <a:solidFill>
              <a:srgbClr val="D8B991"/>
            </a:solidFill>
            <a:ln w="15240">
              <a:solidFill>
                <a:srgbClr val="776750"/>
              </a:solidFill>
              <a:prstDash val="solid"/>
            </a:ln>
          </p:spPr>
          <p:txBody>
            <a:bodyPr/>
            <a:lstStyle/>
            <a:p>
              <a:endParaRPr sz="1200"/>
            </a:p>
          </p:txBody>
        </p:sp>
        <p:sp>
          <p:nvSpPr>
            <p:cNvPr id="50" name="s1-settlement__rect_50">
              <a:extLst>
                <a:ext uri="{FF2B5EF4-FFF2-40B4-BE49-F238E27FC236}">
                  <a16:creationId xmlns:a16="http://schemas.microsoft.com/office/drawing/2014/main" id="{A9D72272-161A-40F0-8C57-26611ECC4C62}"/>
                </a:ext>
              </a:extLst>
            </p:cNvPr>
            <p:cNvSpPr>
              <a:spLocks/>
            </p:cNvSpPr>
            <p:nvPr/>
          </p:nvSpPr>
          <p:spPr>
            <a:xfrm>
              <a:off x="927100" y="2851150"/>
              <a:ext cx="165100" cy="254000"/>
            </a:xfrm>
            <a:prstGeom prst="rect">
              <a:avLst/>
            </a:prstGeom>
            <a:solidFill>
              <a:srgbClr val="665444"/>
            </a:solidFill>
            <a:ln w="0">
              <a:noFill/>
              <a:prstDash val="solid"/>
            </a:ln>
          </p:spPr>
          <p:txBody>
            <a:bodyPr/>
            <a:lstStyle/>
            <a:p>
              <a:endParaRPr sz="1200"/>
            </a:p>
          </p:txBody>
        </p:sp>
        <p:sp>
          <p:nvSpPr>
            <p:cNvPr id="51" name="s1-settlement__rect_51">
              <a:extLst>
                <a:ext uri="{FF2B5EF4-FFF2-40B4-BE49-F238E27FC236}">
                  <a16:creationId xmlns:a16="http://schemas.microsoft.com/office/drawing/2014/main" id="{9EA737B0-92E1-4C6F-A46C-F8EFC0A25CB9}"/>
                </a:ext>
              </a:extLst>
            </p:cNvPr>
            <p:cNvSpPr>
              <a:spLocks/>
            </p:cNvSpPr>
            <p:nvPr/>
          </p:nvSpPr>
          <p:spPr>
            <a:xfrm>
              <a:off x="755650" y="2774950"/>
              <a:ext cx="101600" cy="114300"/>
            </a:xfrm>
            <a:prstGeom prst="rect">
              <a:avLst/>
            </a:prstGeom>
            <a:solidFill>
              <a:srgbClr val="7B6751"/>
            </a:solidFill>
            <a:ln w="0">
              <a:noFill/>
              <a:prstDash val="solid"/>
            </a:ln>
          </p:spPr>
          <p:txBody>
            <a:bodyPr/>
            <a:lstStyle/>
            <a:p>
              <a:endParaRPr sz="1200"/>
            </a:p>
          </p:txBody>
        </p:sp>
        <p:sp>
          <p:nvSpPr>
            <p:cNvPr id="52" name="s1-settlement__rect_52">
              <a:extLst>
                <a:ext uri="{FF2B5EF4-FFF2-40B4-BE49-F238E27FC236}">
                  <a16:creationId xmlns:a16="http://schemas.microsoft.com/office/drawing/2014/main" id="{E9FB7B61-DB00-402C-A519-B41043E0E449}"/>
                </a:ext>
              </a:extLst>
            </p:cNvPr>
            <p:cNvSpPr>
              <a:spLocks/>
            </p:cNvSpPr>
            <p:nvPr/>
          </p:nvSpPr>
          <p:spPr>
            <a:xfrm>
              <a:off x="1193800" y="2794000"/>
              <a:ext cx="76200" cy="95250"/>
            </a:xfrm>
            <a:prstGeom prst="rect">
              <a:avLst/>
            </a:prstGeom>
            <a:solidFill>
              <a:srgbClr val="7B6751"/>
            </a:solidFill>
            <a:ln w="0">
              <a:noFill/>
              <a:prstDash val="solid"/>
            </a:ln>
          </p:spPr>
          <p:txBody>
            <a:bodyPr/>
            <a:lstStyle/>
            <a:p>
              <a:endParaRPr sz="1200"/>
            </a:p>
          </p:txBody>
        </p:sp>
        <p:sp>
          <p:nvSpPr>
            <p:cNvPr id="53" name="s1-settlement__line_53">
              <a:extLst>
                <a:ext uri="{FF2B5EF4-FFF2-40B4-BE49-F238E27FC236}">
                  <a16:creationId xmlns:a16="http://schemas.microsoft.com/office/drawing/2014/main" id="{C02B0FB2-A527-4C76-BDC5-244FF953CBB1}"/>
                </a:ext>
              </a:extLst>
            </p:cNvPr>
            <p:cNvSpPr>
              <a:spLocks/>
            </p:cNvSpPr>
            <p:nvPr/>
          </p:nvSpPr>
          <p:spPr>
            <a:xfrm>
              <a:off x="927100" y="2838450"/>
              <a:ext cx="165100" cy="63"/>
            </a:xfrm>
            <a:custGeom>
              <a:avLst/>
              <a:gdLst/>
              <a:ahLst/>
              <a:cxnLst/>
              <a:rect l="0" t="0" r="0" b="0"/>
              <a:pathLst>
                <a:path w="247650" h="95">
                  <a:moveTo>
                    <a:pt x="0" y="0"/>
                  </a:moveTo>
                  <a:lnTo>
                    <a:pt x="247650" y="0"/>
                  </a:lnTo>
                </a:path>
              </a:pathLst>
            </a:custGeom>
            <a:noFill/>
            <a:ln w="19050">
              <a:solidFill>
                <a:srgbClr val="9B7C59"/>
              </a:solidFill>
              <a:prstDash val="solid"/>
            </a:ln>
          </p:spPr>
          <p:txBody>
            <a:bodyPr/>
            <a:lstStyle/>
            <a:p>
              <a:endParaRPr sz="1200"/>
            </a:p>
          </p:txBody>
        </p:sp>
        <p:sp>
          <p:nvSpPr>
            <p:cNvPr id="54" name="s1-settlement__path_54">
              <a:extLst>
                <a:ext uri="{FF2B5EF4-FFF2-40B4-BE49-F238E27FC236}">
                  <a16:creationId xmlns:a16="http://schemas.microsoft.com/office/drawing/2014/main" id="{DFA175CF-3452-4837-8EB3-9DC0D8F08E46}"/>
                </a:ext>
              </a:extLst>
            </p:cNvPr>
            <p:cNvSpPr>
              <a:spLocks/>
            </p:cNvSpPr>
            <p:nvPr/>
          </p:nvSpPr>
          <p:spPr>
            <a:xfrm>
              <a:off x="552450" y="2368550"/>
              <a:ext cx="908050" cy="311150"/>
            </a:xfrm>
            <a:custGeom>
              <a:avLst/>
              <a:gdLst/>
              <a:ahLst/>
              <a:cxnLst/>
              <a:rect l="0" t="0" r="0" b="0"/>
              <a:pathLst>
                <a:path w="1362075" h="466725">
                  <a:moveTo>
                    <a:pt x="0" y="466725"/>
                  </a:moveTo>
                  <a:lnTo>
                    <a:pt x="666750" y="0"/>
                  </a:lnTo>
                  <a:lnTo>
                    <a:pt x="1362075" y="466725"/>
                  </a:lnTo>
                  <a:close/>
                </a:path>
              </a:pathLst>
            </a:custGeom>
            <a:solidFill>
              <a:srgbClr val="B68A55"/>
            </a:solidFill>
            <a:ln w="17145">
              <a:solidFill>
                <a:srgbClr val="776750"/>
              </a:solidFill>
              <a:prstDash val="solid"/>
            </a:ln>
          </p:spPr>
          <p:txBody>
            <a:bodyPr/>
            <a:lstStyle/>
            <a:p>
              <a:endParaRPr sz="1200"/>
            </a:p>
          </p:txBody>
        </p:sp>
        <p:sp>
          <p:nvSpPr>
            <p:cNvPr id="55" name="s1-settlement__path_55">
              <a:extLst>
                <a:ext uri="{FF2B5EF4-FFF2-40B4-BE49-F238E27FC236}">
                  <a16:creationId xmlns:a16="http://schemas.microsoft.com/office/drawing/2014/main" id="{235E70E9-96A0-4393-BB49-D27A923B4407}"/>
                </a:ext>
              </a:extLst>
            </p:cNvPr>
            <p:cNvSpPr>
              <a:spLocks/>
            </p:cNvSpPr>
            <p:nvPr/>
          </p:nvSpPr>
          <p:spPr>
            <a:xfrm>
              <a:off x="552450" y="2679700"/>
              <a:ext cx="908050" cy="50800"/>
            </a:xfrm>
            <a:custGeom>
              <a:avLst/>
              <a:gdLst/>
              <a:ahLst/>
              <a:cxnLst/>
              <a:rect l="0" t="0" r="0" b="0"/>
              <a:pathLst>
                <a:path w="1362075" h="76200">
                  <a:moveTo>
                    <a:pt x="0" y="0"/>
                  </a:moveTo>
                  <a:lnTo>
                    <a:pt x="1362075" y="0"/>
                  </a:lnTo>
                  <a:lnTo>
                    <a:pt x="1247775" y="76200"/>
                  </a:lnTo>
                  <a:lnTo>
                    <a:pt x="114300" y="76200"/>
                  </a:lnTo>
                  <a:close/>
                </a:path>
              </a:pathLst>
            </a:custGeom>
            <a:solidFill>
              <a:srgbClr val="BE965D"/>
            </a:solidFill>
            <a:ln w="11430">
              <a:solidFill>
                <a:srgbClr val="776750"/>
              </a:solidFill>
              <a:prstDash val="solid"/>
            </a:ln>
          </p:spPr>
          <p:txBody>
            <a:bodyPr/>
            <a:lstStyle/>
            <a:p>
              <a:endParaRPr sz="1200"/>
            </a:p>
          </p:txBody>
        </p:sp>
        <p:sp>
          <p:nvSpPr>
            <p:cNvPr id="56" name="s1-settlement__line_56">
              <a:extLst>
                <a:ext uri="{FF2B5EF4-FFF2-40B4-BE49-F238E27FC236}">
                  <a16:creationId xmlns:a16="http://schemas.microsoft.com/office/drawing/2014/main" id="{69F34E67-48F3-4D81-993B-93E2264D9350}"/>
                </a:ext>
              </a:extLst>
            </p:cNvPr>
            <p:cNvSpPr>
              <a:spLocks/>
            </p:cNvSpPr>
            <p:nvPr/>
          </p:nvSpPr>
          <p:spPr>
            <a:xfrm>
              <a:off x="660400" y="2419350"/>
              <a:ext cx="323850" cy="228600"/>
            </a:xfrm>
            <a:custGeom>
              <a:avLst/>
              <a:gdLst/>
              <a:ahLst/>
              <a:cxnLst/>
              <a:rect l="0" t="0" r="0" b="0"/>
              <a:pathLst>
                <a:path w="485775" h="342900">
                  <a:moveTo>
                    <a:pt x="485775" y="0"/>
                  </a:moveTo>
                  <a:lnTo>
                    <a:pt x="0" y="342900"/>
                  </a:lnTo>
                </a:path>
              </a:pathLst>
            </a:custGeom>
            <a:noFill/>
            <a:ln w="13335">
              <a:solidFill>
                <a:srgbClr val="D4B480"/>
              </a:solidFill>
              <a:prstDash val="solid"/>
            </a:ln>
          </p:spPr>
          <p:txBody>
            <a:bodyPr/>
            <a:lstStyle/>
            <a:p>
              <a:endParaRPr sz="1200"/>
            </a:p>
          </p:txBody>
        </p:sp>
        <p:sp>
          <p:nvSpPr>
            <p:cNvPr id="57" name="s1-settlement__line_57">
              <a:extLst>
                <a:ext uri="{FF2B5EF4-FFF2-40B4-BE49-F238E27FC236}">
                  <a16:creationId xmlns:a16="http://schemas.microsoft.com/office/drawing/2014/main" id="{117AF72E-F7BD-4778-B869-E917D98C0A86}"/>
                </a:ext>
              </a:extLst>
            </p:cNvPr>
            <p:cNvSpPr>
              <a:spLocks/>
            </p:cNvSpPr>
            <p:nvPr/>
          </p:nvSpPr>
          <p:spPr>
            <a:xfrm>
              <a:off x="793750" y="2432050"/>
              <a:ext cx="209550" cy="222250"/>
            </a:xfrm>
            <a:custGeom>
              <a:avLst/>
              <a:gdLst/>
              <a:ahLst/>
              <a:cxnLst/>
              <a:rect l="0" t="0" r="0" b="0"/>
              <a:pathLst>
                <a:path w="314325" h="333375">
                  <a:moveTo>
                    <a:pt x="314325" y="0"/>
                  </a:moveTo>
                  <a:lnTo>
                    <a:pt x="0" y="333375"/>
                  </a:lnTo>
                </a:path>
              </a:pathLst>
            </a:custGeom>
            <a:noFill/>
            <a:ln w="13335">
              <a:solidFill>
                <a:srgbClr val="D4B480"/>
              </a:solidFill>
              <a:prstDash val="solid"/>
            </a:ln>
          </p:spPr>
          <p:txBody>
            <a:bodyPr/>
            <a:lstStyle/>
            <a:p>
              <a:endParaRPr sz="1200"/>
            </a:p>
          </p:txBody>
        </p:sp>
        <p:sp>
          <p:nvSpPr>
            <p:cNvPr id="58" name="s1-settlement__line_58">
              <a:extLst>
                <a:ext uri="{FF2B5EF4-FFF2-40B4-BE49-F238E27FC236}">
                  <a16:creationId xmlns:a16="http://schemas.microsoft.com/office/drawing/2014/main" id="{F9CB1EDB-35BE-4A69-A17B-EE0483764765}"/>
                </a:ext>
              </a:extLst>
            </p:cNvPr>
            <p:cNvSpPr>
              <a:spLocks/>
            </p:cNvSpPr>
            <p:nvPr/>
          </p:nvSpPr>
          <p:spPr>
            <a:xfrm>
              <a:off x="914400" y="2438400"/>
              <a:ext cx="107950" cy="209550"/>
            </a:xfrm>
            <a:custGeom>
              <a:avLst/>
              <a:gdLst/>
              <a:ahLst/>
              <a:cxnLst/>
              <a:rect l="0" t="0" r="0" b="0"/>
              <a:pathLst>
                <a:path w="161925" h="314325">
                  <a:moveTo>
                    <a:pt x="161925" y="0"/>
                  </a:moveTo>
                  <a:lnTo>
                    <a:pt x="0" y="314325"/>
                  </a:lnTo>
                </a:path>
              </a:pathLst>
            </a:custGeom>
            <a:noFill/>
            <a:ln w="13335">
              <a:solidFill>
                <a:srgbClr val="D4B480"/>
              </a:solidFill>
              <a:prstDash val="solid"/>
            </a:ln>
          </p:spPr>
          <p:txBody>
            <a:bodyPr/>
            <a:lstStyle/>
            <a:p>
              <a:endParaRPr sz="1200"/>
            </a:p>
          </p:txBody>
        </p:sp>
        <p:sp>
          <p:nvSpPr>
            <p:cNvPr id="59" name="s1-settlement__line_59">
              <a:extLst>
                <a:ext uri="{FF2B5EF4-FFF2-40B4-BE49-F238E27FC236}">
                  <a16:creationId xmlns:a16="http://schemas.microsoft.com/office/drawing/2014/main" id="{D3C68F3C-60AB-48FA-A99F-F10740C89FB6}"/>
                </a:ext>
              </a:extLst>
            </p:cNvPr>
            <p:cNvSpPr>
              <a:spLocks/>
            </p:cNvSpPr>
            <p:nvPr/>
          </p:nvSpPr>
          <p:spPr>
            <a:xfrm>
              <a:off x="1035050" y="2457450"/>
              <a:ext cx="44450" cy="196850"/>
            </a:xfrm>
            <a:custGeom>
              <a:avLst/>
              <a:gdLst/>
              <a:ahLst/>
              <a:cxnLst/>
              <a:rect l="0" t="0" r="0" b="0"/>
              <a:pathLst>
                <a:path w="66675" h="295275">
                  <a:moveTo>
                    <a:pt x="0" y="0"/>
                  </a:moveTo>
                  <a:lnTo>
                    <a:pt x="66675" y="295275"/>
                  </a:lnTo>
                </a:path>
              </a:pathLst>
            </a:custGeom>
            <a:noFill/>
            <a:ln w="13335">
              <a:solidFill>
                <a:srgbClr val="D4B480"/>
              </a:solidFill>
              <a:prstDash val="solid"/>
            </a:ln>
          </p:spPr>
          <p:txBody>
            <a:bodyPr/>
            <a:lstStyle/>
            <a:p>
              <a:endParaRPr sz="1200"/>
            </a:p>
          </p:txBody>
        </p:sp>
        <p:sp>
          <p:nvSpPr>
            <p:cNvPr id="60" name="s1-settlement__line_60">
              <a:extLst>
                <a:ext uri="{FF2B5EF4-FFF2-40B4-BE49-F238E27FC236}">
                  <a16:creationId xmlns:a16="http://schemas.microsoft.com/office/drawing/2014/main" id="{6A434C82-EFA9-4BCB-922D-BDA216E373C2}"/>
                </a:ext>
              </a:extLst>
            </p:cNvPr>
            <p:cNvSpPr>
              <a:spLocks/>
            </p:cNvSpPr>
            <p:nvPr/>
          </p:nvSpPr>
          <p:spPr>
            <a:xfrm>
              <a:off x="1054100" y="2451100"/>
              <a:ext cx="190500" cy="203200"/>
            </a:xfrm>
            <a:custGeom>
              <a:avLst/>
              <a:gdLst/>
              <a:ahLst/>
              <a:cxnLst/>
              <a:rect l="0" t="0" r="0" b="0"/>
              <a:pathLst>
                <a:path w="285750" h="304800">
                  <a:moveTo>
                    <a:pt x="0" y="0"/>
                  </a:moveTo>
                  <a:lnTo>
                    <a:pt x="285750" y="304800"/>
                  </a:lnTo>
                </a:path>
              </a:pathLst>
            </a:custGeom>
            <a:noFill/>
            <a:ln w="13335">
              <a:solidFill>
                <a:srgbClr val="D4B480"/>
              </a:solidFill>
              <a:prstDash val="solid"/>
            </a:ln>
          </p:spPr>
          <p:txBody>
            <a:bodyPr/>
            <a:lstStyle/>
            <a:p>
              <a:endParaRPr sz="1200"/>
            </a:p>
          </p:txBody>
        </p:sp>
        <p:sp>
          <p:nvSpPr>
            <p:cNvPr id="61" name="s1-settlement__line_61">
              <a:extLst>
                <a:ext uri="{FF2B5EF4-FFF2-40B4-BE49-F238E27FC236}">
                  <a16:creationId xmlns:a16="http://schemas.microsoft.com/office/drawing/2014/main" id="{11CD2B2C-AAE5-4180-A040-4367E8DAB65A}"/>
                </a:ext>
              </a:extLst>
            </p:cNvPr>
            <p:cNvSpPr>
              <a:spLocks/>
            </p:cNvSpPr>
            <p:nvPr/>
          </p:nvSpPr>
          <p:spPr>
            <a:xfrm>
              <a:off x="1073150" y="2470150"/>
              <a:ext cx="311150" cy="190500"/>
            </a:xfrm>
            <a:custGeom>
              <a:avLst/>
              <a:gdLst/>
              <a:ahLst/>
              <a:cxnLst/>
              <a:rect l="0" t="0" r="0" b="0"/>
              <a:pathLst>
                <a:path w="466725" h="285750">
                  <a:moveTo>
                    <a:pt x="0" y="0"/>
                  </a:moveTo>
                  <a:lnTo>
                    <a:pt x="466725" y="285750"/>
                  </a:lnTo>
                </a:path>
              </a:pathLst>
            </a:custGeom>
            <a:noFill/>
            <a:ln w="13335">
              <a:solidFill>
                <a:srgbClr val="D4B480"/>
              </a:solidFill>
              <a:prstDash val="solid"/>
            </a:ln>
          </p:spPr>
          <p:txBody>
            <a:bodyPr/>
            <a:lstStyle/>
            <a:p>
              <a:endParaRPr sz="1200"/>
            </a:p>
          </p:txBody>
        </p:sp>
        <p:sp>
          <p:nvSpPr>
            <p:cNvPr id="62" name="s1-settlement__line_62">
              <a:extLst>
                <a:ext uri="{FF2B5EF4-FFF2-40B4-BE49-F238E27FC236}">
                  <a16:creationId xmlns:a16="http://schemas.microsoft.com/office/drawing/2014/main" id="{4A097E32-8CDB-4DB0-BD0C-6C495247206C}"/>
                </a:ext>
              </a:extLst>
            </p:cNvPr>
            <p:cNvSpPr>
              <a:spLocks/>
            </p:cNvSpPr>
            <p:nvPr/>
          </p:nvSpPr>
          <p:spPr>
            <a:xfrm>
              <a:off x="711200" y="2978150"/>
              <a:ext cx="63" cy="107950"/>
            </a:xfrm>
            <a:custGeom>
              <a:avLst/>
              <a:gdLst/>
              <a:ahLst/>
              <a:cxnLst/>
              <a:rect l="0" t="0" r="0" b="0"/>
              <a:pathLst>
                <a:path w="95" h="161925">
                  <a:moveTo>
                    <a:pt x="0" y="0"/>
                  </a:moveTo>
                  <a:lnTo>
                    <a:pt x="0" y="161925"/>
                  </a:lnTo>
                </a:path>
              </a:pathLst>
            </a:custGeom>
            <a:noFill/>
            <a:ln w="9525">
              <a:solidFill>
                <a:srgbClr val="B4936E"/>
              </a:solidFill>
              <a:prstDash val="solid"/>
            </a:ln>
          </p:spPr>
          <p:txBody>
            <a:bodyPr/>
            <a:lstStyle/>
            <a:p>
              <a:endParaRPr sz="1200"/>
            </a:p>
          </p:txBody>
        </p:sp>
        <p:sp>
          <p:nvSpPr>
            <p:cNvPr id="63" name="s1-settlement__line_63">
              <a:extLst>
                <a:ext uri="{FF2B5EF4-FFF2-40B4-BE49-F238E27FC236}">
                  <a16:creationId xmlns:a16="http://schemas.microsoft.com/office/drawing/2014/main" id="{DA7A4768-74D1-480F-82CF-70544216C839}"/>
                </a:ext>
              </a:extLst>
            </p:cNvPr>
            <p:cNvSpPr>
              <a:spLocks/>
            </p:cNvSpPr>
            <p:nvPr/>
          </p:nvSpPr>
          <p:spPr>
            <a:xfrm>
              <a:off x="1301750" y="2971800"/>
              <a:ext cx="63" cy="114300"/>
            </a:xfrm>
            <a:custGeom>
              <a:avLst/>
              <a:gdLst/>
              <a:ahLst/>
              <a:cxnLst/>
              <a:rect l="0" t="0" r="0" b="0"/>
              <a:pathLst>
                <a:path w="95" h="171450">
                  <a:moveTo>
                    <a:pt x="0" y="0"/>
                  </a:moveTo>
                  <a:lnTo>
                    <a:pt x="0" y="171450"/>
                  </a:lnTo>
                </a:path>
              </a:pathLst>
            </a:custGeom>
            <a:noFill/>
            <a:ln w="9525">
              <a:solidFill>
                <a:srgbClr val="B4936E"/>
              </a:solidFill>
              <a:prstDash val="solid"/>
            </a:ln>
          </p:spPr>
          <p:txBody>
            <a:bodyPr/>
            <a:lstStyle/>
            <a:p>
              <a:endParaRPr sz="1200"/>
            </a:p>
          </p:txBody>
        </p:sp>
        <p:sp>
          <p:nvSpPr>
            <p:cNvPr id="64" name="s1-cereal-back-0__contour_64">
              <a:extLst>
                <a:ext uri="{FF2B5EF4-FFF2-40B4-BE49-F238E27FC236}">
                  <a16:creationId xmlns:a16="http://schemas.microsoft.com/office/drawing/2014/main" id="{73A25E78-BEE7-4F6A-96EC-7D287C098C20}"/>
                </a:ext>
              </a:extLst>
            </p:cNvPr>
            <p:cNvSpPr>
              <a:spLocks/>
            </p:cNvSpPr>
            <p:nvPr/>
          </p:nvSpPr>
          <p:spPr>
            <a:xfrm>
              <a:off x="1745030" y="26158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65" name="s1-cereal-back-0__contour_65">
              <a:extLst>
                <a:ext uri="{FF2B5EF4-FFF2-40B4-BE49-F238E27FC236}">
                  <a16:creationId xmlns:a16="http://schemas.microsoft.com/office/drawing/2014/main" id="{FD9E7CF4-6AAB-4496-8152-0397A210D550}"/>
                </a:ext>
              </a:extLst>
            </p:cNvPr>
            <p:cNvSpPr>
              <a:spLocks/>
            </p:cNvSpPr>
            <p:nvPr/>
          </p:nvSpPr>
          <p:spPr>
            <a:xfrm>
              <a:off x="1678432" y="26996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66" name="s1-cereal-back-0__contour_66">
              <a:extLst>
                <a:ext uri="{FF2B5EF4-FFF2-40B4-BE49-F238E27FC236}">
                  <a16:creationId xmlns:a16="http://schemas.microsoft.com/office/drawing/2014/main" id="{BECCAB84-E6F5-4510-9920-89E16D42215D}"/>
                </a:ext>
              </a:extLst>
            </p:cNvPr>
            <p:cNvSpPr>
              <a:spLocks/>
            </p:cNvSpPr>
            <p:nvPr/>
          </p:nvSpPr>
          <p:spPr>
            <a:xfrm>
              <a:off x="1753870" y="26828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67" name="s1-cereal-back-0__contour_67">
              <a:extLst>
                <a:ext uri="{FF2B5EF4-FFF2-40B4-BE49-F238E27FC236}">
                  <a16:creationId xmlns:a16="http://schemas.microsoft.com/office/drawing/2014/main" id="{D76D5DFE-46E1-42C2-B584-1A80451BAEAB}"/>
                </a:ext>
              </a:extLst>
            </p:cNvPr>
            <p:cNvSpPr>
              <a:spLocks/>
            </p:cNvSpPr>
            <p:nvPr/>
          </p:nvSpPr>
          <p:spPr>
            <a:xfrm>
              <a:off x="1783207" y="26263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68" name="s1-cereal-back-0__ellipse_68">
              <a:extLst>
                <a:ext uri="{FF2B5EF4-FFF2-40B4-BE49-F238E27FC236}">
                  <a16:creationId xmlns:a16="http://schemas.microsoft.com/office/drawing/2014/main" id="{74FE4046-4856-4394-AAFC-BF5979D6EA39}"/>
                </a:ext>
              </a:extLst>
            </p:cNvPr>
            <p:cNvSpPr>
              <a:spLocks/>
            </p:cNvSpPr>
            <p:nvPr/>
          </p:nvSpPr>
          <p:spPr>
            <a:xfrm>
              <a:off x="1795779" y="2636774"/>
              <a:ext cx="16763" cy="25146"/>
            </a:xfrm>
            <a:prstGeom prst="ellipse">
              <a:avLst/>
            </a:prstGeom>
            <a:solidFill>
              <a:srgbClr val="CCB166"/>
            </a:solidFill>
            <a:ln w="3143">
              <a:solidFill>
                <a:srgbClr val="A28A50"/>
              </a:solidFill>
              <a:prstDash val="solid"/>
            </a:ln>
          </p:spPr>
          <p:txBody>
            <a:bodyPr/>
            <a:lstStyle/>
            <a:p>
              <a:endParaRPr sz="1200"/>
            </a:p>
          </p:txBody>
        </p:sp>
        <p:sp>
          <p:nvSpPr>
            <p:cNvPr id="69" name="s1-cereal-back-0__ellipse_69">
              <a:extLst>
                <a:ext uri="{FF2B5EF4-FFF2-40B4-BE49-F238E27FC236}">
                  <a16:creationId xmlns:a16="http://schemas.microsoft.com/office/drawing/2014/main" id="{E884F186-A5C7-4810-AD92-5106CEC80C9B}"/>
                </a:ext>
              </a:extLst>
            </p:cNvPr>
            <p:cNvSpPr>
              <a:spLocks/>
            </p:cNvSpPr>
            <p:nvPr/>
          </p:nvSpPr>
          <p:spPr>
            <a:xfrm>
              <a:off x="1804161" y="2653538"/>
              <a:ext cx="16763" cy="25146"/>
            </a:xfrm>
            <a:prstGeom prst="ellipse">
              <a:avLst/>
            </a:prstGeom>
            <a:solidFill>
              <a:srgbClr val="CCB166"/>
            </a:solidFill>
            <a:ln w="3143">
              <a:solidFill>
                <a:srgbClr val="A28A50"/>
              </a:solidFill>
              <a:prstDash val="solid"/>
            </a:ln>
          </p:spPr>
          <p:txBody>
            <a:bodyPr/>
            <a:lstStyle/>
            <a:p>
              <a:endParaRPr sz="1200"/>
            </a:p>
          </p:txBody>
        </p:sp>
        <p:sp>
          <p:nvSpPr>
            <p:cNvPr id="70" name="s1-cereal-back-0__ellipse_70">
              <a:extLst>
                <a:ext uri="{FF2B5EF4-FFF2-40B4-BE49-F238E27FC236}">
                  <a16:creationId xmlns:a16="http://schemas.microsoft.com/office/drawing/2014/main" id="{E0CE9DB2-3BC1-4B77-AB09-7BCE36FFEBE5}"/>
                </a:ext>
              </a:extLst>
            </p:cNvPr>
            <p:cNvSpPr>
              <a:spLocks/>
            </p:cNvSpPr>
            <p:nvPr/>
          </p:nvSpPr>
          <p:spPr>
            <a:xfrm>
              <a:off x="1795779" y="2670302"/>
              <a:ext cx="16763" cy="25146"/>
            </a:xfrm>
            <a:prstGeom prst="ellipse">
              <a:avLst/>
            </a:prstGeom>
            <a:solidFill>
              <a:srgbClr val="CCB166"/>
            </a:solidFill>
            <a:ln w="3143">
              <a:solidFill>
                <a:srgbClr val="A28A50"/>
              </a:solidFill>
              <a:prstDash val="solid"/>
            </a:ln>
          </p:spPr>
          <p:txBody>
            <a:bodyPr/>
            <a:lstStyle/>
            <a:p>
              <a:endParaRPr sz="1200"/>
            </a:p>
          </p:txBody>
        </p:sp>
        <p:sp>
          <p:nvSpPr>
            <p:cNvPr id="71" name="s1-cereal-back-0__ellipse_71">
              <a:extLst>
                <a:ext uri="{FF2B5EF4-FFF2-40B4-BE49-F238E27FC236}">
                  <a16:creationId xmlns:a16="http://schemas.microsoft.com/office/drawing/2014/main" id="{92FF228C-9AD3-46E1-AFD6-5178FE17E66F}"/>
                </a:ext>
              </a:extLst>
            </p:cNvPr>
            <p:cNvSpPr>
              <a:spLocks/>
            </p:cNvSpPr>
            <p:nvPr/>
          </p:nvSpPr>
          <p:spPr>
            <a:xfrm>
              <a:off x="1804161" y="2687066"/>
              <a:ext cx="16763" cy="25146"/>
            </a:xfrm>
            <a:prstGeom prst="ellipse">
              <a:avLst/>
            </a:prstGeom>
            <a:solidFill>
              <a:srgbClr val="CCB166"/>
            </a:solidFill>
            <a:ln w="3143">
              <a:solidFill>
                <a:srgbClr val="A28A50"/>
              </a:solidFill>
              <a:prstDash val="solid"/>
            </a:ln>
          </p:spPr>
          <p:txBody>
            <a:bodyPr/>
            <a:lstStyle/>
            <a:p>
              <a:endParaRPr sz="1200"/>
            </a:p>
          </p:txBody>
        </p:sp>
        <p:sp>
          <p:nvSpPr>
            <p:cNvPr id="72" name="s1-cereal-back-1__contour_72">
              <a:extLst>
                <a:ext uri="{FF2B5EF4-FFF2-40B4-BE49-F238E27FC236}">
                  <a16:creationId xmlns:a16="http://schemas.microsoft.com/office/drawing/2014/main" id="{7BAA8DF4-7CDD-4AF6-8E10-2CC734779E1F}"/>
                </a:ext>
              </a:extLst>
            </p:cNvPr>
            <p:cNvSpPr>
              <a:spLocks/>
            </p:cNvSpPr>
            <p:nvPr/>
          </p:nvSpPr>
          <p:spPr>
            <a:xfrm>
              <a:off x="1929181" y="26602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73" name="s1-cereal-back-1__contour_73">
              <a:extLst>
                <a:ext uri="{FF2B5EF4-FFF2-40B4-BE49-F238E27FC236}">
                  <a16:creationId xmlns:a16="http://schemas.microsoft.com/office/drawing/2014/main" id="{4C027AA2-64B3-4357-A7DD-24F372ACA0BF}"/>
                </a:ext>
              </a:extLst>
            </p:cNvPr>
            <p:cNvSpPr>
              <a:spLocks/>
            </p:cNvSpPr>
            <p:nvPr/>
          </p:nvSpPr>
          <p:spPr>
            <a:xfrm>
              <a:off x="1862582" y="27440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74" name="s1-cereal-back-1__contour_74">
              <a:extLst>
                <a:ext uri="{FF2B5EF4-FFF2-40B4-BE49-F238E27FC236}">
                  <a16:creationId xmlns:a16="http://schemas.microsoft.com/office/drawing/2014/main" id="{4857596D-51FC-40B5-8196-FE35F6AF3338}"/>
                </a:ext>
              </a:extLst>
            </p:cNvPr>
            <p:cNvSpPr>
              <a:spLocks/>
            </p:cNvSpPr>
            <p:nvPr/>
          </p:nvSpPr>
          <p:spPr>
            <a:xfrm>
              <a:off x="1938020" y="27273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75" name="s1-cereal-back-1__contour_75">
              <a:extLst>
                <a:ext uri="{FF2B5EF4-FFF2-40B4-BE49-F238E27FC236}">
                  <a16:creationId xmlns:a16="http://schemas.microsoft.com/office/drawing/2014/main" id="{385DE767-1E6B-4BAD-8F9A-2ED5BD7CDDC9}"/>
                </a:ext>
              </a:extLst>
            </p:cNvPr>
            <p:cNvSpPr>
              <a:spLocks/>
            </p:cNvSpPr>
            <p:nvPr/>
          </p:nvSpPr>
          <p:spPr>
            <a:xfrm>
              <a:off x="1967357" y="26707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76" name="s1-cereal-back-1__ellipse_76">
              <a:extLst>
                <a:ext uri="{FF2B5EF4-FFF2-40B4-BE49-F238E27FC236}">
                  <a16:creationId xmlns:a16="http://schemas.microsoft.com/office/drawing/2014/main" id="{6AABBEBA-4992-4A48-A5F6-D8AE29DD00EA}"/>
                </a:ext>
              </a:extLst>
            </p:cNvPr>
            <p:cNvSpPr>
              <a:spLocks/>
            </p:cNvSpPr>
            <p:nvPr/>
          </p:nvSpPr>
          <p:spPr>
            <a:xfrm>
              <a:off x="1979930" y="2681224"/>
              <a:ext cx="16763" cy="25146"/>
            </a:xfrm>
            <a:prstGeom prst="ellipse">
              <a:avLst/>
            </a:prstGeom>
            <a:solidFill>
              <a:srgbClr val="CCB166"/>
            </a:solidFill>
            <a:ln w="3143">
              <a:solidFill>
                <a:srgbClr val="A28A50"/>
              </a:solidFill>
              <a:prstDash val="solid"/>
            </a:ln>
          </p:spPr>
          <p:txBody>
            <a:bodyPr/>
            <a:lstStyle/>
            <a:p>
              <a:endParaRPr sz="1200"/>
            </a:p>
          </p:txBody>
        </p:sp>
        <p:sp>
          <p:nvSpPr>
            <p:cNvPr id="77" name="s1-cereal-back-1__ellipse_77">
              <a:extLst>
                <a:ext uri="{FF2B5EF4-FFF2-40B4-BE49-F238E27FC236}">
                  <a16:creationId xmlns:a16="http://schemas.microsoft.com/office/drawing/2014/main" id="{618742AA-7080-402B-9139-E0BA5A318935}"/>
                </a:ext>
              </a:extLst>
            </p:cNvPr>
            <p:cNvSpPr>
              <a:spLocks/>
            </p:cNvSpPr>
            <p:nvPr/>
          </p:nvSpPr>
          <p:spPr>
            <a:xfrm>
              <a:off x="1988312" y="2697988"/>
              <a:ext cx="16763" cy="25146"/>
            </a:xfrm>
            <a:prstGeom prst="ellipse">
              <a:avLst/>
            </a:prstGeom>
            <a:solidFill>
              <a:srgbClr val="CCB166"/>
            </a:solidFill>
            <a:ln w="3143">
              <a:solidFill>
                <a:srgbClr val="A28A50"/>
              </a:solidFill>
              <a:prstDash val="solid"/>
            </a:ln>
          </p:spPr>
          <p:txBody>
            <a:bodyPr/>
            <a:lstStyle/>
            <a:p>
              <a:endParaRPr sz="1200"/>
            </a:p>
          </p:txBody>
        </p:sp>
        <p:sp>
          <p:nvSpPr>
            <p:cNvPr id="78" name="s1-cereal-back-1__ellipse_78">
              <a:extLst>
                <a:ext uri="{FF2B5EF4-FFF2-40B4-BE49-F238E27FC236}">
                  <a16:creationId xmlns:a16="http://schemas.microsoft.com/office/drawing/2014/main" id="{A1605EBF-C6A2-44E1-81B7-EB14E50E925A}"/>
                </a:ext>
              </a:extLst>
            </p:cNvPr>
            <p:cNvSpPr>
              <a:spLocks/>
            </p:cNvSpPr>
            <p:nvPr/>
          </p:nvSpPr>
          <p:spPr>
            <a:xfrm>
              <a:off x="1979930" y="2714752"/>
              <a:ext cx="16763" cy="25146"/>
            </a:xfrm>
            <a:prstGeom prst="ellipse">
              <a:avLst/>
            </a:prstGeom>
            <a:solidFill>
              <a:srgbClr val="CCB166"/>
            </a:solidFill>
            <a:ln w="3143">
              <a:solidFill>
                <a:srgbClr val="A28A50"/>
              </a:solidFill>
              <a:prstDash val="solid"/>
            </a:ln>
          </p:spPr>
          <p:txBody>
            <a:bodyPr/>
            <a:lstStyle/>
            <a:p>
              <a:endParaRPr sz="1200"/>
            </a:p>
          </p:txBody>
        </p:sp>
        <p:sp>
          <p:nvSpPr>
            <p:cNvPr id="79" name="s1-cereal-back-1__ellipse_79">
              <a:extLst>
                <a:ext uri="{FF2B5EF4-FFF2-40B4-BE49-F238E27FC236}">
                  <a16:creationId xmlns:a16="http://schemas.microsoft.com/office/drawing/2014/main" id="{BBA8CC46-D0CB-4B07-8395-9DF4E120597A}"/>
                </a:ext>
              </a:extLst>
            </p:cNvPr>
            <p:cNvSpPr>
              <a:spLocks/>
            </p:cNvSpPr>
            <p:nvPr/>
          </p:nvSpPr>
          <p:spPr>
            <a:xfrm>
              <a:off x="1988312" y="2731516"/>
              <a:ext cx="16763" cy="25146"/>
            </a:xfrm>
            <a:prstGeom prst="ellipse">
              <a:avLst/>
            </a:prstGeom>
            <a:solidFill>
              <a:srgbClr val="CCB166"/>
            </a:solidFill>
            <a:ln w="3143">
              <a:solidFill>
                <a:srgbClr val="A28A50"/>
              </a:solidFill>
              <a:prstDash val="solid"/>
            </a:ln>
          </p:spPr>
          <p:txBody>
            <a:bodyPr/>
            <a:lstStyle/>
            <a:p>
              <a:endParaRPr sz="1200"/>
            </a:p>
          </p:txBody>
        </p:sp>
        <p:sp>
          <p:nvSpPr>
            <p:cNvPr id="80" name="s1-cereal-back-2__contour_80">
              <a:extLst>
                <a:ext uri="{FF2B5EF4-FFF2-40B4-BE49-F238E27FC236}">
                  <a16:creationId xmlns:a16="http://schemas.microsoft.com/office/drawing/2014/main" id="{B3D44195-6FC6-428F-87B0-A0A003796543}"/>
                </a:ext>
              </a:extLst>
            </p:cNvPr>
            <p:cNvSpPr>
              <a:spLocks/>
            </p:cNvSpPr>
            <p:nvPr/>
          </p:nvSpPr>
          <p:spPr>
            <a:xfrm>
              <a:off x="2113330" y="2704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1" name="s1-cereal-back-2__contour_81">
              <a:extLst>
                <a:ext uri="{FF2B5EF4-FFF2-40B4-BE49-F238E27FC236}">
                  <a16:creationId xmlns:a16="http://schemas.microsoft.com/office/drawing/2014/main" id="{BE07FC89-FF4C-4BD0-9CB7-83AE7D6E6D15}"/>
                </a:ext>
              </a:extLst>
            </p:cNvPr>
            <p:cNvSpPr>
              <a:spLocks/>
            </p:cNvSpPr>
            <p:nvPr/>
          </p:nvSpPr>
          <p:spPr>
            <a:xfrm>
              <a:off x="2046732" y="2788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82" name="s1-cereal-back-2__contour_82">
              <a:extLst>
                <a:ext uri="{FF2B5EF4-FFF2-40B4-BE49-F238E27FC236}">
                  <a16:creationId xmlns:a16="http://schemas.microsoft.com/office/drawing/2014/main" id="{9519DD85-2FF4-468D-AD5E-FAB8B6734D75}"/>
                </a:ext>
              </a:extLst>
            </p:cNvPr>
            <p:cNvSpPr>
              <a:spLocks/>
            </p:cNvSpPr>
            <p:nvPr/>
          </p:nvSpPr>
          <p:spPr>
            <a:xfrm>
              <a:off x="2122170" y="2771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83" name="s1-cereal-back-2__contour_83">
              <a:extLst>
                <a:ext uri="{FF2B5EF4-FFF2-40B4-BE49-F238E27FC236}">
                  <a16:creationId xmlns:a16="http://schemas.microsoft.com/office/drawing/2014/main" id="{F5BDF871-4328-49D6-95F9-3A6C9E2848D9}"/>
                </a:ext>
              </a:extLst>
            </p:cNvPr>
            <p:cNvSpPr>
              <a:spLocks/>
            </p:cNvSpPr>
            <p:nvPr/>
          </p:nvSpPr>
          <p:spPr>
            <a:xfrm>
              <a:off x="2151507" y="2715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84" name="s1-cereal-back-2__ellipse_84">
              <a:extLst>
                <a:ext uri="{FF2B5EF4-FFF2-40B4-BE49-F238E27FC236}">
                  <a16:creationId xmlns:a16="http://schemas.microsoft.com/office/drawing/2014/main" id="{EF9C42B9-9794-4D4B-B8E0-7BCE6DEBFD7A}"/>
                </a:ext>
              </a:extLst>
            </p:cNvPr>
            <p:cNvSpPr>
              <a:spLocks/>
            </p:cNvSpPr>
            <p:nvPr/>
          </p:nvSpPr>
          <p:spPr>
            <a:xfrm>
              <a:off x="2164080" y="2725674"/>
              <a:ext cx="16763" cy="25146"/>
            </a:xfrm>
            <a:prstGeom prst="ellipse">
              <a:avLst/>
            </a:prstGeom>
            <a:solidFill>
              <a:srgbClr val="CCB166"/>
            </a:solidFill>
            <a:ln w="3143">
              <a:solidFill>
                <a:srgbClr val="A28A50"/>
              </a:solidFill>
              <a:prstDash val="solid"/>
            </a:ln>
          </p:spPr>
          <p:txBody>
            <a:bodyPr/>
            <a:lstStyle/>
            <a:p>
              <a:endParaRPr sz="1200"/>
            </a:p>
          </p:txBody>
        </p:sp>
        <p:sp>
          <p:nvSpPr>
            <p:cNvPr id="85" name="s1-cereal-back-2__ellipse_85">
              <a:extLst>
                <a:ext uri="{FF2B5EF4-FFF2-40B4-BE49-F238E27FC236}">
                  <a16:creationId xmlns:a16="http://schemas.microsoft.com/office/drawing/2014/main" id="{E9EFA061-2521-4068-B8BD-86FAEBF8C8CB}"/>
                </a:ext>
              </a:extLst>
            </p:cNvPr>
            <p:cNvSpPr>
              <a:spLocks/>
            </p:cNvSpPr>
            <p:nvPr/>
          </p:nvSpPr>
          <p:spPr>
            <a:xfrm>
              <a:off x="2172462" y="2742438"/>
              <a:ext cx="16763" cy="25146"/>
            </a:xfrm>
            <a:prstGeom prst="ellipse">
              <a:avLst/>
            </a:prstGeom>
            <a:solidFill>
              <a:srgbClr val="CCB166"/>
            </a:solidFill>
            <a:ln w="3143">
              <a:solidFill>
                <a:srgbClr val="A28A50"/>
              </a:solidFill>
              <a:prstDash val="solid"/>
            </a:ln>
          </p:spPr>
          <p:txBody>
            <a:bodyPr/>
            <a:lstStyle/>
            <a:p>
              <a:endParaRPr sz="1200"/>
            </a:p>
          </p:txBody>
        </p:sp>
        <p:sp>
          <p:nvSpPr>
            <p:cNvPr id="86" name="s1-cereal-back-2__ellipse_86">
              <a:extLst>
                <a:ext uri="{FF2B5EF4-FFF2-40B4-BE49-F238E27FC236}">
                  <a16:creationId xmlns:a16="http://schemas.microsoft.com/office/drawing/2014/main" id="{03F79B78-7F85-4B2B-A770-68D9A2DA8E24}"/>
                </a:ext>
              </a:extLst>
            </p:cNvPr>
            <p:cNvSpPr>
              <a:spLocks/>
            </p:cNvSpPr>
            <p:nvPr/>
          </p:nvSpPr>
          <p:spPr>
            <a:xfrm>
              <a:off x="2164080" y="2759202"/>
              <a:ext cx="16763" cy="25146"/>
            </a:xfrm>
            <a:prstGeom prst="ellipse">
              <a:avLst/>
            </a:prstGeom>
            <a:solidFill>
              <a:srgbClr val="CCB166"/>
            </a:solidFill>
            <a:ln w="3143">
              <a:solidFill>
                <a:srgbClr val="A28A50"/>
              </a:solidFill>
              <a:prstDash val="solid"/>
            </a:ln>
          </p:spPr>
          <p:txBody>
            <a:bodyPr/>
            <a:lstStyle/>
            <a:p>
              <a:endParaRPr sz="1200"/>
            </a:p>
          </p:txBody>
        </p:sp>
        <p:sp>
          <p:nvSpPr>
            <p:cNvPr id="87" name="s1-cereal-back-2__ellipse_87">
              <a:extLst>
                <a:ext uri="{FF2B5EF4-FFF2-40B4-BE49-F238E27FC236}">
                  <a16:creationId xmlns:a16="http://schemas.microsoft.com/office/drawing/2014/main" id="{36EA9F57-4635-46E3-B53D-BC200759940C}"/>
                </a:ext>
              </a:extLst>
            </p:cNvPr>
            <p:cNvSpPr>
              <a:spLocks/>
            </p:cNvSpPr>
            <p:nvPr/>
          </p:nvSpPr>
          <p:spPr>
            <a:xfrm>
              <a:off x="2172462" y="2775966"/>
              <a:ext cx="16763" cy="25146"/>
            </a:xfrm>
            <a:prstGeom prst="ellipse">
              <a:avLst/>
            </a:prstGeom>
            <a:solidFill>
              <a:srgbClr val="CCB166"/>
            </a:solidFill>
            <a:ln w="3143">
              <a:solidFill>
                <a:srgbClr val="A28A50"/>
              </a:solidFill>
              <a:prstDash val="solid"/>
            </a:ln>
          </p:spPr>
          <p:txBody>
            <a:bodyPr/>
            <a:lstStyle/>
            <a:p>
              <a:endParaRPr sz="1200"/>
            </a:p>
          </p:txBody>
        </p:sp>
        <p:sp>
          <p:nvSpPr>
            <p:cNvPr id="88" name="s1-cereal-back-3__contour_88">
              <a:extLst>
                <a:ext uri="{FF2B5EF4-FFF2-40B4-BE49-F238E27FC236}">
                  <a16:creationId xmlns:a16="http://schemas.microsoft.com/office/drawing/2014/main" id="{B37A8327-DC97-4AFD-95D5-931A77A26C72}"/>
                </a:ext>
              </a:extLst>
            </p:cNvPr>
            <p:cNvSpPr>
              <a:spLocks/>
            </p:cNvSpPr>
            <p:nvPr/>
          </p:nvSpPr>
          <p:spPr>
            <a:xfrm>
              <a:off x="2297481" y="27491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9" name="s1-cereal-back-3__contour_89">
              <a:extLst>
                <a:ext uri="{FF2B5EF4-FFF2-40B4-BE49-F238E27FC236}">
                  <a16:creationId xmlns:a16="http://schemas.microsoft.com/office/drawing/2014/main" id="{D29BFA30-60FA-41B7-9B88-9F4183340449}"/>
                </a:ext>
              </a:extLst>
            </p:cNvPr>
            <p:cNvSpPr>
              <a:spLocks/>
            </p:cNvSpPr>
            <p:nvPr/>
          </p:nvSpPr>
          <p:spPr>
            <a:xfrm>
              <a:off x="2230882" y="28329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0" name="s1-cereal-back-3__contour_90">
              <a:extLst>
                <a:ext uri="{FF2B5EF4-FFF2-40B4-BE49-F238E27FC236}">
                  <a16:creationId xmlns:a16="http://schemas.microsoft.com/office/drawing/2014/main" id="{05DEA7F7-A7D7-40F3-8237-2FA5E51ADA42}"/>
                </a:ext>
              </a:extLst>
            </p:cNvPr>
            <p:cNvSpPr>
              <a:spLocks/>
            </p:cNvSpPr>
            <p:nvPr/>
          </p:nvSpPr>
          <p:spPr>
            <a:xfrm>
              <a:off x="2306320" y="28162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1" name="s1-cereal-back-3__contour_91">
              <a:extLst>
                <a:ext uri="{FF2B5EF4-FFF2-40B4-BE49-F238E27FC236}">
                  <a16:creationId xmlns:a16="http://schemas.microsoft.com/office/drawing/2014/main" id="{70CE7E29-5338-41FA-9478-698D61DFA59B}"/>
                </a:ext>
              </a:extLst>
            </p:cNvPr>
            <p:cNvSpPr>
              <a:spLocks/>
            </p:cNvSpPr>
            <p:nvPr/>
          </p:nvSpPr>
          <p:spPr>
            <a:xfrm>
              <a:off x="2335658" y="27596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92" name="s1-cereal-back-3__ellipse_92">
              <a:extLst>
                <a:ext uri="{FF2B5EF4-FFF2-40B4-BE49-F238E27FC236}">
                  <a16:creationId xmlns:a16="http://schemas.microsoft.com/office/drawing/2014/main" id="{34903208-2723-40E7-AA32-A10D00BA2831}"/>
                </a:ext>
              </a:extLst>
            </p:cNvPr>
            <p:cNvSpPr>
              <a:spLocks/>
            </p:cNvSpPr>
            <p:nvPr/>
          </p:nvSpPr>
          <p:spPr>
            <a:xfrm>
              <a:off x="2348230" y="2770124"/>
              <a:ext cx="16763" cy="25146"/>
            </a:xfrm>
            <a:prstGeom prst="ellipse">
              <a:avLst/>
            </a:prstGeom>
            <a:solidFill>
              <a:srgbClr val="CCB166"/>
            </a:solidFill>
            <a:ln w="3143">
              <a:solidFill>
                <a:srgbClr val="A28A50"/>
              </a:solidFill>
              <a:prstDash val="solid"/>
            </a:ln>
          </p:spPr>
          <p:txBody>
            <a:bodyPr/>
            <a:lstStyle/>
            <a:p>
              <a:endParaRPr sz="1200"/>
            </a:p>
          </p:txBody>
        </p:sp>
        <p:sp>
          <p:nvSpPr>
            <p:cNvPr id="93" name="s1-cereal-back-3__ellipse_93">
              <a:extLst>
                <a:ext uri="{FF2B5EF4-FFF2-40B4-BE49-F238E27FC236}">
                  <a16:creationId xmlns:a16="http://schemas.microsoft.com/office/drawing/2014/main" id="{2A919603-4B6B-4FEB-9522-FF1E39F544E5}"/>
                </a:ext>
              </a:extLst>
            </p:cNvPr>
            <p:cNvSpPr>
              <a:spLocks/>
            </p:cNvSpPr>
            <p:nvPr/>
          </p:nvSpPr>
          <p:spPr>
            <a:xfrm>
              <a:off x="2356612" y="2786888"/>
              <a:ext cx="16763" cy="25146"/>
            </a:xfrm>
            <a:prstGeom prst="ellipse">
              <a:avLst/>
            </a:prstGeom>
            <a:solidFill>
              <a:srgbClr val="CCB166"/>
            </a:solidFill>
            <a:ln w="3143">
              <a:solidFill>
                <a:srgbClr val="A28A50"/>
              </a:solidFill>
              <a:prstDash val="solid"/>
            </a:ln>
          </p:spPr>
          <p:txBody>
            <a:bodyPr/>
            <a:lstStyle/>
            <a:p>
              <a:endParaRPr sz="1200"/>
            </a:p>
          </p:txBody>
        </p:sp>
        <p:sp>
          <p:nvSpPr>
            <p:cNvPr id="94" name="s1-cereal-back-3__ellipse_94">
              <a:extLst>
                <a:ext uri="{FF2B5EF4-FFF2-40B4-BE49-F238E27FC236}">
                  <a16:creationId xmlns:a16="http://schemas.microsoft.com/office/drawing/2014/main" id="{041EB939-3B02-4C84-8725-61E6F393D11E}"/>
                </a:ext>
              </a:extLst>
            </p:cNvPr>
            <p:cNvSpPr>
              <a:spLocks/>
            </p:cNvSpPr>
            <p:nvPr/>
          </p:nvSpPr>
          <p:spPr>
            <a:xfrm>
              <a:off x="2348230" y="2803652"/>
              <a:ext cx="16763" cy="25146"/>
            </a:xfrm>
            <a:prstGeom prst="ellipse">
              <a:avLst/>
            </a:prstGeom>
            <a:solidFill>
              <a:srgbClr val="CCB166"/>
            </a:solidFill>
            <a:ln w="3143">
              <a:solidFill>
                <a:srgbClr val="A28A50"/>
              </a:solidFill>
              <a:prstDash val="solid"/>
            </a:ln>
          </p:spPr>
          <p:txBody>
            <a:bodyPr/>
            <a:lstStyle/>
            <a:p>
              <a:endParaRPr sz="1200"/>
            </a:p>
          </p:txBody>
        </p:sp>
        <p:sp>
          <p:nvSpPr>
            <p:cNvPr id="95" name="s1-cereal-back-3__ellipse_95">
              <a:extLst>
                <a:ext uri="{FF2B5EF4-FFF2-40B4-BE49-F238E27FC236}">
                  <a16:creationId xmlns:a16="http://schemas.microsoft.com/office/drawing/2014/main" id="{5F8B71CF-89BC-4F84-A3B8-13D8E7781428}"/>
                </a:ext>
              </a:extLst>
            </p:cNvPr>
            <p:cNvSpPr>
              <a:spLocks/>
            </p:cNvSpPr>
            <p:nvPr/>
          </p:nvSpPr>
          <p:spPr>
            <a:xfrm>
              <a:off x="2356612" y="2820416"/>
              <a:ext cx="16763" cy="25146"/>
            </a:xfrm>
            <a:prstGeom prst="ellipse">
              <a:avLst/>
            </a:prstGeom>
            <a:solidFill>
              <a:srgbClr val="CCB166"/>
            </a:solidFill>
            <a:ln w="3143">
              <a:solidFill>
                <a:srgbClr val="A28A50"/>
              </a:solidFill>
              <a:prstDash val="solid"/>
            </a:ln>
          </p:spPr>
          <p:txBody>
            <a:bodyPr/>
            <a:lstStyle/>
            <a:p>
              <a:endParaRPr sz="1200"/>
            </a:p>
          </p:txBody>
        </p:sp>
        <p:sp>
          <p:nvSpPr>
            <p:cNvPr id="96" name="s1-cereal-front-0__contour_96">
              <a:extLst>
                <a:ext uri="{FF2B5EF4-FFF2-40B4-BE49-F238E27FC236}">
                  <a16:creationId xmlns:a16="http://schemas.microsoft.com/office/drawing/2014/main" id="{9D653BC0-3242-47F2-AB6A-EBA802665CB6}"/>
                </a:ext>
              </a:extLst>
            </p:cNvPr>
            <p:cNvSpPr>
              <a:spLocks/>
            </p:cNvSpPr>
            <p:nvPr/>
          </p:nvSpPr>
          <p:spPr>
            <a:xfrm>
              <a:off x="1681530" y="29079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97" name="s1-cereal-front-0__contour_97">
              <a:extLst>
                <a:ext uri="{FF2B5EF4-FFF2-40B4-BE49-F238E27FC236}">
                  <a16:creationId xmlns:a16="http://schemas.microsoft.com/office/drawing/2014/main" id="{4A98A92F-CC77-4CFE-BBA6-6838825DC8E3}"/>
                </a:ext>
              </a:extLst>
            </p:cNvPr>
            <p:cNvSpPr>
              <a:spLocks/>
            </p:cNvSpPr>
            <p:nvPr/>
          </p:nvSpPr>
          <p:spPr>
            <a:xfrm>
              <a:off x="1614932" y="29917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2"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8" name="s1-cereal-front-0__contour_98">
              <a:extLst>
                <a:ext uri="{FF2B5EF4-FFF2-40B4-BE49-F238E27FC236}">
                  <a16:creationId xmlns:a16="http://schemas.microsoft.com/office/drawing/2014/main" id="{F79B2CA5-09D3-4379-A9D1-10B5D24936C9}"/>
                </a:ext>
              </a:extLst>
            </p:cNvPr>
            <p:cNvSpPr>
              <a:spLocks/>
            </p:cNvSpPr>
            <p:nvPr/>
          </p:nvSpPr>
          <p:spPr>
            <a:xfrm>
              <a:off x="1690370" y="29749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9" name="s1-cereal-front-0__contour_99">
              <a:extLst>
                <a:ext uri="{FF2B5EF4-FFF2-40B4-BE49-F238E27FC236}">
                  <a16:creationId xmlns:a16="http://schemas.microsoft.com/office/drawing/2014/main" id="{F27DA5B1-712A-44CF-8C46-54B2BA203F0A}"/>
                </a:ext>
              </a:extLst>
            </p:cNvPr>
            <p:cNvSpPr>
              <a:spLocks/>
            </p:cNvSpPr>
            <p:nvPr/>
          </p:nvSpPr>
          <p:spPr>
            <a:xfrm>
              <a:off x="1719707" y="29184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0" name="s1-cereal-front-0__ellipse_100">
              <a:extLst>
                <a:ext uri="{FF2B5EF4-FFF2-40B4-BE49-F238E27FC236}">
                  <a16:creationId xmlns:a16="http://schemas.microsoft.com/office/drawing/2014/main" id="{50BF277F-FDBB-4DC9-A0D4-29E161310F59}"/>
                </a:ext>
              </a:extLst>
            </p:cNvPr>
            <p:cNvSpPr>
              <a:spLocks/>
            </p:cNvSpPr>
            <p:nvPr/>
          </p:nvSpPr>
          <p:spPr>
            <a:xfrm>
              <a:off x="1732280" y="2928874"/>
              <a:ext cx="16763" cy="25146"/>
            </a:xfrm>
            <a:prstGeom prst="ellipse">
              <a:avLst/>
            </a:prstGeom>
            <a:solidFill>
              <a:srgbClr val="CCB166"/>
            </a:solidFill>
            <a:ln w="3143">
              <a:solidFill>
                <a:srgbClr val="A28A50"/>
              </a:solidFill>
              <a:prstDash val="solid"/>
            </a:ln>
          </p:spPr>
          <p:txBody>
            <a:bodyPr/>
            <a:lstStyle/>
            <a:p>
              <a:endParaRPr sz="1200"/>
            </a:p>
          </p:txBody>
        </p:sp>
        <p:sp>
          <p:nvSpPr>
            <p:cNvPr id="101" name="s1-cereal-front-0__ellipse_101">
              <a:extLst>
                <a:ext uri="{FF2B5EF4-FFF2-40B4-BE49-F238E27FC236}">
                  <a16:creationId xmlns:a16="http://schemas.microsoft.com/office/drawing/2014/main" id="{DD2B91AC-FF2E-412D-A0CC-EE430931B556}"/>
                </a:ext>
              </a:extLst>
            </p:cNvPr>
            <p:cNvSpPr>
              <a:spLocks/>
            </p:cNvSpPr>
            <p:nvPr/>
          </p:nvSpPr>
          <p:spPr>
            <a:xfrm>
              <a:off x="1740662" y="2945638"/>
              <a:ext cx="16763" cy="25146"/>
            </a:xfrm>
            <a:prstGeom prst="ellipse">
              <a:avLst/>
            </a:prstGeom>
            <a:solidFill>
              <a:srgbClr val="CCB166"/>
            </a:solidFill>
            <a:ln w="3143">
              <a:solidFill>
                <a:srgbClr val="A28A50"/>
              </a:solidFill>
              <a:prstDash val="solid"/>
            </a:ln>
          </p:spPr>
          <p:txBody>
            <a:bodyPr/>
            <a:lstStyle/>
            <a:p>
              <a:endParaRPr sz="1200"/>
            </a:p>
          </p:txBody>
        </p:sp>
        <p:sp>
          <p:nvSpPr>
            <p:cNvPr id="102" name="s1-cereal-front-0__ellipse_102">
              <a:extLst>
                <a:ext uri="{FF2B5EF4-FFF2-40B4-BE49-F238E27FC236}">
                  <a16:creationId xmlns:a16="http://schemas.microsoft.com/office/drawing/2014/main" id="{6E188BBB-F333-4221-950A-0C8527C8CB6D}"/>
                </a:ext>
              </a:extLst>
            </p:cNvPr>
            <p:cNvSpPr>
              <a:spLocks/>
            </p:cNvSpPr>
            <p:nvPr/>
          </p:nvSpPr>
          <p:spPr>
            <a:xfrm>
              <a:off x="1732280" y="2962402"/>
              <a:ext cx="16763" cy="25146"/>
            </a:xfrm>
            <a:prstGeom prst="ellipse">
              <a:avLst/>
            </a:prstGeom>
            <a:solidFill>
              <a:srgbClr val="CCB166"/>
            </a:solidFill>
            <a:ln w="3143">
              <a:solidFill>
                <a:srgbClr val="A28A50"/>
              </a:solidFill>
              <a:prstDash val="solid"/>
            </a:ln>
          </p:spPr>
          <p:txBody>
            <a:bodyPr/>
            <a:lstStyle/>
            <a:p>
              <a:endParaRPr sz="1200"/>
            </a:p>
          </p:txBody>
        </p:sp>
        <p:sp>
          <p:nvSpPr>
            <p:cNvPr id="103" name="s1-cereal-front-0__ellipse_103">
              <a:extLst>
                <a:ext uri="{FF2B5EF4-FFF2-40B4-BE49-F238E27FC236}">
                  <a16:creationId xmlns:a16="http://schemas.microsoft.com/office/drawing/2014/main" id="{CD3B3DA5-9864-4494-A48F-2AD942E77EB0}"/>
                </a:ext>
              </a:extLst>
            </p:cNvPr>
            <p:cNvSpPr>
              <a:spLocks/>
            </p:cNvSpPr>
            <p:nvPr/>
          </p:nvSpPr>
          <p:spPr>
            <a:xfrm>
              <a:off x="1740662" y="2979166"/>
              <a:ext cx="16763" cy="25146"/>
            </a:xfrm>
            <a:prstGeom prst="ellipse">
              <a:avLst/>
            </a:prstGeom>
            <a:solidFill>
              <a:srgbClr val="CCB166"/>
            </a:solidFill>
            <a:ln w="3143">
              <a:solidFill>
                <a:srgbClr val="A28A50"/>
              </a:solidFill>
              <a:prstDash val="solid"/>
            </a:ln>
          </p:spPr>
          <p:txBody>
            <a:bodyPr/>
            <a:lstStyle/>
            <a:p>
              <a:endParaRPr sz="1200"/>
            </a:p>
          </p:txBody>
        </p:sp>
        <p:sp>
          <p:nvSpPr>
            <p:cNvPr id="104" name="s1-cereal-front-1__contour_104">
              <a:extLst>
                <a:ext uri="{FF2B5EF4-FFF2-40B4-BE49-F238E27FC236}">
                  <a16:creationId xmlns:a16="http://schemas.microsoft.com/office/drawing/2014/main" id="{57E7783F-4E18-45D1-9291-8BBCD2672BFC}"/>
                </a:ext>
              </a:extLst>
            </p:cNvPr>
            <p:cNvSpPr>
              <a:spLocks/>
            </p:cNvSpPr>
            <p:nvPr/>
          </p:nvSpPr>
          <p:spPr>
            <a:xfrm>
              <a:off x="1891081" y="2958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05" name="s1-cereal-front-1__contour_105">
              <a:extLst>
                <a:ext uri="{FF2B5EF4-FFF2-40B4-BE49-F238E27FC236}">
                  <a16:creationId xmlns:a16="http://schemas.microsoft.com/office/drawing/2014/main" id="{FEC16F17-D8CE-41AC-A73E-383DC7460F03}"/>
                </a:ext>
              </a:extLst>
            </p:cNvPr>
            <p:cNvSpPr>
              <a:spLocks/>
            </p:cNvSpPr>
            <p:nvPr/>
          </p:nvSpPr>
          <p:spPr>
            <a:xfrm>
              <a:off x="1824482" y="3042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06" name="s1-cereal-front-1__contour_106">
              <a:extLst>
                <a:ext uri="{FF2B5EF4-FFF2-40B4-BE49-F238E27FC236}">
                  <a16:creationId xmlns:a16="http://schemas.microsoft.com/office/drawing/2014/main" id="{70D8B09D-8C18-493B-B665-A98145167EB2}"/>
                </a:ext>
              </a:extLst>
            </p:cNvPr>
            <p:cNvSpPr>
              <a:spLocks/>
            </p:cNvSpPr>
            <p:nvPr/>
          </p:nvSpPr>
          <p:spPr>
            <a:xfrm>
              <a:off x="1899920" y="3025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07" name="s1-cereal-front-1__contour_107">
              <a:extLst>
                <a:ext uri="{FF2B5EF4-FFF2-40B4-BE49-F238E27FC236}">
                  <a16:creationId xmlns:a16="http://schemas.microsoft.com/office/drawing/2014/main" id="{02BE787D-293E-4AE7-BB91-AC99490AC17E}"/>
                </a:ext>
              </a:extLst>
            </p:cNvPr>
            <p:cNvSpPr>
              <a:spLocks/>
            </p:cNvSpPr>
            <p:nvPr/>
          </p:nvSpPr>
          <p:spPr>
            <a:xfrm>
              <a:off x="1929257" y="2969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8" name="s1-cereal-front-1__ellipse_108">
              <a:extLst>
                <a:ext uri="{FF2B5EF4-FFF2-40B4-BE49-F238E27FC236}">
                  <a16:creationId xmlns:a16="http://schemas.microsoft.com/office/drawing/2014/main" id="{9906A654-BB84-41C7-BF8E-3A37C68E3E30}"/>
                </a:ext>
              </a:extLst>
            </p:cNvPr>
            <p:cNvSpPr>
              <a:spLocks/>
            </p:cNvSpPr>
            <p:nvPr/>
          </p:nvSpPr>
          <p:spPr>
            <a:xfrm>
              <a:off x="1941830" y="2979674"/>
              <a:ext cx="16763" cy="25146"/>
            </a:xfrm>
            <a:prstGeom prst="ellipse">
              <a:avLst/>
            </a:prstGeom>
            <a:solidFill>
              <a:srgbClr val="CCB166"/>
            </a:solidFill>
            <a:ln w="3143">
              <a:solidFill>
                <a:srgbClr val="A28A50"/>
              </a:solidFill>
              <a:prstDash val="solid"/>
            </a:ln>
          </p:spPr>
          <p:txBody>
            <a:bodyPr/>
            <a:lstStyle/>
            <a:p>
              <a:endParaRPr sz="1200"/>
            </a:p>
          </p:txBody>
        </p:sp>
        <p:sp>
          <p:nvSpPr>
            <p:cNvPr id="109" name="s1-cereal-front-1__ellipse_109">
              <a:extLst>
                <a:ext uri="{FF2B5EF4-FFF2-40B4-BE49-F238E27FC236}">
                  <a16:creationId xmlns:a16="http://schemas.microsoft.com/office/drawing/2014/main" id="{766A90A2-F6E6-48B1-A2C8-81C15E426BE1}"/>
                </a:ext>
              </a:extLst>
            </p:cNvPr>
            <p:cNvSpPr>
              <a:spLocks/>
            </p:cNvSpPr>
            <p:nvPr/>
          </p:nvSpPr>
          <p:spPr>
            <a:xfrm>
              <a:off x="1950212" y="2996438"/>
              <a:ext cx="16763" cy="25146"/>
            </a:xfrm>
            <a:prstGeom prst="ellipse">
              <a:avLst/>
            </a:prstGeom>
            <a:solidFill>
              <a:srgbClr val="CCB166"/>
            </a:solidFill>
            <a:ln w="3143">
              <a:solidFill>
                <a:srgbClr val="A28A50"/>
              </a:solidFill>
              <a:prstDash val="solid"/>
            </a:ln>
          </p:spPr>
          <p:txBody>
            <a:bodyPr/>
            <a:lstStyle/>
            <a:p>
              <a:endParaRPr sz="1200"/>
            </a:p>
          </p:txBody>
        </p:sp>
        <p:sp>
          <p:nvSpPr>
            <p:cNvPr id="110" name="s1-cereal-front-1__ellipse_110">
              <a:extLst>
                <a:ext uri="{FF2B5EF4-FFF2-40B4-BE49-F238E27FC236}">
                  <a16:creationId xmlns:a16="http://schemas.microsoft.com/office/drawing/2014/main" id="{8D235D97-3E8F-4C02-8E47-764155237CD5}"/>
                </a:ext>
              </a:extLst>
            </p:cNvPr>
            <p:cNvSpPr>
              <a:spLocks/>
            </p:cNvSpPr>
            <p:nvPr/>
          </p:nvSpPr>
          <p:spPr>
            <a:xfrm>
              <a:off x="1941830" y="3013202"/>
              <a:ext cx="16763" cy="25146"/>
            </a:xfrm>
            <a:prstGeom prst="ellipse">
              <a:avLst/>
            </a:prstGeom>
            <a:solidFill>
              <a:srgbClr val="CCB166"/>
            </a:solidFill>
            <a:ln w="3143">
              <a:solidFill>
                <a:srgbClr val="A28A50"/>
              </a:solidFill>
              <a:prstDash val="solid"/>
            </a:ln>
          </p:spPr>
          <p:txBody>
            <a:bodyPr/>
            <a:lstStyle/>
            <a:p>
              <a:endParaRPr sz="1200"/>
            </a:p>
          </p:txBody>
        </p:sp>
        <p:sp>
          <p:nvSpPr>
            <p:cNvPr id="111" name="s1-cereal-front-1__ellipse_111">
              <a:extLst>
                <a:ext uri="{FF2B5EF4-FFF2-40B4-BE49-F238E27FC236}">
                  <a16:creationId xmlns:a16="http://schemas.microsoft.com/office/drawing/2014/main" id="{D4917A12-E3FF-43A0-A625-5398539E6682}"/>
                </a:ext>
              </a:extLst>
            </p:cNvPr>
            <p:cNvSpPr>
              <a:spLocks/>
            </p:cNvSpPr>
            <p:nvPr/>
          </p:nvSpPr>
          <p:spPr>
            <a:xfrm>
              <a:off x="1950212" y="3029966"/>
              <a:ext cx="16763" cy="25146"/>
            </a:xfrm>
            <a:prstGeom prst="ellipse">
              <a:avLst/>
            </a:prstGeom>
            <a:solidFill>
              <a:srgbClr val="CCB166"/>
            </a:solidFill>
            <a:ln w="3143">
              <a:solidFill>
                <a:srgbClr val="A28A50"/>
              </a:solidFill>
              <a:prstDash val="solid"/>
            </a:ln>
          </p:spPr>
          <p:txBody>
            <a:bodyPr/>
            <a:lstStyle/>
            <a:p>
              <a:endParaRPr sz="1200"/>
            </a:p>
          </p:txBody>
        </p:sp>
        <p:sp>
          <p:nvSpPr>
            <p:cNvPr id="112" name="s1-cereal-front-2__contour_112">
              <a:extLst>
                <a:ext uri="{FF2B5EF4-FFF2-40B4-BE49-F238E27FC236}">
                  <a16:creationId xmlns:a16="http://schemas.microsoft.com/office/drawing/2014/main" id="{796427A9-5A18-477E-9DB6-92FC93639015}"/>
                </a:ext>
              </a:extLst>
            </p:cNvPr>
            <p:cNvSpPr>
              <a:spLocks/>
            </p:cNvSpPr>
            <p:nvPr/>
          </p:nvSpPr>
          <p:spPr>
            <a:xfrm>
              <a:off x="2100630" y="30095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13" name="s1-cereal-front-2__contour_113">
              <a:extLst>
                <a:ext uri="{FF2B5EF4-FFF2-40B4-BE49-F238E27FC236}">
                  <a16:creationId xmlns:a16="http://schemas.microsoft.com/office/drawing/2014/main" id="{BE8A436C-E9A7-41E9-A7DE-5A0340239415}"/>
                </a:ext>
              </a:extLst>
            </p:cNvPr>
            <p:cNvSpPr>
              <a:spLocks/>
            </p:cNvSpPr>
            <p:nvPr/>
          </p:nvSpPr>
          <p:spPr>
            <a:xfrm>
              <a:off x="2034032" y="30933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14" name="s1-cereal-front-2__contour_114">
              <a:extLst>
                <a:ext uri="{FF2B5EF4-FFF2-40B4-BE49-F238E27FC236}">
                  <a16:creationId xmlns:a16="http://schemas.microsoft.com/office/drawing/2014/main" id="{5C37FA8B-5F65-45DE-AD62-24885C0FDF6E}"/>
                </a:ext>
              </a:extLst>
            </p:cNvPr>
            <p:cNvSpPr>
              <a:spLocks/>
            </p:cNvSpPr>
            <p:nvPr/>
          </p:nvSpPr>
          <p:spPr>
            <a:xfrm>
              <a:off x="2109470" y="30765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15" name="s1-cereal-front-2__contour_115">
              <a:extLst>
                <a:ext uri="{FF2B5EF4-FFF2-40B4-BE49-F238E27FC236}">
                  <a16:creationId xmlns:a16="http://schemas.microsoft.com/office/drawing/2014/main" id="{BE9BC4D3-5A12-40A9-B7C4-237E8413C0E0}"/>
                </a:ext>
              </a:extLst>
            </p:cNvPr>
            <p:cNvSpPr>
              <a:spLocks/>
            </p:cNvSpPr>
            <p:nvPr/>
          </p:nvSpPr>
          <p:spPr>
            <a:xfrm>
              <a:off x="2138807" y="30200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16" name="s1-cereal-front-2__ellipse_116">
              <a:extLst>
                <a:ext uri="{FF2B5EF4-FFF2-40B4-BE49-F238E27FC236}">
                  <a16:creationId xmlns:a16="http://schemas.microsoft.com/office/drawing/2014/main" id="{6C202EA5-71D9-479A-9F2B-3B49F8FF4A44}"/>
                </a:ext>
              </a:extLst>
            </p:cNvPr>
            <p:cNvSpPr>
              <a:spLocks/>
            </p:cNvSpPr>
            <p:nvPr/>
          </p:nvSpPr>
          <p:spPr>
            <a:xfrm>
              <a:off x="2151380" y="3030474"/>
              <a:ext cx="16763" cy="25146"/>
            </a:xfrm>
            <a:prstGeom prst="ellipse">
              <a:avLst/>
            </a:prstGeom>
            <a:solidFill>
              <a:srgbClr val="CCB166"/>
            </a:solidFill>
            <a:ln w="3143">
              <a:solidFill>
                <a:srgbClr val="A28A50"/>
              </a:solidFill>
              <a:prstDash val="solid"/>
            </a:ln>
          </p:spPr>
          <p:txBody>
            <a:bodyPr/>
            <a:lstStyle/>
            <a:p>
              <a:endParaRPr sz="1200"/>
            </a:p>
          </p:txBody>
        </p:sp>
        <p:sp>
          <p:nvSpPr>
            <p:cNvPr id="117" name="s1-cereal-front-2__ellipse_117">
              <a:extLst>
                <a:ext uri="{FF2B5EF4-FFF2-40B4-BE49-F238E27FC236}">
                  <a16:creationId xmlns:a16="http://schemas.microsoft.com/office/drawing/2014/main" id="{8E44D336-CF17-4B96-BA48-1607A351B92F}"/>
                </a:ext>
              </a:extLst>
            </p:cNvPr>
            <p:cNvSpPr>
              <a:spLocks/>
            </p:cNvSpPr>
            <p:nvPr/>
          </p:nvSpPr>
          <p:spPr>
            <a:xfrm>
              <a:off x="2159762" y="3047238"/>
              <a:ext cx="16763" cy="25146"/>
            </a:xfrm>
            <a:prstGeom prst="ellipse">
              <a:avLst/>
            </a:prstGeom>
            <a:solidFill>
              <a:srgbClr val="CCB166"/>
            </a:solidFill>
            <a:ln w="3143">
              <a:solidFill>
                <a:srgbClr val="A28A50"/>
              </a:solidFill>
              <a:prstDash val="solid"/>
            </a:ln>
          </p:spPr>
          <p:txBody>
            <a:bodyPr/>
            <a:lstStyle/>
            <a:p>
              <a:endParaRPr sz="1200"/>
            </a:p>
          </p:txBody>
        </p:sp>
        <p:sp>
          <p:nvSpPr>
            <p:cNvPr id="118" name="s1-cereal-front-2__ellipse_118">
              <a:extLst>
                <a:ext uri="{FF2B5EF4-FFF2-40B4-BE49-F238E27FC236}">
                  <a16:creationId xmlns:a16="http://schemas.microsoft.com/office/drawing/2014/main" id="{630508FD-8304-44F3-9895-678EA88E682A}"/>
                </a:ext>
              </a:extLst>
            </p:cNvPr>
            <p:cNvSpPr>
              <a:spLocks/>
            </p:cNvSpPr>
            <p:nvPr/>
          </p:nvSpPr>
          <p:spPr>
            <a:xfrm>
              <a:off x="2151380" y="3064002"/>
              <a:ext cx="16763" cy="25146"/>
            </a:xfrm>
            <a:prstGeom prst="ellipse">
              <a:avLst/>
            </a:prstGeom>
            <a:solidFill>
              <a:srgbClr val="CCB166"/>
            </a:solidFill>
            <a:ln w="3143">
              <a:solidFill>
                <a:srgbClr val="A28A50"/>
              </a:solidFill>
              <a:prstDash val="solid"/>
            </a:ln>
          </p:spPr>
          <p:txBody>
            <a:bodyPr/>
            <a:lstStyle/>
            <a:p>
              <a:endParaRPr sz="1200"/>
            </a:p>
          </p:txBody>
        </p:sp>
        <p:sp>
          <p:nvSpPr>
            <p:cNvPr id="119" name="s1-cereal-front-2__ellipse_119">
              <a:extLst>
                <a:ext uri="{FF2B5EF4-FFF2-40B4-BE49-F238E27FC236}">
                  <a16:creationId xmlns:a16="http://schemas.microsoft.com/office/drawing/2014/main" id="{A59C1B0A-FD6B-4AC0-ABDE-3DE4CADD043D}"/>
                </a:ext>
              </a:extLst>
            </p:cNvPr>
            <p:cNvSpPr>
              <a:spLocks/>
            </p:cNvSpPr>
            <p:nvPr/>
          </p:nvSpPr>
          <p:spPr>
            <a:xfrm>
              <a:off x="2159762" y="3080766"/>
              <a:ext cx="16763" cy="25146"/>
            </a:xfrm>
            <a:prstGeom prst="ellipse">
              <a:avLst/>
            </a:prstGeom>
            <a:solidFill>
              <a:srgbClr val="CCB166"/>
            </a:solidFill>
            <a:ln w="3143">
              <a:solidFill>
                <a:srgbClr val="A28A50"/>
              </a:solidFill>
              <a:prstDash val="solid"/>
            </a:ln>
          </p:spPr>
          <p:txBody>
            <a:bodyPr/>
            <a:lstStyle/>
            <a:p>
              <a:endParaRPr sz="1200"/>
            </a:p>
          </p:txBody>
        </p:sp>
        <p:sp>
          <p:nvSpPr>
            <p:cNvPr id="120" name="s1-farmer__ellipse_120">
              <a:extLst>
                <a:ext uri="{FF2B5EF4-FFF2-40B4-BE49-F238E27FC236}">
                  <a16:creationId xmlns:a16="http://schemas.microsoft.com/office/drawing/2014/main" id="{4E340DE1-EBC5-42D9-BE01-224C34232257}"/>
                </a:ext>
              </a:extLst>
            </p:cNvPr>
            <p:cNvSpPr>
              <a:spLocks/>
            </p:cNvSpPr>
            <p:nvPr/>
          </p:nvSpPr>
          <p:spPr>
            <a:xfrm>
              <a:off x="2279016" y="3193098"/>
              <a:ext cx="321945" cy="33020"/>
            </a:xfrm>
            <a:prstGeom prst="ellipse">
              <a:avLst/>
            </a:prstGeom>
            <a:solidFill>
              <a:srgbClr val="DCE2D6"/>
            </a:solidFill>
            <a:ln w="0">
              <a:noFill/>
              <a:prstDash val="solid"/>
            </a:ln>
          </p:spPr>
          <p:txBody>
            <a:bodyPr/>
            <a:lstStyle/>
            <a:p>
              <a:endParaRPr sz="1200"/>
            </a:p>
          </p:txBody>
        </p:sp>
        <p:sp>
          <p:nvSpPr>
            <p:cNvPr id="121" name="s1-farmer__contour_121">
              <a:extLst>
                <a:ext uri="{FF2B5EF4-FFF2-40B4-BE49-F238E27FC236}">
                  <a16:creationId xmlns:a16="http://schemas.microsoft.com/office/drawing/2014/main" id="{DE620CC0-E344-467B-929F-873C93B77641}"/>
                </a:ext>
              </a:extLst>
            </p:cNvPr>
            <p:cNvSpPr>
              <a:spLocks/>
            </p:cNvSpPr>
            <p:nvPr/>
          </p:nvSpPr>
          <p:spPr>
            <a:xfrm>
              <a:off x="2291398" y="2945447"/>
              <a:ext cx="107314" cy="235267"/>
            </a:xfrm>
            <a:custGeom>
              <a:avLst/>
              <a:gdLst/>
              <a:ahLst/>
              <a:cxnLst/>
              <a:rect l="0" t="0" r="0" b="0"/>
              <a:pathLst>
                <a:path w="160972" h="352901">
                  <a:moveTo>
                    <a:pt x="160972" y="0"/>
                  </a:moveTo>
                  <a:lnTo>
                    <a:pt x="136207" y="204311"/>
                  </a:lnTo>
                  <a:lnTo>
                    <a:pt x="68104" y="346710"/>
                  </a:lnTo>
                  <a:lnTo>
                    <a:pt x="0" y="352901"/>
                  </a:lnTo>
                </a:path>
              </a:pathLst>
            </a:custGeom>
            <a:noFill/>
            <a:ln w="55721">
              <a:solidFill>
                <a:srgbClr val="5A625C"/>
              </a:solidFill>
              <a:prstDash val="solid"/>
            </a:ln>
          </p:spPr>
          <p:txBody>
            <a:bodyPr/>
            <a:lstStyle/>
            <a:p>
              <a:endParaRPr sz="1200"/>
            </a:p>
          </p:txBody>
        </p:sp>
        <p:sp>
          <p:nvSpPr>
            <p:cNvPr id="122" name="s1-farmer__contour_122">
              <a:extLst>
                <a:ext uri="{FF2B5EF4-FFF2-40B4-BE49-F238E27FC236}">
                  <a16:creationId xmlns:a16="http://schemas.microsoft.com/office/drawing/2014/main" id="{68965085-8BA5-4C7E-9CCF-25FE1A2FA7FC}"/>
                </a:ext>
              </a:extLst>
            </p:cNvPr>
            <p:cNvSpPr>
              <a:spLocks/>
            </p:cNvSpPr>
            <p:nvPr/>
          </p:nvSpPr>
          <p:spPr>
            <a:xfrm>
              <a:off x="2464753" y="2945447"/>
              <a:ext cx="152717" cy="222884"/>
            </a:xfrm>
            <a:custGeom>
              <a:avLst/>
              <a:gdLst/>
              <a:ahLst/>
              <a:cxnLst/>
              <a:rect l="0" t="0" r="0" b="0"/>
              <a:pathLst>
                <a:path w="229076" h="334327">
                  <a:moveTo>
                    <a:pt x="0" y="0"/>
                  </a:moveTo>
                  <a:lnTo>
                    <a:pt x="80486" y="198120"/>
                  </a:lnTo>
                  <a:lnTo>
                    <a:pt x="167164" y="328136"/>
                  </a:lnTo>
                  <a:lnTo>
                    <a:pt x="229076" y="334327"/>
                  </a:lnTo>
                </a:path>
              </a:pathLst>
            </a:custGeom>
            <a:noFill/>
            <a:ln w="55721">
              <a:solidFill>
                <a:srgbClr val="5A625C"/>
              </a:solidFill>
              <a:prstDash val="solid"/>
            </a:ln>
          </p:spPr>
          <p:txBody>
            <a:bodyPr/>
            <a:lstStyle/>
            <a:p>
              <a:endParaRPr sz="1200"/>
            </a:p>
          </p:txBody>
        </p:sp>
        <p:sp>
          <p:nvSpPr>
            <p:cNvPr id="123" name="s1-farmer__contour_123">
              <a:extLst>
                <a:ext uri="{FF2B5EF4-FFF2-40B4-BE49-F238E27FC236}">
                  <a16:creationId xmlns:a16="http://schemas.microsoft.com/office/drawing/2014/main" id="{DA7EC764-76CB-44F9-9478-DA4A1A700426}"/>
                </a:ext>
              </a:extLst>
            </p:cNvPr>
            <p:cNvSpPr>
              <a:spLocks/>
            </p:cNvSpPr>
            <p:nvPr/>
          </p:nvSpPr>
          <p:spPr>
            <a:xfrm>
              <a:off x="2357438" y="2741638"/>
              <a:ext cx="152717" cy="212064"/>
            </a:xfrm>
            <a:custGeom>
              <a:avLst/>
              <a:gdLst/>
              <a:ahLst/>
              <a:cxnLst/>
              <a:rect l="0" t="0" r="0" b="0"/>
              <a:pathLst>
                <a:path w="229076" h="318097">
                  <a:moveTo>
                    <a:pt x="24765" y="33299"/>
                  </a:moveTo>
                  <a:lnTo>
                    <a:pt x="31823" y="25203"/>
                  </a:lnTo>
                  <a:lnTo>
                    <a:pt x="40491" y="18259"/>
                  </a:lnTo>
                  <a:lnTo>
                    <a:pt x="50521" y="12449"/>
                  </a:lnTo>
                  <a:lnTo>
                    <a:pt x="61712" y="7753"/>
                  </a:lnTo>
                  <a:lnTo>
                    <a:pt x="73838" y="4181"/>
                  </a:lnTo>
                  <a:lnTo>
                    <a:pt x="86678" y="1695"/>
                  </a:lnTo>
                  <a:lnTo>
                    <a:pt x="100013" y="314"/>
                  </a:lnTo>
                  <a:lnTo>
                    <a:pt x="113624" y="0"/>
                  </a:lnTo>
                  <a:lnTo>
                    <a:pt x="127292" y="762"/>
                  </a:lnTo>
                  <a:lnTo>
                    <a:pt x="140789" y="2572"/>
                  </a:lnTo>
                  <a:lnTo>
                    <a:pt x="153914" y="5429"/>
                  </a:lnTo>
                  <a:lnTo>
                    <a:pt x="166421" y="9325"/>
                  </a:lnTo>
                  <a:lnTo>
                    <a:pt x="178108" y="14249"/>
                  </a:lnTo>
                  <a:lnTo>
                    <a:pt x="188747" y="20174"/>
                  </a:lnTo>
                  <a:lnTo>
                    <a:pt x="198120" y="27108"/>
                  </a:lnTo>
                  <a:lnTo>
                    <a:pt x="229076" y="318097"/>
                  </a:lnTo>
                  <a:lnTo>
                    <a:pt x="0" y="318097"/>
                  </a:lnTo>
                  <a:close/>
                </a:path>
              </a:pathLst>
            </a:custGeom>
            <a:solidFill>
              <a:srgbClr val="8196A0"/>
            </a:solidFill>
            <a:ln w="8668">
              <a:solidFill>
                <a:srgbClr val="566861"/>
              </a:solidFill>
              <a:prstDash val="solid"/>
            </a:ln>
          </p:spPr>
          <p:txBody>
            <a:bodyPr/>
            <a:lstStyle/>
            <a:p>
              <a:endParaRPr sz="1200"/>
            </a:p>
          </p:txBody>
        </p:sp>
        <p:sp>
          <p:nvSpPr>
            <p:cNvPr id="124" name="s1-farmer__ellipse_124">
              <a:extLst>
                <a:ext uri="{FF2B5EF4-FFF2-40B4-BE49-F238E27FC236}">
                  <a16:creationId xmlns:a16="http://schemas.microsoft.com/office/drawing/2014/main" id="{AC703082-C016-4D32-A4FA-2B2B89C44021}"/>
                </a:ext>
              </a:extLst>
            </p:cNvPr>
            <p:cNvSpPr>
              <a:spLocks/>
            </p:cNvSpPr>
            <p:nvPr/>
          </p:nvSpPr>
          <p:spPr>
            <a:xfrm>
              <a:off x="2373948" y="2615247"/>
              <a:ext cx="107315" cy="127952"/>
            </a:xfrm>
            <a:prstGeom prst="ellipse">
              <a:avLst/>
            </a:prstGeom>
            <a:solidFill>
              <a:srgbClr val="BD8B67"/>
            </a:solidFill>
            <a:ln w="6191">
              <a:solidFill>
                <a:srgbClr val="6F6554"/>
              </a:solidFill>
              <a:prstDash val="solid"/>
            </a:ln>
          </p:spPr>
          <p:txBody>
            <a:bodyPr/>
            <a:lstStyle/>
            <a:p>
              <a:endParaRPr sz="1200"/>
            </a:p>
          </p:txBody>
        </p:sp>
        <p:sp>
          <p:nvSpPr>
            <p:cNvPr id="125" name="s1-farmer__contour_125">
              <a:extLst>
                <a:ext uri="{FF2B5EF4-FFF2-40B4-BE49-F238E27FC236}">
                  <a16:creationId xmlns:a16="http://schemas.microsoft.com/office/drawing/2014/main" id="{65FDDB50-69E9-43BA-B154-DB060B00CC87}"/>
                </a:ext>
              </a:extLst>
            </p:cNvPr>
            <p:cNvSpPr>
              <a:spLocks/>
            </p:cNvSpPr>
            <p:nvPr/>
          </p:nvSpPr>
          <p:spPr>
            <a:xfrm>
              <a:off x="2367795" y="2606961"/>
              <a:ext cx="113467" cy="78454"/>
            </a:xfrm>
            <a:custGeom>
              <a:avLst/>
              <a:gdLst/>
              <a:ahLst/>
              <a:cxnLst/>
              <a:rect l="0" t="0" r="0" b="0"/>
              <a:pathLst>
                <a:path w="170202" h="117681">
                  <a:moveTo>
                    <a:pt x="3038" y="117681"/>
                  </a:moveTo>
                  <a:lnTo>
                    <a:pt x="0" y="93154"/>
                  </a:lnTo>
                  <a:lnTo>
                    <a:pt x="562" y="71571"/>
                  </a:lnTo>
                  <a:lnTo>
                    <a:pt x="4324" y="52892"/>
                  </a:lnTo>
                  <a:lnTo>
                    <a:pt x="10935" y="37090"/>
                  </a:lnTo>
                  <a:lnTo>
                    <a:pt x="20003" y="24127"/>
                  </a:lnTo>
                  <a:lnTo>
                    <a:pt x="31175" y="13964"/>
                  </a:lnTo>
                  <a:lnTo>
                    <a:pt x="44053" y="6582"/>
                  </a:lnTo>
                  <a:lnTo>
                    <a:pt x="58274" y="1934"/>
                  </a:lnTo>
                  <a:lnTo>
                    <a:pt x="73466" y="0"/>
                  </a:lnTo>
                  <a:lnTo>
                    <a:pt x="89259" y="733"/>
                  </a:lnTo>
                  <a:lnTo>
                    <a:pt x="105261" y="4115"/>
                  </a:lnTo>
                  <a:lnTo>
                    <a:pt x="121120" y="10106"/>
                  </a:lnTo>
                  <a:lnTo>
                    <a:pt x="136446" y="18669"/>
                  </a:lnTo>
                  <a:lnTo>
                    <a:pt x="150866" y="29775"/>
                  </a:lnTo>
                  <a:lnTo>
                    <a:pt x="164011" y="43386"/>
                  </a:lnTo>
                  <a:lnTo>
                    <a:pt x="170202" y="99108"/>
                  </a:lnTo>
                  <a:lnTo>
                    <a:pt x="158058" y="88783"/>
                  </a:lnTo>
                  <a:lnTo>
                    <a:pt x="146352" y="80067"/>
                  </a:lnTo>
                  <a:lnTo>
                    <a:pt x="135036" y="72904"/>
                  </a:lnTo>
                  <a:lnTo>
                    <a:pt x="124044" y="67266"/>
                  </a:lnTo>
                  <a:lnTo>
                    <a:pt x="113338" y="63103"/>
                  </a:lnTo>
                  <a:lnTo>
                    <a:pt x="102841" y="60379"/>
                  </a:lnTo>
                  <a:lnTo>
                    <a:pt x="92516" y="59026"/>
                  </a:lnTo>
                  <a:lnTo>
                    <a:pt x="82296" y="59026"/>
                  </a:lnTo>
                  <a:lnTo>
                    <a:pt x="72133" y="60322"/>
                  </a:lnTo>
                  <a:lnTo>
                    <a:pt x="61970" y="62875"/>
                  </a:lnTo>
                  <a:lnTo>
                    <a:pt x="51749" y="66637"/>
                  </a:lnTo>
                  <a:lnTo>
                    <a:pt x="41424" y="71571"/>
                  </a:lnTo>
                  <a:lnTo>
                    <a:pt x="30928" y="77619"/>
                  </a:lnTo>
                  <a:lnTo>
                    <a:pt x="20222" y="84753"/>
                  </a:lnTo>
                  <a:lnTo>
                    <a:pt x="9230" y="92916"/>
                  </a:lnTo>
                  <a:close/>
                </a:path>
              </a:pathLst>
            </a:custGeom>
            <a:solidFill>
              <a:srgbClr val="4E4D40"/>
            </a:solidFill>
            <a:ln w="10525">
              <a:noFill/>
              <a:prstDash val="solid"/>
            </a:ln>
          </p:spPr>
          <p:txBody>
            <a:bodyPr/>
            <a:lstStyle/>
            <a:p>
              <a:endParaRPr sz="1200"/>
            </a:p>
          </p:txBody>
        </p:sp>
        <p:sp>
          <p:nvSpPr>
            <p:cNvPr id="126" name="s1-farmer__path_126">
              <a:extLst>
                <a:ext uri="{FF2B5EF4-FFF2-40B4-BE49-F238E27FC236}">
                  <a16:creationId xmlns:a16="http://schemas.microsoft.com/office/drawing/2014/main" id="{BC85D0DD-1160-432C-985B-FCAA9C8C493A}"/>
                </a:ext>
              </a:extLst>
            </p:cNvPr>
            <p:cNvSpPr>
              <a:spLocks/>
            </p:cNvSpPr>
            <p:nvPr/>
          </p:nvSpPr>
          <p:spPr>
            <a:xfrm>
              <a:off x="2473007" y="2677160"/>
              <a:ext cx="24765" cy="28892"/>
            </a:xfrm>
            <a:custGeom>
              <a:avLst/>
              <a:gdLst/>
              <a:ahLst/>
              <a:cxnLst/>
              <a:rect l="0" t="0" r="0" b="0"/>
              <a:pathLst>
                <a:path w="37148" h="43339">
                  <a:moveTo>
                    <a:pt x="0" y="0"/>
                  </a:moveTo>
                  <a:lnTo>
                    <a:pt x="37148" y="24765"/>
                  </a:lnTo>
                  <a:lnTo>
                    <a:pt x="0" y="43339"/>
                  </a:lnTo>
                  <a:close/>
                </a:path>
              </a:pathLst>
            </a:custGeom>
            <a:solidFill>
              <a:srgbClr val="BD8B67"/>
            </a:solidFill>
            <a:ln w="4953">
              <a:solidFill>
                <a:srgbClr val="6F6554"/>
              </a:solidFill>
              <a:prstDash val="solid"/>
            </a:ln>
          </p:spPr>
          <p:txBody>
            <a:bodyPr/>
            <a:lstStyle/>
            <a:p>
              <a:endParaRPr sz="1200"/>
            </a:p>
          </p:txBody>
        </p:sp>
        <p:sp>
          <p:nvSpPr>
            <p:cNvPr id="127" name="s1-farmer__ellipse_127">
              <a:extLst>
                <a:ext uri="{FF2B5EF4-FFF2-40B4-BE49-F238E27FC236}">
                  <a16:creationId xmlns:a16="http://schemas.microsoft.com/office/drawing/2014/main" id="{6C7C8EE0-18A9-4397-9288-02722A54A8EE}"/>
                </a:ext>
              </a:extLst>
            </p:cNvPr>
            <p:cNvSpPr>
              <a:spLocks/>
            </p:cNvSpPr>
            <p:nvPr/>
          </p:nvSpPr>
          <p:spPr>
            <a:xfrm>
              <a:off x="2456497" y="2668905"/>
              <a:ext cx="8255" cy="8255"/>
            </a:xfrm>
            <a:prstGeom prst="ellipse">
              <a:avLst/>
            </a:prstGeom>
            <a:solidFill>
              <a:srgbClr val="333E34"/>
            </a:solidFill>
            <a:ln w="0">
              <a:noFill/>
              <a:prstDash val="solid"/>
            </a:ln>
          </p:spPr>
          <p:txBody>
            <a:bodyPr/>
            <a:lstStyle/>
            <a:p>
              <a:endParaRPr sz="1200"/>
            </a:p>
          </p:txBody>
        </p:sp>
        <p:sp>
          <p:nvSpPr>
            <p:cNvPr id="128" name="s1-farmer__contour_128">
              <a:extLst>
                <a:ext uri="{FF2B5EF4-FFF2-40B4-BE49-F238E27FC236}">
                  <a16:creationId xmlns:a16="http://schemas.microsoft.com/office/drawing/2014/main" id="{0BA33E95-3224-4E75-8676-14078122692C}"/>
                </a:ext>
              </a:extLst>
            </p:cNvPr>
            <p:cNvSpPr>
              <a:spLocks/>
            </p:cNvSpPr>
            <p:nvPr/>
          </p:nvSpPr>
          <p:spPr>
            <a:xfrm>
              <a:off x="2411096" y="2780347"/>
              <a:ext cx="111442" cy="119697"/>
            </a:xfrm>
            <a:custGeom>
              <a:avLst/>
              <a:gdLst/>
              <a:ahLst/>
              <a:cxnLst/>
              <a:rect l="0" t="0" r="0" b="0"/>
              <a:pathLst>
                <a:path w="167164" h="179546">
                  <a:moveTo>
                    <a:pt x="105251" y="0"/>
                  </a:moveTo>
                  <a:lnTo>
                    <a:pt x="167164" y="105251"/>
                  </a:lnTo>
                  <a:lnTo>
                    <a:pt x="0" y="179546"/>
                  </a:lnTo>
                </a:path>
              </a:pathLst>
            </a:custGeom>
            <a:noFill/>
            <a:ln w="49530">
              <a:solidFill>
                <a:srgbClr val="BD8B67"/>
              </a:solidFill>
              <a:prstDash val="solid"/>
            </a:ln>
          </p:spPr>
          <p:txBody>
            <a:bodyPr/>
            <a:lstStyle/>
            <a:p>
              <a:endParaRPr sz="1200"/>
            </a:p>
          </p:txBody>
        </p:sp>
        <p:sp>
          <p:nvSpPr>
            <p:cNvPr id="129" name="s1-farmer__contour_129">
              <a:extLst>
                <a:ext uri="{FF2B5EF4-FFF2-40B4-BE49-F238E27FC236}">
                  <a16:creationId xmlns:a16="http://schemas.microsoft.com/office/drawing/2014/main" id="{2B2A915D-3F36-4228-AB6C-97B3074C793C}"/>
                </a:ext>
              </a:extLst>
            </p:cNvPr>
            <p:cNvSpPr>
              <a:spLocks/>
            </p:cNvSpPr>
            <p:nvPr/>
          </p:nvSpPr>
          <p:spPr>
            <a:xfrm>
              <a:off x="2477135" y="2776220"/>
              <a:ext cx="24764" cy="41275"/>
            </a:xfrm>
            <a:custGeom>
              <a:avLst/>
              <a:gdLst/>
              <a:ahLst/>
              <a:cxnLst/>
              <a:rect l="0" t="0" r="0" b="0"/>
              <a:pathLst>
                <a:path w="37147" h="61913">
                  <a:moveTo>
                    <a:pt x="0" y="0"/>
                  </a:moveTo>
                  <a:lnTo>
                    <a:pt x="37147" y="61913"/>
                  </a:lnTo>
                </a:path>
              </a:pathLst>
            </a:custGeom>
            <a:noFill/>
            <a:ln w="68104">
              <a:solidFill>
                <a:srgbClr val="8196A0"/>
              </a:solidFill>
              <a:prstDash val="solid"/>
            </a:ln>
          </p:spPr>
          <p:txBody>
            <a:bodyPr/>
            <a:lstStyle/>
            <a:p>
              <a:endParaRPr sz="1200"/>
            </a:p>
          </p:txBody>
        </p:sp>
        <p:sp>
          <p:nvSpPr>
            <p:cNvPr id="130" name="s1-farmer__contour_130">
              <a:extLst>
                <a:ext uri="{FF2B5EF4-FFF2-40B4-BE49-F238E27FC236}">
                  <a16:creationId xmlns:a16="http://schemas.microsoft.com/office/drawing/2014/main" id="{6EFDE05D-6010-4682-AC38-801F49D60858}"/>
                </a:ext>
              </a:extLst>
            </p:cNvPr>
            <p:cNvSpPr>
              <a:spLocks/>
            </p:cNvSpPr>
            <p:nvPr/>
          </p:nvSpPr>
          <p:spPr>
            <a:xfrm>
              <a:off x="2328546" y="2780347"/>
              <a:ext cx="41275" cy="127952"/>
            </a:xfrm>
            <a:custGeom>
              <a:avLst/>
              <a:gdLst/>
              <a:ahLst/>
              <a:cxnLst/>
              <a:rect l="0" t="0" r="0" b="0"/>
              <a:pathLst>
                <a:path w="61913" h="191929">
                  <a:moveTo>
                    <a:pt x="61913" y="0"/>
                  </a:moveTo>
                  <a:lnTo>
                    <a:pt x="55721" y="99060"/>
                  </a:lnTo>
                  <a:lnTo>
                    <a:pt x="0" y="191929"/>
                  </a:lnTo>
                </a:path>
              </a:pathLst>
            </a:custGeom>
            <a:noFill/>
            <a:ln w="49530">
              <a:solidFill>
                <a:srgbClr val="BD8B67"/>
              </a:solidFill>
              <a:prstDash val="solid"/>
            </a:ln>
          </p:spPr>
          <p:txBody>
            <a:bodyPr/>
            <a:lstStyle/>
            <a:p>
              <a:endParaRPr sz="1200"/>
            </a:p>
          </p:txBody>
        </p:sp>
        <p:sp>
          <p:nvSpPr>
            <p:cNvPr id="131" name="s1-farmer__contour_131">
              <a:extLst>
                <a:ext uri="{FF2B5EF4-FFF2-40B4-BE49-F238E27FC236}">
                  <a16:creationId xmlns:a16="http://schemas.microsoft.com/office/drawing/2014/main" id="{265A59CD-7762-4114-AE12-76FF50E8F749}"/>
                </a:ext>
              </a:extLst>
            </p:cNvPr>
            <p:cNvSpPr>
              <a:spLocks/>
            </p:cNvSpPr>
            <p:nvPr/>
          </p:nvSpPr>
          <p:spPr>
            <a:xfrm>
              <a:off x="2369820" y="2776220"/>
              <a:ext cx="4127" cy="41275"/>
            </a:xfrm>
            <a:custGeom>
              <a:avLst/>
              <a:gdLst/>
              <a:ahLst/>
              <a:cxnLst/>
              <a:rect l="0" t="0" r="0" b="0"/>
              <a:pathLst>
                <a:path w="6191" h="61913">
                  <a:moveTo>
                    <a:pt x="6191" y="0"/>
                  </a:moveTo>
                  <a:lnTo>
                    <a:pt x="0" y="61913"/>
                  </a:lnTo>
                </a:path>
              </a:pathLst>
            </a:custGeom>
            <a:noFill/>
            <a:ln w="68104">
              <a:solidFill>
                <a:srgbClr val="8196A0"/>
              </a:solidFill>
              <a:prstDash val="solid"/>
            </a:ln>
          </p:spPr>
          <p:txBody>
            <a:bodyPr/>
            <a:lstStyle/>
            <a:p>
              <a:endParaRPr sz="1200"/>
            </a:p>
          </p:txBody>
        </p:sp>
        <p:sp>
          <p:nvSpPr>
            <p:cNvPr id="132" name="s1-farmer__hoe-handle_132">
              <a:extLst>
                <a:ext uri="{FF2B5EF4-FFF2-40B4-BE49-F238E27FC236}">
                  <a16:creationId xmlns:a16="http://schemas.microsoft.com/office/drawing/2014/main" id="{487C7037-588B-43FA-B189-DFBB7B6D5C60}"/>
                </a:ext>
              </a:extLst>
            </p:cNvPr>
            <p:cNvSpPr>
              <a:spLocks/>
            </p:cNvSpPr>
            <p:nvPr/>
          </p:nvSpPr>
          <p:spPr>
            <a:xfrm>
              <a:off x="2291398" y="2829877"/>
              <a:ext cx="152717" cy="264160"/>
            </a:xfrm>
            <a:custGeom>
              <a:avLst/>
              <a:gdLst/>
              <a:ahLst/>
              <a:cxnLst/>
              <a:rect l="0" t="0" r="0" b="0"/>
              <a:pathLst>
                <a:path w="229076" h="396240">
                  <a:moveTo>
                    <a:pt x="229076" y="0"/>
                  </a:moveTo>
                  <a:lnTo>
                    <a:pt x="0" y="396240"/>
                  </a:lnTo>
                </a:path>
              </a:pathLst>
            </a:custGeom>
            <a:noFill/>
            <a:ln w="23527">
              <a:solidFill>
                <a:srgbClr val="8B7150"/>
              </a:solidFill>
              <a:prstDash val="solid"/>
            </a:ln>
          </p:spPr>
          <p:txBody>
            <a:bodyPr/>
            <a:lstStyle/>
            <a:p>
              <a:endParaRPr sz="1200"/>
            </a:p>
          </p:txBody>
        </p:sp>
        <p:sp>
          <p:nvSpPr>
            <p:cNvPr id="133" name="s1-farmer__hoe-blade_133">
              <a:extLst>
                <a:ext uri="{FF2B5EF4-FFF2-40B4-BE49-F238E27FC236}">
                  <a16:creationId xmlns:a16="http://schemas.microsoft.com/office/drawing/2014/main" id="{6404218E-5816-4043-9D16-BA2E39A3C3FA}"/>
                </a:ext>
              </a:extLst>
            </p:cNvPr>
            <p:cNvSpPr>
              <a:spLocks/>
            </p:cNvSpPr>
            <p:nvPr/>
          </p:nvSpPr>
          <p:spPr>
            <a:xfrm>
              <a:off x="2266633" y="3073400"/>
              <a:ext cx="90805" cy="45402"/>
            </a:xfrm>
            <a:custGeom>
              <a:avLst/>
              <a:gdLst/>
              <a:ahLst/>
              <a:cxnLst/>
              <a:rect l="0" t="0" r="0" b="0"/>
              <a:pathLst>
                <a:path w="136208" h="68104">
                  <a:moveTo>
                    <a:pt x="24765" y="0"/>
                  </a:moveTo>
                  <a:lnTo>
                    <a:pt x="136208" y="30956"/>
                  </a:lnTo>
                  <a:lnTo>
                    <a:pt x="105251" y="68104"/>
                  </a:lnTo>
                  <a:lnTo>
                    <a:pt x="0" y="43339"/>
                  </a:lnTo>
                  <a:close/>
                </a:path>
              </a:pathLst>
            </a:custGeom>
            <a:solidFill>
              <a:srgbClr val="7B8174"/>
            </a:solidFill>
            <a:ln w="7430">
              <a:solidFill>
                <a:srgbClr val="596454"/>
              </a:solidFill>
              <a:prstDash val="solid"/>
            </a:ln>
          </p:spPr>
          <p:txBody>
            <a:bodyPr/>
            <a:lstStyle/>
            <a:p>
              <a:endParaRPr sz="1200"/>
            </a:p>
          </p:txBody>
        </p:sp>
        <p:sp>
          <p:nvSpPr>
            <p:cNvPr id="134" name="s1-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1200"/>
            </a:p>
          </p:txBody>
        </p:sp>
        <p:sp>
          <p:nvSpPr>
            <p:cNvPr id="135" name="s1-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1200"/>
            </a:p>
          </p:txBody>
        </p:sp>
        <p:sp>
          <p:nvSpPr>
            <p:cNvPr id="136" name="s1-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1200"/>
            </a:p>
          </p:txBody>
        </p:sp>
        <p:sp>
          <p:nvSpPr>
            <p:cNvPr id="137" name="s1-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1200"/>
            </a:p>
          </p:txBody>
        </p:sp>
        <p:sp>
          <p:nvSpPr>
            <p:cNvPr id="138" name="s1-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1200"/>
            </a:p>
          </p:txBody>
        </p:sp>
        <p:sp>
          <p:nvSpPr>
            <p:cNvPr id="139" name="s1-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1200"/>
            </a:p>
          </p:txBody>
        </p:sp>
        <p:sp>
          <p:nvSpPr>
            <p:cNvPr id="140" name="s1-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1200"/>
            </a:p>
          </p:txBody>
        </p:sp>
        <p:sp>
          <p:nvSpPr>
            <p:cNvPr id="141" name="s1-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1200"/>
            </a:p>
          </p:txBody>
        </p:sp>
        <p:sp>
          <p:nvSpPr>
            <p:cNvPr id="142" name="s1-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1200"/>
            </a:p>
          </p:txBody>
        </p:sp>
        <p:sp>
          <p:nvSpPr>
            <p:cNvPr id="143" name="s1-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1200"/>
            </a:p>
          </p:txBody>
        </p:sp>
        <p:sp>
          <p:nvSpPr>
            <p:cNvPr id="144" name="s1-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1200"/>
            </a:p>
          </p:txBody>
        </p:sp>
        <p:sp>
          <p:nvSpPr>
            <p:cNvPr id="145" name="s1-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1200"/>
            </a:p>
          </p:txBody>
        </p:sp>
        <p:sp>
          <p:nvSpPr>
            <p:cNvPr id="146" name="s1-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1200"/>
            </a:p>
          </p:txBody>
        </p:sp>
        <p:sp>
          <p:nvSpPr>
            <p:cNvPr id="147" name="s1-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1200"/>
            </a:p>
          </p:txBody>
        </p:sp>
        <p:sp>
          <p:nvSpPr>
            <p:cNvPr id="148" name="s1-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1200"/>
            </a:p>
          </p:txBody>
        </p:sp>
        <p:sp>
          <p:nvSpPr>
            <p:cNvPr id="149" name="s1-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1200"/>
            </a:p>
          </p:txBody>
        </p:sp>
        <p:sp>
          <p:nvSpPr>
            <p:cNvPr id="150" name="s1-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1200"/>
            </a:p>
          </p:txBody>
        </p:sp>
        <p:sp>
          <p:nvSpPr>
            <p:cNvPr id="151" name="s1-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1200"/>
            </a:p>
          </p:txBody>
        </p:sp>
        <p:sp>
          <p:nvSpPr>
            <p:cNvPr id="152" name="s1-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1200"/>
            </a:p>
          </p:txBody>
        </p:sp>
        <p:sp>
          <p:nvSpPr>
            <p:cNvPr id="153" name="s1-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1200"/>
            </a:p>
          </p:txBody>
        </p:sp>
        <p:sp>
          <p:nvSpPr>
            <p:cNvPr id="154" name="s1-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1200"/>
            </a:p>
          </p:txBody>
        </p:sp>
        <p:sp>
          <p:nvSpPr>
            <p:cNvPr id="155" name="s1-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1200"/>
            </a:p>
          </p:txBody>
        </p:sp>
        <p:sp>
          <p:nvSpPr>
            <p:cNvPr id="156" name="s1-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1200"/>
            </a:p>
          </p:txBody>
        </p:sp>
        <p:sp>
          <p:nvSpPr>
            <p:cNvPr id="157" name="s1-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1200"/>
            </a:p>
          </p:txBody>
        </p:sp>
        <p:sp>
          <p:nvSpPr>
            <p:cNvPr id="158" name="s1-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1200"/>
            </a:p>
          </p:txBody>
        </p:sp>
        <p:sp>
          <p:nvSpPr>
            <p:cNvPr id="159" name="s1-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1200"/>
            </a:p>
          </p:txBody>
        </p:sp>
        <p:sp>
          <p:nvSpPr>
            <p:cNvPr id="160" name="s1-female-junglefowl__ellipse_160">
              <a:extLst>
                <a:ext uri="{FF2B5EF4-FFF2-40B4-BE49-F238E27FC236}">
                  <a16:creationId xmlns:a16="http://schemas.microsoft.com/office/drawing/2014/main" id="{8AE3E06A-561D-457E-A9B3-5D6081BD23FC}"/>
                </a:ext>
              </a:extLst>
            </p:cNvPr>
            <p:cNvSpPr>
              <a:spLocks/>
            </p:cNvSpPr>
            <p:nvPr/>
          </p:nvSpPr>
          <p:spPr>
            <a:xfrm>
              <a:off x="2061972" y="4052825"/>
              <a:ext cx="427609" cy="42291"/>
            </a:xfrm>
            <a:prstGeom prst="ellipse">
              <a:avLst/>
            </a:prstGeom>
            <a:solidFill>
              <a:srgbClr val="DCE2D6">
                <a:alpha val="80000"/>
              </a:srgbClr>
            </a:solidFill>
            <a:ln w="0">
              <a:noFill/>
              <a:prstDash val="solid"/>
            </a:ln>
          </p:spPr>
          <p:txBody>
            <a:bodyPr/>
            <a:lstStyle/>
            <a:p>
              <a:endParaRPr sz="1200"/>
            </a:p>
          </p:txBody>
        </p:sp>
        <p:sp>
          <p:nvSpPr>
            <p:cNvPr id="161" name="s1-female-junglefowl__contour_161">
              <a:extLst>
                <a:ext uri="{FF2B5EF4-FFF2-40B4-BE49-F238E27FC236}">
                  <a16:creationId xmlns:a16="http://schemas.microsoft.com/office/drawing/2014/main" id="{AE8C4B4D-1253-4157-8693-1698FD65C2EA}"/>
                </a:ext>
              </a:extLst>
            </p:cNvPr>
            <p:cNvSpPr>
              <a:spLocks/>
            </p:cNvSpPr>
            <p:nvPr/>
          </p:nvSpPr>
          <p:spPr>
            <a:xfrm>
              <a:off x="2395601" y="3667507"/>
              <a:ext cx="225552" cy="187960"/>
            </a:xfrm>
            <a:custGeom>
              <a:avLst/>
              <a:gdLst/>
              <a:ahLst/>
              <a:cxnLst/>
              <a:rect l="0" t="0" r="0" b="0"/>
              <a:pathLst>
                <a:path w="338328" h="281940">
                  <a:moveTo>
                    <a:pt x="21146" y="281940"/>
                  </a:moveTo>
                  <a:lnTo>
                    <a:pt x="45272" y="265452"/>
                  </a:lnTo>
                  <a:lnTo>
                    <a:pt x="69628" y="249669"/>
                  </a:lnTo>
                  <a:lnTo>
                    <a:pt x="94059" y="234353"/>
                  </a:lnTo>
                  <a:lnTo>
                    <a:pt x="118405" y="219256"/>
                  </a:lnTo>
                  <a:lnTo>
                    <a:pt x="142532" y="204149"/>
                  </a:lnTo>
                  <a:lnTo>
                    <a:pt x="166287" y="188786"/>
                  </a:lnTo>
                  <a:lnTo>
                    <a:pt x="189509" y="172936"/>
                  </a:lnTo>
                  <a:lnTo>
                    <a:pt x="212065" y="156362"/>
                  </a:lnTo>
                  <a:lnTo>
                    <a:pt x="233782" y="138827"/>
                  </a:lnTo>
                  <a:lnTo>
                    <a:pt x="254527" y="120082"/>
                  </a:lnTo>
                  <a:lnTo>
                    <a:pt x="274149" y="99898"/>
                  </a:lnTo>
                  <a:lnTo>
                    <a:pt x="292484" y="78038"/>
                  </a:lnTo>
                  <a:lnTo>
                    <a:pt x="309391" y="54264"/>
                  </a:lnTo>
                  <a:lnTo>
                    <a:pt x="324726" y="28327"/>
                  </a:lnTo>
                  <a:lnTo>
                    <a:pt x="338328" y="0"/>
                  </a:lnTo>
                  <a:lnTo>
                    <a:pt x="322050" y="3343"/>
                  </a:lnTo>
                  <a:lnTo>
                    <a:pt x="306962" y="7591"/>
                  </a:lnTo>
                  <a:lnTo>
                    <a:pt x="292932" y="12516"/>
                  </a:lnTo>
                  <a:lnTo>
                    <a:pt x="279854" y="17897"/>
                  </a:lnTo>
                  <a:lnTo>
                    <a:pt x="267586" y="23498"/>
                  </a:lnTo>
                  <a:lnTo>
                    <a:pt x="256003" y="29099"/>
                  </a:lnTo>
                  <a:lnTo>
                    <a:pt x="244983" y="34471"/>
                  </a:lnTo>
                  <a:lnTo>
                    <a:pt x="234410" y="39395"/>
                  </a:lnTo>
                  <a:lnTo>
                    <a:pt x="224142" y="43644"/>
                  </a:lnTo>
                  <a:lnTo>
                    <a:pt x="214065" y="46987"/>
                  </a:lnTo>
                  <a:lnTo>
                    <a:pt x="204054" y="49206"/>
                  </a:lnTo>
                  <a:lnTo>
                    <a:pt x="193977" y="50073"/>
                  </a:lnTo>
                  <a:lnTo>
                    <a:pt x="183709" y="49359"/>
                  </a:lnTo>
                  <a:lnTo>
                    <a:pt x="173136" y="46844"/>
                  </a:lnTo>
                  <a:lnTo>
                    <a:pt x="162115" y="42291"/>
                  </a:lnTo>
                  <a:lnTo>
                    <a:pt x="63437" y="98679"/>
                  </a:lnTo>
                  <a:lnTo>
                    <a:pt x="0" y="190310"/>
                  </a:lnTo>
                  <a:close/>
                </a:path>
              </a:pathLst>
            </a:custGeom>
            <a:solidFill>
              <a:srgbClr val="5A6045"/>
            </a:solidFill>
            <a:ln w="11982">
              <a:solidFill>
                <a:srgbClr val="4A5147"/>
              </a:solidFill>
              <a:prstDash val="solid"/>
            </a:ln>
          </p:spPr>
          <p:txBody>
            <a:bodyPr/>
            <a:lstStyle/>
            <a:p>
              <a:endParaRPr sz="1200"/>
            </a:p>
          </p:txBody>
        </p:sp>
        <p:sp>
          <p:nvSpPr>
            <p:cNvPr id="162" name="s1-female-junglefowl__line_162">
              <a:extLst>
                <a:ext uri="{FF2B5EF4-FFF2-40B4-BE49-F238E27FC236}">
                  <a16:creationId xmlns:a16="http://schemas.microsoft.com/office/drawing/2014/main" id="{B1F8389F-9770-4666-8919-2E2ABDB05202}"/>
                </a:ext>
              </a:extLst>
            </p:cNvPr>
            <p:cNvSpPr>
              <a:spLocks/>
            </p:cNvSpPr>
            <p:nvPr/>
          </p:nvSpPr>
          <p:spPr>
            <a:xfrm>
              <a:off x="2301621" y="3968243"/>
              <a:ext cx="4699" cy="84582"/>
            </a:xfrm>
            <a:custGeom>
              <a:avLst/>
              <a:gdLst/>
              <a:ahLst/>
              <a:cxnLst/>
              <a:rect l="0" t="0" r="0" b="0"/>
              <a:pathLst>
                <a:path w="7049" h="126873">
                  <a:moveTo>
                    <a:pt x="7049" y="0"/>
                  </a:moveTo>
                  <a:lnTo>
                    <a:pt x="0" y="126873"/>
                  </a:lnTo>
                </a:path>
              </a:pathLst>
            </a:custGeom>
            <a:noFill/>
            <a:ln w="19736">
              <a:solidFill>
                <a:srgbClr val="B98E49"/>
              </a:solidFill>
              <a:prstDash val="solid"/>
            </a:ln>
          </p:spPr>
          <p:txBody>
            <a:bodyPr/>
            <a:lstStyle/>
            <a:p>
              <a:endParaRPr sz="1200"/>
            </a:p>
          </p:txBody>
        </p:sp>
        <p:sp>
          <p:nvSpPr>
            <p:cNvPr id="163" name="s1-female-junglefowl__line_163">
              <a:extLst>
                <a:ext uri="{FF2B5EF4-FFF2-40B4-BE49-F238E27FC236}">
                  <a16:creationId xmlns:a16="http://schemas.microsoft.com/office/drawing/2014/main" id="{42CF9FAA-0269-40D3-A54D-302C2FFBA9D5}"/>
                </a:ext>
              </a:extLst>
            </p:cNvPr>
            <p:cNvSpPr>
              <a:spLocks/>
            </p:cNvSpPr>
            <p:nvPr/>
          </p:nvSpPr>
          <p:spPr>
            <a:xfrm>
              <a:off x="2301621" y="4048126"/>
              <a:ext cx="46990" cy="23495"/>
            </a:xfrm>
            <a:custGeom>
              <a:avLst/>
              <a:gdLst/>
              <a:ahLst/>
              <a:cxnLst/>
              <a:rect l="0" t="0" r="0" b="0"/>
              <a:pathLst>
                <a:path w="70485" h="35243">
                  <a:moveTo>
                    <a:pt x="0" y="0"/>
                  </a:moveTo>
                  <a:lnTo>
                    <a:pt x="70485" y="35243"/>
                  </a:lnTo>
                </a:path>
              </a:pathLst>
            </a:custGeom>
            <a:noFill/>
            <a:ln w="15507">
              <a:solidFill>
                <a:srgbClr val="B98E49"/>
              </a:solidFill>
              <a:prstDash val="solid"/>
            </a:ln>
          </p:spPr>
          <p:txBody>
            <a:bodyPr/>
            <a:lstStyle/>
            <a:p>
              <a:endParaRPr sz="1200"/>
            </a:p>
          </p:txBody>
        </p:sp>
        <p:sp>
          <p:nvSpPr>
            <p:cNvPr id="164" name="s1-female-junglefowl__line_164">
              <a:extLst>
                <a:ext uri="{FF2B5EF4-FFF2-40B4-BE49-F238E27FC236}">
                  <a16:creationId xmlns:a16="http://schemas.microsoft.com/office/drawing/2014/main" id="{BA50F3BD-C926-4316-8379-307F79905FC4}"/>
                </a:ext>
              </a:extLst>
            </p:cNvPr>
            <p:cNvSpPr>
              <a:spLocks/>
            </p:cNvSpPr>
            <p:nvPr/>
          </p:nvSpPr>
          <p:spPr>
            <a:xfrm>
              <a:off x="2249932" y="4048126"/>
              <a:ext cx="51688" cy="23495"/>
            </a:xfrm>
            <a:custGeom>
              <a:avLst/>
              <a:gdLst/>
              <a:ahLst/>
              <a:cxnLst/>
              <a:rect l="0" t="0" r="0" b="0"/>
              <a:pathLst>
                <a:path w="77533" h="35243">
                  <a:moveTo>
                    <a:pt x="77533" y="0"/>
                  </a:moveTo>
                  <a:lnTo>
                    <a:pt x="0" y="35243"/>
                  </a:lnTo>
                </a:path>
              </a:pathLst>
            </a:custGeom>
            <a:noFill/>
            <a:ln w="15507">
              <a:solidFill>
                <a:srgbClr val="B98E49"/>
              </a:solidFill>
              <a:prstDash val="solid"/>
            </a:ln>
          </p:spPr>
          <p:txBody>
            <a:bodyPr/>
            <a:lstStyle/>
            <a:p>
              <a:endParaRPr sz="1200"/>
            </a:p>
          </p:txBody>
        </p:sp>
        <p:sp>
          <p:nvSpPr>
            <p:cNvPr id="165" name="s1-female-junglefowl__line_165">
              <a:extLst>
                <a:ext uri="{FF2B5EF4-FFF2-40B4-BE49-F238E27FC236}">
                  <a16:creationId xmlns:a16="http://schemas.microsoft.com/office/drawing/2014/main" id="{DA2F41E1-91EE-40C8-8A41-0D7BD727AB47}"/>
                </a:ext>
              </a:extLst>
            </p:cNvPr>
            <p:cNvSpPr>
              <a:spLocks/>
            </p:cNvSpPr>
            <p:nvPr/>
          </p:nvSpPr>
          <p:spPr>
            <a:xfrm>
              <a:off x="2193544" y="3972942"/>
              <a:ext cx="9398" cy="84582"/>
            </a:xfrm>
            <a:custGeom>
              <a:avLst/>
              <a:gdLst/>
              <a:ahLst/>
              <a:cxnLst/>
              <a:rect l="0" t="0" r="0" b="0"/>
              <a:pathLst>
                <a:path w="14097" h="126873">
                  <a:moveTo>
                    <a:pt x="14097" y="0"/>
                  </a:moveTo>
                  <a:lnTo>
                    <a:pt x="0" y="126873"/>
                  </a:lnTo>
                </a:path>
              </a:pathLst>
            </a:custGeom>
            <a:noFill/>
            <a:ln w="19736">
              <a:solidFill>
                <a:srgbClr val="B98E49"/>
              </a:solidFill>
              <a:prstDash val="solid"/>
            </a:ln>
          </p:spPr>
          <p:txBody>
            <a:bodyPr/>
            <a:lstStyle/>
            <a:p>
              <a:endParaRPr sz="1200"/>
            </a:p>
          </p:txBody>
        </p:sp>
        <p:sp>
          <p:nvSpPr>
            <p:cNvPr id="166" name="s1-female-junglefowl__line_166">
              <a:extLst>
                <a:ext uri="{FF2B5EF4-FFF2-40B4-BE49-F238E27FC236}">
                  <a16:creationId xmlns:a16="http://schemas.microsoft.com/office/drawing/2014/main" id="{70D8290B-750E-4F80-BE1E-0CE414754DA4}"/>
                </a:ext>
              </a:extLst>
            </p:cNvPr>
            <p:cNvSpPr>
              <a:spLocks/>
            </p:cNvSpPr>
            <p:nvPr/>
          </p:nvSpPr>
          <p:spPr>
            <a:xfrm>
              <a:off x="2193544" y="4052825"/>
              <a:ext cx="42291" cy="18796"/>
            </a:xfrm>
            <a:custGeom>
              <a:avLst/>
              <a:gdLst/>
              <a:ahLst/>
              <a:cxnLst/>
              <a:rect l="0" t="0" r="0" b="0"/>
              <a:pathLst>
                <a:path w="63437" h="28194">
                  <a:moveTo>
                    <a:pt x="0" y="0"/>
                  </a:moveTo>
                  <a:lnTo>
                    <a:pt x="63437" y="28194"/>
                  </a:lnTo>
                </a:path>
              </a:pathLst>
            </a:custGeom>
            <a:noFill/>
            <a:ln w="15507">
              <a:solidFill>
                <a:srgbClr val="B98E49"/>
              </a:solidFill>
              <a:prstDash val="solid"/>
            </a:ln>
          </p:spPr>
          <p:txBody>
            <a:bodyPr/>
            <a:lstStyle/>
            <a:p>
              <a:endParaRPr sz="1200"/>
            </a:p>
          </p:txBody>
        </p:sp>
        <p:sp>
          <p:nvSpPr>
            <p:cNvPr id="167" name="s1-female-junglefowl__line_167">
              <a:extLst>
                <a:ext uri="{FF2B5EF4-FFF2-40B4-BE49-F238E27FC236}">
                  <a16:creationId xmlns:a16="http://schemas.microsoft.com/office/drawing/2014/main" id="{145760B2-636C-49E5-867B-D88983CBFB0B}"/>
                </a:ext>
              </a:extLst>
            </p:cNvPr>
            <p:cNvSpPr>
              <a:spLocks/>
            </p:cNvSpPr>
            <p:nvPr/>
          </p:nvSpPr>
          <p:spPr>
            <a:xfrm>
              <a:off x="2146554" y="4052825"/>
              <a:ext cx="46990" cy="18796"/>
            </a:xfrm>
            <a:custGeom>
              <a:avLst/>
              <a:gdLst/>
              <a:ahLst/>
              <a:cxnLst/>
              <a:rect l="0" t="0" r="0" b="0"/>
              <a:pathLst>
                <a:path w="70485" h="28194">
                  <a:moveTo>
                    <a:pt x="70485" y="0"/>
                  </a:moveTo>
                  <a:lnTo>
                    <a:pt x="0" y="28194"/>
                  </a:lnTo>
                </a:path>
              </a:pathLst>
            </a:custGeom>
            <a:noFill/>
            <a:ln w="15507">
              <a:solidFill>
                <a:srgbClr val="B98E49"/>
              </a:solidFill>
              <a:prstDash val="solid"/>
            </a:ln>
          </p:spPr>
          <p:txBody>
            <a:bodyPr/>
            <a:lstStyle/>
            <a:p>
              <a:endParaRPr sz="1200"/>
            </a:p>
          </p:txBody>
        </p:sp>
        <p:sp>
          <p:nvSpPr>
            <p:cNvPr id="168" name="s1-female-junglefowl__contour_168">
              <a:extLst>
                <a:ext uri="{FF2B5EF4-FFF2-40B4-BE49-F238E27FC236}">
                  <a16:creationId xmlns:a16="http://schemas.microsoft.com/office/drawing/2014/main" id="{D919DC10-5BFB-4CF3-B138-7A1366D54D51}"/>
                </a:ext>
              </a:extLst>
            </p:cNvPr>
            <p:cNvSpPr>
              <a:spLocks/>
            </p:cNvSpPr>
            <p:nvPr/>
          </p:nvSpPr>
          <p:spPr>
            <a:xfrm>
              <a:off x="2073980" y="3573444"/>
              <a:ext cx="405003" cy="408895"/>
            </a:xfrm>
            <a:custGeom>
              <a:avLst/>
              <a:gdLst/>
              <a:ahLst/>
              <a:cxnLst/>
              <a:rect l="0" t="0" r="0" b="0"/>
              <a:pathLst>
                <a:path w="607505" h="613343">
                  <a:moveTo>
                    <a:pt x="581111" y="296161"/>
                  </a:moveTo>
                  <a:lnTo>
                    <a:pt x="553298" y="279635"/>
                  </a:lnTo>
                  <a:lnTo>
                    <a:pt x="526247" y="266395"/>
                  </a:lnTo>
                  <a:lnTo>
                    <a:pt x="499967" y="255956"/>
                  </a:lnTo>
                  <a:lnTo>
                    <a:pt x="474478" y="247850"/>
                  </a:lnTo>
                  <a:lnTo>
                    <a:pt x="449799" y="241602"/>
                  </a:lnTo>
                  <a:lnTo>
                    <a:pt x="425929" y="236725"/>
                  </a:lnTo>
                  <a:lnTo>
                    <a:pt x="402888" y="232762"/>
                  </a:lnTo>
                  <a:lnTo>
                    <a:pt x="380686" y="229210"/>
                  </a:lnTo>
                  <a:lnTo>
                    <a:pt x="359340" y="225619"/>
                  </a:lnTo>
                  <a:lnTo>
                    <a:pt x="338852" y="221494"/>
                  </a:lnTo>
                  <a:lnTo>
                    <a:pt x="319240" y="216379"/>
                  </a:lnTo>
                  <a:lnTo>
                    <a:pt x="300523" y="209779"/>
                  </a:lnTo>
                  <a:lnTo>
                    <a:pt x="282712" y="201216"/>
                  </a:lnTo>
                  <a:lnTo>
                    <a:pt x="265805" y="190233"/>
                  </a:lnTo>
                  <a:lnTo>
                    <a:pt x="249831" y="176336"/>
                  </a:lnTo>
                  <a:lnTo>
                    <a:pt x="240306" y="158039"/>
                  </a:lnTo>
                  <a:lnTo>
                    <a:pt x="231362" y="139922"/>
                  </a:lnTo>
                  <a:lnTo>
                    <a:pt x="222818" y="122149"/>
                  </a:lnTo>
                  <a:lnTo>
                    <a:pt x="214503" y="104899"/>
                  </a:lnTo>
                  <a:lnTo>
                    <a:pt x="206235" y="88363"/>
                  </a:lnTo>
                  <a:lnTo>
                    <a:pt x="197844" y="72695"/>
                  </a:lnTo>
                  <a:lnTo>
                    <a:pt x="189147" y="58083"/>
                  </a:lnTo>
                  <a:lnTo>
                    <a:pt x="179975" y="44701"/>
                  </a:lnTo>
                  <a:lnTo>
                    <a:pt x="170155" y="32718"/>
                  </a:lnTo>
                  <a:lnTo>
                    <a:pt x="159506" y="22317"/>
                  </a:lnTo>
                  <a:lnTo>
                    <a:pt x="147857" y="13668"/>
                  </a:lnTo>
                  <a:lnTo>
                    <a:pt x="135026" y="6944"/>
                  </a:lnTo>
                  <a:lnTo>
                    <a:pt x="120844" y="2334"/>
                  </a:lnTo>
                  <a:lnTo>
                    <a:pt x="105127" y="0"/>
                  </a:lnTo>
                  <a:lnTo>
                    <a:pt x="87716" y="124"/>
                  </a:lnTo>
                  <a:lnTo>
                    <a:pt x="71561" y="1314"/>
                  </a:lnTo>
                  <a:lnTo>
                    <a:pt x="56940" y="4724"/>
                  </a:lnTo>
                  <a:lnTo>
                    <a:pt x="43901" y="10163"/>
                  </a:lnTo>
                  <a:lnTo>
                    <a:pt x="32480" y="17402"/>
                  </a:lnTo>
                  <a:lnTo>
                    <a:pt x="22717" y="26232"/>
                  </a:lnTo>
                  <a:lnTo>
                    <a:pt x="14640" y="36433"/>
                  </a:lnTo>
                  <a:lnTo>
                    <a:pt x="8287" y="47816"/>
                  </a:lnTo>
                  <a:lnTo>
                    <a:pt x="3715" y="60141"/>
                  </a:lnTo>
                  <a:lnTo>
                    <a:pt x="933" y="73200"/>
                  </a:lnTo>
                  <a:lnTo>
                    <a:pt x="0" y="86792"/>
                  </a:lnTo>
                  <a:lnTo>
                    <a:pt x="943" y="100698"/>
                  </a:lnTo>
                  <a:lnTo>
                    <a:pt x="3810" y="114700"/>
                  </a:lnTo>
                  <a:lnTo>
                    <a:pt x="8630" y="128597"/>
                  </a:lnTo>
                  <a:lnTo>
                    <a:pt x="15440" y="142161"/>
                  </a:lnTo>
                  <a:lnTo>
                    <a:pt x="24279" y="155191"/>
                  </a:lnTo>
                  <a:lnTo>
                    <a:pt x="32090" y="164973"/>
                  </a:lnTo>
                  <a:lnTo>
                    <a:pt x="38652" y="174622"/>
                  </a:lnTo>
                  <a:lnTo>
                    <a:pt x="44015" y="184175"/>
                  </a:lnTo>
                  <a:lnTo>
                    <a:pt x="48254" y="193691"/>
                  </a:lnTo>
                  <a:lnTo>
                    <a:pt x="51425" y="203225"/>
                  </a:lnTo>
                  <a:lnTo>
                    <a:pt x="53597" y="212817"/>
                  </a:lnTo>
                  <a:lnTo>
                    <a:pt x="54835" y="222523"/>
                  </a:lnTo>
                  <a:lnTo>
                    <a:pt x="55188" y="232400"/>
                  </a:lnTo>
                  <a:lnTo>
                    <a:pt x="54731" y="242478"/>
                  </a:lnTo>
                  <a:lnTo>
                    <a:pt x="53521" y="252822"/>
                  </a:lnTo>
                  <a:lnTo>
                    <a:pt x="51616" y="263481"/>
                  </a:lnTo>
                  <a:lnTo>
                    <a:pt x="49092" y="274511"/>
                  </a:lnTo>
                  <a:lnTo>
                    <a:pt x="45996" y="285941"/>
                  </a:lnTo>
                  <a:lnTo>
                    <a:pt x="42405" y="297847"/>
                  </a:lnTo>
                  <a:lnTo>
                    <a:pt x="38376" y="310258"/>
                  </a:lnTo>
                  <a:lnTo>
                    <a:pt x="23279" y="346139"/>
                  </a:lnTo>
                  <a:lnTo>
                    <a:pt x="14364" y="380371"/>
                  </a:lnTo>
                  <a:lnTo>
                    <a:pt x="11249" y="412823"/>
                  </a:lnTo>
                  <a:lnTo>
                    <a:pt x="13554" y="443370"/>
                  </a:lnTo>
                  <a:lnTo>
                    <a:pt x="20888" y="471849"/>
                  </a:lnTo>
                  <a:lnTo>
                    <a:pt x="32852" y="498138"/>
                  </a:lnTo>
                  <a:lnTo>
                    <a:pt x="49063" y="522103"/>
                  </a:lnTo>
                  <a:lnTo>
                    <a:pt x="69132" y="543592"/>
                  </a:lnTo>
                  <a:lnTo>
                    <a:pt x="92678" y="562480"/>
                  </a:lnTo>
                  <a:lnTo>
                    <a:pt x="119301" y="578625"/>
                  </a:lnTo>
                  <a:lnTo>
                    <a:pt x="148619" y="591883"/>
                  </a:lnTo>
                  <a:lnTo>
                    <a:pt x="180251" y="602123"/>
                  </a:lnTo>
                  <a:lnTo>
                    <a:pt x="213789" y="609200"/>
                  </a:lnTo>
                  <a:lnTo>
                    <a:pt x="248860" y="612991"/>
                  </a:lnTo>
                  <a:lnTo>
                    <a:pt x="285074" y="613343"/>
                  </a:lnTo>
                  <a:lnTo>
                    <a:pt x="317002" y="612238"/>
                  </a:lnTo>
                  <a:lnTo>
                    <a:pt x="347872" y="608981"/>
                  </a:lnTo>
                  <a:lnTo>
                    <a:pt x="377552" y="603704"/>
                  </a:lnTo>
                  <a:lnTo>
                    <a:pt x="405908" y="596503"/>
                  </a:lnTo>
                  <a:lnTo>
                    <a:pt x="432835" y="587502"/>
                  </a:lnTo>
                  <a:lnTo>
                    <a:pt x="458181" y="576805"/>
                  </a:lnTo>
                  <a:lnTo>
                    <a:pt x="481851" y="564528"/>
                  </a:lnTo>
                  <a:lnTo>
                    <a:pt x="503692" y="550793"/>
                  </a:lnTo>
                  <a:lnTo>
                    <a:pt x="523599" y="535696"/>
                  </a:lnTo>
                  <a:lnTo>
                    <a:pt x="541430" y="519360"/>
                  </a:lnTo>
                  <a:lnTo>
                    <a:pt x="557070" y="501901"/>
                  </a:lnTo>
                  <a:lnTo>
                    <a:pt x="570395" y="483422"/>
                  </a:lnTo>
                  <a:lnTo>
                    <a:pt x="581282" y="464048"/>
                  </a:lnTo>
                  <a:lnTo>
                    <a:pt x="589588" y="443875"/>
                  </a:lnTo>
                  <a:lnTo>
                    <a:pt x="595208" y="423034"/>
                  </a:lnTo>
                  <a:lnTo>
                    <a:pt x="599065" y="413175"/>
                  </a:lnTo>
                  <a:lnTo>
                    <a:pt x="602180" y="403346"/>
                  </a:lnTo>
                  <a:lnTo>
                    <a:pt x="604571" y="393602"/>
                  </a:lnTo>
                  <a:lnTo>
                    <a:pt x="606247" y="383962"/>
                  </a:lnTo>
                  <a:lnTo>
                    <a:pt x="607219" y="374475"/>
                  </a:lnTo>
                  <a:lnTo>
                    <a:pt x="607505" y="365179"/>
                  </a:lnTo>
                  <a:lnTo>
                    <a:pt x="607104" y="356111"/>
                  </a:lnTo>
                  <a:lnTo>
                    <a:pt x="606047" y="347301"/>
                  </a:lnTo>
                  <a:lnTo>
                    <a:pt x="604342" y="338795"/>
                  </a:lnTo>
                  <a:lnTo>
                    <a:pt x="601999" y="330622"/>
                  </a:lnTo>
                  <a:lnTo>
                    <a:pt x="599018" y="322831"/>
                  </a:lnTo>
                  <a:lnTo>
                    <a:pt x="595436" y="315449"/>
                  </a:lnTo>
                  <a:lnTo>
                    <a:pt x="591245" y="308515"/>
                  </a:lnTo>
                  <a:lnTo>
                    <a:pt x="586464" y="302076"/>
                  </a:lnTo>
                  <a:lnTo>
                    <a:pt x="581111" y="296161"/>
                  </a:lnTo>
                  <a:close/>
                </a:path>
              </a:pathLst>
            </a:custGeom>
            <a:solidFill>
              <a:srgbClr val="91734B"/>
            </a:solidFill>
            <a:ln w="11982">
              <a:solidFill>
                <a:srgbClr val="4A5147"/>
              </a:solidFill>
              <a:prstDash val="solid"/>
            </a:ln>
          </p:spPr>
          <p:txBody>
            <a:bodyPr/>
            <a:lstStyle/>
            <a:p>
              <a:endParaRPr sz="1200"/>
            </a:p>
          </p:txBody>
        </p:sp>
        <p:sp>
          <p:nvSpPr>
            <p:cNvPr id="169" name="s1-female-junglefowl__contour_169">
              <a:extLst>
                <a:ext uri="{FF2B5EF4-FFF2-40B4-BE49-F238E27FC236}">
                  <a16:creationId xmlns:a16="http://schemas.microsoft.com/office/drawing/2014/main" id="{F3E8EFA8-4C8E-4CD0-8BC2-A421EAEA4194}"/>
                </a:ext>
              </a:extLst>
            </p:cNvPr>
            <p:cNvSpPr>
              <a:spLocks/>
            </p:cNvSpPr>
            <p:nvPr/>
          </p:nvSpPr>
          <p:spPr>
            <a:xfrm>
              <a:off x="2083288" y="3575368"/>
              <a:ext cx="143148" cy="242506"/>
            </a:xfrm>
            <a:custGeom>
              <a:avLst/>
              <a:gdLst/>
              <a:ahLst/>
              <a:cxnLst/>
              <a:rect l="0" t="0" r="0" b="0"/>
              <a:pathLst>
                <a:path w="214722" h="363760">
                  <a:moveTo>
                    <a:pt x="172431" y="110014"/>
                  </a:moveTo>
                  <a:lnTo>
                    <a:pt x="170107" y="93497"/>
                  </a:lnTo>
                  <a:lnTo>
                    <a:pt x="166068" y="77867"/>
                  </a:lnTo>
                  <a:lnTo>
                    <a:pt x="160477" y="63265"/>
                  </a:lnTo>
                  <a:lnTo>
                    <a:pt x="153495" y="49835"/>
                  </a:lnTo>
                  <a:lnTo>
                    <a:pt x="145285" y="37700"/>
                  </a:lnTo>
                  <a:lnTo>
                    <a:pt x="136007" y="27013"/>
                  </a:lnTo>
                  <a:lnTo>
                    <a:pt x="125825" y="17897"/>
                  </a:lnTo>
                  <a:lnTo>
                    <a:pt x="114910" y="10506"/>
                  </a:lnTo>
                  <a:lnTo>
                    <a:pt x="103413" y="4963"/>
                  </a:lnTo>
                  <a:lnTo>
                    <a:pt x="91507" y="1419"/>
                  </a:lnTo>
                  <a:lnTo>
                    <a:pt x="79343" y="0"/>
                  </a:lnTo>
                  <a:lnTo>
                    <a:pt x="67094" y="848"/>
                  </a:lnTo>
                  <a:lnTo>
                    <a:pt x="54931" y="4105"/>
                  </a:lnTo>
                  <a:lnTo>
                    <a:pt x="42996" y="9906"/>
                  </a:lnTo>
                  <a:lnTo>
                    <a:pt x="31461" y="18383"/>
                  </a:lnTo>
                  <a:lnTo>
                    <a:pt x="20231" y="29747"/>
                  </a:lnTo>
                  <a:lnTo>
                    <a:pt x="11754" y="41262"/>
                  </a:lnTo>
                  <a:lnTo>
                    <a:pt x="5744" y="52892"/>
                  </a:lnTo>
                  <a:lnTo>
                    <a:pt x="1962" y="64599"/>
                  </a:lnTo>
                  <a:lnTo>
                    <a:pt x="133" y="76333"/>
                  </a:lnTo>
                  <a:lnTo>
                    <a:pt x="0" y="88078"/>
                  </a:lnTo>
                  <a:lnTo>
                    <a:pt x="1286" y="99784"/>
                  </a:lnTo>
                  <a:lnTo>
                    <a:pt x="3743" y="111414"/>
                  </a:lnTo>
                  <a:lnTo>
                    <a:pt x="7106" y="122930"/>
                  </a:lnTo>
                  <a:lnTo>
                    <a:pt x="11097" y="134293"/>
                  </a:lnTo>
                  <a:lnTo>
                    <a:pt x="15469" y="145466"/>
                  </a:lnTo>
                  <a:lnTo>
                    <a:pt x="19955" y="156420"/>
                  </a:lnTo>
                  <a:lnTo>
                    <a:pt x="24298" y="167107"/>
                  </a:lnTo>
                  <a:lnTo>
                    <a:pt x="28213" y="177498"/>
                  </a:lnTo>
                  <a:lnTo>
                    <a:pt x="31461" y="187547"/>
                  </a:lnTo>
                  <a:lnTo>
                    <a:pt x="36547" y="198463"/>
                  </a:lnTo>
                  <a:lnTo>
                    <a:pt x="40596" y="208712"/>
                  </a:lnTo>
                  <a:lnTo>
                    <a:pt x="43701" y="218389"/>
                  </a:lnTo>
                  <a:lnTo>
                    <a:pt x="45930" y="227581"/>
                  </a:lnTo>
                  <a:lnTo>
                    <a:pt x="47387" y="236363"/>
                  </a:lnTo>
                  <a:lnTo>
                    <a:pt x="48149" y="244840"/>
                  </a:lnTo>
                  <a:lnTo>
                    <a:pt x="48320" y="253089"/>
                  </a:lnTo>
                  <a:lnTo>
                    <a:pt x="47968" y="261195"/>
                  </a:lnTo>
                  <a:lnTo>
                    <a:pt x="47196" y="269253"/>
                  </a:lnTo>
                  <a:lnTo>
                    <a:pt x="46082" y="277349"/>
                  </a:lnTo>
                  <a:lnTo>
                    <a:pt x="44720" y="285569"/>
                  </a:lnTo>
                  <a:lnTo>
                    <a:pt x="43186" y="294008"/>
                  </a:lnTo>
                  <a:lnTo>
                    <a:pt x="41586" y="302743"/>
                  </a:lnTo>
                  <a:lnTo>
                    <a:pt x="39995" y="311868"/>
                  </a:lnTo>
                  <a:lnTo>
                    <a:pt x="38510" y="321469"/>
                  </a:lnTo>
                  <a:lnTo>
                    <a:pt x="73752" y="363760"/>
                  </a:lnTo>
                  <a:lnTo>
                    <a:pt x="123092" y="314420"/>
                  </a:lnTo>
                  <a:lnTo>
                    <a:pt x="172431" y="335566"/>
                  </a:lnTo>
                  <a:lnTo>
                    <a:pt x="214722" y="243935"/>
                  </a:lnTo>
                  <a:close/>
                </a:path>
              </a:pathLst>
            </a:custGeom>
            <a:solidFill>
              <a:srgbClr val="AA8B54"/>
            </a:solidFill>
            <a:ln w="11982">
              <a:noFill/>
              <a:prstDash val="solid"/>
            </a:ln>
          </p:spPr>
          <p:txBody>
            <a:bodyPr/>
            <a:lstStyle/>
            <a:p>
              <a:endParaRPr sz="1200"/>
            </a:p>
          </p:txBody>
        </p:sp>
        <p:sp>
          <p:nvSpPr>
            <p:cNvPr id="170" name="s1-female-junglefowl__contour_170">
              <a:extLst>
                <a:ext uri="{FF2B5EF4-FFF2-40B4-BE49-F238E27FC236}">
                  <a16:creationId xmlns:a16="http://schemas.microsoft.com/office/drawing/2014/main" id="{EC0F8B99-BF21-40E5-B0B9-4942063A60CF}"/>
                </a:ext>
              </a:extLst>
            </p:cNvPr>
            <p:cNvSpPr>
              <a:spLocks/>
            </p:cNvSpPr>
            <p:nvPr/>
          </p:nvSpPr>
          <p:spPr>
            <a:xfrm>
              <a:off x="2226437" y="3767729"/>
              <a:ext cx="212356" cy="145662"/>
            </a:xfrm>
            <a:custGeom>
              <a:avLst/>
              <a:gdLst/>
              <a:ahLst/>
              <a:cxnLst/>
              <a:rect l="0" t="0" r="0" b="0"/>
              <a:pathLst>
                <a:path w="318535" h="218494">
                  <a:moveTo>
                    <a:pt x="310134" y="47025"/>
                  </a:moveTo>
                  <a:lnTo>
                    <a:pt x="289779" y="32823"/>
                  </a:lnTo>
                  <a:lnTo>
                    <a:pt x="268348" y="21222"/>
                  </a:lnTo>
                  <a:lnTo>
                    <a:pt x="246078" y="12173"/>
                  </a:lnTo>
                  <a:lnTo>
                    <a:pt x="223209" y="5648"/>
                  </a:lnTo>
                  <a:lnTo>
                    <a:pt x="199968" y="1600"/>
                  </a:lnTo>
                  <a:lnTo>
                    <a:pt x="176603" y="0"/>
                  </a:lnTo>
                  <a:lnTo>
                    <a:pt x="153362" y="800"/>
                  </a:lnTo>
                  <a:lnTo>
                    <a:pt x="130464" y="3972"/>
                  </a:lnTo>
                  <a:lnTo>
                    <a:pt x="108156" y="9468"/>
                  </a:lnTo>
                  <a:lnTo>
                    <a:pt x="86668" y="17269"/>
                  </a:lnTo>
                  <a:lnTo>
                    <a:pt x="66256" y="27318"/>
                  </a:lnTo>
                  <a:lnTo>
                    <a:pt x="47139" y="39586"/>
                  </a:lnTo>
                  <a:lnTo>
                    <a:pt x="29566" y="54026"/>
                  </a:lnTo>
                  <a:lnTo>
                    <a:pt x="13773" y="70618"/>
                  </a:lnTo>
                  <a:lnTo>
                    <a:pt x="0" y="89316"/>
                  </a:lnTo>
                  <a:lnTo>
                    <a:pt x="4877" y="107071"/>
                  </a:lnTo>
                  <a:lnTo>
                    <a:pt x="11001" y="123663"/>
                  </a:lnTo>
                  <a:lnTo>
                    <a:pt x="18326" y="139046"/>
                  </a:lnTo>
                  <a:lnTo>
                    <a:pt x="26775" y="153200"/>
                  </a:lnTo>
                  <a:lnTo>
                    <a:pt x="36290" y="166068"/>
                  </a:lnTo>
                  <a:lnTo>
                    <a:pt x="46806" y="177622"/>
                  </a:lnTo>
                  <a:lnTo>
                    <a:pt x="58255" y="187823"/>
                  </a:lnTo>
                  <a:lnTo>
                    <a:pt x="70590" y="196625"/>
                  </a:lnTo>
                  <a:lnTo>
                    <a:pt x="83734" y="204006"/>
                  </a:lnTo>
                  <a:lnTo>
                    <a:pt x="97631" y="209921"/>
                  </a:lnTo>
                  <a:lnTo>
                    <a:pt x="112224" y="214332"/>
                  </a:lnTo>
                  <a:lnTo>
                    <a:pt x="127435" y="217208"/>
                  </a:lnTo>
                  <a:lnTo>
                    <a:pt x="143218" y="218494"/>
                  </a:lnTo>
                  <a:lnTo>
                    <a:pt x="159496" y="218170"/>
                  </a:lnTo>
                  <a:lnTo>
                    <a:pt x="176213" y="216189"/>
                  </a:lnTo>
                  <a:lnTo>
                    <a:pt x="194320" y="214036"/>
                  </a:lnTo>
                  <a:lnTo>
                    <a:pt x="211884" y="210417"/>
                  </a:lnTo>
                  <a:lnTo>
                    <a:pt x="228714" y="205359"/>
                  </a:lnTo>
                  <a:lnTo>
                    <a:pt x="244640" y="198920"/>
                  </a:lnTo>
                  <a:lnTo>
                    <a:pt x="259490" y="191129"/>
                  </a:lnTo>
                  <a:lnTo>
                    <a:pt x="273091" y="182013"/>
                  </a:lnTo>
                  <a:lnTo>
                    <a:pt x="285255" y="171631"/>
                  </a:lnTo>
                  <a:lnTo>
                    <a:pt x="295818" y="160001"/>
                  </a:lnTo>
                  <a:lnTo>
                    <a:pt x="304610" y="147171"/>
                  </a:lnTo>
                  <a:lnTo>
                    <a:pt x="311439" y="133169"/>
                  </a:lnTo>
                  <a:lnTo>
                    <a:pt x="316144" y="118053"/>
                  </a:lnTo>
                  <a:lnTo>
                    <a:pt x="318535" y="101832"/>
                  </a:lnTo>
                  <a:lnTo>
                    <a:pt x="318449" y="84563"/>
                  </a:lnTo>
                  <a:lnTo>
                    <a:pt x="315706" y="66284"/>
                  </a:lnTo>
                  <a:lnTo>
                    <a:pt x="310134" y="47025"/>
                  </a:lnTo>
                  <a:close/>
                </a:path>
              </a:pathLst>
            </a:custGeom>
            <a:solidFill>
              <a:srgbClr val="725E3E"/>
            </a:solidFill>
            <a:ln w="8458">
              <a:solidFill>
                <a:srgbClr val="4A5147"/>
              </a:solidFill>
              <a:prstDash val="solid"/>
            </a:ln>
          </p:spPr>
          <p:txBody>
            <a:bodyPr/>
            <a:lstStyle/>
            <a:p>
              <a:endParaRPr sz="1200"/>
            </a:p>
          </p:txBody>
        </p:sp>
        <p:sp>
          <p:nvSpPr>
            <p:cNvPr id="171" name="s1-female-junglefowl__contour_171">
              <a:extLst>
                <a:ext uri="{FF2B5EF4-FFF2-40B4-BE49-F238E27FC236}">
                  <a16:creationId xmlns:a16="http://schemas.microsoft.com/office/drawing/2014/main" id="{AEA03F2A-4748-4D81-BBD3-61268EB75DC8}"/>
                </a:ext>
              </a:extLst>
            </p:cNvPr>
            <p:cNvSpPr>
              <a:spLocks/>
            </p:cNvSpPr>
            <p:nvPr/>
          </p:nvSpPr>
          <p:spPr>
            <a:xfrm>
              <a:off x="2259330" y="3817221"/>
              <a:ext cx="150368" cy="42945"/>
            </a:xfrm>
            <a:custGeom>
              <a:avLst/>
              <a:gdLst/>
              <a:ahLst/>
              <a:cxnLst/>
              <a:rect l="0" t="0" r="0" b="0"/>
              <a:pathLst>
                <a:path w="225552" h="64418">
                  <a:moveTo>
                    <a:pt x="225552" y="8030"/>
                  </a:moveTo>
                  <a:lnTo>
                    <a:pt x="208559" y="4362"/>
                  </a:lnTo>
                  <a:lnTo>
                    <a:pt x="191462" y="1810"/>
                  </a:lnTo>
                  <a:lnTo>
                    <a:pt x="174355" y="362"/>
                  </a:lnTo>
                  <a:lnTo>
                    <a:pt x="157315" y="0"/>
                  </a:lnTo>
                  <a:lnTo>
                    <a:pt x="140446" y="724"/>
                  </a:lnTo>
                  <a:lnTo>
                    <a:pt x="123825" y="2505"/>
                  </a:lnTo>
                  <a:lnTo>
                    <a:pt x="107547" y="5344"/>
                  </a:lnTo>
                  <a:lnTo>
                    <a:pt x="91688" y="9220"/>
                  </a:lnTo>
                  <a:lnTo>
                    <a:pt x="76352" y="14116"/>
                  </a:lnTo>
                  <a:lnTo>
                    <a:pt x="61608" y="20041"/>
                  </a:lnTo>
                  <a:lnTo>
                    <a:pt x="47558" y="26956"/>
                  </a:lnTo>
                  <a:lnTo>
                    <a:pt x="34280" y="34871"/>
                  </a:lnTo>
                  <a:lnTo>
                    <a:pt x="21879" y="43758"/>
                  </a:lnTo>
                  <a:lnTo>
                    <a:pt x="10420" y="53616"/>
                  </a:lnTo>
                  <a:lnTo>
                    <a:pt x="0" y="64418"/>
                  </a:lnTo>
                </a:path>
              </a:pathLst>
            </a:custGeom>
            <a:noFill/>
            <a:ln w="9163">
              <a:solidFill>
                <a:srgbClr val="CBA16F"/>
              </a:solidFill>
              <a:prstDash val="solid"/>
            </a:ln>
          </p:spPr>
          <p:txBody>
            <a:bodyPr/>
            <a:lstStyle/>
            <a:p>
              <a:endParaRPr sz="1200"/>
            </a:p>
          </p:txBody>
        </p:sp>
        <p:sp>
          <p:nvSpPr>
            <p:cNvPr id="172" name="s1-female-junglefowl__contour_172">
              <a:extLst>
                <a:ext uri="{FF2B5EF4-FFF2-40B4-BE49-F238E27FC236}">
                  <a16:creationId xmlns:a16="http://schemas.microsoft.com/office/drawing/2014/main" id="{36EF0315-0F85-4E4D-B739-63D980E73AF0}"/>
                </a:ext>
              </a:extLst>
            </p:cNvPr>
            <p:cNvSpPr>
              <a:spLocks/>
            </p:cNvSpPr>
            <p:nvPr/>
          </p:nvSpPr>
          <p:spPr>
            <a:xfrm>
              <a:off x="2089988" y="3538379"/>
              <a:ext cx="95726" cy="58642"/>
            </a:xfrm>
            <a:custGeom>
              <a:avLst/>
              <a:gdLst/>
              <a:ahLst/>
              <a:cxnLst/>
              <a:rect l="0" t="0" r="0" b="0"/>
              <a:pathLst>
                <a:path w="143589" h="87963">
                  <a:moveTo>
                    <a:pt x="127140" y="66818"/>
                  </a:moveTo>
                  <a:lnTo>
                    <a:pt x="133360" y="62513"/>
                  </a:lnTo>
                  <a:lnTo>
                    <a:pt x="138008" y="58103"/>
                  </a:lnTo>
                  <a:lnTo>
                    <a:pt x="141180" y="53683"/>
                  </a:lnTo>
                  <a:lnTo>
                    <a:pt x="142999" y="49330"/>
                  </a:lnTo>
                  <a:lnTo>
                    <a:pt x="143589" y="45149"/>
                  </a:lnTo>
                  <a:lnTo>
                    <a:pt x="143037" y="41215"/>
                  </a:lnTo>
                  <a:lnTo>
                    <a:pt x="141484" y="37624"/>
                  </a:lnTo>
                  <a:lnTo>
                    <a:pt x="139017" y="34452"/>
                  </a:lnTo>
                  <a:lnTo>
                    <a:pt x="135769" y="31804"/>
                  </a:lnTo>
                  <a:lnTo>
                    <a:pt x="131836" y="29747"/>
                  </a:lnTo>
                  <a:lnTo>
                    <a:pt x="127349" y="28385"/>
                  </a:lnTo>
                  <a:lnTo>
                    <a:pt x="122406" y="27794"/>
                  </a:lnTo>
                  <a:lnTo>
                    <a:pt x="117119" y="28080"/>
                  </a:lnTo>
                  <a:lnTo>
                    <a:pt x="111614" y="29308"/>
                  </a:lnTo>
                  <a:lnTo>
                    <a:pt x="105994" y="31575"/>
                  </a:lnTo>
                  <a:lnTo>
                    <a:pt x="106766" y="23679"/>
                  </a:lnTo>
                  <a:lnTo>
                    <a:pt x="106366" y="16916"/>
                  </a:lnTo>
                  <a:lnTo>
                    <a:pt x="104927" y="11278"/>
                  </a:lnTo>
                  <a:lnTo>
                    <a:pt x="102575" y="6763"/>
                  </a:lnTo>
                  <a:lnTo>
                    <a:pt x="99470" y="3381"/>
                  </a:lnTo>
                  <a:lnTo>
                    <a:pt x="95736" y="1124"/>
                  </a:lnTo>
                  <a:lnTo>
                    <a:pt x="91507" y="0"/>
                  </a:lnTo>
                  <a:lnTo>
                    <a:pt x="86935" y="0"/>
                  </a:lnTo>
                  <a:lnTo>
                    <a:pt x="82144" y="1124"/>
                  </a:lnTo>
                  <a:lnTo>
                    <a:pt x="77276" y="3381"/>
                  </a:lnTo>
                  <a:lnTo>
                    <a:pt x="72476" y="6763"/>
                  </a:lnTo>
                  <a:lnTo>
                    <a:pt x="67875" y="11278"/>
                  </a:lnTo>
                  <a:lnTo>
                    <a:pt x="63617" y="16916"/>
                  </a:lnTo>
                  <a:lnTo>
                    <a:pt x="59827" y="23679"/>
                  </a:lnTo>
                  <a:lnTo>
                    <a:pt x="56655" y="31575"/>
                  </a:lnTo>
                  <a:lnTo>
                    <a:pt x="48311" y="25356"/>
                  </a:lnTo>
                  <a:lnTo>
                    <a:pt x="40262" y="20745"/>
                  </a:lnTo>
                  <a:lnTo>
                    <a:pt x="32633" y="17650"/>
                  </a:lnTo>
                  <a:lnTo>
                    <a:pt x="25527" y="15983"/>
                  </a:lnTo>
                  <a:lnTo>
                    <a:pt x="19060" y="15650"/>
                  </a:lnTo>
                  <a:lnTo>
                    <a:pt x="13345" y="16574"/>
                  </a:lnTo>
                  <a:lnTo>
                    <a:pt x="8496" y="18669"/>
                  </a:lnTo>
                  <a:lnTo>
                    <a:pt x="4629" y="21831"/>
                  </a:lnTo>
                  <a:lnTo>
                    <a:pt x="1848" y="25994"/>
                  </a:lnTo>
                  <a:lnTo>
                    <a:pt x="267" y="31051"/>
                  </a:lnTo>
                  <a:lnTo>
                    <a:pt x="0" y="36928"/>
                  </a:lnTo>
                  <a:lnTo>
                    <a:pt x="1172" y="43529"/>
                  </a:lnTo>
                  <a:lnTo>
                    <a:pt x="3877" y="50768"/>
                  </a:lnTo>
                  <a:lnTo>
                    <a:pt x="8239" y="58560"/>
                  </a:lnTo>
                  <a:lnTo>
                    <a:pt x="14364" y="66818"/>
                  </a:lnTo>
                  <a:lnTo>
                    <a:pt x="63703" y="87963"/>
                  </a:lnTo>
                  <a:close/>
                </a:path>
              </a:pathLst>
            </a:custGeom>
            <a:solidFill>
              <a:srgbClr val="B8493E"/>
            </a:solidFill>
            <a:ln w="7753">
              <a:solidFill>
                <a:srgbClr val="803B33"/>
              </a:solidFill>
              <a:prstDash val="solid"/>
            </a:ln>
          </p:spPr>
          <p:txBody>
            <a:bodyPr/>
            <a:lstStyle/>
            <a:p>
              <a:endParaRPr sz="1200"/>
            </a:p>
          </p:txBody>
        </p:sp>
        <p:sp>
          <p:nvSpPr>
            <p:cNvPr id="173" name="s1-female-junglefowl__contour_173">
              <a:extLst>
                <a:ext uri="{FF2B5EF4-FFF2-40B4-BE49-F238E27FC236}">
                  <a16:creationId xmlns:a16="http://schemas.microsoft.com/office/drawing/2014/main" id="{4A186D07-0295-4F8B-8CA6-CEDB27969E7C}"/>
                </a:ext>
              </a:extLst>
            </p:cNvPr>
            <p:cNvSpPr>
              <a:spLocks/>
            </p:cNvSpPr>
            <p:nvPr/>
          </p:nvSpPr>
          <p:spPr>
            <a:xfrm>
              <a:off x="2019681" y="3625216"/>
              <a:ext cx="56388" cy="37592"/>
            </a:xfrm>
            <a:custGeom>
              <a:avLst/>
              <a:gdLst/>
              <a:ahLst/>
              <a:cxnLst/>
              <a:rect l="0" t="0" r="0" b="0"/>
              <a:pathLst>
                <a:path w="84582" h="56388">
                  <a:moveTo>
                    <a:pt x="84582" y="0"/>
                  </a:moveTo>
                  <a:lnTo>
                    <a:pt x="0" y="35243"/>
                  </a:lnTo>
                  <a:lnTo>
                    <a:pt x="77533" y="56388"/>
                  </a:lnTo>
                  <a:close/>
                </a:path>
              </a:pathLst>
            </a:custGeom>
            <a:solidFill>
              <a:srgbClr val="D3AA5C"/>
            </a:solidFill>
            <a:ln w="7049">
              <a:solidFill>
                <a:srgbClr val="8D7239"/>
              </a:solidFill>
              <a:prstDash val="solid"/>
            </a:ln>
          </p:spPr>
          <p:txBody>
            <a:bodyPr/>
            <a:lstStyle/>
            <a:p>
              <a:endParaRPr sz="1200"/>
            </a:p>
          </p:txBody>
        </p:sp>
        <p:sp>
          <p:nvSpPr>
            <p:cNvPr id="174" name="s1-female-junglefowl__ellipse_174">
              <a:extLst>
                <a:ext uri="{FF2B5EF4-FFF2-40B4-BE49-F238E27FC236}">
                  <a16:creationId xmlns:a16="http://schemas.microsoft.com/office/drawing/2014/main" id="{B0E9B045-A4AE-41F8-BB99-0221D9DD8DDF}"/>
                </a:ext>
              </a:extLst>
            </p:cNvPr>
            <p:cNvSpPr>
              <a:spLocks/>
            </p:cNvSpPr>
            <p:nvPr/>
          </p:nvSpPr>
          <p:spPr>
            <a:xfrm>
              <a:off x="2080768" y="3672206"/>
              <a:ext cx="32893" cy="51689"/>
            </a:xfrm>
            <a:prstGeom prst="ellipse">
              <a:avLst/>
            </a:prstGeom>
            <a:solidFill>
              <a:srgbClr val="B8493E"/>
            </a:solidFill>
            <a:ln w="5639">
              <a:solidFill>
                <a:srgbClr val="803B33"/>
              </a:solidFill>
              <a:prstDash val="solid"/>
            </a:ln>
          </p:spPr>
          <p:txBody>
            <a:bodyPr/>
            <a:lstStyle/>
            <a:p>
              <a:endParaRPr sz="1200"/>
            </a:p>
          </p:txBody>
        </p:sp>
        <p:sp>
          <p:nvSpPr>
            <p:cNvPr id="175" name="s1-female-junglefowl__ellipse_175">
              <a:extLst>
                <a:ext uri="{FF2B5EF4-FFF2-40B4-BE49-F238E27FC236}">
                  <a16:creationId xmlns:a16="http://schemas.microsoft.com/office/drawing/2014/main" id="{B7A4A51C-7185-4A34-80C5-2CD135F856A8}"/>
                </a:ext>
              </a:extLst>
            </p:cNvPr>
            <p:cNvSpPr>
              <a:spLocks/>
            </p:cNvSpPr>
            <p:nvPr/>
          </p:nvSpPr>
          <p:spPr>
            <a:xfrm>
              <a:off x="2085936" y="3608769"/>
              <a:ext cx="15976" cy="15976"/>
            </a:xfrm>
            <a:prstGeom prst="ellipse">
              <a:avLst/>
            </a:prstGeom>
            <a:solidFill>
              <a:srgbClr val="1F2B28"/>
            </a:solidFill>
            <a:ln w="0">
              <a:noFill/>
              <a:prstDash val="solid"/>
            </a:ln>
          </p:spPr>
          <p:txBody>
            <a:bodyPr/>
            <a:lstStyle/>
            <a:p>
              <a:endParaRPr sz="1200"/>
            </a:p>
          </p:txBody>
        </p:sp>
        <p:sp>
          <p:nvSpPr>
            <p:cNvPr id="176" name="s1-female-junglefowl__ellipse_176">
              <a:extLst>
                <a:ext uri="{FF2B5EF4-FFF2-40B4-BE49-F238E27FC236}">
                  <a16:creationId xmlns:a16="http://schemas.microsoft.com/office/drawing/2014/main" id="{9BC64A55-DAB8-49A8-BD2B-1FF372671D78}"/>
                </a:ext>
              </a:extLst>
            </p:cNvPr>
            <p:cNvSpPr>
              <a:spLocks/>
            </p:cNvSpPr>
            <p:nvPr/>
          </p:nvSpPr>
          <p:spPr>
            <a:xfrm>
              <a:off x="2095334" y="3609239"/>
              <a:ext cx="4229" cy="4229"/>
            </a:xfrm>
            <a:prstGeom prst="ellipse">
              <a:avLst/>
            </a:prstGeom>
            <a:solidFill>
              <a:srgbClr val="FFFFFF"/>
            </a:solidFill>
            <a:ln w="0">
              <a:noFill/>
              <a:prstDash val="solid"/>
            </a:ln>
          </p:spPr>
          <p:txBody>
            <a:bodyPr/>
            <a:lstStyle/>
            <a:p>
              <a:endParaRPr sz="1200"/>
            </a:p>
          </p:txBody>
        </p:sp>
        <p:sp>
          <p:nvSpPr>
            <p:cNvPr id="177" name="s1-harvest-residues__grain_177">
              <a:extLst>
                <a:ext uri="{FF2B5EF4-FFF2-40B4-BE49-F238E27FC236}">
                  <a16:creationId xmlns:a16="http://schemas.microsoft.com/office/drawing/2014/main" id="{508CB83A-C60C-411A-98C3-39A375441EE8}"/>
                </a:ext>
              </a:extLst>
            </p:cNvPr>
            <p:cNvSpPr>
              <a:spLocks/>
            </p:cNvSpPr>
            <p:nvPr/>
          </p:nvSpPr>
          <p:spPr>
            <a:xfrm rot="1200000">
              <a:off x="1692275" y="3802062"/>
              <a:ext cx="28575" cy="14287"/>
            </a:xfrm>
            <a:prstGeom prst="ellipse">
              <a:avLst/>
            </a:prstGeom>
            <a:solidFill>
              <a:srgbClr val="D7B571"/>
            </a:solidFill>
            <a:ln w="3572">
              <a:solidFill>
                <a:srgbClr val="AC925E"/>
              </a:solidFill>
              <a:prstDash val="solid"/>
            </a:ln>
          </p:spPr>
          <p:txBody>
            <a:bodyPr/>
            <a:lstStyle/>
            <a:p>
              <a:endParaRPr sz="1200"/>
            </a:p>
          </p:txBody>
        </p:sp>
        <p:sp>
          <p:nvSpPr>
            <p:cNvPr id="178" name="s1-harvest-residues__grain_178">
              <a:extLst>
                <a:ext uri="{FF2B5EF4-FFF2-40B4-BE49-F238E27FC236}">
                  <a16:creationId xmlns:a16="http://schemas.microsoft.com/office/drawing/2014/main" id="{FDB35D3D-6B69-4F4B-943B-DB9D708BDBDC}"/>
                </a:ext>
              </a:extLst>
            </p:cNvPr>
            <p:cNvSpPr>
              <a:spLocks/>
            </p:cNvSpPr>
            <p:nvPr/>
          </p:nvSpPr>
          <p:spPr>
            <a:xfrm rot="-960000">
              <a:off x="1768475" y="3759199"/>
              <a:ext cx="28575" cy="14287"/>
            </a:xfrm>
            <a:prstGeom prst="ellipse">
              <a:avLst/>
            </a:prstGeom>
            <a:solidFill>
              <a:srgbClr val="D7B571"/>
            </a:solidFill>
            <a:ln w="3572">
              <a:solidFill>
                <a:srgbClr val="AC925E"/>
              </a:solidFill>
              <a:prstDash val="solid"/>
            </a:ln>
          </p:spPr>
          <p:txBody>
            <a:bodyPr/>
            <a:lstStyle/>
            <a:p>
              <a:endParaRPr sz="1200"/>
            </a:p>
          </p:txBody>
        </p:sp>
        <p:sp>
          <p:nvSpPr>
            <p:cNvPr id="179" name="s1-harvest-residues__grain_179">
              <a:extLst>
                <a:ext uri="{FF2B5EF4-FFF2-40B4-BE49-F238E27FC236}">
                  <a16:creationId xmlns:a16="http://schemas.microsoft.com/office/drawing/2014/main" id="{0C65E21C-B1D3-4091-B9B0-DDEAA135D631}"/>
                </a:ext>
              </a:extLst>
            </p:cNvPr>
            <p:cNvSpPr>
              <a:spLocks/>
            </p:cNvSpPr>
            <p:nvPr/>
          </p:nvSpPr>
          <p:spPr>
            <a:xfrm rot="1980000">
              <a:off x="1830387" y="3806825"/>
              <a:ext cx="28575" cy="14287"/>
            </a:xfrm>
            <a:prstGeom prst="ellipse">
              <a:avLst/>
            </a:prstGeom>
            <a:solidFill>
              <a:srgbClr val="D7B571"/>
            </a:solidFill>
            <a:ln w="3572">
              <a:solidFill>
                <a:srgbClr val="AC925E"/>
              </a:solidFill>
              <a:prstDash val="solid"/>
            </a:ln>
          </p:spPr>
          <p:txBody>
            <a:bodyPr/>
            <a:lstStyle/>
            <a:p>
              <a:endParaRPr sz="1200"/>
            </a:p>
          </p:txBody>
        </p:sp>
        <p:sp>
          <p:nvSpPr>
            <p:cNvPr id="180" name="s1-harvest-residues__grain_180">
              <a:extLst>
                <a:ext uri="{FF2B5EF4-FFF2-40B4-BE49-F238E27FC236}">
                  <a16:creationId xmlns:a16="http://schemas.microsoft.com/office/drawing/2014/main" id="{EA442B76-2CA6-4D18-85F7-9B7EBC13752D}"/>
                </a:ext>
              </a:extLst>
            </p:cNvPr>
            <p:cNvSpPr>
              <a:spLocks/>
            </p:cNvSpPr>
            <p:nvPr/>
          </p:nvSpPr>
          <p:spPr>
            <a:xfrm rot="540000">
              <a:off x="1916112" y="3754437"/>
              <a:ext cx="28575" cy="14287"/>
            </a:xfrm>
            <a:prstGeom prst="ellipse">
              <a:avLst/>
            </a:prstGeom>
            <a:solidFill>
              <a:srgbClr val="D7B571"/>
            </a:solidFill>
            <a:ln w="3572">
              <a:solidFill>
                <a:srgbClr val="AC925E"/>
              </a:solidFill>
              <a:prstDash val="solid"/>
            </a:ln>
          </p:spPr>
          <p:txBody>
            <a:bodyPr/>
            <a:lstStyle/>
            <a:p>
              <a:endParaRPr sz="1200"/>
            </a:p>
          </p:txBody>
        </p:sp>
        <p:sp>
          <p:nvSpPr>
            <p:cNvPr id="181" name="s1-harvest-residues__grain_181">
              <a:extLst>
                <a:ext uri="{FF2B5EF4-FFF2-40B4-BE49-F238E27FC236}">
                  <a16:creationId xmlns:a16="http://schemas.microsoft.com/office/drawing/2014/main" id="{41B3D6BF-9F25-4A2C-8706-036A6CB90666}"/>
                </a:ext>
              </a:extLst>
            </p:cNvPr>
            <p:cNvSpPr>
              <a:spLocks/>
            </p:cNvSpPr>
            <p:nvPr/>
          </p:nvSpPr>
          <p:spPr>
            <a:xfrm rot="-2100000">
              <a:off x="1968500" y="3825875"/>
              <a:ext cx="28575" cy="14287"/>
            </a:xfrm>
            <a:prstGeom prst="ellipse">
              <a:avLst/>
            </a:prstGeom>
            <a:solidFill>
              <a:srgbClr val="D7B571"/>
            </a:solidFill>
            <a:ln w="3572">
              <a:solidFill>
                <a:srgbClr val="AC925E"/>
              </a:solidFill>
              <a:prstDash val="solid"/>
            </a:ln>
          </p:spPr>
          <p:txBody>
            <a:bodyPr/>
            <a:lstStyle/>
            <a:p>
              <a:endParaRPr sz="1200"/>
            </a:p>
          </p:txBody>
        </p:sp>
        <p:sp>
          <p:nvSpPr>
            <p:cNvPr id="182" name="s1-harvest-residues__grain_182">
              <a:extLst>
                <a:ext uri="{FF2B5EF4-FFF2-40B4-BE49-F238E27FC236}">
                  <a16:creationId xmlns:a16="http://schemas.microsoft.com/office/drawing/2014/main" id="{3E481B23-F139-436D-B661-4D7CE8FB7F7B}"/>
                </a:ext>
              </a:extLst>
            </p:cNvPr>
            <p:cNvSpPr>
              <a:spLocks/>
            </p:cNvSpPr>
            <p:nvPr/>
          </p:nvSpPr>
          <p:spPr>
            <a:xfrm rot="-1320000">
              <a:off x="1744662" y="3873500"/>
              <a:ext cx="28575" cy="14287"/>
            </a:xfrm>
            <a:prstGeom prst="ellipse">
              <a:avLst/>
            </a:prstGeom>
            <a:solidFill>
              <a:srgbClr val="D7B571"/>
            </a:solidFill>
            <a:ln w="3572">
              <a:solidFill>
                <a:srgbClr val="AC925E"/>
              </a:solidFill>
              <a:prstDash val="solid"/>
            </a:ln>
          </p:spPr>
          <p:txBody>
            <a:bodyPr/>
            <a:lstStyle/>
            <a:p>
              <a:endParaRPr sz="1200"/>
            </a:p>
          </p:txBody>
        </p:sp>
        <p:sp>
          <p:nvSpPr>
            <p:cNvPr id="183" name="s1-harvest-residues__grain_183">
              <a:extLst>
                <a:ext uri="{FF2B5EF4-FFF2-40B4-BE49-F238E27FC236}">
                  <a16:creationId xmlns:a16="http://schemas.microsoft.com/office/drawing/2014/main" id="{CF29C19C-61AC-42B7-94D1-ECB6CD50FA39}"/>
                </a:ext>
              </a:extLst>
            </p:cNvPr>
            <p:cNvSpPr>
              <a:spLocks/>
            </p:cNvSpPr>
            <p:nvPr/>
          </p:nvSpPr>
          <p:spPr>
            <a:xfrm rot="1260000">
              <a:off x="1863725" y="3887787"/>
              <a:ext cx="28575" cy="14287"/>
            </a:xfrm>
            <a:prstGeom prst="ellipse">
              <a:avLst/>
            </a:prstGeom>
            <a:solidFill>
              <a:srgbClr val="D7B571"/>
            </a:solidFill>
            <a:ln w="3572">
              <a:solidFill>
                <a:srgbClr val="AC925E"/>
              </a:solidFill>
              <a:prstDash val="solid"/>
            </a:ln>
          </p:spPr>
          <p:txBody>
            <a:bodyPr/>
            <a:lstStyle/>
            <a:p>
              <a:endParaRPr sz="1200"/>
            </a:p>
          </p:txBody>
        </p:sp>
        <p:sp>
          <p:nvSpPr>
            <p:cNvPr id="184" name="s1-harvest-residues__grain_184">
              <a:extLst>
                <a:ext uri="{FF2B5EF4-FFF2-40B4-BE49-F238E27FC236}">
                  <a16:creationId xmlns:a16="http://schemas.microsoft.com/office/drawing/2014/main" id="{6E2E4362-0269-4D71-A991-3AF797DB365B}"/>
                </a:ext>
              </a:extLst>
            </p:cNvPr>
            <p:cNvSpPr>
              <a:spLocks/>
            </p:cNvSpPr>
            <p:nvPr/>
          </p:nvSpPr>
          <p:spPr>
            <a:xfrm rot="480000">
              <a:off x="1935162" y="3897312"/>
              <a:ext cx="28575" cy="14287"/>
            </a:xfrm>
            <a:prstGeom prst="ellipse">
              <a:avLst/>
            </a:prstGeom>
            <a:solidFill>
              <a:srgbClr val="D7B571"/>
            </a:solidFill>
            <a:ln w="3572">
              <a:solidFill>
                <a:srgbClr val="AC925E"/>
              </a:solidFill>
              <a:prstDash val="solid"/>
            </a:ln>
          </p:spPr>
          <p:txBody>
            <a:bodyPr/>
            <a:lstStyle/>
            <a:p>
              <a:endParaRPr sz="1200"/>
            </a:p>
          </p:txBody>
        </p:sp>
        <p:sp>
          <p:nvSpPr>
            <p:cNvPr id="185" name="s2-ground__ellipse_185">
              <a:extLst>
                <a:ext uri="{FF2B5EF4-FFF2-40B4-BE49-F238E27FC236}">
                  <a16:creationId xmlns:a16="http://schemas.microsoft.com/office/drawing/2014/main" id="{D182402F-BFC9-4A61-B0BD-D54B58F95D0B}"/>
                </a:ext>
              </a:extLst>
            </p:cNvPr>
            <p:cNvSpPr>
              <a:spLocks/>
            </p:cNvSpPr>
            <p:nvPr/>
          </p:nvSpPr>
          <p:spPr>
            <a:xfrm>
              <a:off x="3238500" y="3429000"/>
              <a:ext cx="2457450" cy="704850"/>
            </a:xfrm>
            <a:prstGeom prst="ellipse">
              <a:avLst/>
            </a:prstGeom>
            <a:solidFill>
              <a:srgbClr val="F2E8D6"/>
            </a:solidFill>
            <a:ln w="0">
              <a:noFill/>
              <a:prstDash val="solid"/>
            </a:ln>
          </p:spPr>
          <p:txBody>
            <a:bodyPr/>
            <a:lstStyle/>
            <a:p>
              <a:endParaRPr sz="1200"/>
            </a:p>
          </p:txBody>
        </p:sp>
        <p:sp>
          <p:nvSpPr>
            <p:cNvPr id="186" name="s2-shelter__ellipse_186">
              <a:extLst>
                <a:ext uri="{FF2B5EF4-FFF2-40B4-BE49-F238E27FC236}">
                  <a16:creationId xmlns:a16="http://schemas.microsoft.com/office/drawing/2014/main" id="{85638FA9-273D-4CDC-B748-7A3715BE9EBC}"/>
                </a:ext>
              </a:extLst>
            </p:cNvPr>
            <p:cNvSpPr>
              <a:spLocks/>
            </p:cNvSpPr>
            <p:nvPr/>
          </p:nvSpPr>
          <p:spPr>
            <a:xfrm>
              <a:off x="3490277" y="2851277"/>
              <a:ext cx="751205" cy="57785"/>
            </a:xfrm>
            <a:prstGeom prst="ellipse">
              <a:avLst/>
            </a:prstGeom>
            <a:solidFill>
              <a:srgbClr val="CBD6BD"/>
            </a:solidFill>
            <a:ln w="0">
              <a:noFill/>
              <a:prstDash val="solid"/>
            </a:ln>
          </p:spPr>
          <p:txBody>
            <a:bodyPr/>
            <a:lstStyle/>
            <a:p>
              <a:endParaRPr sz="1200"/>
            </a:p>
          </p:txBody>
        </p:sp>
        <p:sp>
          <p:nvSpPr>
            <p:cNvPr id="187" name="s2-shelter__rect_187">
              <a:extLst>
                <a:ext uri="{FF2B5EF4-FFF2-40B4-BE49-F238E27FC236}">
                  <a16:creationId xmlns:a16="http://schemas.microsoft.com/office/drawing/2014/main" id="{9E540E53-F1F3-47BE-A42A-EA53EE4608A9}"/>
                </a:ext>
              </a:extLst>
            </p:cNvPr>
            <p:cNvSpPr>
              <a:spLocks/>
            </p:cNvSpPr>
            <p:nvPr/>
          </p:nvSpPr>
          <p:spPr>
            <a:xfrm>
              <a:off x="3559619" y="2458339"/>
              <a:ext cx="612521" cy="404495"/>
            </a:xfrm>
            <a:prstGeom prst="rect">
              <a:avLst/>
            </a:prstGeom>
            <a:solidFill>
              <a:srgbClr val="D8B991"/>
            </a:solidFill>
            <a:ln w="13868">
              <a:solidFill>
                <a:srgbClr val="776750"/>
              </a:solidFill>
              <a:prstDash val="solid"/>
            </a:ln>
          </p:spPr>
          <p:txBody>
            <a:bodyPr/>
            <a:lstStyle/>
            <a:p>
              <a:endParaRPr sz="1200"/>
            </a:p>
          </p:txBody>
        </p:sp>
        <p:sp>
          <p:nvSpPr>
            <p:cNvPr id="188" name="s2-shelter__rect_188">
              <a:extLst>
                <a:ext uri="{FF2B5EF4-FFF2-40B4-BE49-F238E27FC236}">
                  <a16:creationId xmlns:a16="http://schemas.microsoft.com/office/drawing/2014/main" id="{E8B599A0-BA77-4385-81C9-3BA62880FC13}"/>
                </a:ext>
              </a:extLst>
            </p:cNvPr>
            <p:cNvSpPr>
              <a:spLocks/>
            </p:cNvSpPr>
            <p:nvPr/>
          </p:nvSpPr>
          <p:spPr>
            <a:xfrm>
              <a:off x="3790759" y="2631694"/>
              <a:ext cx="150241" cy="231140"/>
            </a:xfrm>
            <a:prstGeom prst="rect">
              <a:avLst/>
            </a:prstGeom>
            <a:solidFill>
              <a:srgbClr val="665444"/>
            </a:solidFill>
            <a:ln w="0">
              <a:noFill/>
              <a:prstDash val="solid"/>
            </a:ln>
          </p:spPr>
          <p:txBody>
            <a:bodyPr/>
            <a:lstStyle/>
            <a:p>
              <a:endParaRPr sz="1200"/>
            </a:p>
          </p:txBody>
        </p:sp>
        <p:sp>
          <p:nvSpPr>
            <p:cNvPr id="189" name="s2-shelter__rect_189">
              <a:extLst>
                <a:ext uri="{FF2B5EF4-FFF2-40B4-BE49-F238E27FC236}">
                  <a16:creationId xmlns:a16="http://schemas.microsoft.com/office/drawing/2014/main" id="{889E8EA5-3E06-4A2A-A252-6C3FE7F04D9A}"/>
                </a:ext>
              </a:extLst>
            </p:cNvPr>
            <p:cNvSpPr>
              <a:spLocks/>
            </p:cNvSpPr>
            <p:nvPr/>
          </p:nvSpPr>
          <p:spPr>
            <a:xfrm>
              <a:off x="3634740" y="2562352"/>
              <a:ext cx="92455" cy="104013"/>
            </a:xfrm>
            <a:prstGeom prst="rect">
              <a:avLst/>
            </a:prstGeom>
            <a:solidFill>
              <a:srgbClr val="7B6751"/>
            </a:solidFill>
            <a:ln w="0">
              <a:noFill/>
              <a:prstDash val="solid"/>
            </a:ln>
          </p:spPr>
          <p:txBody>
            <a:bodyPr/>
            <a:lstStyle/>
            <a:p>
              <a:endParaRPr sz="1200"/>
            </a:p>
          </p:txBody>
        </p:sp>
        <p:sp>
          <p:nvSpPr>
            <p:cNvPr id="190" name="s2-shelter__rect_190">
              <a:extLst>
                <a:ext uri="{FF2B5EF4-FFF2-40B4-BE49-F238E27FC236}">
                  <a16:creationId xmlns:a16="http://schemas.microsoft.com/office/drawing/2014/main" id="{028971E5-7AFC-4D75-85A6-0FAAD3C0AE26}"/>
                </a:ext>
              </a:extLst>
            </p:cNvPr>
            <p:cNvSpPr>
              <a:spLocks/>
            </p:cNvSpPr>
            <p:nvPr/>
          </p:nvSpPr>
          <p:spPr>
            <a:xfrm>
              <a:off x="4033457" y="2579687"/>
              <a:ext cx="69341" cy="86677"/>
            </a:xfrm>
            <a:prstGeom prst="rect">
              <a:avLst/>
            </a:prstGeom>
            <a:solidFill>
              <a:srgbClr val="7B6751"/>
            </a:solidFill>
            <a:ln w="0">
              <a:noFill/>
              <a:prstDash val="solid"/>
            </a:ln>
          </p:spPr>
          <p:txBody>
            <a:bodyPr/>
            <a:lstStyle/>
            <a:p>
              <a:endParaRPr sz="1200"/>
            </a:p>
          </p:txBody>
        </p:sp>
        <p:sp>
          <p:nvSpPr>
            <p:cNvPr id="191" name="s2-shelter__line_191">
              <a:extLst>
                <a:ext uri="{FF2B5EF4-FFF2-40B4-BE49-F238E27FC236}">
                  <a16:creationId xmlns:a16="http://schemas.microsoft.com/office/drawing/2014/main" id="{5FED5603-3C0C-409F-A012-C706502ECF03}"/>
                </a:ext>
              </a:extLst>
            </p:cNvPr>
            <p:cNvSpPr>
              <a:spLocks/>
            </p:cNvSpPr>
            <p:nvPr/>
          </p:nvSpPr>
          <p:spPr>
            <a:xfrm>
              <a:off x="3790759" y="2620137"/>
              <a:ext cx="150240" cy="63"/>
            </a:xfrm>
            <a:custGeom>
              <a:avLst/>
              <a:gdLst/>
              <a:ahLst/>
              <a:cxnLst/>
              <a:rect l="0" t="0" r="0" b="0"/>
              <a:pathLst>
                <a:path w="225361" h="95">
                  <a:moveTo>
                    <a:pt x="0" y="0"/>
                  </a:moveTo>
                  <a:lnTo>
                    <a:pt x="225361" y="0"/>
                  </a:lnTo>
                </a:path>
              </a:pathLst>
            </a:custGeom>
            <a:noFill/>
            <a:ln w="17336">
              <a:solidFill>
                <a:srgbClr val="9B7C59"/>
              </a:solidFill>
              <a:prstDash val="solid"/>
            </a:ln>
          </p:spPr>
          <p:txBody>
            <a:bodyPr/>
            <a:lstStyle/>
            <a:p>
              <a:endParaRPr sz="1200"/>
            </a:p>
          </p:txBody>
        </p:sp>
        <p:sp>
          <p:nvSpPr>
            <p:cNvPr id="192" name="s2-shelter__path_192">
              <a:extLst>
                <a:ext uri="{FF2B5EF4-FFF2-40B4-BE49-F238E27FC236}">
                  <a16:creationId xmlns:a16="http://schemas.microsoft.com/office/drawing/2014/main" id="{939DB099-EEBD-40DF-9182-F5C6FD562099}"/>
                </a:ext>
              </a:extLst>
            </p:cNvPr>
            <p:cNvSpPr>
              <a:spLocks/>
            </p:cNvSpPr>
            <p:nvPr/>
          </p:nvSpPr>
          <p:spPr>
            <a:xfrm>
              <a:off x="3449828" y="2192528"/>
              <a:ext cx="826325" cy="283146"/>
            </a:xfrm>
            <a:custGeom>
              <a:avLst/>
              <a:gdLst/>
              <a:ahLst/>
              <a:cxnLst/>
              <a:rect l="0" t="0" r="0" b="0"/>
              <a:pathLst>
                <a:path w="1239488" h="424720">
                  <a:moveTo>
                    <a:pt x="0" y="424720"/>
                  </a:moveTo>
                  <a:lnTo>
                    <a:pt x="606743" y="0"/>
                  </a:lnTo>
                  <a:lnTo>
                    <a:pt x="1239488" y="424720"/>
                  </a:lnTo>
                  <a:close/>
                </a:path>
              </a:pathLst>
            </a:custGeom>
            <a:solidFill>
              <a:srgbClr val="B68A55"/>
            </a:solidFill>
            <a:ln w="15602">
              <a:solidFill>
                <a:srgbClr val="776750"/>
              </a:solidFill>
              <a:prstDash val="solid"/>
            </a:ln>
          </p:spPr>
          <p:txBody>
            <a:bodyPr/>
            <a:lstStyle/>
            <a:p>
              <a:endParaRPr sz="1200"/>
            </a:p>
          </p:txBody>
        </p:sp>
        <p:sp>
          <p:nvSpPr>
            <p:cNvPr id="193" name="s2-shelter__path_193">
              <a:extLst>
                <a:ext uri="{FF2B5EF4-FFF2-40B4-BE49-F238E27FC236}">
                  <a16:creationId xmlns:a16="http://schemas.microsoft.com/office/drawing/2014/main" id="{3C943401-C2D1-4FDA-8924-B5D31587B292}"/>
                </a:ext>
              </a:extLst>
            </p:cNvPr>
            <p:cNvSpPr>
              <a:spLocks/>
            </p:cNvSpPr>
            <p:nvPr/>
          </p:nvSpPr>
          <p:spPr>
            <a:xfrm>
              <a:off x="3449828" y="2475674"/>
              <a:ext cx="826325" cy="46228"/>
            </a:xfrm>
            <a:custGeom>
              <a:avLst/>
              <a:gdLst/>
              <a:ahLst/>
              <a:cxnLst/>
              <a:rect l="0" t="0" r="0" b="0"/>
              <a:pathLst>
                <a:path w="1239488" h="69342">
                  <a:moveTo>
                    <a:pt x="0" y="0"/>
                  </a:moveTo>
                  <a:lnTo>
                    <a:pt x="1239488" y="0"/>
                  </a:lnTo>
                  <a:lnTo>
                    <a:pt x="1135475" y="69342"/>
                  </a:lnTo>
                  <a:lnTo>
                    <a:pt x="104013" y="69342"/>
                  </a:lnTo>
                  <a:close/>
                </a:path>
              </a:pathLst>
            </a:custGeom>
            <a:solidFill>
              <a:srgbClr val="BE965D"/>
            </a:solidFill>
            <a:ln w="10401">
              <a:solidFill>
                <a:srgbClr val="776750"/>
              </a:solidFill>
              <a:prstDash val="solid"/>
            </a:ln>
          </p:spPr>
          <p:txBody>
            <a:bodyPr/>
            <a:lstStyle/>
            <a:p>
              <a:endParaRPr sz="1200"/>
            </a:p>
          </p:txBody>
        </p:sp>
        <p:sp>
          <p:nvSpPr>
            <p:cNvPr id="194" name="s2-shelter__line_194">
              <a:extLst>
                <a:ext uri="{FF2B5EF4-FFF2-40B4-BE49-F238E27FC236}">
                  <a16:creationId xmlns:a16="http://schemas.microsoft.com/office/drawing/2014/main" id="{CD85D792-3E13-4F2B-A857-2F1082F8B17D}"/>
                </a:ext>
              </a:extLst>
            </p:cNvPr>
            <p:cNvSpPr>
              <a:spLocks/>
            </p:cNvSpPr>
            <p:nvPr/>
          </p:nvSpPr>
          <p:spPr>
            <a:xfrm>
              <a:off x="3548063" y="2238756"/>
              <a:ext cx="294703" cy="208026"/>
            </a:xfrm>
            <a:custGeom>
              <a:avLst/>
              <a:gdLst/>
              <a:ahLst/>
              <a:cxnLst/>
              <a:rect l="0" t="0" r="0" b="0"/>
              <a:pathLst>
                <a:path w="442055" h="312039">
                  <a:moveTo>
                    <a:pt x="442055" y="0"/>
                  </a:moveTo>
                  <a:lnTo>
                    <a:pt x="0" y="312039"/>
                  </a:lnTo>
                </a:path>
              </a:pathLst>
            </a:custGeom>
            <a:noFill/>
            <a:ln w="12135">
              <a:solidFill>
                <a:srgbClr val="D4B480"/>
              </a:solidFill>
              <a:prstDash val="solid"/>
            </a:ln>
          </p:spPr>
          <p:txBody>
            <a:bodyPr/>
            <a:lstStyle/>
            <a:p>
              <a:endParaRPr sz="1200"/>
            </a:p>
          </p:txBody>
        </p:sp>
        <p:sp>
          <p:nvSpPr>
            <p:cNvPr id="195" name="s2-shelter__line_195">
              <a:extLst>
                <a:ext uri="{FF2B5EF4-FFF2-40B4-BE49-F238E27FC236}">
                  <a16:creationId xmlns:a16="http://schemas.microsoft.com/office/drawing/2014/main" id="{16A360E8-A975-46AE-A8F9-EC549F9EFAAE}"/>
                </a:ext>
              </a:extLst>
            </p:cNvPr>
            <p:cNvSpPr>
              <a:spLocks/>
            </p:cNvSpPr>
            <p:nvPr/>
          </p:nvSpPr>
          <p:spPr>
            <a:xfrm>
              <a:off x="3669411" y="2250313"/>
              <a:ext cx="190690" cy="202247"/>
            </a:xfrm>
            <a:custGeom>
              <a:avLst/>
              <a:gdLst/>
              <a:ahLst/>
              <a:cxnLst/>
              <a:rect l="0" t="0" r="0" b="0"/>
              <a:pathLst>
                <a:path w="286036" h="303371">
                  <a:moveTo>
                    <a:pt x="286036" y="0"/>
                  </a:moveTo>
                  <a:lnTo>
                    <a:pt x="0" y="303371"/>
                  </a:lnTo>
                </a:path>
              </a:pathLst>
            </a:custGeom>
            <a:noFill/>
            <a:ln w="12135">
              <a:solidFill>
                <a:srgbClr val="D4B480"/>
              </a:solidFill>
              <a:prstDash val="solid"/>
            </a:ln>
          </p:spPr>
          <p:txBody>
            <a:bodyPr/>
            <a:lstStyle/>
            <a:p>
              <a:endParaRPr sz="1200"/>
            </a:p>
          </p:txBody>
        </p:sp>
        <p:sp>
          <p:nvSpPr>
            <p:cNvPr id="196" name="s2-shelter__line_196">
              <a:extLst>
                <a:ext uri="{FF2B5EF4-FFF2-40B4-BE49-F238E27FC236}">
                  <a16:creationId xmlns:a16="http://schemas.microsoft.com/office/drawing/2014/main" id="{BE166476-1078-4D78-9102-1175E7A54EA6}"/>
                </a:ext>
              </a:extLst>
            </p:cNvPr>
            <p:cNvSpPr>
              <a:spLocks/>
            </p:cNvSpPr>
            <p:nvPr/>
          </p:nvSpPr>
          <p:spPr>
            <a:xfrm>
              <a:off x="3779203" y="2256091"/>
              <a:ext cx="98234" cy="190690"/>
            </a:xfrm>
            <a:custGeom>
              <a:avLst/>
              <a:gdLst/>
              <a:ahLst/>
              <a:cxnLst/>
              <a:rect l="0" t="0" r="0" b="0"/>
              <a:pathLst>
                <a:path w="147352" h="286036">
                  <a:moveTo>
                    <a:pt x="147352" y="0"/>
                  </a:moveTo>
                  <a:lnTo>
                    <a:pt x="0" y="286036"/>
                  </a:lnTo>
                </a:path>
              </a:pathLst>
            </a:custGeom>
            <a:noFill/>
            <a:ln w="12135">
              <a:solidFill>
                <a:srgbClr val="D4B480"/>
              </a:solidFill>
              <a:prstDash val="solid"/>
            </a:ln>
          </p:spPr>
          <p:txBody>
            <a:bodyPr/>
            <a:lstStyle/>
            <a:p>
              <a:endParaRPr sz="1200"/>
            </a:p>
          </p:txBody>
        </p:sp>
        <p:sp>
          <p:nvSpPr>
            <p:cNvPr id="197" name="s2-shelter__line_197">
              <a:extLst>
                <a:ext uri="{FF2B5EF4-FFF2-40B4-BE49-F238E27FC236}">
                  <a16:creationId xmlns:a16="http://schemas.microsoft.com/office/drawing/2014/main" id="{BA2C75E4-8229-40D1-97BC-8D71CED41DD8}"/>
                </a:ext>
              </a:extLst>
            </p:cNvPr>
            <p:cNvSpPr>
              <a:spLocks/>
            </p:cNvSpPr>
            <p:nvPr/>
          </p:nvSpPr>
          <p:spPr>
            <a:xfrm>
              <a:off x="3888994" y="2273427"/>
              <a:ext cx="40449" cy="179133"/>
            </a:xfrm>
            <a:custGeom>
              <a:avLst/>
              <a:gdLst/>
              <a:ahLst/>
              <a:cxnLst/>
              <a:rect l="0" t="0" r="0" b="0"/>
              <a:pathLst>
                <a:path w="60674" h="268700">
                  <a:moveTo>
                    <a:pt x="0" y="0"/>
                  </a:moveTo>
                  <a:lnTo>
                    <a:pt x="60674" y="268700"/>
                  </a:lnTo>
                </a:path>
              </a:pathLst>
            </a:custGeom>
            <a:noFill/>
            <a:ln w="12135">
              <a:solidFill>
                <a:srgbClr val="D4B480"/>
              </a:solidFill>
              <a:prstDash val="solid"/>
            </a:ln>
          </p:spPr>
          <p:txBody>
            <a:bodyPr/>
            <a:lstStyle/>
            <a:p>
              <a:endParaRPr sz="1200"/>
            </a:p>
          </p:txBody>
        </p:sp>
        <p:sp>
          <p:nvSpPr>
            <p:cNvPr id="198" name="s2-shelter__line_198">
              <a:extLst>
                <a:ext uri="{FF2B5EF4-FFF2-40B4-BE49-F238E27FC236}">
                  <a16:creationId xmlns:a16="http://schemas.microsoft.com/office/drawing/2014/main" id="{A354F7F1-A402-4C48-BF91-7338A51AB150}"/>
                </a:ext>
              </a:extLst>
            </p:cNvPr>
            <p:cNvSpPr>
              <a:spLocks/>
            </p:cNvSpPr>
            <p:nvPr/>
          </p:nvSpPr>
          <p:spPr>
            <a:xfrm>
              <a:off x="3906329" y="2267648"/>
              <a:ext cx="173355" cy="184912"/>
            </a:xfrm>
            <a:custGeom>
              <a:avLst/>
              <a:gdLst/>
              <a:ahLst/>
              <a:cxnLst/>
              <a:rect l="0" t="0" r="0" b="0"/>
              <a:pathLst>
                <a:path w="260033" h="277368">
                  <a:moveTo>
                    <a:pt x="0" y="0"/>
                  </a:moveTo>
                  <a:lnTo>
                    <a:pt x="260033" y="277368"/>
                  </a:lnTo>
                </a:path>
              </a:pathLst>
            </a:custGeom>
            <a:noFill/>
            <a:ln w="12135">
              <a:solidFill>
                <a:srgbClr val="D4B480"/>
              </a:solidFill>
              <a:prstDash val="solid"/>
            </a:ln>
          </p:spPr>
          <p:txBody>
            <a:bodyPr/>
            <a:lstStyle/>
            <a:p>
              <a:endParaRPr sz="1200"/>
            </a:p>
          </p:txBody>
        </p:sp>
        <p:sp>
          <p:nvSpPr>
            <p:cNvPr id="199" name="s2-shelter__line_199">
              <a:extLst>
                <a:ext uri="{FF2B5EF4-FFF2-40B4-BE49-F238E27FC236}">
                  <a16:creationId xmlns:a16="http://schemas.microsoft.com/office/drawing/2014/main" id="{67276671-F44C-469F-8639-03AEF0B7E97A}"/>
                </a:ext>
              </a:extLst>
            </p:cNvPr>
            <p:cNvSpPr>
              <a:spLocks/>
            </p:cNvSpPr>
            <p:nvPr/>
          </p:nvSpPr>
          <p:spPr>
            <a:xfrm>
              <a:off x="3923665" y="2284984"/>
              <a:ext cx="283146" cy="173355"/>
            </a:xfrm>
            <a:custGeom>
              <a:avLst/>
              <a:gdLst/>
              <a:ahLst/>
              <a:cxnLst/>
              <a:rect l="0" t="0" r="0" b="0"/>
              <a:pathLst>
                <a:path w="424720" h="260033">
                  <a:moveTo>
                    <a:pt x="0" y="0"/>
                  </a:moveTo>
                  <a:lnTo>
                    <a:pt x="424720" y="260033"/>
                  </a:lnTo>
                </a:path>
              </a:pathLst>
            </a:custGeom>
            <a:noFill/>
            <a:ln w="12135">
              <a:solidFill>
                <a:srgbClr val="D4B480"/>
              </a:solidFill>
              <a:prstDash val="solid"/>
            </a:ln>
          </p:spPr>
          <p:txBody>
            <a:bodyPr/>
            <a:lstStyle/>
            <a:p>
              <a:endParaRPr sz="1200"/>
            </a:p>
          </p:txBody>
        </p:sp>
        <p:sp>
          <p:nvSpPr>
            <p:cNvPr id="200" name="s2-shelter__line_200">
              <a:extLst>
                <a:ext uri="{FF2B5EF4-FFF2-40B4-BE49-F238E27FC236}">
                  <a16:creationId xmlns:a16="http://schemas.microsoft.com/office/drawing/2014/main" id="{A98E0099-F639-4D76-AB63-42E183D07A63}"/>
                </a:ext>
              </a:extLst>
            </p:cNvPr>
            <p:cNvSpPr>
              <a:spLocks/>
            </p:cNvSpPr>
            <p:nvPr/>
          </p:nvSpPr>
          <p:spPr>
            <a:xfrm>
              <a:off x="3594291" y="2747264"/>
              <a:ext cx="63" cy="98234"/>
            </a:xfrm>
            <a:custGeom>
              <a:avLst/>
              <a:gdLst/>
              <a:ahLst/>
              <a:cxnLst/>
              <a:rect l="0" t="0" r="0" b="0"/>
              <a:pathLst>
                <a:path w="95" h="147352">
                  <a:moveTo>
                    <a:pt x="0" y="0"/>
                  </a:moveTo>
                  <a:lnTo>
                    <a:pt x="0" y="147352"/>
                  </a:lnTo>
                </a:path>
              </a:pathLst>
            </a:custGeom>
            <a:noFill/>
            <a:ln w="8668">
              <a:solidFill>
                <a:srgbClr val="B4936E"/>
              </a:solidFill>
              <a:prstDash val="solid"/>
            </a:ln>
          </p:spPr>
          <p:txBody>
            <a:bodyPr/>
            <a:lstStyle/>
            <a:p>
              <a:endParaRPr sz="1200"/>
            </a:p>
          </p:txBody>
        </p:sp>
        <p:sp>
          <p:nvSpPr>
            <p:cNvPr id="201" name="s2-shelter__line_201">
              <a:extLst>
                <a:ext uri="{FF2B5EF4-FFF2-40B4-BE49-F238E27FC236}">
                  <a16:creationId xmlns:a16="http://schemas.microsoft.com/office/drawing/2014/main" id="{05089AEC-2ACB-45D2-80CD-90E1D3E98188}"/>
                </a:ext>
              </a:extLst>
            </p:cNvPr>
            <p:cNvSpPr>
              <a:spLocks/>
            </p:cNvSpPr>
            <p:nvPr/>
          </p:nvSpPr>
          <p:spPr>
            <a:xfrm>
              <a:off x="4131691" y="2741485"/>
              <a:ext cx="63" cy="104012"/>
            </a:xfrm>
            <a:custGeom>
              <a:avLst/>
              <a:gdLst/>
              <a:ahLst/>
              <a:cxnLst/>
              <a:rect l="0" t="0" r="0" b="0"/>
              <a:pathLst>
                <a:path w="95" h="156019">
                  <a:moveTo>
                    <a:pt x="0" y="0"/>
                  </a:moveTo>
                  <a:lnTo>
                    <a:pt x="0" y="156019"/>
                  </a:lnTo>
                </a:path>
              </a:pathLst>
            </a:custGeom>
            <a:noFill/>
            <a:ln w="8668">
              <a:solidFill>
                <a:srgbClr val="B4936E"/>
              </a:solidFill>
              <a:prstDash val="solid"/>
            </a:ln>
          </p:spPr>
          <p:txBody>
            <a:bodyPr/>
            <a:lstStyle/>
            <a:p>
              <a:endParaRPr sz="1200"/>
            </a:p>
          </p:txBody>
        </p:sp>
        <p:sp>
          <p:nvSpPr>
            <p:cNvPr id="202" name="s2-pen__rect_202">
              <a:extLst>
                <a:ext uri="{FF2B5EF4-FFF2-40B4-BE49-F238E27FC236}">
                  <a16:creationId xmlns:a16="http://schemas.microsoft.com/office/drawing/2014/main" id="{424997E3-B665-4BA1-892F-BE7DC9F74C73}"/>
                </a:ext>
              </a:extLst>
            </p:cNvPr>
            <p:cNvSpPr>
              <a:spLocks/>
            </p:cNvSpPr>
            <p:nvPr/>
          </p:nvSpPr>
          <p:spPr>
            <a:xfrm>
              <a:off x="3282950" y="3130550"/>
              <a:ext cx="2273300" cy="38100"/>
            </a:xfrm>
            <a:prstGeom prst="rect">
              <a:avLst/>
            </a:prstGeom>
            <a:solidFill>
              <a:srgbClr val="B29166"/>
            </a:solidFill>
            <a:ln w="9525">
              <a:solidFill>
                <a:srgbClr val="8D785C"/>
              </a:solidFill>
              <a:prstDash val="solid"/>
            </a:ln>
          </p:spPr>
          <p:txBody>
            <a:bodyPr/>
            <a:lstStyle/>
            <a:p>
              <a:endParaRPr sz="1200"/>
            </a:p>
          </p:txBody>
        </p:sp>
        <p:sp>
          <p:nvSpPr>
            <p:cNvPr id="203" name="s2-pen__rect_203">
              <a:extLst>
                <a:ext uri="{FF2B5EF4-FFF2-40B4-BE49-F238E27FC236}">
                  <a16:creationId xmlns:a16="http://schemas.microsoft.com/office/drawing/2014/main" id="{8471BC5D-6DCD-4B0F-9999-7FEA2ABEAA4F}"/>
                </a:ext>
              </a:extLst>
            </p:cNvPr>
            <p:cNvSpPr>
              <a:spLocks/>
            </p:cNvSpPr>
            <p:nvPr/>
          </p:nvSpPr>
          <p:spPr>
            <a:xfrm>
              <a:off x="3282950" y="3289300"/>
              <a:ext cx="2273300" cy="38100"/>
            </a:xfrm>
            <a:prstGeom prst="rect">
              <a:avLst/>
            </a:prstGeom>
            <a:solidFill>
              <a:srgbClr val="B29166"/>
            </a:solidFill>
            <a:ln w="9525">
              <a:solidFill>
                <a:srgbClr val="8D785C"/>
              </a:solidFill>
              <a:prstDash val="solid"/>
            </a:ln>
          </p:spPr>
          <p:txBody>
            <a:bodyPr/>
            <a:lstStyle/>
            <a:p>
              <a:endParaRPr sz="1200"/>
            </a:p>
          </p:txBody>
        </p:sp>
        <p:sp>
          <p:nvSpPr>
            <p:cNvPr id="204" name="s2-pen__rect_204">
              <a:extLst>
                <a:ext uri="{FF2B5EF4-FFF2-40B4-BE49-F238E27FC236}">
                  <a16:creationId xmlns:a16="http://schemas.microsoft.com/office/drawing/2014/main" id="{ADA42DD1-AD6A-4CED-A3BF-7EF129EC21B7}"/>
                </a:ext>
              </a:extLst>
            </p:cNvPr>
            <p:cNvSpPr>
              <a:spLocks/>
            </p:cNvSpPr>
            <p:nvPr/>
          </p:nvSpPr>
          <p:spPr>
            <a:xfrm>
              <a:off x="32829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5" name="s2-pen__rect_205">
              <a:extLst>
                <a:ext uri="{FF2B5EF4-FFF2-40B4-BE49-F238E27FC236}">
                  <a16:creationId xmlns:a16="http://schemas.microsoft.com/office/drawing/2014/main" id="{F2F037EC-4FC9-4A19-9A0E-D846FE5FD6FB}"/>
                </a:ext>
              </a:extLst>
            </p:cNvPr>
            <p:cNvSpPr>
              <a:spLocks/>
            </p:cNvSpPr>
            <p:nvPr/>
          </p:nvSpPr>
          <p:spPr>
            <a:xfrm>
              <a:off x="372491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6" name="s2-pen__rect_206">
              <a:extLst>
                <a:ext uri="{FF2B5EF4-FFF2-40B4-BE49-F238E27FC236}">
                  <a16:creationId xmlns:a16="http://schemas.microsoft.com/office/drawing/2014/main" id="{F306AD8B-89B9-4278-AA03-453028448857}"/>
                </a:ext>
              </a:extLst>
            </p:cNvPr>
            <p:cNvSpPr>
              <a:spLocks/>
            </p:cNvSpPr>
            <p:nvPr/>
          </p:nvSpPr>
          <p:spPr>
            <a:xfrm>
              <a:off x="416687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7" name="s2-pen__rect_207">
              <a:extLst>
                <a:ext uri="{FF2B5EF4-FFF2-40B4-BE49-F238E27FC236}">
                  <a16:creationId xmlns:a16="http://schemas.microsoft.com/office/drawing/2014/main" id="{4B0B1A4C-0BDC-4970-863A-E98A37ECDA1B}"/>
                </a:ext>
              </a:extLst>
            </p:cNvPr>
            <p:cNvSpPr>
              <a:spLocks/>
            </p:cNvSpPr>
            <p:nvPr/>
          </p:nvSpPr>
          <p:spPr>
            <a:xfrm>
              <a:off x="460883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8" name="s2-pen__rect_208">
              <a:extLst>
                <a:ext uri="{FF2B5EF4-FFF2-40B4-BE49-F238E27FC236}">
                  <a16:creationId xmlns:a16="http://schemas.microsoft.com/office/drawing/2014/main" id="{661C8F33-EF90-4A5B-A806-1F6CECC659F2}"/>
                </a:ext>
              </a:extLst>
            </p:cNvPr>
            <p:cNvSpPr>
              <a:spLocks/>
            </p:cNvSpPr>
            <p:nvPr/>
          </p:nvSpPr>
          <p:spPr>
            <a:xfrm>
              <a:off x="505079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9" name="s2-pen__rect_209">
              <a:extLst>
                <a:ext uri="{FF2B5EF4-FFF2-40B4-BE49-F238E27FC236}">
                  <a16:creationId xmlns:a16="http://schemas.microsoft.com/office/drawing/2014/main" id="{25D3406F-4CFC-49DB-B32A-701E67B064D9}"/>
                </a:ext>
              </a:extLst>
            </p:cNvPr>
            <p:cNvSpPr>
              <a:spLocks/>
            </p:cNvSpPr>
            <p:nvPr/>
          </p:nvSpPr>
          <p:spPr>
            <a:xfrm>
              <a:off x="54927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10" name="s2-keeper__ellipse_210">
              <a:extLst>
                <a:ext uri="{FF2B5EF4-FFF2-40B4-BE49-F238E27FC236}">
                  <a16:creationId xmlns:a16="http://schemas.microsoft.com/office/drawing/2014/main" id="{2AB9F1CD-929C-4B17-9084-983B1B536F7E}"/>
                </a:ext>
              </a:extLst>
            </p:cNvPr>
            <p:cNvSpPr>
              <a:spLocks/>
            </p:cNvSpPr>
            <p:nvPr/>
          </p:nvSpPr>
          <p:spPr>
            <a:xfrm>
              <a:off x="5154167" y="3295777"/>
              <a:ext cx="485394" cy="49783"/>
            </a:xfrm>
            <a:prstGeom prst="ellipse">
              <a:avLst/>
            </a:prstGeom>
            <a:solidFill>
              <a:srgbClr val="DCE2D6"/>
            </a:solidFill>
            <a:ln w="0">
              <a:noFill/>
              <a:prstDash val="solid"/>
            </a:ln>
          </p:spPr>
          <p:txBody>
            <a:bodyPr/>
            <a:lstStyle/>
            <a:p>
              <a:endParaRPr sz="1200"/>
            </a:p>
          </p:txBody>
        </p:sp>
        <p:sp>
          <p:nvSpPr>
            <p:cNvPr id="211" name="s2-keeper__contour_211">
              <a:extLst>
                <a:ext uri="{FF2B5EF4-FFF2-40B4-BE49-F238E27FC236}">
                  <a16:creationId xmlns:a16="http://schemas.microsoft.com/office/drawing/2014/main" id="{EFDF4A2C-415F-455B-8B7D-A3624DAC2F07}"/>
                </a:ext>
              </a:extLst>
            </p:cNvPr>
            <p:cNvSpPr>
              <a:spLocks/>
            </p:cNvSpPr>
            <p:nvPr/>
          </p:nvSpPr>
          <p:spPr>
            <a:xfrm>
              <a:off x="5459095" y="2922397"/>
              <a:ext cx="161798" cy="354711"/>
            </a:xfrm>
            <a:custGeom>
              <a:avLst/>
              <a:gdLst/>
              <a:ahLst/>
              <a:cxnLst/>
              <a:rect l="0" t="0" r="0" b="0"/>
              <a:pathLst>
                <a:path w="242697" h="532067">
                  <a:moveTo>
                    <a:pt x="0" y="0"/>
                  </a:moveTo>
                  <a:lnTo>
                    <a:pt x="37338" y="308038"/>
                  </a:lnTo>
                  <a:lnTo>
                    <a:pt x="140017" y="522732"/>
                  </a:lnTo>
                  <a:lnTo>
                    <a:pt x="242697" y="532067"/>
                  </a:lnTo>
                </a:path>
              </a:pathLst>
            </a:custGeom>
            <a:noFill/>
            <a:ln w="84011">
              <a:solidFill>
                <a:srgbClr val="5A625C"/>
              </a:solidFill>
              <a:prstDash val="solid"/>
            </a:ln>
          </p:spPr>
          <p:txBody>
            <a:bodyPr/>
            <a:lstStyle/>
            <a:p>
              <a:endParaRPr sz="1200"/>
            </a:p>
          </p:txBody>
        </p:sp>
        <p:sp>
          <p:nvSpPr>
            <p:cNvPr id="212" name="s2-keeper__contour_212">
              <a:extLst>
                <a:ext uri="{FF2B5EF4-FFF2-40B4-BE49-F238E27FC236}">
                  <a16:creationId xmlns:a16="http://schemas.microsoft.com/office/drawing/2014/main" id="{64D7B04A-14FC-4668-986D-2D05187E4FD4}"/>
                </a:ext>
              </a:extLst>
            </p:cNvPr>
            <p:cNvSpPr>
              <a:spLocks/>
            </p:cNvSpPr>
            <p:nvPr/>
          </p:nvSpPr>
          <p:spPr>
            <a:xfrm>
              <a:off x="5129275" y="2922397"/>
              <a:ext cx="230250" cy="336041"/>
            </a:xfrm>
            <a:custGeom>
              <a:avLst/>
              <a:gdLst/>
              <a:ahLst/>
              <a:cxnLst/>
              <a:rect l="0" t="0" r="0" b="0"/>
              <a:pathLst>
                <a:path w="345376" h="504063">
                  <a:moveTo>
                    <a:pt x="345376" y="0"/>
                  </a:moveTo>
                  <a:lnTo>
                    <a:pt x="224028" y="298704"/>
                  </a:lnTo>
                  <a:lnTo>
                    <a:pt x="93345" y="494728"/>
                  </a:lnTo>
                  <a:lnTo>
                    <a:pt x="0" y="504063"/>
                  </a:lnTo>
                </a:path>
              </a:pathLst>
            </a:custGeom>
            <a:noFill/>
            <a:ln w="84011">
              <a:solidFill>
                <a:srgbClr val="5A625C"/>
              </a:solidFill>
              <a:prstDash val="solid"/>
            </a:ln>
          </p:spPr>
          <p:txBody>
            <a:bodyPr/>
            <a:lstStyle/>
            <a:p>
              <a:endParaRPr sz="1200"/>
            </a:p>
          </p:txBody>
        </p:sp>
        <p:sp>
          <p:nvSpPr>
            <p:cNvPr id="213" name="s2-keeper__contour_213">
              <a:extLst>
                <a:ext uri="{FF2B5EF4-FFF2-40B4-BE49-F238E27FC236}">
                  <a16:creationId xmlns:a16="http://schemas.microsoft.com/office/drawing/2014/main" id="{7CEB3032-EB59-46E9-9170-F45B34F2076A}"/>
                </a:ext>
              </a:extLst>
            </p:cNvPr>
            <p:cNvSpPr>
              <a:spLocks/>
            </p:cNvSpPr>
            <p:nvPr/>
          </p:nvSpPr>
          <p:spPr>
            <a:xfrm>
              <a:off x="5291074" y="2615114"/>
              <a:ext cx="230250" cy="319728"/>
            </a:xfrm>
            <a:custGeom>
              <a:avLst/>
              <a:gdLst/>
              <a:ahLst/>
              <a:cxnLst/>
              <a:rect l="0" t="0" r="0" b="0"/>
              <a:pathLst>
                <a:path w="345376" h="479593">
                  <a:moveTo>
                    <a:pt x="308039" y="50206"/>
                  </a:moveTo>
                  <a:lnTo>
                    <a:pt x="297390" y="38005"/>
                  </a:lnTo>
                  <a:lnTo>
                    <a:pt x="284340" y="27537"/>
                  </a:lnTo>
                  <a:lnTo>
                    <a:pt x="269205" y="18764"/>
                  </a:lnTo>
                  <a:lnTo>
                    <a:pt x="252336" y="11697"/>
                  </a:lnTo>
                  <a:lnTo>
                    <a:pt x="234058" y="6296"/>
                  </a:lnTo>
                  <a:lnTo>
                    <a:pt x="214693" y="2562"/>
                  </a:lnTo>
                  <a:lnTo>
                    <a:pt x="194586" y="467"/>
                  </a:lnTo>
                  <a:lnTo>
                    <a:pt x="174060" y="0"/>
                  </a:lnTo>
                  <a:lnTo>
                    <a:pt x="153457" y="1143"/>
                  </a:lnTo>
                  <a:lnTo>
                    <a:pt x="133102" y="3877"/>
                  </a:lnTo>
                  <a:lnTo>
                    <a:pt x="113328" y="8192"/>
                  </a:lnTo>
                  <a:lnTo>
                    <a:pt x="94469" y="14059"/>
                  </a:lnTo>
                  <a:lnTo>
                    <a:pt x="76848" y="21479"/>
                  </a:lnTo>
                  <a:lnTo>
                    <a:pt x="60808" y="30423"/>
                  </a:lnTo>
                  <a:lnTo>
                    <a:pt x="46672" y="40872"/>
                  </a:lnTo>
                  <a:lnTo>
                    <a:pt x="0" y="479593"/>
                  </a:lnTo>
                  <a:lnTo>
                    <a:pt x="345376" y="479593"/>
                  </a:lnTo>
                  <a:close/>
                </a:path>
              </a:pathLst>
            </a:custGeom>
            <a:solidFill>
              <a:srgbClr val="7D9A90"/>
            </a:solidFill>
            <a:ln w="13068">
              <a:solidFill>
                <a:srgbClr val="566861"/>
              </a:solidFill>
              <a:prstDash val="solid"/>
            </a:ln>
          </p:spPr>
          <p:txBody>
            <a:bodyPr/>
            <a:lstStyle/>
            <a:p>
              <a:endParaRPr sz="1200"/>
            </a:p>
          </p:txBody>
        </p:sp>
        <p:sp>
          <p:nvSpPr>
            <p:cNvPr id="214" name="s2-keeper__ellipse_214">
              <a:extLst>
                <a:ext uri="{FF2B5EF4-FFF2-40B4-BE49-F238E27FC236}">
                  <a16:creationId xmlns:a16="http://schemas.microsoft.com/office/drawing/2014/main" id="{6F7C82BE-5AA9-45F2-B32A-C796A9A6C27E}"/>
                </a:ext>
              </a:extLst>
            </p:cNvPr>
            <p:cNvSpPr>
              <a:spLocks/>
            </p:cNvSpPr>
            <p:nvPr/>
          </p:nvSpPr>
          <p:spPr>
            <a:xfrm>
              <a:off x="5334635" y="2424557"/>
              <a:ext cx="161798" cy="192913"/>
            </a:xfrm>
            <a:prstGeom prst="ellipse">
              <a:avLst/>
            </a:prstGeom>
            <a:solidFill>
              <a:srgbClr val="BD8B67"/>
            </a:solidFill>
            <a:ln w="9335">
              <a:solidFill>
                <a:srgbClr val="6F6554"/>
              </a:solidFill>
              <a:prstDash val="solid"/>
            </a:ln>
          </p:spPr>
          <p:txBody>
            <a:bodyPr/>
            <a:lstStyle/>
            <a:p>
              <a:endParaRPr sz="1200"/>
            </a:p>
          </p:txBody>
        </p:sp>
        <p:sp>
          <p:nvSpPr>
            <p:cNvPr id="215" name="s2-keeper__contour_215">
              <a:extLst>
                <a:ext uri="{FF2B5EF4-FFF2-40B4-BE49-F238E27FC236}">
                  <a16:creationId xmlns:a16="http://schemas.microsoft.com/office/drawing/2014/main" id="{54F8351E-2FBA-4C9B-B3B6-0520C613E37D}"/>
                </a:ext>
              </a:extLst>
            </p:cNvPr>
            <p:cNvSpPr>
              <a:spLocks/>
            </p:cNvSpPr>
            <p:nvPr/>
          </p:nvSpPr>
          <p:spPr>
            <a:xfrm>
              <a:off x="5334635" y="2412060"/>
              <a:ext cx="171068" cy="118287"/>
            </a:xfrm>
            <a:custGeom>
              <a:avLst/>
              <a:gdLst/>
              <a:ahLst/>
              <a:cxnLst/>
              <a:rect l="0" t="0" r="0" b="0"/>
              <a:pathLst>
                <a:path w="256603" h="177432">
                  <a:moveTo>
                    <a:pt x="252031" y="177432"/>
                  </a:moveTo>
                  <a:lnTo>
                    <a:pt x="256603" y="140456"/>
                  </a:lnTo>
                  <a:lnTo>
                    <a:pt x="255775" y="107918"/>
                  </a:lnTo>
                  <a:lnTo>
                    <a:pt x="250088" y="79753"/>
                  </a:lnTo>
                  <a:lnTo>
                    <a:pt x="240125" y="55921"/>
                  </a:lnTo>
                  <a:lnTo>
                    <a:pt x="226447" y="36376"/>
                  </a:lnTo>
                  <a:lnTo>
                    <a:pt x="209617" y="21060"/>
                  </a:lnTo>
                  <a:lnTo>
                    <a:pt x="190195" y="9925"/>
                  </a:lnTo>
                  <a:lnTo>
                    <a:pt x="168745" y="2924"/>
                  </a:lnTo>
                  <a:lnTo>
                    <a:pt x="145847" y="0"/>
                  </a:lnTo>
                  <a:lnTo>
                    <a:pt x="122044" y="1114"/>
                  </a:lnTo>
                  <a:lnTo>
                    <a:pt x="97907" y="6210"/>
                  </a:lnTo>
                  <a:lnTo>
                    <a:pt x="74000" y="15240"/>
                  </a:lnTo>
                  <a:lnTo>
                    <a:pt x="50902" y="28146"/>
                  </a:lnTo>
                  <a:lnTo>
                    <a:pt x="29156" y="44891"/>
                  </a:lnTo>
                  <a:lnTo>
                    <a:pt x="9335" y="65418"/>
                  </a:lnTo>
                  <a:lnTo>
                    <a:pt x="0" y="149428"/>
                  </a:lnTo>
                  <a:lnTo>
                    <a:pt x="18307" y="133864"/>
                  </a:lnTo>
                  <a:lnTo>
                    <a:pt x="35957" y="120710"/>
                  </a:lnTo>
                  <a:lnTo>
                    <a:pt x="53016" y="109928"/>
                  </a:lnTo>
                  <a:lnTo>
                    <a:pt x="69590" y="101422"/>
                  </a:lnTo>
                  <a:lnTo>
                    <a:pt x="85735" y="95145"/>
                  </a:lnTo>
                  <a:lnTo>
                    <a:pt x="101556" y="91030"/>
                  </a:lnTo>
                  <a:lnTo>
                    <a:pt x="117129" y="89002"/>
                  </a:lnTo>
                  <a:lnTo>
                    <a:pt x="132540" y="89002"/>
                  </a:lnTo>
                  <a:lnTo>
                    <a:pt x="147857" y="90954"/>
                  </a:lnTo>
                  <a:lnTo>
                    <a:pt x="163182" y="94802"/>
                  </a:lnTo>
                  <a:lnTo>
                    <a:pt x="178584" y="100479"/>
                  </a:lnTo>
                  <a:lnTo>
                    <a:pt x="194158" y="107909"/>
                  </a:lnTo>
                  <a:lnTo>
                    <a:pt x="209979" y="117034"/>
                  </a:lnTo>
                  <a:lnTo>
                    <a:pt x="226133" y="127787"/>
                  </a:lnTo>
                  <a:lnTo>
                    <a:pt x="242697" y="140094"/>
                  </a:lnTo>
                  <a:close/>
                </a:path>
              </a:pathLst>
            </a:custGeom>
            <a:solidFill>
              <a:srgbClr val="4E4D40"/>
            </a:solidFill>
            <a:ln w="15869">
              <a:noFill/>
              <a:prstDash val="solid"/>
            </a:ln>
          </p:spPr>
          <p:txBody>
            <a:bodyPr/>
            <a:lstStyle/>
            <a:p>
              <a:endParaRPr sz="1200"/>
            </a:p>
          </p:txBody>
        </p:sp>
        <p:sp>
          <p:nvSpPr>
            <p:cNvPr id="216" name="s2-keeper__path_216">
              <a:extLst>
                <a:ext uri="{FF2B5EF4-FFF2-40B4-BE49-F238E27FC236}">
                  <a16:creationId xmlns:a16="http://schemas.microsoft.com/office/drawing/2014/main" id="{60F7AD66-5808-448F-99D0-07DF16A05504}"/>
                </a:ext>
              </a:extLst>
            </p:cNvPr>
            <p:cNvSpPr>
              <a:spLocks/>
            </p:cNvSpPr>
            <p:nvPr/>
          </p:nvSpPr>
          <p:spPr>
            <a:xfrm>
              <a:off x="5309742" y="2517902"/>
              <a:ext cx="37338" cy="43561"/>
            </a:xfrm>
            <a:custGeom>
              <a:avLst/>
              <a:gdLst/>
              <a:ahLst/>
              <a:cxnLst/>
              <a:rect l="0" t="0" r="0" b="0"/>
              <a:pathLst>
                <a:path w="56007" h="65342">
                  <a:moveTo>
                    <a:pt x="56007" y="0"/>
                  </a:moveTo>
                  <a:lnTo>
                    <a:pt x="0" y="37338"/>
                  </a:lnTo>
                  <a:lnTo>
                    <a:pt x="56007" y="65342"/>
                  </a:lnTo>
                  <a:close/>
                </a:path>
              </a:pathLst>
            </a:custGeom>
            <a:solidFill>
              <a:srgbClr val="BD8B67"/>
            </a:solidFill>
            <a:ln w="7468">
              <a:solidFill>
                <a:srgbClr val="6F6554"/>
              </a:solidFill>
              <a:prstDash val="solid"/>
            </a:ln>
          </p:spPr>
          <p:txBody>
            <a:bodyPr/>
            <a:lstStyle/>
            <a:p>
              <a:endParaRPr sz="1200"/>
            </a:p>
          </p:txBody>
        </p:sp>
        <p:sp>
          <p:nvSpPr>
            <p:cNvPr id="217" name="s2-keeper__ellipse_217">
              <a:extLst>
                <a:ext uri="{FF2B5EF4-FFF2-40B4-BE49-F238E27FC236}">
                  <a16:creationId xmlns:a16="http://schemas.microsoft.com/office/drawing/2014/main" id="{8A63620E-233F-4023-A4A1-8557507BFE8E}"/>
                </a:ext>
              </a:extLst>
            </p:cNvPr>
            <p:cNvSpPr>
              <a:spLocks/>
            </p:cNvSpPr>
            <p:nvPr/>
          </p:nvSpPr>
          <p:spPr>
            <a:xfrm>
              <a:off x="5359527" y="2505456"/>
              <a:ext cx="12446" cy="12445"/>
            </a:xfrm>
            <a:prstGeom prst="ellipse">
              <a:avLst/>
            </a:prstGeom>
            <a:solidFill>
              <a:srgbClr val="333E34"/>
            </a:solidFill>
            <a:ln w="0">
              <a:noFill/>
              <a:prstDash val="solid"/>
            </a:ln>
          </p:spPr>
          <p:txBody>
            <a:bodyPr/>
            <a:lstStyle/>
            <a:p>
              <a:endParaRPr sz="1200"/>
            </a:p>
          </p:txBody>
        </p:sp>
        <p:sp>
          <p:nvSpPr>
            <p:cNvPr id="218" name="s2-keeper__contour_218">
              <a:extLst>
                <a:ext uri="{FF2B5EF4-FFF2-40B4-BE49-F238E27FC236}">
                  <a16:creationId xmlns:a16="http://schemas.microsoft.com/office/drawing/2014/main" id="{2A9C59D7-0459-4826-8E29-778A57A7EF59}"/>
                </a:ext>
              </a:extLst>
            </p:cNvPr>
            <p:cNvSpPr>
              <a:spLocks/>
            </p:cNvSpPr>
            <p:nvPr/>
          </p:nvSpPr>
          <p:spPr>
            <a:xfrm>
              <a:off x="5098161" y="2673477"/>
              <a:ext cx="242697" cy="130683"/>
            </a:xfrm>
            <a:custGeom>
              <a:avLst/>
              <a:gdLst/>
              <a:ahLst/>
              <a:cxnLst/>
              <a:rect l="0" t="0" r="0" b="0"/>
              <a:pathLst>
                <a:path w="364046" h="196025">
                  <a:moveTo>
                    <a:pt x="364046" y="0"/>
                  </a:moveTo>
                  <a:lnTo>
                    <a:pt x="224028" y="196025"/>
                  </a:lnTo>
                  <a:lnTo>
                    <a:pt x="0" y="177356"/>
                  </a:lnTo>
                </a:path>
              </a:pathLst>
            </a:custGeom>
            <a:noFill/>
            <a:ln w="84011">
              <a:solidFill>
                <a:srgbClr val="BD8B67"/>
              </a:solidFill>
              <a:prstDash val="solid"/>
            </a:ln>
          </p:spPr>
          <p:txBody>
            <a:bodyPr/>
            <a:lstStyle/>
            <a:p>
              <a:endParaRPr sz="1200"/>
            </a:p>
          </p:txBody>
        </p:sp>
        <p:sp>
          <p:nvSpPr>
            <p:cNvPr id="219" name="s2-keeper__contour_219">
              <a:extLst>
                <a:ext uri="{FF2B5EF4-FFF2-40B4-BE49-F238E27FC236}">
                  <a16:creationId xmlns:a16="http://schemas.microsoft.com/office/drawing/2014/main" id="{80C82DB3-E1C7-4012-8A75-1FD8E0DF477F}"/>
                </a:ext>
              </a:extLst>
            </p:cNvPr>
            <p:cNvSpPr>
              <a:spLocks/>
            </p:cNvSpPr>
            <p:nvPr/>
          </p:nvSpPr>
          <p:spPr>
            <a:xfrm>
              <a:off x="5278628" y="2667254"/>
              <a:ext cx="62230" cy="74675"/>
            </a:xfrm>
            <a:custGeom>
              <a:avLst/>
              <a:gdLst/>
              <a:ahLst/>
              <a:cxnLst/>
              <a:rect l="0" t="0" r="0" b="0"/>
              <a:pathLst>
                <a:path w="93345" h="112014">
                  <a:moveTo>
                    <a:pt x="93345" y="0"/>
                  </a:moveTo>
                  <a:lnTo>
                    <a:pt x="0" y="112014"/>
                  </a:lnTo>
                </a:path>
              </a:pathLst>
            </a:custGeom>
            <a:noFill/>
            <a:ln w="112014">
              <a:solidFill>
                <a:srgbClr val="7D9A90"/>
              </a:solidFill>
              <a:prstDash val="solid"/>
            </a:ln>
          </p:spPr>
          <p:txBody>
            <a:bodyPr/>
            <a:lstStyle/>
            <a:p>
              <a:endParaRPr sz="1200"/>
            </a:p>
          </p:txBody>
        </p:sp>
        <p:sp>
          <p:nvSpPr>
            <p:cNvPr id="220" name="s2-keeper__ellipse_220">
              <a:extLst>
                <a:ext uri="{FF2B5EF4-FFF2-40B4-BE49-F238E27FC236}">
                  <a16:creationId xmlns:a16="http://schemas.microsoft.com/office/drawing/2014/main" id="{39907499-2386-4B4B-A2B4-760C451C891C}"/>
                </a:ext>
              </a:extLst>
            </p:cNvPr>
            <p:cNvSpPr>
              <a:spLocks/>
            </p:cNvSpPr>
            <p:nvPr/>
          </p:nvSpPr>
          <p:spPr>
            <a:xfrm>
              <a:off x="5060823" y="2760599"/>
              <a:ext cx="56007" cy="49783"/>
            </a:xfrm>
            <a:prstGeom prst="ellipse">
              <a:avLst/>
            </a:prstGeom>
            <a:solidFill>
              <a:srgbClr val="BD8B67"/>
            </a:solidFill>
            <a:ln w="0">
              <a:noFill/>
              <a:prstDash val="solid"/>
            </a:ln>
          </p:spPr>
          <p:txBody>
            <a:bodyPr/>
            <a:lstStyle/>
            <a:p>
              <a:endParaRPr sz="1200"/>
            </a:p>
          </p:txBody>
        </p:sp>
        <p:sp>
          <p:nvSpPr>
            <p:cNvPr id="221" name="s2-keeper__contour_221">
              <a:extLst>
                <a:ext uri="{FF2B5EF4-FFF2-40B4-BE49-F238E27FC236}">
                  <a16:creationId xmlns:a16="http://schemas.microsoft.com/office/drawing/2014/main" id="{9FA6D617-CA25-4855-8399-AE07B707466F}"/>
                </a:ext>
              </a:extLst>
            </p:cNvPr>
            <p:cNvSpPr>
              <a:spLocks/>
            </p:cNvSpPr>
            <p:nvPr/>
          </p:nvSpPr>
          <p:spPr>
            <a:xfrm>
              <a:off x="5434203" y="2685923"/>
              <a:ext cx="93345" cy="149351"/>
            </a:xfrm>
            <a:custGeom>
              <a:avLst/>
              <a:gdLst/>
              <a:ahLst/>
              <a:cxnLst/>
              <a:rect l="0" t="0" r="0" b="0"/>
              <a:pathLst>
                <a:path w="140018" h="224028">
                  <a:moveTo>
                    <a:pt x="102679" y="0"/>
                  </a:moveTo>
                  <a:lnTo>
                    <a:pt x="140018" y="177356"/>
                  </a:lnTo>
                  <a:lnTo>
                    <a:pt x="0" y="224028"/>
                  </a:lnTo>
                </a:path>
              </a:pathLst>
            </a:custGeom>
            <a:noFill/>
            <a:ln w="74676">
              <a:solidFill>
                <a:srgbClr val="BD8B67"/>
              </a:solidFill>
              <a:prstDash val="solid"/>
            </a:ln>
          </p:spPr>
          <p:txBody>
            <a:bodyPr/>
            <a:lstStyle/>
            <a:p>
              <a:endParaRPr sz="1200"/>
            </a:p>
          </p:txBody>
        </p:sp>
        <p:sp>
          <p:nvSpPr>
            <p:cNvPr id="222" name="s2-keeper__contour_222">
              <a:extLst>
                <a:ext uri="{FF2B5EF4-FFF2-40B4-BE49-F238E27FC236}">
                  <a16:creationId xmlns:a16="http://schemas.microsoft.com/office/drawing/2014/main" id="{10F0DE54-72B5-4A4B-AB53-5E08BD7E53A4}"/>
                </a:ext>
              </a:extLst>
            </p:cNvPr>
            <p:cNvSpPr>
              <a:spLocks/>
            </p:cNvSpPr>
            <p:nvPr/>
          </p:nvSpPr>
          <p:spPr>
            <a:xfrm>
              <a:off x="5496433" y="2673477"/>
              <a:ext cx="18668" cy="56006"/>
            </a:xfrm>
            <a:custGeom>
              <a:avLst/>
              <a:gdLst/>
              <a:ahLst/>
              <a:cxnLst/>
              <a:rect l="0" t="0" r="0" b="0"/>
              <a:pathLst>
                <a:path w="28003" h="84010">
                  <a:moveTo>
                    <a:pt x="0" y="0"/>
                  </a:moveTo>
                  <a:lnTo>
                    <a:pt x="28003" y="84010"/>
                  </a:lnTo>
                </a:path>
              </a:pathLst>
            </a:custGeom>
            <a:noFill/>
            <a:ln w="102680">
              <a:solidFill>
                <a:srgbClr val="7D9A90"/>
              </a:solidFill>
              <a:prstDash val="solid"/>
            </a:ln>
          </p:spPr>
          <p:txBody>
            <a:bodyPr/>
            <a:lstStyle/>
            <a:p>
              <a:endParaRPr sz="1200"/>
            </a:p>
          </p:txBody>
        </p:sp>
        <p:sp>
          <p:nvSpPr>
            <p:cNvPr id="223" name="s2-managed-rooster__ellipse_223">
              <a:extLst>
                <a:ext uri="{FF2B5EF4-FFF2-40B4-BE49-F238E27FC236}">
                  <a16:creationId xmlns:a16="http://schemas.microsoft.com/office/drawing/2014/main" id="{EB268812-F052-43A5-B434-9F4DAA069504}"/>
                </a:ext>
              </a:extLst>
            </p:cNvPr>
            <p:cNvSpPr>
              <a:spLocks/>
            </p:cNvSpPr>
            <p:nvPr/>
          </p:nvSpPr>
          <p:spPr>
            <a:xfrm>
              <a:off x="3521329" y="4066287"/>
              <a:ext cx="497205" cy="49720"/>
            </a:xfrm>
            <a:prstGeom prst="ellipse">
              <a:avLst/>
            </a:prstGeom>
            <a:solidFill>
              <a:srgbClr val="DCE2D6">
                <a:alpha val="80000"/>
              </a:srgbClr>
            </a:solidFill>
            <a:ln w="0">
              <a:noFill/>
              <a:prstDash val="solid"/>
            </a:ln>
          </p:spPr>
          <p:txBody>
            <a:bodyPr/>
            <a:lstStyle/>
            <a:p>
              <a:endParaRPr sz="1200"/>
            </a:p>
          </p:txBody>
        </p:sp>
        <p:sp>
          <p:nvSpPr>
            <p:cNvPr id="224" name="s2-managed-rooster__contour_224">
              <a:extLst>
                <a:ext uri="{FF2B5EF4-FFF2-40B4-BE49-F238E27FC236}">
                  <a16:creationId xmlns:a16="http://schemas.microsoft.com/office/drawing/2014/main" id="{7A1F69A6-3C16-4187-9B93-B20C0717818A}"/>
                </a:ext>
              </a:extLst>
            </p:cNvPr>
            <p:cNvSpPr>
              <a:spLocks/>
            </p:cNvSpPr>
            <p:nvPr/>
          </p:nvSpPr>
          <p:spPr>
            <a:xfrm>
              <a:off x="3290049" y="3413748"/>
              <a:ext cx="409352" cy="403935"/>
            </a:xfrm>
            <a:custGeom>
              <a:avLst/>
              <a:gdLst/>
              <a:ahLst/>
              <a:cxnLst/>
              <a:rect l="0" t="0" r="0" b="0"/>
              <a:pathLst>
                <a:path w="614029" h="605904">
                  <a:moveTo>
                    <a:pt x="562375" y="605904"/>
                  </a:moveTo>
                  <a:lnTo>
                    <a:pt x="523684" y="591131"/>
                  </a:lnTo>
                  <a:lnTo>
                    <a:pt x="487108" y="573491"/>
                  </a:lnTo>
                  <a:lnTo>
                    <a:pt x="452523" y="553202"/>
                  </a:lnTo>
                  <a:lnTo>
                    <a:pt x="419852" y="530476"/>
                  </a:lnTo>
                  <a:lnTo>
                    <a:pt x="388963" y="505539"/>
                  </a:lnTo>
                  <a:lnTo>
                    <a:pt x="359778" y="478622"/>
                  </a:lnTo>
                  <a:lnTo>
                    <a:pt x="332184" y="449932"/>
                  </a:lnTo>
                  <a:lnTo>
                    <a:pt x="306076" y="419691"/>
                  </a:lnTo>
                  <a:lnTo>
                    <a:pt x="281359" y="388125"/>
                  </a:lnTo>
                  <a:lnTo>
                    <a:pt x="257918" y="355463"/>
                  </a:lnTo>
                  <a:lnTo>
                    <a:pt x="235648" y="321907"/>
                  </a:lnTo>
                  <a:lnTo>
                    <a:pt x="214465" y="287693"/>
                  </a:lnTo>
                  <a:lnTo>
                    <a:pt x="194253" y="253032"/>
                  </a:lnTo>
                  <a:lnTo>
                    <a:pt x="174908" y="218161"/>
                  </a:lnTo>
                  <a:lnTo>
                    <a:pt x="156324" y="183280"/>
                  </a:lnTo>
                  <a:lnTo>
                    <a:pt x="140198" y="173107"/>
                  </a:lnTo>
                  <a:lnTo>
                    <a:pt x="125025" y="165783"/>
                  </a:lnTo>
                  <a:lnTo>
                    <a:pt x="110842" y="161268"/>
                  </a:lnTo>
                  <a:lnTo>
                    <a:pt x="97726" y="159544"/>
                  </a:lnTo>
                  <a:lnTo>
                    <a:pt x="85735" y="160572"/>
                  </a:lnTo>
                  <a:lnTo>
                    <a:pt x="74914" y="164316"/>
                  </a:lnTo>
                  <a:lnTo>
                    <a:pt x="65332" y="170764"/>
                  </a:lnTo>
                  <a:lnTo>
                    <a:pt x="57055" y="179880"/>
                  </a:lnTo>
                  <a:lnTo>
                    <a:pt x="50121" y="191633"/>
                  </a:lnTo>
                  <a:lnTo>
                    <a:pt x="44606" y="205988"/>
                  </a:lnTo>
                  <a:lnTo>
                    <a:pt x="40567" y="222933"/>
                  </a:lnTo>
                  <a:lnTo>
                    <a:pt x="38052" y="242411"/>
                  </a:lnTo>
                  <a:lnTo>
                    <a:pt x="37138" y="264424"/>
                  </a:lnTo>
                  <a:lnTo>
                    <a:pt x="37871" y="288912"/>
                  </a:lnTo>
                  <a:lnTo>
                    <a:pt x="40310" y="315868"/>
                  </a:lnTo>
                  <a:lnTo>
                    <a:pt x="28156" y="303105"/>
                  </a:lnTo>
                  <a:lnTo>
                    <a:pt x="18193" y="288217"/>
                  </a:lnTo>
                  <a:lnTo>
                    <a:pt x="10411" y="271520"/>
                  </a:lnTo>
                  <a:lnTo>
                    <a:pt x="4801" y="253317"/>
                  </a:lnTo>
                  <a:lnTo>
                    <a:pt x="1333" y="233924"/>
                  </a:lnTo>
                  <a:lnTo>
                    <a:pt x="0" y="213646"/>
                  </a:lnTo>
                  <a:lnTo>
                    <a:pt x="800" y="192786"/>
                  </a:lnTo>
                  <a:lnTo>
                    <a:pt x="3696" y="171669"/>
                  </a:lnTo>
                  <a:lnTo>
                    <a:pt x="8687" y="150600"/>
                  </a:lnTo>
                  <a:lnTo>
                    <a:pt x="15754" y="129873"/>
                  </a:lnTo>
                  <a:lnTo>
                    <a:pt x="24889" y="109823"/>
                  </a:lnTo>
                  <a:lnTo>
                    <a:pt x="36071" y="90735"/>
                  </a:lnTo>
                  <a:lnTo>
                    <a:pt x="49282" y="72933"/>
                  </a:lnTo>
                  <a:lnTo>
                    <a:pt x="64513" y="56721"/>
                  </a:lnTo>
                  <a:lnTo>
                    <a:pt x="81744" y="42405"/>
                  </a:lnTo>
                  <a:lnTo>
                    <a:pt x="119520" y="22555"/>
                  </a:lnTo>
                  <a:lnTo>
                    <a:pt x="156553" y="9154"/>
                  </a:lnTo>
                  <a:lnTo>
                    <a:pt x="192786" y="1772"/>
                  </a:lnTo>
                  <a:lnTo>
                    <a:pt x="228133" y="0"/>
                  </a:lnTo>
                  <a:lnTo>
                    <a:pt x="262519" y="3429"/>
                  </a:lnTo>
                  <a:lnTo>
                    <a:pt x="295875" y="11649"/>
                  </a:lnTo>
                  <a:lnTo>
                    <a:pt x="328127" y="24241"/>
                  </a:lnTo>
                  <a:lnTo>
                    <a:pt x="359197" y="40796"/>
                  </a:lnTo>
                  <a:lnTo>
                    <a:pt x="389020" y="60903"/>
                  </a:lnTo>
                  <a:lnTo>
                    <a:pt x="417509" y="84144"/>
                  </a:lnTo>
                  <a:lnTo>
                    <a:pt x="444608" y="110119"/>
                  </a:lnTo>
                  <a:lnTo>
                    <a:pt x="470230" y="138398"/>
                  </a:lnTo>
                  <a:lnTo>
                    <a:pt x="494300" y="168583"/>
                  </a:lnTo>
                  <a:lnTo>
                    <a:pt x="516750" y="200254"/>
                  </a:lnTo>
                  <a:lnTo>
                    <a:pt x="537515" y="233001"/>
                  </a:lnTo>
                  <a:lnTo>
                    <a:pt x="550116" y="256099"/>
                  </a:lnTo>
                  <a:lnTo>
                    <a:pt x="561442" y="278987"/>
                  </a:lnTo>
                  <a:lnTo>
                    <a:pt x="571519" y="301685"/>
                  </a:lnTo>
                  <a:lnTo>
                    <a:pt x="580415" y="324202"/>
                  </a:lnTo>
                  <a:lnTo>
                    <a:pt x="588159" y="346558"/>
                  </a:lnTo>
                  <a:lnTo>
                    <a:pt x="594789" y="368770"/>
                  </a:lnTo>
                  <a:lnTo>
                    <a:pt x="600370" y="390849"/>
                  </a:lnTo>
                  <a:lnTo>
                    <a:pt x="604933" y="412814"/>
                  </a:lnTo>
                  <a:lnTo>
                    <a:pt x="608514" y="434664"/>
                  </a:lnTo>
                  <a:lnTo>
                    <a:pt x="611172" y="456438"/>
                  </a:lnTo>
                  <a:lnTo>
                    <a:pt x="612953" y="478136"/>
                  </a:lnTo>
                  <a:lnTo>
                    <a:pt x="613886" y="499767"/>
                  </a:lnTo>
                  <a:lnTo>
                    <a:pt x="614029" y="521360"/>
                  </a:lnTo>
                  <a:lnTo>
                    <a:pt x="613410" y="542925"/>
                  </a:lnTo>
                  <a:lnTo>
                    <a:pt x="612096" y="564471"/>
                  </a:lnTo>
                  <a:close/>
                </a:path>
              </a:pathLst>
            </a:custGeom>
            <a:solidFill>
              <a:srgbClr val="67644D"/>
            </a:solidFill>
            <a:ln w="14087">
              <a:solidFill>
                <a:srgbClr val="4A5147"/>
              </a:solidFill>
              <a:prstDash val="solid"/>
            </a:ln>
          </p:spPr>
          <p:txBody>
            <a:bodyPr/>
            <a:lstStyle/>
            <a:p>
              <a:endParaRPr sz="1200"/>
            </a:p>
          </p:txBody>
        </p:sp>
        <p:sp>
          <p:nvSpPr>
            <p:cNvPr id="225" name="s2-managed-rooster__contour_225">
              <a:extLst>
                <a:ext uri="{FF2B5EF4-FFF2-40B4-BE49-F238E27FC236}">
                  <a16:creationId xmlns:a16="http://schemas.microsoft.com/office/drawing/2014/main" id="{6774727A-AD1E-4E7D-9763-A56309E021F1}"/>
                </a:ext>
              </a:extLst>
            </p:cNvPr>
            <p:cNvSpPr>
              <a:spLocks/>
            </p:cNvSpPr>
            <p:nvPr/>
          </p:nvSpPr>
          <p:spPr>
            <a:xfrm>
              <a:off x="3298628" y="3538849"/>
              <a:ext cx="388436" cy="289883"/>
            </a:xfrm>
            <a:custGeom>
              <a:avLst/>
              <a:gdLst/>
              <a:ahLst/>
              <a:cxnLst/>
              <a:rect l="0" t="0" r="0" b="0"/>
              <a:pathLst>
                <a:path w="582654" h="434826">
                  <a:moveTo>
                    <a:pt x="524647" y="434826"/>
                  </a:moveTo>
                  <a:lnTo>
                    <a:pt x="489461" y="409680"/>
                  </a:lnTo>
                  <a:lnTo>
                    <a:pt x="456638" y="384153"/>
                  </a:lnTo>
                  <a:lnTo>
                    <a:pt x="425872" y="358521"/>
                  </a:lnTo>
                  <a:lnTo>
                    <a:pt x="396869" y="333070"/>
                  </a:lnTo>
                  <a:lnTo>
                    <a:pt x="369351" y="308067"/>
                  </a:lnTo>
                  <a:lnTo>
                    <a:pt x="343005" y="283807"/>
                  </a:lnTo>
                  <a:lnTo>
                    <a:pt x="317535" y="260566"/>
                  </a:lnTo>
                  <a:lnTo>
                    <a:pt x="292665" y="238611"/>
                  </a:lnTo>
                  <a:lnTo>
                    <a:pt x="268091" y="218246"/>
                  </a:lnTo>
                  <a:lnTo>
                    <a:pt x="243507" y="199730"/>
                  </a:lnTo>
                  <a:lnTo>
                    <a:pt x="218637" y="183347"/>
                  </a:lnTo>
                  <a:lnTo>
                    <a:pt x="193177" y="169383"/>
                  </a:lnTo>
                  <a:lnTo>
                    <a:pt x="166830" y="158115"/>
                  </a:lnTo>
                  <a:lnTo>
                    <a:pt x="139303" y="149828"/>
                  </a:lnTo>
                  <a:lnTo>
                    <a:pt x="110309" y="144790"/>
                  </a:lnTo>
                  <a:lnTo>
                    <a:pt x="99155" y="147314"/>
                  </a:lnTo>
                  <a:lnTo>
                    <a:pt x="88897" y="151524"/>
                  </a:lnTo>
                  <a:lnTo>
                    <a:pt x="79553" y="157315"/>
                  </a:lnTo>
                  <a:lnTo>
                    <a:pt x="71133" y="164621"/>
                  </a:lnTo>
                  <a:lnTo>
                    <a:pt x="63656" y="173336"/>
                  </a:lnTo>
                  <a:lnTo>
                    <a:pt x="57140" y="183375"/>
                  </a:lnTo>
                  <a:lnTo>
                    <a:pt x="51597" y="194653"/>
                  </a:lnTo>
                  <a:lnTo>
                    <a:pt x="47044" y="207074"/>
                  </a:lnTo>
                  <a:lnTo>
                    <a:pt x="43482" y="220561"/>
                  </a:lnTo>
                  <a:lnTo>
                    <a:pt x="40948" y="235020"/>
                  </a:lnTo>
                  <a:lnTo>
                    <a:pt x="39443" y="250365"/>
                  </a:lnTo>
                  <a:lnTo>
                    <a:pt x="38976" y="266510"/>
                  </a:lnTo>
                  <a:lnTo>
                    <a:pt x="39576" y="283350"/>
                  </a:lnTo>
                  <a:lnTo>
                    <a:pt x="41253" y="300819"/>
                  </a:lnTo>
                  <a:lnTo>
                    <a:pt x="44015" y="318811"/>
                  </a:lnTo>
                  <a:lnTo>
                    <a:pt x="29080" y="292113"/>
                  </a:lnTo>
                  <a:lnTo>
                    <a:pt x="17345" y="265205"/>
                  </a:lnTo>
                  <a:lnTo>
                    <a:pt x="8677" y="238335"/>
                  </a:lnTo>
                  <a:lnTo>
                    <a:pt x="2981" y="211722"/>
                  </a:lnTo>
                  <a:lnTo>
                    <a:pt x="124" y="185614"/>
                  </a:lnTo>
                  <a:lnTo>
                    <a:pt x="0" y="160239"/>
                  </a:lnTo>
                  <a:lnTo>
                    <a:pt x="2476" y="135836"/>
                  </a:lnTo>
                  <a:lnTo>
                    <a:pt x="7439" y="112643"/>
                  </a:lnTo>
                  <a:lnTo>
                    <a:pt x="14783" y="90897"/>
                  </a:lnTo>
                  <a:lnTo>
                    <a:pt x="24374" y="70818"/>
                  </a:lnTo>
                  <a:lnTo>
                    <a:pt x="36100" y="52664"/>
                  </a:lnTo>
                  <a:lnTo>
                    <a:pt x="49844" y="36662"/>
                  </a:lnTo>
                  <a:lnTo>
                    <a:pt x="65494" y="23051"/>
                  </a:lnTo>
                  <a:lnTo>
                    <a:pt x="82925" y="12049"/>
                  </a:lnTo>
                  <a:lnTo>
                    <a:pt x="102022" y="3915"/>
                  </a:lnTo>
                  <a:lnTo>
                    <a:pt x="135265" y="0"/>
                  </a:lnTo>
                  <a:lnTo>
                    <a:pt x="168659" y="1295"/>
                  </a:lnTo>
                  <a:lnTo>
                    <a:pt x="202130" y="7496"/>
                  </a:lnTo>
                  <a:lnTo>
                    <a:pt x="235591" y="18298"/>
                  </a:lnTo>
                  <a:lnTo>
                    <a:pt x="268986" y="33376"/>
                  </a:lnTo>
                  <a:lnTo>
                    <a:pt x="302228" y="52445"/>
                  </a:lnTo>
                  <a:lnTo>
                    <a:pt x="335251" y="75171"/>
                  </a:lnTo>
                  <a:lnTo>
                    <a:pt x="367979" y="101260"/>
                  </a:lnTo>
                  <a:lnTo>
                    <a:pt x="400345" y="130407"/>
                  </a:lnTo>
                  <a:lnTo>
                    <a:pt x="432264" y="162287"/>
                  </a:lnTo>
                  <a:lnTo>
                    <a:pt x="463667" y="196596"/>
                  </a:lnTo>
                  <a:lnTo>
                    <a:pt x="494481" y="233029"/>
                  </a:lnTo>
                  <a:lnTo>
                    <a:pt x="524637" y="271272"/>
                  </a:lnTo>
                  <a:lnTo>
                    <a:pt x="554050" y="311020"/>
                  </a:lnTo>
                  <a:lnTo>
                    <a:pt x="582654" y="351958"/>
                  </a:lnTo>
                  <a:close/>
                </a:path>
              </a:pathLst>
            </a:custGeom>
            <a:solidFill>
              <a:srgbClr val="67644D"/>
            </a:solidFill>
            <a:ln w="14087">
              <a:solidFill>
                <a:srgbClr val="4A5147"/>
              </a:solidFill>
              <a:prstDash val="solid"/>
            </a:ln>
          </p:spPr>
          <p:txBody>
            <a:bodyPr/>
            <a:lstStyle/>
            <a:p>
              <a:endParaRPr sz="1200"/>
            </a:p>
          </p:txBody>
        </p:sp>
        <p:sp>
          <p:nvSpPr>
            <p:cNvPr id="226" name="s2-managed-rooster__contour_226">
              <a:extLst>
                <a:ext uri="{FF2B5EF4-FFF2-40B4-BE49-F238E27FC236}">
                  <a16:creationId xmlns:a16="http://schemas.microsoft.com/office/drawing/2014/main" id="{9707F5DA-7302-4EA8-BCB1-D7CD8ED7D41A}"/>
                </a:ext>
              </a:extLst>
            </p:cNvPr>
            <p:cNvSpPr>
              <a:spLocks/>
            </p:cNvSpPr>
            <p:nvPr/>
          </p:nvSpPr>
          <p:spPr>
            <a:xfrm>
              <a:off x="3343110" y="3640900"/>
              <a:ext cx="349478" cy="187833"/>
            </a:xfrm>
            <a:custGeom>
              <a:avLst/>
              <a:gdLst/>
              <a:ahLst/>
              <a:cxnLst/>
              <a:rect l="0" t="0" r="0" b="0"/>
              <a:pathLst>
                <a:path w="524218" h="281750">
                  <a:moveTo>
                    <a:pt x="457924" y="281750"/>
                  </a:moveTo>
                  <a:lnTo>
                    <a:pt x="423281" y="268195"/>
                  </a:lnTo>
                  <a:lnTo>
                    <a:pt x="392039" y="254165"/>
                  </a:lnTo>
                  <a:lnTo>
                    <a:pt x="363855" y="239849"/>
                  </a:lnTo>
                  <a:lnTo>
                    <a:pt x="338357" y="225457"/>
                  </a:lnTo>
                  <a:lnTo>
                    <a:pt x="315211" y="211160"/>
                  </a:lnTo>
                  <a:lnTo>
                    <a:pt x="294046" y="197158"/>
                  </a:lnTo>
                  <a:lnTo>
                    <a:pt x="274520" y="183642"/>
                  </a:lnTo>
                  <a:lnTo>
                    <a:pt x="256270" y="170812"/>
                  </a:lnTo>
                  <a:lnTo>
                    <a:pt x="238954" y="158839"/>
                  </a:lnTo>
                  <a:lnTo>
                    <a:pt x="222209" y="147933"/>
                  </a:lnTo>
                  <a:lnTo>
                    <a:pt x="205692" y="138284"/>
                  </a:lnTo>
                  <a:lnTo>
                    <a:pt x="189033" y="130073"/>
                  </a:lnTo>
                  <a:lnTo>
                    <a:pt x="171898" y="123492"/>
                  </a:lnTo>
                  <a:lnTo>
                    <a:pt x="153914" y="118748"/>
                  </a:lnTo>
                  <a:lnTo>
                    <a:pt x="134741" y="116014"/>
                  </a:lnTo>
                  <a:lnTo>
                    <a:pt x="121920" y="116891"/>
                  </a:lnTo>
                  <a:lnTo>
                    <a:pt x="109995" y="119453"/>
                  </a:lnTo>
                  <a:lnTo>
                    <a:pt x="98946" y="123635"/>
                  </a:lnTo>
                  <a:lnTo>
                    <a:pt x="88773" y="129369"/>
                  </a:lnTo>
                  <a:lnTo>
                    <a:pt x="79496" y="136579"/>
                  </a:lnTo>
                  <a:lnTo>
                    <a:pt x="71095" y="145180"/>
                  </a:lnTo>
                  <a:lnTo>
                    <a:pt x="63589" y="155115"/>
                  </a:lnTo>
                  <a:lnTo>
                    <a:pt x="56959" y="166297"/>
                  </a:lnTo>
                  <a:lnTo>
                    <a:pt x="51206" y="178660"/>
                  </a:lnTo>
                  <a:lnTo>
                    <a:pt x="46349" y="192129"/>
                  </a:lnTo>
                  <a:lnTo>
                    <a:pt x="42367" y="206626"/>
                  </a:lnTo>
                  <a:lnTo>
                    <a:pt x="39281" y="222085"/>
                  </a:lnTo>
                  <a:lnTo>
                    <a:pt x="37071" y="238430"/>
                  </a:lnTo>
                  <a:lnTo>
                    <a:pt x="35738" y="255575"/>
                  </a:lnTo>
                  <a:lnTo>
                    <a:pt x="35300" y="273463"/>
                  </a:lnTo>
                  <a:lnTo>
                    <a:pt x="20784" y="246983"/>
                  </a:lnTo>
                  <a:lnTo>
                    <a:pt x="10239" y="220723"/>
                  </a:lnTo>
                  <a:lnTo>
                    <a:pt x="3410" y="194901"/>
                  </a:lnTo>
                  <a:lnTo>
                    <a:pt x="76" y="169745"/>
                  </a:lnTo>
                  <a:lnTo>
                    <a:pt x="0" y="145475"/>
                  </a:lnTo>
                  <a:lnTo>
                    <a:pt x="2953" y="122311"/>
                  </a:lnTo>
                  <a:lnTo>
                    <a:pt x="8677" y="100470"/>
                  </a:lnTo>
                  <a:lnTo>
                    <a:pt x="16954" y="80181"/>
                  </a:lnTo>
                  <a:lnTo>
                    <a:pt x="27546" y="61655"/>
                  </a:lnTo>
                  <a:lnTo>
                    <a:pt x="40215" y="45120"/>
                  </a:lnTo>
                  <a:lnTo>
                    <a:pt x="54721" y="30794"/>
                  </a:lnTo>
                  <a:lnTo>
                    <a:pt x="70837" y="18898"/>
                  </a:lnTo>
                  <a:lnTo>
                    <a:pt x="88316" y="9649"/>
                  </a:lnTo>
                  <a:lnTo>
                    <a:pt x="106937" y="3277"/>
                  </a:lnTo>
                  <a:lnTo>
                    <a:pt x="126454" y="0"/>
                  </a:lnTo>
                  <a:lnTo>
                    <a:pt x="154419" y="4391"/>
                  </a:lnTo>
                  <a:lnTo>
                    <a:pt x="181975" y="10849"/>
                  </a:lnTo>
                  <a:lnTo>
                    <a:pt x="209188" y="19221"/>
                  </a:lnTo>
                  <a:lnTo>
                    <a:pt x="236087" y="29366"/>
                  </a:lnTo>
                  <a:lnTo>
                    <a:pt x="262728" y="41129"/>
                  </a:lnTo>
                  <a:lnTo>
                    <a:pt x="289141" y="54359"/>
                  </a:lnTo>
                  <a:lnTo>
                    <a:pt x="315373" y="68923"/>
                  </a:lnTo>
                  <a:lnTo>
                    <a:pt x="341481" y="84658"/>
                  </a:lnTo>
                  <a:lnTo>
                    <a:pt x="367503" y="101432"/>
                  </a:lnTo>
                  <a:lnTo>
                    <a:pt x="393468" y="119082"/>
                  </a:lnTo>
                  <a:lnTo>
                    <a:pt x="419443" y="137474"/>
                  </a:lnTo>
                  <a:lnTo>
                    <a:pt x="445465" y="156458"/>
                  </a:lnTo>
                  <a:lnTo>
                    <a:pt x="471564" y="175879"/>
                  </a:lnTo>
                  <a:lnTo>
                    <a:pt x="497805" y="195596"/>
                  </a:lnTo>
                  <a:lnTo>
                    <a:pt x="524218" y="215456"/>
                  </a:lnTo>
                  <a:close/>
                </a:path>
              </a:pathLst>
            </a:custGeom>
            <a:solidFill>
              <a:srgbClr val="67644D"/>
            </a:solidFill>
            <a:ln w="14087">
              <a:solidFill>
                <a:srgbClr val="4A5147"/>
              </a:solidFill>
              <a:prstDash val="solid"/>
            </a:ln>
          </p:spPr>
          <p:txBody>
            <a:bodyPr/>
            <a:lstStyle/>
            <a:p>
              <a:endParaRPr sz="1200"/>
            </a:p>
          </p:txBody>
        </p:sp>
        <p:sp>
          <p:nvSpPr>
            <p:cNvPr id="227" name="s2-managed-rooster__contour_227">
              <a:extLst>
                <a:ext uri="{FF2B5EF4-FFF2-40B4-BE49-F238E27FC236}">
                  <a16:creationId xmlns:a16="http://schemas.microsoft.com/office/drawing/2014/main" id="{F3187268-A5E1-40CE-85E4-7BFDB5ACFF90}"/>
                </a:ext>
              </a:extLst>
            </p:cNvPr>
            <p:cNvSpPr>
              <a:spLocks/>
            </p:cNvSpPr>
            <p:nvPr/>
          </p:nvSpPr>
          <p:spPr>
            <a:xfrm>
              <a:off x="3372167" y="3469641"/>
              <a:ext cx="281749" cy="303847"/>
            </a:xfrm>
            <a:custGeom>
              <a:avLst/>
              <a:gdLst/>
              <a:ahLst/>
              <a:cxnLst/>
              <a:rect l="0" t="0" r="0" b="0"/>
              <a:pathLst>
                <a:path w="422624" h="455771">
                  <a:moveTo>
                    <a:pt x="422624" y="455771"/>
                  </a:moveTo>
                  <a:lnTo>
                    <a:pt x="393621" y="410880"/>
                  </a:lnTo>
                  <a:lnTo>
                    <a:pt x="366084" y="366017"/>
                  </a:lnTo>
                  <a:lnTo>
                    <a:pt x="339690" y="321659"/>
                  </a:lnTo>
                  <a:lnTo>
                    <a:pt x="314135" y="278273"/>
                  </a:lnTo>
                  <a:lnTo>
                    <a:pt x="289112" y="236325"/>
                  </a:lnTo>
                  <a:lnTo>
                    <a:pt x="264319" y="196301"/>
                  </a:lnTo>
                  <a:lnTo>
                    <a:pt x="239420" y="158658"/>
                  </a:lnTo>
                  <a:lnTo>
                    <a:pt x="214141" y="123873"/>
                  </a:lnTo>
                  <a:lnTo>
                    <a:pt x="188138" y="92412"/>
                  </a:lnTo>
                  <a:lnTo>
                    <a:pt x="161134" y="64760"/>
                  </a:lnTo>
                  <a:lnTo>
                    <a:pt x="132798" y="41377"/>
                  </a:lnTo>
                  <a:lnTo>
                    <a:pt x="102822" y="22736"/>
                  </a:lnTo>
                  <a:lnTo>
                    <a:pt x="70904" y="9315"/>
                  </a:lnTo>
                  <a:lnTo>
                    <a:pt x="36738" y="1581"/>
                  </a:lnTo>
                  <a:lnTo>
                    <a:pt x="0" y="0"/>
                  </a:lnTo>
                </a:path>
              </a:pathLst>
            </a:custGeom>
            <a:noFill/>
            <a:ln w="11601">
              <a:solidFill>
                <a:srgbClr val="5C7D68"/>
              </a:solidFill>
              <a:prstDash val="solid"/>
            </a:ln>
          </p:spPr>
          <p:txBody>
            <a:bodyPr/>
            <a:lstStyle/>
            <a:p>
              <a:endParaRPr sz="1200"/>
            </a:p>
          </p:txBody>
        </p:sp>
        <p:sp>
          <p:nvSpPr>
            <p:cNvPr id="228" name="s2-managed-rooster__contour_228">
              <a:extLst>
                <a:ext uri="{FF2B5EF4-FFF2-40B4-BE49-F238E27FC236}">
                  <a16:creationId xmlns:a16="http://schemas.microsoft.com/office/drawing/2014/main" id="{F4CC1C23-FD14-4314-A65B-3A3D2F7B9475}"/>
                </a:ext>
              </a:extLst>
            </p:cNvPr>
            <p:cNvSpPr>
              <a:spLocks/>
            </p:cNvSpPr>
            <p:nvPr/>
          </p:nvSpPr>
          <p:spPr>
            <a:xfrm>
              <a:off x="3344545" y="3582347"/>
              <a:ext cx="281749" cy="224288"/>
            </a:xfrm>
            <a:custGeom>
              <a:avLst/>
              <a:gdLst/>
              <a:ahLst/>
              <a:cxnLst/>
              <a:rect l="0" t="0" r="0" b="0"/>
              <a:pathLst>
                <a:path w="422624" h="336433">
                  <a:moveTo>
                    <a:pt x="422624" y="336433"/>
                  </a:moveTo>
                  <a:lnTo>
                    <a:pt x="386820" y="289931"/>
                  </a:lnTo>
                  <a:lnTo>
                    <a:pt x="352292" y="246593"/>
                  </a:lnTo>
                  <a:lnTo>
                    <a:pt x="319011" y="206492"/>
                  </a:lnTo>
                  <a:lnTo>
                    <a:pt x="286912" y="169716"/>
                  </a:lnTo>
                  <a:lnTo>
                    <a:pt x="255965" y="136322"/>
                  </a:lnTo>
                  <a:lnTo>
                    <a:pt x="226133" y="106394"/>
                  </a:lnTo>
                  <a:lnTo>
                    <a:pt x="197348" y="80000"/>
                  </a:lnTo>
                  <a:lnTo>
                    <a:pt x="169583" y="57217"/>
                  </a:lnTo>
                  <a:lnTo>
                    <a:pt x="142799" y="38110"/>
                  </a:lnTo>
                  <a:lnTo>
                    <a:pt x="116938" y="22765"/>
                  </a:lnTo>
                  <a:lnTo>
                    <a:pt x="91954" y="11249"/>
                  </a:lnTo>
                  <a:lnTo>
                    <a:pt x="67818" y="3639"/>
                  </a:lnTo>
                  <a:lnTo>
                    <a:pt x="44472" y="0"/>
                  </a:lnTo>
                  <a:lnTo>
                    <a:pt x="21888" y="419"/>
                  </a:lnTo>
                  <a:lnTo>
                    <a:pt x="0" y="4963"/>
                  </a:lnTo>
                </a:path>
              </a:pathLst>
            </a:custGeom>
            <a:noFill/>
            <a:ln w="11601">
              <a:solidFill>
                <a:srgbClr val="5C7D68"/>
              </a:solidFill>
              <a:prstDash val="solid"/>
            </a:ln>
          </p:spPr>
          <p:txBody>
            <a:bodyPr/>
            <a:lstStyle/>
            <a:p>
              <a:endParaRPr sz="1200"/>
            </a:p>
          </p:txBody>
        </p:sp>
        <p:sp>
          <p:nvSpPr>
            <p:cNvPr id="229" name="s2-managed-rooster__line_229">
              <a:extLst>
                <a:ext uri="{FF2B5EF4-FFF2-40B4-BE49-F238E27FC236}">
                  <a16:creationId xmlns:a16="http://schemas.microsoft.com/office/drawing/2014/main" id="{6770EE32-F10C-4195-91CD-FE56DF82954D}"/>
                </a:ext>
              </a:extLst>
            </p:cNvPr>
            <p:cNvSpPr>
              <a:spLocks/>
            </p:cNvSpPr>
            <p:nvPr/>
          </p:nvSpPr>
          <p:spPr>
            <a:xfrm>
              <a:off x="3753358" y="3961321"/>
              <a:ext cx="11049" cy="104965"/>
            </a:xfrm>
            <a:custGeom>
              <a:avLst/>
              <a:gdLst/>
              <a:ahLst/>
              <a:cxnLst/>
              <a:rect l="0" t="0" r="0" b="0"/>
              <a:pathLst>
                <a:path w="16574" h="157448">
                  <a:moveTo>
                    <a:pt x="0" y="0"/>
                  </a:moveTo>
                  <a:lnTo>
                    <a:pt x="16574" y="157448"/>
                  </a:lnTo>
                </a:path>
              </a:pathLst>
            </a:custGeom>
            <a:noFill/>
            <a:ln w="24860">
              <a:solidFill>
                <a:srgbClr val="B68C45"/>
              </a:solidFill>
              <a:prstDash val="solid"/>
            </a:ln>
          </p:spPr>
          <p:txBody>
            <a:bodyPr/>
            <a:lstStyle/>
            <a:p>
              <a:endParaRPr sz="1200"/>
            </a:p>
          </p:txBody>
        </p:sp>
        <p:sp>
          <p:nvSpPr>
            <p:cNvPr id="230" name="s2-managed-rooster__line_230">
              <a:extLst>
                <a:ext uri="{FF2B5EF4-FFF2-40B4-BE49-F238E27FC236}">
                  <a16:creationId xmlns:a16="http://schemas.microsoft.com/office/drawing/2014/main" id="{15254C0B-DC70-4118-A7A4-55DEE370E142}"/>
                </a:ext>
              </a:extLst>
            </p:cNvPr>
            <p:cNvSpPr>
              <a:spLocks/>
            </p:cNvSpPr>
            <p:nvPr/>
          </p:nvSpPr>
          <p:spPr>
            <a:xfrm>
              <a:off x="3703637" y="4055238"/>
              <a:ext cx="55245" cy="27622"/>
            </a:xfrm>
            <a:custGeom>
              <a:avLst/>
              <a:gdLst/>
              <a:ahLst/>
              <a:cxnLst/>
              <a:rect l="0" t="0" r="0" b="0"/>
              <a:pathLst>
                <a:path w="82868" h="41434">
                  <a:moveTo>
                    <a:pt x="82868" y="0"/>
                  </a:moveTo>
                  <a:lnTo>
                    <a:pt x="0" y="41434"/>
                  </a:lnTo>
                </a:path>
              </a:pathLst>
            </a:custGeom>
            <a:noFill/>
            <a:ln w="19888">
              <a:solidFill>
                <a:srgbClr val="B68C45"/>
              </a:solidFill>
              <a:prstDash val="solid"/>
            </a:ln>
          </p:spPr>
          <p:txBody>
            <a:bodyPr/>
            <a:lstStyle/>
            <a:p>
              <a:endParaRPr sz="1200"/>
            </a:p>
          </p:txBody>
        </p:sp>
        <p:sp>
          <p:nvSpPr>
            <p:cNvPr id="231" name="s2-managed-rooster__line_231">
              <a:extLst>
                <a:ext uri="{FF2B5EF4-FFF2-40B4-BE49-F238E27FC236}">
                  <a16:creationId xmlns:a16="http://schemas.microsoft.com/office/drawing/2014/main" id="{12B6EE14-9D69-415D-98C0-0A7BE2293F46}"/>
                </a:ext>
              </a:extLst>
            </p:cNvPr>
            <p:cNvSpPr>
              <a:spLocks/>
            </p:cNvSpPr>
            <p:nvPr/>
          </p:nvSpPr>
          <p:spPr>
            <a:xfrm>
              <a:off x="3758883" y="4060762"/>
              <a:ext cx="60769" cy="22097"/>
            </a:xfrm>
            <a:custGeom>
              <a:avLst/>
              <a:gdLst/>
              <a:ahLst/>
              <a:cxnLst/>
              <a:rect l="0" t="0" r="0" b="0"/>
              <a:pathLst>
                <a:path w="91154" h="33147">
                  <a:moveTo>
                    <a:pt x="0" y="0"/>
                  </a:moveTo>
                  <a:lnTo>
                    <a:pt x="91154" y="33147"/>
                  </a:lnTo>
                </a:path>
              </a:pathLst>
            </a:custGeom>
            <a:noFill/>
            <a:ln w="19888">
              <a:solidFill>
                <a:srgbClr val="B68C45"/>
              </a:solidFill>
              <a:prstDash val="solid"/>
            </a:ln>
          </p:spPr>
          <p:txBody>
            <a:bodyPr/>
            <a:lstStyle/>
            <a:p>
              <a:endParaRPr sz="1200"/>
            </a:p>
          </p:txBody>
        </p:sp>
        <p:sp>
          <p:nvSpPr>
            <p:cNvPr id="232" name="s2-managed-rooster__line_232">
              <a:extLst>
                <a:ext uri="{FF2B5EF4-FFF2-40B4-BE49-F238E27FC236}">
                  <a16:creationId xmlns:a16="http://schemas.microsoft.com/office/drawing/2014/main" id="{2F0023B2-F40F-4E85-BB49-BB1DC68465A5}"/>
                </a:ext>
              </a:extLst>
            </p:cNvPr>
            <p:cNvSpPr>
              <a:spLocks/>
            </p:cNvSpPr>
            <p:nvPr/>
          </p:nvSpPr>
          <p:spPr>
            <a:xfrm>
              <a:off x="3869373" y="3955797"/>
              <a:ext cx="11049" cy="110489"/>
            </a:xfrm>
            <a:custGeom>
              <a:avLst/>
              <a:gdLst/>
              <a:ahLst/>
              <a:cxnLst/>
              <a:rect l="0" t="0" r="0" b="0"/>
              <a:pathLst>
                <a:path w="16574" h="165735">
                  <a:moveTo>
                    <a:pt x="0" y="0"/>
                  </a:moveTo>
                  <a:lnTo>
                    <a:pt x="16574" y="165735"/>
                  </a:lnTo>
                </a:path>
              </a:pathLst>
            </a:custGeom>
            <a:noFill/>
            <a:ln w="24860">
              <a:solidFill>
                <a:srgbClr val="B68C45"/>
              </a:solidFill>
              <a:prstDash val="solid"/>
            </a:ln>
          </p:spPr>
          <p:txBody>
            <a:bodyPr/>
            <a:lstStyle/>
            <a:p>
              <a:endParaRPr sz="1200"/>
            </a:p>
          </p:txBody>
        </p:sp>
        <p:sp>
          <p:nvSpPr>
            <p:cNvPr id="233" name="s2-managed-rooster__line_233">
              <a:extLst>
                <a:ext uri="{FF2B5EF4-FFF2-40B4-BE49-F238E27FC236}">
                  <a16:creationId xmlns:a16="http://schemas.microsoft.com/office/drawing/2014/main" id="{D3968DAA-A7D8-4C3E-93A4-8B379C960A72}"/>
                </a:ext>
              </a:extLst>
            </p:cNvPr>
            <p:cNvSpPr>
              <a:spLocks/>
            </p:cNvSpPr>
            <p:nvPr/>
          </p:nvSpPr>
          <p:spPr>
            <a:xfrm>
              <a:off x="3830701" y="4060762"/>
              <a:ext cx="44196" cy="27622"/>
            </a:xfrm>
            <a:custGeom>
              <a:avLst/>
              <a:gdLst/>
              <a:ahLst/>
              <a:cxnLst/>
              <a:rect l="0" t="0" r="0" b="0"/>
              <a:pathLst>
                <a:path w="66294" h="41434">
                  <a:moveTo>
                    <a:pt x="66294" y="0"/>
                  </a:moveTo>
                  <a:lnTo>
                    <a:pt x="0" y="41434"/>
                  </a:lnTo>
                </a:path>
              </a:pathLst>
            </a:custGeom>
            <a:noFill/>
            <a:ln w="19888">
              <a:solidFill>
                <a:srgbClr val="B68C45"/>
              </a:solidFill>
              <a:prstDash val="solid"/>
            </a:ln>
          </p:spPr>
          <p:txBody>
            <a:bodyPr/>
            <a:lstStyle/>
            <a:p>
              <a:endParaRPr sz="1200"/>
            </a:p>
          </p:txBody>
        </p:sp>
        <p:sp>
          <p:nvSpPr>
            <p:cNvPr id="234" name="s2-managed-rooster__line_234">
              <a:extLst>
                <a:ext uri="{FF2B5EF4-FFF2-40B4-BE49-F238E27FC236}">
                  <a16:creationId xmlns:a16="http://schemas.microsoft.com/office/drawing/2014/main" id="{F3752DB8-37C6-47D7-B941-FA66163BDC3D}"/>
                </a:ext>
              </a:extLst>
            </p:cNvPr>
            <p:cNvSpPr>
              <a:spLocks/>
            </p:cNvSpPr>
            <p:nvPr/>
          </p:nvSpPr>
          <p:spPr>
            <a:xfrm>
              <a:off x="3874897" y="4060762"/>
              <a:ext cx="55244" cy="22097"/>
            </a:xfrm>
            <a:custGeom>
              <a:avLst/>
              <a:gdLst/>
              <a:ahLst/>
              <a:cxnLst/>
              <a:rect l="0" t="0" r="0" b="0"/>
              <a:pathLst>
                <a:path w="82867" h="33147">
                  <a:moveTo>
                    <a:pt x="0" y="0"/>
                  </a:moveTo>
                  <a:lnTo>
                    <a:pt x="82867" y="33147"/>
                  </a:lnTo>
                </a:path>
              </a:pathLst>
            </a:custGeom>
            <a:noFill/>
            <a:ln w="19888">
              <a:solidFill>
                <a:srgbClr val="B68C45"/>
              </a:solidFill>
              <a:prstDash val="solid"/>
            </a:ln>
          </p:spPr>
          <p:txBody>
            <a:bodyPr/>
            <a:lstStyle/>
            <a:p>
              <a:endParaRPr sz="1200"/>
            </a:p>
          </p:txBody>
        </p:sp>
        <p:sp>
          <p:nvSpPr>
            <p:cNvPr id="235" name="s2-managed-rooster__contour_235">
              <a:extLst>
                <a:ext uri="{FF2B5EF4-FFF2-40B4-BE49-F238E27FC236}">
                  <a16:creationId xmlns:a16="http://schemas.microsoft.com/office/drawing/2014/main" id="{6B68E489-C3A2-4ED7-BD95-404952CEDBD3}"/>
                </a:ext>
              </a:extLst>
            </p:cNvPr>
            <p:cNvSpPr>
              <a:spLocks/>
            </p:cNvSpPr>
            <p:nvPr/>
          </p:nvSpPr>
          <p:spPr>
            <a:xfrm>
              <a:off x="3590182" y="3480798"/>
              <a:ext cx="423621" cy="498995"/>
            </a:xfrm>
            <a:custGeom>
              <a:avLst/>
              <a:gdLst/>
              <a:ahLst/>
              <a:cxnLst/>
              <a:rect l="0" t="0" r="0" b="0"/>
              <a:pathLst>
                <a:path w="635432" h="748494">
                  <a:moveTo>
                    <a:pt x="21022" y="356168"/>
                  </a:moveTo>
                  <a:lnTo>
                    <a:pt x="42567" y="339623"/>
                  </a:lnTo>
                  <a:lnTo>
                    <a:pt x="64113" y="326146"/>
                  </a:lnTo>
                  <a:lnTo>
                    <a:pt x="85658" y="315268"/>
                  </a:lnTo>
                  <a:lnTo>
                    <a:pt x="107204" y="306505"/>
                  </a:lnTo>
                  <a:lnTo>
                    <a:pt x="128749" y="299390"/>
                  </a:lnTo>
                  <a:lnTo>
                    <a:pt x="150295" y="293456"/>
                  </a:lnTo>
                  <a:lnTo>
                    <a:pt x="171841" y="288226"/>
                  </a:lnTo>
                  <a:lnTo>
                    <a:pt x="193386" y="283235"/>
                  </a:lnTo>
                  <a:lnTo>
                    <a:pt x="214932" y="278006"/>
                  </a:lnTo>
                  <a:lnTo>
                    <a:pt x="236477" y="272072"/>
                  </a:lnTo>
                  <a:lnTo>
                    <a:pt x="258023" y="264957"/>
                  </a:lnTo>
                  <a:lnTo>
                    <a:pt x="279568" y="256194"/>
                  </a:lnTo>
                  <a:lnTo>
                    <a:pt x="301114" y="245316"/>
                  </a:lnTo>
                  <a:lnTo>
                    <a:pt x="322659" y="231838"/>
                  </a:lnTo>
                  <a:lnTo>
                    <a:pt x="344205" y="215294"/>
                  </a:lnTo>
                  <a:lnTo>
                    <a:pt x="350044" y="190481"/>
                  </a:lnTo>
                  <a:lnTo>
                    <a:pt x="357549" y="165964"/>
                  </a:lnTo>
                  <a:lnTo>
                    <a:pt x="366608" y="142037"/>
                  </a:lnTo>
                  <a:lnTo>
                    <a:pt x="377133" y="118996"/>
                  </a:lnTo>
                  <a:lnTo>
                    <a:pt x="389011" y="97126"/>
                  </a:lnTo>
                  <a:lnTo>
                    <a:pt x="402145" y="76743"/>
                  </a:lnTo>
                  <a:lnTo>
                    <a:pt x="416423" y="58112"/>
                  </a:lnTo>
                  <a:lnTo>
                    <a:pt x="431749" y="41558"/>
                  </a:lnTo>
                  <a:lnTo>
                    <a:pt x="448018" y="27346"/>
                  </a:lnTo>
                  <a:lnTo>
                    <a:pt x="465134" y="15802"/>
                  </a:lnTo>
                  <a:lnTo>
                    <a:pt x="482975" y="7191"/>
                  </a:lnTo>
                  <a:lnTo>
                    <a:pt x="501453" y="1829"/>
                  </a:lnTo>
                  <a:lnTo>
                    <a:pt x="520465" y="0"/>
                  </a:lnTo>
                  <a:lnTo>
                    <a:pt x="539896" y="2000"/>
                  </a:lnTo>
                  <a:lnTo>
                    <a:pt x="559660" y="8125"/>
                  </a:lnTo>
                  <a:lnTo>
                    <a:pt x="575348" y="14173"/>
                  </a:lnTo>
                  <a:lnTo>
                    <a:pt x="589255" y="22231"/>
                  </a:lnTo>
                  <a:lnTo>
                    <a:pt x="601361" y="32128"/>
                  </a:lnTo>
                  <a:lnTo>
                    <a:pt x="611657" y="43653"/>
                  </a:lnTo>
                  <a:lnTo>
                    <a:pt x="620125" y="56617"/>
                  </a:lnTo>
                  <a:lnTo>
                    <a:pt x="626755" y="70837"/>
                  </a:lnTo>
                  <a:lnTo>
                    <a:pt x="631517" y="86125"/>
                  </a:lnTo>
                  <a:lnTo>
                    <a:pt x="634422" y="102270"/>
                  </a:lnTo>
                  <a:lnTo>
                    <a:pt x="635432" y="119101"/>
                  </a:lnTo>
                  <a:lnTo>
                    <a:pt x="634546" y="136417"/>
                  </a:lnTo>
                  <a:lnTo>
                    <a:pt x="631746" y="154029"/>
                  </a:lnTo>
                  <a:lnTo>
                    <a:pt x="627012" y="171736"/>
                  </a:lnTo>
                  <a:lnTo>
                    <a:pt x="620335" y="189367"/>
                  </a:lnTo>
                  <a:lnTo>
                    <a:pt x="611705" y="206712"/>
                  </a:lnTo>
                  <a:lnTo>
                    <a:pt x="601094" y="223580"/>
                  </a:lnTo>
                  <a:lnTo>
                    <a:pt x="593036" y="235087"/>
                  </a:lnTo>
                  <a:lnTo>
                    <a:pt x="585483" y="246440"/>
                  </a:lnTo>
                  <a:lnTo>
                    <a:pt x="578491" y="257718"/>
                  </a:lnTo>
                  <a:lnTo>
                    <a:pt x="572110" y="269005"/>
                  </a:lnTo>
                  <a:lnTo>
                    <a:pt x="566414" y="280359"/>
                  </a:lnTo>
                  <a:lnTo>
                    <a:pt x="561451" y="291865"/>
                  </a:lnTo>
                  <a:lnTo>
                    <a:pt x="557279" y="303590"/>
                  </a:lnTo>
                  <a:lnTo>
                    <a:pt x="553974" y="315611"/>
                  </a:lnTo>
                  <a:lnTo>
                    <a:pt x="551574" y="327993"/>
                  </a:lnTo>
                  <a:lnTo>
                    <a:pt x="550145" y="340824"/>
                  </a:lnTo>
                  <a:lnTo>
                    <a:pt x="549754" y="354168"/>
                  </a:lnTo>
                  <a:lnTo>
                    <a:pt x="550450" y="368103"/>
                  </a:lnTo>
                  <a:lnTo>
                    <a:pt x="552288" y="382695"/>
                  </a:lnTo>
                  <a:lnTo>
                    <a:pt x="555346" y="398031"/>
                  </a:lnTo>
                  <a:lnTo>
                    <a:pt x="559660" y="414176"/>
                  </a:lnTo>
                  <a:lnTo>
                    <a:pt x="572414" y="440569"/>
                  </a:lnTo>
                  <a:lnTo>
                    <a:pt x="581006" y="466630"/>
                  </a:lnTo>
                  <a:lnTo>
                    <a:pt x="585711" y="492271"/>
                  </a:lnTo>
                  <a:lnTo>
                    <a:pt x="586797" y="517379"/>
                  </a:lnTo>
                  <a:lnTo>
                    <a:pt x="584521" y="541849"/>
                  </a:lnTo>
                  <a:lnTo>
                    <a:pt x="579149" y="565595"/>
                  </a:lnTo>
                  <a:lnTo>
                    <a:pt x="570957" y="588493"/>
                  </a:lnTo>
                  <a:lnTo>
                    <a:pt x="560194" y="610448"/>
                  </a:lnTo>
                  <a:lnTo>
                    <a:pt x="547135" y="631355"/>
                  </a:lnTo>
                  <a:lnTo>
                    <a:pt x="532038" y="651119"/>
                  </a:lnTo>
                  <a:lnTo>
                    <a:pt x="515179" y="669627"/>
                  </a:lnTo>
                  <a:lnTo>
                    <a:pt x="496814" y="686781"/>
                  </a:lnTo>
                  <a:lnTo>
                    <a:pt x="477212" y="702469"/>
                  </a:lnTo>
                  <a:lnTo>
                    <a:pt x="456638" y="716604"/>
                  </a:lnTo>
                  <a:lnTo>
                    <a:pt x="435359" y="729072"/>
                  </a:lnTo>
                  <a:lnTo>
                    <a:pt x="408118" y="738921"/>
                  </a:lnTo>
                  <a:lnTo>
                    <a:pt x="379619" y="745360"/>
                  </a:lnTo>
                  <a:lnTo>
                    <a:pt x="350168" y="748494"/>
                  </a:lnTo>
                  <a:lnTo>
                    <a:pt x="320059" y="748446"/>
                  </a:lnTo>
                  <a:lnTo>
                    <a:pt x="289570" y="745341"/>
                  </a:lnTo>
                  <a:lnTo>
                    <a:pt x="259013" y="739283"/>
                  </a:lnTo>
                  <a:lnTo>
                    <a:pt x="228686" y="730396"/>
                  </a:lnTo>
                  <a:lnTo>
                    <a:pt x="198863" y="718795"/>
                  </a:lnTo>
                  <a:lnTo>
                    <a:pt x="169850" y="704612"/>
                  </a:lnTo>
                  <a:lnTo>
                    <a:pt x="141951" y="687943"/>
                  </a:lnTo>
                  <a:lnTo>
                    <a:pt x="115443" y="668922"/>
                  </a:lnTo>
                  <a:lnTo>
                    <a:pt x="90630" y="647662"/>
                  </a:lnTo>
                  <a:lnTo>
                    <a:pt x="67808" y="624278"/>
                  </a:lnTo>
                  <a:lnTo>
                    <a:pt x="47273" y="598894"/>
                  </a:lnTo>
                  <a:lnTo>
                    <a:pt x="29308" y="571624"/>
                  </a:lnTo>
                  <a:lnTo>
                    <a:pt x="23012" y="553822"/>
                  </a:lnTo>
                  <a:lnTo>
                    <a:pt x="17412" y="536829"/>
                  </a:lnTo>
                  <a:lnTo>
                    <a:pt x="12535" y="520579"/>
                  </a:lnTo>
                  <a:lnTo>
                    <a:pt x="8411" y="504987"/>
                  </a:lnTo>
                  <a:lnTo>
                    <a:pt x="5058" y="489985"/>
                  </a:lnTo>
                  <a:lnTo>
                    <a:pt x="2524" y="475498"/>
                  </a:lnTo>
                  <a:lnTo>
                    <a:pt x="829" y="461458"/>
                  </a:lnTo>
                  <a:lnTo>
                    <a:pt x="0" y="447780"/>
                  </a:lnTo>
                  <a:lnTo>
                    <a:pt x="76" y="434397"/>
                  </a:lnTo>
                  <a:lnTo>
                    <a:pt x="1076" y="421234"/>
                  </a:lnTo>
                  <a:lnTo>
                    <a:pt x="3029" y="408222"/>
                  </a:lnTo>
                  <a:lnTo>
                    <a:pt x="5972" y="395278"/>
                  </a:lnTo>
                  <a:lnTo>
                    <a:pt x="9935" y="382343"/>
                  </a:lnTo>
                  <a:lnTo>
                    <a:pt x="14935" y="369332"/>
                  </a:lnTo>
                  <a:lnTo>
                    <a:pt x="21022" y="356168"/>
                  </a:lnTo>
                  <a:close/>
                </a:path>
              </a:pathLst>
            </a:custGeom>
            <a:solidFill>
              <a:srgbClr val="BA8A51"/>
            </a:solidFill>
            <a:ln w="14087">
              <a:solidFill>
                <a:srgbClr val="4A5147"/>
              </a:solidFill>
              <a:prstDash val="solid"/>
            </a:ln>
          </p:spPr>
          <p:txBody>
            <a:bodyPr/>
            <a:lstStyle/>
            <a:p>
              <a:endParaRPr sz="1200"/>
            </a:p>
          </p:txBody>
        </p:sp>
        <p:sp>
          <p:nvSpPr>
            <p:cNvPr id="236" name="s2-managed-rooster__contour_236">
              <a:extLst>
                <a:ext uri="{FF2B5EF4-FFF2-40B4-BE49-F238E27FC236}">
                  <a16:creationId xmlns:a16="http://schemas.microsoft.com/office/drawing/2014/main" id="{5FAA902E-7DA5-4FD1-88A4-FD7EA28D7648}"/>
                </a:ext>
              </a:extLst>
            </p:cNvPr>
            <p:cNvSpPr>
              <a:spLocks/>
            </p:cNvSpPr>
            <p:nvPr/>
          </p:nvSpPr>
          <p:spPr>
            <a:xfrm>
              <a:off x="3676015" y="3668523"/>
              <a:ext cx="298189" cy="305523"/>
            </a:xfrm>
            <a:custGeom>
              <a:avLst/>
              <a:gdLst/>
              <a:ahLst/>
              <a:cxnLst/>
              <a:rect l="0" t="0" r="0" b="0"/>
              <a:pathLst>
                <a:path w="447284" h="458286">
                  <a:moveTo>
                    <a:pt x="223742" y="0"/>
                  </a:moveTo>
                  <a:lnTo>
                    <a:pt x="240411" y="2219"/>
                  </a:lnTo>
                  <a:lnTo>
                    <a:pt x="257175" y="5563"/>
                  </a:lnTo>
                  <a:lnTo>
                    <a:pt x="273929" y="10077"/>
                  </a:lnTo>
                  <a:lnTo>
                    <a:pt x="290551" y="15783"/>
                  </a:lnTo>
                  <a:lnTo>
                    <a:pt x="306915" y="22708"/>
                  </a:lnTo>
                  <a:lnTo>
                    <a:pt x="322917" y="30890"/>
                  </a:lnTo>
                  <a:lnTo>
                    <a:pt x="338433" y="40357"/>
                  </a:lnTo>
                  <a:lnTo>
                    <a:pt x="353349" y="51130"/>
                  </a:lnTo>
                  <a:lnTo>
                    <a:pt x="367532" y="63246"/>
                  </a:lnTo>
                  <a:lnTo>
                    <a:pt x="380886" y="76733"/>
                  </a:lnTo>
                  <a:lnTo>
                    <a:pt x="393278" y="91611"/>
                  </a:lnTo>
                  <a:lnTo>
                    <a:pt x="404593" y="107928"/>
                  </a:lnTo>
                  <a:lnTo>
                    <a:pt x="414719" y="125701"/>
                  </a:lnTo>
                  <a:lnTo>
                    <a:pt x="423529" y="144961"/>
                  </a:lnTo>
                  <a:lnTo>
                    <a:pt x="430911" y="165735"/>
                  </a:lnTo>
                  <a:lnTo>
                    <a:pt x="440360" y="192119"/>
                  </a:lnTo>
                  <a:lnTo>
                    <a:pt x="445703" y="218113"/>
                  </a:lnTo>
                  <a:lnTo>
                    <a:pt x="447284" y="243564"/>
                  </a:lnTo>
                  <a:lnTo>
                    <a:pt x="445418" y="268310"/>
                  </a:lnTo>
                  <a:lnTo>
                    <a:pt x="440426" y="292189"/>
                  </a:lnTo>
                  <a:lnTo>
                    <a:pt x="432635" y="315030"/>
                  </a:lnTo>
                  <a:lnTo>
                    <a:pt x="422367" y="336680"/>
                  </a:lnTo>
                  <a:lnTo>
                    <a:pt x="409956" y="356978"/>
                  </a:lnTo>
                  <a:lnTo>
                    <a:pt x="395707" y="375752"/>
                  </a:lnTo>
                  <a:lnTo>
                    <a:pt x="379962" y="392849"/>
                  </a:lnTo>
                  <a:lnTo>
                    <a:pt x="363036" y="408108"/>
                  </a:lnTo>
                  <a:lnTo>
                    <a:pt x="345262" y="421367"/>
                  </a:lnTo>
                  <a:lnTo>
                    <a:pt x="326946" y="432454"/>
                  </a:lnTo>
                  <a:lnTo>
                    <a:pt x="308439" y="441217"/>
                  </a:lnTo>
                  <a:lnTo>
                    <a:pt x="290036" y="447485"/>
                  </a:lnTo>
                  <a:lnTo>
                    <a:pt x="265300" y="454142"/>
                  </a:lnTo>
                  <a:lnTo>
                    <a:pt x="240897" y="457686"/>
                  </a:lnTo>
                  <a:lnTo>
                    <a:pt x="216913" y="458286"/>
                  </a:lnTo>
                  <a:lnTo>
                    <a:pt x="193462" y="456152"/>
                  </a:lnTo>
                  <a:lnTo>
                    <a:pt x="170650" y="451475"/>
                  </a:lnTo>
                  <a:lnTo>
                    <a:pt x="148561" y="444436"/>
                  </a:lnTo>
                  <a:lnTo>
                    <a:pt x="127321" y="435226"/>
                  </a:lnTo>
                  <a:lnTo>
                    <a:pt x="107023" y="424053"/>
                  </a:lnTo>
                  <a:lnTo>
                    <a:pt x="87773" y="411089"/>
                  </a:lnTo>
                  <a:lnTo>
                    <a:pt x="69666" y="396535"/>
                  </a:lnTo>
                  <a:lnTo>
                    <a:pt x="52816" y="380581"/>
                  </a:lnTo>
                  <a:lnTo>
                    <a:pt x="37319" y="363426"/>
                  </a:lnTo>
                  <a:lnTo>
                    <a:pt x="23289" y="345243"/>
                  </a:lnTo>
                  <a:lnTo>
                    <a:pt x="10811" y="326241"/>
                  </a:lnTo>
                  <a:lnTo>
                    <a:pt x="0" y="306610"/>
                  </a:lnTo>
                  <a:lnTo>
                    <a:pt x="21003" y="298885"/>
                  </a:lnTo>
                  <a:lnTo>
                    <a:pt x="40938" y="289027"/>
                  </a:lnTo>
                  <a:lnTo>
                    <a:pt x="59865" y="277111"/>
                  </a:lnTo>
                  <a:lnTo>
                    <a:pt x="77810" y="263195"/>
                  </a:lnTo>
                  <a:lnTo>
                    <a:pt x="94840" y="247374"/>
                  </a:lnTo>
                  <a:lnTo>
                    <a:pt x="110976" y="229705"/>
                  </a:lnTo>
                  <a:lnTo>
                    <a:pt x="126273" y="210274"/>
                  </a:lnTo>
                  <a:lnTo>
                    <a:pt x="140779" y="189147"/>
                  </a:lnTo>
                  <a:lnTo>
                    <a:pt x="154534" y="166402"/>
                  </a:lnTo>
                  <a:lnTo>
                    <a:pt x="167573" y="142103"/>
                  </a:lnTo>
                  <a:lnTo>
                    <a:pt x="179956" y="116338"/>
                  </a:lnTo>
                  <a:lnTo>
                    <a:pt x="191719" y="89164"/>
                  </a:lnTo>
                  <a:lnTo>
                    <a:pt x="202911" y="60674"/>
                  </a:lnTo>
                  <a:lnTo>
                    <a:pt x="213570" y="30928"/>
                  </a:lnTo>
                  <a:lnTo>
                    <a:pt x="223742" y="0"/>
                  </a:lnTo>
                  <a:close/>
                </a:path>
              </a:pathLst>
            </a:custGeom>
            <a:solidFill>
              <a:srgbClr val="A9865B"/>
            </a:solidFill>
            <a:ln w="14087">
              <a:noFill/>
              <a:prstDash val="solid"/>
            </a:ln>
          </p:spPr>
          <p:txBody>
            <a:bodyPr/>
            <a:lstStyle/>
            <a:p>
              <a:endParaRPr sz="1200"/>
            </a:p>
          </p:txBody>
        </p:sp>
        <p:sp>
          <p:nvSpPr>
            <p:cNvPr id="237" name="s2-managed-rooster__contour_237">
              <a:extLst>
                <a:ext uri="{FF2B5EF4-FFF2-40B4-BE49-F238E27FC236}">
                  <a16:creationId xmlns:a16="http://schemas.microsoft.com/office/drawing/2014/main" id="{3434A036-A377-42F9-BE20-D53DAE6861CF}"/>
                </a:ext>
              </a:extLst>
            </p:cNvPr>
            <p:cNvSpPr>
              <a:spLocks/>
            </p:cNvSpPr>
            <p:nvPr/>
          </p:nvSpPr>
          <p:spPr>
            <a:xfrm>
              <a:off x="3803079" y="3489040"/>
              <a:ext cx="191833" cy="312070"/>
            </a:xfrm>
            <a:custGeom>
              <a:avLst/>
              <a:gdLst/>
              <a:ahLst/>
              <a:cxnLst/>
              <a:rect l="0" t="0" r="0" b="0"/>
              <a:pathLst>
                <a:path w="287750" h="468106">
                  <a:moveTo>
                    <a:pt x="124301" y="62055"/>
                  </a:moveTo>
                  <a:lnTo>
                    <a:pt x="127025" y="49368"/>
                  </a:lnTo>
                  <a:lnTo>
                    <a:pt x="131740" y="37881"/>
                  </a:lnTo>
                  <a:lnTo>
                    <a:pt x="138227" y="27718"/>
                  </a:lnTo>
                  <a:lnTo>
                    <a:pt x="146256" y="18955"/>
                  </a:lnTo>
                  <a:lnTo>
                    <a:pt x="155610" y="11725"/>
                  </a:lnTo>
                  <a:lnTo>
                    <a:pt x="166068" y="6106"/>
                  </a:lnTo>
                  <a:lnTo>
                    <a:pt x="177413" y="2210"/>
                  </a:lnTo>
                  <a:lnTo>
                    <a:pt x="189414" y="143"/>
                  </a:lnTo>
                  <a:lnTo>
                    <a:pt x="201863" y="0"/>
                  </a:lnTo>
                  <a:lnTo>
                    <a:pt x="214532" y="1895"/>
                  </a:lnTo>
                  <a:lnTo>
                    <a:pt x="227200" y="5934"/>
                  </a:lnTo>
                  <a:lnTo>
                    <a:pt x="239649" y="12202"/>
                  </a:lnTo>
                  <a:lnTo>
                    <a:pt x="251660" y="20812"/>
                  </a:lnTo>
                  <a:lnTo>
                    <a:pt x="263004" y="31871"/>
                  </a:lnTo>
                  <a:lnTo>
                    <a:pt x="273463" y="45482"/>
                  </a:lnTo>
                  <a:lnTo>
                    <a:pt x="280464" y="62160"/>
                  </a:lnTo>
                  <a:lnTo>
                    <a:pt x="285026" y="78991"/>
                  </a:lnTo>
                  <a:lnTo>
                    <a:pt x="287388" y="95936"/>
                  </a:lnTo>
                  <a:lnTo>
                    <a:pt x="287750" y="112919"/>
                  </a:lnTo>
                  <a:lnTo>
                    <a:pt x="286350" y="129883"/>
                  </a:lnTo>
                  <a:lnTo>
                    <a:pt x="283407" y="146780"/>
                  </a:lnTo>
                  <a:lnTo>
                    <a:pt x="279130" y="163544"/>
                  </a:lnTo>
                  <a:lnTo>
                    <a:pt x="273758" y="180108"/>
                  </a:lnTo>
                  <a:lnTo>
                    <a:pt x="267500" y="196434"/>
                  </a:lnTo>
                  <a:lnTo>
                    <a:pt x="260575" y="212446"/>
                  </a:lnTo>
                  <a:lnTo>
                    <a:pt x="253203" y="228086"/>
                  </a:lnTo>
                  <a:lnTo>
                    <a:pt x="245621" y="243307"/>
                  </a:lnTo>
                  <a:lnTo>
                    <a:pt x="238030" y="258032"/>
                  </a:lnTo>
                  <a:lnTo>
                    <a:pt x="230667" y="272215"/>
                  </a:lnTo>
                  <a:lnTo>
                    <a:pt x="223742" y="285798"/>
                  </a:lnTo>
                  <a:lnTo>
                    <a:pt x="215456" y="426672"/>
                  </a:lnTo>
                  <a:lnTo>
                    <a:pt x="174022" y="368665"/>
                  </a:lnTo>
                  <a:lnTo>
                    <a:pt x="149162" y="468106"/>
                  </a:lnTo>
                  <a:lnTo>
                    <a:pt x="107728" y="393525"/>
                  </a:lnTo>
                  <a:lnTo>
                    <a:pt x="58007" y="451533"/>
                  </a:lnTo>
                  <a:lnTo>
                    <a:pt x="49721" y="327231"/>
                  </a:lnTo>
                  <a:lnTo>
                    <a:pt x="0" y="352092"/>
                  </a:lnTo>
                  <a:lnTo>
                    <a:pt x="12821" y="323745"/>
                  </a:lnTo>
                  <a:lnTo>
                    <a:pt x="24813" y="298161"/>
                  </a:lnTo>
                  <a:lnTo>
                    <a:pt x="35995" y="274996"/>
                  </a:lnTo>
                  <a:lnTo>
                    <a:pt x="46434" y="253898"/>
                  </a:lnTo>
                  <a:lnTo>
                    <a:pt x="56169" y="234544"/>
                  </a:lnTo>
                  <a:lnTo>
                    <a:pt x="65237" y="216589"/>
                  </a:lnTo>
                  <a:lnTo>
                    <a:pt x="73685" y="199692"/>
                  </a:lnTo>
                  <a:lnTo>
                    <a:pt x="81553" y="183518"/>
                  </a:lnTo>
                  <a:lnTo>
                    <a:pt x="88897" y="167726"/>
                  </a:lnTo>
                  <a:lnTo>
                    <a:pt x="95755" y="151981"/>
                  </a:lnTo>
                  <a:lnTo>
                    <a:pt x="102175" y="135941"/>
                  </a:lnTo>
                  <a:lnTo>
                    <a:pt x="108194" y="119263"/>
                  </a:lnTo>
                  <a:lnTo>
                    <a:pt x="113852" y="101622"/>
                  </a:lnTo>
                  <a:lnTo>
                    <a:pt x="119215" y="82667"/>
                  </a:lnTo>
                  <a:lnTo>
                    <a:pt x="124301" y="62055"/>
                  </a:lnTo>
                  <a:close/>
                </a:path>
              </a:pathLst>
            </a:custGeom>
            <a:solidFill>
              <a:srgbClr val="D9B271"/>
            </a:solidFill>
            <a:ln w="9115">
              <a:solidFill>
                <a:srgbClr val="8D683E"/>
              </a:solidFill>
              <a:prstDash val="solid"/>
            </a:ln>
          </p:spPr>
          <p:txBody>
            <a:bodyPr/>
            <a:lstStyle/>
            <a:p>
              <a:endParaRPr sz="1200"/>
            </a:p>
          </p:txBody>
        </p:sp>
        <p:sp>
          <p:nvSpPr>
            <p:cNvPr id="238" name="s2-managed-rooster__line_238">
              <a:extLst>
                <a:ext uri="{FF2B5EF4-FFF2-40B4-BE49-F238E27FC236}">
                  <a16:creationId xmlns:a16="http://schemas.microsoft.com/office/drawing/2014/main" id="{E95C4026-8D92-478B-B005-4D846241EC09}"/>
                </a:ext>
              </a:extLst>
            </p:cNvPr>
            <p:cNvSpPr>
              <a:spLocks/>
            </p:cNvSpPr>
            <p:nvPr/>
          </p:nvSpPr>
          <p:spPr>
            <a:xfrm>
              <a:off x="3852799" y="3591180"/>
              <a:ext cx="38671" cy="110489"/>
            </a:xfrm>
            <a:custGeom>
              <a:avLst/>
              <a:gdLst/>
              <a:ahLst/>
              <a:cxnLst/>
              <a:rect l="0" t="0" r="0" b="0"/>
              <a:pathLst>
                <a:path w="58007" h="165735">
                  <a:moveTo>
                    <a:pt x="58007" y="0"/>
                  </a:moveTo>
                  <a:lnTo>
                    <a:pt x="0" y="165735"/>
                  </a:lnTo>
                </a:path>
              </a:pathLst>
            </a:custGeom>
            <a:noFill/>
            <a:ln w="8287">
              <a:solidFill>
                <a:srgbClr val="9C713D"/>
              </a:solidFill>
              <a:prstDash val="solid"/>
            </a:ln>
          </p:spPr>
          <p:txBody>
            <a:bodyPr/>
            <a:lstStyle/>
            <a:p>
              <a:endParaRPr sz="1200"/>
            </a:p>
          </p:txBody>
        </p:sp>
        <p:sp>
          <p:nvSpPr>
            <p:cNvPr id="239" name="s2-managed-rooster__line_239">
              <a:extLst>
                <a:ext uri="{FF2B5EF4-FFF2-40B4-BE49-F238E27FC236}">
                  <a16:creationId xmlns:a16="http://schemas.microsoft.com/office/drawing/2014/main" id="{6E1314A4-963D-4CC8-B1FA-DD26DBE2DA3A}"/>
                </a:ext>
              </a:extLst>
            </p:cNvPr>
            <p:cNvSpPr>
              <a:spLocks/>
            </p:cNvSpPr>
            <p:nvPr/>
          </p:nvSpPr>
          <p:spPr>
            <a:xfrm>
              <a:off x="3896995" y="3596704"/>
              <a:ext cx="22098" cy="138112"/>
            </a:xfrm>
            <a:custGeom>
              <a:avLst/>
              <a:gdLst/>
              <a:ahLst/>
              <a:cxnLst/>
              <a:rect l="0" t="0" r="0" b="0"/>
              <a:pathLst>
                <a:path w="33147" h="207169">
                  <a:moveTo>
                    <a:pt x="33147" y="0"/>
                  </a:moveTo>
                  <a:lnTo>
                    <a:pt x="0" y="207169"/>
                  </a:lnTo>
                </a:path>
              </a:pathLst>
            </a:custGeom>
            <a:noFill/>
            <a:ln w="8287">
              <a:solidFill>
                <a:srgbClr val="9C713D"/>
              </a:solidFill>
              <a:prstDash val="solid"/>
            </a:ln>
          </p:spPr>
          <p:txBody>
            <a:bodyPr/>
            <a:lstStyle/>
            <a:p>
              <a:endParaRPr sz="1200"/>
            </a:p>
          </p:txBody>
        </p:sp>
        <p:sp>
          <p:nvSpPr>
            <p:cNvPr id="240" name="s2-managed-rooster__line_240">
              <a:extLst>
                <a:ext uri="{FF2B5EF4-FFF2-40B4-BE49-F238E27FC236}">
                  <a16:creationId xmlns:a16="http://schemas.microsoft.com/office/drawing/2014/main" id="{9FA528F6-71B7-4200-979D-684C5DB7193E}"/>
                </a:ext>
              </a:extLst>
            </p:cNvPr>
            <p:cNvSpPr>
              <a:spLocks/>
            </p:cNvSpPr>
            <p:nvPr/>
          </p:nvSpPr>
          <p:spPr>
            <a:xfrm>
              <a:off x="3935667" y="3596704"/>
              <a:ext cx="11049" cy="104965"/>
            </a:xfrm>
            <a:custGeom>
              <a:avLst/>
              <a:gdLst/>
              <a:ahLst/>
              <a:cxnLst/>
              <a:rect l="0" t="0" r="0" b="0"/>
              <a:pathLst>
                <a:path w="16574" h="157448">
                  <a:moveTo>
                    <a:pt x="16574" y="0"/>
                  </a:moveTo>
                  <a:lnTo>
                    <a:pt x="0" y="157448"/>
                  </a:lnTo>
                </a:path>
              </a:pathLst>
            </a:custGeom>
            <a:noFill/>
            <a:ln w="8287">
              <a:solidFill>
                <a:srgbClr val="9C713D"/>
              </a:solidFill>
              <a:prstDash val="solid"/>
            </a:ln>
          </p:spPr>
          <p:txBody>
            <a:bodyPr/>
            <a:lstStyle/>
            <a:p>
              <a:endParaRPr sz="1200"/>
            </a:p>
          </p:txBody>
        </p:sp>
        <p:sp>
          <p:nvSpPr>
            <p:cNvPr id="241" name="s2-managed-rooster__contour_241">
              <a:extLst>
                <a:ext uri="{FF2B5EF4-FFF2-40B4-BE49-F238E27FC236}">
                  <a16:creationId xmlns:a16="http://schemas.microsoft.com/office/drawing/2014/main" id="{3D75CB0F-FC46-473F-BCCE-082DA715670B}"/>
                </a:ext>
              </a:extLst>
            </p:cNvPr>
            <p:cNvSpPr>
              <a:spLocks/>
            </p:cNvSpPr>
            <p:nvPr/>
          </p:nvSpPr>
          <p:spPr>
            <a:xfrm>
              <a:off x="3608749" y="3711493"/>
              <a:ext cx="221951" cy="151364"/>
            </a:xfrm>
            <a:custGeom>
              <a:avLst/>
              <a:gdLst/>
              <a:ahLst/>
              <a:cxnLst/>
              <a:rect l="0" t="0" r="0" b="0"/>
              <a:pathLst>
                <a:path w="332927" h="227047">
                  <a:moveTo>
                    <a:pt x="18031" y="43272"/>
                  </a:moveTo>
                  <a:lnTo>
                    <a:pt x="42977" y="28337"/>
                  </a:lnTo>
                  <a:lnTo>
                    <a:pt x="67999" y="16640"/>
                  </a:lnTo>
                  <a:lnTo>
                    <a:pt x="92945" y="8068"/>
                  </a:lnTo>
                  <a:lnTo>
                    <a:pt x="117672" y="2553"/>
                  </a:lnTo>
                  <a:lnTo>
                    <a:pt x="142027" y="0"/>
                  </a:lnTo>
                  <a:lnTo>
                    <a:pt x="165868" y="314"/>
                  </a:lnTo>
                  <a:lnTo>
                    <a:pt x="189043" y="3410"/>
                  </a:lnTo>
                  <a:lnTo>
                    <a:pt x="211417" y="9211"/>
                  </a:lnTo>
                  <a:lnTo>
                    <a:pt x="232820" y="17612"/>
                  </a:lnTo>
                  <a:lnTo>
                    <a:pt x="253127" y="28537"/>
                  </a:lnTo>
                  <a:lnTo>
                    <a:pt x="272186" y="41891"/>
                  </a:lnTo>
                  <a:lnTo>
                    <a:pt x="289836" y="57588"/>
                  </a:lnTo>
                  <a:lnTo>
                    <a:pt x="305943" y="75543"/>
                  </a:lnTo>
                  <a:lnTo>
                    <a:pt x="320354" y="95660"/>
                  </a:lnTo>
                  <a:lnTo>
                    <a:pt x="332927" y="117853"/>
                  </a:lnTo>
                  <a:lnTo>
                    <a:pt x="325450" y="135207"/>
                  </a:lnTo>
                  <a:lnTo>
                    <a:pt x="316392" y="150857"/>
                  </a:lnTo>
                  <a:lnTo>
                    <a:pt x="305943" y="164859"/>
                  </a:lnTo>
                  <a:lnTo>
                    <a:pt x="294313" y="177260"/>
                  </a:lnTo>
                  <a:lnTo>
                    <a:pt x="281673" y="188138"/>
                  </a:lnTo>
                  <a:lnTo>
                    <a:pt x="268224" y="197539"/>
                  </a:lnTo>
                  <a:lnTo>
                    <a:pt x="254156" y="205521"/>
                  </a:lnTo>
                  <a:lnTo>
                    <a:pt x="239668" y="212160"/>
                  </a:lnTo>
                  <a:lnTo>
                    <a:pt x="224933" y="217494"/>
                  </a:lnTo>
                  <a:lnTo>
                    <a:pt x="210160" y="221590"/>
                  </a:lnTo>
                  <a:lnTo>
                    <a:pt x="195539" y="224514"/>
                  </a:lnTo>
                  <a:lnTo>
                    <a:pt x="181251" y="226314"/>
                  </a:lnTo>
                  <a:lnTo>
                    <a:pt x="167488" y="227047"/>
                  </a:lnTo>
                  <a:lnTo>
                    <a:pt x="154457" y="226790"/>
                  </a:lnTo>
                  <a:lnTo>
                    <a:pt x="142332" y="225581"/>
                  </a:lnTo>
                  <a:lnTo>
                    <a:pt x="117472" y="200720"/>
                  </a:lnTo>
                  <a:lnTo>
                    <a:pt x="84325" y="200720"/>
                  </a:lnTo>
                  <a:lnTo>
                    <a:pt x="34604" y="151000"/>
                  </a:lnTo>
                  <a:lnTo>
                    <a:pt x="28204" y="142818"/>
                  </a:lnTo>
                  <a:lnTo>
                    <a:pt x="22308" y="134845"/>
                  </a:lnTo>
                  <a:lnTo>
                    <a:pt x="16974" y="127064"/>
                  </a:lnTo>
                  <a:lnTo>
                    <a:pt x="12249" y="119463"/>
                  </a:lnTo>
                  <a:lnTo>
                    <a:pt x="8211" y="112024"/>
                  </a:lnTo>
                  <a:lnTo>
                    <a:pt x="4905" y="104727"/>
                  </a:lnTo>
                  <a:lnTo>
                    <a:pt x="2391" y="97565"/>
                  </a:lnTo>
                  <a:lnTo>
                    <a:pt x="743" y="90516"/>
                  </a:lnTo>
                  <a:lnTo>
                    <a:pt x="0" y="83582"/>
                  </a:lnTo>
                  <a:lnTo>
                    <a:pt x="229" y="76724"/>
                  </a:lnTo>
                  <a:lnTo>
                    <a:pt x="1495" y="69942"/>
                  </a:lnTo>
                  <a:lnTo>
                    <a:pt x="3848" y="63227"/>
                  </a:lnTo>
                  <a:lnTo>
                    <a:pt x="7344" y="56550"/>
                  </a:lnTo>
                  <a:lnTo>
                    <a:pt x="12059" y="49901"/>
                  </a:lnTo>
                  <a:lnTo>
                    <a:pt x="18031" y="43272"/>
                  </a:lnTo>
                  <a:close/>
                </a:path>
              </a:pathLst>
            </a:custGeom>
            <a:solidFill>
              <a:srgbClr val="A97849"/>
            </a:solidFill>
            <a:ln w="14087">
              <a:solidFill>
                <a:srgbClr val="4A5147"/>
              </a:solidFill>
              <a:prstDash val="solid"/>
            </a:ln>
          </p:spPr>
          <p:txBody>
            <a:bodyPr/>
            <a:lstStyle/>
            <a:p>
              <a:endParaRPr sz="1200"/>
            </a:p>
          </p:txBody>
        </p:sp>
        <p:sp>
          <p:nvSpPr>
            <p:cNvPr id="242" name="s2-managed-rooster__contour_242">
              <a:extLst>
                <a:ext uri="{FF2B5EF4-FFF2-40B4-BE49-F238E27FC236}">
                  <a16:creationId xmlns:a16="http://schemas.microsoft.com/office/drawing/2014/main" id="{9220BB47-29AB-4444-B878-754CF41A6AFC}"/>
                </a:ext>
              </a:extLst>
            </p:cNvPr>
            <p:cNvSpPr>
              <a:spLocks/>
            </p:cNvSpPr>
            <p:nvPr/>
          </p:nvSpPr>
          <p:spPr>
            <a:xfrm>
              <a:off x="3637343" y="3751479"/>
              <a:ext cx="160210" cy="55155"/>
            </a:xfrm>
            <a:custGeom>
              <a:avLst/>
              <a:gdLst/>
              <a:ahLst/>
              <a:cxnLst/>
              <a:rect l="0" t="0" r="0" b="0"/>
              <a:pathLst>
                <a:path w="240316" h="82734">
                  <a:moveTo>
                    <a:pt x="0" y="8153"/>
                  </a:moveTo>
                  <a:lnTo>
                    <a:pt x="19869" y="3943"/>
                  </a:lnTo>
                  <a:lnTo>
                    <a:pt x="39643" y="1248"/>
                  </a:lnTo>
                  <a:lnTo>
                    <a:pt x="59198" y="0"/>
                  </a:lnTo>
                  <a:lnTo>
                    <a:pt x="78457" y="171"/>
                  </a:lnTo>
                  <a:lnTo>
                    <a:pt x="97288" y="1705"/>
                  </a:lnTo>
                  <a:lnTo>
                    <a:pt x="115614" y="4572"/>
                  </a:lnTo>
                  <a:lnTo>
                    <a:pt x="133321" y="8725"/>
                  </a:lnTo>
                  <a:lnTo>
                    <a:pt x="150305" y="14107"/>
                  </a:lnTo>
                  <a:lnTo>
                    <a:pt x="166468" y="20679"/>
                  </a:lnTo>
                  <a:lnTo>
                    <a:pt x="181699" y="28413"/>
                  </a:lnTo>
                  <a:lnTo>
                    <a:pt x="195891" y="37243"/>
                  </a:lnTo>
                  <a:lnTo>
                    <a:pt x="208959" y="47130"/>
                  </a:lnTo>
                  <a:lnTo>
                    <a:pt x="220790" y="58045"/>
                  </a:lnTo>
                  <a:lnTo>
                    <a:pt x="231277" y="69923"/>
                  </a:lnTo>
                  <a:lnTo>
                    <a:pt x="240316" y="82734"/>
                  </a:lnTo>
                </a:path>
              </a:pathLst>
            </a:custGeom>
            <a:noFill/>
            <a:ln w="10773">
              <a:solidFill>
                <a:srgbClr val="D19051"/>
              </a:solidFill>
              <a:prstDash val="solid"/>
            </a:ln>
          </p:spPr>
          <p:txBody>
            <a:bodyPr/>
            <a:lstStyle/>
            <a:p>
              <a:endParaRPr sz="1200"/>
            </a:p>
          </p:txBody>
        </p:sp>
        <p:sp>
          <p:nvSpPr>
            <p:cNvPr id="243" name="s2-managed-rooster__contour_243">
              <a:extLst>
                <a:ext uri="{FF2B5EF4-FFF2-40B4-BE49-F238E27FC236}">
                  <a16:creationId xmlns:a16="http://schemas.microsoft.com/office/drawing/2014/main" id="{465D6B75-4B0D-4EDD-AEC0-8B3ACA110656}"/>
                </a:ext>
              </a:extLst>
            </p:cNvPr>
            <p:cNvSpPr>
              <a:spLocks/>
            </p:cNvSpPr>
            <p:nvPr/>
          </p:nvSpPr>
          <p:spPr>
            <a:xfrm>
              <a:off x="3877494" y="3413672"/>
              <a:ext cx="162693" cy="100164"/>
            </a:xfrm>
            <a:custGeom>
              <a:avLst/>
              <a:gdLst/>
              <a:ahLst/>
              <a:cxnLst/>
              <a:rect l="0" t="0" r="0" b="0"/>
              <a:pathLst>
                <a:path w="244040" h="150247">
                  <a:moveTo>
                    <a:pt x="37538" y="125387"/>
                  </a:moveTo>
                  <a:lnTo>
                    <a:pt x="26918" y="120310"/>
                  </a:lnTo>
                  <a:lnTo>
                    <a:pt x="18193" y="115081"/>
                  </a:lnTo>
                  <a:lnTo>
                    <a:pt x="11287" y="109738"/>
                  </a:lnTo>
                  <a:lnTo>
                    <a:pt x="6096" y="104356"/>
                  </a:lnTo>
                  <a:lnTo>
                    <a:pt x="2553" y="98993"/>
                  </a:lnTo>
                  <a:lnTo>
                    <a:pt x="543" y="93697"/>
                  </a:lnTo>
                  <a:lnTo>
                    <a:pt x="0" y="88535"/>
                  </a:lnTo>
                  <a:lnTo>
                    <a:pt x="829" y="83572"/>
                  </a:lnTo>
                  <a:lnTo>
                    <a:pt x="2934" y="78848"/>
                  </a:lnTo>
                  <a:lnTo>
                    <a:pt x="6229" y="74438"/>
                  </a:lnTo>
                  <a:lnTo>
                    <a:pt x="10639" y="70399"/>
                  </a:lnTo>
                  <a:lnTo>
                    <a:pt x="16059" y="66780"/>
                  </a:lnTo>
                  <a:lnTo>
                    <a:pt x="22412" y="63656"/>
                  </a:lnTo>
                  <a:lnTo>
                    <a:pt x="29594" y="61074"/>
                  </a:lnTo>
                  <a:lnTo>
                    <a:pt x="37538" y="59093"/>
                  </a:lnTo>
                  <a:lnTo>
                    <a:pt x="31775" y="52588"/>
                  </a:lnTo>
                  <a:lnTo>
                    <a:pt x="27661" y="46396"/>
                  </a:lnTo>
                  <a:lnTo>
                    <a:pt x="25079" y="40596"/>
                  </a:lnTo>
                  <a:lnTo>
                    <a:pt x="23908" y="35290"/>
                  </a:lnTo>
                  <a:lnTo>
                    <a:pt x="24032" y="30547"/>
                  </a:lnTo>
                  <a:lnTo>
                    <a:pt x="25336" y="26479"/>
                  </a:lnTo>
                  <a:lnTo>
                    <a:pt x="27708" y="23155"/>
                  </a:lnTo>
                  <a:lnTo>
                    <a:pt x="31013" y="20669"/>
                  </a:lnTo>
                  <a:lnTo>
                    <a:pt x="35147" y="19117"/>
                  </a:lnTo>
                  <a:lnTo>
                    <a:pt x="39995" y="18583"/>
                  </a:lnTo>
                  <a:lnTo>
                    <a:pt x="45425" y="19145"/>
                  </a:lnTo>
                  <a:lnTo>
                    <a:pt x="51330" y="20907"/>
                  </a:lnTo>
                  <a:lnTo>
                    <a:pt x="57579" y="23946"/>
                  </a:lnTo>
                  <a:lnTo>
                    <a:pt x="64075" y="28365"/>
                  </a:lnTo>
                  <a:lnTo>
                    <a:pt x="70685" y="34233"/>
                  </a:lnTo>
                  <a:lnTo>
                    <a:pt x="72761" y="25051"/>
                  </a:lnTo>
                  <a:lnTo>
                    <a:pt x="75590" y="17383"/>
                  </a:lnTo>
                  <a:lnTo>
                    <a:pt x="79038" y="11163"/>
                  </a:lnTo>
                  <a:lnTo>
                    <a:pt x="82972" y="6363"/>
                  </a:lnTo>
                  <a:lnTo>
                    <a:pt x="87259" y="2924"/>
                  </a:lnTo>
                  <a:lnTo>
                    <a:pt x="91764" y="819"/>
                  </a:lnTo>
                  <a:lnTo>
                    <a:pt x="96364" y="0"/>
                  </a:lnTo>
                  <a:lnTo>
                    <a:pt x="100917" y="410"/>
                  </a:lnTo>
                  <a:lnTo>
                    <a:pt x="105289" y="2010"/>
                  </a:lnTo>
                  <a:lnTo>
                    <a:pt x="109357" y="4772"/>
                  </a:lnTo>
                  <a:lnTo>
                    <a:pt x="112976" y="8630"/>
                  </a:lnTo>
                  <a:lnTo>
                    <a:pt x="116034" y="13545"/>
                  </a:lnTo>
                  <a:lnTo>
                    <a:pt x="118377" y="19488"/>
                  </a:lnTo>
                  <a:lnTo>
                    <a:pt x="119872" y="26394"/>
                  </a:lnTo>
                  <a:lnTo>
                    <a:pt x="120406" y="34233"/>
                  </a:lnTo>
                  <a:lnTo>
                    <a:pt x="128778" y="23822"/>
                  </a:lnTo>
                  <a:lnTo>
                    <a:pt x="137208" y="15716"/>
                  </a:lnTo>
                  <a:lnTo>
                    <a:pt x="145532" y="9773"/>
                  </a:lnTo>
                  <a:lnTo>
                    <a:pt x="153591" y="5858"/>
                  </a:lnTo>
                  <a:lnTo>
                    <a:pt x="161230" y="3848"/>
                  </a:lnTo>
                  <a:lnTo>
                    <a:pt x="168269" y="3600"/>
                  </a:lnTo>
                  <a:lnTo>
                    <a:pt x="174565" y="5001"/>
                  </a:lnTo>
                  <a:lnTo>
                    <a:pt x="179946" y="7896"/>
                  </a:lnTo>
                  <a:lnTo>
                    <a:pt x="184242" y="12154"/>
                  </a:lnTo>
                  <a:lnTo>
                    <a:pt x="187309" y="17659"/>
                  </a:lnTo>
                  <a:lnTo>
                    <a:pt x="188976" y="24270"/>
                  </a:lnTo>
                  <a:lnTo>
                    <a:pt x="189090" y="31842"/>
                  </a:lnTo>
                  <a:lnTo>
                    <a:pt x="187471" y="40262"/>
                  </a:lnTo>
                  <a:lnTo>
                    <a:pt x="183966" y="49397"/>
                  </a:lnTo>
                  <a:lnTo>
                    <a:pt x="178413" y="59093"/>
                  </a:lnTo>
                  <a:lnTo>
                    <a:pt x="191110" y="51997"/>
                  </a:lnTo>
                  <a:lnTo>
                    <a:pt x="202625" y="47168"/>
                  </a:lnTo>
                  <a:lnTo>
                    <a:pt x="212884" y="44444"/>
                  </a:lnTo>
                  <a:lnTo>
                    <a:pt x="221828" y="43663"/>
                  </a:lnTo>
                  <a:lnTo>
                    <a:pt x="229362" y="44672"/>
                  </a:lnTo>
                  <a:lnTo>
                    <a:pt x="235429" y="47292"/>
                  </a:lnTo>
                  <a:lnTo>
                    <a:pt x="239944" y="51378"/>
                  </a:lnTo>
                  <a:lnTo>
                    <a:pt x="242840" y="56759"/>
                  </a:lnTo>
                  <a:lnTo>
                    <a:pt x="244040" y="63265"/>
                  </a:lnTo>
                  <a:lnTo>
                    <a:pt x="243478" y="70752"/>
                  </a:lnTo>
                  <a:lnTo>
                    <a:pt x="241068" y="79048"/>
                  </a:lnTo>
                  <a:lnTo>
                    <a:pt x="236753" y="88001"/>
                  </a:lnTo>
                  <a:lnTo>
                    <a:pt x="230438" y="97431"/>
                  </a:lnTo>
                  <a:lnTo>
                    <a:pt x="222066" y="107185"/>
                  </a:lnTo>
                  <a:lnTo>
                    <a:pt x="211560" y="117100"/>
                  </a:lnTo>
                  <a:lnTo>
                    <a:pt x="153553" y="150247"/>
                  </a:lnTo>
                  <a:close/>
                </a:path>
              </a:pathLst>
            </a:custGeom>
            <a:solidFill>
              <a:srgbClr val="B8493E"/>
            </a:solidFill>
            <a:ln w="9115">
              <a:solidFill>
                <a:srgbClr val="803B33"/>
              </a:solidFill>
              <a:prstDash val="solid"/>
            </a:ln>
          </p:spPr>
          <p:txBody>
            <a:bodyPr/>
            <a:lstStyle/>
            <a:p>
              <a:endParaRPr sz="1200"/>
            </a:p>
          </p:txBody>
        </p:sp>
        <p:sp>
          <p:nvSpPr>
            <p:cNvPr id="244" name="s2-managed-rooster__contour_244">
              <a:extLst>
                <a:ext uri="{FF2B5EF4-FFF2-40B4-BE49-F238E27FC236}">
                  <a16:creationId xmlns:a16="http://schemas.microsoft.com/office/drawing/2014/main" id="{AA8CD076-1DEB-4EE4-B7F7-ABD755A84053}"/>
                </a:ext>
              </a:extLst>
            </p:cNvPr>
            <p:cNvSpPr>
              <a:spLocks/>
            </p:cNvSpPr>
            <p:nvPr/>
          </p:nvSpPr>
          <p:spPr>
            <a:xfrm>
              <a:off x="4007486" y="3552508"/>
              <a:ext cx="71818" cy="49720"/>
            </a:xfrm>
            <a:custGeom>
              <a:avLst/>
              <a:gdLst/>
              <a:ahLst/>
              <a:cxnLst/>
              <a:rect l="0" t="0" r="0" b="0"/>
              <a:pathLst>
                <a:path w="107728" h="74581">
                  <a:moveTo>
                    <a:pt x="0" y="0"/>
                  </a:moveTo>
                  <a:lnTo>
                    <a:pt x="107728" y="41434"/>
                  </a:lnTo>
                  <a:lnTo>
                    <a:pt x="8287" y="74581"/>
                  </a:lnTo>
                  <a:close/>
                </a:path>
              </a:pathLst>
            </a:custGeom>
            <a:solidFill>
              <a:srgbClr val="CEA653"/>
            </a:solidFill>
            <a:ln w="9115">
              <a:solidFill>
                <a:srgbClr val="8D7239"/>
              </a:solidFill>
              <a:prstDash val="solid"/>
            </a:ln>
          </p:spPr>
          <p:txBody>
            <a:bodyPr/>
            <a:lstStyle/>
            <a:p>
              <a:endParaRPr sz="1200"/>
            </a:p>
          </p:txBody>
        </p:sp>
        <p:sp>
          <p:nvSpPr>
            <p:cNvPr id="245" name="s2-managed-rooster__ellipse_245">
              <a:extLst>
                <a:ext uri="{FF2B5EF4-FFF2-40B4-BE49-F238E27FC236}">
                  <a16:creationId xmlns:a16="http://schemas.microsoft.com/office/drawing/2014/main" id="{AD22CAE1-98A8-4D54-AD09-BA4B7D4155DD}"/>
                </a:ext>
              </a:extLst>
            </p:cNvPr>
            <p:cNvSpPr>
              <a:spLocks/>
            </p:cNvSpPr>
            <p:nvPr/>
          </p:nvSpPr>
          <p:spPr>
            <a:xfrm>
              <a:off x="3952240" y="3607753"/>
              <a:ext cx="44196" cy="77343"/>
            </a:xfrm>
            <a:prstGeom prst="ellipse">
              <a:avLst/>
            </a:prstGeom>
            <a:solidFill>
              <a:srgbClr val="B8493E"/>
            </a:solidFill>
            <a:ln w="8287">
              <a:solidFill>
                <a:srgbClr val="803B33"/>
              </a:solidFill>
              <a:prstDash val="solid"/>
            </a:ln>
          </p:spPr>
          <p:txBody>
            <a:bodyPr/>
            <a:lstStyle/>
            <a:p>
              <a:endParaRPr sz="1200"/>
            </a:p>
          </p:txBody>
        </p:sp>
        <p:sp>
          <p:nvSpPr>
            <p:cNvPr id="246" name="s2-managed-rooster__ellipse_246">
              <a:extLst>
                <a:ext uri="{FF2B5EF4-FFF2-40B4-BE49-F238E27FC236}">
                  <a16:creationId xmlns:a16="http://schemas.microsoft.com/office/drawing/2014/main" id="{F770EAF9-40FA-4021-8D12-67604C47E15C}"/>
                </a:ext>
              </a:extLst>
            </p:cNvPr>
            <p:cNvSpPr>
              <a:spLocks/>
            </p:cNvSpPr>
            <p:nvPr/>
          </p:nvSpPr>
          <p:spPr>
            <a:xfrm>
              <a:off x="3963290" y="3552508"/>
              <a:ext cx="22098" cy="33147"/>
            </a:xfrm>
            <a:prstGeom prst="ellipse">
              <a:avLst/>
            </a:prstGeom>
            <a:solidFill>
              <a:srgbClr val="F2E7D1"/>
            </a:solidFill>
            <a:ln w="0">
              <a:noFill/>
              <a:prstDash val="solid"/>
            </a:ln>
          </p:spPr>
          <p:txBody>
            <a:bodyPr/>
            <a:lstStyle/>
            <a:p>
              <a:endParaRPr sz="1200"/>
            </a:p>
          </p:txBody>
        </p:sp>
        <p:sp>
          <p:nvSpPr>
            <p:cNvPr id="247" name="s2-managed-rooster__ellipse_247">
              <a:extLst>
                <a:ext uri="{FF2B5EF4-FFF2-40B4-BE49-F238E27FC236}">
                  <a16:creationId xmlns:a16="http://schemas.microsoft.com/office/drawing/2014/main" id="{19B6FDE5-52FE-4F08-9B59-94EC66EB11E2}"/>
                </a:ext>
              </a:extLst>
            </p:cNvPr>
            <p:cNvSpPr>
              <a:spLocks/>
            </p:cNvSpPr>
            <p:nvPr/>
          </p:nvSpPr>
          <p:spPr>
            <a:xfrm>
              <a:off x="3979863" y="3524886"/>
              <a:ext cx="22098" cy="22097"/>
            </a:xfrm>
            <a:prstGeom prst="ellipse">
              <a:avLst/>
            </a:prstGeom>
            <a:solidFill>
              <a:srgbClr val="1F2B28"/>
            </a:solidFill>
            <a:ln w="0">
              <a:noFill/>
              <a:prstDash val="solid"/>
            </a:ln>
          </p:spPr>
          <p:txBody>
            <a:bodyPr/>
            <a:lstStyle/>
            <a:p>
              <a:endParaRPr sz="1200"/>
            </a:p>
          </p:txBody>
        </p:sp>
        <p:sp>
          <p:nvSpPr>
            <p:cNvPr id="248" name="s2-managed-rooster__ellipse_248">
              <a:extLst>
                <a:ext uri="{FF2B5EF4-FFF2-40B4-BE49-F238E27FC236}">
                  <a16:creationId xmlns:a16="http://schemas.microsoft.com/office/drawing/2014/main" id="{2AF26D97-702A-45B6-9D47-B1B538920DFA}"/>
                </a:ext>
              </a:extLst>
            </p:cNvPr>
            <p:cNvSpPr>
              <a:spLocks/>
            </p:cNvSpPr>
            <p:nvPr/>
          </p:nvSpPr>
          <p:spPr>
            <a:xfrm>
              <a:off x="3984835" y="3525991"/>
              <a:ext cx="6076" cy="6076"/>
            </a:xfrm>
            <a:prstGeom prst="ellipse">
              <a:avLst/>
            </a:prstGeom>
            <a:solidFill>
              <a:srgbClr val="FFFFFF"/>
            </a:solidFill>
            <a:ln w="0">
              <a:noFill/>
              <a:prstDash val="solid"/>
            </a:ln>
          </p:spPr>
          <p:txBody>
            <a:bodyPr/>
            <a:lstStyle/>
            <a:p>
              <a:endParaRPr sz="1200"/>
            </a:p>
          </p:txBody>
        </p:sp>
        <p:sp>
          <p:nvSpPr>
            <p:cNvPr id="249" name="s2-managed-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1200"/>
            </a:p>
          </p:txBody>
        </p:sp>
        <p:sp>
          <p:nvSpPr>
            <p:cNvPr id="250" name="s2-managed-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1200"/>
            </a:p>
          </p:txBody>
        </p:sp>
        <p:sp>
          <p:nvSpPr>
            <p:cNvPr id="251" name="s2-managed-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1200"/>
            </a:p>
          </p:txBody>
        </p:sp>
        <p:sp>
          <p:nvSpPr>
            <p:cNvPr id="252" name="s2-managed-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1200"/>
            </a:p>
          </p:txBody>
        </p:sp>
        <p:sp>
          <p:nvSpPr>
            <p:cNvPr id="253" name="s2-managed-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1200"/>
            </a:p>
          </p:txBody>
        </p:sp>
        <p:sp>
          <p:nvSpPr>
            <p:cNvPr id="254" name="s2-managed-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1200"/>
            </a:p>
          </p:txBody>
        </p:sp>
        <p:sp>
          <p:nvSpPr>
            <p:cNvPr id="255" name="s2-managed-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1200"/>
            </a:p>
          </p:txBody>
        </p:sp>
        <p:sp>
          <p:nvSpPr>
            <p:cNvPr id="256" name="s2-managed-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1200"/>
            </a:p>
          </p:txBody>
        </p:sp>
        <p:sp>
          <p:nvSpPr>
            <p:cNvPr id="257" name="s2-managed-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1200"/>
            </a:p>
          </p:txBody>
        </p:sp>
        <p:sp>
          <p:nvSpPr>
            <p:cNvPr id="258" name="s2-managed-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1200"/>
            </a:p>
          </p:txBody>
        </p:sp>
        <p:sp>
          <p:nvSpPr>
            <p:cNvPr id="259" name="s2-managed-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1200"/>
            </a:p>
          </p:txBody>
        </p:sp>
        <p:sp>
          <p:nvSpPr>
            <p:cNvPr id="260" name="s2-managed-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1200"/>
            </a:p>
          </p:txBody>
        </p:sp>
        <p:sp>
          <p:nvSpPr>
            <p:cNvPr id="261" name="s2-managed-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1200"/>
            </a:p>
          </p:txBody>
        </p:sp>
        <p:sp>
          <p:nvSpPr>
            <p:cNvPr id="262" name="s2-managed-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1200"/>
            </a:p>
          </p:txBody>
        </p:sp>
        <p:sp>
          <p:nvSpPr>
            <p:cNvPr id="263" name="s2-managed-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1200"/>
            </a:p>
          </p:txBody>
        </p:sp>
        <p:sp>
          <p:nvSpPr>
            <p:cNvPr id="264" name="s2-managed-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1200"/>
            </a:p>
          </p:txBody>
        </p:sp>
        <p:sp>
          <p:nvSpPr>
            <p:cNvPr id="265" name="s2-managed-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1200"/>
            </a:p>
          </p:txBody>
        </p:sp>
        <p:sp>
          <p:nvSpPr>
            <p:cNvPr id="266" name="s2-chick__ellipse_266">
              <a:extLst>
                <a:ext uri="{FF2B5EF4-FFF2-40B4-BE49-F238E27FC236}">
                  <a16:creationId xmlns:a16="http://schemas.microsoft.com/office/drawing/2014/main" id="{86FCAE1D-F74B-4F06-8310-8F9A7F56F196}"/>
                </a:ext>
              </a:extLst>
            </p:cNvPr>
            <p:cNvSpPr>
              <a:spLocks/>
            </p:cNvSpPr>
            <p:nvPr/>
          </p:nvSpPr>
          <p:spPr>
            <a:xfrm>
              <a:off x="5040249" y="3962020"/>
              <a:ext cx="198882" cy="18415"/>
            </a:xfrm>
            <a:prstGeom prst="ellipse">
              <a:avLst/>
            </a:prstGeom>
            <a:solidFill>
              <a:srgbClr val="DCE2D6"/>
            </a:solidFill>
            <a:ln w="0">
              <a:noFill/>
              <a:prstDash val="solid"/>
            </a:ln>
          </p:spPr>
          <p:txBody>
            <a:bodyPr/>
            <a:lstStyle/>
            <a:p>
              <a:endParaRPr sz="1200"/>
            </a:p>
          </p:txBody>
        </p:sp>
        <p:sp>
          <p:nvSpPr>
            <p:cNvPr id="267" name="s2-chick__line_267">
              <a:extLst>
                <a:ext uri="{FF2B5EF4-FFF2-40B4-BE49-F238E27FC236}">
                  <a16:creationId xmlns:a16="http://schemas.microsoft.com/office/drawing/2014/main" id="{2589A4F4-6D43-441F-A935-1C1A50893849}"/>
                </a:ext>
              </a:extLst>
            </p:cNvPr>
            <p:cNvSpPr>
              <a:spLocks/>
            </p:cNvSpPr>
            <p:nvPr/>
          </p:nvSpPr>
          <p:spPr>
            <a:xfrm>
              <a:off x="5117592" y="3939922"/>
              <a:ext cx="3683" cy="33146"/>
            </a:xfrm>
            <a:custGeom>
              <a:avLst/>
              <a:gdLst/>
              <a:ahLst/>
              <a:cxnLst/>
              <a:rect l="0" t="0" r="0" b="0"/>
              <a:pathLst>
                <a:path w="5525" h="49720">
                  <a:moveTo>
                    <a:pt x="5525" y="0"/>
                  </a:moveTo>
                  <a:lnTo>
                    <a:pt x="0" y="49720"/>
                  </a:lnTo>
                </a:path>
              </a:pathLst>
            </a:custGeom>
            <a:noFill/>
            <a:ln w="8287">
              <a:solidFill>
                <a:srgbClr val="AC8444"/>
              </a:solidFill>
              <a:prstDash val="solid"/>
            </a:ln>
          </p:spPr>
          <p:txBody>
            <a:bodyPr/>
            <a:lstStyle/>
            <a:p>
              <a:endParaRPr sz="1200"/>
            </a:p>
          </p:txBody>
        </p:sp>
        <p:sp>
          <p:nvSpPr>
            <p:cNvPr id="268" name="s2-chick__line_268">
              <a:extLst>
                <a:ext uri="{FF2B5EF4-FFF2-40B4-BE49-F238E27FC236}">
                  <a16:creationId xmlns:a16="http://schemas.microsoft.com/office/drawing/2014/main" id="{05B25BF4-E526-4F37-98CA-757DFF8A25F3}"/>
                </a:ext>
              </a:extLst>
            </p:cNvPr>
            <p:cNvSpPr>
              <a:spLocks/>
            </p:cNvSpPr>
            <p:nvPr/>
          </p:nvSpPr>
          <p:spPr>
            <a:xfrm>
              <a:off x="5169154" y="3939922"/>
              <a:ext cx="63" cy="33146"/>
            </a:xfrm>
            <a:custGeom>
              <a:avLst/>
              <a:gdLst/>
              <a:ahLst/>
              <a:cxnLst/>
              <a:rect l="0" t="0" r="0" b="0"/>
              <a:pathLst>
                <a:path w="95" h="49720">
                  <a:moveTo>
                    <a:pt x="0" y="0"/>
                  </a:moveTo>
                  <a:lnTo>
                    <a:pt x="0" y="49720"/>
                  </a:lnTo>
                </a:path>
              </a:pathLst>
            </a:custGeom>
            <a:noFill/>
            <a:ln w="8287">
              <a:solidFill>
                <a:srgbClr val="AC8444"/>
              </a:solidFill>
              <a:prstDash val="solid"/>
            </a:ln>
          </p:spPr>
          <p:txBody>
            <a:bodyPr/>
            <a:lstStyle/>
            <a:p>
              <a:endParaRPr sz="1200"/>
            </a:p>
          </p:txBody>
        </p:sp>
        <p:sp>
          <p:nvSpPr>
            <p:cNvPr id="269" name="s2-chick__line_269">
              <a:extLst>
                <a:ext uri="{FF2B5EF4-FFF2-40B4-BE49-F238E27FC236}">
                  <a16:creationId xmlns:a16="http://schemas.microsoft.com/office/drawing/2014/main" id="{1DC7CEF0-094D-4D9F-8B7D-531443ACDFB6}"/>
                </a:ext>
              </a:extLst>
            </p:cNvPr>
            <p:cNvSpPr>
              <a:spLocks/>
            </p:cNvSpPr>
            <p:nvPr/>
          </p:nvSpPr>
          <p:spPr>
            <a:xfrm>
              <a:off x="5099177" y="3973068"/>
              <a:ext cx="18414" cy="63"/>
            </a:xfrm>
            <a:custGeom>
              <a:avLst/>
              <a:gdLst/>
              <a:ahLst/>
              <a:cxnLst/>
              <a:rect l="0" t="0" r="0" b="0"/>
              <a:pathLst>
                <a:path w="27622" h="95">
                  <a:moveTo>
                    <a:pt x="27622" y="0"/>
                  </a:moveTo>
                  <a:lnTo>
                    <a:pt x="0" y="0"/>
                  </a:lnTo>
                </a:path>
              </a:pathLst>
            </a:custGeom>
            <a:noFill/>
            <a:ln w="7182">
              <a:solidFill>
                <a:srgbClr val="AC8444"/>
              </a:solidFill>
              <a:prstDash val="solid"/>
            </a:ln>
          </p:spPr>
          <p:txBody>
            <a:bodyPr/>
            <a:lstStyle/>
            <a:p>
              <a:endParaRPr sz="1200"/>
            </a:p>
          </p:txBody>
        </p:sp>
        <p:sp>
          <p:nvSpPr>
            <p:cNvPr id="270" name="s2-chick__line_270">
              <a:extLst>
                <a:ext uri="{FF2B5EF4-FFF2-40B4-BE49-F238E27FC236}">
                  <a16:creationId xmlns:a16="http://schemas.microsoft.com/office/drawing/2014/main" id="{C9A82792-6F5B-4259-9DC0-870AA6D5E747}"/>
                </a:ext>
              </a:extLst>
            </p:cNvPr>
            <p:cNvSpPr>
              <a:spLocks/>
            </p:cNvSpPr>
            <p:nvPr/>
          </p:nvSpPr>
          <p:spPr>
            <a:xfrm>
              <a:off x="5169154" y="3973068"/>
              <a:ext cx="22098" cy="63"/>
            </a:xfrm>
            <a:custGeom>
              <a:avLst/>
              <a:gdLst/>
              <a:ahLst/>
              <a:cxnLst/>
              <a:rect l="0" t="0" r="0" b="0"/>
              <a:pathLst>
                <a:path w="33147" h="95">
                  <a:moveTo>
                    <a:pt x="0" y="0"/>
                  </a:moveTo>
                  <a:lnTo>
                    <a:pt x="33147" y="0"/>
                  </a:lnTo>
                </a:path>
              </a:pathLst>
            </a:custGeom>
            <a:noFill/>
            <a:ln w="7182">
              <a:solidFill>
                <a:srgbClr val="AC8444"/>
              </a:solidFill>
              <a:prstDash val="solid"/>
            </a:ln>
          </p:spPr>
          <p:txBody>
            <a:bodyPr/>
            <a:lstStyle/>
            <a:p>
              <a:endParaRPr sz="1200"/>
            </a:p>
          </p:txBody>
        </p:sp>
        <p:sp>
          <p:nvSpPr>
            <p:cNvPr id="271" name="s2-chick__ellipse_271">
              <a:extLst>
                <a:ext uri="{FF2B5EF4-FFF2-40B4-BE49-F238E27FC236}">
                  <a16:creationId xmlns:a16="http://schemas.microsoft.com/office/drawing/2014/main" id="{240810BE-B264-4492-8856-B7C323EFC8F7}"/>
                </a:ext>
              </a:extLst>
            </p:cNvPr>
            <p:cNvSpPr>
              <a:spLocks/>
            </p:cNvSpPr>
            <p:nvPr/>
          </p:nvSpPr>
          <p:spPr>
            <a:xfrm>
              <a:off x="5051298" y="3855212"/>
              <a:ext cx="132588" cy="99440"/>
            </a:xfrm>
            <a:prstGeom prst="ellipse">
              <a:avLst/>
            </a:prstGeom>
            <a:solidFill>
              <a:srgbClr val="E2BB6E"/>
            </a:solidFill>
            <a:ln w="5525">
              <a:solidFill>
                <a:srgbClr val="9E854F"/>
              </a:solidFill>
              <a:prstDash val="solid"/>
            </a:ln>
          </p:spPr>
          <p:txBody>
            <a:bodyPr/>
            <a:lstStyle/>
            <a:p>
              <a:endParaRPr sz="1200"/>
            </a:p>
          </p:txBody>
        </p:sp>
        <p:sp>
          <p:nvSpPr>
            <p:cNvPr id="272" name="s2-chick__ellipse_272">
              <a:extLst>
                <a:ext uri="{FF2B5EF4-FFF2-40B4-BE49-F238E27FC236}">
                  <a16:creationId xmlns:a16="http://schemas.microsoft.com/office/drawing/2014/main" id="{81A07B26-D78C-4C81-92AF-C1AAEBE5599E}"/>
                </a:ext>
              </a:extLst>
            </p:cNvPr>
            <p:cNvSpPr>
              <a:spLocks/>
            </p:cNvSpPr>
            <p:nvPr/>
          </p:nvSpPr>
          <p:spPr>
            <a:xfrm>
              <a:off x="5143373" y="3811016"/>
              <a:ext cx="84709" cy="88392"/>
            </a:xfrm>
            <a:prstGeom prst="ellipse">
              <a:avLst/>
            </a:prstGeom>
            <a:solidFill>
              <a:srgbClr val="F0CE82"/>
            </a:solidFill>
            <a:ln w="5525">
              <a:solidFill>
                <a:srgbClr val="9E854F"/>
              </a:solidFill>
              <a:prstDash val="solid"/>
            </a:ln>
          </p:spPr>
          <p:txBody>
            <a:bodyPr/>
            <a:lstStyle/>
            <a:p>
              <a:endParaRPr sz="1200"/>
            </a:p>
          </p:txBody>
        </p:sp>
        <p:sp>
          <p:nvSpPr>
            <p:cNvPr id="273" name="s2-chick__ellipse_273">
              <a:extLst>
                <a:ext uri="{FF2B5EF4-FFF2-40B4-BE49-F238E27FC236}">
                  <a16:creationId xmlns:a16="http://schemas.microsoft.com/office/drawing/2014/main" id="{2D5FF7F3-6E58-4D08-B7B0-C29EBAB8A3C8}"/>
                </a:ext>
              </a:extLst>
            </p:cNvPr>
            <p:cNvSpPr>
              <a:spLocks/>
            </p:cNvSpPr>
            <p:nvPr/>
          </p:nvSpPr>
          <p:spPr>
            <a:xfrm>
              <a:off x="5198618" y="3840480"/>
              <a:ext cx="11048" cy="11048"/>
            </a:xfrm>
            <a:prstGeom prst="ellipse">
              <a:avLst/>
            </a:prstGeom>
            <a:solidFill>
              <a:srgbClr val="253C3A"/>
            </a:solidFill>
            <a:ln w="0">
              <a:noFill/>
              <a:prstDash val="solid"/>
            </a:ln>
          </p:spPr>
          <p:txBody>
            <a:bodyPr/>
            <a:lstStyle/>
            <a:p>
              <a:endParaRPr sz="1200"/>
            </a:p>
          </p:txBody>
        </p:sp>
        <p:sp>
          <p:nvSpPr>
            <p:cNvPr id="274" name="s2-chick__path_274">
              <a:extLst>
                <a:ext uri="{FF2B5EF4-FFF2-40B4-BE49-F238E27FC236}">
                  <a16:creationId xmlns:a16="http://schemas.microsoft.com/office/drawing/2014/main" id="{8FE33EC7-8DD0-44E0-8293-661DC76C559A}"/>
                </a:ext>
              </a:extLst>
            </p:cNvPr>
            <p:cNvSpPr>
              <a:spLocks/>
            </p:cNvSpPr>
            <p:nvPr/>
          </p:nvSpPr>
          <p:spPr>
            <a:xfrm>
              <a:off x="5220716" y="3851529"/>
              <a:ext cx="29464" cy="22098"/>
            </a:xfrm>
            <a:custGeom>
              <a:avLst/>
              <a:gdLst/>
              <a:ahLst/>
              <a:cxnLst/>
              <a:rect l="0" t="0" r="0" b="0"/>
              <a:pathLst>
                <a:path w="44196" h="33147">
                  <a:moveTo>
                    <a:pt x="0" y="0"/>
                  </a:moveTo>
                  <a:lnTo>
                    <a:pt x="44196" y="22098"/>
                  </a:lnTo>
                  <a:lnTo>
                    <a:pt x="0" y="33147"/>
                  </a:lnTo>
                  <a:close/>
                </a:path>
              </a:pathLst>
            </a:custGeom>
            <a:solidFill>
              <a:srgbClr val="C69945"/>
            </a:solidFill>
            <a:ln w="0">
              <a:noFill/>
              <a:prstDash val="solid"/>
            </a:ln>
          </p:spPr>
          <p:txBody>
            <a:bodyPr/>
            <a:lstStyle/>
            <a:p>
              <a:endParaRPr sz="1200"/>
            </a:p>
          </p:txBody>
        </p:sp>
        <p:sp>
          <p:nvSpPr>
            <p:cNvPr id="275" name="s2-chick__contour_275">
              <a:extLst>
                <a:ext uri="{FF2B5EF4-FFF2-40B4-BE49-F238E27FC236}">
                  <a16:creationId xmlns:a16="http://schemas.microsoft.com/office/drawing/2014/main" id="{391ED0B7-34D0-481E-A91B-1AB045C2FE00}"/>
                </a:ext>
              </a:extLst>
            </p:cNvPr>
            <p:cNvSpPr>
              <a:spLocks/>
            </p:cNvSpPr>
            <p:nvPr/>
          </p:nvSpPr>
          <p:spPr>
            <a:xfrm>
              <a:off x="5062347" y="3885876"/>
              <a:ext cx="92075" cy="24580"/>
            </a:xfrm>
            <a:custGeom>
              <a:avLst/>
              <a:gdLst/>
              <a:ahLst/>
              <a:cxnLst/>
              <a:rect l="0" t="0" r="0" b="0"/>
              <a:pathLst>
                <a:path w="138113" h="36871">
                  <a:moveTo>
                    <a:pt x="0" y="25822"/>
                  </a:moveTo>
                  <a:lnTo>
                    <a:pt x="10077" y="18679"/>
                  </a:lnTo>
                  <a:lnTo>
                    <a:pt x="20374" y="12697"/>
                  </a:lnTo>
                  <a:lnTo>
                    <a:pt x="30804" y="7877"/>
                  </a:lnTo>
                  <a:lnTo>
                    <a:pt x="41291" y="4210"/>
                  </a:lnTo>
                  <a:lnTo>
                    <a:pt x="51768" y="1676"/>
                  </a:lnTo>
                  <a:lnTo>
                    <a:pt x="62141" y="276"/>
                  </a:lnTo>
                  <a:lnTo>
                    <a:pt x="72333" y="0"/>
                  </a:lnTo>
                  <a:lnTo>
                    <a:pt x="82277" y="819"/>
                  </a:lnTo>
                  <a:lnTo>
                    <a:pt x="91888" y="2753"/>
                  </a:lnTo>
                  <a:lnTo>
                    <a:pt x="101079" y="5772"/>
                  </a:lnTo>
                  <a:lnTo>
                    <a:pt x="109785" y="9868"/>
                  </a:lnTo>
                  <a:lnTo>
                    <a:pt x="117919" y="15040"/>
                  </a:lnTo>
                  <a:lnTo>
                    <a:pt x="125397" y="21269"/>
                  </a:lnTo>
                  <a:lnTo>
                    <a:pt x="132159" y="28546"/>
                  </a:lnTo>
                  <a:lnTo>
                    <a:pt x="138113" y="36871"/>
                  </a:lnTo>
                </a:path>
              </a:pathLst>
            </a:custGeom>
            <a:noFill/>
            <a:ln w="5525">
              <a:solidFill>
                <a:srgbClr val="C69A4C"/>
              </a:solidFill>
              <a:prstDash val="solid"/>
            </a:ln>
          </p:spPr>
          <p:txBody>
            <a:bodyPr/>
            <a:lstStyle/>
            <a:p>
              <a:endParaRPr sz="1200"/>
            </a:p>
          </p:txBody>
        </p:sp>
        <p:sp>
          <p:nvSpPr>
            <p:cNvPr id="276" name="s2-feed__grain_276">
              <a:extLst>
                <a:ext uri="{FF2B5EF4-FFF2-40B4-BE49-F238E27FC236}">
                  <a16:creationId xmlns:a16="http://schemas.microsoft.com/office/drawing/2014/main" id="{89D8BDA0-67CD-433E-BAE7-E4918011F851}"/>
                </a:ext>
              </a:extLst>
            </p:cNvPr>
            <p:cNvSpPr>
              <a:spLocks/>
            </p:cNvSpPr>
            <p:nvPr/>
          </p:nvSpPr>
          <p:spPr>
            <a:xfrm rot="1200000">
              <a:off x="4905375" y="3586163"/>
              <a:ext cx="28575" cy="14287"/>
            </a:xfrm>
            <a:prstGeom prst="ellipse">
              <a:avLst/>
            </a:prstGeom>
            <a:solidFill>
              <a:srgbClr val="D7B571"/>
            </a:solidFill>
            <a:ln w="3572">
              <a:solidFill>
                <a:srgbClr val="AC925E"/>
              </a:solidFill>
              <a:prstDash val="solid"/>
            </a:ln>
          </p:spPr>
          <p:txBody>
            <a:bodyPr/>
            <a:lstStyle/>
            <a:p>
              <a:endParaRPr sz="1200"/>
            </a:p>
          </p:txBody>
        </p:sp>
        <p:sp>
          <p:nvSpPr>
            <p:cNvPr id="277" name="s2-feed__grain_277">
              <a:extLst>
                <a:ext uri="{FF2B5EF4-FFF2-40B4-BE49-F238E27FC236}">
                  <a16:creationId xmlns:a16="http://schemas.microsoft.com/office/drawing/2014/main" id="{D246BDCF-0164-43C8-A58B-8E33B7070635}"/>
                </a:ext>
              </a:extLst>
            </p:cNvPr>
            <p:cNvSpPr>
              <a:spLocks/>
            </p:cNvSpPr>
            <p:nvPr/>
          </p:nvSpPr>
          <p:spPr>
            <a:xfrm rot="-960000">
              <a:off x="4981575" y="3543300"/>
              <a:ext cx="28575" cy="14287"/>
            </a:xfrm>
            <a:prstGeom prst="ellipse">
              <a:avLst/>
            </a:prstGeom>
            <a:solidFill>
              <a:srgbClr val="D7B571"/>
            </a:solidFill>
            <a:ln w="3572">
              <a:solidFill>
                <a:srgbClr val="AC925E"/>
              </a:solidFill>
              <a:prstDash val="solid"/>
            </a:ln>
          </p:spPr>
          <p:txBody>
            <a:bodyPr/>
            <a:lstStyle/>
            <a:p>
              <a:endParaRPr sz="1200"/>
            </a:p>
          </p:txBody>
        </p:sp>
        <p:sp>
          <p:nvSpPr>
            <p:cNvPr id="278" name="s2-feed__grain_278">
              <a:extLst>
                <a:ext uri="{FF2B5EF4-FFF2-40B4-BE49-F238E27FC236}">
                  <a16:creationId xmlns:a16="http://schemas.microsoft.com/office/drawing/2014/main" id="{AA05F6AB-87DF-4AE9-B74F-E7CEE5891EF2}"/>
                </a:ext>
              </a:extLst>
            </p:cNvPr>
            <p:cNvSpPr>
              <a:spLocks/>
            </p:cNvSpPr>
            <p:nvPr/>
          </p:nvSpPr>
          <p:spPr>
            <a:xfrm rot="1980000">
              <a:off x="5043487" y="3590925"/>
              <a:ext cx="28575" cy="14287"/>
            </a:xfrm>
            <a:prstGeom prst="ellipse">
              <a:avLst/>
            </a:prstGeom>
            <a:solidFill>
              <a:srgbClr val="D7B571"/>
            </a:solidFill>
            <a:ln w="3572">
              <a:solidFill>
                <a:srgbClr val="AC925E"/>
              </a:solidFill>
              <a:prstDash val="solid"/>
            </a:ln>
          </p:spPr>
          <p:txBody>
            <a:bodyPr/>
            <a:lstStyle/>
            <a:p>
              <a:endParaRPr sz="1200"/>
            </a:p>
          </p:txBody>
        </p:sp>
        <p:sp>
          <p:nvSpPr>
            <p:cNvPr id="279" name="s2-feed__grain_279">
              <a:extLst>
                <a:ext uri="{FF2B5EF4-FFF2-40B4-BE49-F238E27FC236}">
                  <a16:creationId xmlns:a16="http://schemas.microsoft.com/office/drawing/2014/main" id="{D7A04FAE-3A70-4E16-9218-A5ACCA5B35C7}"/>
                </a:ext>
              </a:extLst>
            </p:cNvPr>
            <p:cNvSpPr>
              <a:spLocks/>
            </p:cNvSpPr>
            <p:nvPr/>
          </p:nvSpPr>
          <p:spPr>
            <a:xfrm rot="540000">
              <a:off x="5129212" y="3538537"/>
              <a:ext cx="28575" cy="14287"/>
            </a:xfrm>
            <a:prstGeom prst="ellipse">
              <a:avLst/>
            </a:prstGeom>
            <a:solidFill>
              <a:srgbClr val="D7B571"/>
            </a:solidFill>
            <a:ln w="3572">
              <a:solidFill>
                <a:srgbClr val="AC925E"/>
              </a:solidFill>
              <a:prstDash val="solid"/>
            </a:ln>
          </p:spPr>
          <p:txBody>
            <a:bodyPr/>
            <a:lstStyle/>
            <a:p>
              <a:endParaRPr sz="1200"/>
            </a:p>
          </p:txBody>
        </p:sp>
        <p:sp>
          <p:nvSpPr>
            <p:cNvPr id="280" name="s2-feed__grain_280">
              <a:extLst>
                <a:ext uri="{FF2B5EF4-FFF2-40B4-BE49-F238E27FC236}">
                  <a16:creationId xmlns:a16="http://schemas.microsoft.com/office/drawing/2014/main" id="{A0ED0C36-97B2-42F0-AE4E-1B57FE27973A}"/>
                </a:ext>
              </a:extLst>
            </p:cNvPr>
            <p:cNvSpPr>
              <a:spLocks/>
            </p:cNvSpPr>
            <p:nvPr/>
          </p:nvSpPr>
          <p:spPr>
            <a:xfrm rot="-2100000">
              <a:off x="5181600" y="3609975"/>
              <a:ext cx="28575" cy="14287"/>
            </a:xfrm>
            <a:prstGeom prst="ellipse">
              <a:avLst/>
            </a:prstGeom>
            <a:solidFill>
              <a:srgbClr val="D7B571"/>
            </a:solidFill>
            <a:ln w="3572">
              <a:solidFill>
                <a:srgbClr val="AC925E"/>
              </a:solidFill>
              <a:prstDash val="solid"/>
            </a:ln>
          </p:spPr>
          <p:txBody>
            <a:bodyPr/>
            <a:lstStyle/>
            <a:p>
              <a:endParaRPr sz="1200"/>
            </a:p>
          </p:txBody>
        </p:sp>
        <p:sp>
          <p:nvSpPr>
            <p:cNvPr id="281" name="s2-feed__grain_281">
              <a:extLst>
                <a:ext uri="{FF2B5EF4-FFF2-40B4-BE49-F238E27FC236}">
                  <a16:creationId xmlns:a16="http://schemas.microsoft.com/office/drawing/2014/main" id="{4E13742A-A88F-43CE-B882-ABBDDCC8B4BB}"/>
                </a:ext>
              </a:extLst>
            </p:cNvPr>
            <p:cNvSpPr>
              <a:spLocks/>
            </p:cNvSpPr>
            <p:nvPr/>
          </p:nvSpPr>
          <p:spPr>
            <a:xfrm rot="-1320000">
              <a:off x="4957762" y="3657600"/>
              <a:ext cx="28575" cy="14287"/>
            </a:xfrm>
            <a:prstGeom prst="ellipse">
              <a:avLst/>
            </a:prstGeom>
            <a:solidFill>
              <a:srgbClr val="D7B571"/>
            </a:solidFill>
            <a:ln w="3572">
              <a:solidFill>
                <a:srgbClr val="AC925E"/>
              </a:solidFill>
              <a:prstDash val="solid"/>
            </a:ln>
          </p:spPr>
          <p:txBody>
            <a:bodyPr/>
            <a:lstStyle/>
            <a:p>
              <a:endParaRPr sz="1200"/>
            </a:p>
          </p:txBody>
        </p:sp>
        <p:sp>
          <p:nvSpPr>
            <p:cNvPr id="282" name="s2-feed__grain_282">
              <a:extLst>
                <a:ext uri="{FF2B5EF4-FFF2-40B4-BE49-F238E27FC236}">
                  <a16:creationId xmlns:a16="http://schemas.microsoft.com/office/drawing/2014/main" id="{09384E44-FEBE-4604-8F3F-7C9B441ECDB5}"/>
                </a:ext>
              </a:extLst>
            </p:cNvPr>
            <p:cNvSpPr>
              <a:spLocks/>
            </p:cNvSpPr>
            <p:nvPr/>
          </p:nvSpPr>
          <p:spPr>
            <a:xfrm rot="1260000">
              <a:off x="5076825" y="3671888"/>
              <a:ext cx="28575" cy="14287"/>
            </a:xfrm>
            <a:prstGeom prst="ellipse">
              <a:avLst/>
            </a:prstGeom>
            <a:solidFill>
              <a:srgbClr val="D7B571"/>
            </a:solidFill>
            <a:ln w="3572">
              <a:solidFill>
                <a:srgbClr val="AC925E"/>
              </a:solidFill>
              <a:prstDash val="solid"/>
            </a:ln>
          </p:spPr>
          <p:txBody>
            <a:bodyPr/>
            <a:lstStyle/>
            <a:p>
              <a:endParaRPr sz="1200"/>
            </a:p>
          </p:txBody>
        </p:sp>
        <p:sp>
          <p:nvSpPr>
            <p:cNvPr id="283" name="s2-feed__grain_283">
              <a:extLst>
                <a:ext uri="{FF2B5EF4-FFF2-40B4-BE49-F238E27FC236}">
                  <a16:creationId xmlns:a16="http://schemas.microsoft.com/office/drawing/2014/main" id="{6A0CE6D8-FAB5-429A-A3C1-DB3DD3B6DAED}"/>
                </a:ext>
              </a:extLst>
            </p:cNvPr>
            <p:cNvSpPr>
              <a:spLocks/>
            </p:cNvSpPr>
            <p:nvPr/>
          </p:nvSpPr>
          <p:spPr>
            <a:xfrm rot="480000">
              <a:off x="5148262" y="3681413"/>
              <a:ext cx="28575" cy="14287"/>
            </a:xfrm>
            <a:prstGeom prst="ellipse">
              <a:avLst/>
            </a:prstGeom>
            <a:solidFill>
              <a:srgbClr val="D7B571"/>
            </a:solidFill>
            <a:ln w="3572">
              <a:solidFill>
                <a:srgbClr val="AC925E"/>
              </a:solidFill>
              <a:prstDash val="solid"/>
            </a:ln>
          </p:spPr>
          <p:txBody>
            <a:bodyPr/>
            <a:lstStyle/>
            <a:p>
              <a:endParaRPr sz="1200"/>
            </a:p>
          </p:txBody>
        </p:sp>
        <p:sp>
          <p:nvSpPr>
            <p:cNvPr id="284" name="s2-eggs-and-bowl__egg_284">
              <a:extLst>
                <a:ext uri="{FF2B5EF4-FFF2-40B4-BE49-F238E27FC236}">
                  <a16:creationId xmlns:a16="http://schemas.microsoft.com/office/drawing/2014/main" id="{C5D59730-95F4-41D3-A4C1-FB1DC76E3791}"/>
                </a:ext>
              </a:extLst>
            </p:cNvPr>
            <p:cNvSpPr>
              <a:spLocks/>
            </p:cNvSpPr>
            <p:nvPr/>
          </p:nvSpPr>
          <p:spPr>
            <a:xfrm rot="-720000">
              <a:off x="4921250" y="4000500"/>
              <a:ext cx="95250" cy="133350"/>
            </a:xfrm>
            <a:prstGeom prst="ellipse">
              <a:avLst/>
            </a:prstGeom>
            <a:solidFill>
              <a:srgbClr val="FAF6E9"/>
            </a:solidFill>
            <a:ln w="9525">
              <a:solidFill>
                <a:srgbClr val="BCA888"/>
              </a:solidFill>
              <a:prstDash val="solid"/>
            </a:ln>
          </p:spPr>
          <p:txBody>
            <a:bodyPr/>
            <a:lstStyle/>
            <a:p>
              <a:endParaRPr sz="1200"/>
            </a:p>
          </p:txBody>
        </p:sp>
        <p:sp>
          <p:nvSpPr>
            <p:cNvPr id="285" name="s2-eggs-and-bowl__egg_285">
              <a:extLst>
                <a:ext uri="{FF2B5EF4-FFF2-40B4-BE49-F238E27FC236}">
                  <a16:creationId xmlns:a16="http://schemas.microsoft.com/office/drawing/2014/main" id="{B0668AD9-D64A-4C36-B401-1E4E5A936B35}"/>
                </a:ext>
              </a:extLst>
            </p:cNvPr>
            <p:cNvSpPr>
              <a:spLocks/>
            </p:cNvSpPr>
            <p:nvPr/>
          </p:nvSpPr>
          <p:spPr>
            <a:xfrm rot="780000">
              <a:off x="5035550" y="4019550"/>
              <a:ext cx="88900" cy="120650"/>
            </a:xfrm>
            <a:prstGeom prst="ellipse">
              <a:avLst/>
            </a:prstGeom>
            <a:solidFill>
              <a:srgbClr val="F0E4CC"/>
            </a:solidFill>
            <a:ln w="9525">
              <a:solidFill>
                <a:srgbClr val="BCA888"/>
              </a:solidFill>
              <a:prstDash val="solid"/>
            </a:ln>
          </p:spPr>
          <p:txBody>
            <a:bodyPr/>
            <a:lstStyle/>
            <a:p>
              <a:endParaRPr sz="1200"/>
            </a:p>
          </p:txBody>
        </p:sp>
        <p:sp>
          <p:nvSpPr>
            <p:cNvPr id="286" name="s2-eggs-and-bowl__path_286">
              <a:extLst>
                <a:ext uri="{FF2B5EF4-FFF2-40B4-BE49-F238E27FC236}">
                  <a16:creationId xmlns:a16="http://schemas.microsoft.com/office/drawing/2014/main" id="{ED09AE13-9ECF-4D75-8E3B-DE9A537378C3}"/>
                </a:ext>
              </a:extLst>
            </p:cNvPr>
            <p:cNvSpPr>
              <a:spLocks/>
            </p:cNvSpPr>
            <p:nvPr/>
          </p:nvSpPr>
          <p:spPr>
            <a:xfrm>
              <a:off x="5232400" y="3606800"/>
              <a:ext cx="317500" cy="127000"/>
            </a:xfrm>
            <a:custGeom>
              <a:avLst/>
              <a:gdLst/>
              <a:ahLst/>
              <a:cxnLst/>
              <a:rect l="0" t="0" r="0" b="0"/>
              <a:pathLst>
                <a:path w="476250" h="190500">
                  <a:moveTo>
                    <a:pt x="0" y="0"/>
                  </a:moveTo>
                  <a:lnTo>
                    <a:pt x="476250" y="0"/>
                  </a:lnTo>
                  <a:lnTo>
                    <a:pt x="400050" y="190500"/>
                  </a:lnTo>
                  <a:lnTo>
                    <a:pt x="85725" y="190500"/>
                  </a:lnTo>
                  <a:close/>
                </a:path>
              </a:pathLst>
            </a:custGeom>
            <a:solidFill>
              <a:srgbClr val="A18B70"/>
            </a:solidFill>
            <a:ln w="11430">
              <a:solidFill>
                <a:srgbClr val="786A57"/>
              </a:solidFill>
              <a:prstDash val="solid"/>
            </a:ln>
          </p:spPr>
          <p:txBody>
            <a:bodyPr/>
            <a:lstStyle/>
            <a:p>
              <a:endParaRPr sz="1200"/>
            </a:p>
          </p:txBody>
        </p:sp>
        <p:sp>
          <p:nvSpPr>
            <p:cNvPr id="287" name="s2-eggs-and-bowl__ellipse_287">
              <a:extLst>
                <a:ext uri="{FF2B5EF4-FFF2-40B4-BE49-F238E27FC236}">
                  <a16:creationId xmlns:a16="http://schemas.microsoft.com/office/drawing/2014/main" id="{3945F5E5-A6CD-4604-BCC9-355DA267FEEE}"/>
                </a:ext>
              </a:extLst>
            </p:cNvPr>
            <p:cNvSpPr>
              <a:spLocks/>
            </p:cNvSpPr>
            <p:nvPr/>
          </p:nvSpPr>
          <p:spPr>
            <a:xfrm>
              <a:off x="5232400" y="3575050"/>
              <a:ext cx="317500" cy="63500"/>
            </a:xfrm>
            <a:prstGeom prst="ellipse">
              <a:avLst/>
            </a:prstGeom>
            <a:solidFill>
              <a:srgbClr val="D5BD91"/>
            </a:solidFill>
            <a:ln w="11430">
              <a:solidFill>
                <a:srgbClr val="786A57"/>
              </a:solidFill>
              <a:prstDash val="solid"/>
            </a:ln>
          </p:spPr>
          <p:txBody>
            <a:bodyPr/>
            <a:lstStyle/>
            <a:p>
              <a:endParaRPr sz="1200"/>
            </a:p>
          </p:txBody>
        </p:sp>
        <p:sp>
          <p:nvSpPr>
            <p:cNvPr id="288" name="s3-transport-ground__ellipse_288">
              <a:extLst>
                <a:ext uri="{FF2B5EF4-FFF2-40B4-BE49-F238E27FC236}">
                  <a16:creationId xmlns:a16="http://schemas.microsoft.com/office/drawing/2014/main" id="{175F5EB1-CCDD-4A35-A498-14906458AF54}"/>
                </a:ext>
              </a:extLst>
            </p:cNvPr>
            <p:cNvSpPr>
              <a:spLocks/>
            </p:cNvSpPr>
            <p:nvPr/>
          </p:nvSpPr>
          <p:spPr>
            <a:xfrm>
              <a:off x="6038850" y="2717800"/>
              <a:ext cx="1162050" cy="171450"/>
            </a:xfrm>
            <a:prstGeom prst="ellipse">
              <a:avLst/>
            </a:prstGeom>
            <a:solidFill>
              <a:srgbClr val="E4EADE"/>
            </a:solidFill>
            <a:ln w="0">
              <a:noFill/>
              <a:prstDash val="solid"/>
            </a:ln>
          </p:spPr>
          <p:txBody>
            <a:bodyPr/>
            <a:lstStyle/>
            <a:p>
              <a:endParaRPr sz="1200"/>
            </a:p>
          </p:txBody>
        </p:sp>
        <p:sp>
          <p:nvSpPr>
            <p:cNvPr id="289" name="s3-traveller__ellipse_289">
              <a:extLst>
                <a:ext uri="{FF2B5EF4-FFF2-40B4-BE49-F238E27FC236}">
                  <a16:creationId xmlns:a16="http://schemas.microsoft.com/office/drawing/2014/main" id="{4157E6F0-4487-4538-9012-FE026B6B5925}"/>
                </a:ext>
              </a:extLst>
            </p:cNvPr>
            <p:cNvSpPr>
              <a:spLocks/>
            </p:cNvSpPr>
            <p:nvPr/>
          </p:nvSpPr>
          <p:spPr>
            <a:xfrm>
              <a:off x="6146292" y="2737994"/>
              <a:ext cx="406146" cy="41656"/>
            </a:xfrm>
            <a:prstGeom prst="ellipse">
              <a:avLst/>
            </a:prstGeom>
            <a:solidFill>
              <a:srgbClr val="DCE2D6"/>
            </a:solidFill>
            <a:ln w="0">
              <a:noFill/>
              <a:prstDash val="solid"/>
            </a:ln>
          </p:spPr>
          <p:txBody>
            <a:bodyPr/>
            <a:lstStyle/>
            <a:p>
              <a:endParaRPr sz="1200"/>
            </a:p>
          </p:txBody>
        </p:sp>
        <p:sp>
          <p:nvSpPr>
            <p:cNvPr id="290" name="s3-traveller__contour_290">
              <a:extLst>
                <a:ext uri="{FF2B5EF4-FFF2-40B4-BE49-F238E27FC236}">
                  <a16:creationId xmlns:a16="http://schemas.microsoft.com/office/drawing/2014/main" id="{FB5F0A6E-A00E-4A61-BA53-57EC3AC5CF5E}"/>
                </a:ext>
              </a:extLst>
            </p:cNvPr>
            <p:cNvSpPr>
              <a:spLocks/>
            </p:cNvSpPr>
            <p:nvPr/>
          </p:nvSpPr>
          <p:spPr>
            <a:xfrm>
              <a:off x="6161914" y="2425574"/>
              <a:ext cx="135382" cy="296799"/>
            </a:xfrm>
            <a:custGeom>
              <a:avLst/>
              <a:gdLst/>
              <a:ahLst/>
              <a:cxnLst/>
              <a:rect l="0" t="0" r="0" b="0"/>
              <a:pathLst>
                <a:path w="203073" h="445199">
                  <a:moveTo>
                    <a:pt x="203073" y="0"/>
                  </a:moveTo>
                  <a:lnTo>
                    <a:pt x="171831" y="257747"/>
                  </a:lnTo>
                  <a:lnTo>
                    <a:pt x="85915" y="437388"/>
                  </a:lnTo>
                  <a:lnTo>
                    <a:pt x="0" y="445199"/>
                  </a:lnTo>
                </a:path>
              </a:pathLst>
            </a:custGeom>
            <a:noFill/>
            <a:ln w="70295">
              <a:solidFill>
                <a:srgbClr val="5A625C"/>
              </a:solidFill>
              <a:prstDash val="solid"/>
            </a:ln>
          </p:spPr>
          <p:txBody>
            <a:bodyPr/>
            <a:lstStyle/>
            <a:p>
              <a:endParaRPr sz="1200"/>
            </a:p>
          </p:txBody>
        </p:sp>
        <p:sp>
          <p:nvSpPr>
            <p:cNvPr id="291" name="s3-traveller__contour_291">
              <a:extLst>
                <a:ext uri="{FF2B5EF4-FFF2-40B4-BE49-F238E27FC236}">
                  <a16:creationId xmlns:a16="http://schemas.microsoft.com/office/drawing/2014/main" id="{DE9DD6B5-CDA5-499E-BAF8-658246724511}"/>
                </a:ext>
              </a:extLst>
            </p:cNvPr>
            <p:cNvSpPr>
              <a:spLocks/>
            </p:cNvSpPr>
            <p:nvPr/>
          </p:nvSpPr>
          <p:spPr>
            <a:xfrm>
              <a:off x="6380608" y="2425574"/>
              <a:ext cx="192659" cy="281178"/>
            </a:xfrm>
            <a:custGeom>
              <a:avLst/>
              <a:gdLst/>
              <a:ahLst/>
              <a:cxnLst/>
              <a:rect l="0" t="0" r="0" b="0"/>
              <a:pathLst>
                <a:path w="288989" h="421767">
                  <a:moveTo>
                    <a:pt x="0" y="0"/>
                  </a:moveTo>
                  <a:lnTo>
                    <a:pt x="101536" y="249936"/>
                  </a:lnTo>
                  <a:lnTo>
                    <a:pt x="210883" y="413956"/>
                  </a:lnTo>
                  <a:lnTo>
                    <a:pt x="288989" y="421767"/>
                  </a:lnTo>
                </a:path>
              </a:pathLst>
            </a:custGeom>
            <a:noFill/>
            <a:ln w="70295">
              <a:solidFill>
                <a:srgbClr val="5A625C"/>
              </a:solidFill>
              <a:prstDash val="solid"/>
            </a:ln>
          </p:spPr>
          <p:txBody>
            <a:bodyPr/>
            <a:lstStyle/>
            <a:p>
              <a:endParaRPr sz="1200"/>
            </a:p>
          </p:txBody>
        </p:sp>
        <p:sp>
          <p:nvSpPr>
            <p:cNvPr id="292" name="s3-traveller__contour_292">
              <a:extLst>
                <a:ext uri="{FF2B5EF4-FFF2-40B4-BE49-F238E27FC236}">
                  <a16:creationId xmlns:a16="http://schemas.microsoft.com/office/drawing/2014/main" id="{49E84965-689D-4691-8200-5FC546334AAA}"/>
                </a:ext>
              </a:extLst>
            </p:cNvPr>
            <p:cNvSpPr>
              <a:spLocks/>
            </p:cNvSpPr>
            <p:nvPr/>
          </p:nvSpPr>
          <p:spPr>
            <a:xfrm>
              <a:off x="6245226" y="2168462"/>
              <a:ext cx="192659" cy="267525"/>
            </a:xfrm>
            <a:custGeom>
              <a:avLst/>
              <a:gdLst/>
              <a:ahLst/>
              <a:cxnLst/>
              <a:rect l="0" t="0" r="0" b="0"/>
              <a:pathLst>
                <a:path w="288989" h="401288">
                  <a:moveTo>
                    <a:pt x="31242" y="42005"/>
                  </a:moveTo>
                  <a:lnTo>
                    <a:pt x="40148" y="31794"/>
                  </a:lnTo>
                  <a:lnTo>
                    <a:pt x="51073" y="23031"/>
                  </a:lnTo>
                  <a:lnTo>
                    <a:pt x="63732" y="15697"/>
                  </a:lnTo>
                  <a:lnTo>
                    <a:pt x="77848" y="9782"/>
                  </a:lnTo>
                  <a:lnTo>
                    <a:pt x="93145" y="5267"/>
                  </a:lnTo>
                  <a:lnTo>
                    <a:pt x="109347" y="2143"/>
                  </a:lnTo>
                  <a:lnTo>
                    <a:pt x="126168" y="391"/>
                  </a:lnTo>
                  <a:lnTo>
                    <a:pt x="143342" y="0"/>
                  </a:lnTo>
                  <a:lnTo>
                    <a:pt x="160582" y="952"/>
                  </a:lnTo>
                  <a:lnTo>
                    <a:pt x="177613" y="3238"/>
                  </a:lnTo>
                  <a:lnTo>
                    <a:pt x="194167" y="6848"/>
                  </a:lnTo>
                  <a:lnTo>
                    <a:pt x="209950" y="11763"/>
                  </a:lnTo>
                  <a:lnTo>
                    <a:pt x="224685" y="17964"/>
                  </a:lnTo>
                  <a:lnTo>
                    <a:pt x="238106" y="25451"/>
                  </a:lnTo>
                  <a:lnTo>
                    <a:pt x="249936" y="34195"/>
                  </a:lnTo>
                  <a:lnTo>
                    <a:pt x="288989" y="401288"/>
                  </a:lnTo>
                  <a:lnTo>
                    <a:pt x="0" y="401288"/>
                  </a:lnTo>
                  <a:close/>
                </a:path>
              </a:pathLst>
            </a:custGeom>
            <a:solidFill>
              <a:srgbClr val="8196A0"/>
            </a:solidFill>
            <a:ln w="10935">
              <a:solidFill>
                <a:srgbClr val="566861"/>
              </a:solidFill>
              <a:prstDash val="solid"/>
            </a:ln>
          </p:spPr>
          <p:txBody>
            <a:bodyPr/>
            <a:lstStyle/>
            <a:p>
              <a:endParaRPr sz="1200"/>
            </a:p>
          </p:txBody>
        </p:sp>
        <p:sp>
          <p:nvSpPr>
            <p:cNvPr id="293" name="s3-traveller__ellipse_293">
              <a:extLst>
                <a:ext uri="{FF2B5EF4-FFF2-40B4-BE49-F238E27FC236}">
                  <a16:creationId xmlns:a16="http://schemas.microsoft.com/office/drawing/2014/main" id="{BE06B8BE-B01F-48F7-966D-01F6535D7A67}"/>
                </a:ext>
              </a:extLst>
            </p:cNvPr>
            <p:cNvSpPr>
              <a:spLocks/>
            </p:cNvSpPr>
            <p:nvPr/>
          </p:nvSpPr>
          <p:spPr>
            <a:xfrm>
              <a:off x="6266054" y="2009014"/>
              <a:ext cx="135382" cy="161416"/>
            </a:xfrm>
            <a:prstGeom prst="ellipse">
              <a:avLst/>
            </a:prstGeom>
            <a:solidFill>
              <a:srgbClr val="BD8B67"/>
            </a:solidFill>
            <a:ln w="7810">
              <a:solidFill>
                <a:srgbClr val="6F6554"/>
              </a:solidFill>
              <a:prstDash val="solid"/>
            </a:ln>
          </p:spPr>
          <p:txBody>
            <a:bodyPr/>
            <a:lstStyle/>
            <a:p>
              <a:endParaRPr sz="1200"/>
            </a:p>
          </p:txBody>
        </p:sp>
        <p:sp>
          <p:nvSpPr>
            <p:cNvPr id="294" name="s3-traveller__contour_294">
              <a:extLst>
                <a:ext uri="{FF2B5EF4-FFF2-40B4-BE49-F238E27FC236}">
                  <a16:creationId xmlns:a16="http://schemas.microsoft.com/office/drawing/2014/main" id="{FCE42ED8-8866-4ED4-827E-41F9B0089B40}"/>
                </a:ext>
              </a:extLst>
            </p:cNvPr>
            <p:cNvSpPr>
              <a:spLocks/>
            </p:cNvSpPr>
            <p:nvPr/>
          </p:nvSpPr>
          <p:spPr>
            <a:xfrm>
              <a:off x="6258294" y="1998555"/>
              <a:ext cx="143142" cy="98977"/>
            </a:xfrm>
            <a:custGeom>
              <a:avLst/>
              <a:gdLst/>
              <a:ahLst/>
              <a:cxnLst/>
              <a:rect l="0" t="0" r="0" b="0"/>
              <a:pathLst>
                <a:path w="214713" h="148466">
                  <a:moveTo>
                    <a:pt x="3829" y="148466"/>
                  </a:moveTo>
                  <a:lnTo>
                    <a:pt x="0" y="117529"/>
                  </a:lnTo>
                  <a:lnTo>
                    <a:pt x="705" y="90297"/>
                  </a:lnTo>
                  <a:lnTo>
                    <a:pt x="5458" y="66742"/>
                  </a:lnTo>
                  <a:lnTo>
                    <a:pt x="13792" y="46796"/>
                  </a:lnTo>
                  <a:lnTo>
                    <a:pt x="25232" y="30442"/>
                  </a:lnTo>
                  <a:lnTo>
                    <a:pt x="39319" y="17621"/>
                  </a:lnTo>
                  <a:lnTo>
                    <a:pt x="55569" y="8306"/>
                  </a:lnTo>
                  <a:lnTo>
                    <a:pt x="73514" y="2448"/>
                  </a:lnTo>
                  <a:lnTo>
                    <a:pt x="92678" y="0"/>
                  </a:lnTo>
                  <a:lnTo>
                    <a:pt x="112595" y="933"/>
                  </a:lnTo>
                  <a:lnTo>
                    <a:pt x="132788" y="5201"/>
                  </a:lnTo>
                  <a:lnTo>
                    <a:pt x="152791" y="12754"/>
                  </a:lnTo>
                  <a:lnTo>
                    <a:pt x="172126" y="23555"/>
                  </a:lnTo>
                  <a:lnTo>
                    <a:pt x="190319" y="37567"/>
                  </a:lnTo>
                  <a:lnTo>
                    <a:pt x="206902" y="54740"/>
                  </a:lnTo>
                  <a:lnTo>
                    <a:pt x="214713" y="125035"/>
                  </a:lnTo>
                  <a:lnTo>
                    <a:pt x="199396" y="112004"/>
                  </a:lnTo>
                  <a:lnTo>
                    <a:pt x="184623" y="101013"/>
                  </a:lnTo>
                  <a:lnTo>
                    <a:pt x="170345" y="91983"/>
                  </a:lnTo>
                  <a:lnTo>
                    <a:pt x="156486" y="84868"/>
                  </a:lnTo>
                  <a:lnTo>
                    <a:pt x="142970" y="79619"/>
                  </a:lnTo>
                  <a:lnTo>
                    <a:pt x="129731" y="76171"/>
                  </a:lnTo>
                  <a:lnTo>
                    <a:pt x="116710" y="74476"/>
                  </a:lnTo>
                  <a:lnTo>
                    <a:pt x="103813" y="74476"/>
                  </a:lnTo>
                  <a:lnTo>
                    <a:pt x="90992" y="76114"/>
                  </a:lnTo>
                  <a:lnTo>
                    <a:pt x="78172" y="79324"/>
                  </a:lnTo>
                  <a:lnTo>
                    <a:pt x="65284" y="84077"/>
                  </a:lnTo>
                  <a:lnTo>
                    <a:pt x="52254" y="90297"/>
                  </a:lnTo>
                  <a:lnTo>
                    <a:pt x="39014" y="97927"/>
                  </a:lnTo>
                  <a:lnTo>
                    <a:pt x="25498" y="106928"/>
                  </a:lnTo>
                  <a:lnTo>
                    <a:pt x="11640" y="117224"/>
                  </a:lnTo>
                  <a:close/>
                </a:path>
              </a:pathLst>
            </a:custGeom>
            <a:solidFill>
              <a:srgbClr val="4E4D40"/>
            </a:solidFill>
            <a:ln w="13278">
              <a:noFill/>
              <a:prstDash val="solid"/>
            </a:ln>
          </p:spPr>
          <p:txBody>
            <a:bodyPr/>
            <a:lstStyle/>
            <a:p>
              <a:endParaRPr sz="1200"/>
            </a:p>
          </p:txBody>
        </p:sp>
        <p:sp>
          <p:nvSpPr>
            <p:cNvPr id="295" name="s3-traveller__path_295">
              <a:extLst>
                <a:ext uri="{FF2B5EF4-FFF2-40B4-BE49-F238E27FC236}">
                  <a16:creationId xmlns:a16="http://schemas.microsoft.com/office/drawing/2014/main" id="{5DFDB3E2-6395-40A6-B440-84482ADF8B47}"/>
                </a:ext>
              </a:extLst>
            </p:cNvPr>
            <p:cNvSpPr>
              <a:spLocks/>
            </p:cNvSpPr>
            <p:nvPr/>
          </p:nvSpPr>
          <p:spPr>
            <a:xfrm>
              <a:off x="6391022" y="2087118"/>
              <a:ext cx="31242" cy="36449"/>
            </a:xfrm>
            <a:custGeom>
              <a:avLst/>
              <a:gdLst/>
              <a:ahLst/>
              <a:cxnLst/>
              <a:rect l="0" t="0" r="0" b="0"/>
              <a:pathLst>
                <a:path w="46863" h="54674">
                  <a:moveTo>
                    <a:pt x="0" y="0"/>
                  </a:moveTo>
                  <a:lnTo>
                    <a:pt x="46863" y="31242"/>
                  </a:lnTo>
                  <a:lnTo>
                    <a:pt x="0" y="54674"/>
                  </a:lnTo>
                  <a:close/>
                </a:path>
              </a:pathLst>
            </a:custGeom>
            <a:solidFill>
              <a:srgbClr val="BD8B67"/>
            </a:solidFill>
            <a:ln w="6248">
              <a:solidFill>
                <a:srgbClr val="6F6554"/>
              </a:solidFill>
              <a:prstDash val="solid"/>
            </a:ln>
          </p:spPr>
          <p:txBody>
            <a:bodyPr/>
            <a:lstStyle/>
            <a:p>
              <a:endParaRPr sz="1200"/>
            </a:p>
          </p:txBody>
        </p:sp>
        <p:sp>
          <p:nvSpPr>
            <p:cNvPr id="296" name="s3-traveller__ellipse_296">
              <a:extLst>
                <a:ext uri="{FF2B5EF4-FFF2-40B4-BE49-F238E27FC236}">
                  <a16:creationId xmlns:a16="http://schemas.microsoft.com/office/drawing/2014/main" id="{1248ACF9-6E27-4CE5-84E3-CD2C42AF03E5}"/>
                </a:ext>
              </a:extLst>
            </p:cNvPr>
            <p:cNvSpPr>
              <a:spLocks/>
            </p:cNvSpPr>
            <p:nvPr/>
          </p:nvSpPr>
          <p:spPr>
            <a:xfrm>
              <a:off x="6370194" y="2076704"/>
              <a:ext cx="10414" cy="10414"/>
            </a:xfrm>
            <a:prstGeom prst="ellipse">
              <a:avLst/>
            </a:prstGeom>
            <a:solidFill>
              <a:srgbClr val="333E34"/>
            </a:solidFill>
            <a:ln w="0">
              <a:noFill/>
              <a:prstDash val="solid"/>
            </a:ln>
          </p:spPr>
          <p:txBody>
            <a:bodyPr/>
            <a:lstStyle/>
            <a:p>
              <a:endParaRPr sz="1200"/>
            </a:p>
          </p:txBody>
        </p:sp>
        <p:sp>
          <p:nvSpPr>
            <p:cNvPr id="297" name="s3-traveller__contour_297">
              <a:extLst>
                <a:ext uri="{FF2B5EF4-FFF2-40B4-BE49-F238E27FC236}">
                  <a16:creationId xmlns:a16="http://schemas.microsoft.com/office/drawing/2014/main" id="{7BC4BBDC-D046-4C7F-B4D5-EEC801B14B54}"/>
                </a:ext>
              </a:extLst>
            </p:cNvPr>
            <p:cNvSpPr>
              <a:spLocks/>
            </p:cNvSpPr>
            <p:nvPr/>
          </p:nvSpPr>
          <p:spPr>
            <a:xfrm>
              <a:off x="6396228" y="2222500"/>
              <a:ext cx="161417" cy="78105"/>
            </a:xfrm>
            <a:custGeom>
              <a:avLst/>
              <a:gdLst/>
              <a:ahLst/>
              <a:cxnLst/>
              <a:rect l="0" t="0" r="0" b="0"/>
              <a:pathLst>
                <a:path w="242126" h="117158">
                  <a:moveTo>
                    <a:pt x="0" y="0"/>
                  </a:moveTo>
                  <a:lnTo>
                    <a:pt x="85915" y="117158"/>
                  </a:lnTo>
                  <a:lnTo>
                    <a:pt x="242126" y="54674"/>
                  </a:lnTo>
                </a:path>
              </a:pathLst>
            </a:custGeom>
            <a:noFill/>
            <a:ln w="70295">
              <a:solidFill>
                <a:srgbClr val="BD8B67"/>
              </a:solidFill>
              <a:prstDash val="solid"/>
            </a:ln>
          </p:spPr>
          <p:txBody>
            <a:bodyPr/>
            <a:lstStyle/>
            <a:p>
              <a:endParaRPr sz="1200"/>
            </a:p>
          </p:txBody>
        </p:sp>
        <p:sp>
          <p:nvSpPr>
            <p:cNvPr id="298" name="s3-traveller__contour_298">
              <a:extLst>
                <a:ext uri="{FF2B5EF4-FFF2-40B4-BE49-F238E27FC236}">
                  <a16:creationId xmlns:a16="http://schemas.microsoft.com/office/drawing/2014/main" id="{C8F2AED6-C149-4658-A8C8-846C904EDAA2}"/>
                </a:ext>
              </a:extLst>
            </p:cNvPr>
            <p:cNvSpPr>
              <a:spLocks/>
            </p:cNvSpPr>
            <p:nvPr/>
          </p:nvSpPr>
          <p:spPr>
            <a:xfrm>
              <a:off x="6396228" y="2217294"/>
              <a:ext cx="36449" cy="46862"/>
            </a:xfrm>
            <a:custGeom>
              <a:avLst/>
              <a:gdLst/>
              <a:ahLst/>
              <a:cxnLst/>
              <a:rect l="0" t="0" r="0" b="0"/>
              <a:pathLst>
                <a:path w="54674" h="70294">
                  <a:moveTo>
                    <a:pt x="0" y="0"/>
                  </a:moveTo>
                  <a:lnTo>
                    <a:pt x="54674" y="70294"/>
                  </a:lnTo>
                </a:path>
              </a:pathLst>
            </a:custGeom>
            <a:noFill/>
            <a:ln w="93726">
              <a:solidFill>
                <a:srgbClr val="8196A0"/>
              </a:solidFill>
              <a:prstDash val="solid"/>
            </a:ln>
          </p:spPr>
          <p:txBody>
            <a:bodyPr/>
            <a:lstStyle/>
            <a:p>
              <a:endParaRPr sz="1200"/>
            </a:p>
          </p:txBody>
        </p:sp>
        <p:sp>
          <p:nvSpPr>
            <p:cNvPr id="299" name="s3-traveller__contour_299">
              <a:extLst>
                <a:ext uri="{FF2B5EF4-FFF2-40B4-BE49-F238E27FC236}">
                  <a16:creationId xmlns:a16="http://schemas.microsoft.com/office/drawing/2014/main" id="{A8AAFD27-4156-4DCB-BCAA-789F55CA6D07}"/>
                </a:ext>
              </a:extLst>
            </p:cNvPr>
            <p:cNvSpPr>
              <a:spLocks/>
            </p:cNvSpPr>
            <p:nvPr/>
          </p:nvSpPr>
          <p:spPr>
            <a:xfrm>
              <a:off x="6161914" y="2217294"/>
              <a:ext cx="104140" cy="114554"/>
            </a:xfrm>
            <a:custGeom>
              <a:avLst/>
              <a:gdLst/>
              <a:ahLst/>
              <a:cxnLst/>
              <a:rect l="0" t="0" r="0" b="0"/>
              <a:pathLst>
                <a:path w="156210" h="171831">
                  <a:moveTo>
                    <a:pt x="156210" y="0"/>
                  </a:moveTo>
                  <a:lnTo>
                    <a:pt x="78105" y="132778"/>
                  </a:lnTo>
                  <a:lnTo>
                    <a:pt x="0" y="171831"/>
                  </a:lnTo>
                </a:path>
              </a:pathLst>
            </a:custGeom>
            <a:noFill/>
            <a:ln w="62484">
              <a:solidFill>
                <a:srgbClr val="BD8B67"/>
              </a:solidFill>
              <a:prstDash val="solid"/>
            </a:ln>
          </p:spPr>
          <p:txBody>
            <a:bodyPr/>
            <a:lstStyle/>
            <a:p>
              <a:endParaRPr sz="1200"/>
            </a:p>
          </p:txBody>
        </p:sp>
        <p:sp>
          <p:nvSpPr>
            <p:cNvPr id="300" name="s3-traveller__contour_300">
              <a:extLst>
                <a:ext uri="{FF2B5EF4-FFF2-40B4-BE49-F238E27FC236}">
                  <a16:creationId xmlns:a16="http://schemas.microsoft.com/office/drawing/2014/main" id="{F354BFFA-3E3B-4918-A81C-9DAC9C44D5DD}"/>
                </a:ext>
              </a:extLst>
            </p:cNvPr>
            <p:cNvSpPr>
              <a:spLocks/>
            </p:cNvSpPr>
            <p:nvPr/>
          </p:nvSpPr>
          <p:spPr>
            <a:xfrm>
              <a:off x="6240018" y="2212086"/>
              <a:ext cx="26035" cy="46862"/>
            </a:xfrm>
            <a:custGeom>
              <a:avLst/>
              <a:gdLst/>
              <a:ahLst/>
              <a:cxnLst/>
              <a:rect l="0" t="0" r="0" b="0"/>
              <a:pathLst>
                <a:path w="39053" h="70294">
                  <a:moveTo>
                    <a:pt x="39053" y="0"/>
                  </a:moveTo>
                  <a:lnTo>
                    <a:pt x="0" y="70294"/>
                  </a:lnTo>
                </a:path>
              </a:pathLst>
            </a:custGeom>
            <a:noFill/>
            <a:ln w="85916">
              <a:solidFill>
                <a:srgbClr val="8196A0"/>
              </a:solidFill>
              <a:prstDash val="solid"/>
            </a:ln>
          </p:spPr>
          <p:txBody>
            <a:bodyPr/>
            <a:lstStyle/>
            <a:p>
              <a:endParaRPr sz="1200"/>
            </a:p>
          </p:txBody>
        </p:sp>
        <p:sp>
          <p:nvSpPr>
            <p:cNvPr id="301" name="s3-traveller__contour_301">
              <a:extLst>
                <a:ext uri="{FF2B5EF4-FFF2-40B4-BE49-F238E27FC236}">
                  <a16:creationId xmlns:a16="http://schemas.microsoft.com/office/drawing/2014/main" id="{4BA6434D-4856-46DE-A849-488D91337C25}"/>
                </a:ext>
              </a:extLst>
            </p:cNvPr>
            <p:cNvSpPr>
              <a:spLocks/>
            </p:cNvSpPr>
            <p:nvPr/>
          </p:nvSpPr>
          <p:spPr>
            <a:xfrm>
              <a:off x="6437885" y="2295398"/>
              <a:ext cx="135382" cy="114554"/>
            </a:xfrm>
            <a:custGeom>
              <a:avLst/>
              <a:gdLst/>
              <a:ahLst/>
              <a:cxnLst/>
              <a:rect l="0" t="0" r="0" b="0"/>
              <a:pathLst>
                <a:path w="203073" h="171831">
                  <a:moveTo>
                    <a:pt x="0" y="0"/>
                  </a:moveTo>
                  <a:lnTo>
                    <a:pt x="203073" y="0"/>
                  </a:lnTo>
                  <a:lnTo>
                    <a:pt x="171831" y="171831"/>
                  </a:lnTo>
                  <a:lnTo>
                    <a:pt x="23431" y="171831"/>
                  </a:lnTo>
                  <a:close/>
                </a:path>
              </a:pathLst>
            </a:custGeom>
            <a:solidFill>
              <a:srgbClr val="C29C69"/>
            </a:solidFill>
            <a:ln w="11716">
              <a:solidFill>
                <a:srgbClr val="7D7054"/>
              </a:solidFill>
              <a:prstDash val="solid"/>
            </a:ln>
          </p:spPr>
          <p:txBody>
            <a:bodyPr/>
            <a:lstStyle/>
            <a:p>
              <a:endParaRPr sz="1200"/>
            </a:p>
          </p:txBody>
        </p:sp>
        <p:sp>
          <p:nvSpPr>
            <p:cNvPr id="302" name="s3-traveller__contour_302">
              <a:extLst>
                <a:ext uri="{FF2B5EF4-FFF2-40B4-BE49-F238E27FC236}">
                  <a16:creationId xmlns:a16="http://schemas.microsoft.com/office/drawing/2014/main" id="{281B8F0C-49D5-4325-AC65-3FEB2BEF2ED5}"/>
                </a:ext>
              </a:extLst>
            </p:cNvPr>
            <p:cNvSpPr>
              <a:spLocks/>
            </p:cNvSpPr>
            <p:nvPr/>
          </p:nvSpPr>
          <p:spPr>
            <a:xfrm>
              <a:off x="6442743" y="2222589"/>
              <a:ext cx="130524" cy="78016"/>
            </a:xfrm>
            <a:custGeom>
              <a:avLst/>
              <a:gdLst/>
              <a:ahLst/>
              <a:cxnLst/>
              <a:rect l="0" t="0" r="0" b="0"/>
              <a:pathLst>
                <a:path w="195786" h="117024">
                  <a:moveTo>
                    <a:pt x="524" y="117024"/>
                  </a:moveTo>
                  <a:lnTo>
                    <a:pt x="0" y="89125"/>
                  </a:lnTo>
                  <a:lnTo>
                    <a:pt x="4239" y="64856"/>
                  </a:lnTo>
                  <a:lnTo>
                    <a:pt x="12583" y="44291"/>
                  </a:lnTo>
                  <a:lnTo>
                    <a:pt x="24384" y="27518"/>
                  </a:lnTo>
                  <a:lnTo>
                    <a:pt x="38995" y="14621"/>
                  </a:lnTo>
                  <a:lnTo>
                    <a:pt x="55759" y="5677"/>
                  </a:lnTo>
                  <a:lnTo>
                    <a:pt x="74019" y="772"/>
                  </a:lnTo>
                  <a:lnTo>
                    <a:pt x="93126" y="0"/>
                  </a:lnTo>
                  <a:lnTo>
                    <a:pt x="112433" y="3429"/>
                  </a:lnTo>
                  <a:lnTo>
                    <a:pt x="131274" y="11144"/>
                  </a:lnTo>
                  <a:lnTo>
                    <a:pt x="149009" y="23241"/>
                  </a:lnTo>
                  <a:lnTo>
                    <a:pt x="164983" y="39795"/>
                  </a:lnTo>
                  <a:lnTo>
                    <a:pt x="178537" y="60884"/>
                  </a:lnTo>
                  <a:lnTo>
                    <a:pt x="189024" y="86601"/>
                  </a:lnTo>
                  <a:lnTo>
                    <a:pt x="195786" y="117024"/>
                  </a:lnTo>
                </a:path>
              </a:pathLst>
            </a:custGeom>
            <a:noFill/>
            <a:ln w="15621">
              <a:solidFill>
                <a:srgbClr val="7D7054"/>
              </a:solidFill>
              <a:prstDash val="solid"/>
            </a:ln>
          </p:spPr>
          <p:txBody>
            <a:bodyPr/>
            <a:lstStyle/>
            <a:p>
              <a:endParaRPr sz="1200"/>
            </a:p>
          </p:txBody>
        </p:sp>
        <p:sp>
          <p:nvSpPr>
            <p:cNvPr id="303" name="s3-traveller__line_303">
              <a:extLst>
                <a:ext uri="{FF2B5EF4-FFF2-40B4-BE49-F238E27FC236}">
                  <a16:creationId xmlns:a16="http://schemas.microsoft.com/office/drawing/2014/main" id="{A9810A5E-A407-4401-9EDA-17441A16F9EF}"/>
                </a:ext>
              </a:extLst>
            </p:cNvPr>
            <p:cNvSpPr>
              <a:spLocks/>
            </p:cNvSpPr>
            <p:nvPr/>
          </p:nvSpPr>
          <p:spPr>
            <a:xfrm>
              <a:off x="6453506" y="2316226"/>
              <a:ext cx="10414" cy="72898"/>
            </a:xfrm>
            <a:custGeom>
              <a:avLst/>
              <a:gdLst/>
              <a:ahLst/>
              <a:cxnLst/>
              <a:rect l="0" t="0" r="0" b="0"/>
              <a:pathLst>
                <a:path w="15621" h="109347">
                  <a:moveTo>
                    <a:pt x="0" y="0"/>
                  </a:moveTo>
                  <a:lnTo>
                    <a:pt x="15621" y="109347"/>
                  </a:lnTo>
                </a:path>
              </a:pathLst>
            </a:custGeom>
            <a:noFill/>
            <a:ln w="7810">
              <a:solidFill>
                <a:srgbClr val="E3C69A"/>
              </a:solidFill>
              <a:prstDash val="solid"/>
            </a:ln>
          </p:spPr>
          <p:txBody>
            <a:bodyPr/>
            <a:lstStyle/>
            <a:p>
              <a:endParaRPr sz="1200"/>
            </a:p>
          </p:txBody>
        </p:sp>
        <p:sp>
          <p:nvSpPr>
            <p:cNvPr id="304" name="s3-traveller__line_304">
              <a:extLst>
                <a:ext uri="{FF2B5EF4-FFF2-40B4-BE49-F238E27FC236}">
                  <a16:creationId xmlns:a16="http://schemas.microsoft.com/office/drawing/2014/main" id="{24D4B024-83CB-41A6-80B2-E47BDF021F96}"/>
                </a:ext>
              </a:extLst>
            </p:cNvPr>
            <p:cNvSpPr>
              <a:spLocks/>
            </p:cNvSpPr>
            <p:nvPr/>
          </p:nvSpPr>
          <p:spPr>
            <a:xfrm>
              <a:off x="6479541" y="2316226"/>
              <a:ext cx="5207" cy="72898"/>
            </a:xfrm>
            <a:custGeom>
              <a:avLst/>
              <a:gdLst/>
              <a:ahLst/>
              <a:cxnLst/>
              <a:rect l="0" t="0" r="0" b="0"/>
              <a:pathLst>
                <a:path w="7811" h="109347">
                  <a:moveTo>
                    <a:pt x="0" y="0"/>
                  </a:moveTo>
                  <a:lnTo>
                    <a:pt x="7811" y="109347"/>
                  </a:lnTo>
                </a:path>
              </a:pathLst>
            </a:custGeom>
            <a:noFill/>
            <a:ln w="7810">
              <a:solidFill>
                <a:srgbClr val="E3C69A"/>
              </a:solidFill>
              <a:prstDash val="solid"/>
            </a:ln>
          </p:spPr>
          <p:txBody>
            <a:bodyPr/>
            <a:lstStyle/>
            <a:p>
              <a:endParaRPr sz="1200"/>
            </a:p>
          </p:txBody>
        </p:sp>
        <p:sp>
          <p:nvSpPr>
            <p:cNvPr id="305" name="s3-traveller__line_305">
              <a:extLst>
                <a:ext uri="{FF2B5EF4-FFF2-40B4-BE49-F238E27FC236}">
                  <a16:creationId xmlns:a16="http://schemas.microsoft.com/office/drawing/2014/main" id="{1D87C1E2-9684-41B3-B076-436967E66ECF}"/>
                </a:ext>
              </a:extLst>
            </p:cNvPr>
            <p:cNvSpPr>
              <a:spLocks/>
            </p:cNvSpPr>
            <p:nvPr/>
          </p:nvSpPr>
          <p:spPr>
            <a:xfrm>
              <a:off x="6505576" y="2316226"/>
              <a:ext cx="63" cy="72898"/>
            </a:xfrm>
            <a:custGeom>
              <a:avLst/>
              <a:gdLst/>
              <a:ahLst/>
              <a:cxnLst/>
              <a:rect l="0" t="0" r="0" b="0"/>
              <a:pathLst>
                <a:path w="95" h="109347">
                  <a:moveTo>
                    <a:pt x="0" y="0"/>
                  </a:moveTo>
                  <a:lnTo>
                    <a:pt x="0" y="109347"/>
                  </a:lnTo>
                </a:path>
              </a:pathLst>
            </a:custGeom>
            <a:noFill/>
            <a:ln w="7810">
              <a:solidFill>
                <a:srgbClr val="E3C69A"/>
              </a:solidFill>
              <a:prstDash val="solid"/>
            </a:ln>
          </p:spPr>
          <p:txBody>
            <a:bodyPr/>
            <a:lstStyle/>
            <a:p>
              <a:endParaRPr sz="1200"/>
            </a:p>
          </p:txBody>
        </p:sp>
        <p:sp>
          <p:nvSpPr>
            <p:cNvPr id="306" name="s3-traveller__line_306">
              <a:extLst>
                <a:ext uri="{FF2B5EF4-FFF2-40B4-BE49-F238E27FC236}">
                  <a16:creationId xmlns:a16="http://schemas.microsoft.com/office/drawing/2014/main" id="{6064D5A4-9203-48C0-AE43-3AD6BC836C8F}"/>
                </a:ext>
              </a:extLst>
            </p:cNvPr>
            <p:cNvSpPr>
              <a:spLocks/>
            </p:cNvSpPr>
            <p:nvPr/>
          </p:nvSpPr>
          <p:spPr>
            <a:xfrm>
              <a:off x="6526404" y="2316226"/>
              <a:ext cx="5206" cy="72898"/>
            </a:xfrm>
            <a:custGeom>
              <a:avLst/>
              <a:gdLst/>
              <a:ahLst/>
              <a:cxnLst/>
              <a:rect l="0" t="0" r="0" b="0"/>
              <a:pathLst>
                <a:path w="7810" h="109347">
                  <a:moveTo>
                    <a:pt x="7810" y="0"/>
                  </a:moveTo>
                  <a:lnTo>
                    <a:pt x="0" y="109347"/>
                  </a:lnTo>
                </a:path>
              </a:pathLst>
            </a:custGeom>
            <a:noFill/>
            <a:ln w="7810">
              <a:solidFill>
                <a:srgbClr val="E3C69A"/>
              </a:solidFill>
              <a:prstDash val="solid"/>
            </a:ln>
          </p:spPr>
          <p:txBody>
            <a:bodyPr/>
            <a:lstStyle/>
            <a:p>
              <a:endParaRPr sz="1200"/>
            </a:p>
          </p:txBody>
        </p:sp>
        <p:sp>
          <p:nvSpPr>
            <p:cNvPr id="307" name="s3-traveller__ellipse_307">
              <a:extLst>
                <a:ext uri="{FF2B5EF4-FFF2-40B4-BE49-F238E27FC236}">
                  <a16:creationId xmlns:a16="http://schemas.microsoft.com/office/drawing/2014/main" id="{29C4C527-A33E-4745-BB15-494A711FE20B}"/>
                </a:ext>
              </a:extLst>
            </p:cNvPr>
            <p:cNvSpPr>
              <a:spLocks/>
            </p:cNvSpPr>
            <p:nvPr/>
          </p:nvSpPr>
          <p:spPr>
            <a:xfrm>
              <a:off x="6479541" y="2212086"/>
              <a:ext cx="46863" cy="72898"/>
            </a:xfrm>
            <a:prstGeom prst="ellipse">
              <a:avLst/>
            </a:prstGeom>
            <a:solidFill>
              <a:srgbClr val="B88B57"/>
            </a:solidFill>
            <a:ln w="0">
              <a:noFill/>
              <a:prstDash val="solid"/>
            </a:ln>
          </p:spPr>
          <p:txBody>
            <a:bodyPr/>
            <a:lstStyle/>
            <a:p>
              <a:endParaRPr sz="1200"/>
            </a:p>
          </p:txBody>
        </p:sp>
        <p:sp>
          <p:nvSpPr>
            <p:cNvPr id="308" name="s3-traveller__path_308">
              <a:extLst>
                <a:ext uri="{FF2B5EF4-FFF2-40B4-BE49-F238E27FC236}">
                  <a16:creationId xmlns:a16="http://schemas.microsoft.com/office/drawing/2014/main" id="{DC841BA2-8D88-4A22-A596-FFB2EB583F4B}"/>
                </a:ext>
              </a:extLst>
            </p:cNvPr>
            <p:cNvSpPr>
              <a:spLocks/>
            </p:cNvSpPr>
            <p:nvPr/>
          </p:nvSpPr>
          <p:spPr>
            <a:xfrm>
              <a:off x="6521197" y="2232914"/>
              <a:ext cx="31242" cy="20828"/>
            </a:xfrm>
            <a:custGeom>
              <a:avLst/>
              <a:gdLst/>
              <a:ahLst/>
              <a:cxnLst/>
              <a:rect l="0" t="0" r="0" b="0"/>
              <a:pathLst>
                <a:path w="46863" h="31242">
                  <a:moveTo>
                    <a:pt x="0" y="0"/>
                  </a:moveTo>
                  <a:lnTo>
                    <a:pt x="46863" y="23432"/>
                  </a:lnTo>
                  <a:lnTo>
                    <a:pt x="7810" y="31242"/>
                  </a:lnTo>
                  <a:close/>
                </a:path>
              </a:pathLst>
            </a:custGeom>
            <a:solidFill>
              <a:srgbClr val="CEAA5A"/>
            </a:solidFill>
            <a:ln w="0">
              <a:noFill/>
              <a:prstDash val="solid"/>
            </a:ln>
          </p:spPr>
          <p:txBody>
            <a:bodyPr/>
            <a:lstStyle/>
            <a:p>
              <a:endParaRPr sz="1200"/>
            </a:p>
          </p:txBody>
        </p:sp>
        <p:sp>
          <p:nvSpPr>
            <p:cNvPr id="309" name="s3-traveller__ellipse_309">
              <a:extLst>
                <a:ext uri="{FF2B5EF4-FFF2-40B4-BE49-F238E27FC236}">
                  <a16:creationId xmlns:a16="http://schemas.microsoft.com/office/drawing/2014/main" id="{85B2198F-A04C-44D8-B016-B6D80C7357EB}"/>
                </a:ext>
              </a:extLst>
            </p:cNvPr>
            <p:cNvSpPr>
              <a:spLocks/>
            </p:cNvSpPr>
            <p:nvPr/>
          </p:nvSpPr>
          <p:spPr>
            <a:xfrm>
              <a:off x="6510783" y="2227708"/>
              <a:ext cx="8331" cy="8331"/>
            </a:xfrm>
            <a:prstGeom prst="ellipse">
              <a:avLst/>
            </a:prstGeom>
            <a:solidFill>
              <a:srgbClr val="253C3A"/>
            </a:solidFill>
            <a:ln w="0">
              <a:noFill/>
              <a:prstDash val="solid"/>
            </a:ln>
          </p:spPr>
          <p:txBody>
            <a:bodyPr/>
            <a:lstStyle/>
            <a:p>
              <a:endParaRPr sz="1200"/>
            </a:p>
          </p:txBody>
        </p:sp>
        <p:sp>
          <p:nvSpPr>
            <p:cNvPr id="310" name="s3-traveller-small__ellipse_310">
              <a:extLst>
                <a:ext uri="{FF2B5EF4-FFF2-40B4-BE49-F238E27FC236}">
                  <a16:creationId xmlns:a16="http://schemas.microsoft.com/office/drawing/2014/main" id="{A5E2DBE6-1E4B-4496-B5FB-FD498F8BD1C0}"/>
                </a:ext>
              </a:extLst>
            </p:cNvPr>
            <p:cNvSpPr>
              <a:spLocks/>
            </p:cNvSpPr>
            <p:nvPr/>
          </p:nvSpPr>
          <p:spPr>
            <a:xfrm>
              <a:off x="6616446" y="2726310"/>
              <a:ext cx="326898" cy="33528"/>
            </a:xfrm>
            <a:prstGeom prst="ellipse">
              <a:avLst/>
            </a:prstGeom>
            <a:solidFill>
              <a:srgbClr val="DCE2D6"/>
            </a:solidFill>
            <a:ln w="0">
              <a:noFill/>
              <a:prstDash val="solid"/>
            </a:ln>
          </p:spPr>
          <p:txBody>
            <a:bodyPr/>
            <a:lstStyle/>
            <a:p>
              <a:endParaRPr sz="1200"/>
            </a:p>
          </p:txBody>
        </p:sp>
        <p:sp>
          <p:nvSpPr>
            <p:cNvPr id="311" name="s3-traveller-small__contour_311">
              <a:extLst>
                <a:ext uri="{FF2B5EF4-FFF2-40B4-BE49-F238E27FC236}">
                  <a16:creationId xmlns:a16="http://schemas.microsoft.com/office/drawing/2014/main" id="{0E5AC44A-9B1A-43E3-A7C2-9CDDC898A657}"/>
                </a:ext>
              </a:extLst>
            </p:cNvPr>
            <p:cNvSpPr>
              <a:spLocks/>
            </p:cNvSpPr>
            <p:nvPr/>
          </p:nvSpPr>
          <p:spPr>
            <a:xfrm>
              <a:off x="6629019" y="2474850"/>
              <a:ext cx="108966" cy="238887"/>
            </a:xfrm>
            <a:custGeom>
              <a:avLst/>
              <a:gdLst/>
              <a:ahLst/>
              <a:cxnLst/>
              <a:rect l="0" t="0" r="0" b="0"/>
              <a:pathLst>
                <a:path w="163449" h="358331">
                  <a:moveTo>
                    <a:pt x="163449" y="0"/>
                  </a:moveTo>
                  <a:lnTo>
                    <a:pt x="138303" y="207454"/>
                  </a:lnTo>
                  <a:lnTo>
                    <a:pt x="69151" y="352044"/>
                  </a:lnTo>
                  <a:lnTo>
                    <a:pt x="0" y="358331"/>
                  </a:lnTo>
                </a:path>
              </a:pathLst>
            </a:custGeom>
            <a:noFill/>
            <a:ln w="56579">
              <a:solidFill>
                <a:srgbClr val="5A625C"/>
              </a:solidFill>
              <a:prstDash val="solid"/>
            </a:ln>
          </p:spPr>
          <p:txBody>
            <a:bodyPr/>
            <a:lstStyle/>
            <a:p>
              <a:endParaRPr sz="1200"/>
            </a:p>
          </p:txBody>
        </p:sp>
        <p:sp>
          <p:nvSpPr>
            <p:cNvPr id="312" name="s3-traveller-small__contour_312">
              <a:extLst>
                <a:ext uri="{FF2B5EF4-FFF2-40B4-BE49-F238E27FC236}">
                  <a16:creationId xmlns:a16="http://schemas.microsoft.com/office/drawing/2014/main" id="{BF052ABA-E103-4B0C-A163-4613D2FC72B0}"/>
                </a:ext>
              </a:extLst>
            </p:cNvPr>
            <p:cNvSpPr>
              <a:spLocks/>
            </p:cNvSpPr>
            <p:nvPr/>
          </p:nvSpPr>
          <p:spPr>
            <a:xfrm>
              <a:off x="6805041" y="2474850"/>
              <a:ext cx="155066" cy="226314"/>
            </a:xfrm>
            <a:custGeom>
              <a:avLst/>
              <a:gdLst/>
              <a:ahLst/>
              <a:cxnLst/>
              <a:rect l="0" t="0" r="0" b="0"/>
              <a:pathLst>
                <a:path w="232600" h="339471">
                  <a:moveTo>
                    <a:pt x="0" y="0"/>
                  </a:moveTo>
                  <a:lnTo>
                    <a:pt x="81724" y="201168"/>
                  </a:lnTo>
                  <a:lnTo>
                    <a:pt x="169735" y="333185"/>
                  </a:lnTo>
                  <a:lnTo>
                    <a:pt x="232600" y="339471"/>
                  </a:lnTo>
                </a:path>
              </a:pathLst>
            </a:custGeom>
            <a:noFill/>
            <a:ln w="56579">
              <a:solidFill>
                <a:srgbClr val="5A625C"/>
              </a:solidFill>
              <a:prstDash val="solid"/>
            </a:ln>
          </p:spPr>
          <p:txBody>
            <a:bodyPr/>
            <a:lstStyle/>
            <a:p>
              <a:endParaRPr sz="1200"/>
            </a:p>
          </p:txBody>
        </p:sp>
        <p:sp>
          <p:nvSpPr>
            <p:cNvPr id="313" name="s3-traveller-small__contour_313">
              <a:extLst>
                <a:ext uri="{FF2B5EF4-FFF2-40B4-BE49-F238E27FC236}">
                  <a16:creationId xmlns:a16="http://schemas.microsoft.com/office/drawing/2014/main" id="{378F0B80-670E-43CC-83F1-85E6208EAD25}"/>
                </a:ext>
              </a:extLst>
            </p:cNvPr>
            <p:cNvSpPr>
              <a:spLocks/>
            </p:cNvSpPr>
            <p:nvPr/>
          </p:nvSpPr>
          <p:spPr>
            <a:xfrm>
              <a:off x="6696075" y="2267903"/>
              <a:ext cx="155067" cy="215328"/>
            </a:xfrm>
            <a:custGeom>
              <a:avLst/>
              <a:gdLst/>
              <a:ahLst/>
              <a:cxnLst/>
              <a:rect l="0" t="0" r="0" b="0"/>
              <a:pathLst>
                <a:path w="232601" h="322993">
                  <a:moveTo>
                    <a:pt x="25146" y="33814"/>
                  </a:moveTo>
                  <a:lnTo>
                    <a:pt x="32318" y="25594"/>
                  </a:lnTo>
                  <a:lnTo>
                    <a:pt x="41110" y="18545"/>
                  </a:lnTo>
                  <a:lnTo>
                    <a:pt x="51302" y="12640"/>
                  </a:lnTo>
                  <a:lnTo>
                    <a:pt x="62655" y="7877"/>
                  </a:lnTo>
                  <a:lnTo>
                    <a:pt x="74971" y="4248"/>
                  </a:lnTo>
                  <a:lnTo>
                    <a:pt x="88011" y="1724"/>
                  </a:lnTo>
                  <a:lnTo>
                    <a:pt x="101556" y="314"/>
                  </a:lnTo>
                  <a:lnTo>
                    <a:pt x="115376" y="0"/>
                  </a:lnTo>
                  <a:lnTo>
                    <a:pt x="129254" y="772"/>
                  </a:lnTo>
                  <a:lnTo>
                    <a:pt x="142961" y="2610"/>
                  </a:lnTo>
                  <a:lnTo>
                    <a:pt x="156277" y="5515"/>
                  </a:lnTo>
                  <a:lnTo>
                    <a:pt x="168983" y="9468"/>
                  </a:lnTo>
                  <a:lnTo>
                    <a:pt x="180842" y="14468"/>
                  </a:lnTo>
                  <a:lnTo>
                    <a:pt x="191653" y="20488"/>
                  </a:lnTo>
                  <a:lnTo>
                    <a:pt x="201168" y="27527"/>
                  </a:lnTo>
                  <a:lnTo>
                    <a:pt x="232601" y="322993"/>
                  </a:lnTo>
                  <a:lnTo>
                    <a:pt x="0" y="322993"/>
                  </a:lnTo>
                  <a:close/>
                </a:path>
              </a:pathLst>
            </a:custGeom>
            <a:solidFill>
              <a:srgbClr val="8196A0"/>
            </a:solidFill>
            <a:ln w="8801">
              <a:solidFill>
                <a:srgbClr val="566861"/>
              </a:solidFill>
              <a:prstDash val="solid"/>
            </a:ln>
          </p:spPr>
          <p:txBody>
            <a:bodyPr/>
            <a:lstStyle/>
            <a:p>
              <a:endParaRPr sz="1200"/>
            </a:p>
          </p:txBody>
        </p:sp>
        <p:sp>
          <p:nvSpPr>
            <p:cNvPr id="314" name="s3-traveller-small__ellipse_314">
              <a:extLst>
                <a:ext uri="{FF2B5EF4-FFF2-40B4-BE49-F238E27FC236}">
                  <a16:creationId xmlns:a16="http://schemas.microsoft.com/office/drawing/2014/main" id="{455312C0-742D-4C78-A9ED-45BA17428EF8}"/>
                </a:ext>
              </a:extLst>
            </p:cNvPr>
            <p:cNvSpPr>
              <a:spLocks/>
            </p:cNvSpPr>
            <p:nvPr/>
          </p:nvSpPr>
          <p:spPr>
            <a:xfrm>
              <a:off x="6712839" y="2139570"/>
              <a:ext cx="108966" cy="129921"/>
            </a:xfrm>
            <a:prstGeom prst="ellipse">
              <a:avLst/>
            </a:prstGeom>
            <a:solidFill>
              <a:srgbClr val="BD8B67"/>
            </a:solidFill>
            <a:ln w="6287">
              <a:solidFill>
                <a:srgbClr val="6F6554"/>
              </a:solidFill>
              <a:prstDash val="solid"/>
            </a:ln>
          </p:spPr>
          <p:txBody>
            <a:bodyPr/>
            <a:lstStyle/>
            <a:p>
              <a:endParaRPr sz="1200"/>
            </a:p>
          </p:txBody>
        </p:sp>
        <p:sp>
          <p:nvSpPr>
            <p:cNvPr id="315" name="s3-traveller-small__contour_315">
              <a:extLst>
                <a:ext uri="{FF2B5EF4-FFF2-40B4-BE49-F238E27FC236}">
                  <a16:creationId xmlns:a16="http://schemas.microsoft.com/office/drawing/2014/main" id="{8EA8A897-AEA9-4EA0-8A9C-01D054451F81}"/>
                </a:ext>
              </a:extLst>
            </p:cNvPr>
            <p:cNvSpPr>
              <a:spLocks/>
            </p:cNvSpPr>
            <p:nvPr/>
          </p:nvSpPr>
          <p:spPr>
            <a:xfrm>
              <a:off x="6706596" y="2131156"/>
              <a:ext cx="115208" cy="79660"/>
            </a:xfrm>
            <a:custGeom>
              <a:avLst/>
              <a:gdLst/>
              <a:ahLst/>
              <a:cxnLst/>
              <a:rect l="0" t="0" r="0" b="0"/>
              <a:pathLst>
                <a:path w="172812" h="119491">
                  <a:moveTo>
                    <a:pt x="3077" y="119491"/>
                  </a:moveTo>
                  <a:lnTo>
                    <a:pt x="0" y="94593"/>
                  </a:lnTo>
                  <a:lnTo>
                    <a:pt x="562" y="72676"/>
                  </a:lnTo>
                  <a:lnTo>
                    <a:pt x="4382" y="53711"/>
                  </a:lnTo>
                  <a:lnTo>
                    <a:pt x="11097" y="37662"/>
                  </a:lnTo>
                  <a:lnTo>
                    <a:pt x="20307" y="24498"/>
                  </a:lnTo>
                  <a:lnTo>
                    <a:pt x="31642" y="14183"/>
                  </a:lnTo>
                  <a:lnTo>
                    <a:pt x="44720" y="6677"/>
                  </a:lnTo>
                  <a:lnTo>
                    <a:pt x="59169" y="1962"/>
                  </a:lnTo>
                  <a:lnTo>
                    <a:pt x="74590" y="0"/>
                  </a:lnTo>
                  <a:lnTo>
                    <a:pt x="90621" y="743"/>
                  </a:lnTo>
                  <a:lnTo>
                    <a:pt x="106880" y="4181"/>
                  </a:lnTo>
                  <a:lnTo>
                    <a:pt x="122977" y="10258"/>
                  </a:lnTo>
                  <a:lnTo>
                    <a:pt x="138532" y="18955"/>
                  </a:lnTo>
                  <a:lnTo>
                    <a:pt x="153181" y="30232"/>
                  </a:lnTo>
                  <a:lnTo>
                    <a:pt x="166526" y="44053"/>
                  </a:lnTo>
                  <a:lnTo>
                    <a:pt x="172812" y="100632"/>
                  </a:lnTo>
                  <a:lnTo>
                    <a:pt x="160477" y="90145"/>
                  </a:lnTo>
                  <a:lnTo>
                    <a:pt x="148600" y="81296"/>
                  </a:lnTo>
                  <a:lnTo>
                    <a:pt x="137103" y="74028"/>
                  </a:lnTo>
                  <a:lnTo>
                    <a:pt x="125949" y="68304"/>
                  </a:lnTo>
                  <a:lnTo>
                    <a:pt x="115072" y="64075"/>
                  </a:lnTo>
                  <a:lnTo>
                    <a:pt x="104413" y="61303"/>
                  </a:lnTo>
                  <a:lnTo>
                    <a:pt x="93926" y="59941"/>
                  </a:lnTo>
                  <a:lnTo>
                    <a:pt x="83553" y="59941"/>
                  </a:lnTo>
                  <a:lnTo>
                    <a:pt x="73238" y="61255"/>
                  </a:lnTo>
                  <a:lnTo>
                    <a:pt x="62913" y="63846"/>
                  </a:lnTo>
                  <a:lnTo>
                    <a:pt x="52540" y="67666"/>
                  </a:lnTo>
                  <a:lnTo>
                    <a:pt x="42053" y="72666"/>
                  </a:lnTo>
                  <a:lnTo>
                    <a:pt x="31394" y="78810"/>
                  </a:lnTo>
                  <a:lnTo>
                    <a:pt x="20517" y="86058"/>
                  </a:lnTo>
                  <a:lnTo>
                    <a:pt x="9363" y="94345"/>
                  </a:lnTo>
                  <a:close/>
                </a:path>
              </a:pathLst>
            </a:custGeom>
            <a:solidFill>
              <a:srgbClr val="4E4D40"/>
            </a:solidFill>
            <a:ln w="10687">
              <a:noFill/>
              <a:prstDash val="solid"/>
            </a:ln>
          </p:spPr>
          <p:txBody>
            <a:bodyPr/>
            <a:lstStyle/>
            <a:p>
              <a:endParaRPr sz="1200"/>
            </a:p>
          </p:txBody>
        </p:sp>
        <p:sp>
          <p:nvSpPr>
            <p:cNvPr id="316" name="s3-traveller-small__path_316">
              <a:extLst>
                <a:ext uri="{FF2B5EF4-FFF2-40B4-BE49-F238E27FC236}">
                  <a16:creationId xmlns:a16="http://schemas.microsoft.com/office/drawing/2014/main" id="{A8C62C8F-6568-42A0-8C6C-0FB31F7A540A}"/>
                </a:ext>
              </a:extLst>
            </p:cNvPr>
            <p:cNvSpPr>
              <a:spLocks/>
            </p:cNvSpPr>
            <p:nvPr/>
          </p:nvSpPr>
          <p:spPr>
            <a:xfrm>
              <a:off x="6813423" y="2202435"/>
              <a:ext cx="25146" cy="29337"/>
            </a:xfrm>
            <a:custGeom>
              <a:avLst/>
              <a:gdLst/>
              <a:ahLst/>
              <a:cxnLst/>
              <a:rect l="0" t="0" r="0" b="0"/>
              <a:pathLst>
                <a:path w="37719" h="44006">
                  <a:moveTo>
                    <a:pt x="0" y="0"/>
                  </a:moveTo>
                  <a:lnTo>
                    <a:pt x="37719" y="25146"/>
                  </a:lnTo>
                  <a:lnTo>
                    <a:pt x="0" y="44006"/>
                  </a:lnTo>
                  <a:close/>
                </a:path>
              </a:pathLst>
            </a:custGeom>
            <a:solidFill>
              <a:srgbClr val="BD8B67"/>
            </a:solidFill>
            <a:ln w="5029">
              <a:solidFill>
                <a:srgbClr val="6F6554"/>
              </a:solidFill>
              <a:prstDash val="solid"/>
            </a:ln>
          </p:spPr>
          <p:txBody>
            <a:bodyPr/>
            <a:lstStyle/>
            <a:p>
              <a:endParaRPr sz="1200"/>
            </a:p>
          </p:txBody>
        </p:sp>
        <p:sp>
          <p:nvSpPr>
            <p:cNvPr id="317" name="s3-traveller-small__ellipse_317">
              <a:extLst>
                <a:ext uri="{FF2B5EF4-FFF2-40B4-BE49-F238E27FC236}">
                  <a16:creationId xmlns:a16="http://schemas.microsoft.com/office/drawing/2014/main" id="{9E009728-C414-4C73-9EB5-AAE70124BB75}"/>
                </a:ext>
              </a:extLst>
            </p:cNvPr>
            <p:cNvSpPr>
              <a:spLocks/>
            </p:cNvSpPr>
            <p:nvPr/>
          </p:nvSpPr>
          <p:spPr>
            <a:xfrm>
              <a:off x="6796659" y="2194053"/>
              <a:ext cx="8382" cy="8382"/>
            </a:xfrm>
            <a:prstGeom prst="ellipse">
              <a:avLst/>
            </a:prstGeom>
            <a:solidFill>
              <a:srgbClr val="333E34"/>
            </a:solidFill>
            <a:ln w="0">
              <a:noFill/>
              <a:prstDash val="solid"/>
            </a:ln>
          </p:spPr>
          <p:txBody>
            <a:bodyPr/>
            <a:lstStyle/>
            <a:p>
              <a:endParaRPr sz="1200"/>
            </a:p>
          </p:txBody>
        </p:sp>
        <p:sp>
          <p:nvSpPr>
            <p:cNvPr id="318" name="s3-traveller-small__contour_318">
              <a:extLst>
                <a:ext uri="{FF2B5EF4-FFF2-40B4-BE49-F238E27FC236}">
                  <a16:creationId xmlns:a16="http://schemas.microsoft.com/office/drawing/2014/main" id="{773FF3AF-09F4-464D-B781-0A0CA98C6C23}"/>
                </a:ext>
              </a:extLst>
            </p:cNvPr>
            <p:cNvSpPr>
              <a:spLocks/>
            </p:cNvSpPr>
            <p:nvPr/>
          </p:nvSpPr>
          <p:spPr>
            <a:xfrm>
              <a:off x="6817614" y="2311401"/>
              <a:ext cx="129920" cy="62864"/>
            </a:xfrm>
            <a:custGeom>
              <a:avLst/>
              <a:gdLst/>
              <a:ahLst/>
              <a:cxnLst/>
              <a:rect l="0" t="0" r="0" b="0"/>
              <a:pathLst>
                <a:path w="194881" h="94297">
                  <a:moveTo>
                    <a:pt x="0" y="0"/>
                  </a:moveTo>
                  <a:lnTo>
                    <a:pt x="69151" y="94297"/>
                  </a:lnTo>
                  <a:lnTo>
                    <a:pt x="194881" y="44006"/>
                  </a:lnTo>
                </a:path>
              </a:pathLst>
            </a:custGeom>
            <a:noFill/>
            <a:ln w="56579">
              <a:solidFill>
                <a:srgbClr val="BD8B67"/>
              </a:solidFill>
              <a:prstDash val="solid"/>
            </a:ln>
          </p:spPr>
          <p:txBody>
            <a:bodyPr/>
            <a:lstStyle/>
            <a:p>
              <a:endParaRPr sz="1200"/>
            </a:p>
          </p:txBody>
        </p:sp>
        <p:sp>
          <p:nvSpPr>
            <p:cNvPr id="319" name="s3-traveller-small__contour_319">
              <a:extLst>
                <a:ext uri="{FF2B5EF4-FFF2-40B4-BE49-F238E27FC236}">
                  <a16:creationId xmlns:a16="http://schemas.microsoft.com/office/drawing/2014/main" id="{C4338294-0651-408F-9D41-A5126A2B907A}"/>
                </a:ext>
              </a:extLst>
            </p:cNvPr>
            <p:cNvSpPr>
              <a:spLocks/>
            </p:cNvSpPr>
            <p:nvPr/>
          </p:nvSpPr>
          <p:spPr>
            <a:xfrm>
              <a:off x="6817614" y="2307209"/>
              <a:ext cx="29336" cy="37718"/>
            </a:xfrm>
            <a:custGeom>
              <a:avLst/>
              <a:gdLst/>
              <a:ahLst/>
              <a:cxnLst/>
              <a:rect l="0" t="0" r="0" b="0"/>
              <a:pathLst>
                <a:path w="44005" h="56578">
                  <a:moveTo>
                    <a:pt x="0" y="0"/>
                  </a:moveTo>
                  <a:lnTo>
                    <a:pt x="44005" y="56578"/>
                  </a:lnTo>
                </a:path>
              </a:pathLst>
            </a:custGeom>
            <a:noFill/>
            <a:ln w="75438">
              <a:solidFill>
                <a:srgbClr val="8196A0"/>
              </a:solidFill>
              <a:prstDash val="solid"/>
            </a:ln>
          </p:spPr>
          <p:txBody>
            <a:bodyPr/>
            <a:lstStyle/>
            <a:p>
              <a:endParaRPr sz="1200"/>
            </a:p>
          </p:txBody>
        </p:sp>
        <p:sp>
          <p:nvSpPr>
            <p:cNvPr id="320" name="s3-traveller-small__contour_320">
              <a:extLst>
                <a:ext uri="{FF2B5EF4-FFF2-40B4-BE49-F238E27FC236}">
                  <a16:creationId xmlns:a16="http://schemas.microsoft.com/office/drawing/2014/main" id="{E1321ADE-9788-44C8-A400-1F5B39DF48EA}"/>
                </a:ext>
              </a:extLst>
            </p:cNvPr>
            <p:cNvSpPr>
              <a:spLocks/>
            </p:cNvSpPr>
            <p:nvPr/>
          </p:nvSpPr>
          <p:spPr>
            <a:xfrm>
              <a:off x="6629019" y="2307209"/>
              <a:ext cx="83820" cy="92202"/>
            </a:xfrm>
            <a:custGeom>
              <a:avLst/>
              <a:gdLst/>
              <a:ahLst/>
              <a:cxnLst/>
              <a:rect l="0" t="0" r="0" b="0"/>
              <a:pathLst>
                <a:path w="125730" h="138303">
                  <a:moveTo>
                    <a:pt x="125730" y="0"/>
                  </a:moveTo>
                  <a:lnTo>
                    <a:pt x="62865" y="106871"/>
                  </a:lnTo>
                  <a:lnTo>
                    <a:pt x="0" y="138303"/>
                  </a:lnTo>
                </a:path>
              </a:pathLst>
            </a:custGeom>
            <a:noFill/>
            <a:ln w="50292">
              <a:solidFill>
                <a:srgbClr val="BD8B67"/>
              </a:solidFill>
              <a:prstDash val="solid"/>
            </a:ln>
          </p:spPr>
          <p:txBody>
            <a:bodyPr/>
            <a:lstStyle/>
            <a:p>
              <a:endParaRPr sz="1200"/>
            </a:p>
          </p:txBody>
        </p:sp>
        <p:sp>
          <p:nvSpPr>
            <p:cNvPr id="321" name="s3-traveller-small__contour_321">
              <a:extLst>
                <a:ext uri="{FF2B5EF4-FFF2-40B4-BE49-F238E27FC236}">
                  <a16:creationId xmlns:a16="http://schemas.microsoft.com/office/drawing/2014/main" id="{92605DA7-C051-41E7-A83B-50D9A58A1BED}"/>
                </a:ext>
              </a:extLst>
            </p:cNvPr>
            <p:cNvSpPr>
              <a:spLocks/>
            </p:cNvSpPr>
            <p:nvPr/>
          </p:nvSpPr>
          <p:spPr>
            <a:xfrm>
              <a:off x="6691884" y="2303019"/>
              <a:ext cx="20955" cy="37718"/>
            </a:xfrm>
            <a:custGeom>
              <a:avLst/>
              <a:gdLst/>
              <a:ahLst/>
              <a:cxnLst/>
              <a:rect l="0" t="0" r="0" b="0"/>
              <a:pathLst>
                <a:path w="31433" h="56578">
                  <a:moveTo>
                    <a:pt x="31433" y="0"/>
                  </a:moveTo>
                  <a:lnTo>
                    <a:pt x="0" y="56578"/>
                  </a:lnTo>
                </a:path>
              </a:pathLst>
            </a:custGeom>
            <a:noFill/>
            <a:ln w="69152">
              <a:solidFill>
                <a:srgbClr val="8196A0"/>
              </a:solidFill>
              <a:prstDash val="solid"/>
            </a:ln>
          </p:spPr>
          <p:txBody>
            <a:bodyPr/>
            <a:lstStyle/>
            <a:p>
              <a:endParaRPr sz="1200"/>
            </a:p>
          </p:txBody>
        </p:sp>
        <p:sp>
          <p:nvSpPr>
            <p:cNvPr id="322" name="s3-traveller-small__contour_322">
              <a:extLst>
                <a:ext uri="{FF2B5EF4-FFF2-40B4-BE49-F238E27FC236}">
                  <a16:creationId xmlns:a16="http://schemas.microsoft.com/office/drawing/2014/main" id="{81E60EE2-D3AD-47C8-B0E7-4EB6F57B6116}"/>
                </a:ext>
              </a:extLst>
            </p:cNvPr>
            <p:cNvSpPr>
              <a:spLocks/>
            </p:cNvSpPr>
            <p:nvPr/>
          </p:nvSpPr>
          <p:spPr>
            <a:xfrm>
              <a:off x="6851142" y="2370075"/>
              <a:ext cx="108966" cy="92202"/>
            </a:xfrm>
            <a:custGeom>
              <a:avLst/>
              <a:gdLst/>
              <a:ahLst/>
              <a:cxnLst/>
              <a:rect l="0" t="0" r="0" b="0"/>
              <a:pathLst>
                <a:path w="163449" h="138303">
                  <a:moveTo>
                    <a:pt x="0" y="0"/>
                  </a:moveTo>
                  <a:lnTo>
                    <a:pt x="163449" y="0"/>
                  </a:lnTo>
                  <a:lnTo>
                    <a:pt x="138303" y="138303"/>
                  </a:lnTo>
                  <a:lnTo>
                    <a:pt x="18860" y="138303"/>
                  </a:lnTo>
                  <a:close/>
                </a:path>
              </a:pathLst>
            </a:custGeom>
            <a:solidFill>
              <a:srgbClr val="C29C69"/>
            </a:solidFill>
            <a:ln w="9430">
              <a:solidFill>
                <a:srgbClr val="7D7054"/>
              </a:solidFill>
              <a:prstDash val="solid"/>
            </a:ln>
          </p:spPr>
          <p:txBody>
            <a:bodyPr/>
            <a:lstStyle/>
            <a:p>
              <a:endParaRPr sz="1200"/>
            </a:p>
          </p:txBody>
        </p:sp>
        <p:sp>
          <p:nvSpPr>
            <p:cNvPr id="323" name="s3-traveller-small__contour_323">
              <a:extLst>
                <a:ext uri="{FF2B5EF4-FFF2-40B4-BE49-F238E27FC236}">
                  <a16:creationId xmlns:a16="http://schemas.microsoft.com/office/drawing/2014/main" id="{C6B201D0-EC36-41B2-B55E-44B7B883342E}"/>
                </a:ext>
              </a:extLst>
            </p:cNvPr>
            <p:cNvSpPr>
              <a:spLocks/>
            </p:cNvSpPr>
            <p:nvPr/>
          </p:nvSpPr>
          <p:spPr>
            <a:xfrm>
              <a:off x="6855053" y="2311471"/>
              <a:ext cx="105054" cy="62795"/>
            </a:xfrm>
            <a:custGeom>
              <a:avLst/>
              <a:gdLst/>
              <a:ahLst/>
              <a:cxnLst/>
              <a:rect l="0" t="0" r="0" b="0"/>
              <a:pathLst>
                <a:path w="157582" h="94193">
                  <a:moveTo>
                    <a:pt x="419" y="94193"/>
                  </a:moveTo>
                  <a:lnTo>
                    <a:pt x="0" y="71742"/>
                  </a:lnTo>
                  <a:lnTo>
                    <a:pt x="3410" y="52207"/>
                  </a:lnTo>
                  <a:lnTo>
                    <a:pt x="10125" y="35652"/>
                  </a:lnTo>
                  <a:lnTo>
                    <a:pt x="19631" y="22155"/>
                  </a:lnTo>
                  <a:lnTo>
                    <a:pt x="31385" y="11773"/>
                  </a:lnTo>
                  <a:lnTo>
                    <a:pt x="44882" y="4572"/>
                  </a:lnTo>
                  <a:lnTo>
                    <a:pt x="59579" y="629"/>
                  </a:lnTo>
                  <a:lnTo>
                    <a:pt x="74952" y="0"/>
                  </a:lnTo>
                  <a:lnTo>
                    <a:pt x="90488" y="2762"/>
                  </a:lnTo>
                  <a:lnTo>
                    <a:pt x="105661" y="8973"/>
                  </a:lnTo>
                  <a:lnTo>
                    <a:pt x="119929" y="18707"/>
                  </a:lnTo>
                  <a:lnTo>
                    <a:pt x="132788" y="32033"/>
                  </a:lnTo>
                  <a:lnTo>
                    <a:pt x="143694" y="49006"/>
                  </a:lnTo>
                  <a:lnTo>
                    <a:pt x="152133" y="69704"/>
                  </a:lnTo>
                  <a:lnTo>
                    <a:pt x="157582" y="94193"/>
                  </a:lnTo>
                </a:path>
              </a:pathLst>
            </a:custGeom>
            <a:noFill/>
            <a:ln w="12573">
              <a:solidFill>
                <a:srgbClr val="7D7054"/>
              </a:solidFill>
              <a:prstDash val="solid"/>
            </a:ln>
          </p:spPr>
          <p:txBody>
            <a:bodyPr/>
            <a:lstStyle/>
            <a:p>
              <a:endParaRPr sz="1200"/>
            </a:p>
          </p:txBody>
        </p:sp>
        <p:sp>
          <p:nvSpPr>
            <p:cNvPr id="324" name="s3-traveller-small__line_324">
              <a:extLst>
                <a:ext uri="{FF2B5EF4-FFF2-40B4-BE49-F238E27FC236}">
                  <a16:creationId xmlns:a16="http://schemas.microsoft.com/office/drawing/2014/main" id="{C299011D-DFFF-40B0-9203-E282295D339A}"/>
                </a:ext>
              </a:extLst>
            </p:cNvPr>
            <p:cNvSpPr>
              <a:spLocks/>
            </p:cNvSpPr>
            <p:nvPr/>
          </p:nvSpPr>
          <p:spPr>
            <a:xfrm>
              <a:off x="6863715" y="2386839"/>
              <a:ext cx="8382" cy="58674"/>
            </a:xfrm>
            <a:custGeom>
              <a:avLst/>
              <a:gdLst/>
              <a:ahLst/>
              <a:cxnLst/>
              <a:rect l="0" t="0" r="0" b="0"/>
              <a:pathLst>
                <a:path w="12573" h="88011">
                  <a:moveTo>
                    <a:pt x="0" y="0"/>
                  </a:moveTo>
                  <a:lnTo>
                    <a:pt x="12573" y="88011"/>
                  </a:lnTo>
                </a:path>
              </a:pathLst>
            </a:custGeom>
            <a:noFill/>
            <a:ln w="6287">
              <a:solidFill>
                <a:srgbClr val="E3C69A"/>
              </a:solidFill>
              <a:prstDash val="solid"/>
            </a:ln>
          </p:spPr>
          <p:txBody>
            <a:bodyPr/>
            <a:lstStyle/>
            <a:p>
              <a:endParaRPr sz="1200"/>
            </a:p>
          </p:txBody>
        </p:sp>
        <p:sp>
          <p:nvSpPr>
            <p:cNvPr id="325" name="s3-traveller-small__line_325">
              <a:extLst>
                <a:ext uri="{FF2B5EF4-FFF2-40B4-BE49-F238E27FC236}">
                  <a16:creationId xmlns:a16="http://schemas.microsoft.com/office/drawing/2014/main" id="{79CAC5DB-4741-4B56-BFAF-1AB31AEA8FCC}"/>
                </a:ext>
              </a:extLst>
            </p:cNvPr>
            <p:cNvSpPr>
              <a:spLocks/>
            </p:cNvSpPr>
            <p:nvPr/>
          </p:nvSpPr>
          <p:spPr>
            <a:xfrm>
              <a:off x="6884670" y="2386839"/>
              <a:ext cx="4190" cy="58674"/>
            </a:xfrm>
            <a:custGeom>
              <a:avLst/>
              <a:gdLst/>
              <a:ahLst/>
              <a:cxnLst/>
              <a:rect l="0" t="0" r="0" b="0"/>
              <a:pathLst>
                <a:path w="6286" h="88011">
                  <a:moveTo>
                    <a:pt x="0" y="0"/>
                  </a:moveTo>
                  <a:lnTo>
                    <a:pt x="6286" y="88011"/>
                  </a:lnTo>
                </a:path>
              </a:pathLst>
            </a:custGeom>
            <a:noFill/>
            <a:ln w="6287">
              <a:solidFill>
                <a:srgbClr val="E3C69A"/>
              </a:solidFill>
              <a:prstDash val="solid"/>
            </a:ln>
          </p:spPr>
          <p:txBody>
            <a:bodyPr/>
            <a:lstStyle/>
            <a:p>
              <a:endParaRPr sz="1200"/>
            </a:p>
          </p:txBody>
        </p:sp>
        <p:sp>
          <p:nvSpPr>
            <p:cNvPr id="326" name="s3-traveller-small__line_326">
              <a:extLst>
                <a:ext uri="{FF2B5EF4-FFF2-40B4-BE49-F238E27FC236}">
                  <a16:creationId xmlns:a16="http://schemas.microsoft.com/office/drawing/2014/main" id="{2C078588-D46A-4BA3-8842-FF3AA7162B98}"/>
                </a:ext>
              </a:extLst>
            </p:cNvPr>
            <p:cNvSpPr>
              <a:spLocks/>
            </p:cNvSpPr>
            <p:nvPr/>
          </p:nvSpPr>
          <p:spPr>
            <a:xfrm>
              <a:off x="6905625" y="2386839"/>
              <a:ext cx="63" cy="58674"/>
            </a:xfrm>
            <a:custGeom>
              <a:avLst/>
              <a:gdLst/>
              <a:ahLst/>
              <a:cxnLst/>
              <a:rect l="0" t="0" r="0" b="0"/>
              <a:pathLst>
                <a:path w="95" h="88011">
                  <a:moveTo>
                    <a:pt x="0" y="0"/>
                  </a:moveTo>
                  <a:lnTo>
                    <a:pt x="0" y="88011"/>
                  </a:lnTo>
                </a:path>
              </a:pathLst>
            </a:custGeom>
            <a:noFill/>
            <a:ln w="6287">
              <a:solidFill>
                <a:srgbClr val="E3C69A"/>
              </a:solidFill>
              <a:prstDash val="solid"/>
            </a:ln>
          </p:spPr>
          <p:txBody>
            <a:bodyPr/>
            <a:lstStyle/>
            <a:p>
              <a:endParaRPr sz="1200"/>
            </a:p>
          </p:txBody>
        </p:sp>
        <p:sp>
          <p:nvSpPr>
            <p:cNvPr id="327" name="s3-traveller-small__line_327">
              <a:extLst>
                <a:ext uri="{FF2B5EF4-FFF2-40B4-BE49-F238E27FC236}">
                  <a16:creationId xmlns:a16="http://schemas.microsoft.com/office/drawing/2014/main" id="{46F94474-A721-4025-915C-A68033EAAE2F}"/>
                </a:ext>
              </a:extLst>
            </p:cNvPr>
            <p:cNvSpPr>
              <a:spLocks/>
            </p:cNvSpPr>
            <p:nvPr/>
          </p:nvSpPr>
          <p:spPr>
            <a:xfrm>
              <a:off x="6922389" y="2386839"/>
              <a:ext cx="4190" cy="58674"/>
            </a:xfrm>
            <a:custGeom>
              <a:avLst/>
              <a:gdLst/>
              <a:ahLst/>
              <a:cxnLst/>
              <a:rect l="0" t="0" r="0" b="0"/>
              <a:pathLst>
                <a:path w="6286" h="88011">
                  <a:moveTo>
                    <a:pt x="6286" y="0"/>
                  </a:moveTo>
                  <a:lnTo>
                    <a:pt x="0" y="88011"/>
                  </a:lnTo>
                </a:path>
              </a:pathLst>
            </a:custGeom>
            <a:noFill/>
            <a:ln w="6287">
              <a:solidFill>
                <a:srgbClr val="E3C69A"/>
              </a:solidFill>
              <a:prstDash val="solid"/>
            </a:ln>
          </p:spPr>
          <p:txBody>
            <a:bodyPr/>
            <a:lstStyle/>
            <a:p>
              <a:endParaRPr sz="1200"/>
            </a:p>
          </p:txBody>
        </p:sp>
        <p:sp>
          <p:nvSpPr>
            <p:cNvPr id="328" name="s3-traveller-small__ellipse_328">
              <a:extLst>
                <a:ext uri="{FF2B5EF4-FFF2-40B4-BE49-F238E27FC236}">
                  <a16:creationId xmlns:a16="http://schemas.microsoft.com/office/drawing/2014/main" id="{B0DE26AE-3D7C-421B-8E77-38642F682884}"/>
                </a:ext>
              </a:extLst>
            </p:cNvPr>
            <p:cNvSpPr>
              <a:spLocks/>
            </p:cNvSpPr>
            <p:nvPr/>
          </p:nvSpPr>
          <p:spPr>
            <a:xfrm>
              <a:off x="6884670" y="2303019"/>
              <a:ext cx="37719" cy="58674"/>
            </a:xfrm>
            <a:prstGeom prst="ellipse">
              <a:avLst/>
            </a:prstGeom>
            <a:solidFill>
              <a:srgbClr val="B88B57"/>
            </a:solidFill>
            <a:ln w="0">
              <a:noFill/>
              <a:prstDash val="solid"/>
            </a:ln>
          </p:spPr>
          <p:txBody>
            <a:bodyPr/>
            <a:lstStyle/>
            <a:p>
              <a:endParaRPr sz="1200"/>
            </a:p>
          </p:txBody>
        </p:sp>
        <p:sp>
          <p:nvSpPr>
            <p:cNvPr id="329" name="s3-traveller-small__path_329">
              <a:extLst>
                <a:ext uri="{FF2B5EF4-FFF2-40B4-BE49-F238E27FC236}">
                  <a16:creationId xmlns:a16="http://schemas.microsoft.com/office/drawing/2014/main" id="{4C3354F6-4F78-437E-8801-F573F866B4F1}"/>
                </a:ext>
              </a:extLst>
            </p:cNvPr>
            <p:cNvSpPr>
              <a:spLocks/>
            </p:cNvSpPr>
            <p:nvPr/>
          </p:nvSpPr>
          <p:spPr>
            <a:xfrm>
              <a:off x="6918198" y="2319783"/>
              <a:ext cx="25146" cy="16764"/>
            </a:xfrm>
            <a:custGeom>
              <a:avLst/>
              <a:gdLst/>
              <a:ahLst/>
              <a:cxnLst/>
              <a:rect l="0" t="0" r="0" b="0"/>
              <a:pathLst>
                <a:path w="37719" h="25146">
                  <a:moveTo>
                    <a:pt x="0" y="0"/>
                  </a:moveTo>
                  <a:lnTo>
                    <a:pt x="37719" y="18860"/>
                  </a:lnTo>
                  <a:lnTo>
                    <a:pt x="6287" y="25146"/>
                  </a:lnTo>
                  <a:close/>
                </a:path>
              </a:pathLst>
            </a:custGeom>
            <a:solidFill>
              <a:srgbClr val="CEAA5A"/>
            </a:solidFill>
            <a:ln w="0">
              <a:noFill/>
              <a:prstDash val="solid"/>
            </a:ln>
          </p:spPr>
          <p:txBody>
            <a:bodyPr/>
            <a:lstStyle/>
            <a:p>
              <a:endParaRPr sz="1200"/>
            </a:p>
          </p:txBody>
        </p:sp>
        <p:sp>
          <p:nvSpPr>
            <p:cNvPr id="330" name="s3-traveller-small__ellipse_330">
              <a:extLst>
                <a:ext uri="{FF2B5EF4-FFF2-40B4-BE49-F238E27FC236}">
                  <a16:creationId xmlns:a16="http://schemas.microsoft.com/office/drawing/2014/main" id="{FDC375D5-1B74-40AB-9289-E9700253D73A}"/>
                </a:ext>
              </a:extLst>
            </p:cNvPr>
            <p:cNvSpPr>
              <a:spLocks/>
            </p:cNvSpPr>
            <p:nvPr/>
          </p:nvSpPr>
          <p:spPr>
            <a:xfrm>
              <a:off x="6909816" y="2315592"/>
              <a:ext cx="6705" cy="6705"/>
            </a:xfrm>
            <a:prstGeom prst="ellipse">
              <a:avLst/>
            </a:prstGeom>
            <a:solidFill>
              <a:srgbClr val="253C3A"/>
            </a:solidFill>
            <a:ln w="0">
              <a:noFill/>
              <a:prstDash val="solid"/>
            </a:ln>
          </p:spPr>
          <p:txBody>
            <a:bodyPr/>
            <a:lstStyle/>
            <a:p>
              <a:endParaRPr sz="1200"/>
            </a:p>
          </p:txBody>
        </p:sp>
        <p:sp>
          <p:nvSpPr>
            <p:cNvPr id="331" name="s3-trade-boat__rect_331">
              <a:extLst>
                <a:ext uri="{FF2B5EF4-FFF2-40B4-BE49-F238E27FC236}">
                  <a16:creationId xmlns:a16="http://schemas.microsoft.com/office/drawing/2014/main" id="{FFBF97DA-3AD0-4C06-B3E8-CC59E3C86FAE}"/>
                </a:ext>
              </a:extLst>
            </p:cNvPr>
            <p:cNvSpPr>
              <a:spLocks/>
            </p:cNvSpPr>
            <p:nvPr/>
          </p:nvSpPr>
          <p:spPr>
            <a:xfrm>
              <a:off x="8139430" y="2007870"/>
              <a:ext cx="28575" cy="651510"/>
            </a:xfrm>
            <a:prstGeom prst="rect">
              <a:avLst/>
            </a:prstGeom>
            <a:solidFill>
              <a:srgbClr val="8F7053"/>
            </a:solidFill>
            <a:ln w="0">
              <a:noFill/>
              <a:prstDash val="solid"/>
            </a:ln>
          </p:spPr>
          <p:txBody>
            <a:bodyPr/>
            <a:lstStyle/>
            <a:p>
              <a:endParaRPr sz="1200"/>
            </a:p>
          </p:txBody>
        </p:sp>
        <p:sp>
          <p:nvSpPr>
            <p:cNvPr id="332" name="s3-trade-boat__contour_332">
              <a:extLst>
                <a:ext uri="{FF2B5EF4-FFF2-40B4-BE49-F238E27FC236}">
                  <a16:creationId xmlns:a16="http://schemas.microsoft.com/office/drawing/2014/main" id="{19E1FCEA-8F2D-46AE-9DDE-FEDCD66A11FA}"/>
                </a:ext>
              </a:extLst>
            </p:cNvPr>
            <p:cNvSpPr>
              <a:spLocks/>
            </p:cNvSpPr>
            <p:nvPr/>
          </p:nvSpPr>
          <p:spPr>
            <a:xfrm>
              <a:off x="7922260" y="2059305"/>
              <a:ext cx="205739" cy="354330"/>
            </a:xfrm>
            <a:custGeom>
              <a:avLst/>
              <a:gdLst/>
              <a:ahLst/>
              <a:cxnLst/>
              <a:rect l="0" t="0" r="0" b="0"/>
              <a:pathLst>
                <a:path w="308610" h="531495">
                  <a:moveTo>
                    <a:pt x="308610" y="0"/>
                  </a:moveTo>
                  <a:lnTo>
                    <a:pt x="273310" y="42615"/>
                  </a:lnTo>
                  <a:lnTo>
                    <a:pt x="239525" y="84668"/>
                  </a:lnTo>
                  <a:lnTo>
                    <a:pt x="207388" y="126054"/>
                  </a:lnTo>
                  <a:lnTo>
                    <a:pt x="177032" y="166659"/>
                  </a:lnTo>
                  <a:lnTo>
                    <a:pt x="148590" y="206378"/>
                  </a:lnTo>
                  <a:lnTo>
                    <a:pt x="122206" y="245107"/>
                  </a:lnTo>
                  <a:lnTo>
                    <a:pt x="98022" y="282740"/>
                  </a:lnTo>
                  <a:lnTo>
                    <a:pt x="76171" y="319164"/>
                  </a:lnTo>
                  <a:lnTo>
                    <a:pt x="56788" y="354282"/>
                  </a:lnTo>
                  <a:lnTo>
                    <a:pt x="40005" y="387982"/>
                  </a:lnTo>
                  <a:lnTo>
                    <a:pt x="25965" y="420157"/>
                  </a:lnTo>
                  <a:lnTo>
                    <a:pt x="14811" y="450704"/>
                  </a:lnTo>
                  <a:lnTo>
                    <a:pt x="6677" y="479517"/>
                  </a:lnTo>
                  <a:lnTo>
                    <a:pt x="1695" y="506482"/>
                  </a:lnTo>
                  <a:lnTo>
                    <a:pt x="0" y="531495"/>
                  </a:lnTo>
                  <a:lnTo>
                    <a:pt x="308610" y="531495"/>
                  </a:lnTo>
                  <a:close/>
                </a:path>
              </a:pathLst>
            </a:custGeom>
            <a:solidFill>
              <a:srgbClr val="F3EBD6"/>
            </a:solidFill>
            <a:ln w="12859">
              <a:solidFill>
                <a:srgbClr val="8D826A"/>
              </a:solidFill>
              <a:prstDash val="solid"/>
            </a:ln>
          </p:spPr>
          <p:txBody>
            <a:bodyPr/>
            <a:lstStyle/>
            <a:p>
              <a:endParaRPr sz="1200"/>
            </a:p>
          </p:txBody>
        </p:sp>
        <p:sp>
          <p:nvSpPr>
            <p:cNvPr id="333" name="s3-trade-boat__contour_333">
              <a:extLst>
                <a:ext uri="{FF2B5EF4-FFF2-40B4-BE49-F238E27FC236}">
                  <a16:creationId xmlns:a16="http://schemas.microsoft.com/office/drawing/2014/main" id="{5962E732-C17A-4B3B-924E-58CA791728D6}"/>
                </a:ext>
              </a:extLst>
            </p:cNvPr>
            <p:cNvSpPr>
              <a:spLocks/>
            </p:cNvSpPr>
            <p:nvPr/>
          </p:nvSpPr>
          <p:spPr>
            <a:xfrm>
              <a:off x="8190866" y="2053590"/>
              <a:ext cx="262889" cy="354330"/>
            </a:xfrm>
            <a:custGeom>
              <a:avLst/>
              <a:gdLst/>
              <a:ahLst/>
              <a:cxnLst/>
              <a:rect l="0" t="0" r="0" b="0"/>
              <a:pathLst>
                <a:path w="394335" h="531495">
                  <a:moveTo>
                    <a:pt x="0" y="0"/>
                  </a:moveTo>
                  <a:lnTo>
                    <a:pt x="43539" y="40910"/>
                  </a:lnTo>
                  <a:lnTo>
                    <a:pt x="84934" y="81296"/>
                  </a:lnTo>
                  <a:lnTo>
                    <a:pt x="124130" y="121110"/>
                  </a:lnTo>
                  <a:lnTo>
                    <a:pt x="161039" y="160287"/>
                  </a:lnTo>
                  <a:lnTo>
                    <a:pt x="195577" y="198758"/>
                  </a:lnTo>
                  <a:lnTo>
                    <a:pt x="227686" y="236468"/>
                  </a:lnTo>
                  <a:lnTo>
                    <a:pt x="257280" y="273348"/>
                  </a:lnTo>
                  <a:lnTo>
                    <a:pt x="284274" y="309353"/>
                  </a:lnTo>
                  <a:lnTo>
                    <a:pt x="308610" y="344405"/>
                  </a:lnTo>
                  <a:lnTo>
                    <a:pt x="330203" y="378457"/>
                  </a:lnTo>
                  <a:lnTo>
                    <a:pt x="348967" y="411442"/>
                  </a:lnTo>
                  <a:lnTo>
                    <a:pt x="364846" y="443303"/>
                  </a:lnTo>
                  <a:lnTo>
                    <a:pt x="377752" y="473974"/>
                  </a:lnTo>
                  <a:lnTo>
                    <a:pt x="387601" y="503387"/>
                  </a:lnTo>
                  <a:lnTo>
                    <a:pt x="394335" y="531495"/>
                  </a:lnTo>
                  <a:lnTo>
                    <a:pt x="0" y="531495"/>
                  </a:lnTo>
                  <a:close/>
                </a:path>
              </a:pathLst>
            </a:custGeom>
            <a:solidFill>
              <a:srgbClr val="DED4B5"/>
            </a:solidFill>
            <a:ln w="12859">
              <a:solidFill>
                <a:srgbClr val="8D826A"/>
              </a:solidFill>
              <a:prstDash val="solid"/>
            </a:ln>
          </p:spPr>
          <p:txBody>
            <a:bodyPr/>
            <a:lstStyle/>
            <a:p>
              <a:endParaRPr sz="1200"/>
            </a:p>
          </p:txBody>
        </p:sp>
        <p:sp>
          <p:nvSpPr>
            <p:cNvPr id="334" name="s3-trade-boat__line_334">
              <a:extLst>
                <a:ext uri="{FF2B5EF4-FFF2-40B4-BE49-F238E27FC236}">
                  <a16:creationId xmlns:a16="http://schemas.microsoft.com/office/drawing/2014/main" id="{CE884560-F5FB-49BD-AA70-077390F4CD8A}"/>
                </a:ext>
              </a:extLst>
            </p:cNvPr>
            <p:cNvSpPr>
              <a:spLocks/>
            </p:cNvSpPr>
            <p:nvPr/>
          </p:nvSpPr>
          <p:spPr>
            <a:xfrm>
              <a:off x="8013700" y="2436495"/>
              <a:ext cx="502919" cy="63"/>
            </a:xfrm>
            <a:custGeom>
              <a:avLst/>
              <a:gdLst/>
              <a:ahLst/>
              <a:cxnLst/>
              <a:rect l="0" t="0" r="0" b="0"/>
              <a:pathLst>
                <a:path w="754380" h="95">
                  <a:moveTo>
                    <a:pt x="0" y="0"/>
                  </a:moveTo>
                  <a:lnTo>
                    <a:pt x="754380" y="0"/>
                  </a:lnTo>
                </a:path>
              </a:pathLst>
            </a:custGeom>
            <a:noFill/>
            <a:ln w="25718">
              <a:solidFill>
                <a:srgbClr val="8F7053"/>
              </a:solidFill>
              <a:prstDash val="solid"/>
            </a:ln>
          </p:spPr>
          <p:txBody>
            <a:bodyPr/>
            <a:lstStyle/>
            <a:p>
              <a:endParaRPr sz="1200"/>
            </a:p>
          </p:txBody>
        </p:sp>
        <p:sp>
          <p:nvSpPr>
            <p:cNvPr id="335" name="s3-trade-boat__rect_335">
              <a:extLst>
                <a:ext uri="{FF2B5EF4-FFF2-40B4-BE49-F238E27FC236}">
                  <a16:creationId xmlns:a16="http://schemas.microsoft.com/office/drawing/2014/main" id="{2835A5DF-F04F-4DD7-B811-E70D25477B52}"/>
                </a:ext>
              </a:extLst>
            </p:cNvPr>
            <p:cNvSpPr>
              <a:spLocks/>
            </p:cNvSpPr>
            <p:nvPr/>
          </p:nvSpPr>
          <p:spPr>
            <a:xfrm>
              <a:off x="7887970" y="2459355"/>
              <a:ext cx="245745" cy="137160"/>
            </a:xfrm>
            <a:prstGeom prst="rect">
              <a:avLst/>
            </a:prstGeom>
            <a:solidFill>
              <a:srgbClr val="BDA17B"/>
            </a:solidFill>
            <a:ln w="10287">
              <a:solidFill>
                <a:srgbClr val="806D55"/>
              </a:solidFill>
              <a:prstDash val="solid"/>
            </a:ln>
          </p:spPr>
          <p:txBody>
            <a:bodyPr/>
            <a:lstStyle/>
            <a:p>
              <a:endParaRPr sz="1200"/>
            </a:p>
          </p:txBody>
        </p:sp>
        <p:sp>
          <p:nvSpPr>
            <p:cNvPr id="336" name="s3-trade-boat__rect_336">
              <a:extLst>
                <a:ext uri="{FF2B5EF4-FFF2-40B4-BE49-F238E27FC236}">
                  <a16:creationId xmlns:a16="http://schemas.microsoft.com/office/drawing/2014/main" id="{047F04C9-5EE7-41E2-BDEF-EEDF20F57698}"/>
                </a:ext>
              </a:extLst>
            </p:cNvPr>
            <p:cNvSpPr>
              <a:spLocks/>
            </p:cNvSpPr>
            <p:nvPr/>
          </p:nvSpPr>
          <p:spPr>
            <a:xfrm>
              <a:off x="8316596" y="2470785"/>
              <a:ext cx="171449" cy="125730"/>
            </a:xfrm>
            <a:prstGeom prst="rect">
              <a:avLst/>
            </a:prstGeom>
            <a:solidFill>
              <a:srgbClr val="BDA17B"/>
            </a:solidFill>
            <a:ln w="10287">
              <a:solidFill>
                <a:srgbClr val="806D55"/>
              </a:solidFill>
              <a:prstDash val="solid"/>
            </a:ln>
          </p:spPr>
          <p:txBody>
            <a:bodyPr/>
            <a:lstStyle/>
            <a:p>
              <a:endParaRPr sz="1200"/>
            </a:p>
          </p:txBody>
        </p:sp>
        <p:sp>
          <p:nvSpPr>
            <p:cNvPr id="337" name="s3-trade-boat__line_337">
              <a:extLst>
                <a:ext uri="{FF2B5EF4-FFF2-40B4-BE49-F238E27FC236}">
                  <a16:creationId xmlns:a16="http://schemas.microsoft.com/office/drawing/2014/main" id="{F9F4171C-A7EF-4308-B922-AFFDFFD213EE}"/>
                </a:ext>
              </a:extLst>
            </p:cNvPr>
            <p:cNvSpPr>
              <a:spLocks/>
            </p:cNvSpPr>
            <p:nvPr/>
          </p:nvSpPr>
          <p:spPr>
            <a:xfrm>
              <a:off x="791654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8" name="s3-trade-boat__line_338">
              <a:extLst>
                <a:ext uri="{FF2B5EF4-FFF2-40B4-BE49-F238E27FC236}">
                  <a16:creationId xmlns:a16="http://schemas.microsoft.com/office/drawing/2014/main" id="{80BCFABF-F404-48D1-B919-91F105ACA572}"/>
                </a:ext>
              </a:extLst>
            </p:cNvPr>
            <p:cNvSpPr>
              <a:spLocks/>
            </p:cNvSpPr>
            <p:nvPr/>
          </p:nvSpPr>
          <p:spPr>
            <a:xfrm>
              <a:off x="796798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9" name="s3-trade-boat__line_339">
              <a:extLst>
                <a:ext uri="{FF2B5EF4-FFF2-40B4-BE49-F238E27FC236}">
                  <a16:creationId xmlns:a16="http://schemas.microsoft.com/office/drawing/2014/main" id="{522FAAD4-B22A-40D5-9264-EB741108638C}"/>
                </a:ext>
              </a:extLst>
            </p:cNvPr>
            <p:cNvSpPr>
              <a:spLocks/>
            </p:cNvSpPr>
            <p:nvPr/>
          </p:nvSpPr>
          <p:spPr>
            <a:xfrm>
              <a:off x="801941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0" name="s3-trade-boat__line_340">
              <a:extLst>
                <a:ext uri="{FF2B5EF4-FFF2-40B4-BE49-F238E27FC236}">
                  <a16:creationId xmlns:a16="http://schemas.microsoft.com/office/drawing/2014/main" id="{BDDF5CCE-CA44-406E-A78B-EB70332BA5F8}"/>
                </a:ext>
              </a:extLst>
            </p:cNvPr>
            <p:cNvSpPr>
              <a:spLocks/>
            </p:cNvSpPr>
            <p:nvPr/>
          </p:nvSpPr>
          <p:spPr>
            <a:xfrm>
              <a:off x="807085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1" name="s3-trade-boat__ellipse_341">
              <a:extLst>
                <a:ext uri="{FF2B5EF4-FFF2-40B4-BE49-F238E27FC236}">
                  <a16:creationId xmlns:a16="http://schemas.microsoft.com/office/drawing/2014/main" id="{B6B9FA49-74E4-4E5F-950A-0A97A9058F8A}"/>
                </a:ext>
              </a:extLst>
            </p:cNvPr>
            <p:cNvSpPr>
              <a:spLocks/>
            </p:cNvSpPr>
            <p:nvPr/>
          </p:nvSpPr>
          <p:spPr>
            <a:xfrm>
              <a:off x="7967980" y="2413635"/>
              <a:ext cx="68579" cy="80010"/>
            </a:xfrm>
            <a:prstGeom prst="ellipse">
              <a:avLst/>
            </a:prstGeom>
            <a:solidFill>
              <a:srgbClr val="B3834E"/>
            </a:solidFill>
            <a:ln w="6001">
              <a:solidFill>
                <a:srgbClr val="745E40"/>
              </a:solidFill>
              <a:prstDash val="solid"/>
            </a:ln>
          </p:spPr>
          <p:txBody>
            <a:bodyPr/>
            <a:lstStyle/>
            <a:p>
              <a:endParaRPr sz="1200"/>
            </a:p>
          </p:txBody>
        </p:sp>
        <p:sp>
          <p:nvSpPr>
            <p:cNvPr id="342" name="s3-trade-boat__path_342">
              <a:extLst>
                <a:ext uri="{FF2B5EF4-FFF2-40B4-BE49-F238E27FC236}">
                  <a16:creationId xmlns:a16="http://schemas.microsoft.com/office/drawing/2014/main" id="{69D844F9-7594-4293-BD98-15F971173FB3}"/>
                </a:ext>
              </a:extLst>
            </p:cNvPr>
            <p:cNvSpPr>
              <a:spLocks/>
            </p:cNvSpPr>
            <p:nvPr/>
          </p:nvSpPr>
          <p:spPr>
            <a:xfrm>
              <a:off x="8030846" y="2436495"/>
              <a:ext cx="45719" cy="34290"/>
            </a:xfrm>
            <a:custGeom>
              <a:avLst/>
              <a:gdLst/>
              <a:ahLst/>
              <a:cxnLst/>
              <a:rect l="0" t="0" r="0" b="0"/>
              <a:pathLst>
                <a:path w="68580" h="51435">
                  <a:moveTo>
                    <a:pt x="0" y="0"/>
                  </a:moveTo>
                  <a:lnTo>
                    <a:pt x="68580" y="25717"/>
                  </a:lnTo>
                  <a:lnTo>
                    <a:pt x="0" y="51435"/>
                  </a:lnTo>
                  <a:close/>
                </a:path>
              </a:pathLst>
            </a:custGeom>
            <a:solidFill>
              <a:srgbClr val="C9A254"/>
            </a:solidFill>
            <a:ln w="0">
              <a:noFill/>
              <a:prstDash val="solid"/>
            </a:ln>
          </p:spPr>
          <p:txBody>
            <a:bodyPr/>
            <a:lstStyle/>
            <a:p>
              <a:endParaRPr sz="1200"/>
            </a:p>
          </p:txBody>
        </p:sp>
        <p:sp>
          <p:nvSpPr>
            <p:cNvPr id="343" name="s3-trade-boat__ellipse_343">
              <a:extLst>
                <a:ext uri="{FF2B5EF4-FFF2-40B4-BE49-F238E27FC236}">
                  <a16:creationId xmlns:a16="http://schemas.microsoft.com/office/drawing/2014/main" id="{9345384D-7423-4839-B99B-6F72B0A0F4A1}"/>
                </a:ext>
              </a:extLst>
            </p:cNvPr>
            <p:cNvSpPr>
              <a:spLocks/>
            </p:cNvSpPr>
            <p:nvPr/>
          </p:nvSpPr>
          <p:spPr>
            <a:xfrm>
              <a:off x="8013700" y="2430780"/>
              <a:ext cx="11429" cy="11430"/>
            </a:xfrm>
            <a:prstGeom prst="ellipse">
              <a:avLst/>
            </a:prstGeom>
            <a:solidFill>
              <a:srgbClr val="253C3A"/>
            </a:solidFill>
            <a:ln w="0">
              <a:noFill/>
              <a:prstDash val="solid"/>
            </a:ln>
          </p:spPr>
          <p:txBody>
            <a:bodyPr/>
            <a:lstStyle/>
            <a:p>
              <a:endParaRPr sz="1200"/>
            </a:p>
          </p:txBody>
        </p:sp>
        <p:sp>
          <p:nvSpPr>
            <p:cNvPr id="344" name="s3-trade-boat__ellipse_344">
              <a:extLst>
                <a:ext uri="{FF2B5EF4-FFF2-40B4-BE49-F238E27FC236}">
                  <a16:creationId xmlns:a16="http://schemas.microsoft.com/office/drawing/2014/main" id="{166023AD-24B7-4843-962E-0AAF319FFA03}"/>
                </a:ext>
              </a:extLst>
            </p:cNvPr>
            <p:cNvSpPr>
              <a:spLocks/>
            </p:cNvSpPr>
            <p:nvPr/>
          </p:nvSpPr>
          <p:spPr>
            <a:xfrm>
              <a:off x="7996556" y="2396490"/>
              <a:ext cx="40005" cy="22860"/>
            </a:xfrm>
            <a:prstGeom prst="ellipse">
              <a:avLst/>
            </a:prstGeom>
            <a:solidFill>
              <a:srgbClr val="B8493E"/>
            </a:solidFill>
            <a:ln w="0">
              <a:noFill/>
              <a:prstDash val="solid"/>
            </a:ln>
          </p:spPr>
          <p:txBody>
            <a:bodyPr/>
            <a:lstStyle/>
            <a:p>
              <a:endParaRPr sz="1200"/>
            </a:p>
          </p:txBody>
        </p:sp>
        <p:sp>
          <p:nvSpPr>
            <p:cNvPr id="345" name="s3-trade-boat__contour_345">
              <a:extLst>
                <a:ext uri="{FF2B5EF4-FFF2-40B4-BE49-F238E27FC236}">
                  <a16:creationId xmlns:a16="http://schemas.microsoft.com/office/drawing/2014/main" id="{C8C29385-3E27-492B-A9A5-2F1240BDA38D}"/>
                </a:ext>
              </a:extLst>
            </p:cNvPr>
            <p:cNvSpPr>
              <a:spLocks/>
            </p:cNvSpPr>
            <p:nvPr/>
          </p:nvSpPr>
          <p:spPr>
            <a:xfrm>
              <a:off x="7625081" y="2550795"/>
              <a:ext cx="1188719" cy="204050"/>
            </a:xfrm>
            <a:custGeom>
              <a:avLst/>
              <a:gdLst/>
              <a:ahLst/>
              <a:cxnLst/>
              <a:rect l="0" t="0" r="0" b="0"/>
              <a:pathLst>
                <a:path w="1783080" h="306076">
                  <a:moveTo>
                    <a:pt x="0" y="42863"/>
                  </a:moveTo>
                  <a:lnTo>
                    <a:pt x="93659" y="55655"/>
                  </a:lnTo>
                  <a:lnTo>
                    <a:pt x="195615" y="66532"/>
                  </a:lnTo>
                  <a:lnTo>
                    <a:pt x="304771" y="75438"/>
                  </a:lnTo>
                  <a:lnTo>
                    <a:pt x="420053" y="82286"/>
                  </a:lnTo>
                  <a:lnTo>
                    <a:pt x="540382" y="86992"/>
                  </a:lnTo>
                  <a:lnTo>
                    <a:pt x="664674" y="89497"/>
                  </a:lnTo>
                  <a:lnTo>
                    <a:pt x="791851" y="89716"/>
                  </a:lnTo>
                  <a:lnTo>
                    <a:pt x="920820" y="87563"/>
                  </a:lnTo>
                  <a:lnTo>
                    <a:pt x="1050512" y="82982"/>
                  </a:lnTo>
                  <a:lnTo>
                    <a:pt x="1179833" y="75886"/>
                  </a:lnTo>
                  <a:lnTo>
                    <a:pt x="1307706" y="66189"/>
                  </a:lnTo>
                  <a:lnTo>
                    <a:pt x="1433046" y="53835"/>
                  </a:lnTo>
                  <a:lnTo>
                    <a:pt x="1554775" y="38738"/>
                  </a:lnTo>
                  <a:lnTo>
                    <a:pt x="1671818" y="20812"/>
                  </a:lnTo>
                  <a:lnTo>
                    <a:pt x="1783080" y="0"/>
                  </a:lnTo>
                  <a:lnTo>
                    <a:pt x="1534478" y="265748"/>
                  </a:lnTo>
                  <a:lnTo>
                    <a:pt x="1434656" y="278225"/>
                  </a:lnTo>
                  <a:lnTo>
                    <a:pt x="1334395" y="288274"/>
                  </a:lnTo>
                  <a:lnTo>
                    <a:pt x="1234164" y="295989"/>
                  </a:lnTo>
                  <a:lnTo>
                    <a:pt x="1134437" y="301466"/>
                  </a:lnTo>
                  <a:lnTo>
                    <a:pt x="1035682" y="304800"/>
                  </a:lnTo>
                  <a:lnTo>
                    <a:pt x="938384" y="306076"/>
                  </a:lnTo>
                  <a:lnTo>
                    <a:pt x="842991" y="305381"/>
                  </a:lnTo>
                  <a:lnTo>
                    <a:pt x="750008" y="302809"/>
                  </a:lnTo>
                  <a:lnTo>
                    <a:pt x="659873" y="298456"/>
                  </a:lnTo>
                  <a:lnTo>
                    <a:pt x="573091" y="292417"/>
                  </a:lnTo>
                  <a:lnTo>
                    <a:pt x="490109" y="284778"/>
                  </a:lnTo>
                  <a:lnTo>
                    <a:pt x="411413" y="275625"/>
                  </a:lnTo>
                  <a:lnTo>
                    <a:pt x="337471" y="265052"/>
                  </a:lnTo>
                  <a:lnTo>
                    <a:pt x="268757" y="253155"/>
                  </a:lnTo>
                  <a:lnTo>
                    <a:pt x="205740" y="240030"/>
                  </a:lnTo>
                  <a:close/>
                </a:path>
              </a:pathLst>
            </a:custGeom>
            <a:solidFill>
              <a:srgbClr val="946B48"/>
            </a:solidFill>
            <a:ln w="15431">
              <a:solidFill>
                <a:srgbClr val="665748"/>
              </a:solidFill>
              <a:prstDash val="solid"/>
            </a:ln>
          </p:spPr>
          <p:txBody>
            <a:bodyPr/>
            <a:lstStyle/>
            <a:p>
              <a:endParaRPr sz="1200"/>
            </a:p>
          </p:txBody>
        </p:sp>
        <p:sp>
          <p:nvSpPr>
            <p:cNvPr id="346" name="s3-trade-boat__contour_346">
              <a:extLst>
                <a:ext uri="{FF2B5EF4-FFF2-40B4-BE49-F238E27FC236}">
                  <a16:creationId xmlns:a16="http://schemas.microsoft.com/office/drawing/2014/main" id="{C429B085-8C6B-46EB-A8BA-A59D3BAE0694}"/>
                </a:ext>
              </a:extLst>
            </p:cNvPr>
            <p:cNvSpPr>
              <a:spLocks/>
            </p:cNvSpPr>
            <p:nvPr/>
          </p:nvSpPr>
          <p:spPr>
            <a:xfrm>
              <a:off x="7722236" y="2630805"/>
              <a:ext cx="1022985" cy="53226"/>
            </a:xfrm>
            <a:custGeom>
              <a:avLst/>
              <a:gdLst/>
              <a:ahLst/>
              <a:cxnLst/>
              <a:rect l="0" t="0" r="0" b="0"/>
              <a:pathLst>
                <a:path w="1534478" h="79839">
                  <a:moveTo>
                    <a:pt x="0" y="17145"/>
                  </a:moveTo>
                  <a:lnTo>
                    <a:pt x="83029" y="34528"/>
                  </a:lnTo>
                  <a:lnTo>
                    <a:pt x="173622" y="49006"/>
                  </a:lnTo>
                  <a:lnTo>
                    <a:pt x="270681" y="60627"/>
                  </a:lnTo>
                  <a:lnTo>
                    <a:pt x="373094" y="69456"/>
                  </a:lnTo>
                  <a:lnTo>
                    <a:pt x="479746" y="75562"/>
                  </a:lnTo>
                  <a:lnTo>
                    <a:pt x="589512" y="79000"/>
                  </a:lnTo>
                  <a:lnTo>
                    <a:pt x="701297" y="79839"/>
                  </a:lnTo>
                  <a:lnTo>
                    <a:pt x="813978" y="78124"/>
                  </a:lnTo>
                  <a:lnTo>
                    <a:pt x="926449" y="73933"/>
                  </a:lnTo>
                  <a:lnTo>
                    <a:pt x="1037587" y="67313"/>
                  </a:lnTo>
                  <a:lnTo>
                    <a:pt x="1146296" y="58331"/>
                  </a:lnTo>
                  <a:lnTo>
                    <a:pt x="1251452" y="47044"/>
                  </a:lnTo>
                  <a:lnTo>
                    <a:pt x="1351940" y="33518"/>
                  </a:lnTo>
                  <a:lnTo>
                    <a:pt x="1446647" y="17821"/>
                  </a:lnTo>
                  <a:lnTo>
                    <a:pt x="1534478" y="0"/>
                  </a:lnTo>
                </a:path>
              </a:pathLst>
            </a:custGeom>
            <a:noFill/>
            <a:ln w="17145">
              <a:solidFill>
                <a:srgbClr val="C69B6F"/>
              </a:solidFill>
              <a:prstDash val="solid"/>
            </a:ln>
          </p:spPr>
          <p:txBody>
            <a:bodyPr/>
            <a:lstStyle/>
            <a:p>
              <a:endParaRPr sz="1200"/>
            </a:p>
          </p:txBody>
        </p:sp>
        <p:sp>
          <p:nvSpPr>
            <p:cNvPr id="347" name="s3-trade-boat__line_347">
              <a:extLst>
                <a:ext uri="{FF2B5EF4-FFF2-40B4-BE49-F238E27FC236}">
                  <a16:creationId xmlns:a16="http://schemas.microsoft.com/office/drawing/2014/main" id="{5C24D218-40D6-4971-81E1-A83E2177411A}"/>
                </a:ext>
              </a:extLst>
            </p:cNvPr>
            <p:cNvSpPr>
              <a:spLocks/>
            </p:cNvSpPr>
            <p:nvPr/>
          </p:nvSpPr>
          <p:spPr>
            <a:xfrm>
              <a:off x="7682230" y="2567940"/>
              <a:ext cx="1102995" cy="17145"/>
            </a:xfrm>
            <a:custGeom>
              <a:avLst/>
              <a:gdLst/>
              <a:ahLst/>
              <a:cxnLst/>
              <a:rect l="0" t="0" r="0" b="0"/>
              <a:pathLst>
                <a:path w="1654493" h="25718">
                  <a:moveTo>
                    <a:pt x="0" y="25718"/>
                  </a:moveTo>
                  <a:lnTo>
                    <a:pt x="1654493" y="0"/>
                  </a:lnTo>
                </a:path>
              </a:pathLst>
            </a:custGeom>
            <a:noFill/>
            <a:ln w="25718">
              <a:solidFill>
                <a:srgbClr val="665748"/>
              </a:solidFill>
              <a:prstDash val="solid"/>
            </a:ln>
          </p:spPr>
          <p:txBody>
            <a:bodyPr/>
            <a:lstStyle/>
            <a:p>
              <a:endParaRPr sz="1200"/>
            </a:p>
          </p:txBody>
        </p:sp>
        <p:sp>
          <p:nvSpPr>
            <p:cNvPr id="348" name="s3-trade-boat__contour_348">
              <a:extLst>
                <a:ext uri="{FF2B5EF4-FFF2-40B4-BE49-F238E27FC236}">
                  <a16:creationId xmlns:a16="http://schemas.microsoft.com/office/drawing/2014/main" id="{84209CA4-DCDD-4D5F-89E4-03685B1C8D3A}"/>
                </a:ext>
              </a:extLst>
            </p:cNvPr>
            <p:cNvSpPr>
              <a:spLocks/>
            </p:cNvSpPr>
            <p:nvPr/>
          </p:nvSpPr>
          <p:spPr>
            <a:xfrm>
              <a:off x="7573646" y="2767171"/>
              <a:ext cx="1274445" cy="29457"/>
            </a:xfrm>
            <a:custGeom>
              <a:avLst/>
              <a:gdLst/>
              <a:ahLst/>
              <a:cxnLst/>
              <a:rect l="0" t="0" r="0" b="0"/>
              <a:pathLst>
                <a:path w="1911668" h="44186">
                  <a:moveTo>
                    <a:pt x="0" y="35481"/>
                  </a:moveTo>
                  <a:lnTo>
                    <a:pt x="46682" y="21184"/>
                  </a:lnTo>
                  <a:lnTo>
                    <a:pt x="90888" y="12078"/>
                  </a:lnTo>
                  <a:lnTo>
                    <a:pt x="132912" y="7430"/>
                  </a:lnTo>
                  <a:lnTo>
                    <a:pt x="173003" y="6487"/>
                  </a:lnTo>
                  <a:lnTo>
                    <a:pt x="211455" y="8496"/>
                  </a:lnTo>
                  <a:lnTo>
                    <a:pt x="248536" y="12716"/>
                  </a:lnTo>
                  <a:lnTo>
                    <a:pt x="284512" y="18393"/>
                  </a:lnTo>
                  <a:lnTo>
                    <a:pt x="319678" y="24794"/>
                  </a:lnTo>
                  <a:lnTo>
                    <a:pt x="354282" y="31156"/>
                  </a:lnTo>
                  <a:lnTo>
                    <a:pt x="388620" y="36747"/>
                  </a:lnTo>
                  <a:lnTo>
                    <a:pt x="422958" y="40815"/>
                  </a:lnTo>
                  <a:lnTo>
                    <a:pt x="457562" y="42615"/>
                  </a:lnTo>
                  <a:lnTo>
                    <a:pt x="492728" y="41396"/>
                  </a:lnTo>
                  <a:lnTo>
                    <a:pt x="528704" y="36405"/>
                  </a:lnTo>
                  <a:lnTo>
                    <a:pt x="565785" y="26908"/>
                  </a:lnTo>
                  <a:lnTo>
                    <a:pt x="599980" y="17202"/>
                  </a:lnTo>
                  <a:lnTo>
                    <a:pt x="634051" y="11649"/>
                  </a:lnTo>
                  <a:lnTo>
                    <a:pt x="668103" y="9630"/>
                  </a:lnTo>
                  <a:lnTo>
                    <a:pt x="702250" y="10478"/>
                  </a:lnTo>
                  <a:lnTo>
                    <a:pt x="736597" y="13573"/>
                  </a:lnTo>
                  <a:lnTo>
                    <a:pt x="771249" y="18269"/>
                  </a:lnTo>
                  <a:lnTo>
                    <a:pt x="806310" y="23917"/>
                  </a:lnTo>
                  <a:lnTo>
                    <a:pt x="841896" y="29899"/>
                  </a:lnTo>
                  <a:lnTo>
                    <a:pt x="878100" y="35547"/>
                  </a:lnTo>
                  <a:lnTo>
                    <a:pt x="915038" y="40243"/>
                  </a:lnTo>
                  <a:lnTo>
                    <a:pt x="952814" y="43339"/>
                  </a:lnTo>
                  <a:lnTo>
                    <a:pt x="991533" y="44186"/>
                  </a:lnTo>
                  <a:lnTo>
                    <a:pt x="1031300" y="42167"/>
                  </a:lnTo>
                  <a:lnTo>
                    <a:pt x="1072229" y="36614"/>
                  </a:lnTo>
                  <a:lnTo>
                    <a:pt x="1114425" y="26908"/>
                  </a:lnTo>
                  <a:lnTo>
                    <a:pt x="1156297" y="16983"/>
                  </a:lnTo>
                  <a:lnTo>
                    <a:pt x="1196359" y="10859"/>
                  </a:lnTo>
                  <a:lnTo>
                    <a:pt x="1234850" y="7982"/>
                  </a:lnTo>
                  <a:lnTo>
                    <a:pt x="1272016" y="7801"/>
                  </a:lnTo>
                  <a:lnTo>
                    <a:pt x="1308097" y="9763"/>
                  </a:lnTo>
                  <a:lnTo>
                    <a:pt x="1343349" y="13325"/>
                  </a:lnTo>
                  <a:lnTo>
                    <a:pt x="1377991" y="17945"/>
                  </a:lnTo>
                  <a:lnTo>
                    <a:pt x="1412300" y="23070"/>
                  </a:lnTo>
                  <a:lnTo>
                    <a:pt x="1446486" y="28146"/>
                  </a:lnTo>
                  <a:lnTo>
                    <a:pt x="1480823" y="32623"/>
                  </a:lnTo>
                  <a:lnTo>
                    <a:pt x="1515532" y="35957"/>
                  </a:lnTo>
                  <a:lnTo>
                    <a:pt x="1550870" y="37605"/>
                  </a:lnTo>
                  <a:lnTo>
                    <a:pt x="1587075" y="37014"/>
                  </a:lnTo>
                  <a:lnTo>
                    <a:pt x="1624393" y="33633"/>
                  </a:lnTo>
                  <a:lnTo>
                    <a:pt x="1663065" y="26908"/>
                  </a:lnTo>
                  <a:lnTo>
                    <a:pt x="1679886" y="20507"/>
                  </a:lnTo>
                  <a:lnTo>
                    <a:pt x="1696145" y="15002"/>
                  </a:lnTo>
                  <a:lnTo>
                    <a:pt x="1711966" y="10382"/>
                  </a:lnTo>
                  <a:lnTo>
                    <a:pt x="1727464" y="6629"/>
                  </a:lnTo>
                  <a:lnTo>
                    <a:pt x="1742761" y="3734"/>
                  </a:lnTo>
                  <a:lnTo>
                    <a:pt x="1757982" y="1667"/>
                  </a:lnTo>
                  <a:lnTo>
                    <a:pt x="1773250" y="438"/>
                  </a:lnTo>
                  <a:lnTo>
                    <a:pt x="1788681" y="0"/>
                  </a:lnTo>
                  <a:lnTo>
                    <a:pt x="1804406" y="371"/>
                  </a:lnTo>
                  <a:lnTo>
                    <a:pt x="1820542" y="1505"/>
                  </a:lnTo>
                  <a:lnTo>
                    <a:pt x="1837211" y="3410"/>
                  </a:lnTo>
                  <a:lnTo>
                    <a:pt x="1854537" y="6058"/>
                  </a:lnTo>
                  <a:lnTo>
                    <a:pt x="1872644" y="9439"/>
                  </a:lnTo>
                  <a:lnTo>
                    <a:pt x="1891646" y="13535"/>
                  </a:lnTo>
                  <a:lnTo>
                    <a:pt x="1911668" y="18336"/>
                  </a:lnTo>
                </a:path>
              </a:pathLst>
            </a:custGeom>
            <a:noFill/>
            <a:ln w="17145">
              <a:solidFill>
                <a:srgbClr val="9DBDC7"/>
              </a:solidFill>
              <a:prstDash val="solid"/>
            </a:ln>
          </p:spPr>
          <p:txBody>
            <a:bodyPr/>
            <a:lstStyle/>
            <a:p>
              <a:endParaRPr sz="1200"/>
            </a:p>
          </p:txBody>
        </p:sp>
        <p:sp>
          <p:nvSpPr>
            <p:cNvPr id="349" name="s3-trade-boat__contour_349">
              <a:extLst>
                <a:ext uri="{FF2B5EF4-FFF2-40B4-BE49-F238E27FC236}">
                  <a16:creationId xmlns:a16="http://schemas.microsoft.com/office/drawing/2014/main" id="{60EA276C-5E01-4A72-8FDA-1930D2359AD1}"/>
                </a:ext>
              </a:extLst>
            </p:cNvPr>
            <p:cNvSpPr>
              <a:spLocks/>
            </p:cNvSpPr>
            <p:nvPr/>
          </p:nvSpPr>
          <p:spPr>
            <a:xfrm>
              <a:off x="7687946" y="2829299"/>
              <a:ext cx="1097279" cy="22332"/>
            </a:xfrm>
            <a:custGeom>
              <a:avLst/>
              <a:gdLst/>
              <a:ahLst/>
              <a:cxnLst/>
              <a:rect l="0" t="0" r="0" b="0"/>
              <a:pathLst>
                <a:path w="1645920" h="33499">
                  <a:moveTo>
                    <a:pt x="0" y="28013"/>
                  </a:moveTo>
                  <a:lnTo>
                    <a:pt x="43148" y="16593"/>
                  </a:lnTo>
                  <a:lnTo>
                    <a:pt x="83677" y="9373"/>
                  </a:lnTo>
                  <a:lnTo>
                    <a:pt x="121939" y="5725"/>
                  </a:lnTo>
                  <a:lnTo>
                    <a:pt x="158277" y="5048"/>
                  </a:lnTo>
                  <a:lnTo>
                    <a:pt x="193043" y="6744"/>
                  </a:lnTo>
                  <a:lnTo>
                    <a:pt x="226590" y="10182"/>
                  </a:lnTo>
                  <a:lnTo>
                    <a:pt x="259271" y="14764"/>
                  </a:lnTo>
                  <a:lnTo>
                    <a:pt x="291427" y="19888"/>
                  </a:lnTo>
                  <a:lnTo>
                    <a:pt x="323421" y="24927"/>
                  </a:lnTo>
                  <a:lnTo>
                    <a:pt x="355597" y="29280"/>
                  </a:lnTo>
                  <a:lnTo>
                    <a:pt x="388306" y="32347"/>
                  </a:lnTo>
                  <a:lnTo>
                    <a:pt x="421900" y="33499"/>
                  </a:lnTo>
                  <a:lnTo>
                    <a:pt x="456733" y="32137"/>
                  </a:lnTo>
                  <a:lnTo>
                    <a:pt x="493147" y="27661"/>
                  </a:lnTo>
                  <a:lnTo>
                    <a:pt x="531495" y="19441"/>
                  </a:lnTo>
                  <a:lnTo>
                    <a:pt x="571881" y="9630"/>
                  </a:lnTo>
                  <a:lnTo>
                    <a:pt x="610895" y="3791"/>
                  </a:lnTo>
                  <a:lnTo>
                    <a:pt x="648767" y="1333"/>
                  </a:lnTo>
                  <a:lnTo>
                    <a:pt x="685724" y="1667"/>
                  </a:lnTo>
                  <a:lnTo>
                    <a:pt x="721995" y="4201"/>
                  </a:lnTo>
                  <a:lnTo>
                    <a:pt x="757809" y="8334"/>
                  </a:lnTo>
                  <a:lnTo>
                    <a:pt x="793394" y="13468"/>
                  </a:lnTo>
                  <a:lnTo>
                    <a:pt x="828980" y="19012"/>
                  </a:lnTo>
                  <a:lnTo>
                    <a:pt x="864794" y="24374"/>
                  </a:lnTo>
                  <a:lnTo>
                    <a:pt x="901065" y="28966"/>
                  </a:lnTo>
                  <a:lnTo>
                    <a:pt x="938022" y="32185"/>
                  </a:lnTo>
                  <a:lnTo>
                    <a:pt x="975893" y="33433"/>
                  </a:lnTo>
                  <a:lnTo>
                    <a:pt x="1014908" y="32118"/>
                  </a:lnTo>
                  <a:lnTo>
                    <a:pt x="1055294" y="27651"/>
                  </a:lnTo>
                  <a:lnTo>
                    <a:pt x="1097280" y="19441"/>
                  </a:lnTo>
                  <a:lnTo>
                    <a:pt x="1142143" y="9515"/>
                  </a:lnTo>
                  <a:lnTo>
                    <a:pt x="1184367" y="3353"/>
                  </a:lnTo>
                  <a:lnTo>
                    <a:pt x="1224286" y="371"/>
                  </a:lnTo>
                  <a:lnTo>
                    <a:pt x="1262243" y="0"/>
                  </a:lnTo>
                  <a:lnTo>
                    <a:pt x="1298572" y="1657"/>
                  </a:lnTo>
                  <a:lnTo>
                    <a:pt x="1333605" y="4763"/>
                  </a:lnTo>
                  <a:lnTo>
                    <a:pt x="1367676" y="8734"/>
                  </a:lnTo>
                  <a:lnTo>
                    <a:pt x="1401127" y="13002"/>
                  </a:lnTo>
                  <a:lnTo>
                    <a:pt x="1434284" y="16974"/>
                  </a:lnTo>
                  <a:lnTo>
                    <a:pt x="1467488" y="20079"/>
                  </a:lnTo>
                  <a:lnTo>
                    <a:pt x="1501073" y="21736"/>
                  </a:lnTo>
                  <a:lnTo>
                    <a:pt x="1535373" y="21365"/>
                  </a:lnTo>
                  <a:lnTo>
                    <a:pt x="1570720" y="18383"/>
                  </a:lnTo>
                  <a:lnTo>
                    <a:pt x="1607458" y="12221"/>
                  </a:lnTo>
                  <a:lnTo>
                    <a:pt x="1645920" y="2296"/>
                  </a:lnTo>
                </a:path>
              </a:pathLst>
            </a:custGeom>
            <a:noFill/>
            <a:ln w="13716">
              <a:solidFill>
                <a:srgbClr val="BDD3D8"/>
              </a:solidFill>
              <a:prstDash val="solid"/>
            </a:ln>
          </p:spPr>
          <p:txBody>
            <a:bodyPr/>
            <a:lstStyle/>
            <a:p>
              <a:endParaRPr sz="1200"/>
            </a:p>
          </p:txBody>
        </p:sp>
        <p:sp>
          <p:nvSpPr>
            <p:cNvPr id="350" name="s3-dispersal-inputs__land-transport-input_350">
              <a:extLst>
                <a:ext uri="{FF2B5EF4-FFF2-40B4-BE49-F238E27FC236}">
                  <a16:creationId xmlns:a16="http://schemas.microsoft.com/office/drawing/2014/main" id="{927A2331-4430-46D5-8AEE-717A83E83F7B}"/>
                </a:ext>
              </a:extLst>
            </p:cNvPr>
            <p:cNvSpPr>
              <a:spLocks/>
            </p:cNvSpPr>
            <p:nvPr/>
          </p:nvSpPr>
          <p:spPr>
            <a:xfrm>
              <a:off x="6686550" y="2914650"/>
              <a:ext cx="1543050" cy="114300"/>
            </a:xfrm>
            <a:custGeom>
              <a:avLst/>
              <a:gdLst/>
              <a:ahLst/>
              <a:cxnLst/>
              <a:rect l="0" t="0" r="0" b="0"/>
              <a:pathLst>
                <a:path w="2314575" h="171450">
                  <a:moveTo>
                    <a:pt x="0" y="0"/>
                  </a:moveTo>
                  <a:lnTo>
                    <a:pt x="0" y="171450"/>
                  </a:lnTo>
                  <a:lnTo>
                    <a:pt x="2314575" y="171450"/>
                  </a:lnTo>
                </a:path>
              </a:pathLst>
            </a:custGeom>
            <a:noFill/>
            <a:ln w="24765">
              <a:solidFill>
                <a:srgbClr val="547D93"/>
              </a:solidFill>
              <a:prstDash val="solid"/>
            </a:ln>
          </p:spPr>
          <p:txBody>
            <a:bodyPr/>
            <a:lstStyle/>
            <a:p>
              <a:endParaRPr sz="1200"/>
            </a:p>
          </p:txBody>
        </p:sp>
        <p:sp>
          <p:nvSpPr>
            <p:cNvPr id="351" name="s3-dispersal-inputs__sea-transport-input_351">
              <a:extLst>
                <a:ext uri="{FF2B5EF4-FFF2-40B4-BE49-F238E27FC236}">
                  <a16:creationId xmlns:a16="http://schemas.microsoft.com/office/drawing/2014/main" id="{6EFB302C-4A6F-4D31-8922-127F40D62F2A}"/>
                </a:ext>
              </a:extLst>
            </p:cNvPr>
            <p:cNvSpPr>
              <a:spLocks/>
            </p:cNvSpPr>
            <p:nvPr/>
          </p:nvSpPr>
          <p:spPr>
            <a:xfrm>
              <a:off x="8229600" y="2921000"/>
              <a:ext cx="63" cy="107950"/>
            </a:xfrm>
            <a:custGeom>
              <a:avLst/>
              <a:gdLst/>
              <a:ahLst/>
              <a:cxnLst/>
              <a:rect l="0" t="0" r="0" b="0"/>
              <a:pathLst>
                <a:path w="95" h="161925">
                  <a:moveTo>
                    <a:pt x="0" y="0"/>
                  </a:moveTo>
                  <a:lnTo>
                    <a:pt x="0" y="161925"/>
                  </a:lnTo>
                </a:path>
              </a:pathLst>
            </a:custGeom>
            <a:noFill/>
            <a:ln w="24765">
              <a:solidFill>
                <a:srgbClr val="547D93"/>
              </a:solidFill>
              <a:prstDash val="solid"/>
            </a:ln>
          </p:spPr>
          <p:txBody>
            <a:bodyPr/>
            <a:lstStyle/>
            <a:p>
              <a:endParaRPr sz="1200"/>
            </a:p>
          </p:txBody>
        </p:sp>
        <p:sp>
          <p:nvSpPr>
            <p:cNvPr id="352" name="s3-dispersal-inputs__ellipse_352">
              <a:extLst>
                <a:ext uri="{FF2B5EF4-FFF2-40B4-BE49-F238E27FC236}">
                  <a16:creationId xmlns:a16="http://schemas.microsoft.com/office/drawing/2014/main" id="{2960EC20-D6B8-4160-92E9-B587B9A928BF}"/>
                </a:ext>
              </a:extLst>
            </p:cNvPr>
            <p:cNvSpPr>
              <a:spLocks/>
            </p:cNvSpPr>
            <p:nvPr/>
          </p:nvSpPr>
          <p:spPr>
            <a:xfrm>
              <a:off x="8207375" y="3006725"/>
              <a:ext cx="44450" cy="44450"/>
            </a:xfrm>
            <a:prstGeom prst="ellipse">
              <a:avLst/>
            </a:prstGeom>
            <a:solidFill>
              <a:srgbClr val="547D93"/>
            </a:solidFill>
            <a:ln w="0">
              <a:noFill/>
              <a:prstDash val="solid"/>
            </a:ln>
          </p:spPr>
          <p:txBody>
            <a:bodyPr/>
            <a:lstStyle/>
            <a:p>
              <a:endParaRPr sz="1200"/>
            </a:p>
          </p:txBody>
        </p:sp>
        <p:sp>
          <p:nvSpPr>
            <p:cNvPr id="353" name="s3-dispersal-inputs__introduced-chicken-population_353">
              <a:extLst>
                <a:ext uri="{FF2B5EF4-FFF2-40B4-BE49-F238E27FC236}">
                  <a16:creationId xmlns:a16="http://schemas.microsoft.com/office/drawing/2014/main" id="{255800A1-62B1-48D1-BEBC-025525DDFF13}"/>
                </a:ext>
              </a:extLst>
            </p:cNvPr>
            <p:cNvSpPr>
              <a:spLocks/>
            </p:cNvSpPr>
            <p:nvPr/>
          </p:nvSpPr>
          <p:spPr>
            <a:xfrm>
              <a:off x="8229600" y="3028950"/>
              <a:ext cx="247650" cy="330200"/>
            </a:xfrm>
            <a:custGeom>
              <a:avLst/>
              <a:gdLst/>
              <a:ahLst/>
              <a:cxnLst/>
              <a:rect l="0" t="0" r="0" b="0"/>
              <a:pathLst>
                <a:path w="371475" h="495300">
                  <a:moveTo>
                    <a:pt x="0" y="0"/>
                  </a:moveTo>
                  <a:lnTo>
                    <a:pt x="371475" y="0"/>
                  </a:lnTo>
                  <a:lnTo>
                    <a:pt x="371475" y="495300"/>
                  </a:lnTo>
                </a:path>
              </a:pathLst>
            </a:custGeom>
            <a:noFill/>
            <a:ln w="26670">
              <a:solidFill>
                <a:srgbClr val="547D93"/>
              </a:solidFill>
              <a:prstDash val="solid"/>
            </a:ln>
          </p:spPr>
          <p:txBody>
            <a:bodyPr/>
            <a:lstStyle/>
            <a:p>
              <a:endParaRPr sz="1200"/>
            </a:p>
          </p:txBody>
        </p:sp>
        <p:sp>
          <p:nvSpPr>
            <p:cNvPr id="354" name="s3-dispersal-inputs__introduced-chicken-population-tip_354">
              <a:extLst>
                <a:ext uri="{FF2B5EF4-FFF2-40B4-BE49-F238E27FC236}">
                  <a16:creationId xmlns:a16="http://schemas.microsoft.com/office/drawing/2014/main" id="{D65A9930-F89C-4C83-BDC6-F9C6D1BFAB86}"/>
                </a:ext>
              </a:extLst>
            </p:cNvPr>
            <p:cNvSpPr>
              <a:spLocks/>
            </p:cNvSpPr>
            <p:nvPr/>
          </p:nvSpPr>
          <p:spPr>
            <a:xfrm>
              <a:off x="8440928" y="3289300"/>
              <a:ext cx="72644" cy="69850"/>
            </a:xfrm>
            <a:custGeom>
              <a:avLst/>
              <a:gdLst/>
              <a:ahLst/>
              <a:cxnLst/>
              <a:rect l="0" t="0" r="0" b="0"/>
              <a:pathLst>
                <a:path w="108966" h="104775">
                  <a:moveTo>
                    <a:pt x="54483" y="104775"/>
                  </a:moveTo>
                  <a:lnTo>
                    <a:pt x="108966" y="0"/>
                  </a:lnTo>
                  <a:lnTo>
                    <a:pt x="0" y="0"/>
                  </a:lnTo>
                  <a:close/>
                </a:path>
              </a:pathLst>
            </a:custGeom>
            <a:solidFill>
              <a:srgbClr val="547D93"/>
            </a:solidFill>
            <a:ln w="0">
              <a:noFill/>
              <a:prstDash val="solid"/>
            </a:ln>
          </p:spPr>
          <p:txBody>
            <a:bodyPr/>
            <a:lstStyle/>
            <a:p>
              <a:endParaRPr sz="1200"/>
            </a:p>
          </p:txBody>
        </p:sp>
        <p:sp>
          <p:nvSpPr>
            <p:cNvPr id="355" name="s3-wild-panel__wild-population-frame_355">
              <a:extLst>
                <a:ext uri="{FF2B5EF4-FFF2-40B4-BE49-F238E27FC236}">
                  <a16:creationId xmlns:a16="http://schemas.microsoft.com/office/drawing/2014/main" id="{077E7EB5-6B3E-44A8-AD50-9855FB5BED85}"/>
                </a:ext>
              </a:extLst>
            </p:cNvPr>
            <p:cNvSpPr>
              <a:spLocks/>
            </p:cNvSpPr>
            <p:nvPr/>
          </p:nvSpPr>
          <p:spPr>
            <a:xfrm>
              <a:off x="6032500" y="3187700"/>
              <a:ext cx="1003300" cy="1168400"/>
            </a:xfrm>
            <a:prstGeom prst="roundRect">
              <a:avLst>
                <a:gd name="adj" fmla="val 3797"/>
              </a:avLst>
            </a:prstGeom>
            <a:solidFill>
              <a:srgbClr val="EFF3E9"/>
            </a:solidFill>
            <a:ln w="14288">
              <a:solidFill>
                <a:srgbClr val="B3C3AB"/>
              </a:solidFill>
              <a:prstDash val="solid"/>
            </a:ln>
          </p:spPr>
          <p:txBody>
            <a:bodyPr/>
            <a:lstStyle/>
            <a:p>
              <a:endParaRPr sz="1200"/>
            </a:p>
          </p:txBody>
        </p:sp>
        <p:sp>
          <p:nvSpPr>
            <p:cNvPr id="356" name="diagram__wild-label_356">
              <a:extLst>
                <a:ext uri="{FF2B5EF4-FFF2-40B4-BE49-F238E27FC236}">
                  <a16:creationId xmlns:a16="http://schemas.microsoft.com/office/drawing/2014/main" id="{CA1B97E2-B631-4173-9A70-CE83B8316DDE}"/>
                </a:ext>
              </a:extLst>
            </p:cNvPr>
            <p:cNvSpPr>
              <a:spLocks/>
            </p:cNvSpPr>
            <p:nvPr/>
          </p:nvSpPr>
          <p:spPr>
            <a:xfrm>
              <a:off x="6083300" y="3219450"/>
              <a:ext cx="901700" cy="660400"/>
            </a:xfrm>
            <a:prstGeom prst="rect">
              <a:avLst/>
            </a:prstGeom>
            <a:noFill/>
            <a:ln w="0">
              <a:noFill/>
            </a:ln>
          </p:spPr>
          <p:txBody>
            <a:bodyPr wrap="none" lIns="0" tIns="0" rIns="0" bIns="0" anchor="t">
              <a:noAutofit/>
            </a:bodyPr>
            <a:lstStyle>
              <a:defPPr algn="ctr">
                <a:defRPr sz="1140" b="1">
                  <a:solidFill>
                    <a:srgbClr val="538163"/>
                  </a:solidFill>
                  <a:latin typeface="Arial"/>
                  <a:ea typeface="Arial"/>
                  <a:cs typeface="Arial"/>
                </a:defRPr>
              </a:defPPr>
            </a:lstStyle>
            <a:p>
              <a:pPr algn="ctr">
                <a:lnSpc>
                  <a:spcPct val="116000"/>
                </a:lnSpc>
                <a:buNone/>
                <a:defRPr sz="1140" b="1">
                  <a:solidFill>
                    <a:srgbClr val="538163"/>
                  </a:solidFill>
                  <a:latin typeface="Arial"/>
                  <a:ea typeface="Arial"/>
                  <a:cs typeface="Arial"/>
                </a:defRPr>
              </a:pPr>
              <a:r>
                <a:rPr sz="1140" b="1">
                  <a:solidFill>
                    <a:srgbClr val="538163"/>
                  </a:solidFill>
                  <a:latin typeface="Arial"/>
                  <a:ea typeface="Arial"/>
                  <a:cs typeface="Arial"/>
                </a:rPr>
                <a:t>Local wild</a:t>
              </a:r>
            </a:p>
            <a:p>
              <a:pPr algn="ctr">
                <a:lnSpc>
                  <a:spcPct val="116000"/>
                </a:lnSpc>
                <a:buNone/>
                <a:defRPr sz="1140" b="1">
                  <a:solidFill>
                    <a:srgbClr val="538163"/>
                  </a:solidFill>
                  <a:latin typeface="Arial"/>
                  <a:ea typeface="Arial"/>
                  <a:cs typeface="Arial"/>
                </a:defRPr>
              </a:pPr>
              <a:r>
                <a:rPr sz="1140" b="1">
                  <a:solidFill>
                    <a:srgbClr val="538163"/>
                  </a:solidFill>
                  <a:latin typeface="Arial"/>
                  <a:ea typeface="Arial"/>
                  <a:cs typeface="Arial"/>
                </a:rPr>
                <a:t>junglefowl</a:t>
              </a:r>
            </a:p>
            <a:p>
              <a:pPr algn="ctr">
                <a:lnSpc>
                  <a:spcPct val="116000"/>
                </a:lnSpc>
                <a:buNone/>
                <a:defRPr sz="1140" b="1">
                  <a:solidFill>
                    <a:srgbClr val="538163"/>
                  </a:solidFill>
                  <a:latin typeface="Arial"/>
                  <a:ea typeface="Arial"/>
                  <a:cs typeface="Arial"/>
                </a:defRPr>
              </a:pPr>
              <a:r>
                <a:rPr sz="1140" b="1">
                  <a:solidFill>
                    <a:srgbClr val="538163"/>
                  </a:solidFill>
                  <a:latin typeface="Arial"/>
                  <a:ea typeface="Arial"/>
                  <a:cs typeface="Arial"/>
                </a:rPr>
                <a:t>populations</a:t>
              </a:r>
            </a:p>
          </p:txBody>
        </p:sp>
        <p:sp>
          <p:nvSpPr>
            <p:cNvPr id="357" name="s3-local-red-junglefowl__ellipse_357">
              <a:extLst>
                <a:ext uri="{FF2B5EF4-FFF2-40B4-BE49-F238E27FC236}">
                  <a16:creationId xmlns:a16="http://schemas.microsoft.com/office/drawing/2014/main" id="{EB57A1DF-BA43-4F44-9305-0AC7D305EF50}"/>
                </a:ext>
              </a:extLst>
            </p:cNvPr>
            <p:cNvSpPr>
              <a:spLocks/>
            </p:cNvSpPr>
            <p:nvPr/>
          </p:nvSpPr>
          <p:spPr>
            <a:xfrm>
              <a:off x="6158866" y="4239260"/>
              <a:ext cx="257175" cy="25717"/>
            </a:xfrm>
            <a:prstGeom prst="ellipse">
              <a:avLst/>
            </a:prstGeom>
            <a:solidFill>
              <a:srgbClr val="DCE2D6">
                <a:alpha val="80000"/>
              </a:srgbClr>
            </a:solidFill>
            <a:ln w="0">
              <a:noFill/>
              <a:prstDash val="solid"/>
            </a:ln>
          </p:spPr>
          <p:txBody>
            <a:bodyPr/>
            <a:lstStyle/>
            <a:p>
              <a:endParaRPr sz="1200"/>
            </a:p>
          </p:txBody>
        </p:sp>
        <p:sp>
          <p:nvSpPr>
            <p:cNvPr id="358" name="s3-local-red-junglefowl__contour_358">
              <a:extLst>
                <a:ext uri="{FF2B5EF4-FFF2-40B4-BE49-F238E27FC236}">
                  <a16:creationId xmlns:a16="http://schemas.microsoft.com/office/drawing/2014/main" id="{7ABAD67A-D52E-41B9-99FF-770D98028859}"/>
                </a:ext>
              </a:extLst>
            </p:cNvPr>
            <p:cNvSpPr>
              <a:spLocks/>
            </p:cNvSpPr>
            <p:nvPr/>
          </p:nvSpPr>
          <p:spPr>
            <a:xfrm>
              <a:off x="6039238" y="390173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284741"/>
            </a:solidFill>
            <a:ln w="7287">
              <a:solidFill>
                <a:srgbClr val="4A5147"/>
              </a:solidFill>
              <a:prstDash val="solid"/>
            </a:ln>
          </p:spPr>
          <p:txBody>
            <a:bodyPr/>
            <a:lstStyle/>
            <a:p>
              <a:endParaRPr sz="1200"/>
            </a:p>
          </p:txBody>
        </p:sp>
        <p:sp>
          <p:nvSpPr>
            <p:cNvPr id="359" name="s3-local-red-junglefowl__contour_359">
              <a:extLst>
                <a:ext uri="{FF2B5EF4-FFF2-40B4-BE49-F238E27FC236}">
                  <a16:creationId xmlns:a16="http://schemas.microsoft.com/office/drawing/2014/main" id="{A3FCF44B-3875-4571-A72F-7CADD1300D45}"/>
                </a:ext>
              </a:extLst>
            </p:cNvPr>
            <p:cNvSpPr>
              <a:spLocks/>
            </p:cNvSpPr>
            <p:nvPr/>
          </p:nvSpPr>
          <p:spPr>
            <a:xfrm>
              <a:off x="6043677" y="396644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284741"/>
            </a:solidFill>
            <a:ln w="7287">
              <a:solidFill>
                <a:srgbClr val="4A5147"/>
              </a:solidFill>
              <a:prstDash val="solid"/>
            </a:ln>
          </p:spPr>
          <p:txBody>
            <a:bodyPr/>
            <a:lstStyle/>
            <a:p>
              <a:endParaRPr sz="1200"/>
            </a:p>
          </p:txBody>
        </p:sp>
        <p:sp>
          <p:nvSpPr>
            <p:cNvPr id="360" name="s3-local-red-junglefowl__contour_360">
              <a:extLst>
                <a:ext uri="{FF2B5EF4-FFF2-40B4-BE49-F238E27FC236}">
                  <a16:creationId xmlns:a16="http://schemas.microsoft.com/office/drawing/2014/main" id="{A91BCB72-AF91-473E-B9DA-3BF535F793CB}"/>
                </a:ext>
              </a:extLst>
            </p:cNvPr>
            <p:cNvSpPr>
              <a:spLocks/>
            </p:cNvSpPr>
            <p:nvPr/>
          </p:nvSpPr>
          <p:spPr>
            <a:xfrm>
              <a:off x="6066683" y="401923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284741"/>
            </a:solidFill>
            <a:ln w="7287">
              <a:solidFill>
                <a:srgbClr val="4A5147"/>
              </a:solidFill>
              <a:prstDash val="solid"/>
            </a:ln>
          </p:spPr>
          <p:txBody>
            <a:bodyPr/>
            <a:lstStyle/>
            <a:p>
              <a:endParaRPr sz="1200"/>
            </a:p>
          </p:txBody>
        </p:sp>
        <p:sp>
          <p:nvSpPr>
            <p:cNvPr id="361" name="s3-local-red-junglefowl__contour_361">
              <a:extLst>
                <a:ext uri="{FF2B5EF4-FFF2-40B4-BE49-F238E27FC236}">
                  <a16:creationId xmlns:a16="http://schemas.microsoft.com/office/drawing/2014/main" id="{B7CB3C89-5CD2-44D2-BD62-EBF94E5B7856}"/>
                </a:ext>
              </a:extLst>
            </p:cNvPr>
            <p:cNvSpPr>
              <a:spLocks/>
            </p:cNvSpPr>
            <p:nvPr/>
          </p:nvSpPr>
          <p:spPr>
            <a:xfrm>
              <a:off x="6081713" y="393065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62" name="s3-local-red-junglefowl__contour_362">
              <a:extLst>
                <a:ext uri="{FF2B5EF4-FFF2-40B4-BE49-F238E27FC236}">
                  <a16:creationId xmlns:a16="http://schemas.microsoft.com/office/drawing/2014/main" id="{DAD92666-F053-4D53-BB54-CEAB5D0019BE}"/>
                </a:ext>
              </a:extLst>
            </p:cNvPr>
            <p:cNvSpPr>
              <a:spLocks/>
            </p:cNvSpPr>
            <p:nvPr/>
          </p:nvSpPr>
          <p:spPr>
            <a:xfrm>
              <a:off x="6067426" y="3988949"/>
              <a:ext cx="145732" cy="116008"/>
            </a:xfrm>
            <a:custGeom>
              <a:avLst/>
              <a:gdLst/>
              <a:ahLst/>
              <a:cxnLst/>
              <a:rect l="0" t="0" r="0" b="0"/>
              <a:pathLst>
                <a:path w="218599" h="174012">
                  <a:moveTo>
                    <a:pt x="218599" y="174012"/>
                  </a:moveTo>
                  <a:lnTo>
                    <a:pt x="200082" y="149962"/>
                  </a:lnTo>
                  <a:lnTo>
                    <a:pt x="182223" y="127540"/>
                  </a:lnTo>
                  <a:lnTo>
                    <a:pt x="165002" y="106804"/>
                  </a:lnTo>
                  <a:lnTo>
                    <a:pt x="148400" y="87782"/>
                  </a:lnTo>
                  <a:lnTo>
                    <a:pt x="132397"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63" name="s3-local-red-junglefowl__line_363">
              <a:extLst>
                <a:ext uri="{FF2B5EF4-FFF2-40B4-BE49-F238E27FC236}">
                  <a16:creationId xmlns:a16="http://schemas.microsoft.com/office/drawing/2014/main" id="{84ADDA7A-1A69-4894-8775-A3CAD35139BB}"/>
                </a:ext>
              </a:extLst>
            </p:cNvPr>
            <p:cNvSpPr>
              <a:spLocks/>
            </p:cNvSpPr>
            <p:nvPr/>
          </p:nvSpPr>
          <p:spPr>
            <a:xfrm>
              <a:off x="6278880" y="418496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64" name="s3-local-red-junglefowl__line_364">
              <a:extLst>
                <a:ext uri="{FF2B5EF4-FFF2-40B4-BE49-F238E27FC236}">
                  <a16:creationId xmlns:a16="http://schemas.microsoft.com/office/drawing/2014/main" id="{7ED1A14D-4D41-4406-B9D2-3DC15938F5F4}"/>
                </a:ext>
              </a:extLst>
            </p:cNvPr>
            <p:cNvSpPr>
              <a:spLocks/>
            </p:cNvSpPr>
            <p:nvPr/>
          </p:nvSpPr>
          <p:spPr>
            <a:xfrm>
              <a:off x="6253163" y="423354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65" name="s3-local-red-junglefowl__line_365">
              <a:extLst>
                <a:ext uri="{FF2B5EF4-FFF2-40B4-BE49-F238E27FC236}">
                  <a16:creationId xmlns:a16="http://schemas.microsoft.com/office/drawing/2014/main" id="{D7C4FA2E-532E-418E-B958-08D3D6B1F395}"/>
                </a:ext>
              </a:extLst>
            </p:cNvPr>
            <p:cNvSpPr>
              <a:spLocks/>
            </p:cNvSpPr>
            <p:nvPr/>
          </p:nvSpPr>
          <p:spPr>
            <a:xfrm>
              <a:off x="6281738" y="423640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66" name="s3-local-red-junglefowl__line_366">
              <a:extLst>
                <a:ext uri="{FF2B5EF4-FFF2-40B4-BE49-F238E27FC236}">
                  <a16:creationId xmlns:a16="http://schemas.microsoft.com/office/drawing/2014/main" id="{9A35CB32-D86B-43D0-AEF4-480119C76085}"/>
                </a:ext>
              </a:extLst>
            </p:cNvPr>
            <p:cNvSpPr>
              <a:spLocks/>
            </p:cNvSpPr>
            <p:nvPr/>
          </p:nvSpPr>
          <p:spPr>
            <a:xfrm>
              <a:off x="6338888" y="4182110"/>
              <a:ext cx="5714" cy="57150"/>
            </a:xfrm>
            <a:custGeom>
              <a:avLst/>
              <a:gdLst/>
              <a:ahLst/>
              <a:cxnLst/>
              <a:rect l="0" t="0" r="0" b="0"/>
              <a:pathLst>
                <a:path w="8572" h="85725">
                  <a:moveTo>
                    <a:pt x="0" y="0"/>
                  </a:moveTo>
                  <a:lnTo>
                    <a:pt x="8572" y="85725"/>
                  </a:lnTo>
                </a:path>
              </a:pathLst>
            </a:custGeom>
            <a:noFill/>
            <a:ln w="12859">
              <a:solidFill>
                <a:srgbClr val="B68C45"/>
              </a:solidFill>
              <a:prstDash val="solid"/>
            </a:ln>
          </p:spPr>
          <p:txBody>
            <a:bodyPr/>
            <a:lstStyle/>
            <a:p>
              <a:endParaRPr sz="1200"/>
            </a:p>
          </p:txBody>
        </p:sp>
        <p:sp>
          <p:nvSpPr>
            <p:cNvPr id="367" name="s3-local-red-junglefowl__line_367">
              <a:extLst>
                <a:ext uri="{FF2B5EF4-FFF2-40B4-BE49-F238E27FC236}">
                  <a16:creationId xmlns:a16="http://schemas.microsoft.com/office/drawing/2014/main" id="{F84E4A79-3169-4511-AD62-1B167AAB3B0F}"/>
                </a:ext>
              </a:extLst>
            </p:cNvPr>
            <p:cNvSpPr>
              <a:spLocks/>
            </p:cNvSpPr>
            <p:nvPr/>
          </p:nvSpPr>
          <p:spPr>
            <a:xfrm>
              <a:off x="6318886" y="423640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68" name="s3-local-red-junglefowl__line_368">
              <a:extLst>
                <a:ext uri="{FF2B5EF4-FFF2-40B4-BE49-F238E27FC236}">
                  <a16:creationId xmlns:a16="http://schemas.microsoft.com/office/drawing/2014/main" id="{A48E9EFB-94C6-4AAB-AA4E-2D83FA416784}"/>
                </a:ext>
              </a:extLst>
            </p:cNvPr>
            <p:cNvSpPr>
              <a:spLocks/>
            </p:cNvSpPr>
            <p:nvPr/>
          </p:nvSpPr>
          <p:spPr>
            <a:xfrm>
              <a:off x="6341746" y="423640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69" name="s3-local-red-junglefowl__contour_369">
              <a:extLst>
                <a:ext uri="{FF2B5EF4-FFF2-40B4-BE49-F238E27FC236}">
                  <a16:creationId xmlns:a16="http://schemas.microsoft.com/office/drawing/2014/main" id="{4E5E1EA2-DD05-4F00-AA3A-63386C5AD378}"/>
                </a:ext>
              </a:extLst>
            </p:cNvPr>
            <p:cNvSpPr>
              <a:spLocks/>
            </p:cNvSpPr>
            <p:nvPr/>
          </p:nvSpPr>
          <p:spPr>
            <a:xfrm>
              <a:off x="6194482" y="393642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0"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B86A38"/>
            </a:solidFill>
            <a:ln w="7287">
              <a:solidFill>
                <a:srgbClr val="4A5147"/>
              </a:solidFill>
              <a:prstDash val="solid"/>
            </a:ln>
          </p:spPr>
          <p:txBody>
            <a:bodyPr/>
            <a:lstStyle/>
            <a:p>
              <a:endParaRPr sz="1200"/>
            </a:p>
          </p:txBody>
        </p:sp>
        <p:sp>
          <p:nvSpPr>
            <p:cNvPr id="370" name="s3-local-red-junglefowl__contour_370">
              <a:extLst>
                <a:ext uri="{FF2B5EF4-FFF2-40B4-BE49-F238E27FC236}">
                  <a16:creationId xmlns:a16="http://schemas.microsoft.com/office/drawing/2014/main" id="{8F854D17-78A7-452B-A9A6-4A166C09C763}"/>
                </a:ext>
              </a:extLst>
            </p:cNvPr>
            <p:cNvSpPr>
              <a:spLocks/>
            </p:cNvSpPr>
            <p:nvPr/>
          </p:nvSpPr>
          <p:spPr>
            <a:xfrm>
              <a:off x="6238876" y="403352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8" y="154600"/>
                  </a:lnTo>
                  <a:lnTo>
                    <a:pt x="21174" y="149495"/>
                  </a:lnTo>
                  <a:lnTo>
                    <a:pt x="30966" y="143332"/>
                  </a:lnTo>
                  <a:lnTo>
                    <a:pt x="40253" y="136141"/>
                  </a:lnTo>
                  <a:lnTo>
                    <a:pt x="49054" y="127949"/>
                  </a:lnTo>
                  <a:lnTo>
                    <a:pt x="57398" y="118815"/>
                  </a:lnTo>
                  <a:lnTo>
                    <a:pt x="65313" y="108766"/>
                  </a:lnTo>
                  <a:lnTo>
                    <a:pt x="72819" y="97831"/>
                  </a:lnTo>
                  <a:lnTo>
                    <a:pt x="79934" y="86068"/>
                  </a:lnTo>
                  <a:lnTo>
                    <a:pt x="86678" y="73504"/>
                  </a:lnTo>
                  <a:lnTo>
                    <a:pt x="93078" y="60169"/>
                  </a:lnTo>
                  <a:lnTo>
                    <a:pt x="99165" y="46120"/>
                  </a:lnTo>
                  <a:lnTo>
                    <a:pt x="104956" y="31385"/>
                  </a:lnTo>
                  <a:lnTo>
                    <a:pt x="110471" y="15992"/>
                  </a:lnTo>
                  <a:lnTo>
                    <a:pt x="115729" y="0"/>
                  </a:lnTo>
                  <a:close/>
                </a:path>
              </a:pathLst>
            </a:custGeom>
            <a:solidFill>
              <a:srgbClr val="293A36"/>
            </a:solidFill>
            <a:ln w="7287">
              <a:noFill/>
              <a:prstDash val="solid"/>
            </a:ln>
          </p:spPr>
          <p:txBody>
            <a:bodyPr/>
            <a:lstStyle/>
            <a:p>
              <a:endParaRPr sz="1200"/>
            </a:p>
          </p:txBody>
        </p:sp>
        <p:sp>
          <p:nvSpPr>
            <p:cNvPr id="371" name="s3-local-red-junglefowl__contour_371">
              <a:extLst>
                <a:ext uri="{FF2B5EF4-FFF2-40B4-BE49-F238E27FC236}">
                  <a16:creationId xmlns:a16="http://schemas.microsoft.com/office/drawing/2014/main" id="{643EEE68-B610-4778-AEE1-AE30F7BCFF21}"/>
                </a:ext>
              </a:extLst>
            </p:cNvPr>
            <p:cNvSpPr>
              <a:spLocks/>
            </p:cNvSpPr>
            <p:nvPr/>
          </p:nvSpPr>
          <p:spPr>
            <a:xfrm>
              <a:off x="6304598" y="394068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2" y="220694"/>
                  </a:lnTo>
                  <a:lnTo>
                    <a:pt x="90011" y="190690"/>
                  </a:lnTo>
                  <a:lnTo>
                    <a:pt x="77153" y="242125"/>
                  </a:lnTo>
                  <a:lnTo>
                    <a:pt x="55721" y="203549"/>
                  </a:lnTo>
                  <a:lnTo>
                    <a:pt x="30004" y="233553"/>
                  </a:lnTo>
                  <a:lnTo>
                    <a:pt x="25717"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CA05A"/>
            </a:solidFill>
            <a:ln w="4715">
              <a:solidFill>
                <a:srgbClr val="8D683E"/>
              </a:solidFill>
              <a:prstDash val="solid"/>
            </a:ln>
          </p:spPr>
          <p:txBody>
            <a:bodyPr/>
            <a:lstStyle/>
            <a:p>
              <a:endParaRPr sz="1200"/>
            </a:p>
          </p:txBody>
        </p:sp>
        <p:sp>
          <p:nvSpPr>
            <p:cNvPr id="372" name="s3-local-red-junglefowl__line_372">
              <a:extLst>
                <a:ext uri="{FF2B5EF4-FFF2-40B4-BE49-F238E27FC236}">
                  <a16:creationId xmlns:a16="http://schemas.microsoft.com/office/drawing/2014/main" id="{318B86A8-2D44-4BD0-85D0-E7C463780F5D}"/>
                </a:ext>
              </a:extLst>
            </p:cNvPr>
            <p:cNvSpPr>
              <a:spLocks/>
            </p:cNvSpPr>
            <p:nvPr/>
          </p:nvSpPr>
          <p:spPr>
            <a:xfrm>
              <a:off x="6330316" y="3993515"/>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73" name="s3-local-red-junglefowl__line_373">
              <a:extLst>
                <a:ext uri="{FF2B5EF4-FFF2-40B4-BE49-F238E27FC236}">
                  <a16:creationId xmlns:a16="http://schemas.microsoft.com/office/drawing/2014/main" id="{32F5CDA3-DFF8-4D20-A852-0949F58F7BC0}"/>
                </a:ext>
              </a:extLst>
            </p:cNvPr>
            <p:cNvSpPr>
              <a:spLocks/>
            </p:cNvSpPr>
            <p:nvPr/>
          </p:nvSpPr>
          <p:spPr>
            <a:xfrm>
              <a:off x="6353176" y="399637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374" name="s3-local-red-junglefowl__line_374">
              <a:extLst>
                <a:ext uri="{FF2B5EF4-FFF2-40B4-BE49-F238E27FC236}">
                  <a16:creationId xmlns:a16="http://schemas.microsoft.com/office/drawing/2014/main" id="{EDCD20F8-C089-4B9F-BA40-B7BA0FACB06A}"/>
                </a:ext>
              </a:extLst>
            </p:cNvPr>
            <p:cNvSpPr>
              <a:spLocks/>
            </p:cNvSpPr>
            <p:nvPr/>
          </p:nvSpPr>
          <p:spPr>
            <a:xfrm>
              <a:off x="6373178" y="399637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375" name="s3-local-red-junglefowl__contour_375">
              <a:extLst>
                <a:ext uri="{FF2B5EF4-FFF2-40B4-BE49-F238E27FC236}">
                  <a16:creationId xmlns:a16="http://schemas.microsoft.com/office/drawing/2014/main" id="{D7B37760-3E7C-4BD9-9361-9677A81D029C}"/>
                </a:ext>
              </a:extLst>
            </p:cNvPr>
            <p:cNvSpPr>
              <a:spLocks/>
            </p:cNvSpPr>
            <p:nvPr/>
          </p:nvSpPr>
          <p:spPr>
            <a:xfrm>
              <a:off x="6204084" y="405574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80"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A54C31"/>
            </a:solidFill>
            <a:ln w="7287">
              <a:solidFill>
                <a:srgbClr val="4A5147"/>
              </a:solidFill>
              <a:prstDash val="solid"/>
            </a:ln>
          </p:spPr>
          <p:txBody>
            <a:bodyPr/>
            <a:lstStyle/>
            <a:p>
              <a:endParaRPr sz="1200"/>
            </a:p>
          </p:txBody>
        </p:sp>
        <p:sp>
          <p:nvSpPr>
            <p:cNvPr id="376" name="s3-local-red-junglefowl__contour_376">
              <a:extLst>
                <a:ext uri="{FF2B5EF4-FFF2-40B4-BE49-F238E27FC236}">
                  <a16:creationId xmlns:a16="http://schemas.microsoft.com/office/drawing/2014/main" id="{7428D97E-F9F8-45D4-9258-9055BA892BEE}"/>
                </a:ext>
              </a:extLst>
            </p:cNvPr>
            <p:cNvSpPr>
              <a:spLocks/>
            </p:cNvSpPr>
            <p:nvPr/>
          </p:nvSpPr>
          <p:spPr>
            <a:xfrm>
              <a:off x="6218873" y="407642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377" name="s3-local-red-junglefowl__contour_377">
              <a:extLst>
                <a:ext uri="{FF2B5EF4-FFF2-40B4-BE49-F238E27FC236}">
                  <a16:creationId xmlns:a16="http://schemas.microsoft.com/office/drawing/2014/main" id="{0CDF0823-EFA9-457B-A2DB-6B6E17BD490A}"/>
                </a:ext>
              </a:extLst>
            </p:cNvPr>
            <p:cNvSpPr>
              <a:spLocks/>
            </p:cNvSpPr>
            <p:nvPr/>
          </p:nvSpPr>
          <p:spPr>
            <a:xfrm>
              <a:off x="6343092" y="390170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4"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378" name="s3-local-red-junglefowl__contour_378">
              <a:extLst>
                <a:ext uri="{FF2B5EF4-FFF2-40B4-BE49-F238E27FC236}">
                  <a16:creationId xmlns:a16="http://schemas.microsoft.com/office/drawing/2014/main" id="{C884258D-20C9-4B7E-9F99-69B727B55998}"/>
                </a:ext>
              </a:extLst>
            </p:cNvPr>
            <p:cNvSpPr>
              <a:spLocks/>
            </p:cNvSpPr>
            <p:nvPr/>
          </p:nvSpPr>
          <p:spPr>
            <a:xfrm>
              <a:off x="6410326" y="397351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379" name="s3-local-red-junglefowl__ellipse_379">
              <a:extLst>
                <a:ext uri="{FF2B5EF4-FFF2-40B4-BE49-F238E27FC236}">
                  <a16:creationId xmlns:a16="http://schemas.microsoft.com/office/drawing/2014/main" id="{BFE21A41-943F-41A7-A076-CF3D2C2B1C3D}"/>
                </a:ext>
              </a:extLst>
            </p:cNvPr>
            <p:cNvSpPr>
              <a:spLocks/>
            </p:cNvSpPr>
            <p:nvPr/>
          </p:nvSpPr>
          <p:spPr>
            <a:xfrm>
              <a:off x="6381750" y="4002088"/>
              <a:ext cx="22859" cy="40005"/>
            </a:xfrm>
            <a:prstGeom prst="ellipse">
              <a:avLst/>
            </a:prstGeom>
            <a:solidFill>
              <a:srgbClr val="B8493E"/>
            </a:solidFill>
            <a:ln w="4286">
              <a:solidFill>
                <a:srgbClr val="803B33"/>
              </a:solidFill>
              <a:prstDash val="solid"/>
            </a:ln>
          </p:spPr>
          <p:txBody>
            <a:bodyPr/>
            <a:lstStyle/>
            <a:p>
              <a:endParaRPr sz="1200"/>
            </a:p>
          </p:txBody>
        </p:sp>
        <p:sp>
          <p:nvSpPr>
            <p:cNvPr id="380" name="s3-local-red-junglefowl__ellipse_380">
              <a:extLst>
                <a:ext uri="{FF2B5EF4-FFF2-40B4-BE49-F238E27FC236}">
                  <a16:creationId xmlns:a16="http://schemas.microsoft.com/office/drawing/2014/main" id="{C4A86860-0A03-4EB3-B616-88C0CC778CB2}"/>
                </a:ext>
              </a:extLst>
            </p:cNvPr>
            <p:cNvSpPr>
              <a:spLocks/>
            </p:cNvSpPr>
            <p:nvPr/>
          </p:nvSpPr>
          <p:spPr>
            <a:xfrm>
              <a:off x="6387466" y="3973513"/>
              <a:ext cx="11429" cy="17145"/>
            </a:xfrm>
            <a:prstGeom prst="ellipse">
              <a:avLst/>
            </a:prstGeom>
            <a:solidFill>
              <a:srgbClr val="F2E7D1"/>
            </a:solidFill>
            <a:ln w="0">
              <a:noFill/>
              <a:prstDash val="solid"/>
            </a:ln>
          </p:spPr>
          <p:txBody>
            <a:bodyPr/>
            <a:lstStyle/>
            <a:p>
              <a:endParaRPr sz="1200"/>
            </a:p>
          </p:txBody>
        </p:sp>
        <p:sp>
          <p:nvSpPr>
            <p:cNvPr id="381" name="s3-local-red-junglefowl__ellipse_381">
              <a:extLst>
                <a:ext uri="{FF2B5EF4-FFF2-40B4-BE49-F238E27FC236}">
                  <a16:creationId xmlns:a16="http://schemas.microsoft.com/office/drawing/2014/main" id="{12918567-BC0F-4D30-A10A-9B12DF27C36E}"/>
                </a:ext>
              </a:extLst>
            </p:cNvPr>
            <p:cNvSpPr>
              <a:spLocks/>
            </p:cNvSpPr>
            <p:nvPr/>
          </p:nvSpPr>
          <p:spPr>
            <a:xfrm>
              <a:off x="6396038" y="3959225"/>
              <a:ext cx="11429" cy="11430"/>
            </a:xfrm>
            <a:prstGeom prst="ellipse">
              <a:avLst/>
            </a:prstGeom>
            <a:solidFill>
              <a:srgbClr val="1F2B28"/>
            </a:solidFill>
            <a:ln w="0">
              <a:noFill/>
              <a:prstDash val="solid"/>
            </a:ln>
          </p:spPr>
          <p:txBody>
            <a:bodyPr/>
            <a:lstStyle/>
            <a:p>
              <a:endParaRPr sz="1200"/>
            </a:p>
          </p:txBody>
        </p:sp>
        <p:sp>
          <p:nvSpPr>
            <p:cNvPr id="382" name="s3-local-red-junglefowl__ellipse_382">
              <a:extLst>
                <a:ext uri="{FF2B5EF4-FFF2-40B4-BE49-F238E27FC236}">
                  <a16:creationId xmlns:a16="http://schemas.microsoft.com/office/drawing/2014/main" id="{461460B4-A1C9-4332-8E7D-4994380D413F}"/>
                </a:ext>
              </a:extLst>
            </p:cNvPr>
            <p:cNvSpPr>
              <a:spLocks/>
            </p:cNvSpPr>
            <p:nvPr/>
          </p:nvSpPr>
          <p:spPr>
            <a:xfrm>
              <a:off x="6398610" y="3959797"/>
              <a:ext cx="3143" cy="3143"/>
            </a:xfrm>
            <a:prstGeom prst="ellipse">
              <a:avLst/>
            </a:prstGeom>
            <a:solidFill>
              <a:srgbClr val="FFFFFF"/>
            </a:solidFill>
            <a:ln w="0">
              <a:noFill/>
              <a:prstDash val="solid"/>
            </a:ln>
          </p:spPr>
          <p:txBody>
            <a:bodyPr/>
            <a:lstStyle/>
            <a:p>
              <a:endParaRPr sz="1200"/>
            </a:p>
          </p:txBody>
        </p:sp>
        <p:sp>
          <p:nvSpPr>
            <p:cNvPr id="383" name="s3-other-local-junglefowl__ellipse_383">
              <a:extLst>
                <a:ext uri="{FF2B5EF4-FFF2-40B4-BE49-F238E27FC236}">
                  <a16:creationId xmlns:a16="http://schemas.microsoft.com/office/drawing/2014/main" id="{188301BF-91FD-479C-A825-C28167E5F9F7}"/>
                </a:ext>
              </a:extLst>
            </p:cNvPr>
            <p:cNvSpPr>
              <a:spLocks/>
            </p:cNvSpPr>
            <p:nvPr/>
          </p:nvSpPr>
          <p:spPr>
            <a:xfrm>
              <a:off x="6628765" y="4245610"/>
              <a:ext cx="257175" cy="25717"/>
            </a:xfrm>
            <a:prstGeom prst="ellipse">
              <a:avLst/>
            </a:prstGeom>
            <a:solidFill>
              <a:srgbClr val="DCE2D6">
                <a:alpha val="80000"/>
              </a:srgbClr>
            </a:solidFill>
            <a:ln w="0">
              <a:noFill/>
              <a:prstDash val="solid"/>
            </a:ln>
          </p:spPr>
          <p:txBody>
            <a:bodyPr/>
            <a:lstStyle/>
            <a:p>
              <a:endParaRPr sz="1200"/>
            </a:p>
          </p:txBody>
        </p:sp>
        <p:sp>
          <p:nvSpPr>
            <p:cNvPr id="384" name="s3-other-local-junglefowl__contour_384">
              <a:extLst>
                <a:ext uri="{FF2B5EF4-FFF2-40B4-BE49-F238E27FC236}">
                  <a16:creationId xmlns:a16="http://schemas.microsoft.com/office/drawing/2014/main" id="{2F4F9ADA-C6BF-4E02-BAC5-76B1456FC6D6}"/>
                </a:ext>
              </a:extLst>
            </p:cNvPr>
            <p:cNvSpPr>
              <a:spLocks/>
            </p:cNvSpPr>
            <p:nvPr/>
          </p:nvSpPr>
          <p:spPr>
            <a:xfrm>
              <a:off x="6509138" y="390808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53685B"/>
            </a:solidFill>
            <a:ln w="7287">
              <a:solidFill>
                <a:srgbClr val="4A5147"/>
              </a:solidFill>
              <a:prstDash val="solid"/>
            </a:ln>
          </p:spPr>
          <p:txBody>
            <a:bodyPr/>
            <a:lstStyle/>
            <a:p>
              <a:endParaRPr sz="1200"/>
            </a:p>
          </p:txBody>
        </p:sp>
        <p:sp>
          <p:nvSpPr>
            <p:cNvPr id="385" name="s3-other-local-junglefowl__contour_385">
              <a:extLst>
                <a:ext uri="{FF2B5EF4-FFF2-40B4-BE49-F238E27FC236}">
                  <a16:creationId xmlns:a16="http://schemas.microsoft.com/office/drawing/2014/main" id="{A47A7691-F4B9-41A4-BF16-74571B7B524D}"/>
                </a:ext>
              </a:extLst>
            </p:cNvPr>
            <p:cNvSpPr>
              <a:spLocks/>
            </p:cNvSpPr>
            <p:nvPr/>
          </p:nvSpPr>
          <p:spPr>
            <a:xfrm>
              <a:off x="6513576" y="397279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53685B"/>
            </a:solidFill>
            <a:ln w="7287">
              <a:solidFill>
                <a:srgbClr val="4A5147"/>
              </a:solidFill>
              <a:prstDash val="solid"/>
            </a:ln>
          </p:spPr>
          <p:txBody>
            <a:bodyPr/>
            <a:lstStyle/>
            <a:p>
              <a:endParaRPr sz="1200"/>
            </a:p>
          </p:txBody>
        </p:sp>
        <p:sp>
          <p:nvSpPr>
            <p:cNvPr id="386" name="s3-other-local-junglefowl__contour_386">
              <a:extLst>
                <a:ext uri="{FF2B5EF4-FFF2-40B4-BE49-F238E27FC236}">
                  <a16:creationId xmlns:a16="http://schemas.microsoft.com/office/drawing/2014/main" id="{A16244BF-9170-4232-9DB1-8ADE68CB730E}"/>
                </a:ext>
              </a:extLst>
            </p:cNvPr>
            <p:cNvSpPr>
              <a:spLocks/>
            </p:cNvSpPr>
            <p:nvPr/>
          </p:nvSpPr>
          <p:spPr>
            <a:xfrm>
              <a:off x="6536582" y="402558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53685B"/>
            </a:solidFill>
            <a:ln w="7287">
              <a:solidFill>
                <a:srgbClr val="4A5147"/>
              </a:solidFill>
              <a:prstDash val="solid"/>
            </a:ln>
          </p:spPr>
          <p:txBody>
            <a:bodyPr/>
            <a:lstStyle/>
            <a:p>
              <a:endParaRPr sz="1200"/>
            </a:p>
          </p:txBody>
        </p:sp>
        <p:sp>
          <p:nvSpPr>
            <p:cNvPr id="387" name="s3-other-local-junglefowl__contour_387">
              <a:extLst>
                <a:ext uri="{FF2B5EF4-FFF2-40B4-BE49-F238E27FC236}">
                  <a16:creationId xmlns:a16="http://schemas.microsoft.com/office/drawing/2014/main" id="{623EDF50-396E-4D46-8D2F-E91C6D1C5E5B}"/>
                </a:ext>
              </a:extLst>
            </p:cNvPr>
            <p:cNvSpPr>
              <a:spLocks/>
            </p:cNvSpPr>
            <p:nvPr/>
          </p:nvSpPr>
          <p:spPr>
            <a:xfrm>
              <a:off x="6551613" y="393700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88" name="s3-other-local-junglefowl__contour_388">
              <a:extLst>
                <a:ext uri="{FF2B5EF4-FFF2-40B4-BE49-F238E27FC236}">
                  <a16:creationId xmlns:a16="http://schemas.microsoft.com/office/drawing/2014/main" id="{B0F5A366-71AA-4854-91B9-F3F9E78C8B5E}"/>
                </a:ext>
              </a:extLst>
            </p:cNvPr>
            <p:cNvSpPr>
              <a:spLocks/>
            </p:cNvSpPr>
            <p:nvPr/>
          </p:nvSpPr>
          <p:spPr>
            <a:xfrm>
              <a:off x="6537325" y="3995299"/>
              <a:ext cx="145732" cy="116008"/>
            </a:xfrm>
            <a:custGeom>
              <a:avLst/>
              <a:gdLst/>
              <a:ahLst/>
              <a:cxnLst/>
              <a:rect l="0" t="0" r="0" b="0"/>
              <a:pathLst>
                <a:path w="218599" h="174012">
                  <a:moveTo>
                    <a:pt x="218599" y="174012"/>
                  </a:moveTo>
                  <a:lnTo>
                    <a:pt x="200082" y="149962"/>
                  </a:lnTo>
                  <a:lnTo>
                    <a:pt x="182223" y="127540"/>
                  </a:lnTo>
                  <a:lnTo>
                    <a:pt x="165002" y="106804"/>
                  </a:lnTo>
                  <a:lnTo>
                    <a:pt x="148399" y="87782"/>
                  </a:lnTo>
                  <a:lnTo>
                    <a:pt x="132398"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89" name="s3-other-local-junglefowl__line_389">
              <a:extLst>
                <a:ext uri="{FF2B5EF4-FFF2-40B4-BE49-F238E27FC236}">
                  <a16:creationId xmlns:a16="http://schemas.microsoft.com/office/drawing/2014/main" id="{86A4DA2C-CB9F-4512-AB16-206A34E95351}"/>
                </a:ext>
              </a:extLst>
            </p:cNvPr>
            <p:cNvSpPr>
              <a:spLocks/>
            </p:cNvSpPr>
            <p:nvPr/>
          </p:nvSpPr>
          <p:spPr>
            <a:xfrm>
              <a:off x="6748780" y="419131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90" name="s3-other-local-junglefowl__line_390">
              <a:extLst>
                <a:ext uri="{FF2B5EF4-FFF2-40B4-BE49-F238E27FC236}">
                  <a16:creationId xmlns:a16="http://schemas.microsoft.com/office/drawing/2014/main" id="{EFA62CF4-10CF-406F-AF42-F6FE0F576BE2}"/>
                </a:ext>
              </a:extLst>
            </p:cNvPr>
            <p:cNvSpPr>
              <a:spLocks/>
            </p:cNvSpPr>
            <p:nvPr/>
          </p:nvSpPr>
          <p:spPr>
            <a:xfrm>
              <a:off x="6723063" y="423989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91" name="s3-other-local-junglefowl__line_391">
              <a:extLst>
                <a:ext uri="{FF2B5EF4-FFF2-40B4-BE49-F238E27FC236}">
                  <a16:creationId xmlns:a16="http://schemas.microsoft.com/office/drawing/2014/main" id="{D7C9D094-0EB0-4709-B22B-BDA064A5E755}"/>
                </a:ext>
              </a:extLst>
            </p:cNvPr>
            <p:cNvSpPr>
              <a:spLocks/>
            </p:cNvSpPr>
            <p:nvPr/>
          </p:nvSpPr>
          <p:spPr>
            <a:xfrm>
              <a:off x="6751637" y="424275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92" name="s3-other-local-junglefowl__line_392">
              <a:extLst>
                <a:ext uri="{FF2B5EF4-FFF2-40B4-BE49-F238E27FC236}">
                  <a16:creationId xmlns:a16="http://schemas.microsoft.com/office/drawing/2014/main" id="{E4A42999-3075-4E78-88C2-5854E5FDF53D}"/>
                </a:ext>
              </a:extLst>
            </p:cNvPr>
            <p:cNvSpPr>
              <a:spLocks/>
            </p:cNvSpPr>
            <p:nvPr/>
          </p:nvSpPr>
          <p:spPr>
            <a:xfrm>
              <a:off x="6808787" y="4188460"/>
              <a:ext cx="5715" cy="57150"/>
            </a:xfrm>
            <a:custGeom>
              <a:avLst/>
              <a:gdLst/>
              <a:ahLst/>
              <a:cxnLst/>
              <a:rect l="0" t="0" r="0" b="0"/>
              <a:pathLst>
                <a:path w="8573" h="85725">
                  <a:moveTo>
                    <a:pt x="0" y="0"/>
                  </a:moveTo>
                  <a:lnTo>
                    <a:pt x="8573" y="85725"/>
                  </a:lnTo>
                </a:path>
              </a:pathLst>
            </a:custGeom>
            <a:noFill/>
            <a:ln w="12859">
              <a:solidFill>
                <a:srgbClr val="B68C45"/>
              </a:solidFill>
              <a:prstDash val="solid"/>
            </a:ln>
          </p:spPr>
          <p:txBody>
            <a:bodyPr/>
            <a:lstStyle/>
            <a:p>
              <a:endParaRPr sz="1200"/>
            </a:p>
          </p:txBody>
        </p:sp>
        <p:sp>
          <p:nvSpPr>
            <p:cNvPr id="393" name="s3-other-local-junglefowl__line_393">
              <a:extLst>
                <a:ext uri="{FF2B5EF4-FFF2-40B4-BE49-F238E27FC236}">
                  <a16:creationId xmlns:a16="http://schemas.microsoft.com/office/drawing/2014/main" id="{F2B2216C-15D5-4BDF-A05E-7208E40C0E2E}"/>
                </a:ext>
              </a:extLst>
            </p:cNvPr>
            <p:cNvSpPr>
              <a:spLocks/>
            </p:cNvSpPr>
            <p:nvPr/>
          </p:nvSpPr>
          <p:spPr>
            <a:xfrm>
              <a:off x="6788785" y="424275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94" name="s3-other-local-junglefowl__line_394">
              <a:extLst>
                <a:ext uri="{FF2B5EF4-FFF2-40B4-BE49-F238E27FC236}">
                  <a16:creationId xmlns:a16="http://schemas.microsoft.com/office/drawing/2014/main" id="{F4C77192-D27D-4594-A27A-C0B9317BB07B}"/>
                </a:ext>
              </a:extLst>
            </p:cNvPr>
            <p:cNvSpPr>
              <a:spLocks/>
            </p:cNvSpPr>
            <p:nvPr/>
          </p:nvSpPr>
          <p:spPr>
            <a:xfrm>
              <a:off x="6811645" y="424275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95" name="s3-other-local-junglefowl__contour_395">
              <a:extLst>
                <a:ext uri="{FF2B5EF4-FFF2-40B4-BE49-F238E27FC236}">
                  <a16:creationId xmlns:a16="http://schemas.microsoft.com/office/drawing/2014/main" id="{DFE1809F-A0E0-4D47-9AFF-A5275EF9FBDE}"/>
                </a:ext>
              </a:extLst>
            </p:cNvPr>
            <p:cNvSpPr>
              <a:spLocks/>
            </p:cNvSpPr>
            <p:nvPr/>
          </p:nvSpPr>
          <p:spPr>
            <a:xfrm>
              <a:off x="6664382" y="394277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1"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85816F"/>
            </a:solidFill>
            <a:ln w="7287">
              <a:solidFill>
                <a:srgbClr val="4A5147"/>
              </a:solidFill>
              <a:prstDash val="solid"/>
            </a:ln>
          </p:spPr>
          <p:txBody>
            <a:bodyPr/>
            <a:lstStyle/>
            <a:p>
              <a:endParaRPr sz="1200"/>
            </a:p>
          </p:txBody>
        </p:sp>
        <p:sp>
          <p:nvSpPr>
            <p:cNvPr id="396" name="s3-other-local-junglefowl__contour_396">
              <a:extLst>
                <a:ext uri="{FF2B5EF4-FFF2-40B4-BE49-F238E27FC236}">
                  <a16:creationId xmlns:a16="http://schemas.microsoft.com/office/drawing/2014/main" id="{DEFBCCFC-7456-4E81-9758-F2574990D1F0}"/>
                </a:ext>
              </a:extLst>
            </p:cNvPr>
            <p:cNvSpPr>
              <a:spLocks/>
            </p:cNvSpPr>
            <p:nvPr/>
          </p:nvSpPr>
          <p:spPr>
            <a:xfrm>
              <a:off x="6708775" y="403987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9" y="154600"/>
                  </a:lnTo>
                  <a:lnTo>
                    <a:pt x="21174" y="149495"/>
                  </a:lnTo>
                  <a:lnTo>
                    <a:pt x="30966" y="143332"/>
                  </a:lnTo>
                  <a:lnTo>
                    <a:pt x="40253" y="136141"/>
                  </a:lnTo>
                  <a:lnTo>
                    <a:pt x="49054" y="127949"/>
                  </a:lnTo>
                  <a:lnTo>
                    <a:pt x="57398" y="118815"/>
                  </a:lnTo>
                  <a:lnTo>
                    <a:pt x="65313" y="108766"/>
                  </a:lnTo>
                  <a:lnTo>
                    <a:pt x="72819" y="97831"/>
                  </a:lnTo>
                  <a:lnTo>
                    <a:pt x="79934" y="86068"/>
                  </a:lnTo>
                  <a:lnTo>
                    <a:pt x="86677" y="73504"/>
                  </a:lnTo>
                  <a:lnTo>
                    <a:pt x="93078" y="60169"/>
                  </a:lnTo>
                  <a:lnTo>
                    <a:pt x="99165" y="46120"/>
                  </a:lnTo>
                  <a:lnTo>
                    <a:pt x="104956" y="31385"/>
                  </a:lnTo>
                  <a:lnTo>
                    <a:pt x="110471" y="15992"/>
                  </a:lnTo>
                  <a:lnTo>
                    <a:pt x="115729" y="0"/>
                  </a:lnTo>
                  <a:close/>
                </a:path>
              </a:pathLst>
            </a:custGeom>
            <a:solidFill>
              <a:srgbClr val="606B60"/>
            </a:solidFill>
            <a:ln w="7287">
              <a:noFill/>
              <a:prstDash val="solid"/>
            </a:ln>
          </p:spPr>
          <p:txBody>
            <a:bodyPr/>
            <a:lstStyle/>
            <a:p>
              <a:endParaRPr sz="1200"/>
            </a:p>
          </p:txBody>
        </p:sp>
        <p:sp>
          <p:nvSpPr>
            <p:cNvPr id="397" name="s3-other-local-junglefowl__contour_397">
              <a:extLst>
                <a:ext uri="{FF2B5EF4-FFF2-40B4-BE49-F238E27FC236}">
                  <a16:creationId xmlns:a16="http://schemas.microsoft.com/office/drawing/2014/main" id="{76D28F79-77E9-4CD5-9A24-BE297898A2DE}"/>
                </a:ext>
              </a:extLst>
            </p:cNvPr>
            <p:cNvSpPr>
              <a:spLocks/>
            </p:cNvSpPr>
            <p:nvPr/>
          </p:nvSpPr>
          <p:spPr>
            <a:xfrm>
              <a:off x="6774497" y="394703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3" y="220694"/>
                  </a:lnTo>
                  <a:lnTo>
                    <a:pt x="90011" y="190690"/>
                  </a:lnTo>
                  <a:lnTo>
                    <a:pt x="77153" y="242125"/>
                  </a:lnTo>
                  <a:lnTo>
                    <a:pt x="55721" y="203549"/>
                  </a:lnTo>
                  <a:lnTo>
                    <a:pt x="30004" y="233553"/>
                  </a:lnTo>
                  <a:lnTo>
                    <a:pt x="25718"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9CEAB"/>
            </a:solidFill>
            <a:ln w="4715">
              <a:solidFill>
                <a:srgbClr val="8D683E"/>
              </a:solidFill>
              <a:prstDash val="solid"/>
            </a:ln>
          </p:spPr>
          <p:txBody>
            <a:bodyPr/>
            <a:lstStyle/>
            <a:p>
              <a:endParaRPr sz="1200"/>
            </a:p>
          </p:txBody>
        </p:sp>
        <p:sp>
          <p:nvSpPr>
            <p:cNvPr id="398" name="s3-other-local-junglefowl__line_398">
              <a:extLst>
                <a:ext uri="{FF2B5EF4-FFF2-40B4-BE49-F238E27FC236}">
                  <a16:creationId xmlns:a16="http://schemas.microsoft.com/office/drawing/2014/main" id="{741270F7-3C9F-401B-9459-49AC9A7C6090}"/>
                </a:ext>
              </a:extLst>
            </p:cNvPr>
            <p:cNvSpPr>
              <a:spLocks/>
            </p:cNvSpPr>
            <p:nvPr/>
          </p:nvSpPr>
          <p:spPr>
            <a:xfrm>
              <a:off x="6800215" y="3999866"/>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99" name="s3-other-local-junglefowl__line_399">
              <a:extLst>
                <a:ext uri="{FF2B5EF4-FFF2-40B4-BE49-F238E27FC236}">
                  <a16:creationId xmlns:a16="http://schemas.microsoft.com/office/drawing/2014/main" id="{23CA40C6-6CB6-4052-9F11-C0170E284421}"/>
                </a:ext>
              </a:extLst>
            </p:cNvPr>
            <p:cNvSpPr>
              <a:spLocks/>
            </p:cNvSpPr>
            <p:nvPr/>
          </p:nvSpPr>
          <p:spPr>
            <a:xfrm>
              <a:off x="6823075" y="400272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400" name="s3-other-local-junglefowl__line_400">
              <a:extLst>
                <a:ext uri="{FF2B5EF4-FFF2-40B4-BE49-F238E27FC236}">
                  <a16:creationId xmlns:a16="http://schemas.microsoft.com/office/drawing/2014/main" id="{BCAFD1E8-4A5A-4FC3-B644-0E98B304D9AA}"/>
                </a:ext>
              </a:extLst>
            </p:cNvPr>
            <p:cNvSpPr>
              <a:spLocks/>
            </p:cNvSpPr>
            <p:nvPr/>
          </p:nvSpPr>
          <p:spPr>
            <a:xfrm>
              <a:off x="6843077" y="400272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401" name="s3-other-local-junglefowl__contour_401">
              <a:extLst>
                <a:ext uri="{FF2B5EF4-FFF2-40B4-BE49-F238E27FC236}">
                  <a16:creationId xmlns:a16="http://schemas.microsoft.com/office/drawing/2014/main" id="{C1C82E3C-02E1-48B7-922D-284D1D844F8E}"/>
                </a:ext>
              </a:extLst>
            </p:cNvPr>
            <p:cNvSpPr>
              <a:spLocks/>
            </p:cNvSpPr>
            <p:nvPr/>
          </p:nvSpPr>
          <p:spPr>
            <a:xfrm>
              <a:off x="6673983" y="406209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79"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827259"/>
            </a:solidFill>
            <a:ln w="7287">
              <a:solidFill>
                <a:srgbClr val="4A5147"/>
              </a:solidFill>
              <a:prstDash val="solid"/>
            </a:ln>
          </p:spPr>
          <p:txBody>
            <a:bodyPr/>
            <a:lstStyle/>
            <a:p>
              <a:endParaRPr sz="1200"/>
            </a:p>
          </p:txBody>
        </p:sp>
        <p:sp>
          <p:nvSpPr>
            <p:cNvPr id="402" name="s3-other-local-junglefowl__contour_402">
              <a:extLst>
                <a:ext uri="{FF2B5EF4-FFF2-40B4-BE49-F238E27FC236}">
                  <a16:creationId xmlns:a16="http://schemas.microsoft.com/office/drawing/2014/main" id="{0B48CE94-9C81-4D7B-BCFE-D58A9B0F97CA}"/>
                </a:ext>
              </a:extLst>
            </p:cNvPr>
            <p:cNvSpPr>
              <a:spLocks/>
            </p:cNvSpPr>
            <p:nvPr/>
          </p:nvSpPr>
          <p:spPr>
            <a:xfrm>
              <a:off x="6688773" y="408277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403" name="s3-other-local-junglefowl__contour_403">
              <a:extLst>
                <a:ext uri="{FF2B5EF4-FFF2-40B4-BE49-F238E27FC236}">
                  <a16:creationId xmlns:a16="http://schemas.microsoft.com/office/drawing/2014/main" id="{ECA5D631-6888-4AE8-920E-10F415537B0C}"/>
                </a:ext>
              </a:extLst>
            </p:cNvPr>
            <p:cNvSpPr>
              <a:spLocks/>
            </p:cNvSpPr>
            <p:nvPr/>
          </p:nvSpPr>
          <p:spPr>
            <a:xfrm>
              <a:off x="6812991" y="390805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5"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404" name="s3-other-local-junglefowl__contour_404">
              <a:extLst>
                <a:ext uri="{FF2B5EF4-FFF2-40B4-BE49-F238E27FC236}">
                  <a16:creationId xmlns:a16="http://schemas.microsoft.com/office/drawing/2014/main" id="{B62C85BA-191A-42AA-9046-12EC2E54493E}"/>
                </a:ext>
              </a:extLst>
            </p:cNvPr>
            <p:cNvSpPr>
              <a:spLocks/>
            </p:cNvSpPr>
            <p:nvPr/>
          </p:nvSpPr>
          <p:spPr>
            <a:xfrm>
              <a:off x="6880225" y="397986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405" name="s3-other-local-junglefowl__ellipse_405">
              <a:extLst>
                <a:ext uri="{FF2B5EF4-FFF2-40B4-BE49-F238E27FC236}">
                  <a16:creationId xmlns:a16="http://schemas.microsoft.com/office/drawing/2014/main" id="{B5C71002-5D6F-4B3F-A5EF-ADEF8DEEC384}"/>
                </a:ext>
              </a:extLst>
            </p:cNvPr>
            <p:cNvSpPr>
              <a:spLocks/>
            </p:cNvSpPr>
            <p:nvPr/>
          </p:nvSpPr>
          <p:spPr>
            <a:xfrm>
              <a:off x="6851650" y="4008438"/>
              <a:ext cx="22859" cy="40005"/>
            </a:xfrm>
            <a:prstGeom prst="ellipse">
              <a:avLst/>
            </a:prstGeom>
            <a:solidFill>
              <a:srgbClr val="B8493E"/>
            </a:solidFill>
            <a:ln w="4286">
              <a:solidFill>
                <a:srgbClr val="803B33"/>
              </a:solidFill>
              <a:prstDash val="solid"/>
            </a:ln>
          </p:spPr>
          <p:txBody>
            <a:bodyPr/>
            <a:lstStyle/>
            <a:p>
              <a:endParaRPr sz="1200"/>
            </a:p>
          </p:txBody>
        </p:sp>
        <p:sp>
          <p:nvSpPr>
            <p:cNvPr id="406" name="s3-other-local-junglefowl__ellipse_406">
              <a:extLst>
                <a:ext uri="{FF2B5EF4-FFF2-40B4-BE49-F238E27FC236}">
                  <a16:creationId xmlns:a16="http://schemas.microsoft.com/office/drawing/2014/main" id="{0C5EFB49-1157-412E-9D4C-5B3E8B517CB6}"/>
                </a:ext>
              </a:extLst>
            </p:cNvPr>
            <p:cNvSpPr>
              <a:spLocks/>
            </p:cNvSpPr>
            <p:nvPr/>
          </p:nvSpPr>
          <p:spPr>
            <a:xfrm>
              <a:off x="6857365" y="3979863"/>
              <a:ext cx="11429" cy="17145"/>
            </a:xfrm>
            <a:prstGeom prst="ellipse">
              <a:avLst/>
            </a:prstGeom>
            <a:solidFill>
              <a:srgbClr val="F2E7D1"/>
            </a:solidFill>
            <a:ln w="0">
              <a:noFill/>
              <a:prstDash val="solid"/>
            </a:ln>
          </p:spPr>
          <p:txBody>
            <a:bodyPr/>
            <a:lstStyle/>
            <a:p>
              <a:endParaRPr sz="1200"/>
            </a:p>
          </p:txBody>
        </p:sp>
        <p:sp>
          <p:nvSpPr>
            <p:cNvPr id="407" name="s3-other-local-junglefowl__ellipse_407">
              <a:extLst>
                <a:ext uri="{FF2B5EF4-FFF2-40B4-BE49-F238E27FC236}">
                  <a16:creationId xmlns:a16="http://schemas.microsoft.com/office/drawing/2014/main" id="{8D931F22-BCB0-4C1D-8777-1E0583E4F134}"/>
                </a:ext>
              </a:extLst>
            </p:cNvPr>
            <p:cNvSpPr>
              <a:spLocks/>
            </p:cNvSpPr>
            <p:nvPr/>
          </p:nvSpPr>
          <p:spPr>
            <a:xfrm>
              <a:off x="6865937" y="3965575"/>
              <a:ext cx="11429" cy="11430"/>
            </a:xfrm>
            <a:prstGeom prst="ellipse">
              <a:avLst/>
            </a:prstGeom>
            <a:solidFill>
              <a:srgbClr val="1F2B28"/>
            </a:solidFill>
            <a:ln w="0">
              <a:noFill/>
              <a:prstDash val="solid"/>
            </a:ln>
          </p:spPr>
          <p:txBody>
            <a:bodyPr/>
            <a:lstStyle/>
            <a:p>
              <a:endParaRPr sz="1200"/>
            </a:p>
          </p:txBody>
        </p:sp>
        <p:sp>
          <p:nvSpPr>
            <p:cNvPr id="408" name="s3-other-local-junglefowl__ellipse_408">
              <a:extLst>
                <a:ext uri="{FF2B5EF4-FFF2-40B4-BE49-F238E27FC236}">
                  <a16:creationId xmlns:a16="http://schemas.microsoft.com/office/drawing/2014/main" id="{C18E1A5F-F063-4A07-BDFD-792F033905BC}"/>
                </a:ext>
              </a:extLst>
            </p:cNvPr>
            <p:cNvSpPr>
              <a:spLocks/>
            </p:cNvSpPr>
            <p:nvPr/>
          </p:nvSpPr>
          <p:spPr>
            <a:xfrm>
              <a:off x="6868509" y="3966147"/>
              <a:ext cx="3143" cy="3143"/>
            </a:xfrm>
            <a:prstGeom prst="ellipse">
              <a:avLst/>
            </a:prstGeom>
            <a:solidFill>
              <a:srgbClr val="FFFFFF"/>
            </a:solidFill>
            <a:ln w="0">
              <a:noFill/>
              <a:prstDash val="solid"/>
            </a:ln>
          </p:spPr>
          <p:txBody>
            <a:bodyPr/>
            <a:lstStyle/>
            <a:p>
              <a:endParaRPr sz="1200"/>
            </a:p>
          </p:txBody>
        </p:sp>
        <p:sp>
          <p:nvSpPr>
            <p:cNvPr id="409" name="s3-local-ground__ellipse_409">
              <a:extLst>
                <a:ext uri="{FF2B5EF4-FFF2-40B4-BE49-F238E27FC236}">
                  <a16:creationId xmlns:a16="http://schemas.microsoft.com/office/drawing/2014/main" id="{ED92F8AD-64A5-4378-9364-4E2FBE0EC2EF}"/>
                </a:ext>
              </a:extLst>
            </p:cNvPr>
            <p:cNvSpPr>
              <a:spLocks/>
            </p:cNvSpPr>
            <p:nvPr/>
          </p:nvSpPr>
          <p:spPr>
            <a:xfrm>
              <a:off x="7683500" y="3829050"/>
              <a:ext cx="1206500" cy="330200"/>
            </a:xfrm>
            <a:prstGeom prst="ellipse">
              <a:avLst/>
            </a:prstGeom>
            <a:solidFill>
              <a:srgbClr val="E5EDF0"/>
            </a:solidFill>
            <a:ln w="0">
              <a:noFill/>
              <a:prstDash val="solid"/>
            </a:ln>
          </p:spPr>
          <p:txBody>
            <a:bodyPr/>
            <a:lstStyle/>
            <a:p>
              <a:endParaRPr sz="1200"/>
            </a:p>
          </p:txBody>
        </p:sp>
        <p:sp>
          <p:nvSpPr>
            <p:cNvPr id="410" name="s3-local-hen__ellipse_410">
              <a:extLst>
                <a:ext uri="{FF2B5EF4-FFF2-40B4-BE49-F238E27FC236}">
                  <a16:creationId xmlns:a16="http://schemas.microsoft.com/office/drawing/2014/main" id="{040E5B79-4BFF-41C3-90E5-F2280D22A1C5}"/>
                </a:ext>
              </a:extLst>
            </p:cNvPr>
            <p:cNvSpPr>
              <a:spLocks/>
            </p:cNvSpPr>
            <p:nvPr/>
          </p:nvSpPr>
          <p:spPr>
            <a:xfrm>
              <a:off x="7878445" y="4065270"/>
              <a:ext cx="404495" cy="40005"/>
            </a:xfrm>
            <a:prstGeom prst="ellipse">
              <a:avLst/>
            </a:prstGeom>
            <a:solidFill>
              <a:srgbClr val="DCE2D6">
                <a:alpha val="80000"/>
              </a:srgbClr>
            </a:solidFill>
            <a:ln w="0">
              <a:noFill/>
              <a:prstDash val="solid"/>
            </a:ln>
          </p:spPr>
          <p:txBody>
            <a:bodyPr/>
            <a:lstStyle/>
            <a:p>
              <a:endParaRPr sz="1200"/>
            </a:p>
          </p:txBody>
        </p:sp>
        <p:sp>
          <p:nvSpPr>
            <p:cNvPr id="411" name="s3-local-hen__contour_411">
              <a:extLst>
                <a:ext uri="{FF2B5EF4-FFF2-40B4-BE49-F238E27FC236}">
                  <a16:creationId xmlns:a16="http://schemas.microsoft.com/office/drawing/2014/main" id="{93C9A143-0CDC-4605-8EFB-D9BCDAB261DF}"/>
                </a:ext>
              </a:extLst>
            </p:cNvPr>
            <p:cNvSpPr>
              <a:spLocks/>
            </p:cNvSpPr>
            <p:nvPr/>
          </p:nvSpPr>
          <p:spPr>
            <a:xfrm>
              <a:off x="7753985" y="3700780"/>
              <a:ext cx="213360" cy="177800"/>
            </a:xfrm>
            <a:custGeom>
              <a:avLst/>
              <a:gdLst/>
              <a:ahLst/>
              <a:cxnLst/>
              <a:rect l="0" t="0" r="0" b="0"/>
              <a:pathLst>
                <a:path w="320040" h="266700">
                  <a:moveTo>
                    <a:pt x="300038" y="266700"/>
                  </a:moveTo>
                  <a:lnTo>
                    <a:pt x="277216" y="251108"/>
                  </a:lnTo>
                  <a:lnTo>
                    <a:pt x="254175" y="236172"/>
                  </a:lnTo>
                  <a:lnTo>
                    <a:pt x="231067" y="221685"/>
                  </a:lnTo>
                  <a:lnTo>
                    <a:pt x="208036" y="207397"/>
                  </a:lnTo>
                  <a:lnTo>
                    <a:pt x="185204" y="193110"/>
                  </a:lnTo>
                  <a:lnTo>
                    <a:pt x="162744" y="178584"/>
                  </a:lnTo>
                  <a:lnTo>
                    <a:pt x="140770" y="163592"/>
                  </a:lnTo>
                  <a:lnTo>
                    <a:pt x="119444" y="147914"/>
                  </a:lnTo>
                  <a:lnTo>
                    <a:pt x="98889" y="131321"/>
                  </a:lnTo>
                  <a:lnTo>
                    <a:pt x="79267" y="113595"/>
                  </a:lnTo>
                  <a:lnTo>
                    <a:pt x="60712" y="94507"/>
                  </a:lnTo>
                  <a:lnTo>
                    <a:pt x="43367" y="73819"/>
                  </a:lnTo>
                  <a:lnTo>
                    <a:pt x="27365" y="51330"/>
                  </a:lnTo>
                  <a:lnTo>
                    <a:pt x="12868" y="26794"/>
                  </a:lnTo>
                  <a:lnTo>
                    <a:pt x="0" y="0"/>
                  </a:lnTo>
                  <a:lnTo>
                    <a:pt x="15402" y="3162"/>
                  </a:lnTo>
                  <a:lnTo>
                    <a:pt x="29670" y="7182"/>
                  </a:lnTo>
                  <a:lnTo>
                    <a:pt x="42939" y="11840"/>
                  </a:lnTo>
                  <a:lnTo>
                    <a:pt x="55312" y="16926"/>
                  </a:lnTo>
                  <a:lnTo>
                    <a:pt x="66923" y="22222"/>
                  </a:lnTo>
                  <a:lnTo>
                    <a:pt x="77876" y="27527"/>
                  </a:lnTo>
                  <a:lnTo>
                    <a:pt x="88297" y="32604"/>
                  </a:lnTo>
                  <a:lnTo>
                    <a:pt x="98308" y="37271"/>
                  </a:lnTo>
                  <a:lnTo>
                    <a:pt x="108014" y="41281"/>
                  </a:lnTo>
                  <a:lnTo>
                    <a:pt x="117548" y="44453"/>
                  </a:lnTo>
                  <a:lnTo>
                    <a:pt x="127016" y="46549"/>
                  </a:lnTo>
                  <a:lnTo>
                    <a:pt x="136550" y="47368"/>
                  </a:lnTo>
                  <a:lnTo>
                    <a:pt x="146256" y="46692"/>
                  </a:lnTo>
                  <a:lnTo>
                    <a:pt x="156267" y="44310"/>
                  </a:lnTo>
                  <a:lnTo>
                    <a:pt x="166688" y="40005"/>
                  </a:lnTo>
                  <a:lnTo>
                    <a:pt x="260033" y="93345"/>
                  </a:lnTo>
                  <a:lnTo>
                    <a:pt x="320040" y="180023"/>
                  </a:lnTo>
                  <a:close/>
                </a:path>
              </a:pathLst>
            </a:custGeom>
            <a:solidFill>
              <a:srgbClr val="8F836B"/>
            </a:solidFill>
            <a:ln w="11335">
              <a:solidFill>
                <a:srgbClr val="4A5147"/>
              </a:solidFill>
              <a:prstDash val="solid"/>
            </a:ln>
          </p:spPr>
          <p:txBody>
            <a:bodyPr/>
            <a:lstStyle/>
            <a:p>
              <a:endParaRPr sz="1200"/>
            </a:p>
          </p:txBody>
        </p:sp>
        <p:sp>
          <p:nvSpPr>
            <p:cNvPr id="412" name="s3-local-hen__line_412">
              <a:extLst>
                <a:ext uri="{FF2B5EF4-FFF2-40B4-BE49-F238E27FC236}">
                  <a16:creationId xmlns:a16="http://schemas.microsoft.com/office/drawing/2014/main" id="{E2594796-4CD3-4ED5-A3D0-FBAE596EBE73}"/>
                </a:ext>
              </a:extLst>
            </p:cNvPr>
            <p:cNvSpPr>
              <a:spLocks/>
            </p:cNvSpPr>
            <p:nvPr/>
          </p:nvSpPr>
          <p:spPr>
            <a:xfrm>
              <a:off x="8051800" y="3985260"/>
              <a:ext cx="4445" cy="80010"/>
            </a:xfrm>
            <a:custGeom>
              <a:avLst/>
              <a:gdLst/>
              <a:ahLst/>
              <a:cxnLst/>
              <a:rect l="0" t="0" r="0" b="0"/>
              <a:pathLst>
                <a:path w="6668" h="120015">
                  <a:moveTo>
                    <a:pt x="0" y="0"/>
                  </a:moveTo>
                  <a:lnTo>
                    <a:pt x="6668" y="120015"/>
                  </a:lnTo>
                </a:path>
              </a:pathLst>
            </a:custGeom>
            <a:noFill/>
            <a:ln w="18669">
              <a:solidFill>
                <a:srgbClr val="B98E49"/>
              </a:solidFill>
              <a:prstDash val="solid"/>
            </a:ln>
          </p:spPr>
          <p:txBody>
            <a:bodyPr/>
            <a:lstStyle/>
            <a:p>
              <a:endParaRPr sz="1200"/>
            </a:p>
          </p:txBody>
        </p:sp>
        <p:sp>
          <p:nvSpPr>
            <p:cNvPr id="413" name="s3-local-hen__line_413">
              <a:extLst>
                <a:ext uri="{FF2B5EF4-FFF2-40B4-BE49-F238E27FC236}">
                  <a16:creationId xmlns:a16="http://schemas.microsoft.com/office/drawing/2014/main" id="{9833FEE6-A1DC-4393-A75C-36CBF5165E63}"/>
                </a:ext>
              </a:extLst>
            </p:cNvPr>
            <p:cNvSpPr>
              <a:spLocks/>
            </p:cNvSpPr>
            <p:nvPr/>
          </p:nvSpPr>
          <p:spPr>
            <a:xfrm>
              <a:off x="8011795" y="4060825"/>
              <a:ext cx="44450" cy="22225"/>
            </a:xfrm>
            <a:custGeom>
              <a:avLst/>
              <a:gdLst/>
              <a:ahLst/>
              <a:cxnLst/>
              <a:rect l="0" t="0" r="0" b="0"/>
              <a:pathLst>
                <a:path w="66675" h="33338">
                  <a:moveTo>
                    <a:pt x="66675" y="0"/>
                  </a:moveTo>
                  <a:lnTo>
                    <a:pt x="0" y="33338"/>
                  </a:lnTo>
                </a:path>
              </a:pathLst>
            </a:custGeom>
            <a:noFill/>
            <a:ln w="14669">
              <a:solidFill>
                <a:srgbClr val="B98E49"/>
              </a:solidFill>
              <a:prstDash val="solid"/>
            </a:ln>
          </p:spPr>
          <p:txBody>
            <a:bodyPr/>
            <a:lstStyle/>
            <a:p>
              <a:endParaRPr sz="1200"/>
            </a:p>
          </p:txBody>
        </p:sp>
        <p:sp>
          <p:nvSpPr>
            <p:cNvPr id="414" name="s3-local-hen__line_414">
              <a:extLst>
                <a:ext uri="{FF2B5EF4-FFF2-40B4-BE49-F238E27FC236}">
                  <a16:creationId xmlns:a16="http://schemas.microsoft.com/office/drawing/2014/main" id="{72B00865-B5CF-4850-BF06-831634684C8A}"/>
                </a:ext>
              </a:extLst>
            </p:cNvPr>
            <p:cNvSpPr>
              <a:spLocks/>
            </p:cNvSpPr>
            <p:nvPr/>
          </p:nvSpPr>
          <p:spPr>
            <a:xfrm>
              <a:off x="8056245" y="4060825"/>
              <a:ext cx="48895" cy="22225"/>
            </a:xfrm>
            <a:custGeom>
              <a:avLst/>
              <a:gdLst/>
              <a:ahLst/>
              <a:cxnLst/>
              <a:rect l="0" t="0" r="0" b="0"/>
              <a:pathLst>
                <a:path w="73343" h="33338">
                  <a:moveTo>
                    <a:pt x="0" y="0"/>
                  </a:moveTo>
                  <a:lnTo>
                    <a:pt x="73343" y="33338"/>
                  </a:lnTo>
                </a:path>
              </a:pathLst>
            </a:custGeom>
            <a:noFill/>
            <a:ln w="14669">
              <a:solidFill>
                <a:srgbClr val="B98E49"/>
              </a:solidFill>
              <a:prstDash val="solid"/>
            </a:ln>
          </p:spPr>
          <p:txBody>
            <a:bodyPr/>
            <a:lstStyle/>
            <a:p>
              <a:endParaRPr sz="1200"/>
            </a:p>
          </p:txBody>
        </p:sp>
        <p:sp>
          <p:nvSpPr>
            <p:cNvPr id="415" name="s3-local-hen__line_415">
              <a:extLst>
                <a:ext uri="{FF2B5EF4-FFF2-40B4-BE49-F238E27FC236}">
                  <a16:creationId xmlns:a16="http://schemas.microsoft.com/office/drawing/2014/main" id="{8D5666C4-2717-4F7B-BDDF-ADFCF85E008F}"/>
                </a:ext>
              </a:extLst>
            </p:cNvPr>
            <p:cNvSpPr>
              <a:spLocks/>
            </p:cNvSpPr>
            <p:nvPr/>
          </p:nvSpPr>
          <p:spPr>
            <a:xfrm>
              <a:off x="8149590" y="3989705"/>
              <a:ext cx="8890" cy="80010"/>
            </a:xfrm>
            <a:custGeom>
              <a:avLst/>
              <a:gdLst/>
              <a:ahLst/>
              <a:cxnLst/>
              <a:rect l="0" t="0" r="0" b="0"/>
              <a:pathLst>
                <a:path w="13335" h="120015">
                  <a:moveTo>
                    <a:pt x="0" y="0"/>
                  </a:moveTo>
                  <a:lnTo>
                    <a:pt x="13335" y="120015"/>
                  </a:lnTo>
                </a:path>
              </a:pathLst>
            </a:custGeom>
            <a:noFill/>
            <a:ln w="18669">
              <a:solidFill>
                <a:srgbClr val="B98E49"/>
              </a:solidFill>
              <a:prstDash val="solid"/>
            </a:ln>
          </p:spPr>
          <p:txBody>
            <a:bodyPr/>
            <a:lstStyle/>
            <a:p>
              <a:endParaRPr sz="1200"/>
            </a:p>
          </p:txBody>
        </p:sp>
        <p:sp>
          <p:nvSpPr>
            <p:cNvPr id="416" name="s3-local-hen__line_416">
              <a:extLst>
                <a:ext uri="{FF2B5EF4-FFF2-40B4-BE49-F238E27FC236}">
                  <a16:creationId xmlns:a16="http://schemas.microsoft.com/office/drawing/2014/main" id="{ADE86BD3-72F2-4C1A-9DE2-0A7FF618730F}"/>
                </a:ext>
              </a:extLst>
            </p:cNvPr>
            <p:cNvSpPr>
              <a:spLocks/>
            </p:cNvSpPr>
            <p:nvPr/>
          </p:nvSpPr>
          <p:spPr>
            <a:xfrm>
              <a:off x="8118475" y="4065270"/>
              <a:ext cx="40004" cy="17780"/>
            </a:xfrm>
            <a:custGeom>
              <a:avLst/>
              <a:gdLst/>
              <a:ahLst/>
              <a:cxnLst/>
              <a:rect l="0" t="0" r="0" b="0"/>
              <a:pathLst>
                <a:path w="60007" h="26670">
                  <a:moveTo>
                    <a:pt x="60007" y="0"/>
                  </a:moveTo>
                  <a:lnTo>
                    <a:pt x="0" y="26670"/>
                  </a:lnTo>
                </a:path>
              </a:pathLst>
            </a:custGeom>
            <a:noFill/>
            <a:ln w="14669">
              <a:solidFill>
                <a:srgbClr val="B98E49"/>
              </a:solidFill>
              <a:prstDash val="solid"/>
            </a:ln>
          </p:spPr>
          <p:txBody>
            <a:bodyPr/>
            <a:lstStyle/>
            <a:p>
              <a:endParaRPr sz="1200"/>
            </a:p>
          </p:txBody>
        </p:sp>
        <p:sp>
          <p:nvSpPr>
            <p:cNvPr id="417" name="s3-local-hen__line_417">
              <a:extLst>
                <a:ext uri="{FF2B5EF4-FFF2-40B4-BE49-F238E27FC236}">
                  <a16:creationId xmlns:a16="http://schemas.microsoft.com/office/drawing/2014/main" id="{22B20C82-38FD-4903-BC6E-18673696C773}"/>
                </a:ext>
              </a:extLst>
            </p:cNvPr>
            <p:cNvSpPr>
              <a:spLocks/>
            </p:cNvSpPr>
            <p:nvPr/>
          </p:nvSpPr>
          <p:spPr>
            <a:xfrm>
              <a:off x="8158480" y="4065270"/>
              <a:ext cx="44450" cy="17780"/>
            </a:xfrm>
            <a:custGeom>
              <a:avLst/>
              <a:gdLst/>
              <a:ahLst/>
              <a:cxnLst/>
              <a:rect l="0" t="0" r="0" b="0"/>
              <a:pathLst>
                <a:path w="66675" h="26670">
                  <a:moveTo>
                    <a:pt x="0" y="0"/>
                  </a:moveTo>
                  <a:lnTo>
                    <a:pt x="66675" y="26670"/>
                  </a:lnTo>
                </a:path>
              </a:pathLst>
            </a:custGeom>
            <a:noFill/>
            <a:ln w="14669">
              <a:solidFill>
                <a:srgbClr val="B98E49"/>
              </a:solidFill>
              <a:prstDash val="solid"/>
            </a:ln>
          </p:spPr>
          <p:txBody>
            <a:bodyPr/>
            <a:lstStyle/>
            <a:p>
              <a:endParaRPr sz="1200"/>
            </a:p>
          </p:txBody>
        </p:sp>
        <p:sp>
          <p:nvSpPr>
            <p:cNvPr id="418" name="s3-local-hen__contour_418">
              <a:extLst>
                <a:ext uri="{FF2B5EF4-FFF2-40B4-BE49-F238E27FC236}">
                  <a16:creationId xmlns:a16="http://schemas.microsoft.com/office/drawing/2014/main" id="{5CB38575-712A-4034-896E-C7757C96F068}"/>
                </a:ext>
              </a:extLst>
            </p:cNvPr>
            <p:cNvSpPr>
              <a:spLocks/>
            </p:cNvSpPr>
            <p:nvPr/>
          </p:nvSpPr>
          <p:spPr>
            <a:xfrm>
              <a:off x="7888471" y="3611804"/>
              <a:ext cx="383108" cy="386791"/>
            </a:xfrm>
            <a:custGeom>
              <a:avLst/>
              <a:gdLst/>
              <a:ahLst/>
              <a:cxnLst/>
              <a:rect l="0" t="0" r="0" b="0"/>
              <a:pathLst>
                <a:path w="574662" h="580187">
                  <a:moveTo>
                    <a:pt x="24965" y="280149"/>
                  </a:moveTo>
                  <a:lnTo>
                    <a:pt x="51273" y="264519"/>
                  </a:lnTo>
                  <a:lnTo>
                    <a:pt x="76867" y="251993"/>
                  </a:lnTo>
                  <a:lnTo>
                    <a:pt x="101717" y="242116"/>
                  </a:lnTo>
                  <a:lnTo>
                    <a:pt x="125825" y="234448"/>
                  </a:lnTo>
                  <a:lnTo>
                    <a:pt x="149181" y="228533"/>
                  </a:lnTo>
                  <a:lnTo>
                    <a:pt x="171755" y="223933"/>
                  </a:lnTo>
                  <a:lnTo>
                    <a:pt x="193558" y="220170"/>
                  </a:lnTo>
                  <a:lnTo>
                    <a:pt x="214551" y="216818"/>
                  </a:lnTo>
                  <a:lnTo>
                    <a:pt x="234753" y="213417"/>
                  </a:lnTo>
                  <a:lnTo>
                    <a:pt x="254127" y="209521"/>
                  </a:lnTo>
                  <a:lnTo>
                    <a:pt x="272682" y="204673"/>
                  </a:lnTo>
                  <a:lnTo>
                    <a:pt x="290389" y="198434"/>
                  </a:lnTo>
                  <a:lnTo>
                    <a:pt x="307238" y="190338"/>
                  </a:lnTo>
                  <a:lnTo>
                    <a:pt x="323231" y="179946"/>
                  </a:lnTo>
                  <a:lnTo>
                    <a:pt x="338338" y="166802"/>
                  </a:lnTo>
                  <a:lnTo>
                    <a:pt x="347348" y="149495"/>
                  </a:lnTo>
                  <a:lnTo>
                    <a:pt x="355806" y="132350"/>
                  </a:lnTo>
                  <a:lnTo>
                    <a:pt x="363884" y="115538"/>
                  </a:lnTo>
                  <a:lnTo>
                    <a:pt x="371761" y="99231"/>
                  </a:lnTo>
                  <a:lnTo>
                    <a:pt x="379581" y="83582"/>
                  </a:lnTo>
                  <a:lnTo>
                    <a:pt x="387515" y="68761"/>
                  </a:lnTo>
                  <a:lnTo>
                    <a:pt x="395745" y="54940"/>
                  </a:lnTo>
                  <a:lnTo>
                    <a:pt x="404412" y="42281"/>
                  </a:lnTo>
                  <a:lnTo>
                    <a:pt x="413709" y="30947"/>
                  </a:lnTo>
                  <a:lnTo>
                    <a:pt x="423777" y="21107"/>
                  </a:lnTo>
                  <a:lnTo>
                    <a:pt x="434797" y="12925"/>
                  </a:lnTo>
                  <a:lnTo>
                    <a:pt x="446942" y="6572"/>
                  </a:lnTo>
                  <a:lnTo>
                    <a:pt x="460353" y="2200"/>
                  </a:lnTo>
                  <a:lnTo>
                    <a:pt x="475212" y="0"/>
                  </a:lnTo>
                  <a:lnTo>
                    <a:pt x="491690" y="114"/>
                  </a:lnTo>
                  <a:lnTo>
                    <a:pt x="506978" y="1238"/>
                  </a:lnTo>
                  <a:lnTo>
                    <a:pt x="520798" y="4467"/>
                  </a:lnTo>
                  <a:lnTo>
                    <a:pt x="533133" y="9611"/>
                  </a:lnTo>
                  <a:lnTo>
                    <a:pt x="543944" y="16459"/>
                  </a:lnTo>
                  <a:lnTo>
                    <a:pt x="553183" y="24813"/>
                  </a:lnTo>
                  <a:lnTo>
                    <a:pt x="560822" y="34461"/>
                  </a:lnTo>
                  <a:lnTo>
                    <a:pt x="566823" y="45225"/>
                  </a:lnTo>
                  <a:lnTo>
                    <a:pt x="571157" y="56883"/>
                  </a:lnTo>
                  <a:lnTo>
                    <a:pt x="573776" y="69247"/>
                  </a:lnTo>
                  <a:lnTo>
                    <a:pt x="574662" y="82096"/>
                  </a:lnTo>
                  <a:lnTo>
                    <a:pt x="573767" y="95250"/>
                  </a:lnTo>
                  <a:lnTo>
                    <a:pt x="571062" y="108499"/>
                  </a:lnTo>
                  <a:lnTo>
                    <a:pt x="566499" y="121644"/>
                  </a:lnTo>
                  <a:lnTo>
                    <a:pt x="560060" y="134474"/>
                  </a:lnTo>
                  <a:lnTo>
                    <a:pt x="551698" y="146799"/>
                  </a:lnTo>
                  <a:lnTo>
                    <a:pt x="544306" y="156048"/>
                  </a:lnTo>
                  <a:lnTo>
                    <a:pt x="538105" y="165173"/>
                  </a:lnTo>
                  <a:lnTo>
                    <a:pt x="533029" y="174212"/>
                  </a:lnTo>
                  <a:lnTo>
                    <a:pt x="529018" y="183223"/>
                  </a:lnTo>
                  <a:lnTo>
                    <a:pt x="526018" y="192234"/>
                  </a:lnTo>
                  <a:lnTo>
                    <a:pt x="523961" y="201311"/>
                  </a:lnTo>
                  <a:lnTo>
                    <a:pt x="522799" y="210493"/>
                  </a:lnTo>
                  <a:lnTo>
                    <a:pt x="522456" y="219827"/>
                  </a:lnTo>
                  <a:lnTo>
                    <a:pt x="522894" y="229372"/>
                  </a:lnTo>
                  <a:lnTo>
                    <a:pt x="524037" y="239154"/>
                  </a:lnTo>
                  <a:lnTo>
                    <a:pt x="525837" y="249241"/>
                  </a:lnTo>
                  <a:lnTo>
                    <a:pt x="528228" y="259671"/>
                  </a:lnTo>
                  <a:lnTo>
                    <a:pt x="531152" y="270481"/>
                  </a:lnTo>
                  <a:lnTo>
                    <a:pt x="534553" y="281740"/>
                  </a:lnTo>
                  <a:lnTo>
                    <a:pt x="538363" y="293484"/>
                  </a:lnTo>
                  <a:lnTo>
                    <a:pt x="552650" y="327422"/>
                  </a:lnTo>
                  <a:lnTo>
                    <a:pt x="561080" y="359807"/>
                  </a:lnTo>
                  <a:lnTo>
                    <a:pt x="564023" y="390506"/>
                  </a:lnTo>
                  <a:lnTo>
                    <a:pt x="561842" y="419395"/>
                  </a:lnTo>
                  <a:lnTo>
                    <a:pt x="554907" y="446342"/>
                  </a:lnTo>
                  <a:lnTo>
                    <a:pt x="543592" y="471211"/>
                  </a:lnTo>
                  <a:lnTo>
                    <a:pt x="528257" y="493881"/>
                  </a:lnTo>
                  <a:lnTo>
                    <a:pt x="509264" y="514207"/>
                  </a:lnTo>
                  <a:lnTo>
                    <a:pt x="486994" y="532076"/>
                  </a:lnTo>
                  <a:lnTo>
                    <a:pt x="461810" y="547345"/>
                  </a:lnTo>
                  <a:lnTo>
                    <a:pt x="434073" y="559889"/>
                  </a:lnTo>
                  <a:lnTo>
                    <a:pt x="404155" y="569576"/>
                  </a:lnTo>
                  <a:lnTo>
                    <a:pt x="372427" y="576272"/>
                  </a:lnTo>
                  <a:lnTo>
                    <a:pt x="339252" y="579853"/>
                  </a:lnTo>
                  <a:lnTo>
                    <a:pt x="305000" y="580187"/>
                  </a:lnTo>
                  <a:lnTo>
                    <a:pt x="274796" y="579139"/>
                  </a:lnTo>
                  <a:lnTo>
                    <a:pt x="245593" y="576062"/>
                  </a:lnTo>
                  <a:lnTo>
                    <a:pt x="217522" y="571062"/>
                  </a:lnTo>
                  <a:lnTo>
                    <a:pt x="190690" y="564251"/>
                  </a:lnTo>
                  <a:lnTo>
                    <a:pt x="165230" y="555736"/>
                  </a:lnTo>
                  <a:lnTo>
                    <a:pt x="141246" y="545621"/>
                  </a:lnTo>
                  <a:lnTo>
                    <a:pt x="118862" y="534010"/>
                  </a:lnTo>
                  <a:lnTo>
                    <a:pt x="98203" y="521018"/>
                  </a:lnTo>
                  <a:lnTo>
                    <a:pt x="79372" y="506740"/>
                  </a:lnTo>
                  <a:lnTo>
                    <a:pt x="62503" y="491290"/>
                  </a:lnTo>
                  <a:lnTo>
                    <a:pt x="47701" y="474774"/>
                  </a:lnTo>
                  <a:lnTo>
                    <a:pt x="35100" y="457295"/>
                  </a:lnTo>
                  <a:lnTo>
                    <a:pt x="24803" y="438960"/>
                  </a:lnTo>
                  <a:lnTo>
                    <a:pt x="16945" y="419881"/>
                  </a:lnTo>
                  <a:lnTo>
                    <a:pt x="11630" y="400164"/>
                  </a:lnTo>
                  <a:lnTo>
                    <a:pt x="7982" y="390839"/>
                  </a:lnTo>
                  <a:lnTo>
                    <a:pt x="5039" y="381543"/>
                  </a:lnTo>
                  <a:lnTo>
                    <a:pt x="2772" y="372323"/>
                  </a:lnTo>
                  <a:lnTo>
                    <a:pt x="1191" y="363207"/>
                  </a:lnTo>
                  <a:lnTo>
                    <a:pt x="267" y="354235"/>
                  </a:lnTo>
                  <a:lnTo>
                    <a:pt x="0" y="345434"/>
                  </a:lnTo>
                  <a:lnTo>
                    <a:pt x="371" y="336852"/>
                  </a:lnTo>
                  <a:lnTo>
                    <a:pt x="1372" y="328527"/>
                  </a:lnTo>
                  <a:lnTo>
                    <a:pt x="2991" y="320478"/>
                  </a:lnTo>
                  <a:lnTo>
                    <a:pt x="5210" y="312744"/>
                  </a:lnTo>
                  <a:lnTo>
                    <a:pt x="8020" y="305371"/>
                  </a:lnTo>
                  <a:lnTo>
                    <a:pt x="11420" y="298390"/>
                  </a:lnTo>
                  <a:lnTo>
                    <a:pt x="15383" y="291836"/>
                  </a:lnTo>
                  <a:lnTo>
                    <a:pt x="19898" y="285740"/>
                  </a:lnTo>
                  <a:lnTo>
                    <a:pt x="24965" y="280149"/>
                  </a:lnTo>
                  <a:close/>
                </a:path>
              </a:pathLst>
            </a:custGeom>
            <a:solidFill>
              <a:srgbClr val="D8C4A3"/>
            </a:solidFill>
            <a:ln w="11335">
              <a:solidFill>
                <a:srgbClr val="4A5147"/>
              </a:solidFill>
              <a:prstDash val="solid"/>
            </a:ln>
          </p:spPr>
          <p:txBody>
            <a:bodyPr/>
            <a:lstStyle/>
            <a:p>
              <a:endParaRPr sz="1200"/>
            </a:p>
          </p:txBody>
        </p:sp>
        <p:sp>
          <p:nvSpPr>
            <p:cNvPr id="419" name="s3-local-hen__contour_419">
              <a:extLst>
                <a:ext uri="{FF2B5EF4-FFF2-40B4-BE49-F238E27FC236}">
                  <a16:creationId xmlns:a16="http://schemas.microsoft.com/office/drawing/2014/main" id="{CFF09BDC-5DBD-4B61-8CE7-80E7DD3B8177}"/>
                </a:ext>
              </a:extLst>
            </p:cNvPr>
            <p:cNvSpPr>
              <a:spLocks/>
            </p:cNvSpPr>
            <p:nvPr/>
          </p:nvSpPr>
          <p:spPr>
            <a:xfrm>
              <a:off x="8127365" y="3613620"/>
              <a:ext cx="135414" cy="229400"/>
            </a:xfrm>
            <a:custGeom>
              <a:avLst/>
              <a:gdLst/>
              <a:ahLst/>
              <a:cxnLst/>
              <a:rect l="0" t="0" r="0" b="0"/>
              <a:pathLst>
                <a:path w="203121" h="344100">
                  <a:moveTo>
                    <a:pt x="40005" y="104070"/>
                  </a:moveTo>
                  <a:lnTo>
                    <a:pt x="42205" y="88449"/>
                  </a:lnTo>
                  <a:lnTo>
                    <a:pt x="46025" y="73666"/>
                  </a:lnTo>
                  <a:lnTo>
                    <a:pt x="51311" y="59855"/>
                  </a:lnTo>
                  <a:lnTo>
                    <a:pt x="57922" y="47139"/>
                  </a:lnTo>
                  <a:lnTo>
                    <a:pt x="65684" y="35671"/>
                  </a:lnTo>
                  <a:lnTo>
                    <a:pt x="74466" y="25556"/>
                  </a:lnTo>
                  <a:lnTo>
                    <a:pt x="84096" y="16935"/>
                  </a:lnTo>
                  <a:lnTo>
                    <a:pt x="94421" y="9935"/>
                  </a:lnTo>
                  <a:lnTo>
                    <a:pt x="105289" y="4696"/>
                  </a:lnTo>
                  <a:lnTo>
                    <a:pt x="116557" y="1343"/>
                  </a:lnTo>
                  <a:lnTo>
                    <a:pt x="128064" y="0"/>
                  </a:lnTo>
                  <a:lnTo>
                    <a:pt x="139646" y="800"/>
                  </a:lnTo>
                  <a:lnTo>
                    <a:pt x="151162" y="3886"/>
                  </a:lnTo>
                  <a:lnTo>
                    <a:pt x="162449" y="9373"/>
                  </a:lnTo>
                  <a:lnTo>
                    <a:pt x="173355" y="17393"/>
                  </a:lnTo>
                  <a:lnTo>
                    <a:pt x="183975" y="28146"/>
                  </a:lnTo>
                  <a:lnTo>
                    <a:pt x="192005" y="39033"/>
                  </a:lnTo>
                  <a:lnTo>
                    <a:pt x="197682" y="50035"/>
                  </a:lnTo>
                  <a:lnTo>
                    <a:pt x="201254" y="61112"/>
                  </a:lnTo>
                  <a:lnTo>
                    <a:pt x="202987" y="72219"/>
                  </a:lnTo>
                  <a:lnTo>
                    <a:pt x="203121" y="83325"/>
                  </a:lnTo>
                  <a:lnTo>
                    <a:pt x="201901" y="94393"/>
                  </a:lnTo>
                  <a:lnTo>
                    <a:pt x="199577" y="105394"/>
                  </a:lnTo>
                  <a:lnTo>
                    <a:pt x="196396" y="116281"/>
                  </a:lnTo>
                  <a:lnTo>
                    <a:pt x="192615" y="127035"/>
                  </a:lnTo>
                  <a:lnTo>
                    <a:pt x="188481" y="137608"/>
                  </a:lnTo>
                  <a:lnTo>
                    <a:pt x="184233" y="147971"/>
                  </a:lnTo>
                  <a:lnTo>
                    <a:pt x="180137" y="158077"/>
                  </a:lnTo>
                  <a:lnTo>
                    <a:pt x="176422" y="167907"/>
                  </a:lnTo>
                  <a:lnTo>
                    <a:pt x="173355" y="177413"/>
                  </a:lnTo>
                  <a:lnTo>
                    <a:pt x="168545" y="187738"/>
                  </a:lnTo>
                  <a:lnTo>
                    <a:pt x="164706" y="197434"/>
                  </a:lnTo>
                  <a:lnTo>
                    <a:pt x="161782" y="206588"/>
                  </a:lnTo>
                  <a:lnTo>
                    <a:pt x="159668" y="215284"/>
                  </a:lnTo>
                  <a:lnTo>
                    <a:pt x="158296" y="223590"/>
                  </a:lnTo>
                  <a:lnTo>
                    <a:pt x="157563" y="231610"/>
                  </a:lnTo>
                  <a:lnTo>
                    <a:pt x="157410" y="239411"/>
                  </a:lnTo>
                  <a:lnTo>
                    <a:pt x="157744" y="247079"/>
                  </a:lnTo>
                  <a:lnTo>
                    <a:pt x="158477" y="254699"/>
                  </a:lnTo>
                  <a:lnTo>
                    <a:pt x="159525" y="262366"/>
                  </a:lnTo>
                  <a:lnTo>
                    <a:pt x="160820" y="270139"/>
                  </a:lnTo>
                  <a:lnTo>
                    <a:pt x="162258" y="278120"/>
                  </a:lnTo>
                  <a:lnTo>
                    <a:pt x="163773" y="286379"/>
                  </a:lnTo>
                  <a:lnTo>
                    <a:pt x="165278" y="295018"/>
                  </a:lnTo>
                  <a:lnTo>
                    <a:pt x="166688" y="304095"/>
                  </a:lnTo>
                  <a:lnTo>
                    <a:pt x="133350" y="344100"/>
                  </a:lnTo>
                  <a:lnTo>
                    <a:pt x="86677" y="297428"/>
                  </a:lnTo>
                  <a:lnTo>
                    <a:pt x="40005" y="317430"/>
                  </a:lnTo>
                  <a:lnTo>
                    <a:pt x="0" y="230753"/>
                  </a:lnTo>
                  <a:close/>
                </a:path>
              </a:pathLst>
            </a:custGeom>
            <a:solidFill>
              <a:srgbClr val="EADFC8"/>
            </a:solidFill>
            <a:ln w="11335">
              <a:noFill/>
              <a:prstDash val="solid"/>
            </a:ln>
          </p:spPr>
          <p:txBody>
            <a:bodyPr/>
            <a:lstStyle/>
            <a:p>
              <a:endParaRPr sz="1200"/>
            </a:p>
          </p:txBody>
        </p:sp>
        <p:sp>
          <p:nvSpPr>
            <p:cNvPr id="420" name="s3-local-hen__contour_420">
              <a:extLst>
                <a:ext uri="{FF2B5EF4-FFF2-40B4-BE49-F238E27FC236}">
                  <a16:creationId xmlns:a16="http://schemas.microsoft.com/office/drawing/2014/main" id="{B56F2F37-E641-47F8-9937-F2D2C5847F78}"/>
                </a:ext>
              </a:extLst>
            </p:cNvPr>
            <p:cNvSpPr>
              <a:spLocks/>
            </p:cNvSpPr>
            <p:nvPr/>
          </p:nvSpPr>
          <p:spPr>
            <a:xfrm>
              <a:off x="7926489" y="3795585"/>
              <a:ext cx="200876" cy="137788"/>
            </a:xfrm>
            <a:custGeom>
              <a:avLst/>
              <a:gdLst/>
              <a:ahLst/>
              <a:cxnLst/>
              <a:rect l="0" t="0" r="0" b="0"/>
              <a:pathLst>
                <a:path w="301314" h="206683">
                  <a:moveTo>
                    <a:pt x="7944" y="44482"/>
                  </a:moveTo>
                  <a:lnTo>
                    <a:pt x="27194" y="31051"/>
                  </a:lnTo>
                  <a:lnTo>
                    <a:pt x="47473" y="20079"/>
                  </a:lnTo>
                  <a:lnTo>
                    <a:pt x="68542" y="11516"/>
                  </a:lnTo>
                  <a:lnTo>
                    <a:pt x="90173" y="5344"/>
                  </a:lnTo>
                  <a:lnTo>
                    <a:pt x="112157" y="1514"/>
                  </a:lnTo>
                  <a:lnTo>
                    <a:pt x="134255" y="0"/>
                  </a:lnTo>
                  <a:lnTo>
                    <a:pt x="156248" y="752"/>
                  </a:lnTo>
                  <a:lnTo>
                    <a:pt x="177908" y="3753"/>
                  </a:lnTo>
                  <a:lnTo>
                    <a:pt x="199006" y="8953"/>
                  </a:lnTo>
                  <a:lnTo>
                    <a:pt x="219332" y="16326"/>
                  </a:lnTo>
                  <a:lnTo>
                    <a:pt x="238639" y="25832"/>
                  </a:lnTo>
                  <a:lnTo>
                    <a:pt x="256718" y="37443"/>
                  </a:lnTo>
                  <a:lnTo>
                    <a:pt x="273348" y="51111"/>
                  </a:lnTo>
                  <a:lnTo>
                    <a:pt x="288284" y="66799"/>
                  </a:lnTo>
                  <a:lnTo>
                    <a:pt x="301314" y="84487"/>
                  </a:lnTo>
                  <a:lnTo>
                    <a:pt x="296704" y="101279"/>
                  </a:lnTo>
                  <a:lnTo>
                    <a:pt x="290903" y="116977"/>
                  </a:lnTo>
                  <a:lnTo>
                    <a:pt x="283978" y="131531"/>
                  </a:lnTo>
                  <a:lnTo>
                    <a:pt x="275987" y="144913"/>
                  </a:lnTo>
                  <a:lnTo>
                    <a:pt x="266986" y="157086"/>
                  </a:lnTo>
                  <a:lnTo>
                    <a:pt x="257042" y="168021"/>
                  </a:lnTo>
                  <a:lnTo>
                    <a:pt x="246202" y="177670"/>
                  </a:lnTo>
                  <a:lnTo>
                    <a:pt x="234544" y="185995"/>
                  </a:lnTo>
                  <a:lnTo>
                    <a:pt x="222104" y="192976"/>
                  </a:lnTo>
                  <a:lnTo>
                    <a:pt x="208959" y="198577"/>
                  </a:lnTo>
                  <a:lnTo>
                    <a:pt x="195158" y="202749"/>
                  </a:lnTo>
                  <a:lnTo>
                    <a:pt x="180765" y="205464"/>
                  </a:lnTo>
                  <a:lnTo>
                    <a:pt x="165840" y="206683"/>
                  </a:lnTo>
                  <a:lnTo>
                    <a:pt x="150438" y="206378"/>
                  </a:lnTo>
                  <a:lnTo>
                    <a:pt x="134626" y="204502"/>
                  </a:lnTo>
                  <a:lnTo>
                    <a:pt x="117500" y="202463"/>
                  </a:lnTo>
                  <a:lnTo>
                    <a:pt x="100889" y="199034"/>
                  </a:lnTo>
                  <a:lnTo>
                    <a:pt x="84963" y="194262"/>
                  </a:lnTo>
                  <a:lnTo>
                    <a:pt x="69904" y="188166"/>
                  </a:lnTo>
                  <a:lnTo>
                    <a:pt x="55855" y="180794"/>
                  </a:lnTo>
                  <a:lnTo>
                    <a:pt x="42986" y="172174"/>
                  </a:lnTo>
                  <a:lnTo>
                    <a:pt x="31480" y="162354"/>
                  </a:lnTo>
                  <a:lnTo>
                    <a:pt x="21479" y="151352"/>
                  </a:lnTo>
                  <a:lnTo>
                    <a:pt x="13173" y="139217"/>
                  </a:lnTo>
                  <a:lnTo>
                    <a:pt x="6706" y="125978"/>
                  </a:lnTo>
                  <a:lnTo>
                    <a:pt x="2257" y="111671"/>
                  </a:lnTo>
                  <a:lnTo>
                    <a:pt x="0" y="96326"/>
                  </a:lnTo>
                  <a:lnTo>
                    <a:pt x="76" y="79991"/>
                  </a:lnTo>
                  <a:lnTo>
                    <a:pt x="2667" y="62703"/>
                  </a:lnTo>
                  <a:lnTo>
                    <a:pt x="7944" y="44482"/>
                  </a:lnTo>
                  <a:close/>
                </a:path>
              </a:pathLst>
            </a:custGeom>
            <a:solidFill>
              <a:srgbClr val="B99C76"/>
            </a:solidFill>
            <a:ln w="8001">
              <a:solidFill>
                <a:srgbClr val="4A5147"/>
              </a:solidFill>
              <a:prstDash val="solid"/>
            </a:ln>
          </p:spPr>
          <p:txBody>
            <a:bodyPr/>
            <a:lstStyle/>
            <a:p>
              <a:endParaRPr sz="1200"/>
            </a:p>
          </p:txBody>
        </p:sp>
        <p:sp>
          <p:nvSpPr>
            <p:cNvPr id="421" name="s3-local-hen__contour_421">
              <a:extLst>
                <a:ext uri="{FF2B5EF4-FFF2-40B4-BE49-F238E27FC236}">
                  <a16:creationId xmlns:a16="http://schemas.microsoft.com/office/drawing/2014/main" id="{6AF91531-2E0E-46DF-94E5-AA8014E3805E}"/>
                </a:ext>
              </a:extLst>
            </p:cNvPr>
            <p:cNvSpPr>
              <a:spLocks/>
            </p:cNvSpPr>
            <p:nvPr/>
          </p:nvSpPr>
          <p:spPr>
            <a:xfrm>
              <a:off x="7954010" y="3842404"/>
              <a:ext cx="142240" cy="40620"/>
            </a:xfrm>
            <a:custGeom>
              <a:avLst/>
              <a:gdLst/>
              <a:ahLst/>
              <a:cxnLst/>
              <a:rect l="0" t="0" r="0" b="0"/>
              <a:pathLst>
                <a:path w="213360" h="60931">
                  <a:moveTo>
                    <a:pt x="0" y="7591"/>
                  </a:moveTo>
                  <a:lnTo>
                    <a:pt x="16078" y="4124"/>
                  </a:lnTo>
                  <a:lnTo>
                    <a:pt x="32252" y="1705"/>
                  </a:lnTo>
                  <a:lnTo>
                    <a:pt x="48435" y="333"/>
                  </a:lnTo>
                  <a:lnTo>
                    <a:pt x="64541" y="0"/>
                  </a:lnTo>
                  <a:lnTo>
                    <a:pt x="80505" y="676"/>
                  </a:lnTo>
                  <a:lnTo>
                    <a:pt x="96222" y="2362"/>
                  </a:lnTo>
                  <a:lnTo>
                    <a:pt x="111623" y="5048"/>
                  </a:lnTo>
                  <a:lnTo>
                    <a:pt x="126625" y="8715"/>
                  </a:lnTo>
                  <a:lnTo>
                    <a:pt x="141141" y="13354"/>
                  </a:lnTo>
                  <a:lnTo>
                    <a:pt x="155077" y="18955"/>
                  </a:lnTo>
                  <a:lnTo>
                    <a:pt x="168373" y="25498"/>
                  </a:lnTo>
                  <a:lnTo>
                    <a:pt x="180927" y="32985"/>
                  </a:lnTo>
                  <a:lnTo>
                    <a:pt x="192672" y="41386"/>
                  </a:lnTo>
                  <a:lnTo>
                    <a:pt x="203502" y="50711"/>
                  </a:lnTo>
                  <a:lnTo>
                    <a:pt x="213360" y="60931"/>
                  </a:lnTo>
                </a:path>
              </a:pathLst>
            </a:custGeom>
            <a:noFill/>
            <a:ln w="8668">
              <a:solidFill>
                <a:srgbClr val="CBA16F"/>
              </a:solidFill>
              <a:prstDash val="solid"/>
            </a:ln>
          </p:spPr>
          <p:txBody>
            <a:bodyPr/>
            <a:lstStyle/>
            <a:p>
              <a:endParaRPr sz="1200"/>
            </a:p>
          </p:txBody>
        </p:sp>
        <p:sp>
          <p:nvSpPr>
            <p:cNvPr id="422" name="s3-local-hen__contour_422">
              <a:extLst>
                <a:ext uri="{FF2B5EF4-FFF2-40B4-BE49-F238E27FC236}">
                  <a16:creationId xmlns:a16="http://schemas.microsoft.com/office/drawing/2014/main" id="{72B795A6-FCCF-4478-A788-0332BECE9F2B}"/>
                </a:ext>
              </a:extLst>
            </p:cNvPr>
            <p:cNvSpPr>
              <a:spLocks/>
            </p:cNvSpPr>
            <p:nvPr/>
          </p:nvSpPr>
          <p:spPr>
            <a:xfrm>
              <a:off x="8165890" y="3578631"/>
              <a:ext cx="90544" cy="55473"/>
            </a:xfrm>
            <a:custGeom>
              <a:avLst/>
              <a:gdLst/>
              <a:ahLst/>
              <a:cxnLst/>
              <a:rect l="0" t="0" r="0" b="0"/>
              <a:pathLst>
                <a:path w="135817" h="83210">
                  <a:moveTo>
                    <a:pt x="15554" y="63208"/>
                  </a:moveTo>
                  <a:lnTo>
                    <a:pt x="9668" y="59131"/>
                  </a:lnTo>
                  <a:lnTo>
                    <a:pt x="5277" y="54959"/>
                  </a:lnTo>
                  <a:lnTo>
                    <a:pt x="2276" y="50778"/>
                  </a:lnTo>
                  <a:lnTo>
                    <a:pt x="552" y="46673"/>
                  </a:lnTo>
                  <a:lnTo>
                    <a:pt x="0" y="42710"/>
                  </a:lnTo>
                  <a:lnTo>
                    <a:pt x="514" y="38995"/>
                  </a:lnTo>
                  <a:lnTo>
                    <a:pt x="1991" y="35595"/>
                  </a:lnTo>
                  <a:lnTo>
                    <a:pt x="4315" y="32595"/>
                  </a:lnTo>
                  <a:lnTo>
                    <a:pt x="7391" y="30080"/>
                  </a:lnTo>
                  <a:lnTo>
                    <a:pt x="11106" y="28146"/>
                  </a:lnTo>
                  <a:lnTo>
                    <a:pt x="15354" y="26851"/>
                  </a:lnTo>
                  <a:lnTo>
                    <a:pt x="20031" y="26299"/>
                  </a:lnTo>
                  <a:lnTo>
                    <a:pt x="25032" y="26556"/>
                  </a:lnTo>
                  <a:lnTo>
                    <a:pt x="30242" y="27727"/>
                  </a:lnTo>
                  <a:lnTo>
                    <a:pt x="35557" y="29870"/>
                  </a:lnTo>
                  <a:lnTo>
                    <a:pt x="34823" y="22403"/>
                  </a:lnTo>
                  <a:lnTo>
                    <a:pt x="35204" y="16002"/>
                  </a:lnTo>
                  <a:lnTo>
                    <a:pt x="36566" y="10668"/>
                  </a:lnTo>
                  <a:lnTo>
                    <a:pt x="38786" y="6401"/>
                  </a:lnTo>
                  <a:lnTo>
                    <a:pt x="41729" y="3200"/>
                  </a:lnTo>
                  <a:lnTo>
                    <a:pt x="45263" y="1067"/>
                  </a:lnTo>
                  <a:lnTo>
                    <a:pt x="49263" y="0"/>
                  </a:lnTo>
                  <a:lnTo>
                    <a:pt x="53588" y="0"/>
                  </a:lnTo>
                  <a:lnTo>
                    <a:pt x="58122" y="1067"/>
                  </a:lnTo>
                  <a:lnTo>
                    <a:pt x="62722" y="3200"/>
                  </a:lnTo>
                  <a:lnTo>
                    <a:pt x="67266" y="6401"/>
                  </a:lnTo>
                  <a:lnTo>
                    <a:pt x="71618" y="10668"/>
                  </a:lnTo>
                  <a:lnTo>
                    <a:pt x="75648" y="16002"/>
                  </a:lnTo>
                  <a:lnTo>
                    <a:pt x="79229" y="22403"/>
                  </a:lnTo>
                  <a:lnTo>
                    <a:pt x="82229" y="29870"/>
                  </a:lnTo>
                  <a:lnTo>
                    <a:pt x="90126" y="23993"/>
                  </a:lnTo>
                  <a:lnTo>
                    <a:pt x="97736" y="19622"/>
                  </a:lnTo>
                  <a:lnTo>
                    <a:pt x="104956" y="16697"/>
                  </a:lnTo>
                  <a:lnTo>
                    <a:pt x="111671" y="15116"/>
                  </a:lnTo>
                  <a:lnTo>
                    <a:pt x="117786" y="14811"/>
                  </a:lnTo>
                  <a:lnTo>
                    <a:pt x="123196" y="15678"/>
                  </a:lnTo>
                  <a:lnTo>
                    <a:pt x="127778" y="17659"/>
                  </a:lnTo>
                  <a:lnTo>
                    <a:pt x="131445" y="20660"/>
                  </a:lnTo>
                  <a:lnTo>
                    <a:pt x="134074" y="24594"/>
                  </a:lnTo>
                  <a:lnTo>
                    <a:pt x="135569" y="29375"/>
                  </a:lnTo>
                  <a:lnTo>
                    <a:pt x="135817" y="34938"/>
                  </a:lnTo>
                  <a:lnTo>
                    <a:pt x="134712" y="41177"/>
                  </a:lnTo>
                  <a:lnTo>
                    <a:pt x="132159" y="48025"/>
                  </a:lnTo>
                  <a:lnTo>
                    <a:pt x="128035" y="55397"/>
                  </a:lnTo>
                  <a:lnTo>
                    <a:pt x="122234" y="63208"/>
                  </a:lnTo>
                  <a:lnTo>
                    <a:pt x="75562" y="83210"/>
                  </a:lnTo>
                  <a:close/>
                </a:path>
              </a:pathLst>
            </a:custGeom>
            <a:solidFill>
              <a:srgbClr val="B8493E"/>
            </a:solidFill>
            <a:ln w="7334">
              <a:solidFill>
                <a:srgbClr val="803B33"/>
              </a:solidFill>
              <a:prstDash val="solid"/>
            </a:ln>
          </p:spPr>
          <p:txBody>
            <a:bodyPr/>
            <a:lstStyle/>
            <a:p>
              <a:endParaRPr sz="1200"/>
            </a:p>
          </p:txBody>
        </p:sp>
        <p:sp>
          <p:nvSpPr>
            <p:cNvPr id="423" name="s3-local-hen__contour_423">
              <a:extLst>
                <a:ext uri="{FF2B5EF4-FFF2-40B4-BE49-F238E27FC236}">
                  <a16:creationId xmlns:a16="http://schemas.microsoft.com/office/drawing/2014/main" id="{CCFFA856-82AB-4AAF-9F1E-8E4FDC01DF38}"/>
                </a:ext>
              </a:extLst>
            </p:cNvPr>
            <p:cNvSpPr>
              <a:spLocks/>
            </p:cNvSpPr>
            <p:nvPr/>
          </p:nvSpPr>
          <p:spPr>
            <a:xfrm>
              <a:off x="8269605" y="3660775"/>
              <a:ext cx="53340" cy="35560"/>
            </a:xfrm>
            <a:custGeom>
              <a:avLst/>
              <a:gdLst/>
              <a:ahLst/>
              <a:cxnLst/>
              <a:rect l="0" t="0" r="0" b="0"/>
              <a:pathLst>
                <a:path w="80010" h="53340">
                  <a:moveTo>
                    <a:pt x="0" y="0"/>
                  </a:moveTo>
                  <a:lnTo>
                    <a:pt x="80010" y="33338"/>
                  </a:lnTo>
                  <a:lnTo>
                    <a:pt x="6668" y="53340"/>
                  </a:lnTo>
                  <a:close/>
                </a:path>
              </a:pathLst>
            </a:custGeom>
            <a:solidFill>
              <a:srgbClr val="D3AA5C"/>
            </a:solidFill>
            <a:ln w="6668">
              <a:solidFill>
                <a:srgbClr val="8D7239"/>
              </a:solidFill>
              <a:prstDash val="solid"/>
            </a:ln>
          </p:spPr>
          <p:txBody>
            <a:bodyPr/>
            <a:lstStyle/>
            <a:p>
              <a:endParaRPr sz="1200"/>
            </a:p>
          </p:txBody>
        </p:sp>
        <p:sp>
          <p:nvSpPr>
            <p:cNvPr id="424" name="s3-local-hen__ellipse_424">
              <a:extLst>
                <a:ext uri="{FF2B5EF4-FFF2-40B4-BE49-F238E27FC236}">
                  <a16:creationId xmlns:a16="http://schemas.microsoft.com/office/drawing/2014/main" id="{D2389884-4AF1-429C-B96A-BB1657E643FB}"/>
                </a:ext>
              </a:extLst>
            </p:cNvPr>
            <p:cNvSpPr>
              <a:spLocks/>
            </p:cNvSpPr>
            <p:nvPr/>
          </p:nvSpPr>
          <p:spPr>
            <a:xfrm>
              <a:off x="8234045" y="3705225"/>
              <a:ext cx="31114" cy="48895"/>
            </a:xfrm>
            <a:prstGeom prst="ellipse">
              <a:avLst/>
            </a:prstGeom>
            <a:solidFill>
              <a:srgbClr val="B8493E"/>
            </a:solidFill>
            <a:ln w="5334">
              <a:solidFill>
                <a:srgbClr val="803B33"/>
              </a:solidFill>
              <a:prstDash val="solid"/>
            </a:ln>
          </p:spPr>
          <p:txBody>
            <a:bodyPr/>
            <a:lstStyle/>
            <a:p>
              <a:endParaRPr sz="1200"/>
            </a:p>
          </p:txBody>
        </p:sp>
        <p:sp>
          <p:nvSpPr>
            <p:cNvPr id="425" name="s3-local-hen__ellipse_425">
              <a:extLst>
                <a:ext uri="{FF2B5EF4-FFF2-40B4-BE49-F238E27FC236}">
                  <a16:creationId xmlns:a16="http://schemas.microsoft.com/office/drawing/2014/main" id="{E415D703-3046-4114-877A-F836603A7AD3}"/>
                </a:ext>
              </a:extLst>
            </p:cNvPr>
            <p:cNvSpPr>
              <a:spLocks/>
            </p:cNvSpPr>
            <p:nvPr/>
          </p:nvSpPr>
          <p:spPr>
            <a:xfrm>
              <a:off x="8245157" y="3645217"/>
              <a:ext cx="15113" cy="15113"/>
            </a:xfrm>
            <a:prstGeom prst="ellipse">
              <a:avLst/>
            </a:prstGeom>
            <a:solidFill>
              <a:srgbClr val="1F2B28"/>
            </a:solidFill>
            <a:ln w="0">
              <a:noFill/>
              <a:prstDash val="solid"/>
            </a:ln>
          </p:spPr>
          <p:txBody>
            <a:bodyPr/>
            <a:lstStyle/>
            <a:p>
              <a:endParaRPr sz="1200"/>
            </a:p>
          </p:txBody>
        </p:sp>
        <p:sp>
          <p:nvSpPr>
            <p:cNvPr id="426" name="s3-local-hen__ellipse_426">
              <a:extLst>
                <a:ext uri="{FF2B5EF4-FFF2-40B4-BE49-F238E27FC236}">
                  <a16:creationId xmlns:a16="http://schemas.microsoft.com/office/drawing/2014/main" id="{7E342EFE-9DC5-4F38-BB17-9002D7C797BC}"/>
                </a:ext>
              </a:extLst>
            </p:cNvPr>
            <p:cNvSpPr>
              <a:spLocks/>
            </p:cNvSpPr>
            <p:nvPr/>
          </p:nvSpPr>
          <p:spPr>
            <a:xfrm>
              <a:off x="8247380" y="3645662"/>
              <a:ext cx="4000" cy="4000"/>
            </a:xfrm>
            <a:prstGeom prst="ellipse">
              <a:avLst/>
            </a:prstGeom>
            <a:solidFill>
              <a:srgbClr val="FFFFFF"/>
            </a:solidFill>
            <a:ln w="0">
              <a:noFill/>
              <a:prstDash val="solid"/>
            </a:ln>
          </p:spPr>
          <p:txBody>
            <a:bodyPr/>
            <a:lstStyle/>
            <a:p>
              <a:endParaRPr sz="1200"/>
            </a:p>
          </p:txBody>
        </p:sp>
        <p:sp>
          <p:nvSpPr>
            <p:cNvPr id="427" name="s3-local-rooster__ellipse_427">
              <a:extLst>
                <a:ext uri="{FF2B5EF4-FFF2-40B4-BE49-F238E27FC236}">
                  <a16:creationId xmlns:a16="http://schemas.microsoft.com/office/drawing/2014/main" id="{7DF70A5E-4BA9-4181-98A7-46E75987AC9D}"/>
                </a:ext>
              </a:extLst>
            </p:cNvPr>
            <p:cNvSpPr>
              <a:spLocks/>
            </p:cNvSpPr>
            <p:nvPr/>
          </p:nvSpPr>
          <p:spPr>
            <a:xfrm>
              <a:off x="8425180" y="3999230"/>
              <a:ext cx="342899" cy="34289"/>
            </a:xfrm>
            <a:prstGeom prst="ellipse">
              <a:avLst/>
            </a:prstGeom>
            <a:solidFill>
              <a:srgbClr val="DCE2D6">
                <a:alpha val="80000"/>
              </a:srgbClr>
            </a:solidFill>
            <a:ln w="0">
              <a:noFill/>
              <a:prstDash val="solid"/>
            </a:ln>
          </p:spPr>
          <p:txBody>
            <a:bodyPr/>
            <a:lstStyle/>
            <a:p>
              <a:endParaRPr sz="1200"/>
            </a:p>
          </p:txBody>
        </p:sp>
        <p:sp>
          <p:nvSpPr>
            <p:cNvPr id="428" name="s3-local-rooster__contour_428">
              <a:extLst>
                <a:ext uri="{FF2B5EF4-FFF2-40B4-BE49-F238E27FC236}">
                  <a16:creationId xmlns:a16="http://schemas.microsoft.com/office/drawing/2014/main" id="{60E5D61A-6BCE-4FC7-AF88-364E4A997435}"/>
                </a:ext>
              </a:extLst>
            </p:cNvPr>
            <p:cNvSpPr>
              <a:spLocks/>
            </p:cNvSpPr>
            <p:nvPr/>
          </p:nvSpPr>
          <p:spPr>
            <a:xfrm>
              <a:off x="8645272" y="3549199"/>
              <a:ext cx="282307" cy="278580"/>
            </a:xfrm>
            <a:custGeom>
              <a:avLst/>
              <a:gdLst/>
              <a:ahLst/>
              <a:cxnLst/>
              <a:rect l="0" t="0" r="0" b="0"/>
              <a:pathLst>
                <a:path w="423462" h="417871">
                  <a:moveTo>
                    <a:pt x="35624" y="417871"/>
                  </a:moveTo>
                  <a:lnTo>
                    <a:pt x="62303" y="407689"/>
                  </a:lnTo>
                  <a:lnTo>
                    <a:pt x="87535" y="395516"/>
                  </a:lnTo>
                  <a:lnTo>
                    <a:pt x="111385" y="381524"/>
                  </a:lnTo>
                  <a:lnTo>
                    <a:pt x="133921" y="365855"/>
                  </a:lnTo>
                  <a:lnTo>
                    <a:pt x="155219" y="348653"/>
                  </a:lnTo>
                  <a:lnTo>
                    <a:pt x="175346" y="330089"/>
                  </a:lnTo>
                  <a:lnTo>
                    <a:pt x="194377" y="310305"/>
                  </a:lnTo>
                  <a:lnTo>
                    <a:pt x="212379" y="289446"/>
                  </a:lnTo>
                  <a:lnTo>
                    <a:pt x="229429" y="267681"/>
                  </a:lnTo>
                  <a:lnTo>
                    <a:pt x="245593" y="245154"/>
                  </a:lnTo>
                  <a:lnTo>
                    <a:pt x="260947" y="222009"/>
                  </a:lnTo>
                  <a:lnTo>
                    <a:pt x="275558" y="198415"/>
                  </a:lnTo>
                  <a:lnTo>
                    <a:pt x="289503" y="174517"/>
                  </a:lnTo>
                  <a:lnTo>
                    <a:pt x="302847" y="150457"/>
                  </a:lnTo>
                  <a:lnTo>
                    <a:pt x="315658" y="126406"/>
                  </a:lnTo>
                  <a:lnTo>
                    <a:pt x="326774" y="119396"/>
                  </a:lnTo>
                  <a:lnTo>
                    <a:pt x="337242" y="114338"/>
                  </a:lnTo>
                  <a:lnTo>
                    <a:pt x="347024" y="111223"/>
                  </a:lnTo>
                  <a:lnTo>
                    <a:pt x="356064" y="110033"/>
                  </a:lnTo>
                  <a:lnTo>
                    <a:pt x="364341" y="110747"/>
                  </a:lnTo>
                  <a:lnTo>
                    <a:pt x="371799" y="113328"/>
                  </a:lnTo>
                  <a:lnTo>
                    <a:pt x="378409" y="117777"/>
                  </a:lnTo>
                  <a:lnTo>
                    <a:pt x="384124" y="124063"/>
                  </a:lnTo>
                  <a:lnTo>
                    <a:pt x="388906" y="132169"/>
                  </a:lnTo>
                  <a:lnTo>
                    <a:pt x="392706" y="142065"/>
                  </a:lnTo>
                  <a:lnTo>
                    <a:pt x="395497" y="153753"/>
                  </a:lnTo>
                  <a:lnTo>
                    <a:pt x="397221" y="167192"/>
                  </a:lnTo>
                  <a:lnTo>
                    <a:pt x="397859" y="182366"/>
                  </a:lnTo>
                  <a:lnTo>
                    <a:pt x="397354" y="199253"/>
                  </a:lnTo>
                  <a:lnTo>
                    <a:pt x="395668" y="217846"/>
                  </a:lnTo>
                  <a:lnTo>
                    <a:pt x="404051" y="209045"/>
                  </a:lnTo>
                  <a:lnTo>
                    <a:pt x="410918" y="198777"/>
                  </a:lnTo>
                  <a:lnTo>
                    <a:pt x="416290" y="187262"/>
                  </a:lnTo>
                  <a:lnTo>
                    <a:pt x="420157" y="174708"/>
                  </a:lnTo>
                  <a:lnTo>
                    <a:pt x="422548" y="161334"/>
                  </a:lnTo>
                  <a:lnTo>
                    <a:pt x="423462" y="147342"/>
                  </a:lnTo>
                  <a:lnTo>
                    <a:pt x="422920" y="132969"/>
                  </a:lnTo>
                  <a:lnTo>
                    <a:pt x="420919" y="118396"/>
                  </a:lnTo>
                  <a:lnTo>
                    <a:pt x="417481" y="103870"/>
                  </a:lnTo>
                  <a:lnTo>
                    <a:pt x="412604" y="89573"/>
                  </a:lnTo>
                  <a:lnTo>
                    <a:pt x="406308" y="75743"/>
                  </a:lnTo>
                  <a:lnTo>
                    <a:pt x="398593" y="62579"/>
                  </a:lnTo>
                  <a:lnTo>
                    <a:pt x="389487" y="50302"/>
                  </a:lnTo>
                  <a:lnTo>
                    <a:pt x="378981" y="39119"/>
                  </a:lnTo>
                  <a:lnTo>
                    <a:pt x="367093" y="29251"/>
                  </a:lnTo>
                  <a:lnTo>
                    <a:pt x="341043" y="15564"/>
                  </a:lnTo>
                  <a:lnTo>
                    <a:pt x="315497" y="6315"/>
                  </a:lnTo>
                  <a:lnTo>
                    <a:pt x="290513" y="1229"/>
                  </a:lnTo>
                  <a:lnTo>
                    <a:pt x="266138" y="0"/>
                  </a:lnTo>
                  <a:lnTo>
                    <a:pt x="242421" y="2372"/>
                  </a:lnTo>
                  <a:lnTo>
                    <a:pt x="219418" y="8039"/>
                  </a:lnTo>
                  <a:lnTo>
                    <a:pt x="197177" y="16726"/>
                  </a:lnTo>
                  <a:lnTo>
                    <a:pt x="175746" y="28137"/>
                  </a:lnTo>
                  <a:lnTo>
                    <a:pt x="155181" y="42005"/>
                  </a:lnTo>
                  <a:lnTo>
                    <a:pt x="135531" y="58036"/>
                  </a:lnTo>
                  <a:lnTo>
                    <a:pt x="116843" y="75952"/>
                  </a:lnTo>
                  <a:lnTo>
                    <a:pt x="99174" y="95450"/>
                  </a:lnTo>
                  <a:lnTo>
                    <a:pt x="82572" y="116272"/>
                  </a:lnTo>
                  <a:lnTo>
                    <a:pt x="67085" y="138113"/>
                  </a:lnTo>
                  <a:lnTo>
                    <a:pt x="52768" y="160696"/>
                  </a:lnTo>
                  <a:lnTo>
                    <a:pt x="44072" y="176622"/>
                  </a:lnTo>
                  <a:lnTo>
                    <a:pt x="36271" y="192405"/>
                  </a:lnTo>
                  <a:lnTo>
                    <a:pt x="29318" y="208064"/>
                  </a:lnTo>
                  <a:lnTo>
                    <a:pt x="23184" y="223590"/>
                  </a:lnTo>
                  <a:lnTo>
                    <a:pt x="17840" y="239011"/>
                  </a:lnTo>
                  <a:lnTo>
                    <a:pt x="13268" y="254327"/>
                  </a:lnTo>
                  <a:lnTo>
                    <a:pt x="9420" y="269558"/>
                  </a:lnTo>
                  <a:lnTo>
                    <a:pt x="6277" y="284702"/>
                  </a:lnTo>
                  <a:lnTo>
                    <a:pt x="3800" y="299780"/>
                  </a:lnTo>
                  <a:lnTo>
                    <a:pt x="1972" y="314792"/>
                  </a:lnTo>
                  <a:lnTo>
                    <a:pt x="743" y="329756"/>
                  </a:lnTo>
                  <a:lnTo>
                    <a:pt x="95" y="344672"/>
                  </a:lnTo>
                  <a:lnTo>
                    <a:pt x="0" y="359569"/>
                  </a:lnTo>
                  <a:lnTo>
                    <a:pt x="429" y="374437"/>
                  </a:lnTo>
                  <a:lnTo>
                    <a:pt x="1333" y="389296"/>
                  </a:lnTo>
                  <a:close/>
                </a:path>
              </a:pathLst>
            </a:custGeom>
            <a:solidFill>
              <a:srgbClr val="49685B"/>
            </a:solidFill>
            <a:ln w="9716">
              <a:solidFill>
                <a:srgbClr val="4A5147"/>
              </a:solidFill>
              <a:prstDash val="solid"/>
            </a:ln>
          </p:spPr>
          <p:txBody>
            <a:bodyPr/>
            <a:lstStyle/>
            <a:p>
              <a:endParaRPr sz="1200"/>
            </a:p>
          </p:txBody>
        </p:sp>
        <p:sp>
          <p:nvSpPr>
            <p:cNvPr id="429" name="s3-local-rooster__contour_429">
              <a:extLst>
                <a:ext uri="{FF2B5EF4-FFF2-40B4-BE49-F238E27FC236}">
                  <a16:creationId xmlns:a16="http://schemas.microsoft.com/office/drawing/2014/main" id="{FFCDA9A7-AE3E-4389-92DB-4192F1F91A2B}"/>
                </a:ext>
              </a:extLst>
            </p:cNvPr>
            <p:cNvSpPr>
              <a:spLocks/>
            </p:cNvSpPr>
            <p:nvPr/>
          </p:nvSpPr>
          <p:spPr>
            <a:xfrm>
              <a:off x="8653780" y="3635477"/>
              <a:ext cx="267887" cy="199923"/>
            </a:xfrm>
            <a:custGeom>
              <a:avLst/>
              <a:gdLst/>
              <a:ahLst/>
              <a:cxnLst/>
              <a:rect l="0" t="0" r="0" b="0"/>
              <a:pathLst>
                <a:path w="401831" h="299885">
                  <a:moveTo>
                    <a:pt x="40005" y="299885"/>
                  </a:moveTo>
                  <a:lnTo>
                    <a:pt x="64275" y="282540"/>
                  </a:lnTo>
                  <a:lnTo>
                    <a:pt x="86906" y="264938"/>
                  </a:lnTo>
                  <a:lnTo>
                    <a:pt x="108128" y="247259"/>
                  </a:lnTo>
                  <a:lnTo>
                    <a:pt x="128130" y="229705"/>
                  </a:lnTo>
                  <a:lnTo>
                    <a:pt x="147104" y="212465"/>
                  </a:lnTo>
                  <a:lnTo>
                    <a:pt x="165278" y="195739"/>
                  </a:lnTo>
                  <a:lnTo>
                    <a:pt x="182842" y="179708"/>
                  </a:lnTo>
                  <a:lnTo>
                    <a:pt x="199987" y="164563"/>
                  </a:lnTo>
                  <a:lnTo>
                    <a:pt x="216941" y="150514"/>
                  </a:lnTo>
                  <a:lnTo>
                    <a:pt x="233896" y="137751"/>
                  </a:lnTo>
                  <a:lnTo>
                    <a:pt x="251041" y="126454"/>
                  </a:lnTo>
                  <a:lnTo>
                    <a:pt x="268605" y="116824"/>
                  </a:lnTo>
                  <a:lnTo>
                    <a:pt x="286779" y="109052"/>
                  </a:lnTo>
                  <a:lnTo>
                    <a:pt x="305753" y="103337"/>
                  </a:lnTo>
                  <a:lnTo>
                    <a:pt x="325755" y="99860"/>
                  </a:lnTo>
                  <a:lnTo>
                    <a:pt x="333451" y="101603"/>
                  </a:lnTo>
                  <a:lnTo>
                    <a:pt x="340528" y="104499"/>
                  </a:lnTo>
                  <a:lnTo>
                    <a:pt x="346967" y="108499"/>
                  </a:lnTo>
                  <a:lnTo>
                    <a:pt x="352777" y="113538"/>
                  </a:lnTo>
                  <a:lnTo>
                    <a:pt x="357930" y="119548"/>
                  </a:lnTo>
                  <a:lnTo>
                    <a:pt x="362426" y="126473"/>
                  </a:lnTo>
                  <a:lnTo>
                    <a:pt x="366246" y="134245"/>
                  </a:lnTo>
                  <a:lnTo>
                    <a:pt x="369389" y="142818"/>
                  </a:lnTo>
                  <a:lnTo>
                    <a:pt x="371837" y="152114"/>
                  </a:lnTo>
                  <a:lnTo>
                    <a:pt x="373590" y="162087"/>
                  </a:lnTo>
                  <a:lnTo>
                    <a:pt x="374628" y="172669"/>
                  </a:lnTo>
                  <a:lnTo>
                    <a:pt x="374952" y="183804"/>
                  </a:lnTo>
                  <a:lnTo>
                    <a:pt x="374533" y="195424"/>
                  </a:lnTo>
                  <a:lnTo>
                    <a:pt x="373380" y="207464"/>
                  </a:lnTo>
                  <a:lnTo>
                    <a:pt x="371475" y="219875"/>
                  </a:lnTo>
                  <a:lnTo>
                    <a:pt x="381772" y="201463"/>
                  </a:lnTo>
                  <a:lnTo>
                    <a:pt x="389868" y="182909"/>
                  </a:lnTo>
                  <a:lnTo>
                    <a:pt x="395840" y="164373"/>
                  </a:lnTo>
                  <a:lnTo>
                    <a:pt x="399774" y="146018"/>
                  </a:lnTo>
                  <a:lnTo>
                    <a:pt x="401745" y="128016"/>
                  </a:lnTo>
                  <a:lnTo>
                    <a:pt x="401831" y="110509"/>
                  </a:lnTo>
                  <a:lnTo>
                    <a:pt x="400126" y="93688"/>
                  </a:lnTo>
                  <a:lnTo>
                    <a:pt x="396697" y="77686"/>
                  </a:lnTo>
                  <a:lnTo>
                    <a:pt x="391639" y="62694"/>
                  </a:lnTo>
                  <a:lnTo>
                    <a:pt x="385020" y="48844"/>
                  </a:lnTo>
                  <a:lnTo>
                    <a:pt x="376933" y="36328"/>
                  </a:lnTo>
                  <a:lnTo>
                    <a:pt x="367455" y="25289"/>
                  </a:lnTo>
                  <a:lnTo>
                    <a:pt x="356664" y="15897"/>
                  </a:lnTo>
                  <a:lnTo>
                    <a:pt x="344643" y="8315"/>
                  </a:lnTo>
                  <a:lnTo>
                    <a:pt x="331470" y="2705"/>
                  </a:lnTo>
                  <a:lnTo>
                    <a:pt x="308543" y="0"/>
                  </a:lnTo>
                  <a:lnTo>
                    <a:pt x="285512" y="895"/>
                  </a:lnTo>
                  <a:lnTo>
                    <a:pt x="262433" y="5172"/>
                  </a:lnTo>
                  <a:lnTo>
                    <a:pt x="239354" y="12621"/>
                  </a:lnTo>
                  <a:lnTo>
                    <a:pt x="216322" y="23022"/>
                  </a:lnTo>
                  <a:lnTo>
                    <a:pt x="193396" y="36176"/>
                  </a:lnTo>
                  <a:lnTo>
                    <a:pt x="170621" y="51845"/>
                  </a:lnTo>
                  <a:lnTo>
                    <a:pt x="148047" y="69847"/>
                  </a:lnTo>
                  <a:lnTo>
                    <a:pt x="125730" y="89935"/>
                  </a:lnTo>
                  <a:lnTo>
                    <a:pt x="103718" y="111928"/>
                  </a:lnTo>
                  <a:lnTo>
                    <a:pt x="82058" y="135588"/>
                  </a:lnTo>
                  <a:lnTo>
                    <a:pt x="60808" y="160715"/>
                  </a:lnTo>
                  <a:lnTo>
                    <a:pt x="40015" y="187090"/>
                  </a:lnTo>
                  <a:lnTo>
                    <a:pt x="19726" y="214503"/>
                  </a:lnTo>
                  <a:lnTo>
                    <a:pt x="0" y="242735"/>
                  </a:lnTo>
                  <a:close/>
                </a:path>
              </a:pathLst>
            </a:custGeom>
            <a:solidFill>
              <a:srgbClr val="49685B"/>
            </a:solidFill>
            <a:ln w="9716">
              <a:solidFill>
                <a:srgbClr val="4A5147"/>
              </a:solidFill>
              <a:prstDash val="solid"/>
            </a:ln>
          </p:spPr>
          <p:txBody>
            <a:bodyPr/>
            <a:lstStyle/>
            <a:p>
              <a:endParaRPr sz="1200"/>
            </a:p>
          </p:txBody>
        </p:sp>
        <p:sp>
          <p:nvSpPr>
            <p:cNvPr id="430" name="s3-local-rooster__contour_430">
              <a:extLst>
                <a:ext uri="{FF2B5EF4-FFF2-40B4-BE49-F238E27FC236}">
                  <a16:creationId xmlns:a16="http://schemas.microsoft.com/office/drawing/2014/main" id="{950382C5-2073-4EB0-B8D8-C12C5E7F5057}"/>
                </a:ext>
              </a:extLst>
            </p:cNvPr>
            <p:cNvSpPr>
              <a:spLocks/>
            </p:cNvSpPr>
            <p:nvPr/>
          </p:nvSpPr>
          <p:spPr>
            <a:xfrm>
              <a:off x="8649970" y="3705860"/>
              <a:ext cx="241020" cy="129539"/>
            </a:xfrm>
            <a:custGeom>
              <a:avLst/>
              <a:gdLst/>
              <a:ahLst/>
              <a:cxnLst/>
              <a:rect l="0" t="0" r="0" b="0"/>
              <a:pathLst>
                <a:path w="361531" h="194310">
                  <a:moveTo>
                    <a:pt x="45720" y="194310"/>
                  </a:moveTo>
                  <a:lnTo>
                    <a:pt x="69609" y="184956"/>
                  </a:lnTo>
                  <a:lnTo>
                    <a:pt x="91154" y="175279"/>
                  </a:lnTo>
                  <a:lnTo>
                    <a:pt x="110595" y="165411"/>
                  </a:lnTo>
                  <a:lnTo>
                    <a:pt x="128178" y="155486"/>
                  </a:lnTo>
                  <a:lnTo>
                    <a:pt x="144142" y="145628"/>
                  </a:lnTo>
                  <a:lnTo>
                    <a:pt x="158744" y="135969"/>
                  </a:lnTo>
                  <a:lnTo>
                    <a:pt x="172202" y="126654"/>
                  </a:lnTo>
                  <a:lnTo>
                    <a:pt x="184795" y="117796"/>
                  </a:lnTo>
                  <a:lnTo>
                    <a:pt x="196729" y="109547"/>
                  </a:lnTo>
                  <a:lnTo>
                    <a:pt x="208283" y="102022"/>
                  </a:lnTo>
                  <a:lnTo>
                    <a:pt x="219675" y="95364"/>
                  </a:lnTo>
                  <a:lnTo>
                    <a:pt x="231162" y="89706"/>
                  </a:lnTo>
                  <a:lnTo>
                    <a:pt x="242983" y="85173"/>
                  </a:lnTo>
                  <a:lnTo>
                    <a:pt x="255384" y="81896"/>
                  </a:lnTo>
                  <a:lnTo>
                    <a:pt x="268605" y="80010"/>
                  </a:lnTo>
                  <a:lnTo>
                    <a:pt x="277444" y="80610"/>
                  </a:lnTo>
                  <a:lnTo>
                    <a:pt x="285674" y="82382"/>
                  </a:lnTo>
                  <a:lnTo>
                    <a:pt x="293294" y="85268"/>
                  </a:lnTo>
                  <a:lnTo>
                    <a:pt x="300304" y="89221"/>
                  </a:lnTo>
                  <a:lnTo>
                    <a:pt x="306705" y="94193"/>
                  </a:lnTo>
                  <a:lnTo>
                    <a:pt x="312496" y="100127"/>
                  </a:lnTo>
                  <a:lnTo>
                    <a:pt x="317678" y="106975"/>
                  </a:lnTo>
                  <a:lnTo>
                    <a:pt x="322250" y="114691"/>
                  </a:lnTo>
                  <a:lnTo>
                    <a:pt x="326212" y="123215"/>
                  </a:lnTo>
                  <a:lnTo>
                    <a:pt x="329565" y="132502"/>
                  </a:lnTo>
                  <a:lnTo>
                    <a:pt x="332308" y="142504"/>
                  </a:lnTo>
                  <a:lnTo>
                    <a:pt x="334442" y="153162"/>
                  </a:lnTo>
                  <a:lnTo>
                    <a:pt x="335966" y="164430"/>
                  </a:lnTo>
                  <a:lnTo>
                    <a:pt x="336880" y="176260"/>
                  </a:lnTo>
                  <a:lnTo>
                    <a:pt x="337185" y="188595"/>
                  </a:lnTo>
                  <a:lnTo>
                    <a:pt x="347196" y="170336"/>
                  </a:lnTo>
                  <a:lnTo>
                    <a:pt x="354473" y="152219"/>
                  </a:lnTo>
                  <a:lnTo>
                    <a:pt x="359178" y="134417"/>
                  </a:lnTo>
                  <a:lnTo>
                    <a:pt x="361474" y="117072"/>
                  </a:lnTo>
                  <a:lnTo>
                    <a:pt x="361531" y="100327"/>
                  </a:lnTo>
                  <a:lnTo>
                    <a:pt x="359493" y="84353"/>
                  </a:lnTo>
                  <a:lnTo>
                    <a:pt x="355549" y="69294"/>
                  </a:lnTo>
                  <a:lnTo>
                    <a:pt x="349834" y="55293"/>
                  </a:lnTo>
                  <a:lnTo>
                    <a:pt x="342538" y="42520"/>
                  </a:lnTo>
                  <a:lnTo>
                    <a:pt x="333794" y="31118"/>
                  </a:lnTo>
                  <a:lnTo>
                    <a:pt x="323793" y="21231"/>
                  </a:lnTo>
                  <a:lnTo>
                    <a:pt x="312677" y="13030"/>
                  </a:lnTo>
                  <a:lnTo>
                    <a:pt x="300619" y="6658"/>
                  </a:lnTo>
                  <a:lnTo>
                    <a:pt x="287779" y="2257"/>
                  </a:lnTo>
                  <a:lnTo>
                    <a:pt x="274320" y="0"/>
                  </a:lnTo>
                  <a:lnTo>
                    <a:pt x="255032" y="3029"/>
                  </a:lnTo>
                  <a:lnTo>
                    <a:pt x="236029" y="7487"/>
                  </a:lnTo>
                  <a:lnTo>
                    <a:pt x="217265" y="13259"/>
                  </a:lnTo>
                  <a:lnTo>
                    <a:pt x="198711" y="20250"/>
                  </a:lnTo>
                  <a:lnTo>
                    <a:pt x="180337" y="28365"/>
                  </a:lnTo>
                  <a:lnTo>
                    <a:pt x="162125" y="37490"/>
                  </a:lnTo>
                  <a:lnTo>
                    <a:pt x="144028" y="47530"/>
                  </a:lnTo>
                  <a:lnTo>
                    <a:pt x="126025" y="58388"/>
                  </a:lnTo>
                  <a:lnTo>
                    <a:pt x="108080" y="69952"/>
                  </a:lnTo>
                  <a:lnTo>
                    <a:pt x="90173" y="82125"/>
                  </a:lnTo>
                  <a:lnTo>
                    <a:pt x="72257" y="94812"/>
                  </a:lnTo>
                  <a:lnTo>
                    <a:pt x="54312" y="107899"/>
                  </a:lnTo>
                  <a:lnTo>
                    <a:pt x="36309" y="121291"/>
                  </a:lnTo>
                  <a:lnTo>
                    <a:pt x="18221" y="134893"/>
                  </a:lnTo>
                  <a:lnTo>
                    <a:pt x="0" y="148590"/>
                  </a:lnTo>
                  <a:close/>
                </a:path>
              </a:pathLst>
            </a:custGeom>
            <a:solidFill>
              <a:srgbClr val="49685B"/>
            </a:solidFill>
            <a:ln w="9716">
              <a:solidFill>
                <a:srgbClr val="4A5147"/>
              </a:solidFill>
              <a:prstDash val="solid"/>
            </a:ln>
          </p:spPr>
          <p:txBody>
            <a:bodyPr/>
            <a:lstStyle/>
            <a:p>
              <a:endParaRPr sz="1200"/>
            </a:p>
          </p:txBody>
        </p:sp>
        <p:sp>
          <p:nvSpPr>
            <p:cNvPr id="431" name="s3-local-rooster__contour_431">
              <a:extLst>
                <a:ext uri="{FF2B5EF4-FFF2-40B4-BE49-F238E27FC236}">
                  <a16:creationId xmlns:a16="http://schemas.microsoft.com/office/drawing/2014/main" id="{1B21177E-687E-4D26-92E3-4DFCFE3B41D9}"/>
                </a:ext>
              </a:extLst>
            </p:cNvPr>
            <p:cNvSpPr>
              <a:spLocks/>
            </p:cNvSpPr>
            <p:nvPr/>
          </p:nvSpPr>
          <p:spPr>
            <a:xfrm>
              <a:off x="8676640" y="3587750"/>
              <a:ext cx="194309" cy="209549"/>
            </a:xfrm>
            <a:custGeom>
              <a:avLst/>
              <a:gdLst/>
              <a:ahLst/>
              <a:cxnLst/>
              <a:rect l="0" t="0" r="0" b="0"/>
              <a:pathLst>
                <a:path w="291465" h="314325">
                  <a:moveTo>
                    <a:pt x="0" y="314325"/>
                  </a:moveTo>
                  <a:lnTo>
                    <a:pt x="20002" y="283369"/>
                  </a:lnTo>
                  <a:lnTo>
                    <a:pt x="38995" y="252432"/>
                  </a:lnTo>
                  <a:lnTo>
                    <a:pt x="57198" y="221837"/>
                  </a:lnTo>
                  <a:lnTo>
                    <a:pt x="74819" y="191910"/>
                  </a:lnTo>
                  <a:lnTo>
                    <a:pt x="92078" y="162982"/>
                  </a:lnTo>
                  <a:lnTo>
                    <a:pt x="109176" y="135379"/>
                  </a:lnTo>
                  <a:lnTo>
                    <a:pt x="126349" y="109414"/>
                  </a:lnTo>
                  <a:lnTo>
                    <a:pt x="143780" y="85430"/>
                  </a:lnTo>
                  <a:lnTo>
                    <a:pt x="161715" y="63732"/>
                  </a:lnTo>
                  <a:lnTo>
                    <a:pt x="180337" y="44663"/>
                  </a:lnTo>
                  <a:lnTo>
                    <a:pt x="199882" y="28537"/>
                  </a:lnTo>
                  <a:lnTo>
                    <a:pt x="220551" y="15678"/>
                  </a:lnTo>
                  <a:lnTo>
                    <a:pt x="242564" y="6420"/>
                  </a:lnTo>
                  <a:lnTo>
                    <a:pt x="266128" y="1086"/>
                  </a:lnTo>
                  <a:lnTo>
                    <a:pt x="291465" y="0"/>
                  </a:lnTo>
                </a:path>
              </a:pathLst>
            </a:custGeom>
            <a:noFill/>
            <a:ln w="8001">
              <a:solidFill>
                <a:srgbClr val="5C7D68"/>
              </a:solidFill>
              <a:prstDash val="solid"/>
            </a:ln>
          </p:spPr>
          <p:txBody>
            <a:bodyPr/>
            <a:lstStyle/>
            <a:p>
              <a:endParaRPr sz="1200"/>
            </a:p>
          </p:txBody>
        </p:sp>
        <p:sp>
          <p:nvSpPr>
            <p:cNvPr id="432" name="s3-local-rooster__contour_432">
              <a:extLst>
                <a:ext uri="{FF2B5EF4-FFF2-40B4-BE49-F238E27FC236}">
                  <a16:creationId xmlns:a16="http://schemas.microsoft.com/office/drawing/2014/main" id="{74284D6C-EB0D-4BEE-9CD6-92407C25E8AB}"/>
                </a:ext>
              </a:extLst>
            </p:cNvPr>
            <p:cNvSpPr>
              <a:spLocks/>
            </p:cNvSpPr>
            <p:nvPr/>
          </p:nvSpPr>
          <p:spPr>
            <a:xfrm>
              <a:off x="8695690" y="3665481"/>
              <a:ext cx="194309" cy="154679"/>
            </a:xfrm>
            <a:custGeom>
              <a:avLst/>
              <a:gdLst/>
              <a:ahLst/>
              <a:cxnLst/>
              <a:rect l="0" t="0" r="0" b="0"/>
              <a:pathLst>
                <a:path w="291465" h="232019">
                  <a:moveTo>
                    <a:pt x="0" y="232019"/>
                  </a:moveTo>
                  <a:lnTo>
                    <a:pt x="24698" y="199949"/>
                  </a:lnTo>
                  <a:lnTo>
                    <a:pt x="48501" y="170059"/>
                  </a:lnTo>
                  <a:lnTo>
                    <a:pt x="71457" y="142408"/>
                  </a:lnTo>
                  <a:lnTo>
                    <a:pt x="93593" y="117043"/>
                  </a:lnTo>
                  <a:lnTo>
                    <a:pt x="114938" y="94012"/>
                  </a:lnTo>
                  <a:lnTo>
                    <a:pt x="135512" y="73371"/>
                  </a:lnTo>
                  <a:lnTo>
                    <a:pt x="155362" y="55169"/>
                  </a:lnTo>
                  <a:lnTo>
                    <a:pt x="174508" y="39453"/>
                  </a:lnTo>
                  <a:lnTo>
                    <a:pt x="192986" y="26279"/>
                  </a:lnTo>
                  <a:lnTo>
                    <a:pt x="210817" y="15697"/>
                  </a:lnTo>
                  <a:lnTo>
                    <a:pt x="228048" y="7753"/>
                  </a:lnTo>
                  <a:lnTo>
                    <a:pt x="244697" y="2505"/>
                  </a:lnTo>
                  <a:lnTo>
                    <a:pt x="260794" y="0"/>
                  </a:lnTo>
                  <a:lnTo>
                    <a:pt x="276368" y="286"/>
                  </a:lnTo>
                  <a:lnTo>
                    <a:pt x="291465" y="3419"/>
                  </a:lnTo>
                </a:path>
              </a:pathLst>
            </a:custGeom>
            <a:noFill/>
            <a:ln w="8001">
              <a:solidFill>
                <a:srgbClr val="5C7D68"/>
              </a:solidFill>
              <a:prstDash val="solid"/>
            </a:ln>
          </p:spPr>
          <p:txBody>
            <a:bodyPr/>
            <a:lstStyle/>
            <a:p>
              <a:endParaRPr sz="1200"/>
            </a:p>
          </p:txBody>
        </p:sp>
        <p:sp>
          <p:nvSpPr>
            <p:cNvPr id="433" name="s3-local-rooster__line_433">
              <a:extLst>
                <a:ext uri="{FF2B5EF4-FFF2-40B4-BE49-F238E27FC236}">
                  <a16:creationId xmlns:a16="http://schemas.microsoft.com/office/drawing/2014/main" id="{DE12C760-21E8-4FA7-A52E-8D9DF3EA718E}"/>
                </a:ext>
              </a:extLst>
            </p:cNvPr>
            <p:cNvSpPr>
              <a:spLocks/>
            </p:cNvSpPr>
            <p:nvPr/>
          </p:nvSpPr>
          <p:spPr>
            <a:xfrm>
              <a:off x="8600440" y="3926840"/>
              <a:ext cx="7619" cy="72389"/>
            </a:xfrm>
            <a:custGeom>
              <a:avLst/>
              <a:gdLst/>
              <a:ahLst/>
              <a:cxnLst/>
              <a:rect l="0" t="0" r="0" b="0"/>
              <a:pathLst>
                <a:path w="11430" h="108585">
                  <a:moveTo>
                    <a:pt x="11430" y="0"/>
                  </a:moveTo>
                  <a:lnTo>
                    <a:pt x="0" y="108585"/>
                  </a:lnTo>
                </a:path>
              </a:pathLst>
            </a:custGeom>
            <a:noFill/>
            <a:ln w="17145">
              <a:solidFill>
                <a:srgbClr val="B68C45"/>
              </a:solidFill>
              <a:prstDash val="solid"/>
            </a:ln>
          </p:spPr>
          <p:txBody>
            <a:bodyPr/>
            <a:lstStyle/>
            <a:p>
              <a:endParaRPr sz="1200"/>
            </a:p>
          </p:txBody>
        </p:sp>
        <p:sp>
          <p:nvSpPr>
            <p:cNvPr id="434" name="s3-local-rooster__line_434">
              <a:extLst>
                <a:ext uri="{FF2B5EF4-FFF2-40B4-BE49-F238E27FC236}">
                  <a16:creationId xmlns:a16="http://schemas.microsoft.com/office/drawing/2014/main" id="{1F2A6D29-9001-49D9-9678-9504D65530AE}"/>
                </a:ext>
              </a:extLst>
            </p:cNvPr>
            <p:cNvSpPr>
              <a:spLocks/>
            </p:cNvSpPr>
            <p:nvPr/>
          </p:nvSpPr>
          <p:spPr>
            <a:xfrm>
              <a:off x="8604250" y="3991610"/>
              <a:ext cx="38099" cy="19049"/>
            </a:xfrm>
            <a:custGeom>
              <a:avLst/>
              <a:gdLst/>
              <a:ahLst/>
              <a:cxnLst/>
              <a:rect l="0" t="0" r="0" b="0"/>
              <a:pathLst>
                <a:path w="57150" h="28575">
                  <a:moveTo>
                    <a:pt x="0" y="0"/>
                  </a:moveTo>
                  <a:lnTo>
                    <a:pt x="57150" y="28575"/>
                  </a:lnTo>
                </a:path>
              </a:pathLst>
            </a:custGeom>
            <a:noFill/>
            <a:ln w="13716">
              <a:solidFill>
                <a:srgbClr val="B68C45"/>
              </a:solidFill>
              <a:prstDash val="solid"/>
            </a:ln>
          </p:spPr>
          <p:txBody>
            <a:bodyPr/>
            <a:lstStyle/>
            <a:p>
              <a:endParaRPr sz="1200"/>
            </a:p>
          </p:txBody>
        </p:sp>
        <p:sp>
          <p:nvSpPr>
            <p:cNvPr id="435" name="s3-local-rooster__line_435">
              <a:extLst>
                <a:ext uri="{FF2B5EF4-FFF2-40B4-BE49-F238E27FC236}">
                  <a16:creationId xmlns:a16="http://schemas.microsoft.com/office/drawing/2014/main" id="{48F5F574-71FD-4CBF-88F3-C1FCA7FB4507}"/>
                </a:ext>
              </a:extLst>
            </p:cNvPr>
            <p:cNvSpPr>
              <a:spLocks/>
            </p:cNvSpPr>
            <p:nvPr/>
          </p:nvSpPr>
          <p:spPr>
            <a:xfrm>
              <a:off x="8562340" y="3995420"/>
              <a:ext cx="41909" cy="15239"/>
            </a:xfrm>
            <a:custGeom>
              <a:avLst/>
              <a:gdLst/>
              <a:ahLst/>
              <a:cxnLst/>
              <a:rect l="0" t="0" r="0" b="0"/>
              <a:pathLst>
                <a:path w="62865" h="22860">
                  <a:moveTo>
                    <a:pt x="62865" y="0"/>
                  </a:moveTo>
                  <a:lnTo>
                    <a:pt x="0" y="22860"/>
                  </a:lnTo>
                </a:path>
              </a:pathLst>
            </a:custGeom>
            <a:noFill/>
            <a:ln w="13716">
              <a:solidFill>
                <a:srgbClr val="B68C45"/>
              </a:solidFill>
              <a:prstDash val="solid"/>
            </a:ln>
          </p:spPr>
          <p:txBody>
            <a:bodyPr/>
            <a:lstStyle/>
            <a:p>
              <a:endParaRPr sz="1200"/>
            </a:p>
          </p:txBody>
        </p:sp>
        <p:sp>
          <p:nvSpPr>
            <p:cNvPr id="436" name="s3-local-rooster__line_436">
              <a:extLst>
                <a:ext uri="{FF2B5EF4-FFF2-40B4-BE49-F238E27FC236}">
                  <a16:creationId xmlns:a16="http://schemas.microsoft.com/office/drawing/2014/main" id="{F5A492FF-C0EA-44FE-B1FF-04C883D19364}"/>
                </a:ext>
              </a:extLst>
            </p:cNvPr>
            <p:cNvSpPr>
              <a:spLocks/>
            </p:cNvSpPr>
            <p:nvPr/>
          </p:nvSpPr>
          <p:spPr>
            <a:xfrm>
              <a:off x="8520430" y="3923030"/>
              <a:ext cx="7619" cy="76199"/>
            </a:xfrm>
            <a:custGeom>
              <a:avLst/>
              <a:gdLst/>
              <a:ahLst/>
              <a:cxnLst/>
              <a:rect l="0" t="0" r="0" b="0"/>
              <a:pathLst>
                <a:path w="11430" h="114300">
                  <a:moveTo>
                    <a:pt x="11430" y="0"/>
                  </a:moveTo>
                  <a:lnTo>
                    <a:pt x="0" y="114300"/>
                  </a:lnTo>
                </a:path>
              </a:pathLst>
            </a:custGeom>
            <a:noFill/>
            <a:ln w="17145">
              <a:solidFill>
                <a:srgbClr val="B68C45"/>
              </a:solidFill>
              <a:prstDash val="solid"/>
            </a:ln>
          </p:spPr>
          <p:txBody>
            <a:bodyPr/>
            <a:lstStyle/>
            <a:p>
              <a:endParaRPr sz="1200"/>
            </a:p>
          </p:txBody>
        </p:sp>
        <p:sp>
          <p:nvSpPr>
            <p:cNvPr id="437" name="s3-local-rooster__line_437">
              <a:extLst>
                <a:ext uri="{FF2B5EF4-FFF2-40B4-BE49-F238E27FC236}">
                  <a16:creationId xmlns:a16="http://schemas.microsoft.com/office/drawing/2014/main" id="{96F098BF-1B01-4E4F-8539-60178DA83EBE}"/>
                </a:ext>
              </a:extLst>
            </p:cNvPr>
            <p:cNvSpPr>
              <a:spLocks/>
            </p:cNvSpPr>
            <p:nvPr/>
          </p:nvSpPr>
          <p:spPr>
            <a:xfrm>
              <a:off x="8524240" y="3995420"/>
              <a:ext cx="30479" cy="19049"/>
            </a:xfrm>
            <a:custGeom>
              <a:avLst/>
              <a:gdLst/>
              <a:ahLst/>
              <a:cxnLst/>
              <a:rect l="0" t="0" r="0" b="0"/>
              <a:pathLst>
                <a:path w="45720" h="28575">
                  <a:moveTo>
                    <a:pt x="0" y="0"/>
                  </a:moveTo>
                  <a:lnTo>
                    <a:pt x="45720" y="28575"/>
                  </a:lnTo>
                </a:path>
              </a:pathLst>
            </a:custGeom>
            <a:noFill/>
            <a:ln w="13716">
              <a:solidFill>
                <a:srgbClr val="B68C45"/>
              </a:solidFill>
              <a:prstDash val="solid"/>
            </a:ln>
          </p:spPr>
          <p:txBody>
            <a:bodyPr/>
            <a:lstStyle/>
            <a:p>
              <a:endParaRPr sz="1200"/>
            </a:p>
          </p:txBody>
        </p:sp>
        <p:sp>
          <p:nvSpPr>
            <p:cNvPr id="438" name="s3-local-rooster__line_438">
              <a:extLst>
                <a:ext uri="{FF2B5EF4-FFF2-40B4-BE49-F238E27FC236}">
                  <a16:creationId xmlns:a16="http://schemas.microsoft.com/office/drawing/2014/main" id="{A0E57461-C77E-4CC9-B035-B5915ADB045E}"/>
                </a:ext>
              </a:extLst>
            </p:cNvPr>
            <p:cNvSpPr>
              <a:spLocks/>
            </p:cNvSpPr>
            <p:nvPr/>
          </p:nvSpPr>
          <p:spPr>
            <a:xfrm>
              <a:off x="8486140" y="3995420"/>
              <a:ext cx="38099" cy="15239"/>
            </a:xfrm>
            <a:custGeom>
              <a:avLst/>
              <a:gdLst/>
              <a:ahLst/>
              <a:cxnLst/>
              <a:rect l="0" t="0" r="0" b="0"/>
              <a:pathLst>
                <a:path w="57150" h="22860">
                  <a:moveTo>
                    <a:pt x="57150" y="0"/>
                  </a:moveTo>
                  <a:lnTo>
                    <a:pt x="0" y="22860"/>
                  </a:lnTo>
                </a:path>
              </a:pathLst>
            </a:custGeom>
            <a:noFill/>
            <a:ln w="13716">
              <a:solidFill>
                <a:srgbClr val="B68C45"/>
              </a:solidFill>
              <a:prstDash val="solid"/>
            </a:ln>
          </p:spPr>
          <p:txBody>
            <a:bodyPr/>
            <a:lstStyle/>
            <a:p>
              <a:endParaRPr sz="1200"/>
            </a:p>
          </p:txBody>
        </p:sp>
        <p:sp>
          <p:nvSpPr>
            <p:cNvPr id="439" name="s3-local-rooster__contour_439">
              <a:extLst>
                <a:ext uri="{FF2B5EF4-FFF2-40B4-BE49-F238E27FC236}">
                  <a16:creationId xmlns:a16="http://schemas.microsoft.com/office/drawing/2014/main" id="{7E4095AE-8894-48FE-B171-415104AB53A5}"/>
                </a:ext>
              </a:extLst>
            </p:cNvPr>
            <p:cNvSpPr>
              <a:spLocks/>
            </p:cNvSpPr>
            <p:nvPr/>
          </p:nvSpPr>
          <p:spPr>
            <a:xfrm>
              <a:off x="8428444" y="3595446"/>
              <a:ext cx="292150" cy="344131"/>
            </a:xfrm>
            <a:custGeom>
              <a:avLst/>
              <a:gdLst/>
              <a:ahLst/>
              <a:cxnLst/>
              <a:rect l="0" t="0" r="0" b="0"/>
              <a:pathLst>
                <a:path w="438226" h="516198">
                  <a:moveTo>
                    <a:pt x="423729" y="245631"/>
                  </a:moveTo>
                  <a:lnTo>
                    <a:pt x="408870" y="234220"/>
                  </a:lnTo>
                  <a:lnTo>
                    <a:pt x="394011" y="224923"/>
                  </a:lnTo>
                  <a:lnTo>
                    <a:pt x="379152" y="217418"/>
                  </a:lnTo>
                  <a:lnTo>
                    <a:pt x="364293" y="211379"/>
                  </a:lnTo>
                  <a:lnTo>
                    <a:pt x="349434" y="206473"/>
                  </a:lnTo>
                  <a:lnTo>
                    <a:pt x="334575" y="202378"/>
                  </a:lnTo>
                  <a:lnTo>
                    <a:pt x="319716" y="198777"/>
                  </a:lnTo>
                  <a:lnTo>
                    <a:pt x="304857" y="195329"/>
                  </a:lnTo>
                  <a:lnTo>
                    <a:pt x="289998" y="191729"/>
                  </a:lnTo>
                  <a:lnTo>
                    <a:pt x="275139" y="187633"/>
                  </a:lnTo>
                  <a:lnTo>
                    <a:pt x="260280" y="182728"/>
                  </a:lnTo>
                  <a:lnTo>
                    <a:pt x="245421" y="176689"/>
                  </a:lnTo>
                  <a:lnTo>
                    <a:pt x="230562" y="169183"/>
                  </a:lnTo>
                  <a:lnTo>
                    <a:pt x="215703" y="159887"/>
                  </a:lnTo>
                  <a:lnTo>
                    <a:pt x="200844" y="148476"/>
                  </a:lnTo>
                  <a:lnTo>
                    <a:pt x="196815" y="131369"/>
                  </a:lnTo>
                  <a:lnTo>
                    <a:pt x="191643" y="114452"/>
                  </a:lnTo>
                  <a:lnTo>
                    <a:pt x="185395" y="97955"/>
                  </a:lnTo>
                  <a:lnTo>
                    <a:pt x="178137" y="82067"/>
                  </a:lnTo>
                  <a:lnTo>
                    <a:pt x="169945" y="66980"/>
                  </a:lnTo>
                  <a:lnTo>
                    <a:pt x="160887" y="52921"/>
                  </a:lnTo>
                  <a:lnTo>
                    <a:pt x="151038" y="40081"/>
                  </a:lnTo>
                  <a:lnTo>
                    <a:pt x="140465" y="28651"/>
                  </a:lnTo>
                  <a:lnTo>
                    <a:pt x="129245" y="18860"/>
                  </a:lnTo>
                  <a:lnTo>
                    <a:pt x="117443" y="10897"/>
                  </a:lnTo>
                  <a:lnTo>
                    <a:pt x="105137" y="4953"/>
                  </a:lnTo>
                  <a:lnTo>
                    <a:pt x="92392" y="1257"/>
                  </a:lnTo>
                  <a:lnTo>
                    <a:pt x="79286" y="0"/>
                  </a:lnTo>
                  <a:lnTo>
                    <a:pt x="65884" y="1372"/>
                  </a:lnTo>
                  <a:lnTo>
                    <a:pt x="52254" y="5601"/>
                  </a:lnTo>
                  <a:lnTo>
                    <a:pt x="41434" y="9773"/>
                  </a:lnTo>
                  <a:lnTo>
                    <a:pt x="31842" y="15335"/>
                  </a:lnTo>
                  <a:lnTo>
                    <a:pt x="23498" y="22155"/>
                  </a:lnTo>
                  <a:lnTo>
                    <a:pt x="16393" y="30099"/>
                  </a:lnTo>
                  <a:lnTo>
                    <a:pt x="10554" y="39043"/>
                  </a:lnTo>
                  <a:lnTo>
                    <a:pt x="5982" y="48854"/>
                  </a:lnTo>
                  <a:lnTo>
                    <a:pt x="2696" y="59388"/>
                  </a:lnTo>
                  <a:lnTo>
                    <a:pt x="695" y="70533"/>
                  </a:lnTo>
                  <a:lnTo>
                    <a:pt x="0" y="82134"/>
                  </a:lnTo>
                  <a:lnTo>
                    <a:pt x="610" y="94078"/>
                  </a:lnTo>
                  <a:lnTo>
                    <a:pt x="2543" y="106223"/>
                  </a:lnTo>
                  <a:lnTo>
                    <a:pt x="5801" y="118434"/>
                  </a:lnTo>
                  <a:lnTo>
                    <a:pt x="10411" y="130588"/>
                  </a:lnTo>
                  <a:lnTo>
                    <a:pt x="16364" y="142551"/>
                  </a:lnTo>
                  <a:lnTo>
                    <a:pt x="23679" y="154191"/>
                  </a:lnTo>
                  <a:lnTo>
                    <a:pt x="29232" y="162125"/>
                  </a:lnTo>
                  <a:lnTo>
                    <a:pt x="34442" y="169955"/>
                  </a:lnTo>
                  <a:lnTo>
                    <a:pt x="39272" y="177736"/>
                  </a:lnTo>
                  <a:lnTo>
                    <a:pt x="43663" y="185518"/>
                  </a:lnTo>
                  <a:lnTo>
                    <a:pt x="47596" y="193348"/>
                  </a:lnTo>
                  <a:lnTo>
                    <a:pt x="51016" y="201282"/>
                  </a:lnTo>
                  <a:lnTo>
                    <a:pt x="53892" y="209369"/>
                  </a:lnTo>
                  <a:lnTo>
                    <a:pt x="56178" y="217656"/>
                  </a:lnTo>
                  <a:lnTo>
                    <a:pt x="57836" y="226200"/>
                  </a:lnTo>
                  <a:lnTo>
                    <a:pt x="58817" y="235048"/>
                  </a:lnTo>
                  <a:lnTo>
                    <a:pt x="59093" y="244250"/>
                  </a:lnTo>
                  <a:lnTo>
                    <a:pt x="58607" y="253860"/>
                  </a:lnTo>
                  <a:lnTo>
                    <a:pt x="57340" y="263928"/>
                  </a:lnTo>
                  <a:lnTo>
                    <a:pt x="55235" y="274501"/>
                  </a:lnTo>
                  <a:lnTo>
                    <a:pt x="52254" y="285636"/>
                  </a:lnTo>
                  <a:lnTo>
                    <a:pt x="43463" y="303838"/>
                  </a:lnTo>
                  <a:lnTo>
                    <a:pt x="37528" y="321812"/>
                  </a:lnTo>
                  <a:lnTo>
                    <a:pt x="34290" y="339490"/>
                  </a:lnTo>
                  <a:lnTo>
                    <a:pt x="33538" y="356807"/>
                  </a:lnTo>
                  <a:lnTo>
                    <a:pt x="35109" y="373685"/>
                  </a:lnTo>
                  <a:lnTo>
                    <a:pt x="38814" y="390058"/>
                  </a:lnTo>
                  <a:lnTo>
                    <a:pt x="44463" y="405851"/>
                  </a:lnTo>
                  <a:lnTo>
                    <a:pt x="51892" y="420995"/>
                  </a:lnTo>
                  <a:lnTo>
                    <a:pt x="60893" y="435416"/>
                  </a:lnTo>
                  <a:lnTo>
                    <a:pt x="71304" y="449047"/>
                  </a:lnTo>
                  <a:lnTo>
                    <a:pt x="82934" y="461810"/>
                  </a:lnTo>
                  <a:lnTo>
                    <a:pt x="95593" y="473640"/>
                  </a:lnTo>
                  <a:lnTo>
                    <a:pt x="109118" y="484461"/>
                  </a:lnTo>
                  <a:lnTo>
                    <a:pt x="123301" y="494205"/>
                  </a:lnTo>
                  <a:lnTo>
                    <a:pt x="137979" y="502806"/>
                  </a:lnTo>
                  <a:lnTo>
                    <a:pt x="156762" y="509597"/>
                  </a:lnTo>
                  <a:lnTo>
                    <a:pt x="176422" y="514036"/>
                  </a:lnTo>
                  <a:lnTo>
                    <a:pt x="196729" y="516198"/>
                  </a:lnTo>
                  <a:lnTo>
                    <a:pt x="217494" y="516169"/>
                  </a:lnTo>
                  <a:lnTo>
                    <a:pt x="238525" y="514026"/>
                  </a:lnTo>
                  <a:lnTo>
                    <a:pt x="259594" y="509845"/>
                  </a:lnTo>
                  <a:lnTo>
                    <a:pt x="280511" y="503720"/>
                  </a:lnTo>
                  <a:lnTo>
                    <a:pt x="301085" y="495719"/>
                  </a:lnTo>
                  <a:lnTo>
                    <a:pt x="321088" y="485937"/>
                  </a:lnTo>
                  <a:lnTo>
                    <a:pt x="340328" y="474440"/>
                  </a:lnTo>
                  <a:lnTo>
                    <a:pt x="358616" y="461324"/>
                  </a:lnTo>
                  <a:lnTo>
                    <a:pt x="375723" y="446665"/>
                  </a:lnTo>
                  <a:lnTo>
                    <a:pt x="391458" y="430540"/>
                  </a:lnTo>
                  <a:lnTo>
                    <a:pt x="405632" y="413033"/>
                  </a:lnTo>
                  <a:lnTo>
                    <a:pt x="418014" y="394221"/>
                  </a:lnTo>
                  <a:lnTo>
                    <a:pt x="422358" y="381943"/>
                  </a:lnTo>
                  <a:lnTo>
                    <a:pt x="426215" y="370227"/>
                  </a:lnTo>
                  <a:lnTo>
                    <a:pt x="429577" y="359016"/>
                  </a:lnTo>
                  <a:lnTo>
                    <a:pt x="432425" y="348263"/>
                  </a:lnTo>
                  <a:lnTo>
                    <a:pt x="434740" y="337918"/>
                  </a:lnTo>
                  <a:lnTo>
                    <a:pt x="436483" y="327927"/>
                  </a:lnTo>
                  <a:lnTo>
                    <a:pt x="437655" y="318240"/>
                  </a:lnTo>
                  <a:lnTo>
                    <a:pt x="438226" y="308810"/>
                  </a:lnTo>
                  <a:lnTo>
                    <a:pt x="438179" y="299580"/>
                  </a:lnTo>
                  <a:lnTo>
                    <a:pt x="437483" y="290503"/>
                  </a:lnTo>
                  <a:lnTo>
                    <a:pt x="436140" y="281530"/>
                  </a:lnTo>
                  <a:lnTo>
                    <a:pt x="434111" y="272606"/>
                  </a:lnTo>
                  <a:lnTo>
                    <a:pt x="431378" y="263681"/>
                  </a:lnTo>
                  <a:lnTo>
                    <a:pt x="427920" y="254708"/>
                  </a:lnTo>
                  <a:lnTo>
                    <a:pt x="423729" y="245631"/>
                  </a:lnTo>
                  <a:close/>
                </a:path>
              </a:pathLst>
            </a:custGeom>
            <a:solidFill>
              <a:srgbClr val="A2673E"/>
            </a:solidFill>
            <a:ln w="9716">
              <a:solidFill>
                <a:srgbClr val="4A5147"/>
              </a:solidFill>
              <a:prstDash val="solid"/>
            </a:ln>
          </p:spPr>
          <p:txBody>
            <a:bodyPr/>
            <a:lstStyle/>
            <a:p>
              <a:endParaRPr sz="1200"/>
            </a:p>
          </p:txBody>
        </p:sp>
        <p:sp>
          <p:nvSpPr>
            <p:cNvPr id="440" name="s3-local-rooster__contour_440">
              <a:extLst>
                <a:ext uri="{FF2B5EF4-FFF2-40B4-BE49-F238E27FC236}">
                  <a16:creationId xmlns:a16="http://schemas.microsoft.com/office/drawing/2014/main" id="{7A4D5C62-C6A9-4873-9244-E44427DDC420}"/>
                </a:ext>
              </a:extLst>
            </p:cNvPr>
            <p:cNvSpPr>
              <a:spLocks/>
            </p:cNvSpPr>
            <p:nvPr/>
          </p:nvSpPr>
          <p:spPr>
            <a:xfrm>
              <a:off x="8455749" y="3724910"/>
              <a:ext cx="205651" cy="210705"/>
            </a:xfrm>
            <a:custGeom>
              <a:avLst/>
              <a:gdLst/>
              <a:ahLst/>
              <a:cxnLst/>
              <a:rect l="0" t="0" r="0" b="0"/>
              <a:pathLst>
                <a:path w="308477" h="316059">
                  <a:moveTo>
                    <a:pt x="154172" y="0"/>
                  </a:moveTo>
                  <a:lnTo>
                    <a:pt x="142675" y="1524"/>
                  </a:lnTo>
                  <a:lnTo>
                    <a:pt x="131112" y="3839"/>
                  </a:lnTo>
                  <a:lnTo>
                    <a:pt x="119558" y="6953"/>
                  </a:lnTo>
                  <a:lnTo>
                    <a:pt x="108099" y="10887"/>
                  </a:lnTo>
                  <a:lnTo>
                    <a:pt x="96812" y="15659"/>
                  </a:lnTo>
                  <a:lnTo>
                    <a:pt x="85773" y="21307"/>
                  </a:lnTo>
                  <a:lnTo>
                    <a:pt x="75076" y="27832"/>
                  </a:lnTo>
                  <a:lnTo>
                    <a:pt x="64789" y="35262"/>
                  </a:lnTo>
                  <a:lnTo>
                    <a:pt x="55007" y="43615"/>
                  </a:lnTo>
                  <a:lnTo>
                    <a:pt x="45796" y="52921"/>
                  </a:lnTo>
                  <a:lnTo>
                    <a:pt x="37252" y="63179"/>
                  </a:lnTo>
                  <a:lnTo>
                    <a:pt x="29451" y="74428"/>
                  </a:lnTo>
                  <a:lnTo>
                    <a:pt x="22469" y="86687"/>
                  </a:lnTo>
                  <a:lnTo>
                    <a:pt x="16393" y="99974"/>
                  </a:lnTo>
                  <a:lnTo>
                    <a:pt x="11297" y="114300"/>
                  </a:lnTo>
                  <a:lnTo>
                    <a:pt x="4782" y="132493"/>
                  </a:lnTo>
                  <a:lnTo>
                    <a:pt x="1095" y="150419"/>
                  </a:lnTo>
                  <a:lnTo>
                    <a:pt x="0" y="167973"/>
                  </a:lnTo>
                  <a:lnTo>
                    <a:pt x="1295" y="185042"/>
                  </a:lnTo>
                  <a:lnTo>
                    <a:pt x="4734" y="201511"/>
                  </a:lnTo>
                  <a:lnTo>
                    <a:pt x="10106" y="217265"/>
                  </a:lnTo>
                  <a:lnTo>
                    <a:pt x="17183" y="232191"/>
                  </a:lnTo>
                  <a:lnTo>
                    <a:pt x="25756" y="246193"/>
                  </a:lnTo>
                  <a:lnTo>
                    <a:pt x="35576" y="259137"/>
                  </a:lnTo>
                  <a:lnTo>
                    <a:pt x="46434" y="270929"/>
                  </a:lnTo>
                  <a:lnTo>
                    <a:pt x="58102" y="281454"/>
                  </a:lnTo>
                  <a:lnTo>
                    <a:pt x="70371" y="290598"/>
                  </a:lnTo>
                  <a:lnTo>
                    <a:pt x="82991" y="298247"/>
                  </a:lnTo>
                  <a:lnTo>
                    <a:pt x="95764" y="304286"/>
                  </a:lnTo>
                  <a:lnTo>
                    <a:pt x="108452" y="308610"/>
                  </a:lnTo>
                  <a:lnTo>
                    <a:pt x="125511" y="313201"/>
                  </a:lnTo>
                  <a:lnTo>
                    <a:pt x="142342" y="315639"/>
                  </a:lnTo>
                  <a:lnTo>
                    <a:pt x="158877" y="316059"/>
                  </a:lnTo>
                  <a:lnTo>
                    <a:pt x="175050" y="314592"/>
                  </a:lnTo>
                  <a:lnTo>
                    <a:pt x="190786" y="311363"/>
                  </a:lnTo>
                  <a:lnTo>
                    <a:pt x="206016" y="306505"/>
                  </a:lnTo>
                  <a:lnTo>
                    <a:pt x="220666" y="300161"/>
                  </a:lnTo>
                  <a:lnTo>
                    <a:pt x="234667" y="292446"/>
                  </a:lnTo>
                  <a:lnTo>
                    <a:pt x="247945" y="283512"/>
                  </a:lnTo>
                  <a:lnTo>
                    <a:pt x="260433" y="273472"/>
                  </a:lnTo>
                  <a:lnTo>
                    <a:pt x="272053" y="262471"/>
                  </a:lnTo>
                  <a:lnTo>
                    <a:pt x="282740" y="250641"/>
                  </a:lnTo>
                  <a:lnTo>
                    <a:pt x="292418" y="238106"/>
                  </a:lnTo>
                  <a:lnTo>
                    <a:pt x="301019" y="225000"/>
                  </a:lnTo>
                  <a:lnTo>
                    <a:pt x="308477" y="211455"/>
                  </a:lnTo>
                  <a:lnTo>
                    <a:pt x="293989" y="206131"/>
                  </a:lnTo>
                  <a:lnTo>
                    <a:pt x="280245" y="199330"/>
                  </a:lnTo>
                  <a:lnTo>
                    <a:pt x="267195" y="191110"/>
                  </a:lnTo>
                  <a:lnTo>
                    <a:pt x="254813" y="181518"/>
                  </a:lnTo>
                  <a:lnTo>
                    <a:pt x="243068" y="170602"/>
                  </a:lnTo>
                  <a:lnTo>
                    <a:pt x="231943" y="158420"/>
                  </a:lnTo>
                  <a:lnTo>
                    <a:pt x="221390" y="145018"/>
                  </a:lnTo>
                  <a:lnTo>
                    <a:pt x="211388" y="130445"/>
                  </a:lnTo>
                  <a:lnTo>
                    <a:pt x="201901" y="114757"/>
                  </a:lnTo>
                  <a:lnTo>
                    <a:pt x="192910" y="98003"/>
                  </a:lnTo>
                  <a:lnTo>
                    <a:pt x="184366" y="80229"/>
                  </a:lnTo>
                  <a:lnTo>
                    <a:pt x="176251" y="61493"/>
                  </a:lnTo>
                  <a:lnTo>
                    <a:pt x="168535" y="41843"/>
                  </a:lnTo>
                  <a:lnTo>
                    <a:pt x="161192" y="21326"/>
                  </a:lnTo>
                  <a:lnTo>
                    <a:pt x="154172" y="0"/>
                  </a:lnTo>
                  <a:close/>
                </a:path>
              </a:pathLst>
            </a:custGeom>
            <a:solidFill>
              <a:srgbClr val="655F48"/>
            </a:solidFill>
            <a:ln w="9716">
              <a:noFill/>
              <a:prstDash val="solid"/>
            </a:ln>
          </p:spPr>
          <p:txBody>
            <a:bodyPr/>
            <a:lstStyle/>
            <a:p>
              <a:endParaRPr sz="1200"/>
            </a:p>
          </p:txBody>
        </p:sp>
        <p:sp>
          <p:nvSpPr>
            <p:cNvPr id="441" name="s3-local-rooster__contour_441">
              <a:extLst>
                <a:ext uri="{FF2B5EF4-FFF2-40B4-BE49-F238E27FC236}">
                  <a16:creationId xmlns:a16="http://schemas.microsoft.com/office/drawing/2014/main" id="{E28E3092-6CAA-4E4D-BC3E-4389D75A4076}"/>
                </a:ext>
              </a:extLst>
            </p:cNvPr>
            <p:cNvSpPr>
              <a:spLocks/>
            </p:cNvSpPr>
            <p:nvPr/>
          </p:nvSpPr>
          <p:spPr>
            <a:xfrm>
              <a:off x="8441468" y="3601129"/>
              <a:ext cx="132301" cy="215220"/>
            </a:xfrm>
            <a:custGeom>
              <a:avLst/>
              <a:gdLst/>
              <a:ahLst/>
              <a:cxnLst/>
              <a:rect l="0" t="0" r="0" b="0"/>
              <a:pathLst>
                <a:path w="198453" h="322831">
                  <a:moveTo>
                    <a:pt x="112728" y="42796"/>
                  </a:moveTo>
                  <a:lnTo>
                    <a:pt x="110852" y="34042"/>
                  </a:lnTo>
                  <a:lnTo>
                    <a:pt x="107594" y="26127"/>
                  </a:lnTo>
                  <a:lnTo>
                    <a:pt x="103127" y="19117"/>
                  </a:lnTo>
                  <a:lnTo>
                    <a:pt x="97593" y="13078"/>
                  </a:lnTo>
                  <a:lnTo>
                    <a:pt x="91135" y="8087"/>
                  </a:lnTo>
                  <a:lnTo>
                    <a:pt x="83925" y="4210"/>
                  </a:lnTo>
                  <a:lnTo>
                    <a:pt x="76105" y="1524"/>
                  </a:lnTo>
                  <a:lnTo>
                    <a:pt x="67818" y="95"/>
                  </a:lnTo>
                  <a:lnTo>
                    <a:pt x="59236" y="0"/>
                  </a:lnTo>
                  <a:lnTo>
                    <a:pt x="50502" y="1305"/>
                  </a:lnTo>
                  <a:lnTo>
                    <a:pt x="41758" y="4086"/>
                  </a:lnTo>
                  <a:lnTo>
                    <a:pt x="33176" y="8411"/>
                  </a:lnTo>
                  <a:lnTo>
                    <a:pt x="24898" y="14354"/>
                  </a:lnTo>
                  <a:lnTo>
                    <a:pt x="17069" y="21984"/>
                  </a:lnTo>
                  <a:lnTo>
                    <a:pt x="9858" y="31366"/>
                  </a:lnTo>
                  <a:lnTo>
                    <a:pt x="5029" y="42863"/>
                  </a:lnTo>
                  <a:lnTo>
                    <a:pt x="1886" y="54473"/>
                  </a:lnTo>
                  <a:lnTo>
                    <a:pt x="257" y="66161"/>
                  </a:lnTo>
                  <a:lnTo>
                    <a:pt x="0" y="77867"/>
                  </a:lnTo>
                  <a:lnTo>
                    <a:pt x="972" y="89573"/>
                  </a:lnTo>
                  <a:lnTo>
                    <a:pt x="3000" y="101222"/>
                  </a:lnTo>
                  <a:lnTo>
                    <a:pt x="5944" y="112786"/>
                  </a:lnTo>
                  <a:lnTo>
                    <a:pt x="9658" y="124216"/>
                  </a:lnTo>
                  <a:lnTo>
                    <a:pt x="13973" y="135474"/>
                  </a:lnTo>
                  <a:lnTo>
                    <a:pt x="18745" y="146514"/>
                  </a:lnTo>
                  <a:lnTo>
                    <a:pt x="23832" y="157305"/>
                  </a:lnTo>
                  <a:lnTo>
                    <a:pt x="29061" y="167792"/>
                  </a:lnTo>
                  <a:lnTo>
                    <a:pt x="34290" y="177956"/>
                  </a:lnTo>
                  <a:lnTo>
                    <a:pt x="39376" y="187738"/>
                  </a:lnTo>
                  <a:lnTo>
                    <a:pt x="44148" y="197101"/>
                  </a:lnTo>
                  <a:lnTo>
                    <a:pt x="49863" y="294256"/>
                  </a:lnTo>
                  <a:lnTo>
                    <a:pt x="78438" y="254251"/>
                  </a:lnTo>
                  <a:lnTo>
                    <a:pt x="95583" y="322831"/>
                  </a:lnTo>
                  <a:lnTo>
                    <a:pt x="124158" y="271396"/>
                  </a:lnTo>
                  <a:lnTo>
                    <a:pt x="158448" y="311401"/>
                  </a:lnTo>
                  <a:lnTo>
                    <a:pt x="164163" y="225676"/>
                  </a:lnTo>
                  <a:lnTo>
                    <a:pt x="198453" y="242821"/>
                  </a:lnTo>
                  <a:lnTo>
                    <a:pt x="189605" y="223276"/>
                  </a:lnTo>
                  <a:lnTo>
                    <a:pt x="181346" y="205626"/>
                  </a:lnTo>
                  <a:lnTo>
                    <a:pt x="173631" y="189652"/>
                  </a:lnTo>
                  <a:lnTo>
                    <a:pt x="166430" y="175098"/>
                  </a:lnTo>
                  <a:lnTo>
                    <a:pt x="159715" y="161754"/>
                  </a:lnTo>
                  <a:lnTo>
                    <a:pt x="153467" y="149371"/>
                  </a:lnTo>
                  <a:lnTo>
                    <a:pt x="147638" y="137722"/>
                  </a:lnTo>
                  <a:lnTo>
                    <a:pt x="142208" y="126559"/>
                  </a:lnTo>
                  <a:lnTo>
                    <a:pt x="137141" y="115672"/>
                  </a:lnTo>
                  <a:lnTo>
                    <a:pt x="132417" y="104813"/>
                  </a:lnTo>
                  <a:lnTo>
                    <a:pt x="127987" y="93755"/>
                  </a:lnTo>
                  <a:lnTo>
                    <a:pt x="123835" y="82248"/>
                  </a:lnTo>
                  <a:lnTo>
                    <a:pt x="119929" y="70085"/>
                  </a:lnTo>
                  <a:lnTo>
                    <a:pt x="116243" y="57007"/>
                  </a:lnTo>
                  <a:lnTo>
                    <a:pt x="112728" y="42796"/>
                  </a:lnTo>
                  <a:close/>
                </a:path>
              </a:pathLst>
            </a:custGeom>
            <a:solidFill>
              <a:srgbClr val="C69757"/>
            </a:solidFill>
            <a:ln w="6287">
              <a:solidFill>
                <a:srgbClr val="8D683E"/>
              </a:solidFill>
              <a:prstDash val="solid"/>
            </a:ln>
          </p:spPr>
          <p:txBody>
            <a:bodyPr/>
            <a:lstStyle/>
            <a:p>
              <a:endParaRPr sz="1200"/>
            </a:p>
          </p:txBody>
        </p:sp>
        <p:sp>
          <p:nvSpPr>
            <p:cNvPr id="442" name="s3-local-rooster__line_442">
              <a:extLst>
                <a:ext uri="{FF2B5EF4-FFF2-40B4-BE49-F238E27FC236}">
                  <a16:creationId xmlns:a16="http://schemas.microsoft.com/office/drawing/2014/main" id="{1A0BC8F2-2B0E-4BCA-89E3-7F3CBED71D62}"/>
                </a:ext>
              </a:extLst>
            </p:cNvPr>
            <p:cNvSpPr>
              <a:spLocks/>
            </p:cNvSpPr>
            <p:nvPr/>
          </p:nvSpPr>
          <p:spPr>
            <a:xfrm>
              <a:off x="8512810" y="3671570"/>
              <a:ext cx="26669" cy="76199"/>
            </a:xfrm>
            <a:custGeom>
              <a:avLst/>
              <a:gdLst/>
              <a:ahLst/>
              <a:cxnLst/>
              <a:rect l="0" t="0" r="0" b="0"/>
              <a:pathLst>
                <a:path w="40005" h="114300">
                  <a:moveTo>
                    <a:pt x="0" y="0"/>
                  </a:moveTo>
                  <a:lnTo>
                    <a:pt x="40005" y="114300"/>
                  </a:lnTo>
                </a:path>
              </a:pathLst>
            </a:custGeom>
            <a:noFill/>
            <a:ln w="5715">
              <a:solidFill>
                <a:srgbClr val="9C713D"/>
              </a:solidFill>
              <a:prstDash val="solid"/>
            </a:ln>
          </p:spPr>
          <p:txBody>
            <a:bodyPr/>
            <a:lstStyle/>
            <a:p>
              <a:endParaRPr sz="1200"/>
            </a:p>
          </p:txBody>
        </p:sp>
        <p:sp>
          <p:nvSpPr>
            <p:cNvPr id="443" name="s3-local-rooster__line_443">
              <a:extLst>
                <a:ext uri="{FF2B5EF4-FFF2-40B4-BE49-F238E27FC236}">
                  <a16:creationId xmlns:a16="http://schemas.microsoft.com/office/drawing/2014/main" id="{3F8EBD06-AFC3-4958-B208-97B130498FC9}"/>
                </a:ext>
              </a:extLst>
            </p:cNvPr>
            <p:cNvSpPr>
              <a:spLocks/>
            </p:cNvSpPr>
            <p:nvPr/>
          </p:nvSpPr>
          <p:spPr>
            <a:xfrm>
              <a:off x="8493760" y="3675380"/>
              <a:ext cx="15239" cy="95249"/>
            </a:xfrm>
            <a:custGeom>
              <a:avLst/>
              <a:gdLst/>
              <a:ahLst/>
              <a:cxnLst/>
              <a:rect l="0" t="0" r="0" b="0"/>
              <a:pathLst>
                <a:path w="22860" h="142875">
                  <a:moveTo>
                    <a:pt x="0" y="0"/>
                  </a:moveTo>
                  <a:lnTo>
                    <a:pt x="22860" y="142875"/>
                  </a:lnTo>
                </a:path>
              </a:pathLst>
            </a:custGeom>
            <a:noFill/>
            <a:ln w="5715">
              <a:solidFill>
                <a:srgbClr val="9C713D"/>
              </a:solidFill>
              <a:prstDash val="solid"/>
            </a:ln>
          </p:spPr>
          <p:txBody>
            <a:bodyPr/>
            <a:lstStyle/>
            <a:p>
              <a:endParaRPr sz="1200"/>
            </a:p>
          </p:txBody>
        </p:sp>
        <p:sp>
          <p:nvSpPr>
            <p:cNvPr id="444" name="s3-local-rooster__line_444">
              <a:extLst>
                <a:ext uri="{FF2B5EF4-FFF2-40B4-BE49-F238E27FC236}">
                  <a16:creationId xmlns:a16="http://schemas.microsoft.com/office/drawing/2014/main" id="{30AD9DC1-C341-471A-926B-CA0422C76D74}"/>
                </a:ext>
              </a:extLst>
            </p:cNvPr>
            <p:cNvSpPr>
              <a:spLocks/>
            </p:cNvSpPr>
            <p:nvPr/>
          </p:nvSpPr>
          <p:spPr>
            <a:xfrm>
              <a:off x="8474710" y="3675380"/>
              <a:ext cx="7619" cy="72389"/>
            </a:xfrm>
            <a:custGeom>
              <a:avLst/>
              <a:gdLst/>
              <a:ahLst/>
              <a:cxnLst/>
              <a:rect l="0" t="0" r="0" b="0"/>
              <a:pathLst>
                <a:path w="11430" h="108585">
                  <a:moveTo>
                    <a:pt x="0" y="0"/>
                  </a:moveTo>
                  <a:lnTo>
                    <a:pt x="11430" y="108585"/>
                  </a:lnTo>
                </a:path>
              </a:pathLst>
            </a:custGeom>
            <a:noFill/>
            <a:ln w="5715">
              <a:solidFill>
                <a:srgbClr val="9C713D"/>
              </a:solidFill>
              <a:prstDash val="solid"/>
            </a:ln>
          </p:spPr>
          <p:txBody>
            <a:bodyPr/>
            <a:lstStyle/>
            <a:p>
              <a:endParaRPr sz="1200"/>
            </a:p>
          </p:txBody>
        </p:sp>
        <p:sp>
          <p:nvSpPr>
            <p:cNvPr id="445" name="s3-local-rooster__contour_445">
              <a:extLst>
                <a:ext uri="{FF2B5EF4-FFF2-40B4-BE49-F238E27FC236}">
                  <a16:creationId xmlns:a16="http://schemas.microsoft.com/office/drawing/2014/main" id="{BC7E8E71-AB27-4498-985E-DF0558CEA435}"/>
                </a:ext>
              </a:extLst>
            </p:cNvPr>
            <p:cNvSpPr>
              <a:spLocks/>
            </p:cNvSpPr>
            <p:nvPr/>
          </p:nvSpPr>
          <p:spPr>
            <a:xfrm>
              <a:off x="8554720" y="3754545"/>
              <a:ext cx="153073" cy="104387"/>
            </a:xfrm>
            <a:custGeom>
              <a:avLst/>
              <a:gdLst/>
              <a:ahLst/>
              <a:cxnLst/>
              <a:rect l="0" t="0" r="0" b="0"/>
              <a:pathLst>
                <a:path w="229610" h="156581">
                  <a:moveTo>
                    <a:pt x="217170" y="29842"/>
                  </a:moveTo>
                  <a:lnTo>
                    <a:pt x="199968" y="19545"/>
                  </a:lnTo>
                  <a:lnTo>
                    <a:pt x="182709" y="11468"/>
                  </a:lnTo>
                  <a:lnTo>
                    <a:pt x="165506" y="5563"/>
                  </a:lnTo>
                  <a:lnTo>
                    <a:pt x="148457" y="1762"/>
                  </a:lnTo>
                  <a:lnTo>
                    <a:pt x="131655" y="0"/>
                  </a:lnTo>
                  <a:lnTo>
                    <a:pt x="115214" y="219"/>
                  </a:lnTo>
                  <a:lnTo>
                    <a:pt x="99231" y="2353"/>
                  </a:lnTo>
                  <a:lnTo>
                    <a:pt x="83801" y="6353"/>
                  </a:lnTo>
                  <a:lnTo>
                    <a:pt x="69037" y="12144"/>
                  </a:lnTo>
                  <a:lnTo>
                    <a:pt x="55035" y="19679"/>
                  </a:lnTo>
                  <a:lnTo>
                    <a:pt x="41891" y="28889"/>
                  </a:lnTo>
                  <a:lnTo>
                    <a:pt x="29718" y="39719"/>
                  </a:lnTo>
                  <a:lnTo>
                    <a:pt x="18612" y="52102"/>
                  </a:lnTo>
                  <a:lnTo>
                    <a:pt x="8668" y="65970"/>
                  </a:lnTo>
                  <a:lnTo>
                    <a:pt x="0" y="81277"/>
                  </a:lnTo>
                  <a:lnTo>
                    <a:pt x="5163" y="93250"/>
                  </a:lnTo>
                  <a:lnTo>
                    <a:pt x="11411" y="104042"/>
                  </a:lnTo>
                  <a:lnTo>
                    <a:pt x="18612" y="113690"/>
                  </a:lnTo>
                  <a:lnTo>
                    <a:pt x="26632" y="122253"/>
                  </a:lnTo>
                  <a:lnTo>
                    <a:pt x="35347" y="129750"/>
                  </a:lnTo>
                  <a:lnTo>
                    <a:pt x="44625" y="136236"/>
                  </a:lnTo>
                  <a:lnTo>
                    <a:pt x="54321" y="141742"/>
                  </a:lnTo>
                  <a:lnTo>
                    <a:pt x="64322" y="146314"/>
                  </a:lnTo>
                  <a:lnTo>
                    <a:pt x="74476" y="149990"/>
                  </a:lnTo>
                  <a:lnTo>
                    <a:pt x="84668" y="152819"/>
                  </a:lnTo>
                  <a:lnTo>
                    <a:pt x="94755" y="154829"/>
                  </a:lnTo>
                  <a:lnTo>
                    <a:pt x="104604" y="156077"/>
                  </a:lnTo>
                  <a:lnTo>
                    <a:pt x="114090" y="156581"/>
                  </a:lnTo>
                  <a:lnTo>
                    <a:pt x="123082" y="156400"/>
                  </a:lnTo>
                  <a:lnTo>
                    <a:pt x="131445" y="155572"/>
                  </a:lnTo>
                  <a:lnTo>
                    <a:pt x="148590" y="138427"/>
                  </a:lnTo>
                  <a:lnTo>
                    <a:pt x="171450" y="138427"/>
                  </a:lnTo>
                  <a:lnTo>
                    <a:pt x="205740" y="104137"/>
                  </a:lnTo>
                  <a:lnTo>
                    <a:pt x="210150" y="98498"/>
                  </a:lnTo>
                  <a:lnTo>
                    <a:pt x="214217" y="93002"/>
                  </a:lnTo>
                  <a:lnTo>
                    <a:pt x="217903" y="87630"/>
                  </a:lnTo>
                  <a:lnTo>
                    <a:pt x="221151" y="82391"/>
                  </a:lnTo>
                  <a:lnTo>
                    <a:pt x="223942" y="77257"/>
                  </a:lnTo>
                  <a:lnTo>
                    <a:pt x="226219" y="72228"/>
                  </a:lnTo>
                  <a:lnTo>
                    <a:pt x="227952" y="67285"/>
                  </a:lnTo>
                  <a:lnTo>
                    <a:pt x="229095" y="62427"/>
                  </a:lnTo>
                  <a:lnTo>
                    <a:pt x="229610" y="57636"/>
                  </a:lnTo>
                  <a:lnTo>
                    <a:pt x="229448" y="52911"/>
                  </a:lnTo>
                  <a:lnTo>
                    <a:pt x="228581" y="48235"/>
                  </a:lnTo>
                  <a:lnTo>
                    <a:pt x="226952" y="43605"/>
                  </a:lnTo>
                  <a:lnTo>
                    <a:pt x="224542" y="38995"/>
                  </a:lnTo>
                  <a:lnTo>
                    <a:pt x="221294" y="34414"/>
                  </a:lnTo>
                  <a:lnTo>
                    <a:pt x="217170" y="29842"/>
                  </a:lnTo>
                  <a:close/>
                </a:path>
              </a:pathLst>
            </a:custGeom>
            <a:solidFill>
              <a:srgbClr val="824F35"/>
            </a:solidFill>
            <a:ln w="9716">
              <a:solidFill>
                <a:srgbClr val="4A5147"/>
              </a:solidFill>
              <a:prstDash val="solid"/>
            </a:ln>
          </p:spPr>
          <p:txBody>
            <a:bodyPr/>
            <a:lstStyle/>
            <a:p>
              <a:endParaRPr sz="1200"/>
            </a:p>
          </p:txBody>
        </p:sp>
        <p:sp>
          <p:nvSpPr>
            <p:cNvPr id="446" name="s3-local-rooster__contour_446">
              <a:extLst>
                <a:ext uri="{FF2B5EF4-FFF2-40B4-BE49-F238E27FC236}">
                  <a16:creationId xmlns:a16="http://schemas.microsoft.com/office/drawing/2014/main" id="{39E0397C-3523-470C-A359-2DFF6C83F482}"/>
                </a:ext>
              </a:extLst>
            </p:cNvPr>
            <p:cNvSpPr>
              <a:spLocks/>
            </p:cNvSpPr>
            <p:nvPr/>
          </p:nvSpPr>
          <p:spPr>
            <a:xfrm>
              <a:off x="8577580" y="3782123"/>
              <a:ext cx="110489" cy="38036"/>
            </a:xfrm>
            <a:custGeom>
              <a:avLst/>
              <a:gdLst/>
              <a:ahLst/>
              <a:cxnLst/>
              <a:rect l="0" t="0" r="0" b="0"/>
              <a:pathLst>
                <a:path w="165735" h="57055">
                  <a:moveTo>
                    <a:pt x="165735" y="5620"/>
                  </a:moveTo>
                  <a:lnTo>
                    <a:pt x="152029" y="2715"/>
                  </a:lnTo>
                  <a:lnTo>
                    <a:pt x="138398" y="857"/>
                  </a:lnTo>
                  <a:lnTo>
                    <a:pt x="124911" y="0"/>
                  </a:lnTo>
                  <a:lnTo>
                    <a:pt x="111633" y="114"/>
                  </a:lnTo>
                  <a:lnTo>
                    <a:pt x="98641" y="1172"/>
                  </a:lnTo>
                  <a:lnTo>
                    <a:pt x="86001" y="3153"/>
                  </a:lnTo>
                  <a:lnTo>
                    <a:pt x="73790" y="6010"/>
                  </a:lnTo>
                  <a:lnTo>
                    <a:pt x="62074" y="9725"/>
                  </a:lnTo>
                  <a:lnTo>
                    <a:pt x="50930" y="14259"/>
                  </a:lnTo>
                  <a:lnTo>
                    <a:pt x="40424" y="19593"/>
                  </a:lnTo>
                  <a:lnTo>
                    <a:pt x="30632" y="25679"/>
                  </a:lnTo>
                  <a:lnTo>
                    <a:pt x="21622" y="32499"/>
                  </a:lnTo>
                  <a:lnTo>
                    <a:pt x="13468" y="40024"/>
                  </a:lnTo>
                  <a:lnTo>
                    <a:pt x="6239" y="48225"/>
                  </a:lnTo>
                  <a:lnTo>
                    <a:pt x="0" y="57055"/>
                  </a:lnTo>
                </a:path>
              </a:pathLst>
            </a:custGeom>
            <a:noFill/>
            <a:ln w="7430">
              <a:solidFill>
                <a:srgbClr val="D19051"/>
              </a:solidFill>
              <a:prstDash val="solid"/>
            </a:ln>
          </p:spPr>
          <p:txBody>
            <a:bodyPr/>
            <a:lstStyle/>
            <a:p>
              <a:endParaRPr sz="1200"/>
            </a:p>
          </p:txBody>
        </p:sp>
        <p:sp>
          <p:nvSpPr>
            <p:cNvPr id="447" name="s3-local-rooster__contour_447">
              <a:extLst>
                <a:ext uri="{FF2B5EF4-FFF2-40B4-BE49-F238E27FC236}">
                  <a16:creationId xmlns:a16="http://schemas.microsoft.com/office/drawing/2014/main" id="{3A959C96-D80E-490B-9A18-63385187E0E0}"/>
                </a:ext>
              </a:extLst>
            </p:cNvPr>
            <p:cNvSpPr>
              <a:spLocks/>
            </p:cNvSpPr>
            <p:nvPr/>
          </p:nvSpPr>
          <p:spPr>
            <a:xfrm>
              <a:off x="8410245" y="3549149"/>
              <a:ext cx="112204" cy="69081"/>
            </a:xfrm>
            <a:custGeom>
              <a:avLst/>
              <a:gdLst/>
              <a:ahLst/>
              <a:cxnLst/>
              <a:rect l="0" t="0" r="0" b="0"/>
              <a:pathLst>
                <a:path w="168307" h="103622">
                  <a:moveTo>
                    <a:pt x="142418" y="86477"/>
                  </a:moveTo>
                  <a:lnTo>
                    <a:pt x="149743" y="82982"/>
                  </a:lnTo>
                  <a:lnTo>
                    <a:pt x="155762" y="79372"/>
                  </a:lnTo>
                  <a:lnTo>
                    <a:pt x="160525" y="75686"/>
                  </a:lnTo>
                  <a:lnTo>
                    <a:pt x="164097" y="71980"/>
                  </a:lnTo>
                  <a:lnTo>
                    <a:pt x="166545" y="68275"/>
                  </a:lnTo>
                  <a:lnTo>
                    <a:pt x="167926" y="64627"/>
                  </a:lnTo>
                  <a:lnTo>
                    <a:pt x="168307" y="61065"/>
                  </a:lnTo>
                  <a:lnTo>
                    <a:pt x="167735" y="57636"/>
                  </a:lnTo>
                  <a:lnTo>
                    <a:pt x="166287" y="54378"/>
                  </a:lnTo>
                  <a:lnTo>
                    <a:pt x="164011" y="51340"/>
                  </a:lnTo>
                  <a:lnTo>
                    <a:pt x="160972" y="48549"/>
                  </a:lnTo>
                  <a:lnTo>
                    <a:pt x="157229" y="46063"/>
                  </a:lnTo>
                  <a:lnTo>
                    <a:pt x="152848" y="43901"/>
                  </a:lnTo>
                  <a:lnTo>
                    <a:pt x="147895" y="42120"/>
                  </a:lnTo>
                  <a:lnTo>
                    <a:pt x="142418" y="40757"/>
                  </a:lnTo>
                  <a:lnTo>
                    <a:pt x="146390" y="36271"/>
                  </a:lnTo>
                  <a:lnTo>
                    <a:pt x="149228" y="32004"/>
                  </a:lnTo>
                  <a:lnTo>
                    <a:pt x="151009" y="28003"/>
                  </a:lnTo>
                  <a:lnTo>
                    <a:pt x="151819" y="24336"/>
                  </a:lnTo>
                  <a:lnTo>
                    <a:pt x="151733" y="21069"/>
                  </a:lnTo>
                  <a:lnTo>
                    <a:pt x="150828" y="18259"/>
                  </a:lnTo>
                  <a:lnTo>
                    <a:pt x="149200" y="15973"/>
                  </a:lnTo>
                  <a:lnTo>
                    <a:pt x="146914" y="14259"/>
                  </a:lnTo>
                  <a:lnTo>
                    <a:pt x="144066" y="13192"/>
                  </a:lnTo>
                  <a:lnTo>
                    <a:pt x="140722" y="12821"/>
                  </a:lnTo>
                  <a:lnTo>
                    <a:pt x="136979" y="13211"/>
                  </a:lnTo>
                  <a:lnTo>
                    <a:pt x="132912" y="14421"/>
                  </a:lnTo>
                  <a:lnTo>
                    <a:pt x="128597" y="16516"/>
                  </a:lnTo>
                  <a:lnTo>
                    <a:pt x="124120" y="19564"/>
                  </a:lnTo>
                  <a:lnTo>
                    <a:pt x="119558" y="23612"/>
                  </a:lnTo>
                  <a:lnTo>
                    <a:pt x="118129" y="17278"/>
                  </a:lnTo>
                  <a:lnTo>
                    <a:pt x="116176" y="11992"/>
                  </a:lnTo>
                  <a:lnTo>
                    <a:pt x="113795" y="7706"/>
                  </a:lnTo>
                  <a:lnTo>
                    <a:pt x="111081" y="4391"/>
                  </a:lnTo>
                  <a:lnTo>
                    <a:pt x="108128" y="2019"/>
                  </a:lnTo>
                  <a:lnTo>
                    <a:pt x="105023" y="571"/>
                  </a:lnTo>
                  <a:lnTo>
                    <a:pt x="101851" y="0"/>
                  </a:lnTo>
                  <a:lnTo>
                    <a:pt x="98708" y="286"/>
                  </a:lnTo>
                  <a:lnTo>
                    <a:pt x="95688" y="1391"/>
                  </a:lnTo>
                  <a:lnTo>
                    <a:pt x="92888" y="3296"/>
                  </a:lnTo>
                  <a:lnTo>
                    <a:pt x="90392" y="5953"/>
                  </a:lnTo>
                  <a:lnTo>
                    <a:pt x="88287" y="9344"/>
                  </a:lnTo>
                  <a:lnTo>
                    <a:pt x="86668" y="13440"/>
                  </a:lnTo>
                  <a:lnTo>
                    <a:pt x="85630" y="18212"/>
                  </a:lnTo>
                  <a:lnTo>
                    <a:pt x="85268" y="23612"/>
                  </a:lnTo>
                  <a:lnTo>
                    <a:pt x="79496" y="16431"/>
                  </a:lnTo>
                  <a:lnTo>
                    <a:pt x="73685" y="10839"/>
                  </a:lnTo>
                  <a:lnTo>
                    <a:pt x="67942" y="6744"/>
                  </a:lnTo>
                  <a:lnTo>
                    <a:pt x="62379" y="4048"/>
                  </a:lnTo>
                  <a:lnTo>
                    <a:pt x="57112" y="2657"/>
                  </a:lnTo>
                  <a:lnTo>
                    <a:pt x="52254" y="2486"/>
                  </a:lnTo>
                  <a:lnTo>
                    <a:pt x="47920" y="3448"/>
                  </a:lnTo>
                  <a:lnTo>
                    <a:pt x="44206" y="5448"/>
                  </a:lnTo>
                  <a:lnTo>
                    <a:pt x="41243" y="8392"/>
                  </a:lnTo>
                  <a:lnTo>
                    <a:pt x="39129" y="12182"/>
                  </a:lnTo>
                  <a:lnTo>
                    <a:pt x="37976" y="16735"/>
                  </a:lnTo>
                  <a:lnTo>
                    <a:pt x="37900" y="21965"/>
                  </a:lnTo>
                  <a:lnTo>
                    <a:pt x="39014" y="27775"/>
                  </a:lnTo>
                  <a:lnTo>
                    <a:pt x="41434" y="34071"/>
                  </a:lnTo>
                  <a:lnTo>
                    <a:pt x="45263" y="40757"/>
                  </a:lnTo>
                  <a:lnTo>
                    <a:pt x="36509" y="35862"/>
                  </a:lnTo>
                  <a:lnTo>
                    <a:pt x="28565" y="32528"/>
                  </a:lnTo>
                  <a:lnTo>
                    <a:pt x="21488" y="30651"/>
                  </a:lnTo>
                  <a:lnTo>
                    <a:pt x="15326" y="30118"/>
                  </a:lnTo>
                  <a:lnTo>
                    <a:pt x="10125" y="30813"/>
                  </a:lnTo>
                  <a:lnTo>
                    <a:pt x="5944" y="32623"/>
                  </a:lnTo>
                  <a:lnTo>
                    <a:pt x="2829" y="35433"/>
                  </a:lnTo>
                  <a:lnTo>
                    <a:pt x="829" y="39148"/>
                  </a:lnTo>
                  <a:lnTo>
                    <a:pt x="0" y="43634"/>
                  </a:lnTo>
                  <a:lnTo>
                    <a:pt x="391" y="48797"/>
                  </a:lnTo>
                  <a:lnTo>
                    <a:pt x="2048" y="54521"/>
                  </a:lnTo>
                  <a:lnTo>
                    <a:pt x="5029" y="60693"/>
                  </a:lnTo>
                  <a:lnTo>
                    <a:pt x="9382" y="67199"/>
                  </a:lnTo>
                  <a:lnTo>
                    <a:pt x="15154" y="73924"/>
                  </a:lnTo>
                  <a:lnTo>
                    <a:pt x="22403" y="80762"/>
                  </a:lnTo>
                  <a:lnTo>
                    <a:pt x="62408" y="103622"/>
                  </a:lnTo>
                  <a:close/>
                </a:path>
              </a:pathLst>
            </a:custGeom>
            <a:solidFill>
              <a:srgbClr val="B8493E"/>
            </a:solidFill>
            <a:ln w="6287">
              <a:solidFill>
                <a:srgbClr val="803B33"/>
              </a:solidFill>
              <a:prstDash val="solid"/>
            </a:ln>
          </p:spPr>
          <p:txBody>
            <a:bodyPr/>
            <a:lstStyle/>
            <a:p>
              <a:endParaRPr sz="1200"/>
            </a:p>
          </p:txBody>
        </p:sp>
        <p:sp>
          <p:nvSpPr>
            <p:cNvPr id="448" name="s3-local-rooster__contour_448">
              <a:extLst>
                <a:ext uri="{FF2B5EF4-FFF2-40B4-BE49-F238E27FC236}">
                  <a16:creationId xmlns:a16="http://schemas.microsoft.com/office/drawing/2014/main" id="{64BB6053-0E67-422A-858E-348126BE0D00}"/>
                </a:ext>
              </a:extLst>
            </p:cNvPr>
            <p:cNvSpPr>
              <a:spLocks/>
            </p:cNvSpPr>
            <p:nvPr/>
          </p:nvSpPr>
          <p:spPr>
            <a:xfrm>
              <a:off x="8383270" y="3644900"/>
              <a:ext cx="49529" cy="34289"/>
            </a:xfrm>
            <a:custGeom>
              <a:avLst/>
              <a:gdLst/>
              <a:ahLst/>
              <a:cxnLst/>
              <a:rect l="0" t="0" r="0" b="0"/>
              <a:pathLst>
                <a:path w="74295" h="51435">
                  <a:moveTo>
                    <a:pt x="74295" y="0"/>
                  </a:moveTo>
                  <a:lnTo>
                    <a:pt x="0" y="28575"/>
                  </a:lnTo>
                  <a:lnTo>
                    <a:pt x="68580" y="51435"/>
                  </a:lnTo>
                  <a:close/>
                </a:path>
              </a:pathLst>
            </a:custGeom>
            <a:solidFill>
              <a:srgbClr val="CEA653"/>
            </a:solidFill>
            <a:ln w="6287">
              <a:solidFill>
                <a:srgbClr val="8D7239"/>
              </a:solidFill>
              <a:prstDash val="solid"/>
            </a:ln>
          </p:spPr>
          <p:txBody>
            <a:bodyPr/>
            <a:lstStyle/>
            <a:p>
              <a:endParaRPr sz="1200"/>
            </a:p>
          </p:txBody>
        </p:sp>
        <p:sp>
          <p:nvSpPr>
            <p:cNvPr id="449" name="s3-local-rooster__ellipse_449">
              <a:extLst>
                <a:ext uri="{FF2B5EF4-FFF2-40B4-BE49-F238E27FC236}">
                  <a16:creationId xmlns:a16="http://schemas.microsoft.com/office/drawing/2014/main" id="{D6C63551-426A-41B5-8AC4-EF6E316C5EFF}"/>
                </a:ext>
              </a:extLst>
            </p:cNvPr>
            <p:cNvSpPr>
              <a:spLocks/>
            </p:cNvSpPr>
            <p:nvPr/>
          </p:nvSpPr>
          <p:spPr>
            <a:xfrm>
              <a:off x="8440420" y="3683000"/>
              <a:ext cx="30479" cy="53339"/>
            </a:xfrm>
            <a:prstGeom prst="ellipse">
              <a:avLst/>
            </a:prstGeom>
            <a:solidFill>
              <a:srgbClr val="B8493E"/>
            </a:solidFill>
            <a:ln w="5715">
              <a:solidFill>
                <a:srgbClr val="803B33"/>
              </a:solidFill>
              <a:prstDash val="solid"/>
            </a:ln>
          </p:spPr>
          <p:txBody>
            <a:bodyPr/>
            <a:lstStyle/>
            <a:p>
              <a:endParaRPr sz="1200"/>
            </a:p>
          </p:txBody>
        </p:sp>
        <p:sp>
          <p:nvSpPr>
            <p:cNvPr id="450" name="s3-local-rooster__ellipse_450">
              <a:extLst>
                <a:ext uri="{FF2B5EF4-FFF2-40B4-BE49-F238E27FC236}">
                  <a16:creationId xmlns:a16="http://schemas.microsoft.com/office/drawing/2014/main" id="{011C0084-0BB9-43F9-861C-3C302840CA3E}"/>
                </a:ext>
              </a:extLst>
            </p:cNvPr>
            <p:cNvSpPr>
              <a:spLocks/>
            </p:cNvSpPr>
            <p:nvPr/>
          </p:nvSpPr>
          <p:spPr>
            <a:xfrm>
              <a:off x="8448040" y="3644900"/>
              <a:ext cx="15239" cy="22859"/>
            </a:xfrm>
            <a:prstGeom prst="ellipse">
              <a:avLst/>
            </a:prstGeom>
            <a:solidFill>
              <a:srgbClr val="F2E7D1"/>
            </a:solidFill>
            <a:ln w="0">
              <a:noFill/>
              <a:prstDash val="solid"/>
            </a:ln>
          </p:spPr>
          <p:txBody>
            <a:bodyPr/>
            <a:lstStyle/>
            <a:p>
              <a:endParaRPr sz="1200"/>
            </a:p>
          </p:txBody>
        </p:sp>
        <p:sp>
          <p:nvSpPr>
            <p:cNvPr id="451" name="s3-local-rooster__ellipse_451">
              <a:extLst>
                <a:ext uri="{FF2B5EF4-FFF2-40B4-BE49-F238E27FC236}">
                  <a16:creationId xmlns:a16="http://schemas.microsoft.com/office/drawing/2014/main" id="{12174F3A-262D-4B2B-9A5D-508408DDEC20}"/>
                </a:ext>
              </a:extLst>
            </p:cNvPr>
            <p:cNvSpPr>
              <a:spLocks/>
            </p:cNvSpPr>
            <p:nvPr/>
          </p:nvSpPr>
          <p:spPr>
            <a:xfrm>
              <a:off x="8436610" y="3625850"/>
              <a:ext cx="15239" cy="15239"/>
            </a:xfrm>
            <a:prstGeom prst="ellipse">
              <a:avLst/>
            </a:prstGeom>
            <a:solidFill>
              <a:srgbClr val="1F2B28"/>
            </a:solidFill>
            <a:ln w="0">
              <a:noFill/>
              <a:prstDash val="solid"/>
            </a:ln>
          </p:spPr>
          <p:txBody>
            <a:bodyPr/>
            <a:lstStyle/>
            <a:p>
              <a:endParaRPr sz="1200"/>
            </a:p>
          </p:txBody>
        </p:sp>
        <p:sp>
          <p:nvSpPr>
            <p:cNvPr id="452" name="s3-local-rooster__ellipse_452">
              <a:extLst>
                <a:ext uri="{FF2B5EF4-FFF2-40B4-BE49-F238E27FC236}">
                  <a16:creationId xmlns:a16="http://schemas.microsoft.com/office/drawing/2014/main" id="{1141F981-17D3-447B-8EF8-887C11D6BFA6}"/>
                </a:ext>
              </a:extLst>
            </p:cNvPr>
            <p:cNvSpPr>
              <a:spLocks/>
            </p:cNvSpPr>
            <p:nvPr/>
          </p:nvSpPr>
          <p:spPr>
            <a:xfrm>
              <a:off x="8444230" y="3626612"/>
              <a:ext cx="4191" cy="4191"/>
            </a:xfrm>
            <a:prstGeom prst="ellipse">
              <a:avLst/>
            </a:prstGeom>
            <a:solidFill>
              <a:srgbClr val="FFFFFF"/>
            </a:solidFill>
            <a:ln w="0">
              <a:noFill/>
              <a:prstDash val="solid"/>
            </a:ln>
          </p:spPr>
          <p:txBody>
            <a:bodyPr/>
            <a:lstStyle/>
            <a:p>
              <a:endParaRPr sz="1200"/>
            </a:p>
          </p:txBody>
        </p:sp>
        <p:sp>
          <p:nvSpPr>
            <p:cNvPr id="453" name="s3-introgression-arrow__wild-introgression_453">
              <a:extLst>
                <a:ext uri="{FF2B5EF4-FFF2-40B4-BE49-F238E27FC236}">
                  <a16:creationId xmlns:a16="http://schemas.microsoft.com/office/drawing/2014/main" id="{287EB889-FF26-4EF5-B269-22B223356AA2}"/>
                </a:ext>
              </a:extLst>
            </p:cNvPr>
            <p:cNvSpPr>
              <a:spLocks/>
            </p:cNvSpPr>
            <p:nvPr/>
          </p:nvSpPr>
          <p:spPr>
            <a:xfrm>
              <a:off x="7061200" y="3892550"/>
              <a:ext cx="603250" cy="63"/>
            </a:xfrm>
            <a:custGeom>
              <a:avLst/>
              <a:gdLst/>
              <a:ahLst/>
              <a:cxnLst/>
              <a:rect l="0" t="0" r="0" b="0"/>
              <a:pathLst>
                <a:path w="904875" h="95">
                  <a:moveTo>
                    <a:pt x="0" y="0"/>
                  </a:moveTo>
                  <a:lnTo>
                    <a:pt x="904875" y="0"/>
                  </a:lnTo>
                </a:path>
              </a:pathLst>
            </a:custGeom>
            <a:noFill/>
            <a:ln w="30480">
              <a:solidFill>
                <a:srgbClr val="547F62"/>
              </a:solidFill>
              <a:prstDash val="solid"/>
            </a:ln>
          </p:spPr>
          <p:txBody>
            <a:bodyPr/>
            <a:lstStyle/>
            <a:p>
              <a:endParaRPr sz="1200"/>
            </a:p>
          </p:txBody>
        </p:sp>
        <p:sp>
          <p:nvSpPr>
            <p:cNvPr id="454" name="s3-introgression-arrow__wild-introgression-tip_454">
              <a:extLst>
                <a:ext uri="{FF2B5EF4-FFF2-40B4-BE49-F238E27FC236}">
                  <a16:creationId xmlns:a16="http://schemas.microsoft.com/office/drawing/2014/main" id="{FC94F305-0EB1-44B4-98AD-68324407F617}"/>
                </a:ext>
              </a:extLst>
            </p:cNvPr>
            <p:cNvSpPr>
              <a:spLocks/>
            </p:cNvSpPr>
            <p:nvPr/>
          </p:nvSpPr>
          <p:spPr>
            <a:xfrm>
              <a:off x="7588250" y="3852926"/>
              <a:ext cx="76200" cy="79248"/>
            </a:xfrm>
            <a:custGeom>
              <a:avLst/>
              <a:gdLst/>
              <a:ahLst/>
              <a:cxnLst/>
              <a:rect l="0" t="0" r="0" b="0"/>
              <a:pathLst>
                <a:path w="114300" h="118872">
                  <a:moveTo>
                    <a:pt x="114300" y="59436"/>
                  </a:moveTo>
                  <a:lnTo>
                    <a:pt x="0" y="0"/>
                  </a:lnTo>
                  <a:lnTo>
                    <a:pt x="0" y="118872"/>
                  </a:lnTo>
                  <a:close/>
                </a:path>
              </a:pathLst>
            </a:custGeom>
            <a:solidFill>
              <a:srgbClr val="547F62"/>
            </a:solidFill>
            <a:ln w="0">
              <a:noFill/>
              <a:prstDash val="solid"/>
            </a:ln>
          </p:spPr>
          <p:txBody>
            <a:bodyPr/>
            <a:lstStyle/>
            <a:p>
              <a:endParaRPr sz="1200"/>
            </a:p>
          </p:txBody>
        </p:sp>
        <p:sp>
          <p:nvSpPr>
            <p:cNvPr id="455" name="diagram__introgression-label_455">
              <a:extLst>
                <a:ext uri="{FF2B5EF4-FFF2-40B4-BE49-F238E27FC236}">
                  <a16:creationId xmlns:a16="http://schemas.microsoft.com/office/drawing/2014/main" id="{C8565EE1-0033-4488-9B7C-0392199F092A}"/>
                </a:ext>
              </a:extLst>
            </p:cNvPr>
            <p:cNvSpPr>
              <a:spLocks/>
            </p:cNvSpPr>
            <p:nvPr/>
          </p:nvSpPr>
          <p:spPr>
            <a:xfrm>
              <a:off x="7048500" y="3136900"/>
              <a:ext cx="1270000" cy="450850"/>
            </a:xfrm>
            <a:prstGeom prst="rect">
              <a:avLst/>
            </a:prstGeom>
            <a:noFill/>
            <a:ln w="0">
              <a:noFill/>
            </a:ln>
          </p:spPr>
          <p:txBody>
            <a:bodyPr wrap="none" lIns="0" tIns="0" rIns="0" bIns="0" anchor="t">
              <a:noAutofit/>
            </a:bodyPr>
            <a:lstStyle>
              <a:defPPr algn="ctr">
                <a:defRPr sz="1110" b="0">
                  <a:solidFill>
                    <a:srgbClr val="538163"/>
                  </a:solidFill>
                  <a:latin typeface="Arial"/>
                  <a:ea typeface="Arial"/>
                  <a:cs typeface="Arial"/>
                </a:defRPr>
              </a:defPPr>
            </a:lstStyle>
            <a:p>
              <a:pPr algn="ctr">
                <a:lnSpc>
                  <a:spcPct val="116000"/>
                </a:lnSpc>
                <a:buNone/>
                <a:defRPr sz="1110" b="0">
                  <a:solidFill>
                    <a:srgbClr val="538163"/>
                  </a:solidFill>
                  <a:latin typeface="Arial"/>
                  <a:ea typeface="Arial"/>
                  <a:cs typeface="Arial"/>
                </a:defRPr>
              </a:pPr>
              <a:r>
                <a:rPr sz="1110" b="0">
                  <a:solidFill>
                    <a:srgbClr val="538163"/>
                  </a:solidFill>
                  <a:latin typeface="Arial"/>
                  <a:ea typeface="Arial"/>
                  <a:cs typeface="Arial"/>
                </a:rPr>
                <a:t>Hybridization and</a:t>
              </a:r>
            </a:p>
            <a:p>
              <a:pPr algn="ctr">
                <a:lnSpc>
                  <a:spcPct val="116000"/>
                </a:lnSpc>
                <a:buNone/>
                <a:defRPr sz="1110" b="0">
                  <a:solidFill>
                    <a:srgbClr val="538163"/>
                  </a:solidFill>
                  <a:latin typeface="Arial"/>
                  <a:ea typeface="Arial"/>
                  <a:cs typeface="Arial"/>
                </a:defRPr>
              </a:pPr>
              <a:r>
                <a:rPr sz="1110" b="0">
                  <a:solidFill>
                    <a:srgbClr val="538163"/>
                  </a:solidFill>
                  <a:latin typeface="Arial"/>
                  <a:ea typeface="Arial"/>
                  <a:cs typeface="Arial"/>
                </a:rPr>
                <a:t>local introgression</a:t>
              </a:r>
            </a:p>
          </p:txBody>
        </p:sp>
        <p:sp>
          <p:nvSpPr>
            <p:cNvPr id="456" name="s4-global-distribution__ellipse_456">
              <a:extLst>
                <a:ext uri="{FF2B5EF4-FFF2-40B4-BE49-F238E27FC236}">
                  <a16:creationId xmlns:a16="http://schemas.microsoft.com/office/drawing/2014/main" id="{F5E29353-0E18-4CFA-B44D-6DC7E8A3DCF6}"/>
                </a:ext>
              </a:extLst>
            </p:cNvPr>
            <p:cNvSpPr>
              <a:spLocks/>
            </p:cNvSpPr>
            <p:nvPr/>
          </p:nvSpPr>
          <p:spPr>
            <a:xfrm>
              <a:off x="10001250" y="2019300"/>
              <a:ext cx="1003300" cy="1003300"/>
            </a:xfrm>
            <a:prstGeom prst="ellipse">
              <a:avLst/>
            </a:prstGeom>
            <a:solidFill>
              <a:srgbClr val="EAF2F0"/>
            </a:solidFill>
            <a:ln w="15240">
              <a:solidFill>
                <a:srgbClr val="BDD1CC"/>
              </a:solidFill>
              <a:prstDash val="solid"/>
            </a:ln>
          </p:spPr>
          <p:txBody>
            <a:bodyPr/>
            <a:lstStyle/>
            <a:p>
              <a:endParaRPr sz="1200"/>
            </a:p>
          </p:txBody>
        </p:sp>
        <p:sp>
          <p:nvSpPr>
            <p:cNvPr id="457" name="s4-global-distribution__continental-silhouette_457">
              <a:extLst>
                <a:ext uri="{FF2B5EF4-FFF2-40B4-BE49-F238E27FC236}">
                  <a16:creationId xmlns:a16="http://schemas.microsoft.com/office/drawing/2014/main" id="{F5EA2DE2-8C47-44CE-AA02-FECB9B4D0D57}"/>
                </a:ext>
              </a:extLst>
            </p:cNvPr>
            <p:cNvSpPr>
              <a:spLocks/>
            </p:cNvSpPr>
            <p:nvPr/>
          </p:nvSpPr>
          <p:spPr>
            <a:xfrm>
              <a:off x="10112730" y="2153075"/>
              <a:ext cx="245250" cy="222954"/>
            </a:xfrm>
            <a:custGeom>
              <a:avLst/>
              <a:gdLst/>
              <a:ahLst/>
              <a:cxnLst/>
              <a:rect l="0" t="0" r="0" b="0"/>
              <a:pathLst>
                <a:path w="367875" h="334432">
                  <a:moveTo>
                    <a:pt x="0" y="150495"/>
                  </a:moveTo>
                  <a:lnTo>
                    <a:pt x="8906" y="129635"/>
                  </a:lnTo>
                  <a:lnTo>
                    <a:pt x="18869" y="110519"/>
                  </a:lnTo>
                  <a:lnTo>
                    <a:pt x="29823" y="93107"/>
                  </a:lnTo>
                  <a:lnTo>
                    <a:pt x="41719" y="77333"/>
                  </a:lnTo>
                  <a:lnTo>
                    <a:pt x="54493" y="63170"/>
                  </a:lnTo>
                  <a:lnTo>
                    <a:pt x="68085" y="50559"/>
                  </a:lnTo>
                  <a:lnTo>
                    <a:pt x="82439" y="39472"/>
                  </a:lnTo>
                  <a:lnTo>
                    <a:pt x="97479" y="29861"/>
                  </a:lnTo>
                  <a:lnTo>
                    <a:pt x="113167" y="21669"/>
                  </a:lnTo>
                  <a:lnTo>
                    <a:pt x="129435" y="14859"/>
                  </a:lnTo>
                  <a:lnTo>
                    <a:pt x="146218" y="9392"/>
                  </a:lnTo>
                  <a:lnTo>
                    <a:pt x="163468" y="5210"/>
                  </a:lnTo>
                  <a:lnTo>
                    <a:pt x="181118" y="2286"/>
                  </a:lnTo>
                  <a:lnTo>
                    <a:pt x="199101" y="562"/>
                  </a:lnTo>
                  <a:lnTo>
                    <a:pt x="217380" y="0"/>
                  </a:lnTo>
                  <a:lnTo>
                    <a:pt x="342786" y="50159"/>
                  </a:lnTo>
                  <a:lnTo>
                    <a:pt x="367875" y="133769"/>
                  </a:lnTo>
                  <a:lnTo>
                    <a:pt x="309343" y="175574"/>
                  </a:lnTo>
                  <a:lnTo>
                    <a:pt x="334432" y="225742"/>
                  </a:lnTo>
                  <a:lnTo>
                    <a:pt x="242459" y="267548"/>
                  </a:lnTo>
                  <a:lnTo>
                    <a:pt x="192291" y="334432"/>
                  </a:lnTo>
                  <a:lnTo>
                    <a:pt x="150495" y="292627"/>
                  </a:lnTo>
                  <a:lnTo>
                    <a:pt x="91964" y="275901"/>
                  </a:lnTo>
                  <a:lnTo>
                    <a:pt x="58522" y="225742"/>
                  </a:lnTo>
                  <a:close/>
                </a:path>
              </a:pathLst>
            </a:custGeom>
            <a:solidFill>
              <a:srgbClr val="ADC8BC"/>
            </a:solidFill>
            <a:ln w="0">
              <a:noFill/>
              <a:prstDash val="solid"/>
            </a:ln>
          </p:spPr>
          <p:txBody>
            <a:bodyPr/>
            <a:lstStyle/>
            <a:p>
              <a:endParaRPr sz="1200"/>
            </a:p>
          </p:txBody>
        </p:sp>
        <p:sp>
          <p:nvSpPr>
            <p:cNvPr id="458" name="s4-global-distribution__continental-silhouette_458">
              <a:extLst>
                <a:ext uri="{FF2B5EF4-FFF2-40B4-BE49-F238E27FC236}">
                  <a16:creationId xmlns:a16="http://schemas.microsoft.com/office/drawing/2014/main" id="{62DF1786-A924-46DB-BC37-3EC7FCDF9273}"/>
                </a:ext>
              </a:extLst>
            </p:cNvPr>
            <p:cNvSpPr>
              <a:spLocks/>
            </p:cNvSpPr>
            <p:nvPr/>
          </p:nvSpPr>
          <p:spPr>
            <a:xfrm>
              <a:off x="10240924" y="2398325"/>
              <a:ext cx="183940" cy="429190"/>
            </a:xfrm>
            <a:custGeom>
              <a:avLst/>
              <a:gdLst/>
              <a:ahLst/>
              <a:cxnLst/>
              <a:rect l="0" t="0" r="0" b="0"/>
              <a:pathLst>
                <a:path w="275911" h="643785">
                  <a:moveTo>
                    <a:pt x="16726" y="0"/>
                  </a:moveTo>
                  <a:lnTo>
                    <a:pt x="58531" y="33442"/>
                  </a:lnTo>
                  <a:lnTo>
                    <a:pt x="83610" y="117053"/>
                  </a:lnTo>
                  <a:lnTo>
                    <a:pt x="101984" y="118034"/>
                  </a:lnTo>
                  <a:lnTo>
                    <a:pt x="120206" y="120863"/>
                  </a:lnTo>
                  <a:lnTo>
                    <a:pt x="138122" y="125416"/>
                  </a:lnTo>
                  <a:lnTo>
                    <a:pt x="155600" y="131521"/>
                  </a:lnTo>
                  <a:lnTo>
                    <a:pt x="172488" y="139036"/>
                  </a:lnTo>
                  <a:lnTo>
                    <a:pt x="188624" y="147818"/>
                  </a:lnTo>
                  <a:lnTo>
                    <a:pt x="203873" y="157715"/>
                  </a:lnTo>
                  <a:lnTo>
                    <a:pt x="218075" y="168573"/>
                  </a:lnTo>
                  <a:lnTo>
                    <a:pt x="231096" y="180261"/>
                  </a:lnTo>
                  <a:lnTo>
                    <a:pt x="242783" y="192605"/>
                  </a:lnTo>
                  <a:lnTo>
                    <a:pt x="252974" y="205473"/>
                  </a:lnTo>
                  <a:lnTo>
                    <a:pt x="261528" y="218723"/>
                  </a:lnTo>
                  <a:lnTo>
                    <a:pt x="268310" y="232181"/>
                  </a:lnTo>
                  <a:lnTo>
                    <a:pt x="273148" y="245716"/>
                  </a:lnTo>
                  <a:lnTo>
                    <a:pt x="275911" y="259185"/>
                  </a:lnTo>
                  <a:lnTo>
                    <a:pt x="234105" y="351158"/>
                  </a:lnTo>
                  <a:lnTo>
                    <a:pt x="192300" y="384600"/>
                  </a:lnTo>
                  <a:lnTo>
                    <a:pt x="175584" y="493290"/>
                  </a:lnTo>
                  <a:lnTo>
                    <a:pt x="125416" y="627059"/>
                  </a:lnTo>
                  <a:lnTo>
                    <a:pt x="100336" y="643785"/>
                  </a:lnTo>
                  <a:lnTo>
                    <a:pt x="91973" y="510007"/>
                  </a:lnTo>
                  <a:lnTo>
                    <a:pt x="41805" y="401317"/>
                  </a:lnTo>
                  <a:lnTo>
                    <a:pt x="25089" y="284264"/>
                  </a:lnTo>
                  <a:lnTo>
                    <a:pt x="0" y="192300"/>
                  </a:lnTo>
                  <a:lnTo>
                    <a:pt x="16726" y="117053"/>
                  </a:lnTo>
                  <a:close/>
                </a:path>
              </a:pathLst>
            </a:custGeom>
            <a:solidFill>
              <a:srgbClr val="ADC8BC"/>
            </a:solidFill>
            <a:ln w="0">
              <a:noFill/>
              <a:prstDash val="solid"/>
            </a:ln>
          </p:spPr>
          <p:txBody>
            <a:bodyPr/>
            <a:lstStyle/>
            <a:p>
              <a:endParaRPr sz="1200"/>
            </a:p>
          </p:txBody>
        </p:sp>
        <p:sp>
          <p:nvSpPr>
            <p:cNvPr id="459" name="s4-global-distribution__continental-silhouette_459">
              <a:extLst>
                <a:ext uri="{FF2B5EF4-FFF2-40B4-BE49-F238E27FC236}">
                  <a16:creationId xmlns:a16="http://schemas.microsoft.com/office/drawing/2014/main" id="{3CE85A97-25AB-4372-AC95-374765E8E4C4}"/>
                </a:ext>
              </a:extLst>
            </p:cNvPr>
            <p:cNvSpPr>
              <a:spLocks/>
            </p:cNvSpPr>
            <p:nvPr/>
          </p:nvSpPr>
          <p:spPr>
            <a:xfrm>
              <a:off x="10486180" y="2141924"/>
              <a:ext cx="418039" cy="306565"/>
            </a:xfrm>
            <a:custGeom>
              <a:avLst/>
              <a:gdLst/>
              <a:ahLst/>
              <a:cxnLst/>
              <a:rect l="0" t="0" r="0" b="0"/>
              <a:pathLst>
                <a:path w="627059" h="459848">
                  <a:moveTo>
                    <a:pt x="0" y="142132"/>
                  </a:moveTo>
                  <a:lnTo>
                    <a:pt x="75248" y="66885"/>
                  </a:lnTo>
                  <a:lnTo>
                    <a:pt x="150495" y="58531"/>
                  </a:lnTo>
                  <a:lnTo>
                    <a:pt x="175574" y="8363"/>
                  </a:lnTo>
                  <a:lnTo>
                    <a:pt x="292627" y="0"/>
                  </a:lnTo>
                  <a:lnTo>
                    <a:pt x="359512" y="33442"/>
                  </a:lnTo>
                  <a:lnTo>
                    <a:pt x="434759" y="33442"/>
                  </a:lnTo>
                  <a:lnTo>
                    <a:pt x="493290" y="83610"/>
                  </a:lnTo>
                  <a:lnTo>
                    <a:pt x="551812" y="108690"/>
                  </a:lnTo>
                  <a:lnTo>
                    <a:pt x="593617" y="192300"/>
                  </a:lnTo>
                  <a:lnTo>
                    <a:pt x="551812" y="242468"/>
                  </a:lnTo>
                  <a:lnTo>
                    <a:pt x="627059" y="292627"/>
                  </a:lnTo>
                  <a:lnTo>
                    <a:pt x="568538" y="342795"/>
                  </a:lnTo>
                  <a:lnTo>
                    <a:pt x="484927" y="367875"/>
                  </a:lnTo>
                  <a:lnTo>
                    <a:pt x="434759" y="342795"/>
                  </a:lnTo>
                  <a:lnTo>
                    <a:pt x="409680" y="418043"/>
                  </a:lnTo>
                  <a:lnTo>
                    <a:pt x="359512" y="459848"/>
                  </a:lnTo>
                  <a:lnTo>
                    <a:pt x="300990" y="401317"/>
                  </a:lnTo>
                  <a:lnTo>
                    <a:pt x="259185" y="451485"/>
                  </a:lnTo>
                  <a:lnTo>
                    <a:pt x="217380" y="376238"/>
                  </a:lnTo>
                  <a:lnTo>
                    <a:pt x="175574" y="359521"/>
                  </a:lnTo>
                  <a:lnTo>
                    <a:pt x="150495" y="300990"/>
                  </a:lnTo>
                  <a:lnTo>
                    <a:pt x="66885" y="292627"/>
                  </a:lnTo>
                  <a:lnTo>
                    <a:pt x="50159" y="225743"/>
                  </a:lnTo>
                  <a:lnTo>
                    <a:pt x="8353" y="209026"/>
                  </a:lnTo>
                  <a:close/>
                </a:path>
              </a:pathLst>
            </a:custGeom>
            <a:solidFill>
              <a:srgbClr val="ADC8BC"/>
            </a:solidFill>
            <a:ln w="0">
              <a:noFill/>
              <a:prstDash val="solid"/>
            </a:ln>
          </p:spPr>
          <p:txBody>
            <a:bodyPr/>
            <a:lstStyle/>
            <a:p>
              <a:endParaRPr sz="1200"/>
            </a:p>
          </p:txBody>
        </p:sp>
        <p:sp>
          <p:nvSpPr>
            <p:cNvPr id="460" name="s4-global-distribution__continental-silhouette_460">
              <a:extLst>
                <a:ext uri="{FF2B5EF4-FFF2-40B4-BE49-F238E27FC236}">
                  <a16:creationId xmlns:a16="http://schemas.microsoft.com/office/drawing/2014/main" id="{29B92CFE-F461-4567-BDF0-E9D880FC8547}"/>
                </a:ext>
              </a:extLst>
            </p:cNvPr>
            <p:cNvSpPr>
              <a:spLocks/>
            </p:cNvSpPr>
            <p:nvPr/>
          </p:nvSpPr>
          <p:spPr>
            <a:xfrm>
              <a:off x="10452735" y="2353735"/>
              <a:ext cx="228530" cy="395744"/>
            </a:xfrm>
            <a:custGeom>
              <a:avLst/>
              <a:gdLst/>
              <a:ahLst/>
              <a:cxnLst/>
              <a:rect l="0" t="0" r="0" b="0"/>
              <a:pathLst>
                <a:path w="342795" h="593617">
                  <a:moveTo>
                    <a:pt x="100327" y="16716"/>
                  </a:moveTo>
                  <a:lnTo>
                    <a:pt x="183937" y="0"/>
                  </a:lnTo>
                  <a:lnTo>
                    <a:pt x="242468" y="41805"/>
                  </a:lnTo>
                  <a:lnTo>
                    <a:pt x="292627" y="83601"/>
                  </a:lnTo>
                  <a:lnTo>
                    <a:pt x="342795" y="209017"/>
                  </a:lnTo>
                  <a:lnTo>
                    <a:pt x="292627" y="317706"/>
                  </a:lnTo>
                  <a:lnTo>
                    <a:pt x="250822" y="367875"/>
                  </a:lnTo>
                  <a:lnTo>
                    <a:pt x="242468" y="468201"/>
                  </a:lnTo>
                  <a:lnTo>
                    <a:pt x="167221" y="593617"/>
                  </a:lnTo>
                  <a:lnTo>
                    <a:pt x="125416" y="535086"/>
                  </a:lnTo>
                  <a:lnTo>
                    <a:pt x="108690" y="434759"/>
                  </a:lnTo>
                  <a:lnTo>
                    <a:pt x="58522" y="326069"/>
                  </a:lnTo>
                  <a:lnTo>
                    <a:pt x="50168" y="200654"/>
                  </a:lnTo>
                  <a:lnTo>
                    <a:pt x="0" y="142132"/>
                  </a:lnTo>
                  <a:lnTo>
                    <a:pt x="33442" y="58522"/>
                  </a:lnTo>
                  <a:close/>
                </a:path>
              </a:pathLst>
            </a:custGeom>
            <a:solidFill>
              <a:srgbClr val="ADC8BC"/>
            </a:solidFill>
            <a:ln w="0">
              <a:noFill/>
              <a:prstDash val="solid"/>
            </a:ln>
          </p:spPr>
          <p:txBody>
            <a:bodyPr/>
            <a:lstStyle/>
            <a:p>
              <a:endParaRPr sz="1200"/>
            </a:p>
          </p:txBody>
        </p:sp>
        <p:sp>
          <p:nvSpPr>
            <p:cNvPr id="461" name="s4-global-distribution__continental-silhouette_461">
              <a:extLst>
                <a:ext uri="{FF2B5EF4-FFF2-40B4-BE49-F238E27FC236}">
                  <a16:creationId xmlns:a16="http://schemas.microsoft.com/office/drawing/2014/main" id="{36C61538-A043-41F9-A377-B8ABBA111B14}"/>
                </a:ext>
              </a:extLst>
            </p:cNvPr>
            <p:cNvSpPr>
              <a:spLocks/>
            </p:cNvSpPr>
            <p:nvPr/>
          </p:nvSpPr>
          <p:spPr>
            <a:xfrm>
              <a:off x="10748150" y="2671445"/>
              <a:ext cx="161645" cy="133775"/>
            </a:xfrm>
            <a:custGeom>
              <a:avLst/>
              <a:gdLst/>
              <a:ahLst/>
              <a:cxnLst/>
              <a:rect l="0" t="0" r="0" b="0"/>
              <a:pathLst>
                <a:path w="242468" h="200663">
                  <a:moveTo>
                    <a:pt x="0" y="58522"/>
                  </a:moveTo>
                  <a:lnTo>
                    <a:pt x="100336" y="0"/>
                  </a:lnTo>
                  <a:lnTo>
                    <a:pt x="167221" y="8363"/>
                  </a:lnTo>
                  <a:lnTo>
                    <a:pt x="242468" y="83610"/>
                  </a:lnTo>
                  <a:lnTo>
                    <a:pt x="192300" y="175574"/>
                  </a:lnTo>
                  <a:lnTo>
                    <a:pt x="91973" y="200663"/>
                  </a:lnTo>
                  <a:lnTo>
                    <a:pt x="8363" y="158858"/>
                  </a:lnTo>
                  <a:close/>
                </a:path>
              </a:pathLst>
            </a:custGeom>
            <a:solidFill>
              <a:srgbClr val="ADC8BC"/>
            </a:solidFill>
            <a:ln w="0">
              <a:noFill/>
              <a:prstDash val="solid"/>
            </a:ln>
          </p:spPr>
          <p:txBody>
            <a:bodyPr/>
            <a:lstStyle/>
            <a:p>
              <a:endParaRPr sz="1200"/>
            </a:p>
          </p:txBody>
        </p:sp>
        <p:sp>
          <p:nvSpPr>
            <p:cNvPr id="462" name="s4-global-distribution__continental-silhouette_462">
              <a:extLst>
                <a:ext uri="{FF2B5EF4-FFF2-40B4-BE49-F238E27FC236}">
                  <a16:creationId xmlns:a16="http://schemas.microsoft.com/office/drawing/2014/main" id="{6C32079A-208D-4BFD-82D6-55FA8F3F9DF2}"/>
                </a:ext>
              </a:extLst>
            </p:cNvPr>
            <p:cNvSpPr>
              <a:spLocks/>
            </p:cNvSpPr>
            <p:nvPr/>
          </p:nvSpPr>
          <p:spPr>
            <a:xfrm>
              <a:off x="10385850" y="2086184"/>
              <a:ext cx="94754" cy="111480"/>
            </a:xfrm>
            <a:custGeom>
              <a:avLst/>
              <a:gdLst/>
              <a:ahLst/>
              <a:cxnLst/>
              <a:rect l="0" t="0" r="0" b="0"/>
              <a:pathLst>
                <a:path w="142132" h="167221">
                  <a:moveTo>
                    <a:pt x="0" y="50168"/>
                  </a:moveTo>
                  <a:lnTo>
                    <a:pt x="75248" y="0"/>
                  </a:lnTo>
                  <a:lnTo>
                    <a:pt x="142132" y="66894"/>
                  </a:lnTo>
                  <a:lnTo>
                    <a:pt x="100327" y="158858"/>
                  </a:lnTo>
                  <a:lnTo>
                    <a:pt x="33442" y="167221"/>
                  </a:lnTo>
                  <a:close/>
                </a:path>
              </a:pathLst>
            </a:custGeom>
            <a:solidFill>
              <a:srgbClr val="ADC8BC"/>
            </a:solidFill>
            <a:ln w="0">
              <a:noFill/>
              <a:prstDash val="solid"/>
            </a:ln>
          </p:spPr>
          <p:txBody>
            <a:bodyPr/>
            <a:lstStyle/>
            <a:p>
              <a:endParaRPr sz="1200"/>
            </a:p>
          </p:txBody>
        </p:sp>
        <p:sp>
          <p:nvSpPr>
            <p:cNvPr id="463" name="s4-global-distribution__continental-silhouette_463">
              <a:extLst>
                <a:ext uri="{FF2B5EF4-FFF2-40B4-BE49-F238E27FC236}">
                  <a16:creationId xmlns:a16="http://schemas.microsoft.com/office/drawing/2014/main" id="{F092457F-3CED-4030-B123-09C61CD81BBC}"/>
                </a:ext>
              </a:extLst>
            </p:cNvPr>
            <p:cNvSpPr>
              <a:spLocks/>
            </p:cNvSpPr>
            <p:nvPr/>
          </p:nvSpPr>
          <p:spPr>
            <a:xfrm>
              <a:off x="10686840" y="2465210"/>
              <a:ext cx="27870" cy="66890"/>
            </a:xfrm>
            <a:custGeom>
              <a:avLst/>
              <a:gdLst/>
              <a:ahLst/>
              <a:cxnLst/>
              <a:rect l="0" t="0" r="0" b="0"/>
              <a:pathLst>
                <a:path w="41805" h="100336">
                  <a:moveTo>
                    <a:pt x="8353" y="0"/>
                  </a:moveTo>
                  <a:lnTo>
                    <a:pt x="41805" y="50168"/>
                  </a:lnTo>
                  <a:lnTo>
                    <a:pt x="25079" y="100336"/>
                  </a:lnTo>
                  <a:lnTo>
                    <a:pt x="0" y="58531"/>
                  </a:lnTo>
                  <a:close/>
                </a:path>
              </a:pathLst>
            </a:custGeom>
            <a:solidFill>
              <a:srgbClr val="ADC8BC"/>
            </a:solidFill>
            <a:ln w="0">
              <a:noFill/>
              <a:prstDash val="solid"/>
            </a:ln>
          </p:spPr>
          <p:txBody>
            <a:bodyPr/>
            <a:lstStyle/>
            <a:p>
              <a:endParaRPr sz="1200"/>
            </a:p>
          </p:txBody>
        </p:sp>
        <p:sp>
          <p:nvSpPr>
            <p:cNvPr id="464" name="s4-global-distribution__continental-silhouette_464">
              <a:extLst>
                <a:ext uri="{FF2B5EF4-FFF2-40B4-BE49-F238E27FC236}">
                  <a16:creationId xmlns:a16="http://schemas.microsoft.com/office/drawing/2014/main" id="{F5F04F2E-D9A0-4479-B4B5-B2AC59FBAB9B}"/>
                </a:ext>
              </a:extLst>
            </p:cNvPr>
            <p:cNvSpPr>
              <a:spLocks/>
            </p:cNvSpPr>
            <p:nvPr/>
          </p:nvSpPr>
          <p:spPr>
            <a:xfrm>
              <a:off x="10759300" y="2498655"/>
              <a:ext cx="78035" cy="72460"/>
            </a:xfrm>
            <a:custGeom>
              <a:avLst/>
              <a:gdLst/>
              <a:ahLst/>
              <a:cxnLst/>
              <a:rect l="0" t="0" r="0" b="0"/>
              <a:pathLst>
                <a:path w="117053" h="108690">
                  <a:moveTo>
                    <a:pt x="0" y="0"/>
                  </a:moveTo>
                  <a:lnTo>
                    <a:pt x="33442" y="41805"/>
                  </a:lnTo>
                  <a:lnTo>
                    <a:pt x="100327" y="66885"/>
                  </a:lnTo>
                  <a:lnTo>
                    <a:pt x="117053" y="108690"/>
                  </a:lnTo>
                  <a:lnTo>
                    <a:pt x="83610" y="108690"/>
                  </a:lnTo>
                  <a:lnTo>
                    <a:pt x="25079" y="66885"/>
                  </a:lnTo>
                  <a:close/>
                </a:path>
              </a:pathLst>
            </a:custGeom>
            <a:solidFill>
              <a:srgbClr val="ADC8BC"/>
            </a:solidFill>
            <a:ln w="0">
              <a:noFill/>
              <a:prstDash val="solid"/>
            </a:ln>
          </p:spPr>
          <p:txBody>
            <a:bodyPr/>
            <a:lstStyle/>
            <a:p>
              <a:endParaRPr sz="1200"/>
            </a:p>
          </p:txBody>
        </p:sp>
        <p:sp>
          <p:nvSpPr>
            <p:cNvPr id="465" name="s4-global-distribution__contour_465">
              <a:extLst>
                <a:ext uri="{FF2B5EF4-FFF2-40B4-BE49-F238E27FC236}">
                  <a16:creationId xmlns:a16="http://schemas.microsoft.com/office/drawing/2014/main" id="{44017BB5-996E-4C41-A11B-18BB4025BC25}"/>
                </a:ext>
              </a:extLst>
            </p:cNvPr>
            <p:cNvSpPr>
              <a:spLocks/>
            </p:cNvSpPr>
            <p:nvPr/>
          </p:nvSpPr>
          <p:spPr>
            <a:xfrm>
              <a:off x="10051415" y="2347538"/>
              <a:ext cx="902970" cy="50787"/>
            </a:xfrm>
            <a:custGeom>
              <a:avLst/>
              <a:gdLst/>
              <a:ahLst/>
              <a:cxnLst/>
              <a:rect l="0" t="0" r="0" b="0"/>
              <a:pathLst>
                <a:path w="1354455" h="76181">
                  <a:moveTo>
                    <a:pt x="0" y="67818"/>
                  </a:moveTo>
                  <a:lnTo>
                    <a:pt x="76457" y="50654"/>
                  </a:lnTo>
                  <a:lnTo>
                    <a:pt x="158182" y="35957"/>
                  </a:lnTo>
                  <a:lnTo>
                    <a:pt x="244402" y="23736"/>
                  </a:lnTo>
                  <a:lnTo>
                    <a:pt x="334375" y="14021"/>
                  </a:lnTo>
                  <a:lnTo>
                    <a:pt x="427330" y="6820"/>
                  </a:lnTo>
                  <a:lnTo>
                    <a:pt x="522522" y="2134"/>
                  </a:lnTo>
                  <a:lnTo>
                    <a:pt x="619173" y="0"/>
                  </a:lnTo>
                  <a:lnTo>
                    <a:pt x="716547" y="419"/>
                  </a:lnTo>
                  <a:lnTo>
                    <a:pt x="813873" y="3410"/>
                  </a:lnTo>
                  <a:lnTo>
                    <a:pt x="910399" y="8982"/>
                  </a:lnTo>
                  <a:lnTo>
                    <a:pt x="1005364" y="17164"/>
                  </a:lnTo>
                  <a:lnTo>
                    <a:pt x="1098013" y="27956"/>
                  </a:lnTo>
                  <a:lnTo>
                    <a:pt x="1187577" y="41377"/>
                  </a:lnTo>
                  <a:lnTo>
                    <a:pt x="1273312" y="57445"/>
                  </a:lnTo>
                  <a:lnTo>
                    <a:pt x="1354455" y="76181"/>
                  </a:lnTo>
                </a:path>
              </a:pathLst>
            </a:custGeom>
            <a:noFill/>
            <a:ln w="8361">
              <a:solidFill>
                <a:srgbClr val="D1DFDA"/>
              </a:solidFill>
              <a:prstDash val="solid"/>
            </a:ln>
          </p:spPr>
          <p:txBody>
            <a:bodyPr/>
            <a:lstStyle/>
            <a:p>
              <a:endParaRPr sz="1200"/>
            </a:p>
          </p:txBody>
        </p:sp>
        <p:sp>
          <p:nvSpPr>
            <p:cNvPr id="466" name="s4-global-distribution__contour_466">
              <a:extLst>
                <a:ext uri="{FF2B5EF4-FFF2-40B4-BE49-F238E27FC236}">
                  <a16:creationId xmlns:a16="http://schemas.microsoft.com/office/drawing/2014/main" id="{80838059-86C0-49AD-BF0B-C858B5D762B7}"/>
                </a:ext>
              </a:extLst>
            </p:cNvPr>
            <p:cNvSpPr>
              <a:spLocks/>
            </p:cNvSpPr>
            <p:nvPr/>
          </p:nvSpPr>
          <p:spPr>
            <a:xfrm>
              <a:off x="10051415" y="2637999"/>
              <a:ext cx="902970" cy="59112"/>
            </a:xfrm>
            <a:custGeom>
              <a:avLst/>
              <a:gdLst/>
              <a:ahLst/>
              <a:cxnLst/>
              <a:rect l="0" t="0" r="0" b="0"/>
              <a:pathLst>
                <a:path w="1354455" h="88668">
                  <a:moveTo>
                    <a:pt x="0" y="8363"/>
                  </a:moveTo>
                  <a:lnTo>
                    <a:pt x="76457" y="28651"/>
                  </a:lnTo>
                  <a:lnTo>
                    <a:pt x="158182" y="46025"/>
                  </a:lnTo>
                  <a:lnTo>
                    <a:pt x="244402" y="60465"/>
                  </a:lnTo>
                  <a:lnTo>
                    <a:pt x="334375" y="71971"/>
                  </a:lnTo>
                  <a:lnTo>
                    <a:pt x="427330" y="80515"/>
                  </a:lnTo>
                  <a:lnTo>
                    <a:pt x="522522" y="86087"/>
                  </a:lnTo>
                  <a:lnTo>
                    <a:pt x="619173" y="88668"/>
                  </a:lnTo>
                  <a:lnTo>
                    <a:pt x="716547" y="88249"/>
                  </a:lnTo>
                  <a:lnTo>
                    <a:pt x="813873" y="84820"/>
                  </a:lnTo>
                  <a:lnTo>
                    <a:pt x="910399" y="78343"/>
                  </a:lnTo>
                  <a:lnTo>
                    <a:pt x="1005364" y="68828"/>
                  </a:lnTo>
                  <a:lnTo>
                    <a:pt x="1098013" y="56255"/>
                  </a:lnTo>
                  <a:lnTo>
                    <a:pt x="1187577" y="40605"/>
                  </a:lnTo>
                  <a:lnTo>
                    <a:pt x="1273312" y="21860"/>
                  </a:lnTo>
                  <a:lnTo>
                    <a:pt x="1354455" y="0"/>
                  </a:lnTo>
                </a:path>
              </a:pathLst>
            </a:custGeom>
            <a:noFill/>
            <a:ln w="8361">
              <a:solidFill>
                <a:srgbClr val="D1DFDA"/>
              </a:solidFill>
              <a:prstDash val="solid"/>
            </a:ln>
          </p:spPr>
          <p:txBody>
            <a:bodyPr/>
            <a:lstStyle/>
            <a:p>
              <a:endParaRPr sz="1200"/>
            </a:p>
          </p:txBody>
        </p:sp>
        <p:sp>
          <p:nvSpPr>
            <p:cNvPr id="467" name="s4-global-distribution__line_467">
              <a:extLst>
                <a:ext uri="{FF2B5EF4-FFF2-40B4-BE49-F238E27FC236}">
                  <a16:creationId xmlns:a16="http://schemas.microsoft.com/office/drawing/2014/main" id="{8CBAB6B1-E0D2-4AB6-9936-1D7EC1088AC0}"/>
                </a:ext>
              </a:extLst>
            </p:cNvPr>
            <p:cNvSpPr>
              <a:spLocks/>
            </p:cNvSpPr>
            <p:nvPr/>
          </p:nvSpPr>
          <p:spPr>
            <a:xfrm>
              <a:off x="10006825" y="2520950"/>
              <a:ext cx="992149" cy="63"/>
            </a:xfrm>
            <a:custGeom>
              <a:avLst/>
              <a:gdLst/>
              <a:ahLst/>
              <a:cxnLst/>
              <a:rect l="0" t="0" r="0" b="0"/>
              <a:pathLst>
                <a:path w="1488224" h="95">
                  <a:moveTo>
                    <a:pt x="0" y="0"/>
                  </a:moveTo>
                  <a:lnTo>
                    <a:pt x="1488224" y="0"/>
                  </a:lnTo>
                </a:path>
              </a:pathLst>
            </a:custGeom>
            <a:noFill/>
            <a:ln w="8361">
              <a:solidFill>
                <a:srgbClr val="D1DFDA"/>
              </a:solidFill>
              <a:prstDash val="solid"/>
            </a:ln>
          </p:spPr>
          <p:txBody>
            <a:bodyPr/>
            <a:lstStyle/>
            <a:p>
              <a:endParaRPr sz="1200"/>
            </a:p>
          </p:txBody>
        </p:sp>
        <p:sp>
          <p:nvSpPr>
            <p:cNvPr id="468" name="s4-global-distribution__contour_468">
              <a:extLst>
                <a:ext uri="{FF2B5EF4-FFF2-40B4-BE49-F238E27FC236}">
                  <a16:creationId xmlns:a16="http://schemas.microsoft.com/office/drawing/2014/main" id="{E402E288-26D6-48CB-A5DD-84C526656D1B}"/>
                </a:ext>
              </a:extLst>
            </p:cNvPr>
            <p:cNvSpPr>
              <a:spLocks/>
            </p:cNvSpPr>
            <p:nvPr/>
          </p:nvSpPr>
          <p:spPr>
            <a:xfrm>
              <a:off x="10298970" y="2024875"/>
              <a:ext cx="203930" cy="992149"/>
            </a:xfrm>
            <a:custGeom>
              <a:avLst/>
              <a:gdLst/>
              <a:ahLst/>
              <a:cxnLst/>
              <a:rect l="0" t="0" r="0" b="0"/>
              <a:pathLst>
                <a:path w="305895" h="1488224">
                  <a:moveTo>
                    <a:pt x="305895" y="0"/>
                  </a:moveTo>
                  <a:lnTo>
                    <a:pt x="229419" y="78476"/>
                  </a:lnTo>
                  <a:lnTo>
                    <a:pt x="163868" y="165840"/>
                  </a:lnTo>
                  <a:lnTo>
                    <a:pt x="109252" y="260718"/>
                  </a:lnTo>
                  <a:lnTo>
                    <a:pt x="65551" y="361760"/>
                  </a:lnTo>
                  <a:lnTo>
                    <a:pt x="32776" y="467582"/>
                  </a:lnTo>
                  <a:lnTo>
                    <a:pt x="10925" y="576824"/>
                  </a:lnTo>
                  <a:lnTo>
                    <a:pt x="0" y="688124"/>
                  </a:lnTo>
                  <a:lnTo>
                    <a:pt x="0" y="800100"/>
                  </a:lnTo>
                  <a:lnTo>
                    <a:pt x="10925" y="911400"/>
                  </a:lnTo>
                  <a:lnTo>
                    <a:pt x="32776" y="1020642"/>
                  </a:lnTo>
                  <a:lnTo>
                    <a:pt x="65551" y="1126465"/>
                  </a:lnTo>
                  <a:lnTo>
                    <a:pt x="109252" y="1227506"/>
                  </a:lnTo>
                  <a:lnTo>
                    <a:pt x="163868" y="1322384"/>
                  </a:lnTo>
                  <a:lnTo>
                    <a:pt x="229419" y="1409748"/>
                  </a:lnTo>
                  <a:lnTo>
                    <a:pt x="305895" y="1488224"/>
                  </a:lnTo>
                </a:path>
              </a:pathLst>
            </a:custGeom>
            <a:noFill/>
            <a:ln w="8361">
              <a:solidFill>
                <a:srgbClr val="D1DFDA"/>
              </a:solidFill>
              <a:prstDash val="solid"/>
            </a:ln>
          </p:spPr>
          <p:txBody>
            <a:bodyPr/>
            <a:lstStyle/>
            <a:p>
              <a:endParaRPr sz="1200"/>
            </a:p>
          </p:txBody>
        </p:sp>
        <p:sp>
          <p:nvSpPr>
            <p:cNvPr id="469" name="s4-global-distribution__contour_469">
              <a:extLst>
                <a:ext uri="{FF2B5EF4-FFF2-40B4-BE49-F238E27FC236}">
                  <a16:creationId xmlns:a16="http://schemas.microsoft.com/office/drawing/2014/main" id="{8C39127D-D630-42FA-A0B8-905EBE84467A}"/>
                </a:ext>
              </a:extLst>
            </p:cNvPr>
            <p:cNvSpPr>
              <a:spLocks/>
            </p:cNvSpPr>
            <p:nvPr/>
          </p:nvSpPr>
          <p:spPr>
            <a:xfrm>
              <a:off x="10502900" y="2024875"/>
              <a:ext cx="203930" cy="992149"/>
            </a:xfrm>
            <a:custGeom>
              <a:avLst/>
              <a:gdLst/>
              <a:ahLst/>
              <a:cxnLst/>
              <a:rect l="0" t="0" r="0" b="0"/>
              <a:pathLst>
                <a:path w="305895" h="1488224">
                  <a:moveTo>
                    <a:pt x="0" y="0"/>
                  </a:moveTo>
                  <a:lnTo>
                    <a:pt x="76476" y="78476"/>
                  </a:lnTo>
                  <a:lnTo>
                    <a:pt x="142027" y="165840"/>
                  </a:lnTo>
                  <a:lnTo>
                    <a:pt x="196644" y="260718"/>
                  </a:lnTo>
                  <a:lnTo>
                    <a:pt x="240344" y="361760"/>
                  </a:lnTo>
                  <a:lnTo>
                    <a:pt x="273120" y="467582"/>
                  </a:lnTo>
                  <a:lnTo>
                    <a:pt x="294970" y="576824"/>
                  </a:lnTo>
                  <a:lnTo>
                    <a:pt x="305895" y="688124"/>
                  </a:lnTo>
                  <a:lnTo>
                    <a:pt x="305895" y="800100"/>
                  </a:lnTo>
                  <a:lnTo>
                    <a:pt x="294970" y="911400"/>
                  </a:lnTo>
                  <a:lnTo>
                    <a:pt x="273120" y="1020642"/>
                  </a:lnTo>
                  <a:lnTo>
                    <a:pt x="240344" y="1126465"/>
                  </a:lnTo>
                  <a:lnTo>
                    <a:pt x="196644" y="1227506"/>
                  </a:lnTo>
                  <a:lnTo>
                    <a:pt x="142027" y="1322384"/>
                  </a:lnTo>
                  <a:lnTo>
                    <a:pt x="76476" y="1409748"/>
                  </a:lnTo>
                  <a:lnTo>
                    <a:pt x="0" y="1488224"/>
                  </a:lnTo>
                </a:path>
              </a:pathLst>
            </a:custGeom>
            <a:noFill/>
            <a:ln w="8361">
              <a:solidFill>
                <a:srgbClr val="D1DFDA"/>
              </a:solidFill>
              <a:prstDash val="solid"/>
            </a:ln>
          </p:spPr>
          <p:txBody>
            <a:bodyPr/>
            <a:lstStyle/>
            <a:p>
              <a:endParaRPr sz="1200"/>
            </a:p>
          </p:txBody>
        </p:sp>
        <p:sp>
          <p:nvSpPr>
            <p:cNvPr id="470" name="s4-ongoing-gene-flow__ongoing-exchange-upper_470">
              <a:extLst>
                <a:ext uri="{FF2B5EF4-FFF2-40B4-BE49-F238E27FC236}">
                  <a16:creationId xmlns:a16="http://schemas.microsoft.com/office/drawing/2014/main" id="{4A427BE1-6CC9-4629-83CA-941BF142AE14}"/>
                </a:ext>
              </a:extLst>
            </p:cNvPr>
            <p:cNvSpPr>
              <a:spLocks/>
            </p:cNvSpPr>
            <p:nvPr/>
          </p:nvSpPr>
          <p:spPr>
            <a:xfrm>
              <a:off x="9903480" y="1847901"/>
              <a:ext cx="1291539" cy="903262"/>
            </a:xfrm>
            <a:custGeom>
              <a:avLst/>
              <a:gdLst/>
              <a:ahLst/>
              <a:cxnLst/>
              <a:rect l="0" t="0" r="0" b="0"/>
              <a:pathLst>
                <a:path w="1937309" h="1354893">
                  <a:moveTo>
                    <a:pt x="0" y="504749"/>
                  </a:moveTo>
                  <a:lnTo>
                    <a:pt x="22803" y="468154"/>
                  </a:lnTo>
                  <a:lnTo>
                    <a:pt x="47187" y="432530"/>
                  </a:lnTo>
                  <a:lnTo>
                    <a:pt x="73095" y="397935"/>
                  </a:lnTo>
                  <a:lnTo>
                    <a:pt x="100489" y="364446"/>
                  </a:lnTo>
                  <a:lnTo>
                    <a:pt x="129311" y="332118"/>
                  </a:lnTo>
                  <a:lnTo>
                    <a:pt x="159525" y="301000"/>
                  </a:lnTo>
                  <a:lnTo>
                    <a:pt x="191062" y="271167"/>
                  </a:lnTo>
                  <a:lnTo>
                    <a:pt x="223876" y="242649"/>
                  </a:lnTo>
                  <a:lnTo>
                    <a:pt x="257899" y="215513"/>
                  </a:lnTo>
                  <a:lnTo>
                    <a:pt x="293075" y="189805"/>
                  </a:lnTo>
                  <a:lnTo>
                    <a:pt x="329336" y="165564"/>
                  </a:lnTo>
                  <a:lnTo>
                    <a:pt x="366627" y="142837"/>
                  </a:lnTo>
                  <a:lnTo>
                    <a:pt x="404870" y="121672"/>
                  </a:lnTo>
                  <a:lnTo>
                    <a:pt x="444008" y="102108"/>
                  </a:lnTo>
                  <a:lnTo>
                    <a:pt x="483956" y="84163"/>
                  </a:lnTo>
                  <a:lnTo>
                    <a:pt x="524647" y="67885"/>
                  </a:lnTo>
                  <a:lnTo>
                    <a:pt x="566014" y="53302"/>
                  </a:lnTo>
                  <a:lnTo>
                    <a:pt x="607981" y="40434"/>
                  </a:lnTo>
                  <a:lnTo>
                    <a:pt x="650472" y="29308"/>
                  </a:lnTo>
                  <a:lnTo>
                    <a:pt x="693410" y="19945"/>
                  </a:lnTo>
                  <a:lnTo>
                    <a:pt x="736721" y="12354"/>
                  </a:lnTo>
                  <a:lnTo>
                    <a:pt x="780317" y="6553"/>
                  </a:lnTo>
                  <a:lnTo>
                    <a:pt x="824122" y="2562"/>
                  </a:lnTo>
                  <a:lnTo>
                    <a:pt x="868070" y="371"/>
                  </a:lnTo>
                  <a:lnTo>
                    <a:pt x="912076" y="0"/>
                  </a:lnTo>
                  <a:lnTo>
                    <a:pt x="956053" y="1438"/>
                  </a:lnTo>
                  <a:lnTo>
                    <a:pt x="999925" y="4696"/>
                  </a:lnTo>
                  <a:lnTo>
                    <a:pt x="1043626" y="9754"/>
                  </a:lnTo>
                  <a:lnTo>
                    <a:pt x="1087060" y="16602"/>
                  </a:lnTo>
                  <a:lnTo>
                    <a:pt x="1130160" y="25241"/>
                  </a:lnTo>
                  <a:lnTo>
                    <a:pt x="1172842" y="35643"/>
                  </a:lnTo>
                  <a:lnTo>
                    <a:pt x="1215028" y="47796"/>
                  </a:lnTo>
                  <a:lnTo>
                    <a:pt x="1256652" y="61674"/>
                  </a:lnTo>
                  <a:lnTo>
                    <a:pt x="1297638" y="77257"/>
                  </a:lnTo>
                  <a:lnTo>
                    <a:pt x="1337901" y="94517"/>
                  </a:lnTo>
                  <a:lnTo>
                    <a:pt x="1377382" y="113424"/>
                  </a:lnTo>
                  <a:lnTo>
                    <a:pt x="1415996" y="133931"/>
                  </a:lnTo>
                  <a:lnTo>
                    <a:pt x="1453686" y="156019"/>
                  </a:lnTo>
                  <a:lnTo>
                    <a:pt x="1490386" y="179642"/>
                  </a:lnTo>
                  <a:lnTo>
                    <a:pt x="1526019" y="204749"/>
                  </a:lnTo>
                  <a:lnTo>
                    <a:pt x="1560519" y="231305"/>
                  </a:lnTo>
                  <a:lnTo>
                    <a:pt x="1593837" y="259261"/>
                  </a:lnTo>
                  <a:lnTo>
                    <a:pt x="1625908" y="288560"/>
                  </a:lnTo>
                  <a:lnTo>
                    <a:pt x="1656674" y="319154"/>
                  </a:lnTo>
                  <a:lnTo>
                    <a:pt x="1686077" y="350996"/>
                  </a:lnTo>
                  <a:lnTo>
                    <a:pt x="1714062" y="384010"/>
                  </a:lnTo>
                  <a:lnTo>
                    <a:pt x="1740589" y="418157"/>
                  </a:lnTo>
                  <a:lnTo>
                    <a:pt x="1765602" y="453361"/>
                  </a:lnTo>
                  <a:lnTo>
                    <a:pt x="1789062" y="489566"/>
                  </a:lnTo>
                  <a:lnTo>
                    <a:pt x="1810922" y="526704"/>
                  </a:lnTo>
                  <a:lnTo>
                    <a:pt x="1831143" y="564709"/>
                  </a:lnTo>
                  <a:lnTo>
                    <a:pt x="1849688" y="603514"/>
                  </a:lnTo>
                  <a:lnTo>
                    <a:pt x="1866529" y="643052"/>
                  </a:lnTo>
                  <a:lnTo>
                    <a:pt x="1881635" y="683247"/>
                  </a:lnTo>
                  <a:lnTo>
                    <a:pt x="1894970" y="724024"/>
                  </a:lnTo>
                  <a:lnTo>
                    <a:pt x="1906514" y="765315"/>
                  </a:lnTo>
                  <a:lnTo>
                    <a:pt x="1916259" y="807053"/>
                  </a:lnTo>
                  <a:lnTo>
                    <a:pt x="1924164" y="849144"/>
                  </a:lnTo>
                  <a:lnTo>
                    <a:pt x="1930232" y="891530"/>
                  </a:lnTo>
                  <a:lnTo>
                    <a:pt x="1934451" y="934126"/>
                  </a:lnTo>
                  <a:lnTo>
                    <a:pt x="1936813" y="976855"/>
                  </a:lnTo>
                  <a:lnTo>
                    <a:pt x="1937309" y="1019642"/>
                  </a:lnTo>
                  <a:lnTo>
                    <a:pt x="1935937" y="1062419"/>
                  </a:lnTo>
                  <a:lnTo>
                    <a:pt x="1932699" y="1105091"/>
                  </a:lnTo>
                  <a:lnTo>
                    <a:pt x="1927612" y="1147601"/>
                  </a:lnTo>
                  <a:lnTo>
                    <a:pt x="1920669" y="1189853"/>
                  </a:lnTo>
                  <a:lnTo>
                    <a:pt x="1911896" y="1231783"/>
                  </a:lnTo>
                  <a:lnTo>
                    <a:pt x="1901304" y="1273321"/>
                  </a:lnTo>
                  <a:lnTo>
                    <a:pt x="1888912" y="1314383"/>
                  </a:lnTo>
                  <a:lnTo>
                    <a:pt x="1874739" y="1354893"/>
                  </a:lnTo>
                </a:path>
              </a:pathLst>
            </a:custGeom>
            <a:noFill/>
            <a:ln w="30480">
              <a:solidFill>
                <a:srgbClr val="846786"/>
              </a:solidFill>
              <a:prstDash val="solid"/>
            </a:ln>
          </p:spPr>
          <p:txBody>
            <a:bodyPr/>
            <a:lstStyle/>
            <a:p>
              <a:endParaRPr sz="1200"/>
            </a:p>
          </p:txBody>
        </p:sp>
        <p:sp>
          <p:nvSpPr>
            <p:cNvPr id="471" name="s4-ongoing-gene-flow__ongoing-exchange-upper-tip_471">
              <a:extLst>
                <a:ext uri="{FF2B5EF4-FFF2-40B4-BE49-F238E27FC236}">
                  <a16:creationId xmlns:a16="http://schemas.microsoft.com/office/drawing/2014/main" id="{B41D9417-1FAA-4A24-AAE6-46DE123DB017}"/>
                </a:ext>
              </a:extLst>
            </p:cNvPr>
            <p:cNvSpPr>
              <a:spLocks/>
            </p:cNvSpPr>
            <p:nvPr/>
          </p:nvSpPr>
          <p:spPr>
            <a:xfrm>
              <a:off x="11141063" y="2666155"/>
              <a:ext cx="74809" cy="85007"/>
            </a:xfrm>
            <a:custGeom>
              <a:avLst/>
              <a:gdLst/>
              <a:ahLst/>
              <a:cxnLst/>
              <a:rect l="0" t="0" r="0" b="0"/>
              <a:pathLst>
                <a:path w="112214" h="127511">
                  <a:moveTo>
                    <a:pt x="18364" y="127511"/>
                  </a:moveTo>
                  <a:lnTo>
                    <a:pt x="112214" y="39243"/>
                  </a:lnTo>
                  <a:lnTo>
                    <a:pt x="0" y="0"/>
                  </a:lnTo>
                  <a:close/>
                </a:path>
              </a:pathLst>
            </a:custGeom>
            <a:solidFill>
              <a:srgbClr val="846786"/>
            </a:solidFill>
            <a:ln w="0">
              <a:noFill/>
              <a:prstDash val="solid"/>
            </a:ln>
          </p:spPr>
          <p:txBody>
            <a:bodyPr/>
            <a:lstStyle/>
            <a:p>
              <a:endParaRPr sz="1200"/>
            </a:p>
          </p:txBody>
        </p:sp>
        <p:sp>
          <p:nvSpPr>
            <p:cNvPr id="472" name="s4-ongoing-gene-flow__ongoing-exchange-lower_472">
              <a:extLst>
                <a:ext uri="{FF2B5EF4-FFF2-40B4-BE49-F238E27FC236}">
                  <a16:creationId xmlns:a16="http://schemas.microsoft.com/office/drawing/2014/main" id="{A8A6E508-ACA9-4112-A3B3-9CF9309BD48A}"/>
                </a:ext>
              </a:extLst>
            </p:cNvPr>
            <p:cNvSpPr>
              <a:spLocks/>
            </p:cNvSpPr>
            <p:nvPr/>
          </p:nvSpPr>
          <p:spPr>
            <a:xfrm>
              <a:off x="9810783" y="2290737"/>
              <a:ext cx="1291539" cy="903262"/>
            </a:xfrm>
            <a:custGeom>
              <a:avLst/>
              <a:gdLst/>
              <a:ahLst/>
              <a:cxnLst/>
              <a:rect l="0" t="0" r="0" b="0"/>
              <a:pathLst>
                <a:path w="1937309" h="1354893">
                  <a:moveTo>
                    <a:pt x="1937309" y="850144"/>
                  </a:moveTo>
                  <a:lnTo>
                    <a:pt x="1914506" y="886739"/>
                  </a:lnTo>
                  <a:lnTo>
                    <a:pt x="1890122" y="922363"/>
                  </a:lnTo>
                  <a:lnTo>
                    <a:pt x="1864214" y="956958"/>
                  </a:lnTo>
                  <a:lnTo>
                    <a:pt x="1836820" y="990448"/>
                  </a:lnTo>
                  <a:lnTo>
                    <a:pt x="1807997" y="1022775"/>
                  </a:lnTo>
                  <a:lnTo>
                    <a:pt x="1777784" y="1053894"/>
                  </a:lnTo>
                  <a:lnTo>
                    <a:pt x="1746247" y="1083726"/>
                  </a:lnTo>
                  <a:lnTo>
                    <a:pt x="1713433" y="1112244"/>
                  </a:lnTo>
                  <a:lnTo>
                    <a:pt x="1679410" y="1139381"/>
                  </a:lnTo>
                  <a:lnTo>
                    <a:pt x="1644234" y="1165088"/>
                  </a:lnTo>
                  <a:lnTo>
                    <a:pt x="1607972" y="1189330"/>
                  </a:lnTo>
                  <a:lnTo>
                    <a:pt x="1570682" y="1212056"/>
                  </a:lnTo>
                  <a:lnTo>
                    <a:pt x="1532439" y="1233221"/>
                  </a:lnTo>
                  <a:lnTo>
                    <a:pt x="1493301" y="1252785"/>
                  </a:lnTo>
                  <a:lnTo>
                    <a:pt x="1453353" y="1270730"/>
                  </a:lnTo>
                  <a:lnTo>
                    <a:pt x="1412662" y="1287008"/>
                  </a:lnTo>
                  <a:lnTo>
                    <a:pt x="1371295" y="1301591"/>
                  </a:lnTo>
                  <a:lnTo>
                    <a:pt x="1329328" y="1314460"/>
                  </a:lnTo>
                  <a:lnTo>
                    <a:pt x="1286837" y="1325585"/>
                  </a:lnTo>
                  <a:lnTo>
                    <a:pt x="1243898" y="1334948"/>
                  </a:lnTo>
                  <a:lnTo>
                    <a:pt x="1200588" y="1342539"/>
                  </a:lnTo>
                  <a:lnTo>
                    <a:pt x="1156992" y="1348340"/>
                  </a:lnTo>
                  <a:lnTo>
                    <a:pt x="1113187" y="1352331"/>
                  </a:lnTo>
                  <a:lnTo>
                    <a:pt x="1069238" y="1354522"/>
                  </a:lnTo>
                  <a:lnTo>
                    <a:pt x="1025233" y="1354893"/>
                  </a:lnTo>
                  <a:lnTo>
                    <a:pt x="981256" y="1353455"/>
                  </a:lnTo>
                  <a:lnTo>
                    <a:pt x="937384" y="1350197"/>
                  </a:lnTo>
                  <a:lnTo>
                    <a:pt x="893683" y="1345140"/>
                  </a:lnTo>
                  <a:lnTo>
                    <a:pt x="850249" y="1338291"/>
                  </a:lnTo>
                  <a:lnTo>
                    <a:pt x="807148" y="1329652"/>
                  </a:lnTo>
                  <a:lnTo>
                    <a:pt x="764467" y="1319251"/>
                  </a:lnTo>
                  <a:lnTo>
                    <a:pt x="722281" y="1307097"/>
                  </a:lnTo>
                  <a:lnTo>
                    <a:pt x="680656" y="1293219"/>
                  </a:lnTo>
                  <a:lnTo>
                    <a:pt x="639670" y="1277636"/>
                  </a:lnTo>
                  <a:lnTo>
                    <a:pt x="599408" y="1260377"/>
                  </a:lnTo>
                  <a:lnTo>
                    <a:pt x="559927" y="1241469"/>
                  </a:lnTo>
                  <a:lnTo>
                    <a:pt x="521313" y="1220962"/>
                  </a:lnTo>
                  <a:lnTo>
                    <a:pt x="483622" y="1198874"/>
                  </a:lnTo>
                  <a:lnTo>
                    <a:pt x="446923" y="1175252"/>
                  </a:lnTo>
                  <a:lnTo>
                    <a:pt x="411289" y="1150144"/>
                  </a:lnTo>
                  <a:lnTo>
                    <a:pt x="376790" y="1123588"/>
                  </a:lnTo>
                  <a:lnTo>
                    <a:pt x="343471" y="1095632"/>
                  </a:lnTo>
                  <a:lnTo>
                    <a:pt x="311401" y="1066333"/>
                  </a:lnTo>
                  <a:lnTo>
                    <a:pt x="280635" y="1035739"/>
                  </a:lnTo>
                  <a:lnTo>
                    <a:pt x="251231" y="1003897"/>
                  </a:lnTo>
                  <a:lnTo>
                    <a:pt x="223247" y="970883"/>
                  </a:lnTo>
                  <a:lnTo>
                    <a:pt x="196720" y="936736"/>
                  </a:lnTo>
                  <a:lnTo>
                    <a:pt x="171707" y="901532"/>
                  </a:lnTo>
                  <a:lnTo>
                    <a:pt x="148247" y="865327"/>
                  </a:lnTo>
                  <a:lnTo>
                    <a:pt x="126387" y="828189"/>
                  </a:lnTo>
                  <a:lnTo>
                    <a:pt x="106166" y="790184"/>
                  </a:lnTo>
                  <a:lnTo>
                    <a:pt x="87620" y="751380"/>
                  </a:lnTo>
                  <a:lnTo>
                    <a:pt x="70780" y="711841"/>
                  </a:lnTo>
                  <a:lnTo>
                    <a:pt x="55674" y="671646"/>
                  </a:lnTo>
                  <a:lnTo>
                    <a:pt x="42339" y="630869"/>
                  </a:lnTo>
                  <a:lnTo>
                    <a:pt x="30794" y="589578"/>
                  </a:lnTo>
                  <a:lnTo>
                    <a:pt x="21050" y="547840"/>
                  </a:lnTo>
                  <a:lnTo>
                    <a:pt x="13144" y="505749"/>
                  </a:lnTo>
                  <a:lnTo>
                    <a:pt x="7077" y="463363"/>
                  </a:lnTo>
                  <a:lnTo>
                    <a:pt x="2857" y="420767"/>
                  </a:lnTo>
                  <a:lnTo>
                    <a:pt x="495" y="378038"/>
                  </a:lnTo>
                  <a:lnTo>
                    <a:pt x="0" y="335251"/>
                  </a:lnTo>
                  <a:lnTo>
                    <a:pt x="1372" y="292475"/>
                  </a:lnTo>
                  <a:lnTo>
                    <a:pt x="4610" y="249803"/>
                  </a:lnTo>
                  <a:lnTo>
                    <a:pt x="9696" y="207293"/>
                  </a:lnTo>
                  <a:lnTo>
                    <a:pt x="16640" y="165040"/>
                  </a:lnTo>
                  <a:lnTo>
                    <a:pt x="25413" y="123111"/>
                  </a:lnTo>
                  <a:lnTo>
                    <a:pt x="36004" y="81572"/>
                  </a:lnTo>
                  <a:lnTo>
                    <a:pt x="48397" y="40510"/>
                  </a:lnTo>
                  <a:lnTo>
                    <a:pt x="62570" y="0"/>
                  </a:lnTo>
                </a:path>
              </a:pathLst>
            </a:custGeom>
            <a:noFill/>
            <a:ln w="30480">
              <a:solidFill>
                <a:srgbClr val="846786"/>
              </a:solidFill>
              <a:prstDash val="solid"/>
            </a:ln>
          </p:spPr>
          <p:txBody>
            <a:bodyPr/>
            <a:lstStyle/>
            <a:p>
              <a:endParaRPr sz="1200"/>
            </a:p>
          </p:txBody>
        </p:sp>
        <p:sp>
          <p:nvSpPr>
            <p:cNvPr id="473" name="s4-ongoing-gene-flow__ongoing-exchange-lower-tip_473">
              <a:extLst>
                <a:ext uri="{FF2B5EF4-FFF2-40B4-BE49-F238E27FC236}">
                  <a16:creationId xmlns:a16="http://schemas.microsoft.com/office/drawing/2014/main" id="{91AA7FAA-BA69-4E42-8D70-7737EEDAC8E5}"/>
                </a:ext>
              </a:extLst>
            </p:cNvPr>
            <p:cNvSpPr>
              <a:spLocks/>
            </p:cNvSpPr>
            <p:nvPr/>
          </p:nvSpPr>
          <p:spPr>
            <a:xfrm>
              <a:off x="9789929" y="2290737"/>
              <a:ext cx="74809" cy="85007"/>
            </a:xfrm>
            <a:custGeom>
              <a:avLst/>
              <a:gdLst/>
              <a:ahLst/>
              <a:cxnLst/>
              <a:rect l="0" t="0" r="0" b="0"/>
              <a:pathLst>
                <a:path w="112214" h="127511">
                  <a:moveTo>
                    <a:pt x="93850" y="0"/>
                  </a:moveTo>
                  <a:lnTo>
                    <a:pt x="0" y="88268"/>
                  </a:lnTo>
                  <a:lnTo>
                    <a:pt x="112214" y="127511"/>
                  </a:lnTo>
                  <a:close/>
                </a:path>
              </a:pathLst>
            </a:custGeom>
            <a:solidFill>
              <a:srgbClr val="846786"/>
            </a:solidFill>
            <a:ln w="0">
              <a:noFill/>
              <a:prstDash val="solid"/>
            </a:ln>
          </p:spPr>
          <p:txBody>
            <a:bodyPr/>
            <a:lstStyle/>
            <a:p>
              <a:endParaRPr sz="1200"/>
            </a:p>
          </p:txBody>
        </p:sp>
        <p:sp>
          <p:nvSpPr>
            <p:cNvPr id="474" name="s4-ground__ellipse_474">
              <a:extLst>
                <a:ext uri="{FF2B5EF4-FFF2-40B4-BE49-F238E27FC236}">
                  <a16:creationId xmlns:a16="http://schemas.microsoft.com/office/drawing/2014/main" id="{039BEB20-1C12-460B-8F5B-EF67AAFC502E}"/>
                </a:ext>
              </a:extLst>
            </p:cNvPr>
            <p:cNvSpPr>
              <a:spLocks/>
            </p:cNvSpPr>
            <p:nvPr/>
          </p:nvSpPr>
          <p:spPr>
            <a:xfrm>
              <a:off x="9207500" y="3765550"/>
              <a:ext cx="2571750" cy="406400"/>
            </a:xfrm>
            <a:prstGeom prst="ellipse">
              <a:avLst/>
            </a:prstGeom>
            <a:solidFill>
              <a:srgbClr val="EEE8EE"/>
            </a:solidFill>
            <a:ln w="0">
              <a:noFill/>
              <a:prstDash val="solid"/>
            </a:ln>
          </p:spPr>
          <p:txBody>
            <a:bodyPr/>
            <a:lstStyle/>
            <a:p>
              <a:endParaRPr sz="1200"/>
            </a:p>
          </p:txBody>
        </p:sp>
        <p:sp>
          <p:nvSpPr>
            <p:cNvPr id="475" name="s4-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1200"/>
            </a:p>
          </p:txBody>
        </p:sp>
        <p:sp>
          <p:nvSpPr>
            <p:cNvPr id="476" name="s4-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1200"/>
            </a:p>
          </p:txBody>
        </p:sp>
        <p:sp>
          <p:nvSpPr>
            <p:cNvPr id="477" name="s4-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1200"/>
            </a:p>
          </p:txBody>
        </p:sp>
        <p:sp>
          <p:nvSpPr>
            <p:cNvPr id="478" name="s4-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1200"/>
            </a:p>
          </p:txBody>
        </p:sp>
        <p:sp>
          <p:nvSpPr>
            <p:cNvPr id="479" name="s4-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1200"/>
            </a:p>
          </p:txBody>
        </p:sp>
        <p:sp>
          <p:nvSpPr>
            <p:cNvPr id="480" name="s4-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1200"/>
            </a:p>
          </p:txBody>
        </p:sp>
        <p:sp>
          <p:nvSpPr>
            <p:cNvPr id="481" name="s4-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1200"/>
            </a:p>
          </p:txBody>
        </p:sp>
        <p:sp>
          <p:nvSpPr>
            <p:cNvPr id="482" name="s4-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1200"/>
            </a:p>
          </p:txBody>
        </p:sp>
        <p:sp>
          <p:nvSpPr>
            <p:cNvPr id="483" name="s4-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1200"/>
            </a:p>
          </p:txBody>
        </p:sp>
        <p:sp>
          <p:nvSpPr>
            <p:cNvPr id="484" name="s4-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1200"/>
            </a:p>
          </p:txBody>
        </p:sp>
        <p:sp>
          <p:nvSpPr>
            <p:cNvPr id="485" name="s4-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1200"/>
            </a:p>
          </p:txBody>
        </p:sp>
        <p:sp>
          <p:nvSpPr>
            <p:cNvPr id="486" name="s4-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1200"/>
            </a:p>
          </p:txBody>
        </p:sp>
        <p:sp>
          <p:nvSpPr>
            <p:cNvPr id="487" name="s4-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1200"/>
            </a:p>
          </p:txBody>
        </p:sp>
        <p:sp>
          <p:nvSpPr>
            <p:cNvPr id="488" name="s4-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1200"/>
            </a:p>
          </p:txBody>
        </p:sp>
        <p:sp>
          <p:nvSpPr>
            <p:cNvPr id="489" name="s4-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1200"/>
            </a:p>
          </p:txBody>
        </p:sp>
        <p:sp>
          <p:nvSpPr>
            <p:cNvPr id="490" name="s4-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1200"/>
            </a:p>
          </p:txBody>
        </p:sp>
        <p:sp>
          <p:nvSpPr>
            <p:cNvPr id="491" name="s4-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1200"/>
            </a:p>
          </p:txBody>
        </p:sp>
        <p:sp>
          <p:nvSpPr>
            <p:cNvPr id="492" name="s4-crested-chicken__ellipse_492">
              <a:extLst>
                <a:ext uri="{FF2B5EF4-FFF2-40B4-BE49-F238E27FC236}">
                  <a16:creationId xmlns:a16="http://schemas.microsoft.com/office/drawing/2014/main" id="{D9B9B17A-1995-4024-B9F9-7E4162463A40}"/>
                </a:ext>
              </a:extLst>
            </p:cNvPr>
            <p:cNvSpPr>
              <a:spLocks/>
            </p:cNvSpPr>
            <p:nvPr/>
          </p:nvSpPr>
          <p:spPr>
            <a:xfrm>
              <a:off x="10311447" y="4115436"/>
              <a:ext cx="491172" cy="48577"/>
            </a:xfrm>
            <a:prstGeom prst="ellipse">
              <a:avLst/>
            </a:prstGeom>
            <a:solidFill>
              <a:srgbClr val="DCE2D6">
                <a:alpha val="80000"/>
              </a:srgbClr>
            </a:solidFill>
            <a:ln w="0">
              <a:noFill/>
              <a:prstDash val="solid"/>
            </a:ln>
          </p:spPr>
          <p:txBody>
            <a:bodyPr/>
            <a:lstStyle/>
            <a:p>
              <a:endParaRPr sz="1200"/>
            </a:p>
          </p:txBody>
        </p:sp>
        <p:sp>
          <p:nvSpPr>
            <p:cNvPr id="493" name="s4-crested-chicken__contour_493">
              <a:extLst>
                <a:ext uri="{FF2B5EF4-FFF2-40B4-BE49-F238E27FC236}">
                  <a16:creationId xmlns:a16="http://schemas.microsoft.com/office/drawing/2014/main" id="{C8F6ED5F-83DD-4D11-9A9B-03ED20BE6990}"/>
                </a:ext>
              </a:extLst>
            </p:cNvPr>
            <p:cNvSpPr>
              <a:spLocks/>
            </p:cNvSpPr>
            <p:nvPr/>
          </p:nvSpPr>
          <p:spPr>
            <a:xfrm>
              <a:off x="10160317" y="3672841"/>
              <a:ext cx="259080" cy="215899"/>
            </a:xfrm>
            <a:custGeom>
              <a:avLst/>
              <a:gdLst/>
              <a:ahLst/>
              <a:cxnLst/>
              <a:rect l="0" t="0" r="0" b="0"/>
              <a:pathLst>
                <a:path w="388620" h="323850">
                  <a:moveTo>
                    <a:pt x="364331" y="323850"/>
                  </a:moveTo>
                  <a:lnTo>
                    <a:pt x="336614" y="304914"/>
                  </a:lnTo>
                  <a:lnTo>
                    <a:pt x="308648" y="286779"/>
                  </a:lnTo>
                  <a:lnTo>
                    <a:pt x="280587" y="269186"/>
                  </a:lnTo>
                  <a:lnTo>
                    <a:pt x="252613" y="251841"/>
                  </a:lnTo>
                  <a:lnTo>
                    <a:pt x="224895" y="234496"/>
                  </a:lnTo>
                  <a:lnTo>
                    <a:pt x="197615" y="216846"/>
                  </a:lnTo>
                  <a:lnTo>
                    <a:pt x="170936" y="198644"/>
                  </a:lnTo>
                  <a:lnTo>
                    <a:pt x="145037" y="179613"/>
                  </a:lnTo>
                  <a:lnTo>
                    <a:pt x="120082" y="159468"/>
                  </a:lnTo>
                  <a:lnTo>
                    <a:pt x="96260" y="137932"/>
                  </a:lnTo>
                  <a:lnTo>
                    <a:pt x="73724" y="114757"/>
                  </a:lnTo>
                  <a:lnTo>
                    <a:pt x="52654" y="89640"/>
                  </a:lnTo>
                  <a:lnTo>
                    <a:pt x="33233" y="62332"/>
                  </a:lnTo>
                  <a:lnTo>
                    <a:pt x="15621" y="32537"/>
                  </a:lnTo>
                  <a:lnTo>
                    <a:pt x="0" y="0"/>
                  </a:lnTo>
                  <a:lnTo>
                    <a:pt x="18698" y="3839"/>
                  </a:lnTo>
                  <a:lnTo>
                    <a:pt x="36033" y="8725"/>
                  </a:lnTo>
                  <a:lnTo>
                    <a:pt x="52140" y="14383"/>
                  </a:lnTo>
                  <a:lnTo>
                    <a:pt x="67170" y="20555"/>
                  </a:lnTo>
                  <a:lnTo>
                    <a:pt x="81258" y="26984"/>
                  </a:lnTo>
                  <a:lnTo>
                    <a:pt x="94564" y="33423"/>
                  </a:lnTo>
                  <a:lnTo>
                    <a:pt x="107223" y="39595"/>
                  </a:lnTo>
                  <a:lnTo>
                    <a:pt x="119367" y="45253"/>
                  </a:lnTo>
                  <a:lnTo>
                    <a:pt x="131159" y="50130"/>
                  </a:lnTo>
                  <a:lnTo>
                    <a:pt x="142732" y="53978"/>
                  </a:lnTo>
                  <a:lnTo>
                    <a:pt x="154238" y="56521"/>
                  </a:lnTo>
                  <a:lnTo>
                    <a:pt x="165811" y="57512"/>
                  </a:lnTo>
                  <a:lnTo>
                    <a:pt x="177603" y="56693"/>
                  </a:lnTo>
                  <a:lnTo>
                    <a:pt x="189748" y="53807"/>
                  </a:lnTo>
                  <a:lnTo>
                    <a:pt x="202406" y="48578"/>
                  </a:lnTo>
                  <a:lnTo>
                    <a:pt x="315754" y="113347"/>
                  </a:lnTo>
                  <a:lnTo>
                    <a:pt x="388620" y="218599"/>
                  </a:lnTo>
                  <a:close/>
                </a:path>
              </a:pathLst>
            </a:custGeom>
            <a:solidFill>
              <a:srgbClr val="2D3B37"/>
            </a:solidFill>
            <a:ln w="13764">
              <a:solidFill>
                <a:srgbClr val="4A5147"/>
              </a:solidFill>
              <a:prstDash val="solid"/>
            </a:ln>
          </p:spPr>
          <p:txBody>
            <a:bodyPr/>
            <a:lstStyle/>
            <a:p>
              <a:endParaRPr sz="1200"/>
            </a:p>
          </p:txBody>
        </p:sp>
        <p:sp>
          <p:nvSpPr>
            <p:cNvPr id="494" name="s4-crested-chicken__line_494">
              <a:extLst>
                <a:ext uri="{FF2B5EF4-FFF2-40B4-BE49-F238E27FC236}">
                  <a16:creationId xmlns:a16="http://schemas.microsoft.com/office/drawing/2014/main" id="{41C5EE6F-D28E-4C1E-8DCF-E1DBD142192D}"/>
                </a:ext>
              </a:extLst>
            </p:cNvPr>
            <p:cNvSpPr>
              <a:spLocks/>
            </p:cNvSpPr>
            <p:nvPr/>
          </p:nvSpPr>
          <p:spPr>
            <a:xfrm>
              <a:off x="10521950" y="4018281"/>
              <a:ext cx="5397" cy="97155"/>
            </a:xfrm>
            <a:custGeom>
              <a:avLst/>
              <a:gdLst/>
              <a:ahLst/>
              <a:cxnLst/>
              <a:rect l="0" t="0" r="0" b="0"/>
              <a:pathLst>
                <a:path w="8096" h="145733">
                  <a:moveTo>
                    <a:pt x="0" y="0"/>
                  </a:moveTo>
                  <a:lnTo>
                    <a:pt x="8096" y="145733"/>
                  </a:lnTo>
                </a:path>
              </a:pathLst>
            </a:custGeom>
            <a:noFill/>
            <a:ln w="22670">
              <a:solidFill>
                <a:srgbClr val="B98E49"/>
              </a:solidFill>
              <a:prstDash val="solid"/>
            </a:ln>
          </p:spPr>
          <p:txBody>
            <a:bodyPr/>
            <a:lstStyle/>
            <a:p>
              <a:endParaRPr sz="1200"/>
            </a:p>
          </p:txBody>
        </p:sp>
        <p:sp>
          <p:nvSpPr>
            <p:cNvPr id="495" name="s4-crested-chicken__line_495">
              <a:extLst>
                <a:ext uri="{FF2B5EF4-FFF2-40B4-BE49-F238E27FC236}">
                  <a16:creationId xmlns:a16="http://schemas.microsoft.com/office/drawing/2014/main" id="{6CB70C1F-4E98-49FE-9BC8-6A4AC26D3BB4}"/>
                </a:ext>
              </a:extLst>
            </p:cNvPr>
            <p:cNvSpPr>
              <a:spLocks/>
            </p:cNvSpPr>
            <p:nvPr/>
          </p:nvSpPr>
          <p:spPr>
            <a:xfrm>
              <a:off x="10473372" y="4110038"/>
              <a:ext cx="53975" cy="26987"/>
            </a:xfrm>
            <a:custGeom>
              <a:avLst/>
              <a:gdLst/>
              <a:ahLst/>
              <a:cxnLst/>
              <a:rect l="0" t="0" r="0" b="0"/>
              <a:pathLst>
                <a:path w="80963" h="40481">
                  <a:moveTo>
                    <a:pt x="80963" y="0"/>
                  </a:moveTo>
                  <a:lnTo>
                    <a:pt x="0" y="40481"/>
                  </a:lnTo>
                </a:path>
              </a:pathLst>
            </a:custGeom>
            <a:noFill/>
            <a:ln w="17812">
              <a:solidFill>
                <a:srgbClr val="B98E49"/>
              </a:solidFill>
              <a:prstDash val="solid"/>
            </a:ln>
          </p:spPr>
          <p:txBody>
            <a:bodyPr/>
            <a:lstStyle/>
            <a:p>
              <a:endParaRPr sz="1200"/>
            </a:p>
          </p:txBody>
        </p:sp>
        <p:sp>
          <p:nvSpPr>
            <p:cNvPr id="496" name="s4-crested-chicken__line_496">
              <a:extLst>
                <a:ext uri="{FF2B5EF4-FFF2-40B4-BE49-F238E27FC236}">
                  <a16:creationId xmlns:a16="http://schemas.microsoft.com/office/drawing/2014/main" id="{9C357952-41CB-4AB2-B03A-E322476A5D60}"/>
                </a:ext>
              </a:extLst>
            </p:cNvPr>
            <p:cNvSpPr>
              <a:spLocks/>
            </p:cNvSpPr>
            <p:nvPr/>
          </p:nvSpPr>
          <p:spPr>
            <a:xfrm>
              <a:off x="10527347" y="4110038"/>
              <a:ext cx="59372" cy="26987"/>
            </a:xfrm>
            <a:custGeom>
              <a:avLst/>
              <a:gdLst/>
              <a:ahLst/>
              <a:cxnLst/>
              <a:rect l="0" t="0" r="0" b="0"/>
              <a:pathLst>
                <a:path w="89059" h="40481">
                  <a:moveTo>
                    <a:pt x="0" y="0"/>
                  </a:moveTo>
                  <a:lnTo>
                    <a:pt x="89059" y="40481"/>
                  </a:lnTo>
                </a:path>
              </a:pathLst>
            </a:custGeom>
            <a:noFill/>
            <a:ln w="17812">
              <a:solidFill>
                <a:srgbClr val="B98E49"/>
              </a:solidFill>
              <a:prstDash val="solid"/>
            </a:ln>
          </p:spPr>
          <p:txBody>
            <a:bodyPr/>
            <a:lstStyle/>
            <a:p>
              <a:endParaRPr sz="1200"/>
            </a:p>
          </p:txBody>
        </p:sp>
        <p:sp>
          <p:nvSpPr>
            <p:cNvPr id="497" name="s4-crested-chicken__line_497">
              <a:extLst>
                <a:ext uri="{FF2B5EF4-FFF2-40B4-BE49-F238E27FC236}">
                  <a16:creationId xmlns:a16="http://schemas.microsoft.com/office/drawing/2014/main" id="{78AD23E3-47A5-4EE8-8794-55CDF9E93610}"/>
                </a:ext>
              </a:extLst>
            </p:cNvPr>
            <p:cNvSpPr>
              <a:spLocks/>
            </p:cNvSpPr>
            <p:nvPr/>
          </p:nvSpPr>
          <p:spPr>
            <a:xfrm>
              <a:off x="10640695" y="4023678"/>
              <a:ext cx="10795" cy="97155"/>
            </a:xfrm>
            <a:custGeom>
              <a:avLst/>
              <a:gdLst/>
              <a:ahLst/>
              <a:cxnLst/>
              <a:rect l="0" t="0" r="0" b="0"/>
              <a:pathLst>
                <a:path w="16193" h="145733">
                  <a:moveTo>
                    <a:pt x="0" y="0"/>
                  </a:moveTo>
                  <a:lnTo>
                    <a:pt x="16193" y="145733"/>
                  </a:lnTo>
                </a:path>
              </a:pathLst>
            </a:custGeom>
            <a:noFill/>
            <a:ln w="22670">
              <a:solidFill>
                <a:srgbClr val="B98E49"/>
              </a:solidFill>
              <a:prstDash val="solid"/>
            </a:ln>
          </p:spPr>
          <p:txBody>
            <a:bodyPr/>
            <a:lstStyle/>
            <a:p>
              <a:endParaRPr sz="1200"/>
            </a:p>
          </p:txBody>
        </p:sp>
        <p:sp>
          <p:nvSpPr>
            <p:cNvPr id="498" name="s4-crested-chicken__line_498">
              <a:extLst>
                <a:ext uri="{FF2B5EF4-FFF2-40B4-BE49-F238E27FC236}">
                  <a16:creationId xmlns:a16="http://schemas.microsoft.com/office/drawing/2014/main" id="{B0594B91-D8AD-422E-8908-91B295A5819F}"/>
                </a:ext>
              </a:extLst>
            </p:cNvPr>
            <p:cNvSpPr>
              <a:spLocks/>
            </p:cNvSpPr>
            <p:nvPr/>
          </p:nvSpPr>
          <p:spPr>
            <a:xfrm>
              <a:off x="10602912" y="4115436"/>
              <a:ext cx="48577" cy="21589"/>
            </a:xfrm>
            <a:custGeom>
              <a:avLst/>
              <a:gdLst/>
              <a:ahLst/>
              <a:cxnLst/>
              <a:rect l="0" t="0" r="0" b="0"/>
              <a:pathLst>
                <a:path w="72866" h="32385">
                  <a:moveTo>
                    <a:pt x="72866" y="0"/>
                  </a:moveTo>
                  <a:lnTo>
                    <a:pt x="0" y="32385"/>
                  </a:lnTo>
                </a:path>
              </a:pathLst>
            </a:custGeom>
            <a:noFill/>
            <a:ln w="17812">
              <a:solidFill>
                <a:srgbClr val="B98E49"/>
              </a:solidFill>
              <a:prstDash val="solid"/>
            </a:ln>
          </p:spPr>
          <p:txBody>
            <a:bodyPr/>
            <a:lstStyle/>
            <a:p>
              <a:endParaRPr sz="1200"/>
            </a:p>
          </p:txBody>
        </p:sp>
        <p:sp>
          <p:nvSpPr>
            <p:cNvPr id="499" name="s4-crested-chicken__line_499">
              <a:extLst>
                <a:ext uri="{FF2B5EF4-FFF2-40B4-BE49-F238E27FC236}">
                  <a16:creationId xmlns:a16="http://schemas.microsoft.com/office/drawing/2014/main" id="{CAE2F00E-E468-438B-97FE-2D9E8197E45E}"/>
                </a:ext>
              </a:extLst>
            </p:cNvPr>
            <p:cNvSpPr>
              <a:spLocks/>
            </p:cNvSpPr>
            <p:nvPr/>
          </p:nvSpPr>
          <p:spPr>
            <a:xfrm>
              <a:off x="10651490" y="4115436"/>
              <a:ext cx="53975" cy="21589"/>
            </a:xfrm>
            <a:custGeom>
              <a:avLst/>
              <a:gdLst/>
              <a:ahLst/>
              <a:cxnLst/>
              <a:rect l="0" t="0" r="0" b="0"/>
              <a:pathLst>
                <a:path w="80963" h="32385">
                  <a:moveTo>
                    <a:pt x="0" y="0"/>
                  </a:moveTo>
                  <a:lnTo>
                    <a:pt x="80963" y="32385"/>
                  </a:lnTo>
                </a:path>
              </a:pathLst>
            </a:custGeom>
            <a:noFill/>
            <a:ln w="17812">
              <a:solidFill>
                <a:srgbClr val="B98E49"/>
              </a:solidFill>
              <a:prstDash val="solid"/>
            </a:ln>
          </p:spPr>
          <p:txBody>
            <a:bodyPr/>
            <a:lstStyle/>
            <a:p>
              <a:endParaRPr sz="1200"/>
            </a:p>
          </p:txBody>
        </p:sp>
        <p:sp>
          <p:nvSpPr>
            <p:cNvPr id="500" name="s4-crested-chicken__contour_500">
              <a:extLst>
                <a:ext uri="{FF2B5EF4-FFF2-40B4-BE49-F238E27FC236}">
                  <a16:creationId xmlns:a16="http://schemas.microsoft.com/office/drawing/2014/main" id="{6B2C0F0B-C79D-4F45-83C2-829540FCC3FB}"/>
                </a:ext>
              </a:extLst>
            </p:cNvPr>
            <p:cNvSpPr>
              <a:spLocks/>
            </p:cNvSpPr>
            <p:nvPr/>
          </p:nvSpPr>
          <p:spPr>
            <a:xfrm>
              <a:off x="10300049" y="3564732"/>
              <a:ext cx="540912" cy="514019"/>
            </a:xfrm>
            <a:custGeom>
              <a:avLst/>
              <a:gdLst/>
              <a:ahLst/>
              <a:cxnLst/>
              <a:rect l="0" t="0" r="0" b="0"/>
              <a:pathLst>
                <a:path w="811368" h="771030">
                  <a:moveTo>
                    <a:pt x="41386" y="348377"/>
                  </a:moveTo>
                  <a:lnTo>
                    <a:pt x="63265" y="322545"/>
                  </a:lnTo>
                  <a:lnTo>
                    <a:pt x="86687" y="299942"/>
                  </a:lnTo>
                  <a:lnTo>
                    <a:pt x="111471" y="280368"/>
                  </a:lnTo>
                  <a:lnTo>
                    <a:pt x="137408" y="263604"/>
                  </a:lnTo>
                  <a:lnTo>
                    <a:pt x="164325" y="249422"/>
                  </a:lnTo>
                  <a:lnTo>
                    <a:pt x="192043" y="237620"/>
                  </a:lnTo>
                  <a:lnTo>
                    <a:pt x="220361" y="227981"/>
                  </a:lnTo>
                  <a:lnTo>
                    <a:pt x="249088" y="220275"/>
                  </a:lnTo>
                  <a:lnTo>
                    <a:pt x="278054" y="214303"/>
                  </a:lnTo>
                  <a:lnTo>
                    <a:pt x="307067" y="209845"/>
                  </a:lnTo>
                  <a:lnTo>
                    <a:pt x="335928" y="206673"/>
                  </a:lnTo>
                  <a:lnTo>
                    <a:pt x="364455" y="204587"/>
                  </a:lnTo>
                  <a:lnTo>
                    <a:pt x="392478" y="203368"/>
                  </a:lnTo>
                  <a:lnTo>
                    <a:pt x="419786" y="202787"/>
                  </a:lnTo>
                  <a:lnTo>
                    <a:pt x="446199" y="202644"/>
                  </a:lnTo>
                  <a:lnTo>
                    <a:pt x="455828" y="180213"/>
                  </a:lnTo>
                  <a:lnTo>
                    <a:pt x="465353" y="158382"/>
                  </a:lnTo>
                  <a:lnTo>
                    <a:pt x="474888" y="137293"/>
                  </a:lnTo>
                  <a:lnTo>
                    <a:pt x="484565" y="117110"/>
                  </a:lnTo>
                  <a:lnTo>
                    <a:pt x="494481" y="97993"/>
                  </a:lnTo>
                  <a:lnTo>
                    <a:pt x="504749" y="80096"/>
                  </a:lnTo>
                  <a:lnTo>
                    <a:pt x="515503" y="63589"/>
                  </a:lnTo>
                  <a:lnTo>
                    <a:pt x="526837" y="48616"/>
                  </a:lnTo>
                  <a:lnTo>
                    <a:pt x="538886" y="35347"/>
                  </a:lnTo>
                  <a:lnTo>
                    <a:pt x="551745" y="23927"/>
                  </a:lnTo>
                  <a:lnTo>
                    <a:pt x="565547" y="14526"/>
                  </a:lnTo>
                  <a:lnTo>
                    <a:pt x="580406" y="7296"/>
                  </a:lnTo>
                  <a:lnTo>
                    <a:pt x="596417" y="2400"/>
                  </a:lnTo>
                  <a:lnTo>
                    <a:pt x="613715" y="0"/>
                  </a:lnTo>
                  <a:lnTo>
                    <a:pt x="632412" y="238"/>
                  </a:lnTo>
                  <a:lnTo>
                    <a:pt x="650977" y="1600"/>
                  </a:lnTo>
                  <a:lnTo>
                    <a:pt x="667760" y="5525"/>
                  </a:lnTo>
                  <a:lnTo>
                    <a:pt x="682742" y="11763"/>
                  </a:lnTo>
                  <a:lnTo>
                    <a:pt x="695858" y="20079"/>
                  </a:lnTo>
                  <a:lnTo>
                    <a:pt x="707079" y="30223"/>
                  </a:lnTo>
                  <a:lnTo>
                    <a:pt x="716356" y="41948"/>
                  </a:lnTo>
                  <a:lnTo>
                    <a:pt x="723643" y="55016"/>
                  </a:lnTo>
                  <a:lnTo>
                    <a:pt x="728901" y="69171"/>
                  </a:lnTo>
                  <a:lnTo>
                    <a:pt x="732091" y="84182"/>
                  </a:lnTo>
                  <a:lnTo>
                    <a:pt x="733168" y="99793"/>
                  </a:lnTo>
                  <a:lnTo>
                    <a:pt x="732082" y="115767"/>
                  </a:lnTo>
                  <a:lnTo>
                    <a:pt x="728786" y="131855"/>
                  </a:lnTo>
                  <a:lnTo>
                    <a:pt x="723252" y="147809"/>
                  </a:lnTo>
                  <a:lnTo>
                    <a:pt x="715432" y="163392"/>
                  </a:lnTo>
                  <a:lnTo>
                    <a:pt x="705279" y="178356"/>
                  </a:lnTo>
                  <a:lnTo>
                    <a:pt x="701573" y="191519"/>
                  </a:lnTo>
                  <a:lnTo>
                    <a:pt x="700059" y="205111"/>
                  </a:lnTo>
                  <a:lnTo>
                    <a:pt x="700554" y="219094"/>
                  </a:lnTo>
                  <a:lnTo>
                    <a:pt x="702850" y="233477"/>
                  </a:lnTo>
                  <a:lnTo>
                    <a:pt x="706774" y="248221"/>
                  </a:lnTo>
                  <a:lnTo>
                    <a:pt x="712146" y="263338"/>
                  </a:lnTo>
                  <a:lnTo>
                    <a:pt x="718766" y="278787"/>
                  </a:lnTo>
                  <a:lnTo>
                    <a:pt x="726443" y="294580"/>
                  </a:lnTo>
                  <a:lnTo>
                    <a:pt x="735006" y="310677"/>
                  </a:lnTo>
                  <a:lnTo>
                    <a:pt x="744264" y="327089"/>
                  </a:lnTo>
                  <a:lnTo>
                    <a:pt x="754018" y="343776"/>
                  </a:lnTo>
                  <a:lnTo>
                    <a:pt x="764086" y="360750"/>
                  </a:lnTo>
                  <a:lnTo>
                    <a:pt x="774297" y="377971"/>
                  </a:lnTo>
                  <a:lnTo>
                    <a:pt x="784441" y="395449"/>
                  </a:lnTo>
                  <a:lnTo>
                    <a:pt x="794337" y="413147"/>
                  </a:lnTo>
                  <a:lnTo>
                    <a:pt x="805834" y="450132"/>
                  </a:lnTo>
                  <a:lnTo>
                    <a:pt x="811368" y="486404"/>
                  </a:lnTo>
                  <a:lnTo>
                    <a:pt x="811244" y="521703"/>
                  </a:lnTo>
                  <a:lnTo>
                    <a:pt x="805767" y="555746"/>
                  </a:lnTo>
                  <a:lnTo>
                    <a:pt x="795233" y="588264"/>
                  </a:lnTo>
                  <a:lnTo>
                    <a:pt x="779955" y="618982"/>
                  </a:lnTo>
                  <a:lnTo>
                    <a:pt x="760228" y="647633"/>
                  </a:lnTo>
                  <a:lnTo>
                    <a:pt x="736359" y="673932"/>
                  </a:lnTo>
                  <a:lnTo>
                    <a:pt x="708650" y="697621"/>
                  </a:lnTo>
                  <a:lnTo>
                    <a:pt x="677389" y="718404"/>
                  </a:lnTo>
                  <a:lnTo>
                    <a:pt x="642899" y="736025"/>
                  </a:lnTo>
                  <a:lnTo>
                    <a:pt x="605466" y="750208"/>
                  </a:lnTo>
                  <a:lnTo>
                    <a:pt x="565404" y="760676"/>
                  </a:lnTo>
                  <a:lnTo>
                    <a:pt x="523008" y="767163"/>
                  </a:lnTo>
                  <a:lnTo>
                    <a:pt x="478584" y="769382"/>
                  </a:lnTo>
                  <a:lnTo>
                    <a:pt x="432406" y="771030"/>
                  </a:lnTo>
                  <a:lnTo>
                    <a:pt x="387858" y="769572"/>
                  </a:lnTo>
                  <a:lnTo>
                    <a:pt x="345091" y="765172"/>
                  </a:lnTo>
                  <a:lnTo>
                    <a:pt x="304219" y="757961"/>
                  </a:lnTo>
                  <a:lnTo>
                    <a:pt x="265386" y="748093"/>
                  </a:lnTo>
                  <a:lnTo>
                    <a:pt x="228705" y="735701"/>
                  </a:lnTo>
                  <a:lnTo>
                    <a:pt x="194310" y="720938"/>
                  </a:lnTo>
                  <a:lnTo>
                    <a:pt x="162335" y="703936"/>
                  </a:lnTo>
                  <a:lnTo>
                    <a:pt x="132902" y="684857"/>
                  </a:lnTo>
                  <a:lnTo>
                    <a:pt x="106156" y="663835"/>
                  </a:lnTo>
                  <a:lnTo>
                    <a:pt x="82210" y="641004"/>
                  </a:lnTo>
                  <a:lnTo>
                    <a:pt x="61208" y="616525"/>
                  </a:lnTo>
                  <a:lnTo>
                    <a:pt x="43263" y="590531"/>
                  </a:lnTo>
                  <a:lnTo>
                    <a:pt x="28518" y="563175"/>
                  </a:lnTo>
                  <a:lnTo>
                    <a:pt x="17097" y="534591"/>
                  </a:lnTo>
                  <a:lnTo>
                    <a:pt x="11259" y="520132"/>
                  </a:lnTo>
                  <a:lnTo>
                    <a:pt x="6677" y="505892"/>
                  </a:lnTo>
                  <a:lnTo>
                    <a:pt x="3305" y="491909"/>
                  </a:lnTo>
                  <a:lnTo>
                    <a:pt x="1095" y="478174"/>
                  </a:lnTo>
                  <a:lnTo>
                    <a:pt x="10" y="464725"/>
                  </a:lnTo>
                  <a:lnTo>
                    <a:pt x="0" y="451552"/>
                  </a:lnTo>
                  <a:lnTo>
                    <a:pt x="1029" y="438693"/>
                  </a:lnTo>
                  <a:lnTo>
                    <a:pt x="3048" y="426139"/>
                  </a:lnTo>
                  <a:lnTo>
                    <a:pt x="6020" y="413928"/>
                  </a:lnTo>
                  <a:lnTo>
                    <a:pt x="9896" y="402050"/>
                  </a:lnTo>
                  <a:lnTo>
                    <a:pt x="14640" y="390544"/>
                  </a:lnTo>
                  <a:lnTo>
                    <a:pt x="20203" y="379400"/>
                  </a:lnTo>
                  <a:lnTo>
                    <a:pt x="26546" y="368656"/>
                  </a:lnTo>
                  <a:lnTo>
                    <a:pt x="33623" y="358302"/>
                  </a:lnTo>
                  <a:lnTo>
                    <a:pt x="41386" y="348377"/>
                  </a:lnTo>
                  <a:close/>
                </a:path>
              </a:pathLst>
            </a:custGeom>
            <a:solidFill>
              <a:srgbClr val="424C49"/>
            </a:solidFill>
            <a:ln w="13764">
              <a:solidFill>
                <a:srgbClr val="4A5147"/>
              </a:solidFill>
              <a:prstDash val="solid"/>
            </a:ln>
          </p:spPr>
          <p:txBody>
            <a:bodyPr/>
            <a:lstStyle/>
            <a:p>
              <a:endParaRPr sz="1200"/>
            </a:p>
          </p:txBody>
        </p:sp>
        <p:sp>
          <p:nvSpPr>
            <p:cNvPr id="501" name="s4-crested-chicken__contour_501">
              <a:extLst>
                <a:ext uri="{FF2B5EF4-FFF2-40B4-BE49-F238E27FC236}">
                  <a16:creationId xmlns:a16="http://schemas.microsoft.com/office/drawing/2014/main" id="{E79AB142-18EF-441F-BBB7-A9AEB192A0C8}"/>
                </a:ext>
              </a:extLst>
            </p:cNvPr>
            <p:cNvSpPr>
              <a:spLocks/>
            </p:cNvSpPr>
            <p:nvPr/>
          </p:nvSpPr>
          <p:spPr>
            <a:xfrm>
              <a:off x="10613707" y="3567005"/>
              <a:ext cx="164426" cy="278555"/>
            </a:xfrm>
            <a:custGeom>
              <a:avLst/>
              <a:gdLst/>
              <a:ahLst/>
              <a:cxnLst/>
              <a:rect l="0" t="0" r="0" b="0"/>
              <a:pathLst>
                <a:path w="246640" h="417833">
                  <a:moveTo>
                    <a:pt x="48577" y="126368"/>
                  </a:moveTo>
                  <a:lnTo>
                    <a:pt x="51244" y="107394"/>
                  </a:lnTo>
                  <a:lnTo>
                    <a:pt x="55883" y="89440"/>
                  </a:lnTo>
                  <a:lnTo>
                    <a:pt x="62313" y="72676"/>
                  </a:lnTo>
                  <a:lnTo>
                    <a:pt x="70333" y="57245"/>
                  </a:lnTo>
                  <a:lnTo>
                    <a:pt x="79762" y="43310"/>
                  </a:lnTo>
                  <a:lnTo>
                    <a:pt x="90421" y="31023"/>
                  </a:lnTo>
                  <a:lnTo>
                    <a:pt x="102108" y="20564"/>
                  </a:lnTo>
                  <a:lnTo>
                    <a:pt x="114652" y="12068"/>
                  </a:lnTo>
                  <a:lnTo>
                    <a:pt x="127854" y="5705"/>
                  </a:lnTo>
                  <a:lnTo>
                    <a:pt x="141532" y="1629"/>
                  </a:lnTo>
                  <a:lnTo>
                    <a:pt x="155505" y="0"/>
                  </a:lnTo>
                  <a:lnTo>
                    <a:pt x="169564" y="972"/>
                  </a:lnTo>
                  <a:lnTo>
                    <a:pt x="183547" y="4715"/>
                  </a:lnTo>
                  <a:lnTo>
                    <a:pt x="197253" y="11373"/>
                  </a:lnTo>
                  <a:lnTo>
                    <a:pt x="210502" y="21117"/>
                  </a:lnTo>
                  <a:lnTo>
                    <a:pt x="223399" y="34176"/>
                  </a:lnTo>
                  <a:lnTo>
                    <a:pt x="233143" y="47396"/>
                  </a:lnTo>
                  <a:lnTo>
                    <a:pt x="240040" y="60760"/>
                  </a:lnTo>
                  <a:lnTo>
                    <a:pt x="244383" y="74200"/>
                  </a:lnTo>
                  <a:lnTo>
                    <a:pt x="246488" y="87687"/>
                  </a:lnTo>
                  <a:lnTo>
                    <a:pt x="246640" y="101175"/>
                  </a:lnTo>
                  <a:lnTo>
                    <a:pt x="245164" y="114614"/>
                  </a:lnTo>
                  <a:lnTo>
                    <a:pt x="242345" y="127968"/>
                  </a:lnTo>
                  <a:lnTo>
                    <a:pt x="238487" y="141199"/>
                  </a:lnTo>
                  <a:lnTo>
                    <a:pt x="233896" y="154257"/>
                  </a:lnTo>
                  <a:lnTo>
                    <a:pt x="228867" y="167097"/>
                  </a:lnTo>
                  <a:lnTo>
                    <a:pt x="223714" y="179670"/>
                  </a:lnTo>
                  <a:lnTo>
                    <a:pt x="218732" y="191948"/>
                  </a:lnTo>
                  <a:lnTo>
                    <a:pt x="214227" y="203883"/>
                  </a:lnTo>
                  <a:lnTo>
                    <a:pt x="210502" y="215427"/>
                  </a:lnTo>
                  <a:lnTo>
                    <a:pt x="204654" y="227962"/>
                  </a:lnTo>
                  <a:lnTo>
                    <a:pt x="200006" y="239744"/>
                  </a:lnTo>
                  <a:lnTo>
                    <a:pt x="196444" y="250860"/>
                  </a:lnTo>
                  <a:lnTo>
                    <a:pt x="193881" y="261404"/>
                  </a:lnTo>
                  <a:lnTo>
                    <a:pt x="192215" y="271501"/>
                  </a:lnTo>
                  <a:lnTo>
                    <a:pt x="191329" y="281235"/>
                  </a:lnTo>
                  <a:lnTo>
                    <a:pt x="191138" y="290703"/>
                  </a:lnTo>
                  <a:lnTo>
                    <a:pt x="191538" y="300018"/>
                  </a:lnTo>
                  <a:lnTo>
                    <a:pt x="192434" y="309277"/>
                  </a:lnTo>
                  <a:lnTo>
                    <a:pt x="193710" y="318583"/>
                  </a:lnTo>
                  <a:lnTo>
                    <a:pt x="195272" y="328022"/>
                  </a:lnTo>
                  <a:lnTo>
                    <a:pt x="197034" y="337709"/>
                  </a:lnTo>
                  <a:lnTo>
                    <a:pt x="198872" y="347748"/>
                  </a:lnTo>
                  <a:lnTo>
                    <a:pt x="200692" y="358226"/>
                  </a:lnTo>
                  <a:lnTo>
                    <a:pt x="202406" y="369256"/>
                  </a:lnTo>
                  <a:lnTo>
                    <a:pt x="161925" y="417833"/>
                  </a:lnTo>
                  <a:lnTo>
                    <a:pt x="105251" y="361159"/>
                  </a:lnTo>
                  <a:lnTo>
                    <a:pt x="48577" y="385448"/>
                  </a:lnTo>
                  <a:lnTo>
                    <a:pt x="0" y="280197"/>
                  </a:lnTo>
                  <a:close/>
                </a:path>
              </a:pathLst>
            </a:custGeom>
            <a:solidFill>
              <a:srgbClr val="5D6B60"/>
            </a:solidFill>
            <a:ln w="13764">
              <a:noFill/>
              <a:prstDash val="solid"/>
            </a:ln>
          </p:spPr>
          <p:txBody>
            <a:bodyPr/>
            <a:lstStyle/>
            <a:p>
              <a:endParaRPr sz="1200"/>
            </a:p>
          </p:txBody>
        </p:sp>
        <p:sp>
          <p:nvSpPr>
            <p:cNvPr id="502" name="s4-crested-chicken__contour_502">
              <a:extLst>
                <a:ext uri="{FF2B5EF4-FFF2-40B4-BE49-F238E27FC236}">
                  <a16:creationId xmlns:a16="http://schemas.microsoft.com/office/drawing/2014/main" id="{2D31F10C-8FB9-42F2-8064-2555687EFBED}"/>
                </a:ext>
              </a:extLst>
            </p:cNvPr>
            <p:cNvSpPr>
              <a:spLocks/>
            </p:cNvSpPr>
            <p:nvPr/>
          </p:nvSpPr>
          <p:spPr>
            <a:xfrm>
              <a:off x="10369784" y="3787960"/>
              <a:ext cx="243922" cy="167315"/>
            </a:xfrm>
            <a:custGeom>
              <a:avLst/>
              <a:gdLst/>
              <a:ahLst/>
              <a:cxnLst/>
              <a:rect l="0" t="0" r="0" b="0"/>
              <a:pathLst>
                <a:path w="365884" h="250974">
                  <a:moveTo>
                    <a:pt x="9649" y="54016"/>
                  </a:moveTo>
                  <a:lnTo>
                    <a:pt x="33033" y="37709"/>
                  </a:lnTo>
                  <a:lnTo>
                    <a:pt x="57645" y="24384"/>
                  </a:lnTo>
                  <a:lnTo>
                    <a:pt x="83229" y="13992"/>
                  </a:lnTo>
                  <a:lnTo>
                    <a:pt x="109499" y="6487"/>
                  </a:lnTo>
                  <a:lnTo>
                    <a:pt x="136188" y="1838"/>
                  </a:lnTo>
                  <a:lnTo>
                    <a:pt x="163020" y="0"/>
                  </a:lnTo>
                  <a:lnTo>
                    <a:pt x="189728" y="924"/>
                  </a:lnTo>
                  <a:lnTo>
                    <a:pt x="216027" y="4562"/>
                  </a:lnTo>
                  <a:lnTo>
                    <a:pt x="241659" y="10878"/>
                  </a:lnTo>
                  <a:lnTo>
                    <a:pt x="266329" y="19831"/>
                  </a:lnTo>
                  <a:lnTo>
                    <a:pt x="289779" y="31375"/>
                  </a:lnTo>
                  <a:lnTo>
                    <a:pt x="311734" y="45463"/>
                  </a:lnTo>
                  <a:lnTo>
                    <a:pt x="331918" y="62065"/>
                  </a:lnTo>
                  <a:lnTo>
                    <a:pt x="350063" y="81115"/>
                  </a:lnTo>
                  <a:lnTo>
                    <a:pt x="365884" y="102594"/>
                  </a:lnTo>
                  <a:lnTo>
                    <a:pt x="360283" y="122987"/>
                  </a:lnTo>
                  <a:lnTo>
                    <a:pt x="353244" y="142046"/>
                  </a:lnTo>
                  <a:lnTo>
                    <a:pt x="344834" y="159725"/>
                  </a:lnTo>
                  <a:lnTo>
                    <a:pt x="335128" y="175974"/>
                  </a:lnTo>
                  <a:lnTo>
                    <a:pt x="324202" y="190757"/>
                  </a:lnTo>
                  <a:lnTo>
                    <a:pt x="312125" y="204025"/>
                  </a:lnTo>
                  <a:lnTo>
                    <a:pt x="298971" y="215741"/>
                  </a:lnTo>
                  <a:lnTo>
                    <a:pt x="284797" y="225857"/>
                  </a:lnTo>
                  <a:lnTo>
                    <a:pt x="269700" y="234334"/>
                  </a:lnTo>
                  <a:lnTo>
                    <a:pt x="253736" y="241125"/>
                  </a:lnTo>
                  <a:lnTo>
                    <a:pt x="236982" y="246193"/>
                  </a:lnTo>
                  <a:lnTo>
                    <a:pt x="219504" y="249488"/>
                  </a:lnTo>
                  <a:lnTo>
                    <a:pt x="201378" y="250974"/>
                  </a:lnTo>
                  <a:lnTo>
                    <a:pt x="182680" y="250603"/>
                  </a:lnTo>
                  <a:lnTo>
                    <a:pt x="163478" y="248326"/>
                  </a:lnTo>
                  <a:lnTo>
                    <a:pt x="142675" y="245850"/>
                  </a:lnTo>
                  <a:lnTo>
                    <a:pt x="122511" y="241687"/>
                  </a:lnTo>
                  <a:lnTo>
                    <a:pt x="103175" y="235887"/>
                  </a:lnTo>
                  <a:lnTo>
                    <a:pt x="84877" y="228495"/>
                  </a:lnTo>
                  <a:lnTo>
                    <a:pt x="67818" y="219542"/>
                  </a:lnTo>
                  <a:lnTo>
                    <a:pt x="52207" y="209074"/>
                  </a:lnTo>
                  <a:lnTo>
                    <a:pt x="38224" y="197139"/>
                  </a:lnTo>
                  <a:lnTo>
                    <a:pt x="26089" y="183785"/>
                  </a:lnTo>
                  <a:lnTo>
                    <a:pt x="15992" y="169050"/>
                  </a:lnTo>
                  <a:lnTo>
                    <a:pt x="8153" y="152972"/>
                  </a:lnTo>
                  <a:lnTo>
                    <a:pt x="2753" y="135598"/>
                  </a:lnTo>
                  <a:lnTo>
                    <a:pt x="0" y="116977"/>
                  </a:lnTo>
                  <a:lnTo>
                    <a:pt x="95" y="97136"/>
                  </a:lnTo>
                  <a:lnTo>
                    <a:pt x="3248" y="76143"/>
                  </a:lnTo>
                  <a:lnTo>
                    <a:pt x="9649" y="54016"/>
                  </a:lnTo>
                  <a:close/>
                </a:path>
              </a:pathLst>
            </a:custGeom>
            <a:solidFill>
              <a:srgbClr val="303E3B"/>
            </a:solidFill>
            <a:ln w="9716">
              <a:solidFill>
                <a:srgbClr val="4A5147"/>
              </a:solidFill>
              <a:prstDash val="solid"/>
            </a:ln>
          </p:spPr>
          <p:txBody>
            <a:bodyPr/>
            <a:lstStyle/>
            <a:p>
              <a:endParaRPr sz="1200"/>
            </a:p>
          </p:txBody>
        </p:sp>
        <p:sp>
          <p:nvSpPr>
            <p:cNvPr id="503" name="s4-crested-chicken__contour_503">
              <a:extLst>
                <a:ext uri="{FF2B5EF4-FFF2-40B4-BE49-F238E27FC236}">
                  <a16:creationId xmlns:a16="http://schemas.microsoft.com/office/drawing/2014/main" id="{D0C21751-3CCE-4E76-BDFE-4786B397A56F}"/>
                </a:ext>
              </a:extLst>
            </p:cNvPr>
            <p:cNvSpPr>
              <a:spLocks/>
            </p:cNvSpPr>
            <p:nvPr/>
          </p:nvSpPr>
          <p:spPr>
            <a:xfrm>
              <a:off x="10403205" y="3844811"/>
              <a:ext cx="172720" cy="49326"/>
            </a:xfrm>
            <a:custGeom>
              <a:avLst/>
              <a:gdLst/>
              <a:ahLst/>
              <a:cxnLst/>
              <a:rect l="0" t="0" r="0" b="0"/>
              <a:pathLst>
                <a:path w="259080" h="73990">
                  <a:moveTo>
                    <a:pt x="0" y="9220"/>
                  </a:moveTo>
                  <a:lnTo>
                    <a:pt x="19526" y="5010"/>
                  </a:lnTo>
                  <a:lnTo>
                    <a:pt x="39157" y="2076"/>
                  </a:lnTo>
                  <a:lnTo>
                    <a:pt x="58807" y="410"/>
                  </a:lnTo>
                  <a:lnTo>
                    <a:pt x="78381" y="0"/>
                  </a:lnTo>
                  <a:lnTo>
                    <a:pt x="97755" y="829"/>
                  </a:lnTo>
                  <a:lnTo>
                    <a:pt x="116843" y="2877"/>
                  </a:lnTo>
                  <a:lnTo>
                    <a:pt x="135550" y="6134"/>
                  </a:lnTo>
                  <a:lnTo>
                    <a:pt x="153762" y="10582"/>
                  </a:lnTo>
                  <a:lnTo>
                    <a:pt x="171383" y="16212"/>
                  </a:lnTo>
                  <a:lnTo>
                    <a:pt x="188309" y="23012"/>
                  </a:lnTo>
                  <a:lnTo>
                    <a:pt x="204454" y="30966"/>
                  </a:lnTo>
                  <a:lnTo>
                    <a:pt x="219704" y="40053"/>
                  </a:lnTo>
                  <a:lnTo>
                    <a:pt x="233953" y="50263"/>
                  </a:lnTo>
                  <a:lnTo>
                    <a:pt x="247117" y="61579"/>
                  </a:lnTo>
                  <a:lnTo>
                    <a:pt x="259080" y="73990"/>
                  </a:lnTo>
                </a:path>
              </a:pathLst>
            </a:custGeom>
            <a:noFill/>
            <a:ln w="10525">
              <a:solidFill>
                <a:srgbClr val="718378"/>
              </a:solidFill>
              <a:prstDash val="solid"/>
            </a:ln>
          </p:spPr>
          <p:txBody>
            <a:bodyPr/>
            <a:lstStyle/>
            <a:p>
              <a:endParaRPr sz="1200"/>
            </a:p>
          </p:txBody>
        </p:sp>
        <p:sp>
          <p:nvSpPr>
            <p:cNvPr id="504" name="s4-crested-chicken__contour_504">
              <a:extLst>
                <a:ext uri="{FF2B5EF4-FFF2-40B4-BE49-F238E27FC236}">
                  <a16:creationId xmlns:a16="http://schemas.microsoft.com/office/drawing/2014/main" id="{A224C3FA-982D-4118-BB08-F80255F39E9C}"/>
                </a:ext>
              </a:extLst>
            </p:cNvPr>
            <p:cNvSpPr>
              <a:spLocks/>
            </p:cNvSpPr>
            <p:nvPr/>
          </p:nvSpPr>
          <p:spPr>
            <a:xfrm>
              <a:off x="10660488" y="3524517"/>
              <a:ext cx="109950" cy="67360"/>
            </a:xfrm>
            <a:custGeom>
              <a:avLst/>
              <a:gdLst/>
              <a:ahLst/>
              <a:cxnLst/>
              <a:rect l="0" t="0" r="0" b="0"/>
              <a:pathLst>
                <a:path w="164925" h="101041">
                  <a:moveTo>
                    <a:pt x="18888" y="76752"/>
                  </a:moveTo>
                  <a:lnTo>
                    <a:pt x="11744" y="71799"/>
                  </a:lnTo>
                  <a:lnTo>
                    <a:pt x="6410" y="66742"/>
                  </a:lnTo>
                  <a:lnTo>
                    <a:pt x="2762" y="61665"/>
                  </a:lnTo>
                  <a:lnTo>
                    <a:pt x="667" y="56664"/>
                  </a:lnTo>
                  <a:lnTo>
                    <a:pt x="0" y="51864"/>
                  </a:lnTo>
                  <a:lnTo>
                    <a:pt x="619" y="47349"/>
                  </a:lnTo>
                  <a:lnTo>
                    <a:pt x="2419" y="43215"/>
                  </a:lnTo>
                  <a:lnTo>
                    <a:pt x="5239" y="39576"/>
                  </a:lnTo>
                  <a:lnTo>
                    <a:pt x="8982" y="36528"/>
                  </a:lnTo>
                  <a:lnTo>
                    <a:pt x="13487" y="34176"/>
                  </a:lnTo>
                  <a:lnTo>
                    <a:pt x="18650" y="32604"/>
                  </a:lnTo>
                  <a:lnTo>
                    <a:pt x="24327" y="31928"/>
                  </a:lnTo>
                  <a:lnTo>
                    <a:pt x="30394" y="32252"/>
                  </a:lnTo>
                  <a:lnTo>
                    <a:pt x="36719" y="33661"/>
                  </a:lnTo>
                  <a:lnTo>
                    <a:pt x="43177" y="36271"/>
                  </a:lnTo>
                  <a:lnTo>
                    <a:pt x="42291" y="27203"/>
                  </a:lnTo>
                  <a:lnTo>
                    <a:pt x="42748" y="19431"/>
                  </a:lnTo>
                  <a:lnTo>
                    <a:pt x="44406" y="12954"/>
                  </a:lnTo>
                  <a:lnTo>
                    <a:pt x="47101" y="7772"/>
                  </a:lnTo>
                  <a:lnTo>
                    <a:pt x="50673" y="3886"/>
                  </a:lnTo>
                  <a:lnTo>
                    <a:pt x="54969" y="1295"/>
                  </a:lnTo>
                  <a:lnTo>
                    <a:pt x="59817" y="0"/>
                  </a:lnTo>
                  <a:lnTo>
                    <a:pt x="65075" y="0"/>
                  </a:lnTo>
                  <a:lnTo>
                    <a:pt x="70571" y="1295"/>
                  </a:lnTo>
                  <a:lnTo>
                    <a:pt x="76162" y="3886"/>
                  </a:lnTo>
                  <a:lnTo>
                    <a:pt x="81677" y="7772"/>
                  </a:lnTo>
                  <a:lnTo>
                    <a:pt x="86963" y="12954"/>
                  </a:lnTo>
                  <a:lnTo>
                    <a:pt x="91859" y="19431"/>
                  </a:lnTo>
                  <a:lnTo>
                    <a:pt x="96202" y="27203"/>
                  </a:lnTo>
                  <a:lnTo>
                    <a:pt x="99851" y="36271"/>
                  </a:lnTo>
                  <a:lnTo>
                    <a:pt x="109433" y="29127"/>
                  </a:lnTo>
                  <a:lnTo>
                    <a:pt x="118682" y="23832"/>
                  </a:lnTo>
                  <a:lnTo>
                    <a:pt x="127444" y="20269"/>
                  </a:lnTo>
                  <a:lnTo>
                    <a:pt x="135607" y="18355"/>
                  </a:lnTo>
                  <a:lnTo>
                    <a:pt x="143027" y="17983"/>
                  </a:lnTo>
                  <a:lnTo>
                    <a:pt x="149590" y="19040"/>
                  </a:lnTo>
                  <a:lnTo>
                    <a:pt x="155162" y="21441"/>
                  </a:lnTo>
                  <a:lnTo>
                    <a:pt x="159610" y="25079"/>
                  </a:lnTo>
                  <a:lnTo>
                    <a:pt x="162811" y="29861"/>
                  </a:lnTo>
                  <a:lnTo>
                    <a:pt x="164621" y="35671"/>
                  </a:lnTo>
                  <a:lnTo>
                    <a:pt x="164925" y="42415"/>
                  </a:lnTo>
                  <a:lnTo>
                    <a:pt x="163582" y="50006"/>
                  </a:lnTo>
                  <a:lnTo>
                    <a:pt x="160477" y="58322"/>
                  </a:lnTo>
                  <a:lnTo>
                    <a:pt x="155467" y="67266"/>
                  </a:lnTo>
                  <a:lnTo>
                    <a:pt x="148428" y="76752"/>
                  </a:lnTo>
                  <a:lnTo>
                    <a:pt x="91754" y="101041"/>
                  </a:lnTo>
                  <a:close/>
                </a:path>
              </a:pathLst>
            </a:custGeom>
            <a:solidFill>
              <a:srgbClr val="B8493E"/>
            </a:solidFill>
            <a:ln w="8906">
              <a:solidFill>
                <a:srgbClr val="803B33"/>
              </a:solidFill>
              <a:prstDash val="solid"/>
            </a:ln>
          </p:spPr>
          <p:txBody>
            <a:bodyPr/>
            <a:lstStyle/>
            <a:p>
              <a:endParaRPr sz="1200"/>
            </a:p>
          </p:txBody>
        </p:sp>
        <p:sp>
          <p:nvSpPr>
            <p:cNvPr id="505" name="s4-crested-chicken__contour_505">
              <a:extLst>
                <a:ext uri="{FF2B5EF4-FFF2-40B4-BE49-F238E27FC236}">
                  <a16:creationId xmlns:a16="http://schemas.microsoft.com/office/drawing/2014/main" id="{5092616C-2D90-4276-B20F-5FA7FE54D644}"/>
                </a:ext>
              </a:extLst>
            </p:cNvPr>
            <p:cNvSpPr>
              <a:spLocks/>
            </p:cNvSpPr>
            <p:nvPr/>
          </p:nvSpPr>
          <p:spPr>
            <a:xfrm>
              <a:off x="10786427" y="3624263"/>
              <a:ext cx="64770" cy="43179"/>
            </a:xfrm>
            <a:custGeom>
              <a:avLst/>
              <a:gdLst/>
              <a:ahLst/>
              <a:cxnLst/>
              <a:rect l="0" t="0" r="0" b="0"/>
              <a:pathLst>
                <a:path w="97155" h="64770">
                  <a:moveTo>
                    <a:pt x="0" y="0"/>
                  </a:moveTo>
                  <a:lnTo>
                    <a:pt x="97155" y="40481"/>
                  </a:lnTo>
                  <a:lnTo>
                    <a:pt x="8096" y="64770"/>
                  </a:lnTo>
                  <a:close/>
                </a:path>
              </a:pathLst>
            </a:custGeom>
            <a:solidFill>
              <a:srgbClr val="D3AA5C"/>
            </a:solidFill>
            <a:ln w="8096">
              <a:solidFill>
                <a:srgbClr val="8D7239"/>
              </a:solidFill>
              <a:prstDash val="solid"/>
            </a:ln>
          </p:spPr>
          <p:txBody>
            <a:bodyPr/>
            <a:lstStyle/>
            <a:p>
              <a:endParaRPr sz="1200"/>
            </a:p>
          </p:txBody>
        </p:sp>
        <p:sp>
          <p:nvSpPr>
            <p:cNvPr id="506" name="s4-crested-chicken__ellipse_506">
              <a:extLst>
                <a:ext uri="{FF2B5EF4-FFF2-40B4-BE49-F238E27FC236}">
                  <a16:creationId xmlns:a16="http://schemas.microsoft.com/office/drawing/2014/main" id="{8808A4C4-526C-4671-A45D-7D6012ADC128}"/>
                </a:ext>
              </a:extLst>
            </p:cNvPr>
            <p:cNvSpPr>
              <a:spLocks/>
            </p:cNvSpPr>
            <p:nvPr/>
          </p:nvSpPr>
          <p:spPr>
            <a:xfrm>
              <a:off x="10743247" y="3678238"/>
              <a:ext cx="37782" cy="59372"/>
            </a:xfrm>
            <a:prstGeom prst="ellipse">
              <a:avLst/>
            </a:prstGeom>
            <a:solidFill>
              <a:srgbClr val="B8493E"/>
            </a:solidFill>
            <a:ln w="6477">
              <a:solidFill>
                <a:srgbClr val="803B33"/>
              </a:solidFill>
              <a:prstDash val="solid"/>
            </a:ln>
          </p:spPr>
          <p:txBody>
            <a:bodyPr/>
            <a:lstStyle/>
            <a:p>
              <a:endParaRPr sz="1200"/>
            </a:p>
          </p:txBody>
        </p:sp>
        <p:sp>
          <p:nvSpPr>
            <p:cNvPr id="507" name="s4-crested-chicken__ellipse_507">
              <a:extLst>
                <a:ext uri="{FF2B5EF4-FFF2-40B4-BE49-F238E27FC236}">
                  <a16:creationId xmlns:a16="http://schemas.microsoft.com/office/drawing/2014/main" id="{3E1A43FB-777C-4879-ACCF-5F7231FB862B}"/>
                </a:ext>
              </a:extLst>
            </p:cNvPr>
            <p:cNvSpPr>
              <a:spLocks/>
            </p:cNvSpPr>
            <p:nvPr/>
          </p:nvSpPr>
          <p:spPr>
            <a:xfrm>
              <a:off x="10756741" y="3605372"/>
              <a:ext cx="18351" cy="18351"/>
            </a:xfrm>
            <a:prstGeom prst="ellipse">
              <a:avLst/>
            </a:prstGeom>
            <a:solidFill>
              <a:srgbClr val="1F2B28"/>
            </a:solidFill>
            <a:ln w="0">
              <a:noFill/>
              <a:prstDash val="solid"/>
            </a:ln>
          </p:spPr>
          <p:txBody>
            <a:bodyPr/>
            <a:lstStyle/>
            <a:p>
              <a:endParaRPr sz="1200"/>
            </a:p>
          </p:txBody>
        </p:sp>
        <p:sp>
          <p:nvSpPr>
            <p:cNvPr id="508" name="s4-crested-chicken__ellipse_508">
              <a:extLst>
                <a:ext uri="{FF2B5EF4-FFF2-40B4-BE49-F238E27FC236}">
                  <a16:creationId xmlns:a16="http://schemas.microsoft.com/office/drawing/2014/main" id="{EED50D27-83AB-4F88-BA72-87232B2F16BB}"/>
                </a:ext>
              </a:extLst>
            </p:cNvPr>
            <p:cNvSpPr>
              <a:spLocks/>
            </p:cNvSpPr>
            <p:nvPr/>
          </p:nvSpPr>
          <p:spPr>
            <a:xfrm>
              <a:off x="10759440" y="3605912"/>
              <a:ext cx="4858" cy="4857"/>
            </a:xfrm>
            <a:prstGeom prst="ellipse">
              <a:avLst/>
            </a:prstGeom>
            <a:solidFill>
              <a:srgbClr val="FFFFFF"/>
            </a:solidFill>
            <a:ln w="0">
              <a:noFill/>
              <a:prstDash val="solid"/>
            </a:ln>
          </p:spPr>
          <p:txBody>
            <a:bodyPr/>
            <a:lstStyle/>
            <a:p>
              <a:endParaRPr sz="1200"/>
            </a:p>
          </p:txBody>
        </p:sp>
        <p:sp>
          <p:nvSpPr>
            <p:cNvPr id="509" name="s4-crested-chicken__crest_509">
              <a:extLst>
                <a:ext uri="{FF2B5EF4-FFF2-40B4-BE49-F238E27FC236}">
                  <a16:creationId xmlns:a16="http://schemas.microsoft.com/office/drawing/2014/main" id="{A6D2AAEE-F281-4B00-A604-DF1FDDD3C63C}"/>
                </a:ext>
              </a:extLst>
            </p:cNvPr>
            <p:cNvSpPr>
              <a:spLocks/>
            </p:cNvSpPr>
            <p:nvPr/>
          </p:nvSpPr>
          <p:spPr>
            <a:xfrm>
              <a:off x="10630522" y="3465424"/>
              <a:ext cx="196221" cy="124421"/>
            </a:xfrm>
            <a:custGeom>
              <a:avLst/>
              <a:gdLst/>
              <a:ahLst/>
              <a:cxnLst/>
              <a:rect l="0" t="0" r="0" b="0"/>
              <a:pathLst>
                <a:path w="294332" h="186633">
                  <a:moveTo>
                    <a:pt x="23355" y="173488"/>
                  </a:moveTo>
                  <a:lnTo>
                    <a:pt x="17316" y="169736"/>
                  </a:lnTo>
                  <a:lnTo>
                    <a:pt x="12144" y="165040"/>
                  </a:lnTo>
                  <a:lnTo>
                    <a:pt x="7877" y="159563"/>
                  </a:lnTo>
                  <a:lnTo>
                    <a:pt x="4505" y="153438"/>
                  </a:lnTo>
                  <a:lnTo>
                    <a:pt x="2067" y="146799"/>
                  </a:lnTo>
                  <a:lnTo>
                    <a:pt x="552" y="139808"/>
                  </a:lnTo>
                  <a:lnTo>
                    <a:pt x="0" y="132598"/>
                  </a:lnTo>
                  <a:lnTo>
                    <a:pt x="400" y="125320"/>
                  </a:lnTo>
                  <a:lnTo>
                    <a:pt x="1791" y="118110"/>
                  </a:lnTo>
                  <a:lnTo>
                    <a:pt x="4162" y="111119"/>
                  </a:lnTo>
                  <a:lnTo>
                    <a:pt x="7553" y="104480"/>
                  </a:lnTo>
                  <a:lnTo>
                    <a:pt x="11954" y="98355"/>
                  </a:lnTo>
                  <a:lnTo>
                    <a:pt x="17402" y="92878"/>
                  </a:lnTo>
                  <a:lnTo>
                    <a:pt x="23889" y="88182"/>
                  </a:lnTo>
                  <a:lnTo>
                    <a:pt x="31452" y="84430"/>
                  </a:lnTo>
                  <a:lnTo>
                    <a:pt x="27642" y="74943"/>
                  </a:lnTo>
                  <a:lnTo>
                    <a:pt x="25822" y="65980"/>
                  </a:lnTo>
                  <a:lnTo>
                    <a:pt x="25813" y="57617"/>
                  </a:lnTo>
                  <a:lnTo>
                    <a:pt x="27451" y="49940"/>
                  </a:lnTo>
                  <a:lnTo>
                    <a:pt x="30556" y="43053"/>
                  </a:lnTo>
                  <a:lnTo>
                    <a:pt x="34947" y="37014"/>
                  </a:lnTo>
                  <a:lnTo>
                    <a:pt x="40472" y="31937"/>
                  </a:lnTo>
                  <a:lnTo>
                    <a:pt x="46939" y="27889"/>
                  </a:lnTo>
                  <a:lnTo>
                    <a:pt x="54188" y="24975"/>
                  </a:lnTo>
                  <a:lnTo>
                    <a:pt x="62036" y="23260"/>
                  </a:lnTo>
                  <a:lnTo>
                    <a:pt x="70323" y="22841"/>
                  </a:lnTo>
                  <a:lnTo>
                    <a:pt x="78867" y="23803"/>
                  </a:lnTo>
                  <a:lnTo>
                    <a:pt x="87497" y="26241"/>
                  </a:lnTo>
                  <a:lnTo>
                    <a:pt x="96031" y="30223"/>
                  </a:lnTo>
                  <a:lnTo>
                    <a:pt x="104318" y="35852"/>
                  </a:lnTo>
                  <a:lnTo>
                    <a:pt x="109785" y="25479"/>
                  </a:lnTo>
                  <a:lnTo>
                    <a:pt x="116357" y="16974"/>
                  </a:lnTo>
                  <a:lnTo>
                    <a:pt x="123815" y="10268"/>
                  </a:lnTo>
                  <a:lnTo>
                    <a:pt x="131959" y="5286"/>
                  </a:lnTo>
                  <a:lnTo>
                    <a:pt x="140599" y="1972"/>
                  </a:lnTo>
                  <a:lnTo>
                    <a:pt x="149523" y="229"/>
                  </a:lnTo>
                  <a:lnTo>
                    <a:pt x="158544" y="0"/>
                  </a:lnTo>
                  <a:lnTo>
                    <a:pt x="167440" y="1210"/>
                  </a:lnTo>
                  <a:lnTo>
                    <a:pt x="176022" y="3791"/>
                  </a:lnTo>
                  <a:lnTo>
                    <a:pt x="184080" y="7668"/>
                  </a:lnTo>
                  <a:lnTo>
                    <a:pt x="191424" y="12764"/>
                  </a:lnTo>
                  <a:lnTo>
                    <a:pt x="197844" y="19012"/>
                  </a:lnTo>
                  <a:lnTo>
                    <a:pt x="203149" y="26337"/>
                  </a:lnTo>
                  <a:lnTo>
                    <a:pt x="207121" y="34681"/>
                  </a:lnTo>
                  <a:lnTo>
                    <a:pt x="209569" y="43948"/>
                  </a:lnTo>
                  <a:lnTo>
                    <a:pt x="222180" y="41758"/>
                  </a:lnTo>
                  <a:lnTo>
                    <a:pt x="234067" y="41539"/>
                  </a:lnTo>
                  <a:lnTo>
                    <a:pt x="245126" y="43110"/>
                  </a:lnTo>
                  <a:lnTo>
                    <a:pt x="255280" y="46272"/>
                  </a:lnTo>
                  <a:lnTo>
                    <a:pt x="264443" y="50844"/>
                  </a:lnTo>
                  <a:lnTo>
                    <a:pt x="272529" y="56645"/>
                  </a:lnTo>
                  <a:lnTo>
                    <a:pt x="279444" y="63475"/>
                  </a:lnTo>
                  <a:lnTo>
                    <a:pt x="285102" y="71161"/>
                  </a:lnTo>
                  <a:lnTo>
                    <a:pt x="289427" y="79505"/>
                  </a:lnTo>
                  <a:lnTo>
                    <a:pt x="292332" y="88325"/>
                  </a:lnTo>
                  <a:lnTo>
                    <a:pt x="293722" y="97441"/>
                  </a:lnTo>
                  <a:lnTo>
                    <a:pt x="293513" y="106642"/>
                  </a:lnTo>
                  <a:lnTo>
                    <a:pt x="291617" y="115767"/>
                  </a:lnTo>
                  <a:lnTo>
                    <a:pt x="287960" y="124616"/>
                  </a:lnTo>
                  <a:lnTo>
                    <a:pt x="282435" y="133007"/>
                  </a:lnTo>
                  <a:lnTo>
                    <a:pt x="287969" y="140884"/>
                  </a:lnTo>
                  <a:lnTo>
                    <a:pt x="291694" y="148276"/>
                  </a:lnTo>
                  <a:lnTo>
                    <a:pt x="293770" y="155162"/>
                  </a:lnTo>
                  <a:lnTo>
                    <a:pt x="294332" y="161477"/>
                  </a:lnTo>
                  <a:lnTo>
                    <a:pt x="293532" y="167192"/>
                  </a:lnTo>
                  <a:lnTo>
                    <a:pt x="291503" y="172260"/>
                  </a:lnTo>
                  <a:lnTo>
                    <a:pt x="288398" y="176632"/>
                  </a:lnTo>
                  <a:lnTo>
                    <a:pt x="284350" y="180270"/>
                  </a:lnTo>
                  <a:lnTo>
                    <a:pt x="279521" y="183137"/>
                  </a:lnTo>
                  <a:lnTo>
                    <a:pt x="274044" y="185185"/>
                  </a:lnTo>
                  <a:lnTo>
                    <a:pt x="268053" y="186366"/>
                  </a:lnTo>
                  <a:lnTo>
                    <a:pt x="261709" y="186633"/>
                  </a:lnTo>
                  <a:lnTo>
                    <a:pt x="255146" y="185957"/>
                  </a:lnTo>
                  <a:lnTo>
                    <a:pt x="248517" y="184290"/>
                  </a:lnTo>
                  <a:lnTo>
                    <a:pt x="241954" y="181585"/>
                  </a:lnTo>
                  <a:lnTo>
                    <a:pt x="224866" y="174127"/>
                  </a:lnTo>
                  <a:lnTo>
                    <a:pt x="209064" y="167907"/>
                  </a:lnTo>
                  <a:lnTo>
                    <a:pt x="194348" y="162868"/>
                  </a:lnTo>
                  <a:lnTo>
                    <a:pt x="180499" y="158953"/>
                  </a:lnTo>
                  <a:lnTo>
                    <a:pt x="167288" y="156096"/>
                  </a:lnTo>
                  <a:lnTo>
                    <a:pt x="154515" y="154248"/>
                  </a:lnTo>
                  <a:lnTo>
                    <a:pt x="141961" y="153353"/>
                  </a:lnTo>
                  <a:lnTo>
                    <a:pt x="129397" y="153353"/>
                  </a:lnTo>
                  <a:lnTo>
                    <a:pt x="116624" y="154191"/>
                  </a:lnTo>
                  <a:lnTo>
                    <a:pt x="103422" y="155800"/>
                  </a:lnTo>
                  <a:lnTo>
                    <a:pt x="89564" y="158125"/>
                  </a:lnTo>
                  <a:lnTo>
                    <a:pt x="74847" y="161115"/>
                  </a:lnTo>
                  <a:lnTo>
                    <a:pt x="59055" y="164716"/>
                  </a:lnTo>
                  <a:lnTo>
                    <a:pt x="41958" y="168859"/>
                  </a:lnTo>
                  <a:lnTo>
                    <a:pt x="23355" y="173488"/>
                  </a:lnTo>
                  <a:close/>
                </a:path>
              </a:pathLst>
            </a:custGeom>
            <a:solidFill>
              <a:srgbClr val="64776A"/>
            </a:solidFill>
            <a:ln w="8906">
              <a:solidFill>
                <a:srgbClr val="4A5147"/>
              </a:solidFill>
              <a:prstDash val="solid"/>
            </a:ln>
          </p:spPr>
          <p:txBody>
            <a:bodyPr/>
            <a:lstStyle/>
            <a:p>
              <a:endParaRPr sz="1200"/>
            </a:p>
          </p:txBody>
        </p:sp>
        <p:sp>
          <p:nvSpPr>
            <p:cNvPr id="510" name="s4-crested-chicken__crest-feathers_510">
              <a:extLst>
                <a:ext uri="{FF2B5EF4-FFF2-40B4-BE49-F238E27FC236}">
                  <a16:creationId xmlns:a16="http://schemas.microsoft.com/office/drawing/2014/main" id="{A536893B-00FD-4BF7-9EC7-6B4A62D64EE7}"/>
                </a:ext>
              </a:extLst>
            </p:cNvPr>
            <p:cNvSpPr>
              <a:spLocks/>
            </p:cNvSpPr>
            <p:nvPr/>
          </p:nvSpPr>
          <p:spPr>
            <a:xfrm>
              <a:off x="10667682" y="3514516"/>
              <a:ext cx="124142" cy="39579"/>
            </a:xfrm>
            <a:custGeom>
              <a:avLst/>
              <a:gdLst/>
              <a:ahLst/>
              <a:cxnLst/>
              <a:rect l="0" t="0" r="0" b="0"/>
              <a:pathLst>
                <a:path w="186214" h="59369">
                  <a:moveTo>
                    <a:pt x="0" y="10792"/>
                  </a:moveTo>
                  <a:lnTo>
                    <a:pt x="10335" y="6477"/>
                  </a:lnTo>
                  <a:lnTo>
                    <a:pt x="21774" y="3239"/>
                  </a:lnTo>
                  <a:lnTo>
                    <a:pt x="34138" y="1076"/>
                  </a:lnTo>
                  <a:lnTo>
                    <a:pt x="47225" y="0"/>
                  </a:lnTo>
                  <a:lnTo>
                    <a:pt x="60874" y="0"/>
                  </a:lnTo>
                  <a:lnTo>
                    <a:pt x="74876" y="1076"/>
                  </a:lnTo>
                  <a:lnTo>
                    <a:pt x="89049" y="3239"/>
                  </a:lnTo>
                  <a:lnTo>
                    <a:pt x="103213" y="6477"/>
                  </a:lnTo>
                  <a:lnTo>
                    <a:pt x="117167" y="10792"/>
                  </a:lnTo>
                  <a:lnTo>
                    <a:pt x="130740" y="16193"/>
                  </a:lnTo>
                  <a:lnTo>
                    <a:pt x="143732" y="22669"/>
                  </a:lnTo>
                  <a:lnTo>
                    <a:pt x="155962" y="30223"/>
                  </a:lnTo>
                  <a:lnTo>
                    <a:pt x="167249" y="38862"/>
                  </a:lnTo>
                  <a:lnTo>
                    <a:pt x="177394" y="48578"/>
                  </a:lnTo>
                  <a:lnTo>
                    <a:pt x="186214" y="59369"/>
                  </a:lnTo>
                </a:path>
              </a:pathLst>
            </a:custGeom>
            <a:noFill/>
            <a:ln w="7287">
              <a:solidFill>
                <a:srgbClr val="83988B"/>
              </a:solidFill>
              <a:prstDash val="solid"/>
            </a:ln>
          </p:spPr>
          <p:txBody>
            <a:bodyPr/>
            <a:lstStyle/>
            <a:p>
              <a:endParaRPr sz="1200"/>
            </a:p>
          </p:txBody>
        </p:sp>
        <p:sp>
          <p:nvSpPr>
            <p:cNvPr id="511" name="s4-brown-chicken__ellipse_511">
              <a:extLst>
                <a:ext uri="{FF2B5EF4-FFF2-40B4-BE49-F238E27FC236}">
                  <a16:creationId xmlns:a16="http://schemas.microsoft.com/office/drawing/2014/main" id="{C72FD389-8165-472A-BBB2-69C7DE7D39A9}"/>
                </a:ext>
              </a:extLst>
            </p:cNvPr>
            <p:cNvSpPr>
              <a:spLocks/>
            </p:cNvSpPr>
            <p:nvPr/>
          </p:nvSpPr>
          <p:spPr>
            <a:xfrm>
              <a:off x="11036554" y="4140454"/>
              <a:ext cx="531495" cy="53149"/>
            </a:xfrm>
            <a:prstGeom prst="ellipse">
              <a:avLst/>
            </a:prstGeom>
            <a:solidFill>
              <a:srgbClr val="DCE2D6">
                <a:alpha val="80000"/>
              </a:srgbClr>
            </a:solidFill>
            <a:ln w="0">
              <a:noFill/>
              <a:prstDash val="solid"/>
            </a:ln>
          </p:spPr>
          <p:txBody>
            <a:bodyPr/>
            <a:lstStyle/>
            <a:p>
              <a:endParaRPr sz="1200"/>
            </a:p>
          </p:txBody>
        </p:sp>
        <p:sp>
          <p:nvSpPr>
            <p:cNvPr id="512" name="s4-brown-chicken__contour_512">
              <a:extLst>
                <a:ext uri="{FF2B5EF4-FFF2-40B4-BE49-F238E27FC236}">
                  <a16:creationId xmlns:a16="http://schemas.microsoft.com/office/drawing/2014/main" id="{36A6806E-18AD-4737-B78E-D060F630F47B}"/>
                </a:ext>
              </a:extLst>
            </p:cNvPr>
            <p:cNvSpPr>
              <a:spLocks/>
            </p:cNvSpPr>
            <p:nvPr/>
          </p:nvSpPr>
          <p:spPr>
            <a:xfrm>
              <a:off x="11377695" y="3442913"/>
              <a:ext cx="437584" cy="431793"/>
            </a:xfrm>
            <a:custGeom>
              <a:avLst/>
              <a:gdLst/>
              <a:ahLst/>
              <a:cxnLst/>
              <a:rect l="0" t="0" r="0" b="0"/>
              <a:pathLst>
                <a:path w="656377" h="647690">
                  <a:moveTo>
                    <a:pt x="55216" y="647690"/>
                  </a:moveTo>
                  <a:lnTo>
                    <a:pt x="96574" y="631908"/>
                  </a:lnTo>
                  <a:lnTo>
                    <a:pt x="135674" y="613048"/>
                  </a:lnTo>
                  <a:lnTo>
                    <a:pt x="172641" y="591350"/>
                  </a:lnTo>
                  <a:lnTo>
                    <a:pt x="207569" y="567061"/>
                  </a:lnTo>
                  <a:lnTo>
                    <a:pt x="240582" y="540410"/>
                  </a:lnTo>
                  <a:lnTo>
                    <a:pt x="271786" y="511626"/>
                  </a:lnTo>
                  <a:lnTo>
                    <a:pt x="301285" y="480955"/>
                  </a:lnTo>
                  <a:lnTo>
                    <a:pt x="329194" y="448637"/>
                  </a:lnTo>
                  <a:lnTo>
                    <a:pt x="355616" y="414899"/>
                  </a:lnTo>
                  <a:lnTo>
                    <a:pt x="380676" y="379971"/>
                  </a:lnTo>
                  <a:lnTo>
                    <a:pt x="404470" y="344110"/>
                  </a:lnTo>
                  <a:lnTo>
                    <a:pt x="427120" y="307534"/>
                  </a:lnTo>
                  <a:lnTo>
                    <a:pt x="448732" y="270491"/>
                  </a:lnTo>
                  <a:lnTo>
                    <a:pt x="469411" y="233201"/>
                  </a:lnTo>
                  <a:lnTo>
                    <a:pt x="489271" y="195920"/>
                  </a:lnTo>
                  <a:lnTo>
                    <a:pt x="506501" y="185052"/>
                  </a:lnTo>
                  <a:lnTo>
                    <a:pt x="522732" y="177213"/>
                  </a:lnTo>
                  <a:lnTo>
                    <a:pt x="537886" y="172393"/>
                  </a:lnTo>
                  <a:lnTo>
                    <a:pt x="551907" y="170545"/>
                  </a:lnTo>
                  <a:lnTo>
                    <a:pt x="564728" y="171640"/>
                  </a:lnTo>
                  <a:lnTo>
                    <a:pt x="576291" y="175651"/>
                  </a:lnTo>
                  <a:lnTo>
                    <a:pt x="586540" y="182547"/>
                  </a:lnTo>
                  <a:lnTo>
                    <a:pt x="595389" y="192291"/>
                  </a:lnTo>
                  <a:lnTo>
                    <a:pt x="602799" y="204845"/>
                  </a:lnTo>
                  <a:lnTo>
                    <a:pt x="608695" y="220199"/>
                  </a:lnTo>
                  <a:lnTo>
                    <a:pt x="613010" y="238306"/>
                  </a:lnTo>
                  <a:lnTo>
                    <a:pt x="615696" y="259128"/>
                  </a:lnTo>
                  <a:lnTo>
                    <a:pt x="616677" y="282654"/>
                  </a:lnTo>
                  <a:lnTo>
                    <a:pt x="615896" y="308839"/>
                  </a:lnTo>
                  <a:lnTo>
                    <a:pt x="613286" y="337652"/>
                  </a:lnTo>
                  <a:lnTo>
                    <a:pt x="626278" y="324002"/>
                  </a:lnTo>
                  <a:lnTo>
                    <a:pt x="636927" y="308096"/>
                  </a:lnTo>
                  <a:lnTo>
                    <a:pt x="645243" y="290246"/>
                  </a:lnTo>
                  <a:lnTo>
                    <a:pt x="651253" y="270786"/>
                  </a:lnTo>
                  <a:lnTo>
                    <a:pt x="654949" y="250050"/>
                  </a:lnTo>
                  <a:lnTo>
                    <a:pt x="656377" y="228381"/>
                  </a:lnTo>
                  <a:lnTo>
                    <a:pt x="655530" y="206083"/>
                  </a:lnTo>
                  <a:lnTo>
                    <a:pt x="652424" y="183509"/>
                  </a:lnTo>
                  <a:lnTo>
                    <a:pt x="647090" y="160982"/>
                  </a:lnTo>
                  <a:lnTo>
                    <a:pt x="639537" y="138836"/>
                  </a:lnTo>
                  <a:lnTo>
                    <a:pt x="629774" y="117396"/>
                  </a:lnTo>
                  <a:lnTo>
                    <a:pt x="617820" y="96993"/>
                  </a:lnTo>
                  <a:lnTo>
                    <a:pt x="603695" y="77962"/>
                  </a:lnTo>
                  <a:lnTo>
                    <a:pt x="587416" y="60627"/>
                  </a:lnTo>
                  <a:lnTo>
                    <a:pt x="568995" y="45329"/>
                  </a:lnTo>
                  <a:lnTo>
                    <a:pt x="528618" y="24117"/>
                  </a:lnTo>
                  <a:lnTo>
                    <a:pt x="489023" y="9782"/>
                  </a:lnTo>
                  <a:lnTo>
                    <a:pt x="450294" y="1886"/>
                  </a:lnTo>
                  <a:lnTo>
                    <a:pt x="412509" y="0"/>
                  </a:lnTo>
                  <a:lnTo>
                    <a:pt x="375752" y="3667"/>
                  </a:lnTo>
                  <a:lnTo>
                    <a:pt x="340100" y="12449"/>
                  </a:lnTo>
                  <a:lnTo>
                    <a:pt x="305619" y="25908"/>
                  </a:lnTo>
                  <a:lnTo>
                    <a:pt x="272405" y="43605"/>
                  </a:lnTo>
                  <a:lnTo>
                    <a:pt x="240535" y="65103"/>
                  </a:lnTo>
                  <a:lnTo>
                    <a:pt x="210074" y="89945"/>
                  </a:lnTo>
                  <a:lnTo>
                    <a:pt x="181108" y="117710"/>
                  </a:lnTo>
                  <a:lnTo>
                    <a:pt x="153724" y="147942"/>
                  </a:lnTo>
                  <a:lnTo>
                    <a:pt x="127987" y="180213"/>
                  </a:lnTo>
                  <a:lnTo>
                    <a:pt x="103984" y="214065"/>
                  </a:lnTo>
                  <a:lnTo>
                    <a:pt x="81791" y="249069"/>
                  </a:lnTo>
                  <a:lnTo>
                    <a:pt x="68323" y="273758"/>
                  </a:lnTo>
                  <a:lnTo>
                    <a:pt x="56217" y="298228"/>
                  </a:lnTo>
                  <a:lnTo>
                    <a:pt x="45434" y="322488"/>
                  </a:lnTo>
                  <a:lnTo>
                    <a:pt x="35928" y="346558"/>
                  </a:lnTo>
                  <a:lnTo>
                    <a:pt x="27661" y="370456"/>
                  </a:lnTo>
                  <a:lnTo>
                    <a:pt x="20564" y="394202"/>
                  </a:lnTo>
                  <a:lnTo>
                    <a:pt x="14602" y="417805"/>
                  </a:lnTo>
                  <a:lnTo>
                    <a:pt x="9725" y="441274"/>
                  </a:lnTo>
                  <a:lnTo>
                    <a:pt x="5896" y="464639"/>
                  </a:lnTo>
                  <a:lnTo>
                    <a:pt x="3048" y="487918"/>
                  </a:lnTo>
                  <a:lnTo>
                    <a:pt x="1153" y="511102"/>
                  </a:lnTo>
                  <a:lnTo>
                    <a:pt x="152" y="534238"/>
                  </a:lnTo>
                  <a:lnTo>
                    <a:pt x="0" y="557317"/>
                  </a:lnTo>
                  <a:lnTo>
                    <a:pt x="657" y="580368"/>
                  </a:lnTo>
                  <a:lnTo>
                    <a:pt x="2067" y="603399"/>
                  </a:lnTo>
                  <a:close/>
                </a:path>
              </a:pathLst>
            </a:custGeom>
            <a:solidFill>
              <a:srgbClr val="426459"/>
            </a:solidFill>
            <a:ln w="15059">
              <a:solidFill>
                <a:srgbClr val="4A5147"/>
              </a:solidFill>
              <a:prstDash val="solid"/>
            </a:ln>
          </p:spPr>
          <p:txBody>
            <a:bodyPr/>
            <a:lstStyle/>
            <a:p>
              <a:endParaRPr sz="1200"/>
            </a:p>
          </p:txBody>
        </p:sp>
        <p:sp>
          <p:nvSpPr>
            <p:cNvPr id="513" name="s4-brown-chicken__contour_513">
              <a:extLst>
                <a:ext uri="{FF2B5EF4-FFF2-40B4-BE49-F238E27FC236}">
                  <a16:creationId xmlns:a16="http://schemas.microsoft.com/office/drawing/2014/main" id="{FF1200F6-A201-4FEE-AE30-5E4CF526E8C3}"/>
                </a:ext>
              </a:extLst>
            </p:cNvPr>
            <p:cNvSpPr>
              <a:spLocks/>
            </p:cNvSpPr>
            <p:nvPr/>
          </p:nvSpPr>
          <p:spPr>
            <a:xfrm>
              <a:off x="11390884" y="3576637"/>
              <a:ext cx="415226" cy="309879"/>
            </a:xfrm>
            <a:custGeom>
              <a:avLst/>
              <a:gdLst/>
              <a:ahLst/>
              <a:cxnLst/>
              <a:rect l="0" t="0" r="0" b="0"/>
              <a:pathLst>
                <a:path w="622840" h="464820">
                  <a:moveTo>
                    <a:pt x="62008" y="464820"/>
                  </a:moveTo>
                  <a:lnTo>
                    <a:pt x="99622" y="437940"/>
                  </a:lnTo>
                  <a:lnTo>
                    <a:pt x="134712" y="410651"/>
                  </a:lnTo>
                  <a:lnTo>
                    <a:pt x="167602" y="383257"/>
                  </a:lnTo>
                  <a:lnTo>
                    <a:pt x="198596" y="356044"/>
                  </a:lnTo>
                  <a:lnTo>
                    <a:pt x="228019" y="329317"/>
                  </a:lnTo>
                  <a:lnTo>
                    <a:pt x="256184" y="303390"/>
                  </a:lnTo>
                  <a:lnTo>
                    <a:pt x="283397" y="278540"/>
                  </a:lnTo>
                  <a:lnTo>
                    <a:pt x="309982" y="255079"/>
                  </a:lnTo>
                  <a:lnTo>
                    <a:pt x="336261" y="233305"/>
                  </a:lnTo>
                  <a:lnTo>
                    <a:pt x="362531" y="213512"/>
                  </a:lnTo>
                  <a:lnTo>
                    <a:pt x="389115" y="195996"/>
                  </a:lnTo>
                  <a:lnTo>
                    <a:pt x="416338" y="181070"/>
                  </a:lnTo>
                  <a:lnTo>
                    <a:pt x="444503" y="169031"/>
                  </a:lnTo>
                  <a:lnTo>
                    <a:pt x="473926" y="160163"/>
                  </a:lnTo>
                  <a:lnTo>
                    <a:pt x="504920" y="154781"/>
                  </a:lnTo>
                  <a:lnTo>
                    <a:pt x="516846" y="157486"/>
                  </a:lnTo>
                  <a:lnTo>
                    <a:pt x="527809" y="161982"/>
                  </a:lnTo>
                  <a:lnTo>
                    <a:pt x="537801" y="168173"/>
                  </a:lnTo>
                  <a:lnTo>
                    <a:pt x="546802" y="175974"/>
                  </a:lnTo>
                  <a:lnTo>
                    <a:pt x="554793" y="185290"/>
                  </a:lnTo>
                  <a:lnTo>
                    <a:pt x="561756" y="196025"/>
                  </a:lnTo>
                  <a:lnTo>
                    <a:pt x="567680" y="208083"/>
                  </a:lnTo>
                  <a:lnTo>
                    <a:pt x="572557" y="221361"/>
                  </a:lnTo>
                  <a:lnTo>
                    <a:pt x="576358" y="235782"/>
                  </a:lnTo>
                  <a:lnTo>
                    <a:pt x="579063" y="251241"/>
                  </a:lnTo>
                  <a:lnTo>
                    <a:pt x="580682" y="267643"/>
                  </a:lnTo>
                  <a:lnTo>
                    <a:pt x="581168" y="284893"/>
                  </a:lnTo>
                  <a:lnTo>
                    <a:pt x="580530" y="302895"/>
                  </a:lnTo>
                  <a:lnTo>
                    <a:pt x="578739" y="321564"/>
                  </a:lnTo>
                  <a:lnTo>
                    <a:pt x="575786" y="340804"/>
                  </a:lnTo>
                  <a:lnTo>
                    <a:pt x="591750" y="312268"/>
                  </a:lnTo>
                  <a:lnTo>
                    <a:pt x="604304" y="283502"/>
                  </a:lnTo>
                  <a:lnTo>
                    <a:pt x="613562" y="254775"/>
                  </a:lnTo>
                  <a:lnTo>
                    <a:pt x="619649" y="226324"/>
                  </a:lnTo>
                  <a:lnTo>
                    <a:pt x="622706" y="198415"/>
                  </a:lnTo>
                  <a:lnTo>
                    <a:pt x="622840" y="171298"/>
                  </a:lnTo>
                  <a:lnTo>
                    <a:pt x="620192" y="145209"/>
                  </a:lnTo>
                  <a:lnTo>
                    <a:pt x="614886" y="120415"/>
                  </a:lnTo>
                  <a:lnTo>
                    <a:pt x="607038" y="97165"/>
                  </a:lnTo>
                  <a:lnTo>
                    <a:pt x="596779" y="75714"/>
                  </a:lnTo>
                  <a:lnTo>
                    <a:pt x="584244" y="56302"/>
                  </a:lnTo>
                  <a:lnTo>
                    <a:pt x="569547" y="39195"/>
                  </a:lnTo>
                  <a:lnTo>
                    <a:pt x="552821" y="24641"/>
                  </a:lnTo>
                  <a:lnTo>
                    <a:pt x="534191" y="12887"/>
                  </a:lnTo>
                  <a:lnTo>
                    <a:pt x="513779" y="4191"/>
                  </a:lnTo>
                  <a:lnTo>
                    <a:pt x="478241" y="0"/>
                  </a:lnTo>
                  <a:lnTo>
                    <a:pt x="442541" y="1391"/>
                  </a:lnTo>
                  <a:lnTo>
                    <a:pt x="406775" y="8020"/>
                  </a:lnTo>
                  <a:lnTo>
                    <a:pt x="370999" y="19564"/>
                  </a:lnTo>
                  <a:lnTo>
                    <a:pt x="335299" y="35690"/>
                  </a:lnTo>
                  <a:lnTo>
                    <a:pt x="299761" y="56064"/>
                  </a:lnTo>
                  <a:lnTo>
                    <a:pt x="264462" y="80362"/>
                  </a:lnTo>
                  <a:lnTo>
                    <a:pt x="229476" y="108252"/>
                  </a:lnTo>
                  <a:lnTo>
                    <a:pt x="194882" y="139408"/>
                  </a:lnTo>
                  <a:lnTo>
                    <a:pt x="160763" y="173479"/>
                  </a:lnTo>
                  <a:lnTo>
                    <a:pt x="127187" y="210160"/>
                  </a:lnTo>
                  <a:lnTo>
                    <a:pt x="94250" y="249107"/>
                  </a:lnTo>
                  <a:lnTo>
                    <a:pt x="62017" y="289989"/>
                  </a:lnTo>
                  <a:lnTo>
                    <a:pt x="30575" y="332470"/>
                  </a:lnTo>
                  <a:lnTo>
                    <a:pt x="0" y="376238"/>
                  </a:lnTo>
                  <a:close/>
                </a:path>
              </a:pathLst>
            </a:custGeom>
            <a:solidFill>
              <a:srgbClr val="426459"/>
            </a:solidFill>
            <a:ln w="15059">
              <a:solidFill>
                <a:srgbClr val="4A5147"/>
              </a:solidFill>
              <a:prstDash val="solid"/>
            </a:ln>
          </p:spPr>
          <p:txBody>
            <a:bodyPr/>
            <a:lstStyle/>
            <a:p>
              <a:endParaRPr sz="1200"/>
            </a:p>
          </p:txBody>
        </p:sp>
        <p:sp>
          <p:nvSpPr>
            <p:cNvPr id="514" name="s4-brown-chicken__contour_514">
              <a:extLst>
                <a:ext uri="{FF2B5EF4-FFF2-40B4-BE49-F238E27FC236}">
                  <a16:creationId xmlns:a16="http://schemas.microsoft.com/office/drawing/2014/main" id="{550D618A-81A9-457A-BB86-8447221D555C}"/>
                </a:ext>
              </a:extLst>
            </p:cNvPr>
            <p:cNvSpPr>
              <a:spLocks/>
            </p:cNvSpPr>
            <p:nvPr/>
          </p:nvSpPr>
          <p:spPr>
            <a:xfrm>
              <a:off x="11384979" y="3685731"/>
              <a:ext cx="373576" cy="200787"/>
            </a:xfrm>
            <a:custGeom>
              <a:avLst/>
              <a:gdLst/>
              <a:ahLst/>
              <a:cxnLst/>
              <a:rect l="0" t="0" r="0" b="0"/>
              <a:pathLst>
                <a:path w="560365" h="301181">
                  <a:moveTo>
                    <a:pt x="70866" y="301181"/>
                  </a:moveTo>
                  <a:lnTo>
                    <a:pt x="107899" y="286683"/>
                  </a:lnTo>
                  <a:lnTo>
                    <a:pt x="141294" y="271691"/>
                  </a:lnTo>
                  <a:lnTo>
                    <a:pt x="171421" y="256394"/>
                  </a:lnTo>
                  <a:lnTo>
                    <a:pt x="198672" y="241002"/>
                  </a:lnTo>
                  <a:lnTo>
                    <a:pt x="223428" y="225723"/>
                  </a:lnTo>
                  <a:lnTo>
                    <a:pt x="246050" y="210760"/>
                  </a:lnTo>
                  <a:lnTo>
                    <a:pt x="266919" y="196310"/>
                  </a:lnTo>
                  <a:lnTo>
                    <a:pt x="286426" y="182585"/>
                  </a:lnTo>
                  <a:lnTo>
                    <a:pt x="304933" y="169793"/>
                  </a:lnTo>
                  <a:lnTo>
                    <a:pt x="322831" y="158134"/>
                  </a:lnTo>
                  <a:lnTo>
                    <a:pt x="340500" y="147818"/>
                  </a:lnTo>
                  <a:lnTo>
                    <a:pt x="358302" y="139036"/>
                  </a:lnTo>
                  <a:lnTo>
                    <a:pt x="376618" y="132007"/>
                  </a:lnTo>
                  <a:lnTo>
                    <a:pt x="395840" y="126930"/>
                  </a:lnTo>
                  <a:lnTo>
                    <a:pt x="416338" y="124016"/>
                  </a:lnTo>
                  <a:lnTo>
                    <a:pt x="430035" y="124949"/>
                  </a:lnTo>
                  <a:lnTo>
                    <a:pt x="442798" y="127692"/>
                  </a:lnTo>
                  <a:lnTo>
                    <a:pt x="454609" y="132169"/>
                  </a:lnTo>
                  <a:lnTo>
                    <a:pt x="465468" y="138293"/>
                  </a:lnTo>
                  <a:lnTo>
                    <a:pt x="475393" y="145999"/>
                  </a:lnTo>
                  <a:lnTo>
                    <a:pt x="484365" y="155200"/>
                  </a:lnTo>
                  <a:lnTo>
                    <a:pt x="492404" y="165811"/>
                  </a:lnTo>
                  <a:lnTo>
                    <a:pt x="499491" y="177765"/>
                  </a:lnTo>
                  <a:lnTo>
                    <a:pt x="505625" y="190986"/>
                  </a:lnTo>
                  <a:lnTo>
                    <a:pt x="510826" y="205378"/>
                  </a:lnTo>
                  <a:lnTo>
                    <a:pt x="515074" y="220875"/>
                  </a:lnTo>
                  <a:lnTo>
                    <a:pt x="518389" y="237401"/>
                  </a:lnTo>
                  <a:lnTo>
                    <a:pt x="520751" y="254870"/>
                  </a:lnTo>
                  <a:lnTo>
                    <a:pt x="522160" y="273206"/>
                  </a:lnTo>
                  <a:lnTo>
                    <a:pt x="522637" y="292322"/>
                  </a:lnTo>
                  <a:lnTo>
                    <a:pt x="538153" y="264014"/>
                  </a:lnTo>
                  <a:lnTo>
                    <a:pt x="549431" y="235944"/>
                  </a:lnTo>
                  <a:lnTo>
                    <a:pt x="556727" y="208350"/>
                  </a:lnTo>
                  <a:lnTo>
                    <a:pt x="560289" y="181461"/>
                  </a:lnTo>
                  <a:lnTo>
                    <a:pt x="560365" y="155515"/>
                  </a:lnTo>
                  <a:lnTo>
                    <a:pt x="557222" y="130750"/>
                  </a:lnTo>
                  <a:lnTo>
                    <a:pt x="551097" y="107404"/>
                  </a:lnTo>
                  <a:lnTo>
                    <a:pt x="542249" y="85706"/>
                  </a:lnTo>
                  <a:lnTo>
                    <a:pt x="530924" y="65903"/>
                  </a:lnTo>
                  <a:lnTo>
                    <a:pt x="517388" y="48225"/>
                  </a:lnTo>
                  <a:lnTo>
                    <a:pt x="501882" y="32909"/>
                  </a:lnTo>
                  <a:lnTo>
                    <a:pt x="484651" y="20193"/>
                  </a:lnTo>
                  <a:lnTo>
                    <a:pt x="465963" y="10316"/>
                  </a:lnTo>
                  <a:lnTo>
                    <a:pt x="446056" y="3505"/>
                  </a:lnTo>
                  <a:lnTo>
                    <a:pt x="425196" y="0"/>
                  </a:lnTo>
                  <a:lnTo>
                    <a:pt x="395307" y="4696"/>
                  </a:lnTo>
                  <a:lnTo>
                    <a:pt x="365846" y="11601"/>
                  </a:lnTo>
                  <a:lnTo>
                    <a:pt x="336756" y="20555"/>
                  </a:lnTo>
                  <a:lnTo>
                    <a:pt x="308000" y="31394"/>
                  </a:lnTo>
                  <a:lnTo>
                    <a:pt x="279530" y="43967"/>
                  </a:lnTo>
                  <a:lnTo>
                    <a:pt x="251289" y="58112"/>
                  </a:lnTo>
                  <a:lnTo>
                    <a:pt x="223247" y="73676"/>
                  </a:lnTo>
                  <a:lnTo>
                    <a:pt x="195339" y="90497"/>
                  </a:lnTo>
                  <a:lnTo>
                    <a:pt x="167526" y="108423"/>
                  </a:lnTo>
                  <a:lnTo>
                    <a:pt x="139760" y="127292"/>
                  </a:lnTo>
                  <a:lnTo>
                    <a:pt x="112004" y="146952"/>
                  </a:lnTo>
                  <a:lnTo>
                    <a:pt x="84191" y="167240"/>
                  </a:lnTo>
                  <a:lnTo>
                    <a:pt x="56283" y="188004"/>
                  </a:lnTo>
                  <a:lnTo>
                    <a:pt x="28232" y="209083"/>
                  </a:lnTo>
                  <a:lnTo>
                    <a:pt x="0" y="230315"/>
                  </a:lnTo>
                  <a:close/>
                </a:path>
              </a:pathLst>
            </a:custGeom>
            <a:solidFill>
              <a:srgbClr val="426459"/>
            </a:solidFill>
            <a:ln w="15059">
              <a:solidFill>
                <a:srgbClr val="4A5147"/>
              </a:solidFill>
              <a:prstDash val="solid"/>
            </a:ln>
          </p:spPr>
          <p:txBody>
            <a:bodyPr/>
            <a:lstStyle/>
            <a:p>
              <a:endParaRPr sz="1200"/>
            </a:p>
          </p:txBody>
        </p:sp>
        <p:sp>
          <p:nvSpPr>
            <p:cNvPr id="515" name="s4-brown-chicken__contour_515">
              <a:extLst>
                <a:ext uri="{FF2B5EF4-FFF2-40B4-BE49-F238E27FC236}">
                  <a16:creationId xmlns:a16="http://schemas.microsoft.com/office/drawing/2014/main" id="{AD6DA40C-95FE-4EDE-9FFA-9D816653A801}"/>
                </a:ext>
              </a:extLst>
            </p:cNvPr>
            <p:cNvSpPr>
              <a:spLocks/>
            </p:cNvSpPr>
            <p:nvPr/>
          </p:nvSpPr>
          <p:spPr>
            <a:xfrm>
              <a:off x="11426317" y="3502660"/>
              <a:ext cx="301180" cy="324802"/>
            </a:xfrm>
            <a:custGeom>
              <a:avLst/>
              <a:gdLst/>
              <a:ahLst/>
              <a:cxnLst/>
              <a:rect l="0" t="0" r="0" b="0"/>
              <a:pathLst>
                <a:path w="451771" h="487204">
                  <a:moveTo>
                    <a:pt x="0" y="487204"/>
                  </a:moveTo>
                  <a:lnTo>
                    <a:pt x="31004" y="439217"/>
                  </a:lnTo>
                  <a:lnTo>
                    <a:pt x="60436" y="391258"/>
                  </a:lnTo>
                  <a:lnTo>
                    <a:pt x="88649" y="343843"/>
                  </a:lnTo>
                  <a:lnTo>
                    <a:pt x="115967" y="297466"/>
                  </a:lnTo>
                  <a:lnTo>
                    <a:pt x="142713" y="252622"/>
                  </a:lnTo>
                  <a:lnTo>
                    <a:pt x="169231" y="209836"/>
                  </a:lnTo>
                  <a:lnTo>
                    <a:pt x="195834" y="169593"/>
                  </a:lnTo>
                  <a:lnTo>
                    <a:pt x="222866" y="132417"/>
                  </a:lnTo>
                  <a:lnTo>
                    <a:pt x="250650" y="98784"/>
                  </a:lnTo>
                  <a:lnTo>
                    <a:pt x="279530" y="69228"/>
                  </a:lnTo>
                  <a:lnTo>
                    <a:pt x="309820" y="44234"/>
                  </a:lnTo>
                  <a:lnTo>
                    <a:pt x="341862" y="24308"/>
                  </a:lnTo>
                  <a:lnTo>
                    <a:pt x="375980" y="9954"/>
                  </a:lnTo>
                  <a:lnTo>
                    <a:pt x="412499" y="1686"/>
                  </a:lnTo>
                  <a:lnTo>
                    <a:pt x="451771" y="0"/>
                  </a:lnTo>
                </a:path>
              </a:pathLst>
            </a:custGeom>
            <a:noFill/>
            <a:ln w="12402">
              <a:solidFill>
                <a:srgbClr val="5C7D68"/>
              </a:solidFill>
              <a:prstDash val="solid"/>
            </a:ln>
          </p:spPr>
          <p:txBody>
            <a:bodyPr/>
            <a:lstStyle/>
            <a:p>
              <a:endParaRPr sz="1200"/>
            </a:p>
          </p:txBody>
        </p:sp>
        <p:sp>
          <p:nvSpPr>
            <p:cNvPr id="516" name="s4-brown-chicken__contour_516">
              <a:extLst>
                <a:ext uri="{FF2B5EF4-FFF2-40B4-BE49-F238E27FC236}">
                  <a16:creationId xmlns:a16="http://schemas.microsoft.com/office/drawing/2014/main" id="{51F2D39C-2D6E-4CF9-B86A-AEF9C5881234}"/>
                </a:ext>
              </a:extLst>
            </p:cNvPr>
            <p:cNvSpPr>
              <a:spLocks/>
            </p:cNvSpPr>
            <p:nvPr/>
          </p:nvSpPr>
          <p:spPr>
            <a:xfrm>
              <a:off x="11455845" y="3623139"/>
              <a:ext cx="301180" cy="239756"/>
            </a:xfrm>
            <a:custGeom>
              <a:avLst/>
              <a:gdLst/>
              <a:ahLst/>
              <a:cxnLst/>
              <a:rect l="0" t="0" r="0" b="0"/>
              <a:pathLst>
                <a:path w="451771" h="359635">
                  <a:moveTo>
                    <a:pt x="0" y="359635"/>
                  </a:moveTo>
                  <a:lnTo>
                    <a:pt x="38271" y="309924"/>
                  </a:lnTo>
                  <a:lnTo>
                    <a:pt x="75181" y="263595"/>
                  </a:lnTo>
                  <a:lnTo>
                    <a:pt x="110766" y="220742"/>
                  </a:lnTo>
                  <a:lnTo>
                    <a:pt x="145075" y="181423"/>
                  </a:lnTo>
                  <a:lnTo>
                    <a:pt x="178146" y="145723"/>
                  </a:lnTo>
                  <a:lnTo>
                    <a:pt x="210045" y="113729"/>
                  </a:lnTo>
                  <a:lnTo>
                    <a:pt x="240811" y="85515"/>
                  </a:lnTo>
                  <a:lnTo>
                    <a:pt x="270491" y="61160"/>
                  </a:lnTo>
                  <a:lnTo>
                    <a:pt x="299123" y="40738"/>
                  </a:lnTo>
                  <a:lnTo>
                    <a:pt x="326774" y="24336"/>
                  </a:lnTo>
                  <a:lnTo>
                    <a:pt x="353473" y="12021"/>
                  </a:lnTo>
                  <a:lnTo>
                    <a:pt x="379276" y="3886"/>
                  </a:lnTo>
                  <a:lnTo>
                    <a:pt x="404231" y="0"/>
                  </a:lnTo>
                  <a:lnTo>
                    <a:pt x="428377" y="448"/>
                  </a:lnTo>
                  <a:lnTo>
                    <a:pt x="451771" y="5305"/>
                  </a:lnTo>
                </a:path>
              </a:pathLst>
            </a:custGeom>
            <a:noFill/>
            <a:ln w="12402">
              <a:solidFill>
                <a:srgbClr val="5C7D68"/>
              </a:solidFill>
              <a:prstDash val="solid"/>
            </a:ln>
          </p:spPr>
          <p:txBody>
            <a:bodyPr/>
            <a:lstStyle/>
            <a:p>
              <a:endParaRPr sz="1200"/>
            </a:p>
          </p:txBody>
        </p:sp>
        <p:sp>
          <p:nvSpPr>
            <p:cNvPr id="517" name="s4-brown-chicken__line_517">
              <a:extLst>
                <a:ext uri="{FF2B5EF4-FFF2-40B4-BE49-F238E27FC236}">
                  <a16:creationId xmlns:a16="http://schemas.microsoft.com/office/drawing/2014/main" id="{B9607539-C54A-48E1-8DE1-0F57961844CC}"/>
                </a:ext>
              </a:extLst>
            </p:cNvPr>
            <p:cNvSpPr>
              <a:spLocks/>
            </p:cNvSpPr>
            <p:nvPr/>
          </p:nvSpPr>
          <p:spPr>
            <a:xfrm>
              <a:off x="11308207" y="4028249"/>
              <a:ext cx="11811" cy="112204"/>
            </a:xfrm>
            <a:custGeom>
              <a:avLst/>
              <a:gdLst/>
              <a:ahLst/>
              <a:cxnLst/>
              <a:rect l="0" t="0" r="0" b="0"/>
              <a:pathLst>
                <a:path w="17717" h="168307">
                  <a:moveTo>
                    <a:pt x="17717" y="0"/>
                  </a:moveTo>
                  <a:lnTo>
                    <a:pt x="0" y="168307"/>
                  </a:lnTo>
                </a:path>
              </a:pathLst>
            </a:custGeom>
            <a:noFill/>
            <a:ln w="26575">
              <a:solidFill>
                <a:srgbClr val="B68C45"/>
              </a:solidFill>
              <a:prstDash val="solid"/>
            </a:ln>
          </p:spPr>
          <p:txBody>
            <a:bodyPr/>
            <a:lstStyle/>
            <a:p>
              <a:endParaRPr sz="1200"/>
            </a:p>
          </p:txBody>
        </p:sp>
        <p:sp>
          <p:nvSpPr>
            <p:cNvPr id="518" name="s4-brown-chicken__line_518">
              <a:extLst>
                <a:ext uri="{FF2B5EF4-FFF2-40B4-BE49-F238E27FC236}">
                  <a16:creationId xmlns:a16="http://schemas.microsoft.com/office/drawing/2014/main" id="{4B89CB4A-A82A-4C65-AA41-2150787E821C}"/>
                </a:ext>
              </a:extLst>
            </p:cNvPr>
            <p:cNvSpPr>
              <a:spLocks/>
            </p:cNvSpPr>
            <p:nvPr/>
          </p:nvSpPr>
          <p:spPr>
            <a:xfrm>
              <a:off x="11314113" y="4128642"/>
              <a:ext cx="59054" cy="29527"/>
            </a:xfrm>
            <a:custGeom>
              <a:avLst/>
              <a:gdLst/>
              <a:ahLst/>
              <a:cxnLst/>
              <a:rect l="0" t="0" r="0" b="0"/>
              <a:pathLst>
                <a:path w="88582" h="44291">
                  <a:moveTo>
                    <a:pt x="0" y="0"/>
                  </a:moveTo>
                  <a:lnTo>
                    <a:pt x="88582" y="44291"/>
                  </a:lnTo>
                </a:path>
              </a:pathLst>
            </a:custGeom>
            <a:noFill/>
            <a:ln w="21260">
              <a:solidFill>
                <a:srgbClr val="B68C45"/>
              </a:solidFill>
              <a:prstDash val="solid"/>
            </a:ln>
          </p:spPr>
          <p:txBody>
            <a:bodyPr/>
            <a:lstStyle/>
            <a:p>
              <a:endParaRPr sz="1200"/>
            </a:p>
          </p:txBody>
        </p:sp>
        <p:sp>
          <p:nvSpPr>
            <p:cNvPr id="519" name="s4-brown-chicken__line_519">
              <a:extLst>
                <a:ext uri="{FF2B5EF4-FFF2-40B4-BE49-F238E27FC236}">
                  <a16:creationId xmlns:a16="http://schemas.microsoft.com/office/drawing/2014/main" id="{AF33B40F-52AF-4251-AF9B-0D9293870335}"/>
                </a:ext>
              </a:extLst>
            </p:cNvPr>
            <p:cNvSpPr>
              <a:spLocks/>
            </p:cNvSpPr>
            <p:nvPr/>
          </p:nvSpPr>
          <p:spPr>
            <a:xfrm>
              <a:off x="11249152" y="4134548"/>
              <a:ext cx="64960" cy="23621"/>
            </a:xfrm>
            <a:custGeom>
              <a:avLst/>
              <a:gdLst/>
              <a:ahLst/>
              <a:cxnLst/>
              <a:rect l="0" t="0" r="0" b="0"/>
              <a:pathLst>
                <a:path w="97441" h="35433">
                  <a:moveTo>
                    <a:pt x="97441" y="0"/>
                  </a:moveTo>
                  <a:lnTo>
                    <a:pt x="0" y="35433"/>
                  </a:lnTo>
                </a:path>
              </a:pathLst>
            </a:custGeom>
            <a:noFill/>
            <a:ln w="21260">
              <a:solidFill>
                <a:srgbClr val="B68C45"/>
              </a:solidFill>
              <a:prstDash val="solid"/>
            </a:ln>
          </p:spPr>
          <p:txBody>
            <a:bodyPr/>
            <a:lstStyle/>
            <a:p>
              <a:endParaRPr sz="1200"/>
            </a:p>
          </p:txBody>
        </p:sp>
        <p:sp>
          <p:nvSpPr>
            <p:cNvPr id="520" name="s4-brown-chicken__line_520">
              <a:extLst>
                <a:ext uri="{FF2B5EF4-FFF2-40B4-BE49-F238E27FC236}">
                  <a16:creationId xmlns:a16="http://schemas.microsoft.com/office/drawing/2014/main" id="{1AE1F5D7-4485-4188-97E1-0556533DA8B1}"/>
                </a:ext>
              </a:extLst>
            </p:cNvPr>
            <p:cNvSpPr>
              <a:spLocks/>
            </p:cNvSpPr>
            <p:nvPr/>
          </p:nvSpPr>
          <p:spPr>
            <a:xfrm>
              <a:off x="11184191" y="4022344"/>
              <a:ext cx="11811" cy="118109"/>
            </a:xfrm>
            <a:custGeom>
              <a:avLst/>
              <a:gdLst/>
              <a:ahLst/>
              <a:cxnLst/>
              <a:rect l="0" t="0" r="0" b="0"/>
              <a:pathLst>
                <a:path w="17717" h="177165">
                  <a:moveTo>
                    <a:pt x="17717" y="0"/>
                  </a:moveTo>
                  <a:lnTo>
                    <a:pt x="0" y="177165"/>
                  </a:lnTo>
                </a:path>
              </a:pathLst>
            </a:custGeom>
            <a:noFill/>
            <a:ln w="26575">
              <a:solidFill>
                <a:srgbClr val="B68C45"/>
              </a:solidFill>
              <a:prstDash val="solid"/>
            </a:ln>
          </p:spPr>
          <p:txBody>
            <a:bodyPr/>
            <a:lstStyle/>
            <a:p>
              <a:endParaRPr sz="1200"/>
            </a:p>
          </p:txBody>
        </p:sp>
        <p:sp>
          <p:nvSpPr>
            <p:cNvPr id="521" name="s4-brown-chicken__line_521">
              <a:extLst>
                <a:ext uri="{FF2B5EF4-FFF2-40B4-BE49-F238E27FC236}">
                  <a16:creationId xmlns:a16="http://schemas.microsoft.com/office/drawing/2014/main" id="{E605D1CE-DA94-49A0-B23E-2C564472B77C}"/>
                </a:ext>
              </a:extLst>
            </p:cNvPr>
            <p:cNvSpPr>
              <a:spLocks/>
            </p:cNvSpPr>
            <p:nvPr/>
          </p:nvSpPr>
          <p:spPr>
            <a:xfrm>
              <a:off x="11190097" y="4134548"/>
              <a:ext cx="47244" cy="29527"/>
            </a:xfrm>
            <a:custGeom>
              <a:avLst/>
              <a:gdLst/>
              <a:ahLst/>
              <a:cxnLst/>
              <a:rect l="0" t="0" r="0" b="0"/>
              <a:pathLst>
                <a:path w="70866" h="44291">
                  <a:moveTo>
                    <a:pt x="0" y="0"/>
                  </a:moveTo>
                  <a:lnTo>
                    <a:pt x="70866" y="44291"/>
                  </a:lnTo>
                </a:path>
              </a:pathLst>
            </a:custGeom>
            <a:noFill/>
            <a:ln w="21260">
              <a:solidFill>
                <a:srgbClr val="B68C45"/>
              </a:solidFill>
              <a:prstDash val="solid"/>
            </a:ln>
          </p:spPr>
          <p:txBody>
            <a:bodyPr/>
            <a:lstStyle/>
            <a:p>
              <a:endParaRPr sz="1200"/>
            </a:p>
          </p:txBody>
        </p:sp>
        <p:sp>
          <p:nvSpPr>
            <p:cNvPr id="522" name="s4-brown-chicken__line_522">
              <a:extLst>
                <a:ext uri="{FF2B5EF4-FFF2-40B4-BE49-F238E27FC236}">
                  <a16:creationId xmlns:a16="http://schemas.microsoft.com/office/drawing/2014/main" id="{D1BC1A26-156E-4E5F-BF2A-683F02AECF17}"/>
                </a:ext>
              </a:extLst>
            </p:cNvPr>
            <p:cNvSpPr>
              <a:spLocks/>
            </p:cNvSpPr>
            <p:nvPr/>
          </p:nvSpPr>
          <p:spPr>
            <a:xfrm>
              <a:off x="11131042" y="4134548"/>
              <a:ext cx="59054" cy="23621"/>
            </a:xfrm>
            <a:custGeom>
              <a:avLst/>
              <a:gdLst/>
              <a:ahLst/>
              <a:cxnLst/>
              <a:rect l="0" t="0" r="0" b="0"/>
              <a:pathLst>
                <a:path w="88582" h="35433">
                  <a:moveTo>
                    <a:pt x="88582" y="0"/>
                  </a:moveTo>
                  <a:lnTo>
                    <a:pt x="0" y="35433"/>
                  </a:lnTo>
                </a:path>
              </a:pathLst>
            </a:custGeom>
            <a:noFill/>
            <a:ln w="21260">
              <a:solidFill>
                <a:srgbClr val="B68C45"/>
              </a:solidFill>
              <a:prstDash val="solid"/>
            </a:ln>
          </p:spPr>
          <p:txBody>
            <a:bodyPr/>
            <a:lstStyle/>
            <a:p>
              <a:endParaRPr sz="1200"/>
            </a:p>
          </p:txBody>
        </p:sp>
        <p:sp>
          <p:nvSpPr>
            <p:cNvPr id="523" name="s4-brown-chicken__contour_523">
              <a:extLst>
                <a:ext uri="{FF2B5EF4-FFF2-40B4-BE49-F238E27FC236}">
                  <a16:creationId xmlns:a16="http://schemas.microsoft.com/office/drawing/2014/main" id="{3C608A38-1CD0-4B05-BF16-9F71492847E5}"/>
                </a:ext>
              </a:extLst>
            </p:cNvPr>
            <p:cNvSpPr>
              <a:spLocks/>
            </p:cNvSpPr>
            <p:nvPr/>
          </p:nvSpPr>
          <p:spPr>
            <a:xfrm>
              <a:off x="11041609" y="3514585"/>
              <a:ext cx="452837" cy="533412"/>
            </a:xfrm>
            <a:custGeom>
              <a:avLst/>
              <a:gdLst/>
              <a:ahLst/>
              <a:cxnLst/>
              <a:rect l="0" t="0" r="0" b="0"/>
              <a:pathLst>
                <a:path w="679256" h="800119">
                  <a:moveTo>
                    <a:pt x="656787" y="380733"/>
                  </a:moveTo>
                  <a:lnTo>
                    <a:pt x="633755" y="363055"/>
                  </a:lnTo>
                  <a:lnTo>
                    <a:pt x="610724" y="348644"/>
                  </a:lnTo>
                  <a:lnTo>
                    <a:pt x="587693" y="337014"/>
                  </a:lnTo>
                  <a:lnTo>
                    <a:pt x="564661" y="327641"/>
                  </a:lnTo>
                  <a:lnTo>
                    <a:pt x="541630" y="320040"/>
                  </a:lnTo>
                  <a:lnTo>
                    <a:pt x="518598" y="313696"/>
                  </a:lnTo>
                  <a:lnTo>
                    <a:pt x="495567" y="308105"/>
                  </a:lnTo>
                  <a:lnTo>
                    <a:pt x="472535" y="302771"/>
                  </a:lnTo>
                  <a:lnTo>
                    <a:pt x="449504" y="297180"/>
                  </a:lnTo>
                  <a:lnTo>
                    <a:pt x="426472" y="290836"/>
                  </a:lnTo>
                  <a:lnTo>
                    <a:pt x="403441" y="283235"/>
                  </a:lnTo>
                  <a:lnTo>
                    <a:pt x="380409" y="273863"/>
                  </a:lnTo>
                  <a:lnTo>
                    <a:pt x="357378" y="262233"/>
                  </a:lnTo>
                  <a:lnTo>
                    <a:pt x="334347" y="247821"/>
                  </a:lnTo>
                  <a:lnTo>
                    <a:pt x="311315" y="230143"/>
                  </a:lnTo>
                  <a:lnTo>
                    <a:pt x="305076" y="203625"/>
                  </a:lnTo>
                  <a:lnTo>
                    <a:pt x="297056" y="177413"/>
                  </a:lnTo>
                  <a:lnTo>
                    <a:pt x="287360" y="151838"/>
                  </a:lnTo>
                  <a:lnTo>
                    <a:pt x="276111" y="127206"/>
                  </a:lnTo>
                  <a:lnTo>
                    <a:pt x="263414" y="103832"/>
                  </a:lnTo>
                  <a:lnTo>
                    <a:pt x="249374" y="82029"/>
                  </a:lnTo>
                  <a:lnTo>
                    <a:pt x="234115" y="62122"/>
                  </a:lnTo>
                  <a:lnTo>
                    <a:pt x="217732" y="44425"/>
                  </a:lnTo>
                  <a:lnTo>
                    <a:pt x="200339" y="29242"/>
                  </a:lnTo>
                  <a:lnTo>
                    <a:pt x="182051" y="16888"/>
                  </a:lnTo>
                  <a:lnTo>
                    <a:pt x="162973" y="7687"/>
                  </a:lnTo>
                  <a:lnTo>
                    <a:pt x="143218" y="1953"/>
                  </a:lnTo>
                  <a:lnTo>
                    <a:pt x="122901" y="0"/>
                  </a:lnTo>
                  <a:lnTo>
                    <a:pt x="102127" y="2134"/>
                  </a:lnTo>
                  <a:lnTo>
                    <a:pt x="81001" y="8687"/>
                  </a:lnTo>
                  <a:lnTo>
                    <a:pt x="64227" y="15145"/>
                  </a:lnTo>
                  <a:lnTo>
                    <a:pt x="49368" y="23765"/>
                  </a:lnTo>
                  <a:lnTo>
                    <a:pt x="36424" y="34338"/>
                  </a:lnTo>
                  <a:lnTo>
                    <a:pt x="25422" y="46663"/>
                  </a:lnTo>
                  <a:lnTo>
                    <a:pt x="16364" y="60522"/>
                  </a:lnTo>
                  <a:lnTo>
                    <a:pt x="9287" y="75724"/>
                  </a:lnTo>
                  <a:lnTo>
                    <a:pt x="4181" y="92059"/>
                  </a:lnTo>
                  <a:lnTo>
                    <a:pt x="1086" y="109328"/>
                  </a:lnTo>
                  <a:lnTo>
                    <a:pt x="0" y="127321"/>
                  </a:lnTo>
                  <a:lnTo>
                    <a:pt x="952" y="145828"/>
                  </a:lnTo>
                  <a:lnTo>
                    <a:pt x="3943" y="164649"/>
                  </a:lnTo>
                  <a:lnTo>
                    <a:pt x="9001" y="183585"/>
                  </a:lnTo>
                  <a:lnTo>
                    <a:pt x="16135" y="202425"/>
                  </a:lnTo>
                  <a:lnTo>
                    <a:pt x="25365" y="220961"/>
                  </a:lnTo>
                  <a:lnTo>
                    <a:pt x="36709" y="239001"/>
                  </a:lnTo>
                  <a:lnTo>
                    <a:pt x="45320" y="251298"/>
                  </a:lnTo>
                  <a:lnTo>
                    <a:pt x="53397" y="263433"/>
                  </a:lnTo>
                  <a:lnTo>
                    <a:pt x="60874" y="275501"/>
                  </a:lnTo>
                  <a:lnTo>
                    <a:pt x="67694" y="287560"/>
                  </a:lnTo>
                  <a:lnTo>
                    <a:pt x="73781" y="299695"/>
                  </a:lnTo>
                  <a:lnTo>
                    <a:pt x="79086" y="311991"/>
                  </a:lnTo>
                  <a:lnTo>
                    <a:pt x="83544" y="324526"/>
                  </a:lnTo>
                  <a:lnTo>
                    <a:pt x="87078" y="337376"/>
                  </a:lnTo>
                  <a:lnTo>
                    <a:pt x="89649" y="350615"/>
                  </a:lnTo>
                  <a:lnTo>
                    <a:pt x="91173" y="364331"/>
                  </a:lnTo>
                  <a:lnTo>
                    <a:pt x="91592" y="378590"/>
                  </a:lnTo>
                  <a:lnTo>
                    <a:pt x="90849" y="393487"/>
                  </a:lnTo>
                  <a:lnTo>
                    <a:pt x="88878" y="409089"/>
                  </a:lnTo>
                  <a:lnTo>
                    <a:pt x="85620" y="425482"/>
                  </a:lnTo>
                  <a:lnTo>
                    <a:pt x="81001" y="442741"/>
                  </a:lnTo>
                  <a:lnTo>
                    <a:pt x="67370" y="470954"/>
                  </a:lnTo>
                  <a:lnTo>
                    <a:pt x="58179" y="498815"/>
                  </a:lnTo>
                  <a:lnTo>
                    <a:pt x="53149" y="526218"/>
                  </a:lnTo>
                  <a:lnTo>
                    <a:pt x="51997" y="553060"/>
                  </a:lnTo>
                  <a:lnTo>
                    <a:pt x="54426" y="579225"/>
                  </a:lnTo>
                  <a:lnTo>
                    <a:pt x="60169" y="604599"/>
                  </a:lnTo>
                  <a:lnTo>
                    <a:pt x="68932" y="629079"/>
                  </a:lnTo>
                  <a:lnTo>
                    <a:pt x="80429" y="652548"/>
                  </a:lnTo>
                  <a:lnTo>
                    <a:pt x="94393" y="674894"/>
                  </a:lnTo>
                  <a:lnTo>
                    <a:pt x="110528" y="696020"/>
                  </a:lnTo>
                  <a:lnTo>
                    <a:pt x="128549" y="715804"/>
                  </a:lnTo>
                  <a:lnTo>
                    <a:pt x="148180" y="734139"/>
                  </a:lnTo>
                  <a:lnTo>
                    <a:pt x="169135" y="750922"/>
                  </a:lnTo>
                  <a:lnTo>
                    <a:pt x="191129" y="766029"/>
                  </a:lnTo>
                  <a:lnTo>
                    <a:pt x="213874" y="779355"/>
                  </a:lnTo>
                  <a:lnTo>
                    <a:pt x="242992" y="789889"/>
                  </a:lnTo>
                  <a:lnTo>
                    <a:pt x="273453" y="796766"/>
                  </a:lnTo>
                  <a:lnTo>
                    <a:pt x="304933" y="800119"/>
                  </a:lnTo>
                  <a:lnTo>
                    <a:pt x="337128" y="800071"/>
                  </a:lnTo>
                  <a:lnTo>
                    <a:pt x="369713" y="796747"/>
                  </a:lnTo>
                  <a:lnTo>
                    <a:pt x="402374" y="790270"/>
                  </a:lnTo>
                  <a:lnTo>
                    <a:pt x="434807" y="780774"/>
                  </a:lnTo>
                  <a:lnTo>
                    <a:pt x="466687" y="768372"/>
                  </a:lnTo>
                  <a:lnTo>
                    <a:pt x="497691" y="753208"/>
                  </a:lnTo>
                  <a:lnTo>
                    <a:pt x="527523" y="735387"/>
                  </a:lnTo>
                  <a:lnTo>
                    <a:pt x="555860" y="715061"/>
                  </a:lnTo>
                  <a:lnTo>
                    <a:pt x="582378" y="692334"/>
                  </a:lnTo>
                  <a:lnTo>
                    <a:pt x="606771" y="667341"/>
                  </a:lnTo>
                  <a:lnTo>
                    <a:pt x="628726" y="640204"/>
                  </a:lnTo>
                  <a:lnTo>
                    <a:pt x="647929" y="611048"/>
                  </a:lnTo>
                  <a:lnTo>
                    <a:pt x="654653" y="592017"/>
                  </a:lnTo>
                  <a:lnTo>
                    <a:pt x="660644" y="573853"/>
                  </a:lnTo>
                  <a:lnTo>
                    <a:pt x="665855" y="556479"/>
                  </a:lnTo>
                  <a:lnTo>
                    <a:pt x="670274" y="539810"/>
                  </a:lnTo>
                  <a:lnTo>
                    <a:pt x="673846" y="523780"/>
                  </a:lnTo>
                  <a:lnTo>
                    <a:pt x="676561" y="508292"/>
                  </a:lnTo>
                  <a:lnTo>
                    <a:pt x="678371" y="493281"/>
                  </a:lnTo>
                  <a:lnTo>
                    <a:pt x="679256" y="478660"/>
                  </a:lnTo>
                  <a:lnTo>
                    <a:pt x="679180" y="464353"/>
                  </a:lnTo>
                  <a:lnTo>
                    <a:pt x="678113" y="450285"/>
                  </a:lnTo>
                  <a:lnTo>
                    <a:pt x="676018" y="436378"/>
                  </a:lnTo>
                  <a:lnTo>
                    <a:pt x="672875" y="422548"/>
                  </a:lnTo>
                  <a:lnTo>
                    <a:pt x="668636" y="408708"/>
                  </a:lnTo>
                  <a:lnTo>
                    <a:pt x="663292" y="394802"/>
                  </a:lnTo>
                  <a:lnTo>
                    <a:pt x="656787" y="380733"/>
                  </a:lnTo>
                  <a:close/>
                </a:path>
              </a:pathLst>
            </a:custGeom>
            <a:solidFill>
              <a:srgbClr val="B56F3D"/>
            </a:solidFill>
            <a:ln w="15059">
              <a:solidFill>
                <a:srgbClr val="4A5147"/>
              </a:solidFill>
              <a:prstDash val="solid"/>
            </a:ln>
          </p:spPr>
          <p:txBody>
            <a:bodyPr/>
            <a:lstStyle/>
            <a:p>
              <a:endParaRPr sz="1200"/>
            </a:p>
          </p:txBody>
        </p:sp>
        <p:sp>
          <p:nvSpPr>
            <p:cNvPr id="524" name="s4-brown-chicken__contour_524">
              <a:extLst>
                <a:ext uri="{FF2B5EF4-FFF2-40B4-BE49-F238E27FC236}">
                  <a16:creationId xmlns:a16="http://schemas.microsoft.com/office/drawing/2014/main" id="{F7DCA3F8-50FD-4ABE-A7B4-D662497CEB7E}"/>
                </a:ext>
              </a:extLst>
            </p:cNvPr>
            <p:cNvSpPr>
              <a:spLocks/>
            </p:cNvSpPr>
            <p:nvPr/>
          </p:nvSpPr>
          <p:spPr>
            <a:xfrm>
              <a:off x="11083938" y="3715258"/>
              <a:ext cx="318757" cy="326599"/>
            </a:xfrm>
            <a:custGeom>
              <a:avLst/>
              <a:gdLst/>
              <a:ahLst/>
              <a:cxnLst/>
              <a:rect l="0" t="0" r="0" b="0"/>
              <a:pathLst>
                <a:path w="478136" h="489899">
                  <a:moveTo>
                    <a:pt x="238963" y="0"/>
                  </a:moveTo>
                  <a:lnTo>
                    <a:pt x="221151" y="2372"/>
                  </a:lnTo>
                  <a:lnTo>
                    <a:pt x="203225" y="5944"/>
                  </a:lnTo>
                  <a:lnTo>
                    <a:pt x="185318" y="10773"/>
                  </a:lnTo>
                  <a:lnTo>
                    <a:pt x="167554" y="16869"/>
                  </a:lnTo>
                  <a:lnTo>
                    <a:pt x="150057" y="24279"/>
                  </a:lnTo>
                  <a:lnTo>
                    <a:pt x="132950" y="33023"/>
                  </a:lnTo>
                  <a:lnTo>
                    <a:pt x="116367" y="43139"/>
                  </a:lnTo>
                  <a:lnTo>
                    <a:pt x="100422" y="54654"/>
                  </a:lnTo>
                  <a:lnTo>
                    <a:pt x="85258" y="67608"/>
                  </a:lnTo>
                  <a:lnTo>
                    <a:pt x="70980" y="82020"/>
                  </a:lnTo>
                  <a:lnTo>
                    <a:pt x="57741" y="97936"/>
                  </a:lnTo>
                  <a:lnTo>
                    <a:pt x="45644" y="115367"/>
                  </a:lnTo>
                  <a:lnTo>
                    <a:pt x="34823" y="134369"/>
                  </a:lnTo>
                  <a:lnTo>
                    <a:pt x="25403" y="154953"/>
                  </a:lnTo>
                  <a:lnTo>
                    <a:pt x="17507" y="177165"/>
                  </a:lnTo>
                  <a:lnTo>
                    <a:pt x="7410" y="205369"/>
                  </a:lnTo>
                  <a:lnTo>
                    <a:pt x="1695" y="233153"/>
                  </a:lnTo>
                  <a:lnTo>
                    <a:pt x="0" y="260366"/>
                  </a:lnTo>
                  <a:lnTo>
                    <a:pt x="2000" y="286817"/>
                  </a:lnTo>
                  <a:lnTo>
                    <a:pt x="7334" y="312334"/>
                  </a:lnTo>
                  <a:lnTo>
                    <a:pt x="15669" y="336756"/>
                  </a:lnTo>
                  <a:lnTo>
                    <a:pt x="26641" y="359902"/>
                  </a:lnTo>
                  <a:lnTo>
                    <a:pt x="39910" y="381591"/>
                  </a:lnTo>
                  <a:lnTo>
                    <a:pt x="55140" y="401669"/>
                  </a:lnTo>
                  <a:lnTo>
                    <a:pt x="71971" y="419948"/>
                  </a:lnTo>
                  <a:lnTo>
                    <a:pt x="90059" y="436255"/>
                  </a:lnTo>
                  <a:lnTo>
                    <a:pt x="109061" y="450428"/>
                  </a:lnTo>
                  <a:lnTo>
                    <a:pt x="128635" y="462277"/>
                  </a:lnTo>
                  <a:lnTo>
                    <a:pt x="148428" y="471640"/>
                  </a:lnTo>
                  <a:lnTo>
                    <a:pt x="168097" y="478345"/>
                  </a:lnTo>
                  <a:lnTo>
                    <a:pt x="194539" y="485470"/>
                  </a:lnTo>
                  <a:lnTo>
                    <a:pt x="220628" y="489252"/>
                  </a:lnTo>
                  <a:lnTo>
                    <a:pt x="246259" y="489899"/>
                  </a:lnTo>
                  <a:lnTo>
                    <a:pt x="271329" y="487613"/>
                  </a:lnTo>
                  <a:lnTo>
                    <a:pt x="295723" y="482613"/>
                  </a:lnTo>
                  <a:lnTo>
                    <a:pt x="319326" y="475088"/>
                  </a:lnTo>
                  <a:lnTo>
                    <a:pt x="342033" y="465249"/>
                  </a:lnTo>
                  <a:lnTo>
                    <a:pt x="363731" y="453295"/>
                  </a:lnTo>
                  <a:lnTo>
                    <a:pt x="384305" y="439436"/>
                  </a:lnTo>
                  <a:lnTo>
                    <a:pt x="403660" y="423882"/>
                  </a:lnTo>
                  <a:lnTo>
                    <a:pt x="421672" y="406832"/>
                  </a:lnTo>
                  <a:lnTo>
                    <a:pt x="438236" y="388487"/>
                  </a:lnTo>
                  <a:lnTo>
                    <a:pt x="453247" y="369056"/>
                  </a:lnTo>
                  <a:lnTo>
                    <a:pt x="466582" y="348748"/>
                  </a:lnTo>
                  <a:lnTo>
                    <a:pt x="478136" y="327755"/>
                  </a:lnTo>
                  <a:lnTo>
                    <a:pt x="455686" y="319497"/>
                  </a:lnTo>
                  <a:lnTo>
                    <a:pt x="434369" y="308962"/>
                  </a:lnTo>
                  <a:lnTo>
                    <a:pt x="414147" y="296218"/>
                  </a:lnTo>
                  <a:lnTo>
                    <a:pt x="394954" y="281349"/>
                  </a:lnTo>
                  <a:lnTo>
                    <a:pt x="376761" y="264433"/>
                  </a:lnTo>
                  <a:lnTo>
                    <a:pt x="359502" y="245554"/>
                  </a:lnTo>
                  <a:lnTo>
                    <a:pt x="343148" y="224780"/>
                  </a:lnTo>
                  <a:lnTo>
                    <a:pt x="327650" y="202187"/>
                  </a:lnTo>
                  <a:lnTo>
                    <a:pt x="312944" y="177870"/>
                  </a:lnTo>
                  <a:lnTo>
                    <a:pt x="298999" y="151905"/>
                  </a:lnTo>
                  <a:lnTo>
                    <a:pt x="285769" y="124358"/>
                  </a:lnTo>
                  <a:lnTo>
                    <a:pt x="273196" y="95317"/>
                  </a:lnTo>
                  <a:lnTo>
                    <a:pt x="261233" y="64856"/>
                  </a:lnTo>
                  <a:lnTo>
                    <a:pt x="249841" y="33061"/>
                  </a:lnTo>
                  <a:lnTo>
                    <a:pt x="238963" y="0"/>
                  </a:lnTo>
                  <a:close/>
                </a:path>
              </a:pathLst>
            </a:custGeom>
            <a:solidFill>
              <a:srgbClr val="87563C"/>
            </a:solidFill>
            <a:ln w="15059">
              <a:noFill/>
              <a:prstDash val="solid"/>
            </a:ln>
          </p:spPr>
          <p:txBody>
            <a:bodyPr/>
            <a:lstStyle/>
            <a:p>
              <a:endParaRPr sz="1200"/>
            </a:p>
          </p:txBody>
        </p:sp>
        <p:sp>
          <p:nvSpPr>
            <p:cNvPr id="525" name="s4-brown-chicken__contour_525">
              <a:extLst>
                <a:ext uri="{FF2B5EF4-FFF2-40B4-BE49-F238E27FC236}">
                  <a16:creationId xmlns:a16="http://schemas.microsoft.com/office/drawing/2014/main" id="{8F942FDB-3E62-4F99-9301-BA5B0733CCF3}"/>
                </a:ext>
              </a:extLst>
            </p:cNvPr>
            <p:cNvSpPr>
              <a:spLocks/>
            </p:cNvSpPr>
            <p:nvPr/>
          </p:nvSpPr>
          <p:spPr>
            <a:xfrm>
              <a:off x="11061801" y="3523399"/>
              <a:ext cx="205066" cy="333590"/>
            </a:xfrm>
            <a:custGeom>
              <a:avLst/>
              <a:gdLst/>
              <a:ahLst/>
              <a:cxnLst/>
              <a:rect l="0" t="0" r="0" b="0"/>
              <a:pathLst>
                <a:path w="307600" h="500386">
                  <a:moveTo>
                    <a:pt x="174727" y="66332"/>
                  </a:moveTo>
                  <a:lnTo>
                    <a:pt x="171812" y="52768"/>
                  </a:lnTo>
                  <a:lnTo>
                    <a:pt x="166773" y="40491"/>
                  </a:lnTo>
                  <a:lnTo>
                    <a:pt x="159849" y="29623"/>
                  </a:lnTo>
                  <a:lnTo>
                    <a:pt x="151267" y="20260"/>
                  </a:lnTo>
                  <a:lnTo>
                    <a:pt x="141265" y="12525"/>
                  </a:lnTo>
                  <a:lnTo>
                    <a:pt x="130083" y="6525"/>
                  </a:lnTo>
                  <a:lnTo>
                    <a:pt x="117958" y="2362"/>
                  </a:lnTo>
                  <a:lnTo>
                    <a:pt x="105118" y="152"/>
                  </a:lnTo>
                  <a:lnTo>
                    <a:pt x="91811" y="0"/>
                  </a:lnTo>
                  <a:lnTo>
                    <a:pt x="78267" y="2029"/>
                  </a:lnTo>
                  <a:lnTo>
                    <a:pt x="64722" y="6334"/>
                  </a:lnTo>
                  <a:lnTo>
                    <a:pt x="51416" y="13040"/>
                  </a:lnTo>
                  <a:lnTo>
                    <a:pt x="38586" y="22250"/>
                  </a:lnTo>
                  <a:lnTo>
                    <a:pt x="26460" y="34071"/>
                  </a:lnTo>
                  <a:lnTo>
                    <a:pt x="15278" y="48616"/>
                  </a:lnTo>
                  <a:lnTo>
                    <a:pt x="7801" y="66437"/>
                  </a:lnTo>
                  <a:lnTo>
                    <a:pt x="2915" y="84439"/>
                  </a:lnTo>
                  <a:lnTo>
                    <a:pt x="400" y="102546"/>
                  </a:lnTo>
                  <a:lnTo>
                    <a:pt x="0" y="120701"/>
                  </a:lnTo>
                  <a:lnTo>
                    <a:pt x="1495" y="138836"/>
                  </a:lnTo>
                  <a:lnTo>
                    <a:pt x="4648" y="156896"/>
                  </a:lnTo>
                  <a:lnTo>
                    <a:pt x="9211" y="174822"/>
                  </a:lnTo>
                  <a:lnTo>
                    <a:pt x="14964" y="192529"/>
                  </a:lnTo>
                  <a:lnTo>
                    <a:pt x="21660" y="209979"/>
                  </a:lnTo>
                  <a:lnTo>
                    <a:pt x="29061" y="227095"/>
                  </a:lnTo>
                  <a:lnTo>
                    <a:pt x="36928" y="243811"/>
                  </a:lnTo>
                  <a:lnTo>
                    <a:pt x="45044" y="260080"/>
                  </a:lnTo>
                  <a:lnTo>
                    <a:pt x="53149" y="275825"/>
                  </a:lnTo>
                  <a:lnTo>
                    <a:pt x="61027" y="290989"/>
                  </a:lnTo>
                  <a:lnTo>
                    <a:pt x="68428" y="305505"/>
                  </a:lnTo>
                  <a:lnTo>
                    <a:pt x="77286" y="456095"/>
                  </a:lnTo>
                  <a:lnTo>
                    <a:pt x="121577" y="394087"/>
                  </a:lnTo>
                  <a:lnTo>
                    <a:pt x="148152" y="500386"/>
                  </a:lnTo>
                  <a:lnTo>
                    <a:pt x="192443" y="420662"/>
                  </a:lnTo>
                  <a:lnTo>
                    <a:pt x="245593" y="482670"/>
                  </a:lnTo>
                  <a:lnTo>
                    <a:pt x="254451" y="349796"/>
                  </a:lnTo>
                  <a:lnTo>
                    <a:pt x="307600" y="376371"/>
                  </a:lnTo>
                  <a:lnTo>
                    <a:pt x="293894" y="346072"/>
                  </a:lnTo>
                  <a:lnTo>
                    <a:pt x="281083" y="318726"/>
                  </a:lnTo>
                  <a:lnTo>
                    <a:pt x="269119" y="293951"/>
                  </a:lnTo>
                  <a:lnTo>
                    <a:pt x="257966" y="271405"/>
                  </a:lnTo>
                  <a:lnTo>
                    <a:pt x="247564" y="250717"/>
                  </a:lnTo>
                  <a:lnTo>
                    <a:pt x="237868" y="231524"/>
                  </a:lnTo>
                  <a:lnTo>
                    <a:pt x="228838" y="213465"/>
                  </a:lnTo>
                  <a:lnTo>
                    <a:pt x="220418" y="196167"/>
                  </a:lnTo>
                  <a:lnTo>
                    <a:pt x="212569" y="179289"/>
                  </a:lnTo>
                  <a:lnTo>
                    <a:pt x="205235" y="162458"/>
                  </a:lnTo>
                  <a:lnTo>
                    <a:pt x="198377" y="145313"/>
                  </a:lnTo>
                  <a:lnTo>
                    <a:pt x="191948" y="127492"/>
                  </a:lnTo>
                  <a:lnTo>
                    <a:pt x="185890" y="108623"/>
                  </a:lnTo>
                  <a:lnTo>
                    <a:pt x="180165" y="88363"/>
                  </a:lnTo>
                  <a:lnTo>
                    <a:pt x="174727" y="66332"/>
                  </a:lnTo>
                  <a:close/>
                </a:path>
              </a:pathLst>
            </a:custGeom>
            <a:solidFill>
              <a:srgbClr val="D6A36C"/>
            </a:solidFill>
            <a:ln w="9744">
              <a:solidFill>
                <a:srgbClr val="8D683E"/>
              </a:solidFill>
              <a:prstDash val="solid"/>
            </a:ln>
          </p:spPr>
          <p:txBody>
            <a:bodyPr/>
            <a:lstStyle/>
            <a:p>
              <a:endParaRPr sz="1200"/>
            </a:p>
          </p:txBody>
        </p:sp>
        <p:sp>
          <p:nvSpPr>
            <p:cNvPr id="526" name="s4-brown-chicken__line_526">
              <a:extLst>
                <a:ext uri="{FF2B5EF4-FFF2-40B4-BE49-F238E27FC236}">
                  <a16:creationId xmlns:a16="http://schemas.microsoft.com/office/drawing/2014/main" id="{5F4DDC84-CD3D-48D0-BB76-AFFF42A1C0E6}"/>
                </a:ext>
              </a:extLst>
            </p:cNvPr>
            <p:cNvSpPr>
              <a:spLocks/>
            </p:cNvSpPr>
            <p:nvPr/>
          </p:nvSpPr>
          <p:spPr>
            <a:xfrm>
              <a:off x="11172381" y="3632581"/>
              <a:ext cx="41338" cy="118109"/>
            </a:xfrm>
            <a:custGeom>
              <a:avLst/>
              <a:gdLst/>
              <a:ahLst/>
              <a:cxnLst/>
              <a:rect l="0" t="0" r="0" b="0"/>
              <a:pathLst>
                <a:path w="62008" h="177165">
                  <a:moveTo>
                    <a:pt x="0" y="0"/>
                  </a:moveTo>
                  <a:lnTo>
                    <a:pt x="62008" y="177165"/>
                  </a:lnTo>
                </a:path>
              </a:pathLst>
            </a:custGeom>
            <a:noFill/>
            <a:ln w="8858">
              <a:solidFill>
                <a:srgbClr val="9C713D"/>
              </a:solidFill>
              <a:prstDash val="solid"/>
            </a:ln>
          </p:spPr>
          <p:txBody>
            <a:bodyPr/>
            <a:lstStyle/>
            <a:p>
              <a:endParaRPr sz="1200"/>
            </a:p>
          </p:txBody>
        </p:sp>
        <p:sp>
          <p:nvSpPr>
            <p:cNvPr id="527" name="s4-brown-chicken__line_527">
              <a:extLst>
                <a:ext uri="{FF2B5EF4-FFF2-40B4-BE49-F238E27FC236}">
                  <a16:creationId xmlns:a16="http://schemas.microsoft.com/office/drawing/2014/main" id="{F0211C37-CBD3-4955-AD67-17CA245BC253}"/>
                </a:ext>
              </a:extLst>
            </p:cNvPr>
            <p:cNvSpPr>
              <a:spLocks/>
            </p:cNvSpPr>
            <p:nvPr/>
          </p:nvSpPr>
          <p:spPr>
            <a:xfrm>
              <a:off x="11142853" y="3638487"/>
              <a:ext cx="23622" cy="147637"/>
            </a:xfrm>
            <a:custGeom>
              <a:avLst/>
              <a:gdLst/>
              <a:ahLst/>
              <a:cxnLst/>
              <a:rect l="0" t="0" r="0" b="0"/>
              <a:pathLst>
                <a:path w="35433" h="221456">
                  <a:moveTo>
                    <a:pt x="0" y="0"/>
                  </a:moveTo>
                  <a:lnTo>
                    <a:pt x="35433" y="221456"/>
                  </a:lnTo>
                </a:path>
              </a:pathLst>
            </a:custGeom>
            <a:noFill/>
            <a:ln w="8858">
              <a:solidFill>
                <a:srgbClr val="9C713D"/>
              </a:solidFill>
              <a:prstDash val="solid"/>
            </a:ln>
          </p:spPr>
          <p:txBody>
            <a:bodyPr/>
            <a:lstStyle/>
            <a:p>
              <a:endParaRPr sz="1200"/>
            </a:p>
          </p:txBody>
        </p:sp>
        <p:sp>
          <p:nvSpPr>
            <p:cNvPr id="528" name="s4-brown-chicken__line_528">
              <a:extLst>
                <a:ext uri="{FF2B5EF4-FFF2-40B4-BE49-F238E27FC236}">
                  <a16:creationId xmlns:a16="http://schemas.microsoft.com/office/drawing/2014/main" id="{D7CB1B6E-D4A7-4ED4-A310-B1A9DE6F26CD}"/>
                </a:ext>
              </a:extLst>
            </p:cNvPr>
            <p:cNvSpPr>
              <a:spLocks/>
            </p:cNvSpPr>
            <p:nvPr/>
          </p:nvSpPr>
          <p:spPr>
            <a:xfrm>
              <a:off x="11113325" y="3638487"/>
              <a:ext cx="11810" cy="112204"/>
            </a:xfrm>
            <a:custGeom>
              <a:avLst/>
              <a:gdLst/>
              <a:ahLst/>
              <a:cxnLst/>
              <a:rect l="0" t="0" r="0" b="0"/>
              <a:pathLst>
                <a:path w="17716" h="168307">
                  <a:moveTo>
                    <a:pt x="0" y="0"/>
                  </a:moveTo>
                  <a:lnTo>
                    <a:pt x="17716" y="168307"/>
                  </a:lnTo>
                </a:path>
              </a:pathLst>
            </a:custGeom>
            <a:noFill/>
            <a:ln w="8858">
              <a:solidFill>
                <a:srgbClr val="9C713D"/>
              </a:solidFill>
              <a:prstDash val="solid"/>
            </a:ln>
          </p:spPr>
          <p:txBody>
            <a:bodyPr/>
            <a:lstStyle/>
            <a:p>
              <a:endParaRPr sz="1200"/>
            </a:p>
          </p:txBody>
        </p:sp>
        <p:sp>
          <p:nvSpPr>
            <p:cNvPr id="529" name="s4-brown-chicken__contour_529">
              <a:extLst>
                <a:ext uri="{FF2B5EF4-FFF2-40B4-BE49-F238E27FC236}">
                  <a16:creationId xmlns:a16="http://schemas.microsoft.com/office/drawing/2014/main" id="{FF81D333-76B1-4565-95AE-31D2020E64F9}"/>
                </a:ext>
              </a:extLst>
            </p:cNvPr>
            <p:cNvSpPr>
              <a:spLocks/>
            </p:cNvSpPr>
            <p:nvPr/>
          </p:nvSpPr>
          <p:spPr>
            <a:xfrm>
              <a:off x="11237341" y="3761187"/>
              <a:ext cx="237261" cy="161810"/>
            </a:xfrm>
            <a:custGeom>
              <a:avLst/>
              <a:gdLst/>
              <a:ahLst/>
              <a:cxnLst/>
              <a:rect l="0" t="0" r="0" b="0"/>
              <a:pathLst>
                <a:path w="355892" h="242716">
                  <a:moveTo>
                    <a:pt x="336613" y="46263"/>
                  </a:moveTo>
                  <a:lnTo>
                    <a:pt x="309943" y="30299"/>
                  </a:lnTo>
                  <a:lnTo>
                    <a:pt x="283197" y="17793"/>
                  </a:lnTo>
                  <a:lnTo>
                    <a:pt x="256537" y="8630"/>
                  </a:lnTo>
                  <a:lnTo>
                    <a:pt x="230105" y="2734"/>
                  </a:lnTo>
                  <a:lnTo>
                    <a:pt x="204064" y="0"/>
                  </a:lnTo>
                  <a:lnTo>
                    <a:pt x="178584" y="343"/>
                  </a:lnTo>
                  <a:lnTo>
                    <a:pt x="153810" y="3658"/>
                  </a:lnTo>
                  <a:lnTo>
                    <a:pt x="129892" y="9849"/>
                  </a:lnTo>
                  <a:lnTo>
                    <a:pt x="107004" y="18840"/>
                  </a:lnTo>
                  <a:lnTo>
                    <a:pt x="85306" y="30518"/>
                  </a:lnTo>
                  <a:lnTo>
                    <a:pt x="64932" y="44787"/>
                  </a:lnTo>
                  <a:lnTo>
                    <a:pt x="46063" y="61570"/>
                  </a:lnTo>
                  <a:lnTo>
                    <a:pt x="28842" y="80762"/>
                  </a:lnTo>
                  <a:lnTo>
                    <a:pt x="13440" y="102260"/>
                  </a:lnTo>
                  <a:lnTo>
                    <a:pt x="0" y="125987"/>
                  </a:lnTo>
                  <a:lnTo>
                    <a:pt x="8001" y="144542"/>
                  </a:lnTo>
                  <a:lnTo>
                    <a:pt x="17678" y="161268"/>
                  </a:lnTo>
                  <a:lnTo>
                    <a:pt x="28842" y="176232"/>
                  </a:lnTo>
                  <a:lnTo>
                    <a:pt x="41281" y="189490"/>
                  </a:lnTo>
                  <a:lnTo>
                    <a:pt x="54788" y="201120"/>
                  </a:lnTo>
                  <a:lnTo>
                    <a:pt x="69161" y="211169"/>
                  </a:lnTo>
                  <a:lnTo>
                    <a:pt x="84201" y="219704"/>
                  </a:lnTo>
                  <a:lnTo>
                    <a:pt x="99698" y="226800"/>
                  </a:lnTo>
                  <a:lnTo>
                    <a:pt x="115443" y="232496"/>
                  </a:lnTo>
                  <a:lnTo>
                    <a:pt x="131235" y="236877"/>
                  </a:lnTo>
                  <a:lnTo>
                    <a:pt x="146866" y="240001"/>
                  </a:lnTo>
                  <a:lnTo>
                    <a:pt x="162144" y="241925"/>
                  </a:lnTo>
                  <a:lnTo>
                    <a:pt x="176851" y="242716"/>
                  </a:lnTo>
                  <a:lnTo>
                    <a:pt x="190786" y="242430"/>
                  </a:lnTo>
                  <a:lnTo>
                    <a:pt x="203740" y="241144"/>
                  </a:lnTo>
                  <a:lnTo>
                    <a:pt x="230314" y="214570"/>
                  </a:lnTo>
                  <a:lnTo>
                    <a:pt x="265747" y="214570"/>
                  </a:lnTo>
                  <a:lnTo>
                    <a:pt x="318897" y="161420"/>
                  </a:lnTo>
                  <a:lnTo>
                    <a:pt x="325736" y="152676"/>
                  </a:lnTo>
                  <a:lnTo>
                    <a:pt x="332041" y="144151"/>
                  </a:lnTo>
                  <a:lnTo>
                    <a:pt x="337747" y="135836"/>
                  </a:lnTo>
                  <a:lnTo>
                    <a:pt x="342795" y="127711"/>
                  </a:lnTo>
                  <a:lnTo>
                    <a:pt x="347110" y="119758"/>
                  </a:lnTo>
                  <a:lnTo>
                    <a:pt x="350644" y="111957"/>
                  </a:lnTo>
                  <a:lnTo>
                    <a:pt x="353330" y="104299"/>
                  </a:lnTo>
                  <a:lnTo>
                    <a:pt x="355092" y="96774"/>
                  </a:lnTo>
                  <a:lnTo>
                    <a:pt x="355892" y="89354"/>
                  </a:lnTo>
                  <a:lnTo>
                    <a:pt x="355644" y="82020"/>
                  </a:lnTo>
                  <a:lnTo>
                    <a:pt x="354292" y="74781"/>
                  </a:lnTo>
                  <a:lnTo>
                    <a:pt x="351777" y="67589"/>
                  </a:lnTo>
                  <a:lnTo>
                    <a:pt x="348034" y="60455"/>
                  </a:lnTo>
                  <a:lnTo>
                    <a:pt x="343005" y="53350"/>
                  </a:lnTo>
                  <a:lnTo>
                    <a:pt x="336613" y="46263"/>
                  </a:lnTo>
                  <a:close/>
                </a:path>
              </a:pathLst>
            </a:custGeom>
            <a:solidFill>
              <a:srgbClr val="9F5036"/>
            </a:solidFill>
            <a:ln w="15059">
              <a:solidFill>
                <a:srgbClr val="4A5147"/>
              </a:solidFill>
              <a:prstDash val="solid"/>
            </a:ln>
          </p:spPr>
          <p:txBody>
            <a:bodyPr/>
            <a:lstStyle/>
            <a:p>
              <a:endParaRPr sz="1200"/>
            </a:p>
          </p:txBody>
        </p:sp>
        <p:sp>
          <p:nvSpPr>
            <p:cNvPr id="530" name="s4-brown-chicken__contour_530">
              <a:extLst>
                <a:ext uri="{FF2B5EF4-FFF2-40B4-BE49-F238E27FC236}">
                  <a16:creationId xmlns:a16="http://schemas.microsoft.com/office/drawing/2014/main" id="{D6B17737-6EFD-4994-83BB-C6015362E168}"/>
                </a:ext>
              </a:extLst>
            </p:cNvPr>
            <p:cNvSpPr>
              <a:spLocks/>
            </p:cNvSpPr>
            <p:nvPr/>
          </p:nvSpPr>
          <p:spPr>
            <a:xfrm>
              <a:off x="11272774" y="3803936"/>
              <a:ext cx="171259" cy="58959"/>
            </a:xfrm>
            <a:custGeom>
              <a:avLst/>
              <a:gdLst/>
              <a:ahLst/>
              <a:cxnLst/>
              <a:rect l="0" t="0" r="0" b="0"/>
              <a:pathLst>
                <a:path w="256889" h="88440">
                  <a:moveTo>
                    <a:pt x="256889" y="8715"/>
                  </a:moveTo>
                  <a:lnTo>
                    <a:pt x="235649" y="4220"/>
                  </a:lnTo>
                  <a:lnTo>
                    <a:pt x="214513" y="1333"/>
                  </a:lnTo>
                  <a:lnTo>
                    <a:pt x="193605" y="0"/>
                  </a:lnTo>
                  <a:lnTo>
                    <a:pt x="173022" y="181"/>
                  </a:lnTo>
                  <a:lnTo>
                    <a:pt x="152886" y="1829"/>
                  </a:lnTo>
                  <a:lnTo>
                    <a:pt x="133302" y="4886"/>
                  </a:lnTo>
                  <a:lnTo>
                    <a:pt x="114376" y="9325"/>
                  </a:lnTo>
                  <a:lnTo>
                    <a:pt x="96222" y="15078"/>
                  </a:lnTo>
                  <a:lnTo>
                    <a:pt x="78943" y="22108"/>
                  </a:lnTo>
                  <a:lnTo>
                    <a:pt x="62665" y="30366"/>
                  </a:lnTo>
                  <a:lnTo>
                    <a:pt x="47482" y="39815"/>
                  </a:lnTo>
                  <a:lnTo>
                    <a:pt x="33518" y="50387"/>
                  </a:lnTo>
                  <a:lnTo>
                    <a:pt x="20879" y="62046"/>
                  </a:lnTo>
                  <a:lnTo>
                    <a:pt x="9668" y="74743"/>
                  </a:lnTo>
                  <a:lnTo>
                    <a:pt x="0" y="88440"/>
                  </a:lnTo>
                </a:path>
              </a:pathLst>
            </a:custGeom>
            <a:noFill/>
            <a:ln w="11516">
              <a:solidFill>
                <a:srgbClr val="D19051"/>
              </a:solidFill>
              <a:prstDash val="solid"/>
            </a:ln>
          </p:spPr>
          <p:txBody>
            <a:bodyPr/>
            <a:lstStyle/>
            <a:p>
              <a:endParaRPr sz="1200"/>
            </a:p>
          </p:txBody>
        </p:sp>
        <p:sp>
          <p:nvSpPr>
            <p:cNvPr id="531" name="s4-brown-chicken__contour_531">
              <a:extLst>
                <a:ext uri="{FF2B5EF4-FFF2-40B4-BE49-F238E27FC236}">
                  <a16:creationId xmlns:a16="http://schemas.microsoft.com/office/drawing/2014/main" id="{952DF73D-C642-4FEB-A22E-F13E15EF3AEB}"/>
                </a:ext>
              </a:extLst>
            </p:cNvPr>
            <p:cNvSpPr>
              <a:spLocks/>
            </p:cNvSpPr>
            <p:nvPr/>
          </p:nvSpPr>
          <p:spPr>
            <a:xfrm>
              <a:off x="11013402" y="3442830"/>
              <a:ext cx="173920" cy="107073"/>
            </a:xfrm>
            <a:custGeom>
              <a:avLst/>
              <a:gdLst/>
              <a:ahLst/>
              <a:cxnLst/>
              <a:rect l="0" t="0" r="0" b="0"/>
              <a:pathLst>
                <a:path w="260880" h="160611">
                  <a:moveTo>
                    <a:pt x="220751" y="134036"/>
                  </a:moveTo>
                  <a:lnTo>
                    <a:pt x="232105" y="128616"/>
                  </a:lnTo>
                  <a:lnTo>
                    <a:pt x="241430" y="123015"/>
                  </a:lnTo>
                  <a:lnTo>
                    <a:pt x="248812" y="117310"/>
                  </a:lnTo>
                  <a:lnTo>
                    <a:pt x="254356" y="111557"/>
                  </a:lnTo>
                  <a:lnTo>
                    <a:pt x="258156" y="105823"/>
                  </a:lnTo>
                  <a:lnTo>
                    <a:pt x="260299" y="100165"/>
                  </a:lnTo>
                  <a:lnTo>
                    <a:pt x="260880" y="94640"/>
                  </a:lnTo>
                  <a:lnTo>
                    <a:pt x="259994" y="89335"/>
                  </a:lnTo>
                  <a:lnTo>
                    <a:pt x="257746" y="84287"/>
                  </a:lnTo>
                  <a:lnTo>
                    <a:pt x="254213" y="79572"/>
                  </a:lnTo>
                  <a:lnTo>
                    <a:pt x="249507" y="75257"/>
                  </a:lnTo>
                  <a:lnTo>
                    <a:pt x="243716" y="71390"/>
                  </a:lnTo>
                  <a:lnTo>
                    <a:pt x="236925" y="68047"/>
                  </a:lnTo>
                  <a:lnTo>
                    <a:pt x="229238" y="65284"/>
                  </a:lnTo>
                  <a:lnTo>
                    <a:pt x="220751" y="63170"/>
                  </a:lnTo>
                  <a:lnTo>
                    <a:pt x="226914" y="56217"/>
                  </a:lnTo>
                  <a:lnTo>
                    <a:pt x="231315" y="49597"/>
                  </a:lnTo>
                  <a:lnTo>
                    <a:pt x="234077" y="43396"/>
                  </a:lnTo>
                  <a:lnTo>
                    <a:pt x="235325" y="37719"/>
                  </a:lnTo>
                  <a:lnTo>
                    <a:pt x="235191" y="32661"/>
                  </a:lnTo>
                  <a:lnTo>
                    <a:pt x="233791" y="28308"/>
                  </a:lnTo>
                  <a:lnTo>
                    <a:pt x="231257" y="24755"/>
                  </a:lnTo>
                  <a:lnTo>
                    <a:pt x="227724" y="22098"/>
                  </a:lnTo>
                  <a:lnTo>
                    <a:pt x="223304" y="20441"/>
                  </a:lnTo>
                  <a:lnTo>
                    <a:pt x="218123" y="19860"/>
                  </a:lnTo>
                  <a:lnTo>
                    <a:pt x="212322" y="20469"/>
                  </a:lnTo>
                  <a:lnTo>
                    <a:pt x="206007" y="22355"/>
                  </a:lnTo>
                  <a:lnTo>
                    <a:pt x="199320" y="25603"/>
                  </a:lnTo>
                  <a:lnTo>
                    <a:pt x="192386" y="30318"/>
                  </a:lnTo>
                  <a:lnTo>
                    <a:pt x="185318" y="36595"/>
                  </a:lnTo>
                  <a:lnTo>
                    <a:pt x="183099" y="26784"/>
                  </a:lnTo>
                  <a:lnTo>
                    <a:pt x="180070" y="18583"/>
                  </a:lnTo>
                  <a:lnTo>
                    <a:pt x="176393" y="11935"/>
                  </a:lnTo>
                  <a:lnTo>
                    <a:pt x="172183" y="6801"/>
                  </a:lnTo>
                  <a:lnTo>
                    <a:pt x="167602" y="3134"/>
                  </a:lnTo>
                  <a:lnTo>
                    <a:pt x="162782" y="876"/>
                  </a:lnTo>
                  <a:lnTo>
                    <a:pt x="157867" y="0"/>
                  </a:lnTo>
                  <a:lnTo>
                    <a:pt x="153000" y="438"/>
                  </a:lnTo>
                  <a:lnTo>
                    <a:pt x="148323" y="2153"/>
                  </a:lnTo>
                  <a:lnTo>
                    <a:pt x="143980" y="5096"/>
                  </a:lnTo>
                  <a:lnTo>
                    <a:pt x="140103" y="9230"/>
                  </a:lnTo>
                  <a:lnTo>
                    <a:pt x="136846" y="14488"/>
                  </a:lnTo>
                  <a:lnTo>
                    <a:pt x="134341" y="20831"/>
                  </a:lnTo>
                  <a:lnTo>
                    <a:pt x="132740" y="28213"/>
                  </a:lnTo>
                  <a:lnTo>
                    <a:pt x="132169" y="36595"/>
                  </a:lnTo>
                  <a:lnTo>
                    <a:pt x="123225" y="25470"/>
                  </a:lnTo>
                  <a:lnTo>
                    <a:pt x="114214" y="16802"/>
                  </a:lnTo>
                  <a:lnTo>
                    <a:pt x="105308" y="10449"/>
                  </a:lnTo>
                  <a:lnTo>
                    <a:pt x="96698" y="6267"/>
                  </a:lnTo>
                  <a:lnTo>
                    <a:pt x="88535" y="4115"/>
                  </a:lnTo>
                  <a:lnTo>
                    <a:pt x="81001" y="3858"/>
                  </a:lnTo>
                  <a:lnTo>
                    <a:pt x="74276" y="5344"/>
                  </a:lnTo>
                  <a:lnTo>
                    <a:pt x="68523" y="8439"/>
                  </a:lnTo>
                  <a:lnTo>
                    <a:pt x="63922" y="12992"/>
                  </a:lnTo>
                  <a:lnTo>
                    <a:pt x="60646" y="18879"/>
                  </a:lnTo>
                  <a:lnTo>
                    <a:pt x="58865" y="25946"/>
                  </a:lnTo>
                  <a:lnTo>
                    <a:pt x="58750" y="34042"/>
                  </a:lnTo>
                  <a:lnTo>
                    <a:pt x="60484" y="43043"/>
                  </a:lnTo>
                  <a:lnTo>
                    <a:pt x="64227" y="52797"/>
                  </a:lnTo>
                  <a:lnTo>
                    <a:pt x="70161" y="63170"/>
                  </a:lnTo>
                  <a:lnTo>
                    <a:pt x="56588" y="55578"/>
                  </a:lnTo>
                  <a:lnTo>
                    <a:pt x="44282" y="50416"/>
                  </a:lnTo>
                  <a:lnTo>
                    <a:pt x="33309" y="47511"/>
                  </a:lnTo>
                  <a:lnTo>
                    <a:pt x="23755" y="46672"/>
                  </a:lnTo>
                  <a:lnTo>
                    <a:pt x="15697" y="47749"/>
                  </a:lnTo>
                  <a:lnTo>
                    <a:pt x="9220" y="50559"/>
                  </a:lnTo>
                  <a:lnTo>
                    <a:pt x="4391" y="54921"/>
                  </a:lnTo>
                  <a:lnTo>
                    <a:pt x="1286" y="60674"/>
                  </a:lnTo>
                  <a:lnTo>
                    <a:pt x="0" y="67637"/>
                  </a:lnTo>
                  <a:lnTo>
                    <a:pt x="610" y="75638"/>
                  </a:lnTo>
                  <a:lnTo>
                    <a:pt x="3181" y="84506"/>
                  </a:lnTo>
                  <a:lnTo>
                    <a:pt x="7801" y="94069"/>
                  </a:lnTo>
                  <a:lnTo>
                    <a:pt x="14545" y="104146"/>
                  </a:lnTo>
                  <a:lnTo>
                    <a:pt x="23498" y="114576"/>
                  </a:lnTo>
                  <a:lnTo>
                    <a:pt x="34728" y="125178"/>
                  </a:lnTo>
                  <a:lnTo>
                    <a:pt x="96736" y="160611"/>
                  </a:lnTo>
                  <a:close/>
                </a:path>
              </a:pathLst>
            </a:custGeom>
            <a:solidFill>
              <a:srgbClr val="B8493E"/>
            </a:solidFill>
            <a:ln w="9744">
              <a:solidFill>
                <a:srgbClr val="803B33"/>
              </a:solidFill>
              <a:prstDash val="solid"/>
            </a:ln>
          </p:spPr>
          <p:txBody>
            <a:bodyPr/>
            <a:lstStyle/>
            <a:p>
              <a:endParaRPr sz="1200"/>
            </a:p>
          </p:txBody>
        </p:sp>
        <p:sp>
          <p:nvSpPr>
            <p:cNvPr id="532" name="s4-brown-chicken__contour_532">
              <a:extLst>
                <a:ext uri="{FF2B5EF4-FFF2-40B4-BE49-F238E27FC236}">
                  <a16:creationId xmlns:a16="http://schemas.microsoft.com/office/drawing/2014/main" id="{CF7B51E4-E22B-47D8-8573-29BD660D8A42}"/>
                </a:ext>
              </a:extLst>
            </p:cNvPr>
            <p:cNvSpPr>
              <a:spLocks/>
            </p:cNvSpPr>
            <p:nvPr/>
          </p:nvSpPr>
          <p:spPr>
            <a:xfrm>
              <a:off x="10971593" y="3591243"/>
              <a:ext cx="76771" cy="53149"/>
            </a:xfrm>
            <a:custGeom>
              <a:avLst/>
              <a:gdLst/>
              <a:ahLst/>
              <a:cxnLst/>
              <a:rect l="0" t="0" r="0" b="0"/>
              <a:pathLst>
                <a:path w="115157" h="79724">
                  <a:moveTo>
                    <a:pt x="115157" y="0"/>
                  </a:moveTo>
                  <a:lnTo>
                    <a:pt x="0" y="44291"/>
                  </a:lnTo>
                  <a:lnTo>
                    <a:pt x="106299" y="79724"/>
                  </a:lnTo>
                  <a:close/>
                </a:path>
              </a:pathLst>
            </a:custGeom>
            <a:solidFill>
              <a:srgbClr val="CEA653"/>
            </a:solidFill>
            <a:ln w="9744">
              <a:solidFill>
                <a:srgbClr val="8D7239"/>
              </a:solidFill>
              <a:prstDash val="solid"/>
            </a:ln>
          </p:spPr>
          <p:txBody>
            <a:bodyPr/>
            <a:lstStyle/>
            <a:p>
              <a:endParaRPr sz="1200"/>
            </a:p>
          </p:txBody>
        </p:sp>
        <p:sp>
          <p:nvSpPr>
            <p:cNvPr id="533" name="s4-brown-chicken__ellipse_533">
              <a:extLst>
                <a:ext uri="{FF2B5EF4-FFF2-40B4-BE49-F238E27FC236}">
                  <a16:creationId xmlns:a16="http://schemas.microsoft.com/office/drawing/2014/main" id="{DD9F33AE-02E2-4C0E-B1CD-76F792316A9E}"/>
                </a:ext>
              </a:extLst>
            </p:cNvPr>
            <p:cNvSpPr>
              <a:spLocks/>
            </p:cNvSpPr>
            <p:nvPr/>
          </p:nvSpPr>
          <p:spPr>
            <a:xfrm>
              <a:off x="11060176" y="3650297"/>
              <a:ext cx="47244" cy="82677"/>
            </a:xfrm>
            <a:prstGeom prst="ellipse">
              <a:avLst/>
            </a:prstGeom>
            <a:solidFill>
              <a:srgbClr val="B8493E"/>
            </a:solidFill>
            <a:ln w="8858">
              <a:solidFill>
                <a:srgbClr val="803B33"/>
              </a:solidFill>
              <a:prstDash val="solid"/>
            </a:ln>
          </p:spPr>
          <p:txBody>
            <a:bodyPr/>
            <a:lstStyle/>
            <a:p>
              <a:endParaRPr sz="1200"/>
            </a:p>
          </p:txBody>
        </p:sp>
        <p:sp>
          <p:nvSpPr>
            <p:cNvPr id="534" name="s4-brown-chicken__ellipse_534">
              <a:extLst>
                <a:ext uri="{FF2B5EF4-FFF2-40B4-BE49-F238E27FC236}">
                  <a16:creationId xmlns:a16="http://schemas.microsoft.com/office/drawing/2014/main" id="{92690DE3-4882-4D8D-8881-F1D1EF63B2E9}"/>
                </a:ext>
              </a:extLst>
            </p:cNvPr>
            <p:cNvSpPr>
              <a:spLocks/>
            </p:cNvSpPr>
            <p:nvPr/>
          </p:nvSpPr>
          <p:spPr>
            <a:xfrm>
              <a:off x="11071987" y="3591243"/>
              <a:ext cx="23622" cy="35433"/>
            </a:xfrm>
            <a:prstGeom prst="ellipse">
              <a:avLst/>
            </a:prstGeom>
            <a:solidFill>
              <a:srgbClr val="F2E7D1"/>
            </a:solidFill>
            <a:ln w="0">
              <a:noFill/>
              <a:prstDash val="solid"/>
            </a:ln>
          </p:spPr>
          <p:txBody>
            <a:bodyPr/>
            <a:lstStyle/>
            <a:p>
              <a:endParaRPr sz="1200"/>
            </a:p>
          </p:txBody>
        </p:sp>
        <p:sp>
          <p:nvSpPr>
            <p:cNvPr id="535" name="s4-brown-chicken__ellipse_535">
              <a:extLst>
                <a:ext uri="{FF2B5EF4-FFF2-40B4-BE49-F238E27FC236}">
                  <a16:creationId xmlns:a16="http://schemas.microsoft.com/office/drawing/2014/main" id="{5B282463-BEFC-440A-9014-D318CC61AE10}"/>
                </a:ext>
              </a:extLst>
            </p:cNvPr>
            <p:cNvSpPr>
              <a:spLocks/>
            </p:cNvSpPr>
            <p:nvPr/>
          </p:nvSpPr>
          <p:spPr>
            <a:xfrm>
              <a:off x="11054271" y="3561715"/>
              <a:ext cx="23622" cy="23621"/>
            </a:xfrm>
            <a:prstGeom prst="ellipse">
              <a:avLst/>
            </a:prstGeom>
            <a:solidFill>
              <a:srgbClr val="1F2B28"/>
            </a:solidFill>
            <a:ln w="0">
              <a:noFill/>
              <a:prstDash val="solid"/>
            </a:ln>
          </p:spPr>
          <p:txBody>
            <a:bodyPr/>
            <a:lstStyle/>
            <a:p>
              <a:endParaRPr sz="1200"/>
            </a:p>
          </p:txBody>
        </p:sp>
        <p:sp>
          <p:nvSpPr>
            <p:cNvPr id="536" name="s4-brown-chicken__ellipse_536">
              <a:extLst>
                <a:ext uri="{FF2B5EF4-FFF2-40B4-BE49-F238E27FC236}">
                  <a16:creationId xmlns:a16="http://schemas.microsoft.com/office/drawing/2014/main" id="{94A05350-1D83-4034-A8DC-3D14B9111D56}"/>
                </a:ext>
              </a:extLst>
            </p:cNvPr>
            <p:cNvSpPr>
              <a:spLocks/>
            </p:cNvSpPr>
            <p:nvPr/>
          </p:nvSpPr>
          <p:spPr>
            <a:xfrm>
              <a:off x="11066081" y="3562896"/>
              <a:ext cx="6496" cy="6495"/>
            </a:xfrm>
            <a:prstGeom prst="ellipse">
              <a:avLst/>
            </a:prstGeom>
            <a:solidFill>
              <a:srgbClr val="FFFFFF"/>
            </a:solidFill>
            <a:ln w="0">
              <a:noFill/>
              <a:prstDash val="solid"/>
            </a:ln>
          </p:spPr>
          <p:txBody>
            <a:bodyPr/>
            <a:lstStyle/>
            <a:p>
              <a:endParaRPr sz="1200"/>
            </a:p>
          </p:txBody>
        </p:sp>
        <p:sp>
          <p:nvSpPr>
            <p:cNvPr id="537" name="diagram__early-transition-hypothesis_537-source-anchor">
              <a:extLst>
                <a:ext uri="{FF2B5EF4-FFF2-40B4-BE49-F238E27FC236}">
                  <a16:creationId xmlns:a16="http://schemas.microsoft.com/office/drawing/2014/main" id="{08B28656-F694-4E68-9DC5-2B4A945A450F}"/>
                </a:ext>
              </a:extLst>
            </p:cNvPr>
            <p:cNvSpPr>
              <a:spLocks/>
            </p:cNvSpPr>
            <p:nvPr/>
          </p:nvSpPr>
          <p:spPr>
            <a:xfrm>
              <a:off x="2946400" y="2806700"/>
              <a:ext cx="12700" cy="12700"/>
            </a:xfrm>
            <a:prstGeom prst="rect">
              <a:avLst/>
            </a:prstGeom>
            <a:noFill/>
            <a:ln w="0">
              <a:noFill/>
            </a:ln>
          </p:spPr>
          <p:txBody>
            <a:bodyPr/>
            <a:lstStyle/>
            <a:p>
              <a:endParaRPr sz="1200"/>
            </a:p>
          </p:txBody>
        </p:sp>
        <p:sp>
          <p:nvSpPr>
            <p:cNvPr id="538" name="diagram__early-transition-hypothesis_537-destination-anchor">
              <a:extLst>
                <a:ext uri="{FF2B5EF4-FFF2-40B4-BE49-F238E27FC236}">
                  <a16:creationId xmlns:a16="http://schemas.microsoft.com/office/drawing/2014/main" id="{F943C18A-C808-49FA-8DDC-6330FF2EEAAC}"/>
                </a:ext>
              </a:extLst>
            </p:cNvPr>
            <p:cNvSpPr>
              <a:spLocks/>
            </p:cNvSpPr>
            <p:nvPr/>
          </p:nvSpPr>
          <p:spPr>
            <a:xfrm>
              <a:off x="3194050" y="2806700"/>
              <a:ext cx="12700" cy="12700"/>
            </a:xfrm>
            <a:prstGeom prst="rect">
              <a:avLst/>
            </a:prstGeom>
            <a:noFill/>
            <a:ln w="0">
              <a:noFill/>
            </a:ln>
          </p:spPr>
          <p:txBody>
            <a:bodyPr/>
            <a:lstStyle/>
            <a:p>
              <a:endParaRPr sz="1200"/>
            </a:p>
          </p:txBody>
        </p:sp>
        <p:sp>
          <p:nvSpPr>
            <p:cNvPr id="540" name="diagram__management-to-dispersal_538-source-anchor">
              <a:extLst>
                <a:ext uri="{FF2B5EF4-FFF2-40B4-BE49-F238E27FC236}">
                  <a16:creationId xmlns:a16="http://schemas.microsoft.com/office/drawing/2014/main" id="{FD407BC8-F1F7-4CF1-B5BC-3D2C3F73AB44}"/>
                </a:ext>
              </a:extLst>
            </p:cNvPr>
            <p:cNvSpPr>
              <a:spLocks/>
            </p:cNvSpPr>
            <p:nvPr/>
          </p:nvSpPr>
          <p:spPr>
            <a:xfrm>
              <a:off x="5772150" y="2806700"/>
              <a:ext cx="12700" cy="12700"/>
            </a:xfrm>
            <a:prstGeom prst="rect">
              <a:avLst/>
            </a:prstGeom>
            <a:noFill/>
            <a:ln w="0">
              <a:noFill/>
            </a:ln>
          </p:spPr>
          <p:txBody>
            <a:bodyPr/>
            <a:lstStyle/>
            <a:p>
              <a:endParaRPr sz="1200"/>
            </a:p>
          </p:txBody>
        </p:sp>
        <p:sp>
          <p:nvSpPr>
            <p:cNvPr id="541" name="diagram__management-to-dispersal_538-destination-anchor">
              <a:extLst>
                <a:ext uri="{FF2B5EF4-FFF2-40B4-BE49-F238E27FC236}">
                  <a16:creationId xmlns:a16="http://schemas.microsoft.com/office/drawing/2014/main" id="{F3130364-F3B0-4CF3-ACD8-EEFF07998B71}"/>
                </a:ext>
              </a:extLst>
            </p:cNvPr>
            <p:cNvSpPr>
              <a:spLocks/>
            </p:cNvSpPr>
            <p:nvPr/>
          </p:nvSpPr>
          <p:spPr>
            <a:xfrm>
              <a:off x="6019800" y="2806700"/>
              <a:ext cx="12700" cy="12700"/>
            </a:xfrm>
            <a:prstGeom prst="rect">
              <a:avLst/>
            </a:prstGeom>
            <a:noFill/>
            <a:ln w="0">
              <a:noFill/>
            </a:ln>
          </p:spPr>
          <p:txBody>
            <a:bodyPr/>
            <a:lstStyle/>
            <a:p>
              <a:endParaRPr sz="1200"/>
            </a:p>
          </p:txBody>
        </p:sp>
        <p:sp>
          <p:nvSpPr>
            <p:cNvPr id="543" name="diagram__dispersal-to-global-diversity_539-source-anchor">
              <a:extLst>
                <a:ext uri="{FF2B5EF4-FFF2-40B4-BE49-F238E27FC236}">
                  <a16:creationId xmlns:a16="http://schemas.microsoft.com/office/drawing/2014/main" id="{D243508E-2394-4A73-A2C1-1E25D8E69550}"/>
                </a:ext>
              </a:extLst>
            </p:cNvPr>
            <p:cNvSpPr>
              <a:spLocks/>
            </p:cNvSpPr>
            <p:nvPr/>
          </p:nvSpPr>
          <p:spPr>
            <a:xfrm>
              <a:off x="8883650" y="2806700"/>
              <a:ext cx="12700" cy="12700"/>
            </a:xfrm>
            <a:prstGeom prst="rect">
              <a:avLst/>
            </a:prstGeom>
            <a:noFill/>
            <a:ln w="0">
              <a:noFill/>
            </a:ln>
          </p:spPr>
          <p:txBody>
            <a:bodyPr/>
            <a:lstStyle/>
            <a:p>
              <a:endParaRPr sz="1200"/>
            </a:p>
          </p:txBody>
        </p:sp>
        <p:sp>
          <p:nvSpPr>
            <p:cNvPr id="544" name="diagram__dispersal-to-global-diversity_539-destination-anchor">
              <a:extLst>
                <a:ext uri="{FF2B5EF4-FFF2-40B4-BE49-F238E27FC236}">
                  <a16:creationId xmlns:a16="http://schemas.microsoft.com/office/drawing/2014/main" id="{FBDAA23B-2DE0-4D28-BDF8-E55F2430564A}"/>
                </a:ext>
              </a:extLst>
            </p:cNvPr>
            <p:cNvSpPr>
              <a:spLocks/>
            </p:cNvSpPr>
            <p:nvPr/>
          </p:nvSpPr>
          <p:spPr>
            <a:xfrm>
              <a:off x="9163050" y="2806700"/>
              <a:ext cx="12700" cy="12700"/>
            </a:xfrm>
            <a:prstGeom prst="rect">
              <a:avLst/>
            </a:prstGeom>
            <a:noFill/>
            <a:ln w="0">
              <a:noFill/>
            </a:ln>
          </p:spPr>
          <p:txBody>
            <a:bodyPr/>
            <a:lstStyle/>
            <a:p>
              <a:endParaRPr sz="1200"/>
            </a:p>
          </p:txBody>
        </p:sp>
        <p:sp>
          <p:nvSpPr>
            <p:cNvPr id="546" name="diagram__stage-1-caption_540">
              <a:extLst>
                <a:ext uri="{FF2B5EF4-FFF2-40B4-BE49-F238E27FC236}">
                  <a16:creationId xmlns:a16="http://schemas.microsoft.com/office/drawing/2014/main" id="{FBF02453-FED8-4697-AA23-97FEAF17CAE6}"/>
                </a:ext>
              </a:extLst>
            </p:cNvPr>
            <p:cNvSpPr>
              <a:spLocks/>
            </p:cNvSpPr>
            <p:nvPr/>
          </p:nvSpPr>
          <p:spPr>
            <a:xfrm>
              <a:off x="38100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Agriculture alters food and habitat</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May draw junglefowl to settlements</a:t>
              </a:r>
            </a:p>
          </p:txBody>
        </p:sp>
        <p:sp>
          <p:nvSpPr>
            <p:cNvPr id="547" name="diagram__stage-2-caption_541">
              <a:extLst>
                <a:ext uri="{FF2B5EF4-FFF2-40B4-BE49-F238E27FC236}">
                  <a16:creationId xmlns:a16="http://schemas.microsoft.com/office/drawing/2014/main" id="{8314496C-F1BB-4F0B-BB88-FB6D5C48E210}"/>
                </a:ext>
              </a:extLst>
            </p:cNvPr>
            <p:cNvSpPr>
              <a:spLocks/>
            </p:cNvSpPr>
            <p:nvPr/>
          </p:nvSpPr>
          <p:spPr>
            <a:xfrm>
              <a:off x="320675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Sustained husbandry and breeding</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Adaptation to human environments</a:t>
              </a:r>
            </a:p>
          </p:txBody>
        </p:sp>
        <p:sp>
          <p:nvSpPr>
            <p:cNvPr id="548" name="diagram__stage-3-caption_542">
              <a:extLst>
                <a:ext uri="{FF2B5EF4-FFF2-40B4-BE49-F238E27FC236}">
                  <a16:creationId xmlns:a16="http://schemas.microsoft.com/office/drawing/2014/main" id="{A7E8C1E0-DE5B-4FF5-B2A0-836AC6287959}"/>
                </a:ext>
              </a:extLst>
            </p:cNvPr>
            <p:cNvSpPr>
              <a:spLocks/>
            </p:cNvSpPr>
            <p:nvPr/>
          </p:nvSpPr>
          <p:spPr>
            <a:xfrm>
              <a:off x="6032500" y="4489450"/>
              <a:ext cx="285750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Migration, trade and introductions</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Admixture and local diversification</a:t>
              </a:r>
            </a:p>
          </p:txBody>
        </p:sp>
        <p:sp>
          <p:nvSpPr>
            <p:cNvPr id="549" name="diagram__stage-4-caption_543">
              <a:extLst>
                <a:ext uri="{FF2B5EF4-FFF2-40B4-BE49-F238E27FC236}">
                  <a16:creationId xmlns:a16="http://schemas.microsoft.com/office/drawing/2014/main" id="{39787DB5-27E3-4E69-BF5C-4799DA4E0FF7}"/>
                </a:ext>
              </a:extLst>
            </p:cNvPr>
            <p:cNvSpPr>
              <a:spLocks/>
            </p:cNvSpPr>
            <p:nvPr/>
          </p:nvSpPr>
          <p:spPr>
            <a:xfrm>
              <a:off x="9175750" y="4489450"/>
              <a:ext cx="263525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Repeated introductions and gene flow</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Breed formation and diversification</a:t>
              </a:r>
            </a:p>
          </p:txBody>
        </p:sp>
        <p:sp>
          <p:nvSpPr>
            <p:cNvPr id="550" name="shared-evolutionary-drivers__line_544">
              <a:extLst>
                <a:ext uri="{FF2B5EF4-FFF2-40B4-BE49-F238E27FC236}">
                  <a16:creationId xmlns:a16="http://schemas.microsoft.com/office/drawing/2014/main" id="{A30B4CF8-0538-436B-8968-0AC75654BD60}"/>
                </a:ext>
              </a:extLst>
            </p:cNvPr>
            <p:cNvSpPr>
              <a:spLocks/>
            </p:cNvSpPr>
            <p:nvPr/>
          </p:nvSpPr>
          <p:spPr>
            <a:xfrm>
              <a:off x="3270250" y="5422899"/>
              <a:ext cx="8540750" cy="63"/>
            </a:xfrm>
            <a:custGeom>
              <a:avLst/>
              <a:gdLst/>
              <a:ahLst/>
              <a:cxnLst/>
              <a:rect l="0" t="0" r="0" b="0"/>
              <a:pathLst>
                <a:path w="12811125" h="95">
                  <a:moveTo>
                    <a:pt x="0" y="0"/>
                  </a:moveTo>
                  <a:lnTo>
                    <a:pt x="12811125" y="0"/>
                  </a:lnTo>
                </a:path>
              </a:pathLst>
            </a:custGeom>
            <a:noFill/>
            <a:ln w="20955">
              <a:solidFill>
                <a:srgbClr val="A9BBB2"/>
              </a:solidFill>
              <a:prstDash val="solid"/>
            </a:ln>
          </p:spPr>
          <p:txBody>
            <a:bodyPr/>
            <a:lstStyle/>
            <a:p>
              <a:endParaRPr sz="1200"/>
            </a:p>
          </p:txBody>
        </p:sp>
        <p:sp>
          <p:nvSpPr>
            <p:cNvPr id="551" name="shared-evolutionary-drivers__driver-to-stage_545">
              <a:extLst>
                <a:ext uri="{FF2B5EF4-FFF2-40B4-BE49-F238E27FC236}">
                  <a16:creationId xmlns:a16="http://schemas.microsoft.com/office/drawing/2014/main" id="{9A5D16A7-663A-4663-ACC3-13349BABFC3D}"/>
                </a:ext>
              </a:extLst>
            </p:cNvPr>
            <p:cNvSpPr>
              <a:spLocks/>
            </p:cNvSpPr>
            <p:nvPr/>
          </p:nvSpPr>
          <p:spPr>
            <a:xfrm>
              <a:off x="44894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2" name="shared-evolutionary-drivers__driver-to-stage-tip_546">
              <a:extLst>
                <a:ext uri="{FF2B5EF4-FFF2-40B4-BE49-F238E27FC236}">
                  <a16:creationId xmlns:a16="http://schemas.microsoft.com/office/drawing/2014/main" id="{F7852F94-C4B9-4F73-9C21-5E50EB2F77F1}"/>
                </a:ext>
              </a:extLst>
            </p:cNvPr>
            <p:cNvSpPr>
              <a:spLocks/>
            </p:cNvSpPr>
            <p:nvPr/>
          </p:nvSpPr>
          <p:spPr>
            <a:xfrm>
              <a:off x="44531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3" name="shared-evolutionary-drivers__driver-to-stage_547">
              <a:extLst>
                <a:ext uri="{FF2B5EF4-FFF2-40B4-BE49-F238E27FC236}">
                  <a16:creationId xmlns:a16="http://schemas.microsoft.com/office/drawing/2014/main" id="{9701AA6D-D095-4E69-BF58-DC0A36172917}"/>
                </a:ext>
              </a:extLst>
            </p:cNvPr>
            <p:cNvSpPr>
              <a:spLocks/>
            </p:cNvSpPr>
            <p:nvPr/>
          </p:nvSpPr>
          <p:spPr>
            <a:xfrm>
              <a:off x="74612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4" name="shared-evolutionary-drivers__driver-to-stage-tip_548">
              <a:extLst>
                <a:ext uri="{FF2B5EF4-FFF2-40B4-BE49-F238E27FC236}">
                  <a16:creationId xmlns:a16="http://schemas.microsoft.com/office/drawing/2014/main" id="{73CDC72E-115B-49D4-A665-617E728A26BA}"/>
                </a:ext>
              </a:extLst>
            </p:cNvPr>
            <p:cNvSpPr>
              <a:spLocks/>
            </p:cNvSpPr>
            <p:nvPr/>
          </p:nvSpPr>
          <p:spPr>
            <a:xfrm>
              <a:off x="74249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5" name="shared-evolutionary-drivers__driver-to-stage_549">
              <a:extLst>
                <a:ext uri="{FF2B5EF4-FFF2-40B4-BE49-F238E27FC236}">
                  <a16:creationId xmlns:a16="http://schemas.microsoft.com/office/drawing/2014/main" id="{6F0C83B7-BD1E-476B-AD09-E0DFEE3F54E9}"/>
                </a:ext>
              </a:extLst>
            </p:cNvPr>
            <p:cNvSpPr>
              <a:spLocks/>
            </p:cNvSpPr>
            <p:nvPr/>
          </p:nvSpPr>
          <p:spPr>
            <a:xfrm>
              <a:off x="104965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6" name="shared-evolutionary-drivers__driver-to-stage-tip_550">
              <a:extLst>
                <a:ext uri="{FF2B5EF4-FFF2-40B4-BE49-F238E27FC236}">
                  <a16:creationId xmlns:a16="http://schemas.microsoft.com/office/drawing/2014/main" id="{7A35F6E9-B78B-4DA7-8FB6-2739A4CE3A3F}"/>
                </a:ext>
              </a:extLst>
            </p:cNvPr>
            <p:cNvSpPr>
              <a:spLocks/>
            </p:cNvSpPr>
            <p:nvPr/>
          </p:nvSpPr>
          <p:spPr>
            <a:xfrm>
              <a:off x="104602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7" name="diagram__shared-driver-label_551">
              <a:extLst>
                <a:ext uri="{FF2B5EF4-FFF2-40B4-BE49-F238E27FC236}">
                  <a16:creationId xmlns:a16="http://schemas.microsoft.com/office/drawing/2014/main" id="{3750F022-E960-4C4E-8A36-896EE012F63F}"/>
                </a:ext>
              </a:extLst>
            </p:cNvPr>
            <p:cNvSpPr>
              <a:spLocks/>
            </p:cNvSpPr>
            <p:nvPr/>
          </p:nvSpPr>
          <p:spPr>
            <a:xfrm>
              <a:off x="3206750" y="5588000"/>
              <a:ext cx="8604250" cy="323850"/>
            </a:xfrm>
            <a:prstGeom prst="rect">
              <a:avLst/>
            </a:prstGeom>
            <a:noFill/>
            <a:ln w="0">
              <a:noFill/>
            </a:ln>
          </p:spPr>
          <p:txBody>
            <a:bodyPr wrap="none" lIns="0" tIns="0" rIns="0" bIns="0" anchor="t">
              <a:noAutofit/>
            </a:bodyPr>
            <a:lstStyle>
              <a:defPPr algn="ctr">
                <a:defRPr sz="1500" b="1">
                  <a:solidFill>
                    <a:srgbClr val="253C3A"/>
                  </a:solidFill>
                  <a:latin typeface="Arial"/>
                  <a:ea typeface="Arial"/>
                  <a:cs typeface="Arial"/>
                </a:defRPr>
              </a:defPPr>
            </a:lstStyle>
            <a:p>
              <a:pPr algn="ctr">
                <a:lnSpc>
                  <a:spcPct val="116000"/>
                </a:lnSpc>
                <a:buNone/>
                <a:defRPr sz="1500" b="1">
                  <a:solidFill>
                    <a:srgbClr val="253C3A"/>
                  </a:solidFill>
                  <a:latin typeface="Arial"/>
                  <a:ea typeface="Arial"/>
                  <a:cs typeface="Arial"/>
                </a:defRPr>
              </a:pPr>
              <a:r>
                <a:rPr sz="1500" b="1">
                  <a:solidFill>
                    <a:srgbClr val="253C3A"/>
                  </a:solidFill>
                  <a:latin typeface="Arial"/>
                  <a:ea typeface="Arial"/>
                  <a:cs typeface="Arial"/>
                </a:rPr>
                <a:t>Artificial selection, natural selection and genetic drift</a:t>
              </a:r>
            </a:p>
          </p:txBody>
        </p:sp>
        <p:sp>
          <p:nvSpPr>
            <p:cNvPr id="558" name="diagram__shared-driver-explanation_552">
              <a:extLst>
                <a:ext uri="{FF2B5EF4-FFF2-40B4-BE49-F238E27FC236}">
                  <a16:creationId xmlns:a16="http://schemas.microsoft.com/office/drawing/2014/main" id="{87916B09-F526-499C-B34F-FC1C9330020A}"/>
                </a:ext>
              </a:extLst>
            </p:cNvPr>
            <p:cNvSpPr>
              <a:spLocks/>
            </p:cNvSpPr>
            <p:nvPr/>
          </p:nvSpPr>
          <p:spPr>
            <a:xfrm>
              <a:off x="3206750" y="5911850"/>
              <a:ext cx="8604250" cy="266700"/>
            </a:xfrm>
            <a:prstGeom prst="rect">
              <a:avLst/>
            </a:prstGeom>
            <a:noFill/>
            <a:ln w="0">
              <a:noFill/>
            </a:ln>
          </p:spPr>
          <p:txBody>
            <a:bodyPr wrap="none" lIns="0" tIns="0" rIns="0" bIns="0" anchor="t">
              <a:noAutofit/>
            </a:bodyPr>
            <a:lstStyle>
              <a:defPPr algn="ctr">
                <a:defRPr sz="1200" b="0">
                  <a:solidFill>
                    <a:srgbClr val="627470"/>
                  </a:solidFill>
                  <a:latin typeface="Arial"/>
                  <a:ea typeface="Arial"/>
                  <a:cs typeface="Arial"/>
                </a:defRPr>
              </a:defPPr>
            </a:lstStyle>
            <a:p>
              <a:pPr algn="ctr">
                <a:lnSpc>
                  <a:spcPct val="116000"/>
                </a:lnSpc>
                <a:buNone/>
                <a:defRPr sz="1200" b="0">
                  <a:solidFill>
                    <a:srgbClr val="627470"/>
                  </a:solidFill>
                  <a:latin typeface="Arial"/>
                  <a:ea typeface="Arial"/>
                  <a:cs typeface="Arial"/>
                </a:defRPr>
              </a:pPr>
              <a:r>
                <a:rPr sz="1200" b="0">
                  <a:solidFill>
                    <a:srgbClr val="627470"/>
                  </a:solidFill>
                  <a:latin typeface="Arial"/>
                  <a:ea typeface="Arial"/>
                  <a:cs typeface="Arial"/>
                </a:rPr>
                <a:t>Continue to shape behavior, growth, reproduction and population composition</a:t>
              </a:r>
            </a:p>
          </p:txBody>
        </p:sp>
        <p:sp>
          <p:nvSpPr>
            <p:cNvPr id="559" name="diagram__legend-rule_553">
              <a:extLst>
                <a:ext uri="{FF2B5EF4-FFF2-40B4-BE49-F238E27FC236}">
                  <a16:creationId xmlns:a16="http://schemas.microsoft.com/office/drawing/2014/main" id="{95533B7E-C502-4280-AF4A-C32EF48DCD36}"/>
                </a:ext>
              </a:extLst>
            </p:cNvPr>
            <p:cNvSpPr>
              <a:spLocks/>
            </p:cNvSpPr>
            <p:nvPr/>
          </p:nvSpPr>
          <p:spPr>
            <a:xfrm>
              <a:off x="381000" y="6299201"/>
              <a:ext cx="11430000" cy="63"/>
            </a:xfrm>
            <a:custGeom>
              <a:avLst/>
              <a:gdLst/>
              <a:ahLst/>
              <a:cxnLst/>
              <a:rect l="0" t="0" r="0" b="0"/>
              <a:pathLst>
                <a:path w="17145000" h="95">
                  <a:moveTo>
                    <a:pt x="0" y="0"/>
                  </a:moveTo>
                  <a:lnTo>
                    <a:pt x="17145000" y="0"/>
                  </a:lnTo>
                </a:path>
              </a:pathLst>
            </a:custGeom>
            <a:noFill/>
            <a:ln w="11430">
              <a:solidFill>
                <a:srgbClr val="D6DEDA"/>
              </a:solidFill>
              <a:prstDash val="solid"/>
            </a:ln>
          </p:spPr>
          <p:txBody>
            <a:bodyPr/>
            <a:lstStyle/>
            <a:p>
              <a:endParaRPr sz="1200"/>
            </a:p>
          </p:txBody>
        </p:sp>
        <p:sp>
          <p:nvSpPr>
            <p:cNvPr id="560" name="diagram__evidence-note_554">
              <a:extLst>
                <a:ext uri="{FF2B5EF4-FFF2-40B4-BE49-F238E27FC236}">
                  <a16:creationId xmlns:a16="http://schemas.microsoft.com/office/drawing/2014/main" id="{D11B0229-DF7A-44E1-A457-43AF8170115F}"/>
                </a:ext>
              </a:extLst>
            </p:cNvPr>
            <p:cNvSpPr>
              <a:spLocks/>
            </p:cNvSpPr>
            <p:nvPr/>
          </p:nvSpPr>
          <p:spPr>
            <a:xfrm>
              <a:off x="381000" y="6419850"/>
              <a:ext cx="11430000" cy="304800"/>
            </a:xfrm>
            <a:prstGeom prst="rect">
              <a:avLst/>
            </a:prstGeom>
            <a:noFill/>
            <a:ln w="0">
              <a:noFill/>
            </a:ln>
          </p:spPr>
          <p:txBody>
            <a:bodyPr wrap="none" lIns="0" tIns="0" rIns="0" bIns="0" anchor="t">
              <a:noAutofit/>
            </a:bodyPr>
            <a:lstStyle>
              <a:defPPr algn="l">
                <a:defRPr sz="1088" b="0">
                  <a:solidFill>
                    <a:srgbClr val="627470"/>
                  </a:solidFill>
                  <a:latin typeface="Arial"/>
                  <a:ea typeface="Arial"/>
                  <a:cs typeface="Arial"/>
                </a:defRPr>
              </a:defPPr>
            </a:lstStyle>
            <a:p>
              <a:pPr algn="l">
                <a:lnSpc>
                  <a:spcPct val="116000"/>
                </a:lnSpc>
                <a:buNone/>
                <a:defRPr sz="1088" b="0">
                  <a:solidFill>
                    <a:srgbClr val="627470"/>
                  </a:solidFill>
                  <a:latin typeface="Arial"/>
                  <a:ea typeface="Arial"/>
                  <a:cs typeface="Arial"/>
                </a:defRPr>
              </a:pPr>
              <a:r>
                <a:rPr sz="1088" b="0">
                  <a:solidFill>
                    <a:srgbClr val="627470"/>
                  </a:solidFill>
                  <a:latin typeface="Arial"/>
                  <a:ea typeface="Arial"/>
                  <a:cs typeface="Arial"/>
                </a:rPr>
                <a:t>Processes may overlap and do not define a uniform chronology. Wild junglefowl introgression affects some populations.</a:t>
              </a:r>
            </a:p>
          </p:txBody>
        </p:sp>
      </p:grpSp>
    </p:spTree>
    <p:extLst>
      <p:ext uri="{BB962C8B-B14F-4D97-AF65-F5344CB8AC3E}">
        <p14:creationId xmlns:p14="http://schemas.microsoft.com/office/powerpoint/2010/main" val="1712089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0" name="Fig2_1_editable_figure">
            <a:extLst>
              <a:ext uri="{FF2B5EF4-FFF2-40B4-BE49-F238E27FC236}">
                <a16:creationId xmlns:a16="http://schemas.microsoft.com/office/drawing/2014/main" id="{171C3F41-BAFB-3270-8E11-083F965DFFFF}"/>
              </a:ext>
            </a:extLst>
          </p:cNvPr>
          <p:cNvGrpSpPr>
            <a:grpSpLocks noChangeAspect="1"/>
          </p:cNvGrpSpPr>
          <p:nvPr/>
        </p:nvGrpSpPr>
        <p:grpSpPr>
          <a:xfrm>
            <a:off x="203200" y="821267"/>
            <a:ext cx="11931650" cy="5331883"/>
            <a:chOff x="203200" y="135467"/>
            <a:chExt cx="11931650" cy="5331883"/>
          </a:xfrm>
        </p:grpSpPr>
        <p:sp>
          <p:nvSpPr>
            <p:cNvPr id="305" name="ancestry-key">
              <a:extLst>
                <a:ext uri="{FF2B5EF4-FFF2-40B4-BE49-F238E27FC236}">
                  <a16:creationId xmlns:a16="http://schemas.microsoft.com/office/drawing/2014/main" id="{D59FB7AF-0638-4F10-A5EB-F4BF44524CA2}"/>
                </a:ext>
              </a:extLst>
            </p:cNvPr>
            <p:cNvSpPr>
              <a:spLocks/>
            </p:cNvSpPr>
            <p:nvPr/>
          </p:nvSpPr>
          <p:spPr>
            <a:xfrm>
              <a:off x="406400" y="169333"/>
              <a:ext cx="196427" cy="149013"/>
            </a:xfrm>
            <a:prstGeom prst="rect">
              <a:avLst/>
            </a:prstGeom>
            <a:solidFill>
              <a:srgbClr val="F0C660"/>
            </a:solidFill>
            <a:ln w="8128">
              <a:solidFill>
                <a:srgbClr val="B88B34"/>
              </a:solidFill>
            </a:ln>
          </p:spPr>
          <p:txBody>
            <a:bodyPr/>
            <a:p/>
          </p:txBody>
        </p:sp>
        <p:sp>
          <p:nvSpPr>
            <p:cNvPr id="2" name="ancestry-key-label">
              <a:extLst>
                <a:ext uri="{FF2B5EF4-FFF2-40B4-BE49-F238E27FC236}">
                  <a16:creationId xmlns:a16="http://schemas.microsoft.com/office/drawing/2014/main" id="{1FE062B3-083F-472B-A431-C769A42911F3}"/>
                </a:ext>
              </a:extLst>
            </p:cNvPr>
            <p:cNvSpPr>
              <a:spLocks/>
            </p:cNvSpPr>
            <p:nvPr/>
          </p:nvSpPr>
          <p:spPr>
            <a:xfrm>
              <a:off x="697653" y="135467"/>
              <a:ext cx="2607733" cy="298027"/>
            </a:xfrm>
            <a:prstGeom prst="rect">
              <a:avLst/>
            </a:prstGeom>
            <a:noFill/>
            <a:ln w="0">
              <a:noFill/>
            </a:ln>
          </p:spPr>
          <p:txBody>
            <a:bodyPr wrap="none" lIns="0" tIns="0" rIns="0" bIns="0" anchor="t">
              <a:noAutofit/>
            </a:bodyPr>
            <a:lstStyle>
              <a:defPPr algn="l">
                <a:defRPr sz="1388" b="0">
                  <a:solidFill>
                    <a:srgbClr val="293D3B"/>
                  </a:solidFill>
                  <a:latin typeface="Microsoft YaHei"/>
                  <a:ea typeface="Microsoft YaHei"/>
                  <a:cs typeface="Microsoft YaHei"/>
                </a:defRPr>
              </a:defPPr>
            </a:lstStyle>
            <a:p>
              <a:pPr algn="l">
                <a:defRPr sz="1388" b="0">
                  <a:solidFill>
                    <a:srgbClr val="293D3B"/>
                  </a:solidFill>
                  <a:latin typeface="Microsoft YaHei"/>
                  <a:ea typeface="Microsoft YaHei"/>
                  <a:cs typeface="Microsoft YaHei"/>
                </a:defRPr>
              </a:pPr>
              <a:r>
                <a:rPr sz="1388" i="1">
                  <a:solidFill>
                    <a:srgbClr val="293D3B"/>
                  </a:solidFill>
                  <a:latin typeface="Microsoft YaHei"/>
                  <a:ea typeface="Microsoft YaHei"/>
                  <a:cs typeface="Microsoft YaHei"/>
                </a:rPr>
                <a:t>spadiceus</a:t>
              </a:r>
              <a:r>
                <a:rPr sz="1388">
                  <a:solidFill>
                    <a:srgbClr val="293D3B"/>
                  </a:solidFill>
                  <a:latin typeface="Microsoft YaHei"/>
                  <a:ea typeface="Microsoft YaHei"/>
                  <a:cs typeface="Microsoft YaHei"/>
                </a:rPr>
                <a:t> 现生分布示意</a:t>
              </a:r>
            </a:p>
          </p:txBody>
        </p:sp>
        <p:sp>
          <p:nvSpPr>
            <p:cNvPr id="3" name="legend-regional">
              <a:extLst>
                <a:ext uri="{FF2B5EF4-FFF2-40B4-BE49-F238E27FC236}">
                  <a16:creationId xmlns:a16="http://schemas.microsoft.com/office/drawing/2014/main" id="{011B55FD-9F74-4C6E-965E-5DA631AF235C}"/>
                </a:ext>
              </a:extLst>
            </p:cNvPr>
            <p:cNvSpPr>
              <a:spLocks/>
            </p:cNvSpPr>
            <p:nvPr/>
          </p:nvSpPr>
          <p:spPr>
            <a:xfrm>
              <a:off x="3522133" y="264160"/>
              <a:ext cx="372533" cy="68"/>
            </a:xfrm>
            <a:custGeom>
              <a:avLst/>
              <a:gdLst/>
              <a:ahLst/>
              <a:cxnLst/>
              <a:rect l="0" t="0" r="0" b="0"/>
              <a:pathLst>
                <a:path w="523875" h="95">
                  <a:moveTo>
                    <a:pt x="0" y="0"/>
                  </a:moveTo>
                  <a:lnTo>
                    <a:pt x="523875" y="0"/>
                  </a:lnTo>
                </a:path>
              </a:pathLst>
            </a:custGeom>
            <a:noFill/>
            <a:ln w="23707">
              <a:solidFill>
                <a:srgbClr val="4F788A"/>
              </a:solidFill>
              <a:prstDash val="solid"/>
            </a:ln>
          </p:spPr>
          <p:txBody>
            <a:bodyPr/>
            <a:p/>
          </p:txBody>
        </p:sp>
        <p:sp>
          <p:nvSpPr>
            <p:cNvPr id="4" name="legend-regional-head">
              <a:extLst>
                <a:ext uri="{FF2B5EF4-FFF2-40B4-BE49-F238E27FC236}">
                  <a16:creationId xmlns:a16="http://schemas.microsoft.com/office/drawing/2014/main" id="{D1A8AF15-DC27-4162-B5DA-F50A9C3FFC85}"/>
                </a:ext>
              </a:extLst>
            </p:cNvPr>
            <p:cNvSpPr>
              <a:spLocks/>
            </p:cNvSpPr>
            <p:nvPr/>
          </p:nvSpPr>
          <p:spPr>
            <a:xfrm>
              <a:off x="3813387" y="227584"/>
              <a:ext cx="81280" cy="73152"/>
            </a:xfrm>
            <a:custGeom>
              <a:avLst/>
              <a:gdLst/>
              <a:ahLst/>
              <a:cxnLst/>
              <a:rect l="0" t="0" r="0" b="0"/>
              <a:pathLst>
                <a:path w="114300" h="102870">
                  <a:moveTo>
                    <a:pt x="114300" y="51435"/>
                  </a:moveTo>
                  <a:lnTo>
                    <a:pt x="0" y="0"/>
                  </a:lnTo>
                  <a:lnTo>
                    <a:pt x="0" y="102870"/>
                  </a:lnTo>
                  <a:close/>
                </a:path>
              </a:pathLst>
            </a:custGeom>
            <a:solidFill>
              <a:srgbClr val="4F788A"/>
            </a:solidFill>
            <a:ln w="0">
              <a:noFill/>
              <a:prstDash val="solid"/>
            </a:ln>
          </p:spPr>
          <p:txBody>
            <a:bodyPr/>
            <a:p/>
          </p:txBody>
        </p:sp>
        <p:sp>
          <p:nvSpPr>
            <p:cNvPr id="5" name="legend-regional-label">
              <a:extLst>
                <a:ext uri="{FF2B5EF4-FFF2-40B4-BE49-F238E27FC236}">
                  <a16:creationId xmlns:a16="http://schemas.microsoft.com/office/drawing/2014/main" id="{FE17697B-27B9-4EA6-8123-DD5E40E2E1EB}"/>
                </a:ext>
              </a:extLst>
            </p:cNvPr>
            <p:cNvSpPr>
              <a:spLocks/>
            </p:cNvSpPr>
            <p:nvPr/>
          </p:nvSpPr>
          <p:spPr>
            <a:xfrm>
              <a:off x="3996267" y="135467"/>
              <a:ext cx="1998133" cy="298027"/>
            </a:xfrm>
            <a:prstGeom prst="rect">
              <a:avLst/>
            </a:prstGeom>
            <a:noFill/>
            <a:ln w="0">
              <a:noFill/>
            </a:ln>
          </p:spPr>
          <p:txBody>
            <a:bodyPr wrap="none" lIns="0" tIns="0" rIns="0" bIns="0" anchor="t">
              <a:noAutofit/>
            </a:bodyPr>
            <a:lstStyle>
              <a:defPPr algn="l">
                <a:defRPr sz="1440" b="0">
                  <a:solidFill>
                    <a:srgbClr val="293D3B"/>
                  </a:solidFill>
                  <a:latin typeface="Microsoft YaHei"/>
                  <a:ea typeface="Microsoft YaHei"/>
                  <a:cs typeface="Microsoft YaHei"/>
                </a:defRPr>
              </a:defPPr>
            </a:lstStyle>
            <a:p>
              <a:pPr algn="l">
                <a:lnSpc>
                  <a:spcPct val="100000"/>
                </a:lnSpc>
                <a:buNone/>
                <a:defRPr sz="1440" b="0">
                  <a:solidFill>
                    <a:srgbClr val="293D3B"/>
                  </a:solidFill>
                  <a:latin typeface="Microsoft YaHei"/>
                  <a:ea typeface="Microsoft YaHei"/>
                  <a:cs typeface="Microsoft YaHei"/>
                </a:defRPr>
              </a:pPr>
              <a:r>
                <a:rPr sz="1440">
                  <a:solidFill>
                    <a:srgbClr val="293D3B"/>
                  </a:solidFill>
                  <a:latin typeface="Microsoft YaHei"/>
                  <a:ea typeface="Microsoft YaHei"/>
                  <a:cs typeface="Microsoft YaHei"/>
                </a:rPr>
                <a:t>区域联系</a:t>
              </a:r>
            </a:p>
          </p:txBody>
        </p:sp>
        <p:sp>
          <p:nvSpPr>
            <p:cNvPr id="6" name="legend-hypothesis">
              <a:extLst>
                <a:ext uri="{FF2B5EF4-FFF2-40B4-BE49-F238E27FC236}">
                  <a16:creationId xmlns:a16="http://schemas.microsoft.com/office/drawing/2014/main" id="{67EA3D7E-510B-4748-B981-7220F246DAFF}"/>
                </a:ext>
              </a:extLst>
            </p:cNvPr>
            <p:cNvSpPr>
              <a:spLocks/>
            </p:cNvSpPr>
            <p:nvPr/>
          </p:nvSpPr>
          <p:spPr>
            <a:xfrm>
              <a:off x="6204373" y="264160"/>
              <a:ext cx="379307" cy="68"/>
            </a:xfrm>
            <a:custGeom>
              <a:avLst/>
              <a:gdLst/>
              <a:ahLst/>
              <a:cxnLst/>
              <a:rect l="0" t="0" r="0" b="0"/>
              <a:pathLst>
                <a:path w="533400" h="95">
                  <a:moveTo>
                    <a:pt x="0" y="0"/>
                  </a:moveTo>
                  <a:lnTo>
                    <a:pt x="533400" y="0"/>
                  </a:lnTo>
                </a:path>
              </a:pathLst>
            </a:custGeom>
            <a:noFill/>
            <a:ln w="23707">
              <a:solidFill>
                <a:srgbClr val="627F79"/>
              </a:solidFill>
              <a:prstDash val="dash"/>
            </a:ln>
          </p:spPr>
          <p:txBody>
            <a:bodyPr/>
            <a:p/>
          </p:txBody>
        </p:sp>
        <p:sp>
          <p:nvSpPr>
            <p:cNvPr id="7" name="legend-hypothesis-head">
              <a:extLst>
                <a:ext uri="{FF2B5EF4-FFF2-40B4-BE49-F238E27FC236}">
                  <a16:creationId xmlns:a16="http://schemas.microsoft.com/office/drawing/2014/main" id="{F580BC09-CA5F-4971-B558-83290E8F8344}"/>
                </a:ext>
              </a:extLst>
            </p:cNvPr>
            <p:cNvSpPr>
              <a:spLocks/>
            </p:cNvSpPr>
            <p:nvPr/>
          </p:nvSpPr>
          <p:spPr>
            <a:xfrm>
              <a:off x="6502400" y="227584"/>
              <a:ext cx="81280" cy="73152"/>
            </a:xfrm>
            <a:custGeom>
              <a:avLst/>
              <a:gdLst/>
              <a:ahLst/>
              <a:cxnLst/>
              <a:rect l="0" t="0" r="0" b="0"/>
              <a:pathLst>
                <a:path w="114300" h="102870">
                  <a:moveTo>
                    <a:pt x="114300" y="51435"/>
                  </a:moveTo>
                  <a:lnTo>
                    <a:pt x="0" y="0"/>
                  </a:lnTo>
                  <a:lnTo>
                    <a:pt x="0" y="102870"/>
                  </a:lnTo>
                  <a:close/>
                </a:path>
              </a:pathLst>
            </a:custGeom>
            <a:solidFill>
              <a:srgbClr val="627F79"/>
            </a:solidFill>
            <a:ln w="0">
              <a:noFill/>
              <a:prstDash val="solid"/>
            </a:ln>
          </p:spPr>
          <p:txBody>
            <a:bodyPr/>
            <a:p/>
          </p:txBody>
        </p:sp>
        <p:sp>
          <p:nvSpPr>
            <p:cNvPr id="8" name="legend-hypothesis-label">
              <a:extLst>
                <a:ext uri="{FF2B5EF4-FFF2-40B4-BE49-F238E27FC236}">
                  <a16:creationId xmlns:a16="http://schemas.microsoft.com/office/drawing/2014/main" id="{FCF4EC3E-B91B-45B5-8DEB-86FAAB78627E}"/>
                </a:ext>
              </a:extLst>
            </p:cNvPr>
            <p:cNvSpPr>
              <a:spLocks/>
            </p:cNvSpPr>
            <p:nvPr/>
          </p:nvSpPr>
          <p:spPr>
            <a:xfrm>
              <a:off x="6671733" y="135467"/>
              <a:ext cx="2743200" cy="298027"/>
            </a:xfrm>
            <a:prstGeom prst="rect">
              <a:avLst/>
            </a:prstGeom>
            <a:noFill/>
            <a:ln w="0">
              <a:noFill/>
            </a:ln>
          </p:spPr>
          <p:txBody>
            <a:bodyPr wrap="none" lIns="0" tIns="0" rIns="0" bIns="0" anchor="t">
              <a:noAutofit/>
            </a:bodyPr>
            <a:lstStyle>
              <a:defPPr algn="l">
                <a:defRPr sz="1440" b="0">
                  <a:solidFill>
                    <a:srgbClr val="293D3B"/>
                  </a:solidFill>
                  <a:latin typeface="Microsoft YaHei"/>
                  <a:ea typeface="Microsoft YaHei"/>
                  <a:cs typeface="Microsoft YaHei"/>
                </a:defRPr>
              </a:defPPr>
            </a:lstStyle>
            <a:p>
              <a:pPr algn="l">
                <a:lnSpc>
                  <a:spcPct val="100000"/>
                </a:lnSpc>
                <a:buNone/>
                <a:defRPr sz="1440" b="0">
                  <a:solidFill>
                    <a:srgbClr val="293D3B"/>
                  </a:solidFill>
                  <a:latin typeface="Microsoft YaHei"/>
                  <a:ea typeface="Microsoft YaHei"/>
                  <a:cs typeface="Microsoft YaHei"/>
                </a:defRPr>
              </a:pPr>
              <a:r>
                <a:rPr sz="1440">
                  <a:solidFill>
                    <a:srgbClr val="293D3B"/>
                  </a:solidFill>
                  <a:latin typeface="Microsoft YaHei"/>
                  <a:ea typeface="Microsoft YaHei"/>
                  <a:cs typeface="Microsoft YaHei"/>
                </a:rPr>
                <a:t>候选路线／模型</a:t>
              </a:r>
            </a:p>
          </p:txBody>
        </p:sp>
        <p:sp>
          <p:nvSpPr>
            <p:cNvPr id="9" name="legend-disputed">
              <a:extLst>
                <a:ext uri="{FF2B5EF4-FFF2-40B4-BE49-F238E27FC236}">
                  <a16:creationId xmlns:a16="http://schemas.microsoft.com/office/drawing/2014/main" id="{C7D6E38A-44CF-4D8B-ADC5-57661A7740EA}"/>
                </a:ext>
              </a:extLst>
            </p:cNvPr>
            <p:cNvSpPr>
              <a:spLocks/>
            </p:cNvSpPr>
            <p:nvPr/>
          </p:nvSpPr>
          <p:spPr>
            <a:xfrm>
              <a:off x="9821333" y="264160"/>
              <a:ext cx="379307" cy="68"/>
            </a:xfrm>
            <a:custGeom>
              <a:avLst/>
              <a:gdLst/>
              <a:ahLst/>
              <a:cxnLst/>
              <a:rect l="0" t="0" r="0" b="0"/>
              <a:pathLst>
                <a:path w="533400" h="95">
                  <a:moveTo>
                    <a:pt x="0" y="0"/>
                  </a:moveTo>
                  <a:lnTo>
                    <a:pt x="533400" y="0"/>
                  </a:lnTo>
                </a:path>
              </a:pathLst>
            </a:custGeom>
            <a:noFill/>
            <a:ln w="24384">
              <a:solidFill>
                <a:srgbClr val="687573"/>
              </a:solidFill>
              <a:prstDash val="dot"/>
            </a:ln>
          </p:spPr>
          <p:txBody>
            <a:bodyPr/>
            <a:p/>
          </p:txBody>
        </p:sp>
        <p:sp>
          <p:nvSpPr>
            <p:cNvPr id="10" name="legend-disputed-head">
              <a:extLst>
                <a:ext uri="{FF2B5EF4-FFF2-40B4-BE49-F238E27FC236}">
                  <a16:creationId xmlns:a16="http://schemas.microsoft.com/office/drawing/2014/main" id="{1F07D889-E7AB-4EA9-95BB-ECB4E281058F}"/>
                </a:ext>
              </a:extLst>
            </p:cNvPr>
            <p:cNvSpPr>
              <a:spLocks/>
            </p:cNvSpPr>
            <p:nvPr/>
          </p:nvSpPr>
          <p:spPr>
            <a:xfrm>
              <a:off x="10119360" y="227584"/>
              <a:ext cx="81280" cy="73152"/>
            </a:xfrm>
            <a:custGeom>
              <a:avLst/>
              <a:gdLst/>
              <a:ahLst/>
              <a:cxnLst/>
              <a:rect l="0" t="0" r="0" b="0"/>
              <a:pathLst>
                <a:path w="114300" h="102870">
                  <a:moveTo>
                    <a:pt x="114300" y="51435"/>
                  </a:moveTo>
                  <a:lnTo>
                    <a:pt x="0" y="0"/>
                  </a:lnTo>
                  <a:lnTo>
                    <a:pt x="0" y="102870"/>
                  </a:lnTo>
                  <a:close/>
                </a:path>
              </a:pathLst>
            </a:custGeom>
            <a:solidFill>
              <a:srgbClr val="687573"/>
            </a:solidFill>
            <a:ln w="0">
              <a:noFill/>
              <a:prstDash val="solid"/>
            </a:ln>
          </p:spPr>
          <p:txBody>
            <a:bodyPr/>
            <a:p/>
          </p:txBody>
        </p:sp>
        <p:sp>
          <p:nvSpPr>
            <p:cNvPr id="11" name="legend-disputed-label">
              <a:extLst>
                <a:ext uri="{FF2B5EF4-FFF2-40B4-BE49-F238E27FC236}">
                  <a16:creationId xmlns:a16="http://schemas.microsoft.com/office/drawing/2014/main" id="{462AAFFA-21A7-4416-83DC-365CD25CA4A2}"/>
                </a:ext>
              </a:extLst>
            </p:cNvPr>
            <p:cNvSpPr>
              <a:spLocks/>
            </p:cNvSpPr>
            <p:nvPr/>
          </p:nvSpPr>
          <p:spPr>
            <a:xfrm>
              <a:off x="10295467" y="135467"/>
              <a:ext cx="1564640" cy="298027"/>
            </a:xfrm>
            <a:prstGeom prst="rect">
              <a:avLst/>
            </a:prstGeom>
            <a:noFill/>
            <a:ln w="0">
              <a:noFill/>
            </a:ln>
          </p:spPr>
          <p:txBody>
            <a:bodyPr wrap="none" lIns="0" tIns="0" rIns="0" bIns="0" anchor="t">
              <a:noAutofit/>
            </a:bodyPr>
            <a:lstStyle>
              <a:defPPr algn="l">
                <a:defRPr sz="1440" b="0">
                  <a:solidFill>
                    <a:srgbClr val="293D3B"/>
                  </a:solidFill>
                  <a:latin typeface="Microsoft YaHei"/>
                  <a:ea typeface="Microsoft YaHei"/>
                  <a:cs typeface="Microsoft YaHei"/>
                </a:defRPr>
              </a:defPPr>
            </a:lstStyle>
            <a:p>
              <a:pPr algn="l">
                <a:lnSpc>
                  <a:spcPct val="100000"/>
                </a:lnSpc>
                <a:buNone/>
                <a:defRPr sz="1440" b="0">
                  <a:solidFill>
                    <a:srgbClr val="293D3B"/>
                  </a:solidFill>
                  <a:latin typeface="Microsoft YaHei"/>
                  <a:ea typeface="Microsoft YaHei"/>
                  <a:cs typeface="Microsoft YaHei"/>
                </a:defRPr>
              </a:pPr>
              <a:r>
                <a:rPr sz="1440">
                  <a:solidFill>
                    <a:srgbClr val="293D3B"/>
                  </a:solidFill>
                  <a:latin typeface="Microsoft YaHei"/>
                  <a:ea typeface="Microsoft YaHei"/>
                  <a:cs typeface="Microsoft YaHei"/>
                </a:rPr>
                <a:t>争议联系</a:t>
              </a:r>
            </a:p>
          </p:txBody>
        </p:sp>
        <p:sp>
          <p:nvSpPr>
            <p:cNvPr id="12" name="map-ocean">
              <a:extLst>
                <a:ext uri="{FF2B5EF4-FFF2-40B4-BE49-F238E27FC236}">
                  <a16:creationId xmlns:a16="http://schemas.microsoft.com/office/drawing/2014/main" id="{672C3B8B-2385-4AF9-874A-6B727515D2BD}"/>
                </a:ext>
              </a:extLst>
            </p:cNvPr>
            <p:cNvSpPr>
              <a:spLocks/>
            </p:cNvSpPr>
            <p:nvPr/>
          </p:nvSpPr>
          <p:spPr>
            <a:xfrm>
              <a:off x="406400" y="575733"/>
              <a:ext cx="11379200" cy="4572000"/>
            </a:xfrm>
            <a:prstGeom prst="rect">
              <a:avLst/>
            </a:prstGeom>
            <a:solidFill>
              <a:srgbClr val="FAFCF9"/>
            </a:solidFill>
            <a:ln w="0">
              <a:noFill/>
            </a:ln>
          </p:spPr>
          <p:txBody>
            <a:bodyPr/>
            <a:p/>
          </p:txBody>
        </p:sp>
        <p:sp>
          <p:nvSpPr>
            <p:cNvPr id="13" name="parallel--30">
              <a:extLst>
                <a:ext uri="{FF2B5EF4-FFF2-40B4-BE49-F238E27FC236}">
                  <a16:creationId xmlns:a16="http://schemas.microsoft.com/office/drawing/2014/main" id="{72EFF6E1-F776-4270-A903-64478775FEFA}"/>
                </a:ext>
              </a:extLst>
            </p:cNvPr>
            <p:cNvSpPr>
              <a:spLocks/>
            </p:cNvSpPr>
            <p:nvPr/>
          </p:nvSpPr>
          <p:spPr>
            <a:xfrm>
              <a:off x="406400" y="4168019"/>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4" name="parallel-0">
              <a:extLst>
                <a:ext uri="{FF2B5EF4-FFF2-40B4-BE49-F238E27FC236}">
                  <a16:creationId xmlns:a16="http://schemas.microsoft.com/office/drawing/2014/main" id="{BAA9DE9B-BDAC-4225-87DB-EA3DFD9867F6}"/>
                </a:ext>
              </a:extLst>
            </p:cNvPr>
            <p:cNvSpPr>
              <a:spLocks/>
            </p:cNvSpPr>
            <p:nvPr/>
          </p:nvSpPr>
          <p:spPr>
            <a:xfrm>
              <a:off x="406400" y="3188305"/>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5" name="parallel-30">
              <a:extLst>
                <a:ext uri="{FF2B5EF4-FFF2-40B4-BE49-F238E27FC236}">
                  <a16:creationId xmlns:a16="http://schemas.microsoft.com/office/drawing/2014/main" id="{DE5B7ED8-B88A-4395-8973-B34ADDCCF0C1}"/>
                </a:ext>
              </a:extLst>
            </p:cNvPr>
            <p:cNvSpPr>
              <a:spLocks/>
            </p:cNvSpPr>
            <p:nvPr/>
          </p:nvSpPr>
          <p:spPr>
            <a:xfrm>
              <a:off x="406400" y="2208590"/>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6" name="parallel-60">
              <a:extLst>
                <a:ext uri="{FF2B5EF4-FFF2-40B4-BE49-F238E27FC236}">
                  <a16:creationId xmlns:a16="http://schemas.microsoft.com/office/drawing/2014/main" id="{2F5CAF2B-98BF-4475-8C63-55B84AC8D2CD}"/>
                </a:ext>
              </a:extLst>
            </p:cNvPr>
            <p:cNvSpPr>
              <a:spLocks/>
            </p:cNvSpPr>
            <p:nvPr/>
          </p:nvSpPr>
          <p:spPr>
            <a:xfrm>
              <a:off x="406400" y="1228876"/>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7" name="land-1">
              <a:extLst>
                <a:ext uri="{FF2B5EF4-FFF2-40B4-BE49-F238E27FC236}">
                  <a16:creationId xmlns:a16="http://schemas.microsoft.com/office/drawing/2014/main" id="{8783C15D-0D8B-4204-B93C-929F8BDEF580}"/>
                </a:ext>
              </a:extLst>
            </p:cNvPr>
            <p:cNvSpPr>
              <a:spLocks/>
            </p:cNvSpPr>
            <p:nvPr/>
          </p:nvSpPr>
          <p:spPr>
            <a:xfrm>
              <a:off x="10373867" y="4903402"/>
              <a:ext cx="303841" cy="101026"/>
            </a:xfrm>
            <a:custGeom>
              <a:avLst/>
              <a:gdLst/>
              <a:ahLst/>
              <a:cxnLst/>
              <a:rect l="0" t="0" r="0" b="0"/>
              <a:pathLst>
                <a:path w="427277" h="142068">
                  <a:moveTo>
                    <a:pt x="307262" y="61157"/>
                  </a:moveTo>
                  <a:lnTo>
                    <a:pt x="365047" y="88712"/>
                  </a:lnTo>
                  <a:lnTo>
                    <a:pt x="427277" y="100193"/>
                  </a:lnTo>
                  <a:lnTo>
                    <a:pt x="407274" y="123155"/>
                  </a:lnTo>
                  <a:lnTo>
                    <a:pt x="365047" y="125451"/>
                  </a:lnTo>
                  <a:lnTo>
                    <a:pt x="342381" y="109231"/>
                  </a:lnTo>
                  <a:lnTo>
                    <a:pt x="327663" y="127804"/>
                  </a:lnTo>
                  <a:lnTo>
                    <a:pt x="289543" y="142068"/>
                  </a:lnTo>
                  <a:lnTo>
                    <a:pt x="241383" y="136889"/>
                  </a:lnTo>
                  <a:lnTo>
                    <a:pt x="209112" y="123083"/>
                  </a:lnTo>
                  <a:lnTo>
                    <a:pt x="162547" y="116442"/>
                  </a:lnTo>
                  <a:lnTo>
                    <a:pt x="106619" y="90785"/>
                  </a:lnTo>
                  <a:lnTo>
                    <a:pt x="61222" y="66095"/>
                  </a:lnTo>
                  <a:lnTo>
                    <a:pt x="0" y="14659"/>
                  </a:lnTo>
                  <a:lnTo>
                    <a:pt x="36646" y="24300"/>
                  </a:lnTo>
                  <a:lnTo>
                    <a:pt x="99050" y="54976"/>
                  </a:lnTo>
                  <a:lnTo>
                    <a:pt x="158011" y="71459"/>
                  </a:lnTo>
                  <a:lnTo>
                    <a:pt x="180945" y="50403"/>
                  </a:lnTo>
                  <a:lnTo>
                    <a:pt x="195360" y="18963"/>
                  </a:lnTo>
                  <a:lnTo>
                    <a:pt x="236335" y="0"/>
                  </a:lnTo>
                  <a:lnTo>
                    <a:pt x="267963" y="5417"/>
                  </a:lnTo>
                  <a:lnTo>
                    <a:pt x="267968" y="5422"/>
                  </a:lnTo>
                  <a:lnTo>
                    <a:pt x="285037" y="26714"/>
                  </a:lnTo>
                  <a:lnTo>
                    <a:pt x="307262" y="61157"/>
                  </a:lnTo>
                  <a:close/>
                </a:path>
              </a:pathLst>
            </a:custGeom>
            <a:solidFill>
              <a:srgbClr val="E6EBE2"/>
            </a:solidFill>
            <a:ln w="4403">
              <a:solidFill>
                <a:srgbClr val="B6C3B3"/>
              </a:solidFill>
              <a:prstDash val="solid"/>
            </a:ln>
          </p:spPr>
          <p:txBody>
            <a:bodyPr/>
            <a:p/>
          </p:txBody>
        </p:sp>
        <p:sp>
          <p:nvSpPr>
            <p:cNvPr id="18" name="land-2">
              <a:extLst>
                <a:ext uri="{FF2B5EF4-FFF2-40B4-BE49-F238E27FC236}">
                  <a16:creationId xmlns:a16="http://schemas.microsoft.com/office/drawing/2014/main" id="{1DF3FBA6-A8F3-44FF-8715-7CF18C22485F}"/>
                </a:ext>
              </a:extLst>
            </p:cNvPr>
            <p:cNvSpPr>
              <a:spLocks/>
            </p:cNvSpPr>
            <p:nvPr/>
          </p:nvSpPr>
          <p:spPr>
            <a:xfrm>
              <a:off x="10799403" y="4857085"/>
              <a:ext cx="109051" cy="39189"/>
            </a:xfrm>
            <a:custGeom>
              <a:avLst/>
              <a:gdLst/>
              <a:ahLst/>
              <a:cxnLst/>
              <a:rect l="0" t="0" r="0" b="0"/>
              <a:pathLst>
                <a:path w="153352" h="55109">
                  <a:moveTo>
                    <a:pt x="117792" y="0"/>
                  </a:moveTo>
                  <a:lnTo>
                    <a:pt x="153352" y="20666"/>
                  </a:lnTo>
                  <a:lnTo>
                    <a:pt x="140017" y="36739"/>
                  </a:lnTo>
                  <a:lnTo>
                    <a:pt x="80010" y="50517"/>
                  </a:lnTo>
                  <a:lnTo>
                    <a:pt x="60007" y="34443"/>
                  </a:lnTo>
                  <a:lnTo>
                    <a:pt x="22225" y="55109"/>
                  </a:lnTo>
                  <a:lnTo>
                    <a:pt x="0" y="34443"/>
                  </a:lnTo>
                  <a:lnTo>
                    <a:pt x="53340" y="6889"/>
                  </a:lnTo>
                  <a:lnTo>
                    <a:pt x="91123" y="18370"/>
                  </a:lnTo>
                  <a:lnTo>
                    <a:pt x="117792" y="0"/>
                  </a:lnTo>
                  <a:close/>
                </a:path>
              </a:pathLst>
            </a:custGeom>
            <a:solidFill>
              <a:srgbClr val="E6EBE2"/>
            </a:solidFill>
            <a:ln w="4403">
              <a:solidFill>
                <a:srgbClr val="B6C3B3"/>
              </a:solidFill>
              <a:prstDash val="solid"/>
            </a:ln>
          </p:spPr>
          <p:txBody>
            <a:bodyPr/>
            <a:p/>
          </p:txBody>
        </p:sp>
        <p:sp>
          <p:nvSpPr>
            <p:cNvPr id="19" name="land-3">
              <a:extLst>
                <a:ext uri="{FF2B5EF4-FFF2-40B4-BE49-F238E27FC236}">
                  <a16:creationId xmlns:a16="http://schemas.microsoft.com/office/drawing/2014/main" id="{721AD6D6-9F4D-4363-B494-C90409EBF2AA}"/>
                </a:ext>
              </a:extLst>
            </p:cNvPr>
            <p:cNvSpPr>
              <a:spLocks/>
            </p:cNvSpPr>
            <p:nvPr/>
          </p:nvSpPr>
          <p:spPr>
            <a:xfrm>
              <a:off x="3526830" y="4776258"/>
              <a:ext cx="58160" cy="37556"/>
            </a:xfrm>
            <a:custGeom>
              <a:avLst/>
              <a:gdLst/>
              <a:ahLst/>
              <a:cxnLst/>
              <a:rect l="0" t="0" r="0" b="0"/>
              <a:pathLst>
                <a:path w="81788" h="52813">
                  <a:moveTo>
                    <a:pt x="69342" y="49828"/>
                  </a:moveTo>
                  <a:lnTo>
                    <a:pt x="1111" y="52813"/>
                  </a:lnTo>
                  <a:lnTo>
                    <a:pt x="0" y="28358"/>
                  </a:lnTo>
                  <a:lnTo>
                    <a:pt x="6556" y="9414"/>
                  </a:lnTo>
                  <a:lnTo>
                    <a:pt x="9557" y="0"/>
                  </a:lnTo>
                  <a:lnTo>
                    <a:pt x="38227" y="14466"/>
                  </a:lnTo>
                  <a:lnTo>
                    <a:pt x="80232" y="20207"/>
                  </a:lnTo>
                  <a:lnTo>
                    <a:pt x="81788" y="28932"/>
                  </a:lnTo>
                  <a:lnTo>
                    <a:pt x="69342" y="49828"/>
                  </a:lnTo>
                  <a:close/>
                </a:path>
              </a:pathLst>
            </a:custGeom>
            <a:solidFill>
              <a:srgbClr val="E6EBE2"/>
            </a:solidFill>
            <a:ln w="4403">
              <a:solidFill>
                <a:srgbClr val="B6C3B3"/>
              </a:solidFill>
              <a:prstDash val="solid"/>
            </a:ln>
          </p:spPr>
          <p:txBody>
            <a:bodyPr/>
            <a:p/>
          </p:txBody>
        </p:sp>
        <p:sp>
          <p:nvSpPr>
            <p:cNvPr id="20" name="land-4">
              <a:extLst>
                <a:ext uri="{FF2B5EF4-FFF2-40B4-BE49-F238E27FC236}">
                  <a16:creationId xmlns:a16="http://schemas.microsoft.com/office/drawing/2014/main" id="{7E903E4B-BB51-4F7B-9896-6AFA9011AECF}"/>
                </a:ext>
              </a:extLst>
            </p:cNvPr>
            <p:cNvSpPr>
              <a:spLocks/>
            </p:cNvSpPr>
            <p:nvPr/>
          </p:nvSpPr>
          <p:spPr>
            <a:xfrm>
              <a:off x="5929044" y="4517580"/>
              <a:ext cx="115113" cy="95706"/>
            </a:xfrm>
            <a:custGeom>
              <a:avLst/>
              <a:gdLst/>
              <a:ahLst/>
              <a:cxnLst/>
              <a:rect l="0" t="0" r="0" b="0"/>
              <a:pathLst>
                <a:path w="161878" h="134586">
                  <a:moveTo>
                    <a:pt x="30222" y="4068"/>
                  </a:moveTo>
                  <a:lnTo>
                    <a:pt x="73167" y="19918"/>
                  </a:lnTo>
                  <a:lnTo>
                    <a:pt x="97368" y="13620"/>
                  </a:lnTo>
                  <a:lnTo>
                    <a:pt x="132069" y="4789"/>
                  </a:lnTo>
                  <a:lnTo>
                    <a:pt x="158731" y="7874"/>
                  </a:lnTo>
                  <a:lnTo>
                    <a:pt x="161878" y="62387"/>
                  </a:lnTo>
                  <a:lnTo>
                    <a:pt x="146651" y="78211"/>
                  </a:lnTo>
                  <a:lnTo>
                    <a:pt x="142061" y="115157"/>
                  </a:lnTo>
                  <a:lnTo>
                    <a:pt x="126527" y="102581"/>
                  </a:lnTo>
                  <a:lnTo>
                    <a:pt x="95668" y="134586"/>
                  </a:lnTo>
                  <a:lnTo>
                    <a:pt x="86467" y="132118"/>
                  </a:lnTo>
                  <a:lnTo>
                    <a:pt x="59132" y="130689"/>
                  </a:lnTo>
                  <a:lnTo>
                    <a:pt x="31731" y="91380"/>
                  </a:lnTo>
                  <a:lnTo>
                    <a:pt x="25648" y="61062"/>
                  </a:lnTo>
                  <a:lnTo>
                    <a:pt x="0" y="21060"/>
                  </a:lnTo>
                  <a:lnTo>
                    <a:pt x="1142" y="0"/>
                  </a:lnTo>
                  <a:lnTo>
                    <a:pt x="30222" y="4068"/>
                  </a:lnTo>
                  <a:close/>
                </a:path>
              </a:pathLst>
            </a:custGeom>
            <a:solidFill>
              <a:srgbClr val="E6EBE2"/>
            </a:solidFill>
            <a:ln w="4403">
              <a:solidFill>
                <a:srgbClr val="B6C3B3"/>
              </a:solidFill>
              <a:prstDash val="solid"/>
            </a:ln>
          </p:spPr>
          <p:txBody>
            <a:bodyPr/>
            <a:p/>
          </p:txBody>
        </p:sp>
        <p:sp>
          <p:nvSpPr>
            <p:cNvPr id="21" name="land-5">
              <a:extLst>
                <a:ext uri="{FF2B5EF4-FFF2-40B4-BE49-F238E27FC236}">
                  <a16:creationId xmlns:a16="http://schemas.microsoft.com/office/drawing/2014/main" id="{B067F6AF-B117-410A-B615-9AD379923771}"/>
                </a:ext>
              </a:extLst>
            </p:cNvPr>
            <p:cNvSpPr>
              <a:spLocks/>
            </p:cNvSpPr>
            <p:nvPr/>
          </p:nvSpPr>
          <p:spPr>
            <a:xfrm>
              <a:off x="6617836" y="4510722"/>
              <a:ext cx="244633" cy="200752"/>
            </a:xfrm>
            <a:custGeom>
              <a:avLst/>
              <a:gdLst/>
              <a:ahLst/>
              <a:cxnLst/>
              <a:rect l="0" t="0" r="0" b="0"/>
              <a:pathLst>
                <a:path w="344015" h="282308">
                  <a:moveTo>
                    <a:pt x="289424" y="19522"/>
                  </a:moveTo>
                  <a:lnTo>
                    <a:pt x="299508" y="38486"/>
                  </a:lnTo>
                  <a:lnTo>
                    <a:pt x="331120" y="19873"/>
                  </a:lnTo>
                  <a:lnTo>
                    <a:pt x="343974" y="39274"/>
                  </a:lnTo>
                  <a:lnTo>
                    <a:pt x="344015" y="58601"/>
                  </a:lnTo>
                  <a:lnTo>
                    <a:pt x="327477" y="79872"/>
                  </a:lnTo>
                  <a:lnTo>
                    <a:pt x="298419" y="113712"/>
                  </a:lnTo>
                  <a:lnTo>
                    <a:pt x="275683" y="132185"/>
                  </a:lnTo>
                  <a:lnTo>
                    <a:pt x="292080" y="154277"/>
                  </a:lnTo>
                  <a:lnTo>
                    <a:pt x="257785" y="154844"/>
                  </a:lnTo>
                  <a:lnTo>
                    <a:pt x="219751" y="172149"/>
                  </a:lnTo>
                  <a:lnTo>
                    <a:pt x="207848" y="202210"/>
                  </a:lnTo>
                  <a:lnTo>
                    <a:pt x="182581" y="248678"/>
                  </a:lnTo>
                  <a:lnTo>
                    <a:pt x="147675" y="269199"/>
                  </a:lnTo>
                  <a:lnTo>
                    <a:pt x="125491" y="282308"/>
                  </a:lnTo>
                  <a:lnTo>
                    <a:pt x="84553" y="281330"/>
                  </a:lnTo>
                  <a:lnTo>
                    <a:pt x="55767" y="266187"/>
                  </a:lnTo>
                  <a:lnTo>
                    <a:pt x="7456" y="262959"/>
                  </a:lnTo>
                  <a:lnTo>
                    <a:pt x="0" y="246095"/>
                  </a:lnTo>
                  <a:lnTo>
                    <a:pt x="23882" y="212031"/>
                  </a:lnTo>
                  <a:lnTo>
                    <a:pt x="79771" y="166705"/>
                  </a:lnTo>
                  <a:lnTo>
                    <a:pt x="108470" y="158064"/>
                  </a:lnTo>
                  <a:lnTo>
                    <a:pt x="140403" y="140590"/>
                  </a:lnTo>
                  <a:lnTo>
                    <a:pt x="178501" y="116543"/>
                  </a:lnTo>
                  <a:lnTo>
                    <a:pt x="205179" y="92711"/>
                  </a:lnTo>
                  <a:lnTo>
                    <a:pt x="224942" y="58483"/>
                  </a:lnTo>
                  <a:lnTo>
                    <a:pt x="241789" y="46863"/>
                  </a:lnTo>
                  <a:lnTo>
                    <a:pt x="248390" y="21223"/>
                  </a:lnTo>
                  <a:lnTo>
                    <a:pt x="279565" y="0"/>
                  </a:lnTo>
                  <a:lnTo>
                    <a:pt x="289424" y="19522"/>
                  </a:lnTo>
                  <a:close/>
                </a:path>
              </a:pathLst>
            </a:custGeom>
            <a:solidFill>
              <a:srgbClr val="E6EBE2"/>
            </a:solidFill>
            <a:ln w="4403">
              <a:solidFill>
                <a:srgbClr val="B6C3B3"/>
              </a:solidFill>
              <a:prstDash val="solid"/>
            </a:ln>
          </p:spPr>
          <p:txBody>
            <a:bodyPr/>
            <a:p/>
          </p:txBody>
        </p:sp>
        <p:sp>
          <p:nvSpPr>
            <p:cNvPr id="22" name="land-6">
              <a:extLst>
                <a:ext uri="{FF2B5EF4-FFF2-40B4-BE49-F238E27FC236}">
                  <a16:creationId xmlns:a16="http://schemas.microsoft.com/office/drawing/2014/main" id="{973DB393-1402-481F-BF68-A40AAD2793D1}"/>
                </a:ext>
              </a:extLst>
            </p:cNvPr>
            <p:cNvSpPr>
              <a:spLocks/>
            </p:cNvSpPr>
            <p:nvPr/>
          </p:nvSpPr>
          <p:spPr>
            <a:xfrm>
              <a:off x="6811499" y="4313365"/>
              <a:ext cx="185895" cy="236361"/>
            </a:xfrm>
            <a:custGeom>
              <a:avLst/>
              <a:gdLst/>
              <a:ahLst/>
              <a:cxnLst/>
              <a:rect l="0" t="0" r="0" b="0"/>
              <a:pathLst>
                <a:path w="261414" h="332382">
                  <a:moveTo>
                    <a:pt x="87833" y="78334"/>
                  </a:moveTo>
                  <a:lnTo>
                    <a:pt x="120042" y="126679"/>
                  </a:lnTo>
                  <a:lnTo>
                    <a:pt x="120975" y="95317"/>
                  </a:lnTo>
                  <a:lnTo>
                    <a:pt x="141035" y="107843"/>
                  </a:lnTo>
                  <a:lnTo>
                    <a:pt x="147684" y="142581"/>
                  </a:lnTo>
                  <a:lnTo>
                    <a:pt x="183454" y="157547"/>
                  </a:lnTo>
                  <a:lnTo>
                    <a:pt x="213485" y="161221"/>
                  </a:lnTo>
                  <a:lnTo>
                    <a:pt x="238890" y="143704"/>
                  </a:lnTo>
                  <a:lnTo>
                    <a:pt x="261414" y="149010"/>
                  </a:lnTo>
                  <a:lnTo>
                    <a:pt x="250641" y="189765"/>
                  </a:lnTo>
                  <a:lnTo>
                    <a:pt x="237117" y="216563"/>
                  </a:lnTo>
                  <a:lnTo>
                    <a:pt x="203180" y="215619"/>
                  </a:lnTo>
                  <a:lnTo>
                    <a:pt x="191312" y="229578"/>
                  </a:lnTo>
                  <a:lnTo>
                    <a:pt x="195444" y="249335"/>
                  </a:lnTo>
                  <a:lnTo>
                    <a:pt x="188904" y="257878"/>
                  </a:lnTo>
                  <a:lnTo>
                    <a:pt x="172111" y="282624"/>
                  </a:lnTo>
                  <a:lnTo>
                    <a:pt x="150083" y="314073"/>
                  </a:lnTo>
                  <a:lnTo>
                    <a:pt x="115728" y="332382"/>
                  </a:lnTo>
                  <a:lnTo>
                    <a:pt x="108098" y="320331"/>
                  </a:lnTo>
                  <a:lnTo>
                    <a:pt x="89565" y="313715"/>
                  </a:lnTo>
                  <a:lnTo>
                    <a:pt x="115198" y="275938"/>
                  </a:lnTo>
                  <a:lnTo>
                    <a:pt x="100642" y="250666"/>
                  </a:lnTo>
                  <a:lnTo>
                    <a:pt x="52808" y="232293"/>
                  </a:lnTo>
                  <a:lnTo>
                    <a:pt x="54063" y="215657"/>
                  </a:lnTo>
                  <a:lnTo>
                    <a:pt x="86180" y="199633"/>
                  </a:lnTo>
                  <a:lnTo>
                    <a:pt x="93677" y="164277"/>
                  </a:lnTo>
                  <a:lnTo>
                    <a:pt x="91612" y="134579"/>
                  </a:lnTo>
                  <a:lnTo>
                    <a:pt x="73610" y="103808"/>
                  </a:lnTo>
                  <a:lnTo>
                    <a:pt x="74809" y="95713"/>
                  </a:lnTo>
                  <a:lnTo>
                    <a:pt x="53562" y="76754"/>
                  </a:lnTo>
                  <a:lnTo>
                    <a:pt x="18587" y="36118"/>
                  </a:lnTo>
                  <a:lnTo>
                    <a:pt x="0" y="3603"/>
                  </a:lnTo>
                  <a:lnTo>
                    <a:pt x="16493" y="0"/>
                  </a:lnTo>
                  <a:lnTo>
                    <a:pt x="40685" y="25512"/>
                  </a:lnTo>
                  <a:lnTo>
                    <a:pt x="75271" y="37421"/>
                  </a:lnTo>
                  <a:lnTo>
                    <a:pt x="87833" y="78334"/>
                  </a:lnTo>
                  <a:close/>
                </a:path>
              </a:pathLst>
            </a:custGeom>
            <a:solidFill>
              <a:srgbClr val="E6EBE2"/>
            </a:solidFill>
            <a:ln w="4403">
              <a:solidFill>
                <a:srgbClr val="B6C3B3"/>
              </a:solidFill>
              <a:prstDash val="solid"/>
            </a:ln>
          </p:spPr>
          <p:txBody>
            <a:bodyPr/>
            <a:p/>
          </p:txBody>
        </p:sp>
        <p:sp>
          <p:nvSpPr>
            <p:cNvPr id="23" name="land-7">
              <a:extLst>
                <a:ext uri="{FF2B5EF4-FFF2-40B4-BE49-F238E27FC236}">
                  <a16:creationId xmlns:a16="http://schemas.microsoft.com/office/drawing/2014/main" id="{538842FA-1227-4C90-AEBB-5960594D0175}"/>
                </a:ext>
              </a:extLst>
            </p:cNvPr>
            <p:cNvSpPr>
              <a:spLocks/>
            </p:cNvSpPr>
            <p:nvPr/>
          </p:nvSpPr>
          <p:spPr>
            <a:xfrm>
              <a:off x="6539460" y="3844898"/>
              <a:ext cx="97684" cy="74926"/>
            </a:xfrm>
            <a:custGeom>
              <a:avLst/>
              <a:gdLst/>
              <a:ahLst/>
              <a:cxnLst/>
              <a:rect l="0" t="0" r="0" b="0"/>
              <a:pathLst>
                <a:path w="137369" h="105365">
                  <a:moveTo>
                    <a:pt x="137369" y="94344"/>
                  </a:moveTo>
                  <a:lnTo>
                    <a:pt x="120479" y="105365"/>
                  </a:lnTo>
                  <a:lnTo>
                    <a:pt x="96018" y="92953"/>
                  </a:lnTo>
                  <a:lnTo>
                    <a:pt x="64220" y="72283"/>
                  </a:lnTo>
                  <a:lnTo>
                    <a:pt x="35569" y="47953"/>
                  </a:lnTo>
                  <a:lnTo>
                    <a:pt x="6151" y="15573"/>
                  </a:lnTo>
                  <a:lnTo>
                    <a:pt x="0" y="0"/>
                  </a:lnTo>
                  <a:lnTo>
                    <a:pt x="19130" y="660"/>
                  </a:lnTo>
                  <a:lnTo>
                    <a:pt x="44025" y="16273"/>
                  </a:lnTo>
                  <a:lnTo>
                    <a:pt x="63581" y="31889"/>
                  </a:lnTo>
                  <a:lnTo>
                    <a:pt x="77805" y="44747"/>
                  </a:lnTo>
                  <a:lnTo>
                    <a:pt x="114254" y="73220"/>
                  </a:lnTo>
                  <a:lnTo>
                    <a:pt x="137369" y="94344"/>
                  </a:lnTo>
                  <a:close/>
                </a:path>
              </a:pathLst>
            </a:custGeom>
            <a:solidFill>
              <a:srgbClr val="E6EBE2"/>
            </a:solidFill>
            <a:ln w="4403">
              <a:solidFill>
                <a:srgbClr val="B6C3B3"/>
              </a:solidFill>
              <a:prstDash val="solid"/>
            </a:ln>
          </p:spPr>
          <p:txBody>
            <a:bodyPr/>
            <a:p/>
          </p:txBody>
        </p:sp>
        <p:sp>
          <p:nvSpPr>
            <p:cNvPr id="24" name="land-8">
              <a:extLst>
                <a:ext uri="{FF2B5EF4-FFF2-40B4-BE49-F238E27FC236}">
                  <a16:creationId xmlns:a16="http://schemas.microsoft.com/office/drawing/2014/main" id="{27441E06-2DE4-4DD6-9935-EF8AEA8BEBCF}"/>
                </a:ext>
              </a:extLst>
            </p:cNvPr>
            <p:cNvSpPr>
              <a:spLocks/>
            </p:cNvSpPr>
            <p:nvPr/>
          </p:nvSpPr>
          <p:spPr>
            <a:xfrm>
              <a:off x="6958450" y="3754577"/>
              <a:ext cx="45296" cy="30961"/>
            </a:xfrm>
            <a:custGeom>
              <a:avLst/>
              <a:gdLst/>
              <a:ahLst/>
              <a:cxnLst/>
              <a:rect l="0" t="0" r="0" b="0"/>
              <a:pathLst>
                <a:path w="63698" h="43539">
                  <a:moveTo>
                    <a:pt x="48386" y="0"/>
                  </a:moveTo>
                  <a:lnTo>
                    <a:pt x="63698" y="13251"/>
                  </a:lnTo>
                  <a:lnTo>
                    <a:pt x="56348" y="37229"/>
                  </a:lnTo>
                  <a:lnTo>
                    <a:pt x="28787" y="43539"/>
                  </a:lnTo>
                  <a:lnTo>
                    <a:pt x="4286" y="37860"/>
                  </a:lnTo>
                  <a:lnTo>
                    <a:pt x="0" y="17668"/>
                  </a:lnTo>
                  <a:lnTo>
                    <a:pt x="17150" y="1893"/>
                  </a:lnTo>
                  <a:lnTo>
                    <a:pt x="37362" y="7572"/>
                  </a:lnTo>
                  <a:lnTo>
                    <a:pt x="48386" y="0"/>
                  </a:lnTo>
                  <a:close/>
                </a:path>
              </a:pathLst>
            </a:custGeom>
            <a:solidFill>
              <a:srgbClr val="E6EBE2"/>
            </a:solidFill>
            <a:ln w="4403">
              <a:solidFill>
                <a:srgbClr val="B6C3B3"/>
              </a:solidFill>
              <a:prstDash val="solid"/>
            </a:ln>
          </p:spPr>
          <p:txBody>
            <a:bodyPr/>
            <a:p/>
          </p:txBody>
        </p:sp>
        <p:sp>
          <p:nvSpPr>
            <p:cNvPr id="25" name="land-9">
              <a:extLst>
                <a:ext uri="{FF2B5EF4-FFF2-40B4-BE49-F238E27FC236}">
                  <a16:creationId xmlns:a16="http://schemas.microsoft.com/office/drawing/2014/main" id="{0BC66D21-D446-4F2B-9D61-B68A2476CDCA}"/>
                </a:ext>
              </a:extLst>
            </p:cNvPr>
            <p:cNvSpPr>
              <a:spLocks/>
            </p:cNvSpPr>
            <p:nvPr/>
          </p:nvSpPr>
          <p:spPr>
            <a:xfrm>
              <a:off x="6999914" y="3713011"/>
              <a:ext cx="44352" cy="30858"/>
            </a:xfrm>
            <a:custGeom>
              <a:avLst/>
              <a:gdLst/>
              <a:ahLst/>
              <a:cxnLst/>
              <a:rect l="0" t="0" r="0" b="0"/>
              <a:pathLst>
                <a:path w="62371" h="43394">
                  <a:moveTo>
                    <a:pt x="34107" y="33718"/>
                  </a:moveTo>
                  <a:lnTo>
                    <a:pt x="5699" y="43394"/>
                  </a:lnTo>
                  <a:lnTo>
                    <a:pt x="0" y="26269"/>
                  </a:lnTo>
                  <a:lnTo>
                    <a:pt x="22215" y="16847"/>
                  </a:lnTo>
                  <a:lnTo>
                    <a:pt x="36301" y="14325"/>
                  </a:lnTo>
                  <a:lnTo>
                    <a:pt x="62371" y="0"/>
                  </a:lnTo>
                  <a:lnTo>
                    <a:pt x="62371" y="22415"/>
                  </a:lnTo>
                  <a:lnTo>
                    <a:pt x="34107" y="33718"/>
                  </a:lnTo>
                  <a:close/>
                </a:path>
              </a:pathLst>
            </a:custGeom>
            <a:solidFill>
              <a:srgbClr val="E6EBE2"/>
            </a:solidFill>
            <a:ln w="4403">
              <a:solidFill>
                <a:srgbClr val="B6C3B3"/>
              </a:solidFill>
              <a:prstDash val="solid"/>
            </a:ln>
          </p:spPr>
          <p:txBody>
            <a:bodyPr/>
            <a:p/>
          </p:txBody>
        </p:sp>
        <p:sp>
          <p:nvSpPr>
            <p:cNvPr id="26" name="land-10">
              <a:extLst>
                <a:ext uri="{FF2B5EF4-FFF2-40B4-BE49-F238E27FC236}">
                  <a16:creationId xmlns:a16="http://schemas.microsoft.com/office/drawing/2014/main" id="{01301A8B-DB80-459F-AF36-721C5A2B73E1}"/>
                </a:ext>
              </a:extLst>
            </p:cNvPr>
            <p:cNvSpPr>
              <a:spLocks/>
            </p:cNvSpPr>
            <p:nvPr/>
          </p:nvSpPr>
          <p:spPr>
            <a:xfrm>
              <a:off x="6639041" y="3707287"/>
              <a:ext cx="21016" cy="23056"/>
            </a:xfrm>
            <a:custGeom>
              <a:avLst/>
              <a:gdLst/>
              <a:ahLst/>
              <a:cxnLst/>
              <a:rect l="0" t="0" r="0" b="0"/>
              <a:pathLst>
                <a:path w="29553" h="32423">
                  <a:moveTo>
                    <a:pt x="29553" y="26383"/>
                  </a:moveTo>
                  <a:lnTo>
                    <a:pt x="14898" y="32423"/>
                  </a:lnTo>
                  <a:lnTo>
                    <a:pt x="0" y="12315"/>
                  </a:lnTo>
                  <a:lnTo>
                    <a:pt x="1635" y="0"/>
                  </a:lnTo>
                  <a:lnTo>
                    <a:pt x="29553" y="26383"/>
                  </a:lnTo>
                  <a:close/>
                </a:path>
              </a:pathLst>
            </a:custGeom>
            <a:solidFill>
              <a:srgbClr val="E6EBE2"/>
            </a:solidFill>
            <a:ln w="4403">
              <a:solidFill>
                <a:srgbClr val="B6C3B3"/>
              </a:solidFill>
              <a:prstDash val="solid"/>
            </a:ln>
          </p:spPr>
          <p:txBody>
            <a:bodyPr/>
            <a:p/>
          </p:txBody>
        </p:sp>
        <p:sp>
          <p:nvSpPr>
            <p:cNvPr id="27" name="land-11">
              <a:extLst>
                <a:ext uri="{FF2B5EF4-FFF2-40B4-BE49-F238E27FC236}">
                  <a16:creationId xmlns:a16="http://schemas.microsoft.com/office/drawing/2014/main" id="{6933E20B-AB21-4D41-BA17-FA8F01250BA6}"/>
                </a:ext>
              </a:extLst>
            </p:cNvPr>
            <p:cNvSpPr>
              <a:spLocks/>
            </p:cNvSpPr>
            <p:nvPr/>
          </p:nvSpPr>
          <p:spPr>
            <a:xfrm>
              <a:off x="6621629" y="3665964"/>
              <a:ext cx="20258" cy="36365"/>
            </a:xfrm>
            <a:custGeom>
              <a:avLst/>
              <a:gdLst/>
              <a:ahLst/>
              <a:cxnLst/>
              <a:rect l="0" t="0" r="0" b="0"/>
              <a:pathLst>
                <a:path w="28488" h="51138">
                  <a:moveTo>
                    <a:pt x="21273" y="14118"/>
                  </a:moveTo>
                  <a:lnTo>
                    <a:pt x="28488" y="51138"/>
                  </a:lnTo>
                  <a:lnTo>
                    <a:pt x="16539" y="45378"/>
                  </a:lnTo>
                  <a:lnTo>
                    <a:pt x="7291" y="47867"/>
                  </a:lnTo>
                  <a:lnTo>
                    <a:pt x="921" y="35187"/>
                  </a:lnTo>
                  <a:lnTo>
                    <a:pt x="0" y="0"/>
                  </a:lnTo>
                  <a:lnTo>
                    <a:pt x="21273" y="14118"/>
                  </a:lnTo>
                  <a:close/>
                </a:path>
              </a:pathLst>
            </a:custGeom>
            <a:solidFill>
              <a:srgbClr val="E6EBE2"/>
            </a:solidFill>
            <a:ln w="4403">
              <a:solidFill>
                <a:srgbClr val="B6C3B3"/>
              </a:solidFill>
              <a:prstDash val="solid"/>
            </a:ln>
          </p:spPr>
          <p:txBody>
            <a:bodyPr/>
            <a:p/>
          </p:txBody>
        </p:sp>
        <p:sp>
          <p:nvSpPr>
            <p:cNvPr id="28" name="land-12">
              <a:extLst>
                <a:ext uri="{FF2B5EF4-FFF2-40B4-BE49-F238E27FC236}">
                  <a16:creationId xmlns:a16="http://schemas.microsoft.com/office/drawing/2014/main" id="{317E5BC5-80FC-4723-B24C-1EE4C1DBDE57}"/>
                </a:ext>
              </a:extLst>
            </p:cNvPr>
            <p:cNvSpPr>
              <a:spLocks/>
            </p:cNvSpPr>
            <p:nvPr/>
          </p:nvSpPr>
          <p:spPr>
            <a:xfrm>
              <a:off x="2721883" y="3581515"/>
              <a:ext cx="228290" cy="442859"/>
            </a:xfrm>
            <a:custGeom>
              <a:avLst/>
              <a:gdLst/>
              <a:ahLst/>
              <a:cxnLst/>
              <a:rect l="0" t="0" r="0" b="0"/>
              <a:pathLst>
                <a:path w="321033" h="622771">
                  <a:moveTo>
                    <a:pt x="302363" y="69584"/>
                  </a:moveTo>
                  <a:lnTo>
                    <a:pt x="309516" y="124832"/>
                  </a:lnTo>
                  <a:lnTo>
                    <a:pt x="321033" y="146312"/>
                  </a:lnTo>
                  <a:lnTo>
                    <a:pt x="316614" y="168335"/>
                  </a:lnTo>
                  <a:lnTo>
                    <a:pt x="308754" y="181846"/>
                  </a:lnTo>
                  <a:lnTo>
                    <a:pt x="293655" y="154934"/>
                  </a:lnTo>
                  <a:lnTo>
                    <a:pt x="285299" y="168525"/>
                  </a:lnTo>
                  <a:lnTo>
                    <a:pt x="293777" y="202547"/>
                  </a:lnTo>
                  <a:lnTo>
                    <a:pt x="289831" y="222019"/>
                  </a:lnTo>
                  <a:lnTo>
                    <a:pt x="277565" y="232628"/>
                  </a:lnTo>
                  <a:lnTo>
                    <a:pt x="274765" y="271527"/>
                  </a:lnTo>
                  <a:lnTo>
                    <a:pt x="257259" y="325061"/>
                  </a:lnTo>
                  <a:lnTo>
                    <a:pt x="235334" y="388349"/>
                  </a:lnTo>
                  <a:lnTo>
                    <a:pt x="207873" y="475358"/>
                  </a:lnTo>
                  <a:lnTo>
                    <a:pt x="190848" y="539213"/>
                  </a:lnTo>
                  <a:lnTo>
                    <a:pt x="170758" y="592470"/>
                  </a:lnTo>
                  <a:lnTo>
                    <a:pt x="134608" y="603347"/>
                  </a:lnTo>
                  <a:lnTo>
                    <a:pt x="95804" y="622771"/>
                  </a:lnTo>
                  <a:lnTo>
                    <a:pt x="70204" y="611045"/>
                  </a:lnTo>
                  <a:lnTo>
                    <a:pt x="34917" y="594616"/>
                  </a:lnTo>
                  <a:lnTo>
                    <a:pt x="22651" y="570383"/>
                  </a:lnTo>
                  <a:lnTo>
                    <a:pt x="19718" y="529668"/>
                  </a:lnTo>
                  <a:lnTo>
                    <a:pt x="4066" y="493057"/>
                  </a:lnTo>
                  <a:lnTo>
                    <a:pt x="0" y="460015"/>
                  </a:lnTo>
                  <a:lnTo>
                    <a:pt x="7961" y="426907"/>
                  </a:lnTo>
                  <a:lnTo>
                    <a:pt x="28426" y="418954"/>
                  </a:lnTo>
                  <a:lnTo>
                    <a:pt x="28545" y="403668"/>
                  </a:lnTo>
                  <a:lnTo>
                    <a:pt x="49790" y="368854"/>
                  </a:lnTo>
                  <a:lnTo>
                    <a:pt x="53794" y="339604"/>
                  </a:lnTo>
                  <a:lnTo>
                    <a:pt x="43483" y="317861"/>
                  </a:lnTo>
                  <a:lnTo>
                    <a:pt x="35062" y="288901"/>
                  </a:lnTo>
                  <a:lnTo>
                    <a:pt x="31510" y="246584"/>
                  </a:lnTo>
                  <a:lnTo>
                    <a:pt x="47041" y="220892"/>
                  </a:lnTo>
                  <a:lnTo>
                    <a:pt x="52999" y="191764"/>
                  </a:lnTo>
                  <a:lnTo>
                    <a:pt x="75154" y="190071"/>
                  </a:lnTo>
                  <a:lnTo>
                    <a:pt x="99948" y="180657"/>
                  </a:lnTo>
                  <a:lnTo>
                    <a:pt x="116406" y="172348"/>
                  </a:lnTo>
                  <a:lnTo>
                    <a:pt x="135931" y="171731"/>
                  </a:lnTo>
                  <a:lnTo>
                    <a:pt x="161264" y="145562"/>
                  </a:lnTo>
                  <a:lnTo>
                    <a:pt x="197844" y="117279"/>
                  </a:lnTo>
                  <a:lnTo>
                    <a:pt x="211183" y="94175"/>
                  </a:lnTo>
                  <a:lnTo>
                    <a:pt x="205131" y="74549"/>
                  </a:lnTo>
                  <a:lnTo>
                    <a:pt x="224012" y="80069"/>
                  </a:lnTo>
                  <a:lnTo>
                    <a:pt x="248514" y="48157"/>
                  </a:lnTo>
                  <a:lnTo>
                    <a:pt x="249334" y="20542"/>
                  </a:lnTo>
                  <a:lnTo>
                    <a:pt x="264054" y="0"/>
                  </a:lnTo>
                  <a:lnTo>
                    <a:pt x="279561" y="19714"/>
                  </a:lnTo>
                  <a:lnTo>
                    <a:pt x="291361" y="39253"/>
                  </a:lnTo>
                  <a:lnTo>
                    <a:pt x="302363" y="69584"/>
                  </a:lnTo>
                  <a:close/>
                </a:path>
              </a:pathLst>
            </a:custGeom>
            <a:solidFill>
              <a:srgbClr val="E6EBE2"/>
            </a:solidFill>
            <a:ln w="4403">
              <a:solidFill>
                <a:srgbClr val="B6C3B3"/>
              </a:solidFill>
              <a:prstDash val="solid"/>
            </a:ln>
          </p:spPr>
          <p:txBody>
            <a:bodyPr/>
            <a:p/>
          </p:txBody>
        </p:sp>
        <p:sp>
          <p:nvSpPr>
            <p:cNvPr id="29" name="land-13">
              <a:extLst>
                <a:ext uri="{FF2B5EF4-FFF2-40B4-BE49-F238E27FC236}">
                  <a16:creationId xmlns:a16="http://schemas.microsoft.com/office/drawing/2014/main" id="{60E21DE1-E916-45A9-AF72-BC2A93DBB9A7}"/>
                </a:ext>
              </a:extLst>
            </p:cNvPr>
            <p:cNvSpPr>
              <a:spLocks/>
            </p:cNvSpPr>
            <p:nvPr/>
          </p:nvSpPr>
          <p:spPr>
            <a:xfrm>
              <a:off x="4937185" y="3536697"/>
              <a:ext cx="1271642" cy="926404"/>
            </a:xfrm>
            <a:custGeom>
              <a:avLst/>
              <a:gdLst/>
              <a:ahLst/>
              <a:cxnLst/>
              <a:rect l="0" t="0" r="0" b="0"/>
              <a:pathLst>
                <a:path w="1788246" h="1302755">
                  <a:moveTo>
                    <a:pt x="1343406" y="142157"/>
                  </a:moveTo>
                  <a:lnTo>
                    <a:pt x="1359421" y="178191"/>
                  </a:lnTo>
                  <a:lnTo>
                    <a:pt x="1387941" y="160872"/>
                  </a:lnTo>
                  <a:lnTo>
                    <a:pt x="1402662" y="180311"/>
                  </a:lnTo>
                  <a:lnTo>
                    <a:pt x="1423990" y="198245"/>
                  </a:lnTo>
                  <a:lnTo>
                    <a:pt x="1419424" y="218600"/>
                  </a:lnTo>
                  <a:lnTo>
                    <a:pt x="1428903" y="257978"/>
                  </a:lnTo>
                  <a:lnTo>
                    <a:pt x="1435650" y="280905"/>
                  </a:lnTo>
                  <a:lnTo>
                    <a:pt x="1446845" y="286509"/>
                  </a:lnTo>
                  <a:lnTo>
                    <a:pt x="1458909" y="325761"/>
                  </a:lnTo>
                  <a:lnTo>
                    <a:pt x="1454614" y="349569"/>
                  </a:lnTo>
                  <a:lnTo>
                    <a:pt x="1469007" y="380715"/>
                  </a:lnTo>
                  <a:lnTo>
                    <a:pt x="1517173" y="404708"/>
                  </a:lnTo>
                  <a:lnTo>
                    <a:pt x="1548578" y="426532"/>
                  </a:lnTo>
                  <a:lnTo>
                    <a:pt x="1578396" y="446521"/>
                  </a:lnTo>
                  <a:lnTo>
                    <a:pt x="1572575" y="457647"/>
                  </a:lnTo>
                  <a:lnTo>
                    <a:pt x="1597998" y="486443"/>
                  </a:lnTo>
                  <a:lnTo>
                    <a:pt x="1615286" y="536133"/>
                  </a:lnTo>
                  <a:lnTo>
                    <a:pt x="1633023" y="526042"/>
                  </a:lnTo>
                  <a:lnTo>
                    <a:pt x="1651050" y="545944"/>
                  </a:lnTo>
                  <a:lnTo>
                    <a:pt x="1661910" y="538884"/>
                  </a:lnTo>
                  <a:lnTo>
                    <a:pt x="1669569" y="587555"/>
                  </a:lnTo>
                  <a:lnTo>
                    <a:pt x="1701111" y="615754"/>
                  </a:lnTo>
                  <a:lnTo>
                    <a:pt x="1721752" y="633280"/>
                  </a:lnTo>
                  <a:lnTo>
                    <a:pt x="1756497" y="670461"/>
                  </a:lnTo>
                  <a:lnTo>
                    <a:pt x="1768986" y="707368"/>
                  </a:lnTo>
                  <a:lnTo>
                    <a:pt x="1770132" y="733552"/>
                  </a:lnTo>
                  <a:lnTo>
                    <a:pt x="1767063" y="761978"/>
                  </a:lnTo>
                  <a:lnTo>
                    <a:pt x="1788246" y="801003"/>
                  </a:lnTo>
                  <a:lnTo>
                    <a:pt x="1785697" y="841646"/>
                  </a:lnTo>
                  <a:lnTo>
                    <a:pt x="1778006" y="862915"/>
                  </a:lnTo>
                  <a:lnTo>
                    <a:pt x="1766011" y="903881"/>
                  </a:lnTo>
                  <a:lnTo>
                    <a:pt x="1766916" y="930214"/>
                  </a:lnTo>
                  <a:lnTo>
                    <a:pt x="1758114" y="963132"/>
                  </a:lnTo>
                  <a:lnTo>
                    <a:pt x="1738486" y="1004903"/>
                  </a:lnTo>
                  <a:lnTo>
                    <a:pt x="1705554" y="1027467"/>
                  </a:lnTo>
                  <a:lnTo>
                    <a:pt x="1689323" y="1063044"/>
                  </a:lnTo>
                  <a:lnTo>
                    <a:pt x="1674503" y="1085746"/>
                  </a:lnTo>
                  <a:lnTo>
                    <a:pt x="1661327" y="1125383"/>
                  </a:lnTo>
                  <a:lnTo>
                    <a:pt x="1644173" y="1148272"/>
                  </a:lnTo>
                  <a:lnTo>
                    <a:pt x="1632927" y="1182639"/>
                  </a:lnTo>
                  <a:lnTo>
                    <a:pt x="1627189" y="1214273"/>
                  </a:lnTo>
                  <a:lnTo>
                    <a:pt x="1629463" y="1228795"/>
                  </a:lnTo>
                  <a:lnTo>
                    <a:pt x="1603975" y="1244750"/>
                  </a:lnTo>
                  <a:lnTo>
                    <a:pt x="1554224" y="1246420"/>
                  </a:lnTo>
                  <a:lnTo>
                    <a:pt x="1513202" y="1265256"/>
                  </a:lnTo>
                  <a:lnTo>
                    <a:pt x="1492772" y="1283044"/>
                  </a:lnTo>
                  <a:lnTo>
                    <a:pt x="1465915" y="1302755"/>
                  </a:lnTo>
                  <a:lnTo>
                    <a:pt x="1429099" y="1282457"/>
                  </a:lnTo>
                  <a:lnTo>
                    <a:pt x="1401865" y="1274360"/>
                  </a:lnTo>
                  <a:lnTo>
                    <a:pt x="1408765" y="1250422"/>
                  </a:lnTo>
                  <a:lnTo>
                    <a:pt x="1384472" y="1259108"/>
                  </a:lnTo>
                  <a:lnTo>
                    <a:pt x="1345547" y="1292363"/>
                  </a:lnTo>
                  <a:lnTo>
                    <a:pt x="1307118" y="1279909"/>
                  </a:lnTo>
                  <a:lnTo>
                    <a:pt x="1281910" y="1272642"/>
                  </a:lnTo>
                  <a:lnTo>
                    <a:pt x="1256496" y="1269357"/>
                  </a:lnTo>
                  <a:lnTo>
                    <a:pt x="1213468" y="1256077"/>
                  </a:lnTo>
                  <a:lnTo>
                    <a:pt x="1184735" y="1227770"/>
                  </a:lnTo>
                  <a:lnTo>
                    <a:pt x="1176486" y="1192898"/>
                  </a:lnTo>
                  <a:lnTo>
                    <a:pt x="1166154" y="1169695"/>
                  </a:lnTo>
                  <a:lnTo>
                    <a:pt x="1144314" y="1151068"/>
                  </a:lnTo>
                  <a:lnTo>
                    <a:pt x="1101551" y="1145536"/>
                  </a:lnTo>
                  <a:lnTo>
                    <a:pt x="1116162" y="1123261"/>
                  </a:lnTo>
                  <a:lnTo>
                    <a:pt x="1105410" y="1089161"/>
                  </a:lnTo>
                  <a:lnTo>
                    <a:pt x="1083701" y="1120945"/>
                  </a:lnTo>
                  <a:lnTo>
                    <a:pt x="1044151" y="1129382"/>
                  </a:lnTo>
                  <a:lnTo>
                    <a:pt x="1067396" y="1103977"/>
                  </a:lnTo>
                  <a:lnTo>
                    <a:pt x="1074131" y="1077475"/>
                  </a:lnTo>
                  <a:lnTo>
                    <a:pt x="1091299" y="1054982"/>
                  </a:lnTo>
                  <a:lnTo>
                    <a:pt x="1087753" y="1020977"/>
                  </a:lnTo>
                  <a:lnTo>
                    <a:pt x="1051593" y="1060139"/>
                  </a:lnTo>
                  <a:lnTo>
                    <a:pt x="1023822" y="1075845"/>
                  </a:lnTo>
                  <a:lnTo>
                    <a:pt x="1006797" y="1112371"/>
                  </a:lnTo>
                  <a:lnTo>
                    <a:pt x="972089" y="1093475"/>
                  </a:lnTo>
                  <a:lnTo>
                    <a:pt x="973467" y="1069103"/>
                  </a:lnTo>
                  <a:lnTo>
                    <a:pt x="945650" y="1035799"/>
                  </a:lnTo>
                  <a:lnTo>
                    <a:pt x="922202" y="1018591"/>
                  </a:lnTo>
                  <a:lnTo>
                    <a:pt x="930559" y="1007990"/>
                  </a:lnTo>
                  <a:lnTo>
                    <a:pt x="873524" y="980160"/>
                  </a:lnTo>
                  <a:lnTo>
                    <a:pt x="842289" y="978848"/>
                  </a:lnTo>
                  <a:lnTo>
                    <a:pt x="799539" y="956490"/>
                  </a:lnTo>
                  <a:lnTo>
                    <a:pt x="719950" y="960835"/>
                  </a:lnTo>
                  <a:lnTo>
                    <a:pt x="662393" y="977279"/>
                  </a:lnTo>
                  <a:lnTo>
                    <a:pt x="611806" y="992607"/>
                  </a:lnTo>
                  <a:lnTo>
                    <a:pt x="569394" y="989563"/>
                  </a:lnTo>
                  <a:lnTo>
                    <a:pt x="522273" y="1013112"/>
                  </a:lnTo>
                  <a:lnTo>
                    <a:pt x="483736" y="1023708"/>
                  </a:lnTo>
                  <a:lnTo>
                    <a:pt x="475170" y="1047789"/>
                  </a:lnTo>
                  <a:lnTo>
                    <a:pt x="458756" y="1066449"/>
                  </a:lnTo>
                  <a:lnTo>
                    <a:pt x="421034" y="1067565"/>
                  </a:lnTo>
                  <a:lnTo>
                    <a:pt x="393121" y="1071649"/>
                  </a:lnTo>
                  <a:lnTo>
                    <a:pt x="353833" y="1063274"/>
                  </a:lnTo>
                  <a:lnTo>
                    <a:pt x="321876" y="1068286"/>
                  </a:lnTo>
                  <a:lnTo>
                    <a:pt x="291358" y="1070394"/>
                  </a:lnTo>
                  <a:lnTo>
                    <a:pt x="264920" y="1094885"/>
                  </a:lnTo>
                  <a:lnTo>
                    <a:pt x="251960" y="1092808"/>
                  </a:lnTo>
                  <a:lnTo>
                    <a:pt x="229663" y="1105790"/>
                  </a:lnTo>
                  <a:lnTo>
                    <a:pt x="208294" y="1120390"/>
                  </a:lnTo>
                  <a:lnTo>
                    <a:pt x="175869" y="1118586"/>
                  </a:lnTo>
                  <a:lnTo>
                    <a:pt x="146070" y="1118569"/>
                  </a:lnTo>
                  <a:lnTo>
                    <a:pt x="98919" y="1089239"/>
                  </a:lnTo>
                  <a:lnTo>
                    <a:pt x="75025" y="1080518"/>
                  </a:lnTo>
                  <a:lnTo>
                    <a:pt x="75995" y="1054199"/>
                  </a:lnTo>
                  <a:lnTo>
                    <a:pt x="98064" y="1047946"/>
                  </a:lnTo>
                  <a:lnTo>
                    <a:pt x="105601" y="1037489"/>
                  </a:lnTo>
                  <a:lnTo>
                    <a:pt x="104032" y="1020993"/>
                  </a:lnTo>
                  <a:lnTo>
                    <a:pt x="109467" y="989062"/>
                  </a:lnTo>
                  <a:lnTo>
                    <a:pt x="104487" y="961846"/>
                  </a:lnTo>
                  <a:lnTo>
                    <a:pt x="80986" y="915424"/>
                  </a:lnTo>
                  <a:lnTo>
                    <a:pt x="73702" y="889207"/>
                  </a:lnTo>
                  <a:lnTo>
                    <a:pt x="75613" y="863048"/>
                  </a:lnTo>
                  <a:lnTo>
                    <a:pt x="57919" y="833157"/>
                  </a:lnTo>
                  <a:lnTo>
                    <a:pt x="56787" y="819663"/>
                  </a:lnTo>
                  <a:lnTo>
                    <a:pt x="37099" y="801371"/>
                  </a:lnTo>
                  <a:lnTo>
                    <a:pt x="31556" y="765398"/>
                  </a:lnTo>
                  <a:lnTo>
                    <a:pt x="6158" y="729043"/>
                  </a:lnTo>
                  <a:lnTo>
                    <a:pt x="0" y="709452"/>
                  </a:lnTo>
                  <a:lnTo>
                    <a:pt x="19532" y="729313"/>
                  </a:lnTo>
                  <a:lnTo>
                    <a:pt x="4534" y="686707"/>
                  </a:lnTo>
                  <a:lnTo>
                    <a:pt x="26579" y="700023"/>
                  </a:lnTo>
                  <a:lnTo>
                    <a:pt x="39734" y="717806"/>
                  </a:lnTo>
                  <a:lnTo>
                    <a:pt x="38992" y="694285"/>
                  </a:lnTo>
                  <a:lnTo>
                    <a:pt x="16993" y="658127"/>
                  </a:lnTo>
                  <a:lnTo>
                    <a:pt x="12730" y="643662"/>
                  </a:lnTo>
                  <a:lnTo>
                    <a:pt x="2426" y="629922"/>
                  </a:lnTo>
                  <a:lnTo>
                    <a:pt x="7249" y="603358"/>
                  </a:lnTo>
                  <a:lnTo>
                    <a:pt x="16359" y="592055"/>
                  </a:lnTo>
                  <a:lnTo>
                    <a:pt x="22423" y="569082"/>
                  </a:lnTo>
                  <a:lnTo>
                    <a:pt x="17673" y="542239"/>
                  </a:lnTo>
                  <a:lnTo>
                    <a:pt x="36040" y="509192"/>
                  </a:lnTo>
                  <a:lnTo>
                    <a:pt x="39398" y="544169"/>
                  </a:lnTo>
                  <a:lnTo>
                    <a:pt x="58177" y="512574"/>
                  </a:lnTo>
                  <a:lnTo>
                    <a:pt x="94288" y="497220"/>
                  </a:lnTo>
                  <a:lnTo>
                    <a:pt x="115944" y="477634"/>
                  </a:lnTo>
                  <a:lnTo>
                    <a:pt x="149915" y="460779"/>
                  </a:lnTo>
                  <a:lnTo>
                    <a:pt x="170126" y="457193"/>
                  </a:lnTo>
                  <a:lnTo>
                    <a:pt x="182360" y="462856"/>
                  </a:lnTo>
                  <a:lnTo>
                    <a:pt x="217387" y="445740"/>
                  </a:lnTo>
                  <a:lnTo>
                    <a:pt x="244348" y="440648"/>
                  </a:lnTo>
                  <a:lnTo>
                    <a:pt x="251092" y="430585"/>
                  </a:lnTo>
                  <a:lnTo>
                    <a:pt x="262857" y="426394"/>
                  </a:lnTo>
                  <a:lnTo>
                    <a:pt x="287426" y="427476"/>
                  </a:lnTo>
                  <a:lnTo>
                    <a:pt x="334143" y="414030"/>
                  </a:lnTo>
                  <a:lnTo>
                    <a:pt x="358307" y="393642"/>
                  </a:lnTo>
                  <a:lnTo>
                    <a:pt x="369654" y="369098"/>
                  </a:lnTo>
                  <a:lnTo>
                    <a:pt x="395726" y="345784"/>
                  </a:lnTo>
                  <a:lnTo>
                    <a:pt x="397724" y="327458"/>
                  </a:lnTo>
                  <a:lnTo>
                    <a:pt x="398886" y="302492"/>
                  </a:lnTo>
                  <a:lnTo>
                    <a:pt x="429992" y="263467"/>
                  </a:lnTo>
                  <a:lnTo>
                    <a:pt x="448715" y="303116"/>
                  </a:lnTo>
                  <a:lnTo>
                    <a:pt x="467631" y="293953"/>
                  </a:lnTo>
                  <a:lnTo>
                    <a:pt x="451803" y="272253"/>
                  </a:lnTo>
                  <a:lnTo>
                    <a:pt x="465752" y="249971"/>
                  </a:lnTo>
                  <a:lnTo>
                    <a:pt x="485364" y="259919"/>
                  </a:lnTo>
                  <a:lnTo>
                    <a:pt x="490762" y="224976"/>
                  </a:lnTo>
                  <a:lnTo>
                    <a:pt x="515051" y="202384"/>
                  </a:lnTo>
                  <a:lnTo>
                    <a:pt x="525769" y="184257"/>
                  </a:lnTo>
                  <a:lnTo>
                    <a:pt x="548119" y="176435"/>
                  </a:lnTo>
                  <a:lnTo>
                    <a:pt x="548817" y="163603"/>
                  </a:lnTo>
                  <a:lnTo>
                    <a:pt x="568346" y="168962"/>
                  </a:lnTo>
                  <a:lnTo>
                    <a:pt x="569132" y="157419"/>
                  </a:lnTo>
                  <a:lnTo>
                    <a:pt x="588680" y="150843"/>
                  </a:lnTo>
                  <a:lnTo>
                    <a:pt x="610161" y="144651"/>
                  </a:lnTo>
                  <a:lnTo>
                    <a:pt x="642999" y="165727"/>
                  </a:lnTo>
                  <a:lnTo>
                    <a:pt x="667672" y="192926"/>
                  </a:lnTo>
                  <a:lnTo>
                    <a:pt x="695491" y="193240"/>
                  </a:lnTo>
                  <a:lnTo>
                    <a:pt x="723758" y="197547"/>
                  </a:lnTo>
                  <a:lnTo>
                    <a:pt x="714340" y="172329"/>
                  </a:lnTo>
                  <a:lnTo>
                    <a:pt x="735634" y="135500"/>
                  </a:lnTo>
                  <a:lnTo>
                    <a:pt x="755673" y="123499"/>
                  </a:lnTo>
                  <a:lnTo>
                    <a:pt x="748740" y="112024"/>
                  </a:lnTo>
                  <a:lnTo>
                    <a:pt x="768045" y="85796"/>
                  </a:lnTo>
                  <a:lnTo>
                    <a:pt x="794968" y="69596"/>
                  </a:lnTo>
                  <a:lnTo>
                    <a:pt x="817708" y="75052"/>
                  </a:lnTo>
                  <a:lnTo>
                    <a:pt x="855056" y="66400"/>
                  </a:lnTo>
                  <a:lnTo>
                    <a:pt x="854252" y="42931"/>
                  </a:lnTo>
                  <a:lnTo>
                    <a:pt x="821691" y="27811"/>
                  </a:lnTo>
                  <a:lnTo>
                    <a:pt x="845362" y="21140"/>
                  </a:lnTo>
                  <a:lnTo>
                    <a:pt x="874803" y="32525"/>
                  </a:lnTo>
                  <a:lnTo>
                    <a:pt x="898419" y="51358"/>
                  </a:lnTo>
                  <a:lnTo>
                    <a:pt x="935855" y="63108"/>
                  </a:lnTo>
                  <a:lnTo>
                    <a:pt x="948549" y="58461"/>
                  </a:lnTo>
                  <a:lnTo>
                    <a:pt x="976101" y="72579"/>
                  </a:lnTo>
                  <a:lnTo>
                    <a:pt x="1002069" y="59430"/>
                  </a:lnTo>
                  <a:lnTo>
                    <a:pt x="1018769" y="63428"/>
                  </a:lnTo>
                  <a:lnTo>
                    <a:pt x="1029174" y="54605"/>
                  </a:lnTo>
                  <a:lnTo>
                    <a:pt x="1049583" y="77326"/>
                  </a:lnTo>
                  <a:lnTo>
                    <a:pt x="1037737" y="101907"/>
                  </a:lnTo>
                  <a:lnTo>
                    <a:pt x="1020859" y="120461"/>
                  </a:lnTo>
                  <a:lnTo>
                    <a:pt x="1005584" y="121989"/>
                  </a:lnTo>
                  <a:lnTo>
                    <a:pt x="1010734" y="140348"/>
                  </a:lnTo>
                  <a:lnTo>
                    <a:pt x="997675" y="163297"/>
                  </a:lnTo>
                  <a:lnTo>
                    <a:pt x="981888" y="185866"/>
                  </a:lnTo>
                  <a:lnTo>
                    <a:pt x="985067" y="198831"/>
                  </a:lnTo>
                  <a:lnTo>
                    <a:pt x="1020404" y="224205"/>
                  </a:lnTo>
                  <a:lnTo>
                    <a:pt x="1054639" y="238924"/>
                  </a:lnTo>
                  <a:lnTo>
                    <a:pt x="1077535" y="254736"/>
                  </a:lnTo>
                  <a:lnTo>
                    <a:pt x="1109662" y="281947"/>
                  </a:lnTo>
                  <a:lnTo>
                    <a:pt x="1122194" y="281902"/>
                  </a:lnTo>
                  <a:lnTo>
                    <a:pt x="1145458" y="293661"/>
                  </a:lnTo>
                  <a:lnTo>
                    <a:pt x="1152216" y="307848"/>
                  </a:lnTo>
                  <a:lnTo>
                    <a:pt x="1194651" y="323426"/>
                  </a:lnTo>
                  <a:lnTo>
                    <a:pt x="1223998" y="307732"/>
                  </a:lnTo>
                  <a:lnTo>
                    <a:pt x="1232694" y="283070"/>
                  </a:lnTo>
                  <a:lnTo>
                    <a:pt x="1241717" y="262717"/>
                  </a:lnTo>
                  <a:lnTo>
                    <a:pt x="1247235" y="237535"/>
                  </a:lnTo>
                  <a:lnTo>
                    <a:pt x="1260746" y="200998"/>
                  </a:lnTo>
                  <a:lnTo>
                    <a:pt x="1254576" y="178789"/>
                  </a:lnTo>
                  <a:lnTo>
                    <a:pt x="1257782" y="165428"/>
                  </a:lnTo>
                  <a:lnTo>
                    <a:pt x="1252642" y="139145"/>
                  </a:lnTo>
                  <a:lnTo>
                    <a:pt x="1258467" y="104546"/>
                  </a:lnTo>
                  <a:lnTo>
                    <a:pt x="1266991" y="95217"/>
                  </a:lnTo>
                  <a:lnTo>
                    <a:pt x="1260070" y="79882"/>
                  </a:lnTo>
                  <a:lnTo>
                    <a:pt x="1270811" y="55535"/>
                  </a:lnTo>
                  <a:lnTo>
                    <a:pt x="1279250" y="30303"/>
                  </a:lnTo>
                  <a:lnTo>
                    <a:pt x="1280371" y="17201"/>
                  </a:lnTo>
                  <a:lnTo>
                    <a:pt x="1296887" y="0"/>
                  </a:lnTo>
                  <a:lnTo>
                    <a:pt x="1309424" y="22465"/>
                  </a:lnTo>
                  <a:lnTo>
                    <a:pt x="1312511" y="51275"/>
                  </a:lnTo>
                  <a:lnTo>
                    <a:pt x="1323587" y="56829"/>
                  </a:lnTo>
                  <a:lnTo>
                    <a:pt x="1325485" y="76118"/>
                  </a:lnTo>
                  <a:lnTo>
                    <a:pt x="1341642" y="99480"/>
                  </a:lnTo>
                  <a:lnTo>
                    <a:pt x="1344977" y="125475"/>
                  </a:lnTo>
                  <a:lnTo>
                    <a:pt x="1343406" y="142157"/>
                  </a:lnTo>
                  <a:close/>
                </a:path>
              </a:pathLst>
            </a:custGeom>
            <a:solidFill>
              <a:srgbClr val="E6EBE2"/>
            </a:solidFill>
            <a:ln w="4403">
              <a:solidFill>
                <a:srgbClr val="B6C3B3"/>
              </a:solidFill>
              <a:prstDash val="solid"/>
            </a:ln>
          </p:spPr>
          <p:txBody>
            <a:bodyPr/>
            <a:p/>
          </p:txBody>
        </p:sp>
        <p:sp>
          <p:nvSpPr>
            <p:cNvPr id="30" name="land-14">
              <a:extLst>
                <a:ext uri="{FF2B5EF4-FFF2-40B4-BE49-F238E27FC236}">
                  <a16:creationId xmlns:a16="http://schemas.microsoft.com/office/drawing/2014/main" id="{5EE8ED9B-BDAC-47A0-96C8-1C9F36952289}"/>
                </a:ext>
              </a:extLst>
            </p:cNvPr>
            <p:cNvSpPr>
              <a:spLocks/>
            </p:cNvSpPr>
            <p:nvPr/>
          </p:nvSpPr>
          <p:spPr>
            <a:xfrm>
              <a:off x="6453806" y="3521563"/>
              <a:ext cx="34101" cy="20300"/>
            </a:xfrm>
            <a:custGeom>
              <a:avLst/>
              <a:gdLst/>
              <a:ahLst/>
              <a:cxnLst/>
              <a:rect l="0" t="0" r="0" b="0"/>
              <a:pathLst>
                <a:path w="47955" h="28547">
                  <a:moveTo>
                    <a:pt x="35526" y="12765"/>
                  </a:moveTo>
                  <a:lnTo>
                    <a:pt x="47955" y="28547"/>
                  </a:lnTo>
                  <a:lnTo>
                    <a:pt x="16901" y="28255"/>
                  </a:lnTo>
                  <a:lnTo>
                    <a:pt x="0" y="0"/>
                  </a:lnTo>
                  <a:lnTo>
                    <a:pt x="26563" y="11111"/>
                  </a:lnTo>
                  <a:lnTo>
                    <a:pt x="35526" y="12765"/>
                  </a:lnTo>
                  <a:close/>
                </a:path>
              </a:pathLst>
            </a:custGeom>
            <a:solidFill>
              <a:srgbClr val="E6EBE2"/>
            </a:solidFill>
            <a:ln w="4403">
              <a:solidFill>
                <a:srgbClr val="B6C3B3"/>
              </a:solidFill>
              <a:prstDash val="solid"/>
            </a:ln>
          </p:spPr>
          <p:txBody>
            <a:bodyPr/>
            <a:p/>
          </p:txBody>
        </p:sp>
        <p:sp>
          <p:nvSpPr>
            <p:cNvPr id="31" name="land-15">
              <a:extLst>
                <a:ext uri="{FF2B5EF4-FFF2-40B4-BE49-F238E27FC236}">
                  <a16:creationId xmlns:a16="http://schemas.microsoft.com/office/drawing/2014/main" id="{398C3CF9-2B31-4818-B0D7-A5A5547A95B1}"/>
                </a:ext>
              </a:extLst>
            </p:cNvPr>
            <p:cNvSpPr>
              <a:spLocks/>
            </p:cNvSpPr>
            <p:nvPr/>
          </p:nvSpPr>
          <p:spPr>
            <a:xfrm>
              <a:off x="5115107" y="3494019"/>
              <a:ext cx="57139" cy="29304"/>
            </a:xfrm>
            <a:custGeom>
              <a:avLst/>
              <a:gdLst/>
              <a:ahLst/>
              <a:cxnLst/>
              <a:rect l="0" t="0" r="0" b="0"/>
              <a:pathLst>
                <a:path w="80352" h="41208">
                  <a:moveTo>
                    <a:pt x="77690" y="40332"/>
                  </a:moveTo>
                  <a:lnTo>
                    <a:pt x="58994" y="41208"/>
                  </a:lnTo>
                  <a:lnTo>
                    <a:pt x="0" y="9030"/>
                  </a:lnTo>
                  <a:lnTo>
                    <a:pt x="41450" y="0"/>
                  </a:lnTo>
                  <a:lnTo>
                    <a:pt x="64806" y="13988"/>
                  </a:lnTo>
                  <a:lnTo>
                    <a:pt x="80352" y="27937"/>
                  </a:lnTo>
                  <a:lnTo>
                    <a:pt x="77690" y="40332"/>
                  </a:lnTo>
                  <a:close/>
                </a:path>
              </a:pathLst>
            </a:custGeom>
            <a:solidFill>
              <a:srgbClr val="E6EBE2"/>
            </a:solidFill>
            <a:ln w="4403">
              <a:solidFill>
                <a:srgbClr val="B6C3B3"/>
              </a:solidFill>
              <a:prstDash val="solid"/>
            </a:ln>
          </p:spPr>
          <p:txBody>
            <a:bodyPr/>
            <a:p/>
          </p:txBody>
        </p:sp>
        <p:sp>
          <p:nvSpPr>
            <p:cNvPr id="32" name="land-16">
              <a:extLst>
                <a:ext uri="{FF2B5EF4-FFF2-40B4-BE49-F238E27FC236}">
                  <a16:creationId xmlns:a16="http://schemas.microsoft.com/office/drawing/2014/main" id="{D8379E1E-C6A9-4983-A328-E0432423784B}"/>
                </a:ext>
              </a:extLst>
            </p:cNvPr>
            <p:cNvSpPr>
              <a:spLocks/>
            </p:cNvSpPr>
            <p:nvPr/>
          </p:nvSpPr>
          <p:spPr>
            <a:xfrm>
              <a:off x="6400710" y="3490153"/>
              <a:ext cx="38317" cy="21301"/>
            </a:xfrm>
            <a:custGeom>
              <a:avLst/>
              <a:gdLst/>
              <a:ahLst/>
              <a:cxnLst/>
              <a:rect l="0" t="0" r="0" b="0"/>
              <a:pathLst>
                <a:path w="53883" h="29954">
                  <a:moveTo>
                    <a:pt x="53883" y="28932"/>
                  </a:moveTo>
                  <a:lnTo>
                    <a:pt x="36564" y="29954"/>
                  </a:lnTo>
                  <a:lnTo>
                    <a:pt x="9310" y="25308"/>
                  </a:lnTo>
                  <a:lnTo>
                    <a:pt x="0" y="18233"/>
                  </a:lnTo>
                  <a:lnTo>
                    <a:pt x="2798" y="0"/>
                  </a:lnTo>
                  <a:lnTo>
                    <a:pt x="32135" y="7226"/>
                  </a:lnTo>
                  <a:lnTo>
                    <a:pt x="46606" y="16864"/>
                  </a:lnTo>
                  <a:lnTo>
                    <a:pt x="53883" y="28932"/>
                  </a:lnTo>
                  <a:close/>
                </a:path>
              </a:pathLst>
            </a:custGeom>
            <a:solidFill>
              <a:srgbClr val="E6EBE2"/>
            </a:solidFill>
            <a:ln w="4403">
              <a:solidFill>
                <a:srgbClr val="B6C3B3"/>
              </a:solidFill>
              <a:prstDash val="solid"/>
            </a:ln>
          </p:spPr>
          <p:txBody>
            <a:bodyPr/>
            <a:p/>
          </p:txBody>
        </p:sp>
        <p:sp>
          <p:nvSpPr>
            <p:cNvPr id="33" name="land-17">
              <a:extLst>
                <a:ext uri="{FF2B5EF4-FFF2-40B4-BE49-F238E27FC236}">
                  <a16:creationId xmlns:a16="http://schemas.microsoft.com/office/drawing/2014/main" id="{61D85C65-297D-42FC-BEB4-BC21FE4E580B}"/>
                </a:ext>
              </a:extLst>
            </p:cNvPr>
            <p:cNvSpPr>
              <a:spLocks/>
            </p:cNvSpPr>
            <p:nvPr/>
          </p:nvSpPr>
          <p:spPr>
            <a:xfrm>
              <a:off x="6430422" y="3460012"/>
              <a:ext cx="34769" cy="47820"/>
            </a:xfrm>
            <a:custGeom>
              <a:avLst/>
              <a:gdLst/>
              <a:ahLst/>
              <a:cxnLst/>
              <a:rect l="0" t="0" r="0" b="0"/>
              <a:pathLst>
                <a:path w="48894" h="67247">
                  <a:moveTo>
                    <a:pt x="48894" y="58782"/>
                  </a:moveTo>
                  <a:lnTo>
                    <a:pt x="42201" y="67247"/>
                  </a:lnTo>
                  <a:lnTo>
                    <a:pt x="9257" y="27441"/>
                  </a:lnTo>
                  <a:lnTo>
                    <a:pt x="0" y="0"/>
                  </a:lnTo>
                  <a:lnTo>
                    <a:pt x="15114" y="0"/>
                  </a:lnTo>
                  <a:lnTo>
                    <a:pt x="31115" y="36739"/>
                  </a:lnTo>
                  <a:lnTo>
                    <a:pt x="48894" y="58782"/>
                  </a:lnTo>
                  <a:close/>
                </a:path>
              </a:pathLst>
            </a:custGeom>
            <a:solidFill>
              <a:srgbClr val="E6EBE2"/>
            </a:solidFill>
            <a:ln w="4403">
              <a:solidFill>
                <a:srgbClr val="B6C3B3"/>
              </a:solidFill>
              <a:prstDash val="solid"/>
            </a:ln>
          </p:spPr>
          <p:txBody>
            <a:bodyPr/>
            <a:p/>
          </p:txBody>
        </p:sp>
        <p:sp>
          <p:nvSpPr>
            <p:cNvPr id="34" name="land-18">
              <a:extLst>
                <a:ext uri="{FF2B5EF4-FFF2-40B4-BE49-F238E27FC236}">
                  <a16:creationId xmlns:a16="http://schemas.microsoft.com/office/drawing/2014/main" id="{8BBEA140-B257-485A-BB80-7AE83BCA13A2}"/>
                </a:ext>
              </a:extLst>
            </p:cNvPr>
            <p:cNvSpPr>
              <a:spLocks/>
            </p:cNvSpPr>
            <p:nvPr/>
          </p:nvSpPr>
          <p:spPr>
            <a:xfrm>
              <a:off x="5257100" y="3458489"/>
              <a:ext cx="122514" cy="68144"/>
            </a:xfrm>
            <a:custGeom>
              <a:avLst/>
              <a:gdLst/>
              <a:ahLst/>
              <a:cxnLst/>
              <a:rect l="0" t="0" r="0" b="0"/>
              <a:pathLst>
                <a:path w="172285" h="95827">
                  <a:moveTo>
                    <a:pt x="43381" y="85725"/>
                  </a:moveTo>
                  <a:lnTo>
                    <a:pt x="5334" y="95827"/>
                  </a:lnTo>
                  <a:lnTo>
                    <a:pt x="0" y="90317"/>
                  </a:lnTo>
                  <a:lnTo>
                    <a:pt x="4001" y="74703"/>
                  </a:lnTo>
                  <a:lnTo>
                    <a:pt x="23115" y="46690"/>
                  </a:lnTo>
                  <a:lnTo>
                    <a:pt x="67061" y="28447"/>
                  </a:lnTo>
                  <a:lnTo>
                    <a:pt x="72287" y="17614"/>
                  </a:lnTo>
                  <a:lnTo>
                    <a:pt x="110551" y="7290"/>
                  </a:lnTo>
                  <a:lnTo>
                    <a:pt x="141561" y="5736"/>
                  </a:lnTo>
                  <a:lnTo>
                    <a:pt x="155453" y="0"/>
                  </a:lnTo>
                  <a:lnTo>
                    <a:pt x="172285" y="5693"/>
                  </a:lnTo>
                  <a:lnTo>
                    <a:pt x="155931" y="18136"/>
                  </a:lnTo>
                  <a:lnTo>
                    <a:pt x="109609" y="38239"/>
                  </a:lnTo>
                  <a:lnTo>
                    <a:pt x="72388" y="51427"/>
                  </a:lnTo>
                  <a:lnTo>
                    <a:pt x="43381" y="85725"/>
                  </a:lnTo>
                  <a:close/>
                </a:path>
              </a:pathLst>
            </a:custGeom>
            <a:solidFill>
              <a:srgbClr val="E6EBE2"/>
            </a:solidFill>
            <a:ln w="4403">
              <a:solidFill>
                <a:srgbClr val="B6C3B3"/>
              </a:solidFill>
              <a:prstDash val="solid"/>
            </a:ln>
          </p:spPr>
          <p:txBody>
            <a:bodyPr/>
            <a:p/>
          </p:txBody>
        </p:sp>
        <p:sp>
          <p:nvSpPr>
            <p:cNvPr id="35" name="land-19">
              <a:extLst>
                <a:ext uri="{FF2B5EF4-FFF2-40B4-BE49-F238E27FC236}">
                  <a16:creationId xmlns:a16="http://schemas.microsoft.com/office/drawing/2014/main" id="{0FB411B4-56ED-44CC-8EAA-98F647C56F55}"/>
                </a:ext>
              </a:extLst>
            </p:cNvPr>
            <p:cNvSpPr>
              <a:spLocks/>
            </p:cNvSpPr>
            <p:nvPr/>
          </p:nvSpPr>
          <p:spPr>
            <a:xfrm>
              <a:off x="5044693" y="3452687"/>
              <a:ext cx="75430" cy="30868"/>
            </a:xfrm>
            <a:custGeom>
              <a:avLst/>
              <a:gdLst/>
              <a:ahLst/>
              <a:cxnLst/>
              <a:rect l="0" t="0" r="0" b="0"/>
              <a:pathLst>
                <a:path w="106074" h="43408">
                  <a:moveTo>
                    <a:pt x="51557" y="0"/>
                  </a:moveTo>
                  <a:lnTo>
                    <a:pt x="67585" y="12248"/>
                  </a:lnTo>
                  <a:lnTo>
                    <a:pt x="95048" y="8496"/>
                  </a:lnTo>
                  <a:lnTo>
                    <a:pt x="106074" y="28020"/>
                  </a:lnTo>
                  <a:lnTo>
                    <a:pt x="54685" y="37243"/>
                  </a:lnTo>
                  <a:lnTo>
                    <a:pt x="23896" y="43408"/>
                  </a:lnTo>
                  <a:lnTo>
                    <a:pt x="0" y="43043"/>
                  </a:lnTo>
                  <a:lnTo>
                    <a:pt x="15273" y="16601"/>
                  </a:lnTo>
                  <a:lnTo>
                    <a:pt x="39644" y="16240"/>
                  </a:lnTo>
                  <a:lnTo>
                    <a:pt x="51557" y="0"/>
                  </a:lnTo>
                  <a:close/>
                </a:path>
              </a:pathLst>
            </a:custGeom>
            <a:solidFill>
              <a:srgbClr val="E6EBE2"/>
            </a:solidFill>
            <a:ln w="4403">
              <a:solidFill>
                <a:srgbClr val="B6C3B3"/>
              </a:solidFill>
              <a:prstDash val="solid"/>
            </a:ln>
          </p:spPr>
          <p:txBody>
            <a:bodyPr/>
            <a:p/>
          </p:txBody>
        </p:sp>
        <p:sp>
          <p:nvSpPr>
            <p:cNvPr id="36" name="land-20">
              <a:extLst>
                <a:ext uri="{FF2B5EF4-FFF2-40B4-BE49-F238E27FC236}">
                  <a16:creationId xmlns:a16="http://schemas.microsoft.com/office/drawing/2014/main" id="{BFA38484-73E0-45DF-9DBB-2436B12C0B0C}"/>
                </a:ext>
              </a:extLst>
            </p:cNvPr>
            <p:cNvSpPr>
              <a:spLocks/>
            </p:cNvSpPr>
            <p:nvPr/>
          </p:nvSpPr>
          <p:spPr>
            <a:xfrm>
              <a:off x="5145234" y="3452639"/>
              <a:ext cx="94277" cy="27413"/>
            </a:xfrm>
            <a:custGeom>
              <a:avLst/>
              <a:gdLst/>
              <a:ahLst/>
              <a:cxnLst/>
              <a:rect l="0" t="0" r="0" b="0"/>
              <a:pathLst>
                <a:path w="132577" h="38550">
                  <a:moveTo>
                    <a:pt x="132577" y="0"/>
                  </a:moveTo>
                  <a:lnTo>
                    <a:pt x="126063" y="25514"/>
                  </a:lnTo>
                  <a:lnTo>
                    <a:pt x="59277" y="38550"/>
                  </a:lnTo>
                  <a:lnTo>
                    <a:pt x="154" y="32890"/>
                  </a:lnTo>
                  <a:lnTo>
                    <a:pt x="0" y="16102"/>
                  </a:lnTo>
                  <a:lnTo>
                    <a:pt x="35301" y="6555"/>
                  </a:lnTo>
                  <a:lnTo>
                    <a:pt x="63152" y="20322"/>
                  </a:lnTo>
                  <a:lnTo>
                    <a:pt x="92742" y="16826"/>
                  </a:lnTo>
                  <a:lnTo>
                    <a:pt x="132577" y="0"/>
                  </a:lnTo>
                  <a:close/>
                </a:path>
              </a:pathLst>
            </a:custGeom>
            <a:solidFill>
              <a:srgbClr val="E6EBE2"/>
            </a:solidFill>
            <a:ln w="4403">
              <a:solidFill>
                <a:srgbClr val="B6C3B3"/>
              </a:solidFill>
              <a:prstDash val="solid"/>
            </a:ln>
          </p:spPr>
          <p:txBody>
            <a:bodyPr/>
            <a:p/>
          </p:txBody>
        </p:sp>
        <p:sp>
          <p:nvSpPr>
            <p:cNvPr id="37" name="land-21">
              <a:extLst>
                <a:ext uri="{FF2B5EF4-FFF2-40B4-BE49-F238E27FC236}">
                  <a16:creationId xmlns:a16="http://schemas.microsoft.com/office/drawing/2014/main" id="{F2220AA7-7168-4CF2-9DAA-3330CB2E59C1}"/>
                </a:ext>
              </a:extLst>
            </p:cNvPr>
            <p:cNvSpPr>
              <a:spLocks/>
            </p:cNvSpPr>
            <p:nvPr/>
          </p:nvSpPr>
          <p:spPr>
            <a:xfrm>
              <a:off x="6355545" y="3427356"/>
              <a:ext cx="53933" cy="39785"/>
            </a:xfrm>
            <a:custGeom>
              <a:avLst/>
              <a:gdLst/>
              <a:ahLst/>
              <a:cxnLst/>
              <a:rect l="0" t="0" r="0" b="0"/>
              <a:pathLst>
                <a:path w="75843" h="55948">
                  <a:moveTo>
                    <a:pt x="73959" y="46719"/>
                  </a:moveTo>
                  <a:lnTo>
                    <a:pt x="75843" y="55948"/>
                  </a:lnTo>
                  <a:lnTo>
                    <a:pt x="41006" y="36471"/>
                  </a:lnTo>
                  <a:lnTo>
                    <a:pt x="16667" y="19968"/>
                  </a:lnTo>
                  <a:lnTo>
                    <a:pt x="0" y="4678"/>
                  </a:lnTo>
                  <a:lnTo>
                    <a:pt x="6615" y="0"/>
                  </a:lnTo>
                  <a:lnTo>
                    <a:pt x="27063" y="11021"/>
                  </a:lnTo>
                  <a:lnTo>
                    <a:pt x="63513" y="32147"/>
                  </a:lnTo>
                  <a:lnTo>
                    <a:pt x="73959" y="46719"/>
                  </a:lnTo>
                  <a:close/>
                </a:path>
              </a:pathLst>
            </a:custGeom>
            <a:solidFill>
              <a:srgbClr val="E6EBE2"/>
            </a:solidFill>
            <a:ln w="4403">
              <a:solidFill>
                <a:srgbClr val="B6C3B3"/>
              </a:solidFill>
              <a:prstDash val="solid"/>
            </a:ln>
          </p:spPr>
          <p:txBody>
            <a:bodyPr/>
            <a:p/>
          </p:txBody>
        </p:sp>
        <p:sp>
          <p:nvSpPr>
            <p:cNvPr id="38" name="land-22">
              <a:extLst>
                <a:ext uri="{FF2B5EF4-FFF2-40B4-BE49-F238E27FC236}">
                  <a16:creationId xmlns:a16="http://schemas.microsoft.com/office/drawing/2014/main" id="{BD9D968E-1D45-4217-95FA-D9AF1F2B221E}"/>
                </a:ext>
              </a:extLst>
            </p:cNvPr>
            <p:cNvSpPr>
              <a:spLocks/>
            </p:cNvSpPr>
            <p:nvPr/>
          </p:nvSpPr>
          <p:spPr>
            <a:xfrm>
              <a:off x="6301185" y="3403820"/>
              <a:ext cx="33097" cy="26303"/>
            </a:xfrm>
            <a:custGeom>
              <a:avLst/>
              <a:gdLst/>
              <a:ahLst/>
              <a:cxnLst/>
              <a:rect l="0" t="0" r="0" b="0"/>
              <a:pathLst>
                <a:path w="46542" h="36989">
                  <a:moveTo>
                    <a:pt x="46542" y="34373"/>
                  </a:moveTo>
                  <a:lnTo>
                    <a:pt x="37696" y="36989"/>
                  </a:lnTo>
                  <a:lnTo>
                    <a:pt x="18254" y="26523"/>
                  </a:lnTo>
                  <a:lnTo>
                    <a:pt x="0" y="7651"/>
                  </a:lnTo>
                  <a:lnTo>
                    <a:pt x="2288" y="0"/>
                  </a:lnTo>
                  <a:lnTo>
                    <a:pt x="28832" y="19394"/>
                  </a:lnTo>
                  <a:lnTo>
                    <a:pt x="46542" y="34373"/>
                  </a:lnTo>
                  <a:close/>
                </a:path>
              </a:pathLst>
            </a:custGeom>
            <a:solidFill>
              <a:srgbClr val="E6EBE2"/>
            </a:solidFill>
            <a:ln w="4403">
              <a:solidFill>
                <a:srgbClr val="B6C3B3"/>
              </a:solidFill>
              <a:prstDash val="solid"/>
            </a:ln>
          </p:spPr>
          <p:txBody>
            <a:bodyPr/>
            <a:p/>
          </p:txBody>
        </p:sp>
        <p:sp>
          <p:nvSpPr>
            <p:cNvPr id="39" name="land-23">
              <a:extLst>
                <a:ext uri="{FF2B5EF4-FFF2-40B4-BE49-F238E27FC236}">
                  <a16:creationId xmlns:a16="http://schemas.microsoft.com/office/drawing/2014/main" id="{E83AD37C-FAFB-4EBC-A00C-51565C842C95}"/>
                </a:ext>
              </a:extLst>
            </p:cNvPr>
            <p:cNvSpPr>
              <a:spLocks/>
            </p:cNvSpPr>
            <p:nvPr/>
          </p:nvSpPr>
          <p:spPr>
            <a:xfrm>
              <a:off x="4685153" y="3380849"/>
              <a:ext cx="326837" cy="93265"/>
            </a:xfrm>
            <a:custGeom>
              <a:avLst/>
              <a:gdLst/>
              <a:ahLst/>
              <a:cxnLst/>
              <a:rect l="0" t="0" r="0" b="0"/>
              <a:pathLst>
                <a:path w="459615" h="131155">
                  <a:moveTo>
                    <a:pt x="144818" y="40494"/>
                  </a:moveTo>
                  <a:lnTo>
                    <a:pt x="229973" y="45072"/>
                  </a:lnTo>
                  <a:lnTo>
                    <a:pt x="239767" y="26143"/>
                  </a:lnTo>
                  <a:lnTo>
                    <a:pt x="322232" y="48226"/>
                  </a:lnTo>
                  <a:lnTo>
                    <a:pt x="338410" y="77993"/>
                  </a:lnTo>
                  <a:lnTo>
                    <a:pt x="405093" y="86365"/>
                  </a:lnTo>
                  <a:lnTo>
                    <a:pt x="459615" y="113657"/>
                  </a:lnTo>
                  <a:lnTo>
                    <a:pt x="408897" y="131155"/>
                  </a:lnTo>
                  <a:lnTo>
                    <a:pt x="360012" y="112653"/>
                  </a:lnTo>
                  <a:lnTo>
                    <a:pt x="319782" y="113904"/>
                  </a:lnTo>
                  <a:lnTo>
                    <a:pt x="273660" y="110503"/>
                  </a:lnTo>
                  <a:lnTo>
                    <a:pt x="232059" y="102259"/>
                  </a:lnTo>
                  <a:lnTo>
                    <a:pt x="180564" y="84718"/>
                  </a:lnTo>
                  <a:lnTo>
                    <a:pt x="147937" y="80169"/>
                  </a:lnTo>
                  <a:lnTo>
                    <a:pt x="129451" y="85912"/>
                  </a:lnTo>
                  <a:lnTo>
                    <a:pt x="48389" y="67002"/>
                  </a:lnTo>
                  <a:lnTo>
                    <a:pt x="40678" y="47255"/>
                  </a:lnTo>
                  <a:lnTo>
                    <a:pt x="0" y="43880"/>
                  </a:lnTo>
                  <a:lnTo>
                    <a:pt x="30500" y="0"/>
                  </a:lnTo>
                  <a:lnTo>
                    <a:pt x="84434" y="2713"/>
                  </a:lnTo>
                  <a:lnTo>
                    <a:pt x="120309" y="20659"/>
                  </a:lnTo>
                  <a:lnTo>
                    <a:pt x="138744" y="24159"/>
                  </a:lnTo>
                  <a:lnTo>
                    <a:pt x="144818" y="40494"/>
                  </a:lnTo>
                  <a:close/>
                </a:path>
              </a:pathLst>
            </a:custGeom>
            <a:solidFill>
              <a:srgbClr val="E6EBE2"/>
            </a:solidFill>
            <a:ln w="4403">
              <a:solidFill>
                <a:srgbClr val="B6C3B3"/>
              </a:solidFill>
              <a:prstDash val="solid"/>
            </a:ln>
          </p:spPr>
          <p:txBody>
            <a:bodyPr/>
            <a:p/>
          </p:txBody>
        </p:sp>
        <p:sp>
          <p:nvSpPr>
            <p:cNvPr id="40" name="land-24">
              <a:extLst>
                <a:ext uri="{FF2B5EF4-FFF2-40B4-BE49-F238E27FC236}">
                  <a16:creationId xmlns:a16="http://schemas.microsoft.com/office/drawing/2014/main" id="{7B8F3D47-7215-4D08-8B3D-BE430E80113D}"/>
                </a:ext>
              </a:extLst>
            </p:cNvPr>
            <p:cNvSpPr>
              <a:spLocks/>
            </p:cNvSpPr>
            <p:nvPr/>
          </p:nvSpPr>
          <p:spPr>
            <a:xfrm>
              <a:off x="5593823" y="3366124"/>
              <a:ext cx="19415" cy="47359"/>
            </a:xfrm>
            <a:custGeom>
              <a:avLst/>
              <a:gdLst/>
              <a:ahLst/>
              <a:cxnLst/>
              <a:rect l="0" t="0" r="0" b="0"/>
              <a:pathLst>
                <a:path w="27302" h="66599">
                  <a:moveTo>
                    <a:pt x="27197" y="35332"/>
                  </a:moveTo>
                  <a:lnTo>
                    <a:pt x="4328" y="66599"/>
                  </a:lnTo>
                  <a:lnTo>
                    <a:pt x="0" y="32029"/>
                  </a:lnTo>
                  <a:lnTo>
                    <a:pt x="7893" y="15523"/>
                  </a:lnTo>
                  <a:lnTo>
                    <a:pt x="17195" y="0"/>
                  </a:lnTo>
                  <a:lnTo>
                    <a:pt x="27302" y="13435"/>
                  </a:lnTo>
                  <a:lnTo>
                    <a:pt x="27197" y="35332"/>
                  </a:lnTo>
                  <a:close/>
                </a:path>
              </a:pathLst>
            </a:custGeom>
            <a:solidFill>
              <a:srgbClr val="E6EBE2"/>
            </a:solidFill>
            <a:ln w="4403">
              <a:solidFill>
                <a:srgbClr val="B6C3B3"/>
              </a:solidFill>
              <a:prstDash val="solid"/>
            </a:ln>
          </p:spPr>
          <p:txBody>
            <a:bodyPr/>
            <a:p/>
          </p:txBody>
        </p:sp>
        <p:sp>
          <p:nvSpPr>
            <p:cNvPr id="41" name="land-25">
              <a:extLst>
                <a:ext uri="{FF2B5EF4-FFF2-40B4-BE49-F238E27FC236}">
                  <a16:creationId xmlns:a16="http://schemas.microsoft.com/office/drawing/2014/main" id="{BA6E6891-6C98-4E66-B9A4-0AF9DADED1CE}"/>
                </a:ext>
              </a:extLst>
            </p:cNvPr>
            <p:cNvSpPr>
              <a:spLocks/>
            </p:cNvSpPr>
            <p:nvPr/>
          </p:nvSpPr>
          <p:spPr>
            <a:xfrm>
              <a:off x="6238686" y="3352976"/>
              <a:ext cx="47598" cy="61316"/>
            </a:xfrm>
            <a:custGeom>
              <a:avLst/>
              <a:gdLst/>
              <a:ahLst/>
              <a:cxnLst/>
              <a:rect l="0" t="0" r="0" b="0"/>
              <a:pathLst>
                <a:path w="66935" h="86225">
                  <a:moveTo>
                    <a:pt x="60715" y="81633"/>
                  </a:moveTo>
                  <a:lnTo>
                    <a:pt x="48267" y="86225"/>
                  </a:lnTo>
                  <a:lnTo>
                    <a:pt x="29021" y="68588"/>
                  </a:lnTo>
                  <a:lnTo>
                    <a:pt x="9560" y="39421"/>
                  </a:lnTo>
                  <a:lnTo>
                    <a:pt x="0" y="4440"/>
                  </a:lnTo>
                  <a:lnTo>
                    <a:pt x="6151" y="0"/>
                  </a:lnTo>
                  <a:lnTo>
                    <a:pt x="10929" y="13665"/>
                  </a:lnTo>
                  <a:lnTo>
                    <a:pt x="24394" y="24081"/>
                  </a:lnTo>
                  <a:lnTo>
                    <a:pt x="45945" y="53190"/>
                  </a:lnTo>
                  <a:lnTo>
                    <a:pt x="66935" y="68775"/>
                  </a:lnTo>
                  <a:lnTo>
                    <a:pt x="60715" y="81633"/>
                  </a:lnTo>
                  <a:close/>
                </a:path>
              </a:pathLst>
            </a:custGeom>
            <a:solidFill>
              <a:srgbClr val="E6EBE2"/>
            </a:solidFill>
            <a:ln w="4403">
              <a:solidFill>
                <a:srgbClr val="B6C3B3"/>
              </a:solidFill>
              <a:prstDash val="solid"/>
            </a:ln>
          </p:spPr>
          <p:txBody>
            <a:bodyPr/>
            <a:p/>
          </p:txBody>
        </p:sp>
        <p:sp>
          <p:nvSpPr>
            <p:cNvPr id="42" name="land-26">
              <a:extLst>
                <a:ext uri="{FF2B5EF4-FFF2-40B4-BE49-F238E27FC236}">
                  <a16:creationId xmlns:a16="http://schemas.microsoft.com/office/drawing/2014/main" id="{1C564FD3-794D-406D-863F-34BF17D393B9}"/>
                </a:ext>
              </a:extLst>
            </p:cNvPr>
            <p:cNvSpPr>
              <a:spLocks/>
            </p:cNvSpPr>
            <p:nvPr/>
          </p:nvSpPr>
          <p:spPr>
            <a:xfrm>
              <a:off x="6042863" y="3323792"/>
              <a:ext cx="127062" cy="70832"/>
            </a:xfrm>
            <a:custGeom>
              <a:avLst/>
              <a:gdLst/>
              <a:ahLst/>
              <a:cxnLst/>
              <a:rect l="0" t="0" r="0" b="0"/>
              <a:pathLst>
                <a:path w="178680" h="99608">
                  <a:moveTo>
                    <a:pt x="162859" y="61046"/>
                  </a:moveTo>
                  <a:lnTo>
                    <a:pt x="139581" y="64821"/>
                  </a:lnTo>
                  <a:lnTo>
                    <a:pt x="132570" y="77701"/>
                  </a:lnTo>
                  <a:lnTo>
                    <a:pt x="108258" y="88862"/>
                  </a:lnTo>
                  <a:lnTo>
                    <a:pt x="85444" y="99608"/>
                  </a:lnTo>
                  <a:lnTo>
                    <a:pt x="61831" y="99551"/>
                  </a:lnTo>
                  <a:lnTo>
                    <a:pt x="25387" y="86211"/>
                  </a:lnTo>
                  <a:lnTo>
                    <a:pt x="0" y="73403"/>
                  </a:lnTo>
                  <a:lnTo>
                    <a:pt x="3684" y="59195"/>
                  </a:lnTo>
                  <a:lnTo>
                    <a:pt x="43538" y="65899"/>
                  </a:lnTo>
                  <a:lnTo>
                    <a:pt x="67858" y="62306"/>
                  </a:lnTo>
                  <a:lnTo>
                    <a:pt x="74557" y="40290"/>
                  </a:lnTo>
                  <a:lnTo>
                    <a:pt x="80935" y="39153"/>
                  </a:lnTo>
                  <a:lnTo>
                    <a:pt x="85254" y="63533"/>
                  </a:lnTo>
                  <a:lnTo>
                    <a:pt x="110615" y="60025"/>
                  </a:lnTo>
                  <a:lnTo>
                    <a:pt x="123159" y="44312"/>
                  </a:lnTo>
                  <a:lnTo>
                    <a:pt x="147972" y="27935"/>
                  </a:lnTo>
                  <a:lnTo>
                    <a:pt x="143081" y="873"/>
                  </a:lnTo>
                  <a:lnTo>
                    <a:pt x="169704" y="0"/>
                  </a:lnTo>
                  <a:lnTo>
                    <a:pt x="178680" y="7540"/>
                  </a:lnTo>
                  <a:lnTo>
                    <a:pt x="177789" y="33014"/>
                  </a:lnTo>
                  <a:lnTo>
                    <a:pt x="162859" y="61046"/>
                  </a:lnTo>
                  <a:close/>
                </a:path>
              </a:pathLst>
            </a:custGeom>
            <a:solidFill>
              <a:srgbClr val="E6EBE2"/>
            </a:solidFill>
            <a:ln w="4403">
              <a:solidFill>
                <a:srgbClr val="B6C3B3"/>
              </a:solidFill>
              <a:prstDash val="solid"/>
            </a:ln>
          </p:spPr>
          <p:txBody>
            <a:bodyPr/>
            <a:p/>
          </p:txBody>
        </p:sp>
        <p:sp>
          <p:nvSpPr>
            <p:cNvPr id="43" name="land-27">
              <a:extLst>
                <a:ext uri="{FF2B5EF4-FFF2-40B4-BE49-F238E27FC236}">
                  <a16:creationId xmlns:a16="http://schemas.microsoft.com/office/drawing/2014/main" id="{7F096296-6E80-40F0-92BA-A78D93C8A8CD}"/>
                </a:ext>
              </a:extLst>
            </p:cNvPr>
            <p:cNvSpPr>
              <a:spLocks/>
            </p:cNvSpPr>
            <p:nvPr/>
          </p:nvSpPr>
          <p:spPr>
            <a:xfrm>
              <a:off x="5337040" y="3290499"/>
              <a:ext cx="39833" cy="21608"/>
            </a:xfrm>
            <a:custGeom>
              <a:avLst/>
              <a:gdLst/>
              <a:ahLst/>
              <a:cxnLst/>
              <a:rect l="0" t="0" r="0" b="0"/>
              <a:pathLst>
                <a:path w="56015" h="30386">
                  <a:moveTo>
                    <a:pt x="56015" y="15143"/>
                  </a:moveTo>
                  <a:lnTo>
                    <a:pt x="39378" y="30386"/>
                  </a:lnTo>
                  <a:lnTo>
                    <a:pt x="8657" y="21954"/>
                  </a:lnTo>
                  <a:lnTo>
                    <a:pt x="0" y="2202"/>
                  </a:lnTo>
                  <a:lnTo>
                    <a:pt x="44966" y="0"/>
                  </a:lnTo>
                  <a:lnTo>
                    <a:pt x="56015" y="15143"/>
                  </a:lnTo>
                  <a:close/>
                </a:path>
              </a:pathLst>
            </a:custGeom>
            <a:solidFill>
              <a:srgbClr val="E6EBE2"/>
            </a:solidFill>
            <a:ln w="4403">
              <a:solidFill>
                <a:srgbClr val="B6C3B3"/>
              </a:solidFill>
              <a:prstDash val="solid"/>
            </a:ln>
          </p:spPr>
          <p:txBody>
            <a:bodyPr/>
            <a:p/>
          </p:txBody>
        </p:sp>
        <p:sp>
          <p:nvSpPr>
            <p:cNvPr id="44" name="land-28">
              <a:extLst>
                <a:ext uri="{FF2B5EF4-FFF2-40B4-BE49-F238E27FC236}">
                  <a16:creationId xmlns:a16="http://schemas.microsoft.com/office/drawing/2014/main" id="{BED78C18-3778-45F8-BD72-4791437F1746}"/>
                </a:ext>
              </a:extLst>
            </p:cNvPr>
            <p:cNvSpPr>
              <a:spLocks/>
            </p:cNvSpPr>
            <p:nvPr/>
          </p:nvSpPr>
          <p:spPr>
            <a:xfrm>
              <a:off x="5397409" y="3279815"/>
              <a:ext cx="92802" cy="34496"/>
            </a:xfrm>
            <a:custGeom>
              <a:avLst/>
              <a:gdLst/>
              <a:ahLst/>
              <a:cxnLst/>
              <a:rect l="0" t="0" r="0" b="0"/>
              <a:pathLst>
                <a:path w="130503" h="48510">
                  <a:moveTo>
                    <a:pt x="114346" y="13392"/>
                  </a:moveTo>
                  <a:lnTo>
                    <a:pt x="130503" y="48510"/>
                  </a:lnTo>
                  <a:lnTo>
                    <a:pt x="92974" y="29582"/>
                  </a:lnTo>
                  <a:lnTo>
                    <a:pt x="55845" y="25740"/>
                  </a:lnTo>
                  <a:lnTo>
                    <a:pt x="30750" y="28773"/>
                  </a:lnTo>
                  <a:lnTo>
                    <a:pt x="0" y="27154"/>
                  </a:lnTo>
                  <a:lnTo>
                    <a:pt x="10534" y="1906"/>
                  </a:lnTo>
                  <a:lnTo>
                    <a:pt x="65435" y="0"/>
                  </a:lnTo>
                  <a:lnTo>
                    <a:pt x="114346" y="13392"/>
                  </a:lnTo>
                  <a:close/>
                </a:path>
              </a:pathLst>
            </a:custGeom>
            <a:solidFill>
              <a:srgbClr val="E6EBE2"/>
            </a:solidFill>
            <a:ln w="4403">
              <a:solidFill>
                <a:srgbClr val="B6C3B3"/>
              </a:solidFill>
              <a:prstDash val="solid"/>
            </a:ln>
          </p:spPr>
          <p:txBody>
            <a:bodyPr/>
            <a:p/>
          </p:txBody>
        </p:sp>
        <p:sp>
          <p:nvSpPr>
            <p:cNvPr id="45" name="land-29">
              <a:extLst>
                <a:ext uri="{FF2B5EF4-FFF2-40B4-BE49-F238E27FC236}">
                  <a16:creationId xmlns:a16="http://schemas.microsoft.com/office/drawing/2014/main" id="{3D94A44E-1571-438A-8ED5-3DD7D799563F}"/>
                </a:ext>
              </a:extLst>
            </p:cNvPr>
            <p:cNvSpPr>
              <a:spLocks/>
            </p:cNvSpPr>
            <p:nvPr/>
          </p:nvSpPr>
          <p:spPr>
            <a:xfrm>
              <a:off x="6116927" y="3269948"/>
              <a:ext cx="78326" cy="74015"/>
            </a:xfrm>
            <a:custGeom>
              <a:avLst/>
              <a:gdLst/>
              <a:ahLst/>
              <a:cxnLst/>
              <a:rect l="0" t="0" r="0" b="0"/>
              <a:pathLst>
                <a:path w="110147" h="104084">
                  <a:moveTo>
                    <a:pt x="110147" y="91847"/>
                  </a:moveTo>
                  <a:lnTo>
                    <a:pt x="96245" y="104084"/>
                  </a:lnTo>
                  <a:lnTo>
                    <a:pt x="87861" y="76975"/>
                  </a:lnTo>
                  <a:lnTo>
                    <a:pt x="77520" y="59230"/>
                  </a:lnTo>
                  <a:lnTo>
                    <a:pt x="57393" y="44182"/>
                  </a:lnTo>
                  <a:lnTo>
                    <a:pt x="32103" y="24589"/>
                  </a:lnTo>
                  <a:lnTo>
                    <a:pt x="0" y="11090"/>
                  </a:lnTo>
                  <a:lnTo>
                    <a:pt x="12353" y="0"/>
                  </a:lnTo>
                  <a:lnTo>
                    <a:pt x="36357" y="12858"/>
                  </a:lnTo>
                  <a:lnTo>
                    <a:pt x="51472" y="22961"/>
                  </a:lnTo>
                  <a:lnTo>
                    <a:pt x="70139" y="33984"/>
                  </a:lnTo>
                  <a:lnTo>
                    <a:pt x="87921" y="53271"/>
                  </a:lnTo>
                  <a:lnTo>
                    <a:pt x="104811" y="67968"/>
                  </a:lnTo>
                  <a:lnTo>
                    <a:pt x="110147" y="91847"/>
                  </a:lnTo>
                  <a:close/>
                </a:path>
              </a:pathLst>
            </a:custGeom>
            <a:solidFill>
              <a:srgbClr val="E6EBE2"/>
            </a:solidFill>
            <a:ln w="4403">
              <a:solidFill>
                <a:srgbClr val="B6C3B3"/>
              </a:solidFill>
              <a:prstDash val="solid"/>
            </a:ln>
          </p:spPr>
          <p:txBody>
            <a:bodyPr/>
            <a:p/>
          </p:txBody>
        </p:sp>
        <p:sp>
          <p:nvSpPr>
            <p:cNvPr id="46" name="land-30">
              <a:extLst>
                <a:ext uri="{FF2B5EF4-FFF2-40B4-BE49-F238E27FC236}">
                  <a16:creationId xmlns:a16="http://schemas.microsoft.com/office/drawing/2014/main" id="{C1FBCEC4-48C0-445F-AFAD-B0A61E89F43C}"/>
                </a:ext>
              </a:extLst>
            </p:cNvPr>
            <p:cNvSpPr>
              <a:spLocks/>
            </p:cNvSpPr>
            <p:nvPr/>
          </p:nvSpPr>
          <p:spPr>
            <a:xfrm>
              <a:off x="5480245" y="3200373"/>
              <a:ext cx="641094" cy="335811"/>
            </a:xfrm>
            <a:custGeom>
              <a:avLst/>
              <a:gdLst/>
              <a:ahLst/>
              <a:cxnLst/>
              <a:rect l="0" t="0" r="0" b="0"/>
              <a:pathLst>
                <a:path w="901538" h="472235">
                  <a:moveTo>
                    <a:pt x="161078" y="35928"/>
                  </a:moveTo>
                  <a:lnTo>
                    <a:pt x="173491" y="110202"/>
                  </a:lnTo>
                  <a:lnTo>
                    <a:pt x="219496" y="137690"/>
                  </a:lnTo>
                  <a:lnTo>
                    <a:pt x="256643" y="88978"/>
                  </a:lnTo>
                  <a:lnTo>
                    <a:pt x="307646" y="61262"/>
                  </a:lnTo>
                  <a:lnTo>
                    <a:pt x="347162" y="61224"/>
                  </a:lnTo>
                  <a:lnTo>
                    <a:pt x="385175" y="77233"/>
                  </a:lnTo>
                  <a:lnTo>
                    <a:pt x="418147" y="93663"/>
                  </a:lnTo>
                  <a:lnTo>
                    <a:pt x="465865" y="102439"/>
                  </a:lnTo>
                  <a:lnTo>
                    <a:pt x="542987" y="134081"/>
                  </a:lnTo>
                  <a:lnTo>
                    <a:pt x="625163" y="160361"/>
                  </a:lnTo>
                  <a:lnTo>
                    <a:pt x="655798" y="183889"/>
                  </a:lnTo>
                  <a:lnTo>
                    <a:pt x="680540" y="206978"/>
                  </a:lnTo>
                  <a:lnTo>
                    <a:pt x="687302" y="234033"/>
                  </a:lnTo>
                  <a:lnTo>
                    <a:pt x="761362" y="262416"/>
                  </a:lnTo>
                  <a:lnTo>
                    <a:pt x="772165" y="286772"/>
                  </a:lnTo>
                  <a:lnTo>
                    <a:pt x="731262" y="291715"/>
                  </a:lnTo>
                  <a:lnTo>
                    <a:pt x="741084" y="322318"/>
                  </a:lnTo>
                  <a:lnTo>
                    <a:pt x="780768" y="352448"/>
                  </a:lnTo>
                  <a:lnTo>
                    <a:pt x="809637" y="401153"/>
                  </a:lnTo>
                  <a:lnTo>
                    <a:pt x="835094" y="399627"/>
                  </a:lnTo>
                  <a:lnTo>
                    <a:pt x="833307" y="419970"/>
                  </a:lnTo>
                  <a:lnTo>
                    <a:pt x="867627" y="427773"/>
                  </a:lnTo>
                  <a:lnTo>
                    <a:pt x="854295" y="436435"/>
                  </a:lnTo>
                  <a:lnTo>
                    <a:pt x="901538" y="455758"/>
                  </a:lnTo>
                  <a:lnTo>
                    <a:pt x="896602" y="469031"/>
                  </a:lnTo>
                  <a:lnTo>
                    <a:pt x="867168" y="472235"/>
                  </a:lnTo>
                  <a:lnTo>
                    <a:pt x="856229" y="460331"/>
                  </a:lnTo>
                  <a:lnTo>
                    <a:pt x="818039" y="455172"/>
                  </a:lnTo>
                  <a:lnTo>
                    <a:pt x="773139" y="448261"/>
                  </a:lnTo>
                  <a:lnTo>
                    <a:pt x="738576" y="418961"/>
                  </a:lnTo>
                  <a:lnTo>
                    <a:pt x="713348" y="393708"/>
                  </a:lnTo>
                  <a:lnTo>
                    <a:pt x="690261" y="353518"/>
                  </a:lnTo>
                  <a:lnTo>
                    <a:pt x="632284" y="333436"/>
                  </a:lnTo>
                  <a:lnTo>
                    <a:pt x="594631" y="346534"/>
                  </a:lnTo>
                  <a:lnTo>
                    <a:pt x="567485" y="361696"/>
                  </a:lnTo>
                  <a:lnTo>
                    <a:pt x="573154" y="395569"/>
                  </a:lnTo>
                  <a:lnTo>
                    <a:pt x="538239" y="411355"/>
                  </a:lnTo>
                  <a:lnTo>
                    <a:pt x="513340" y="403676"/>
                  </a:lnTo>
                  <a:lnTo>
                    <a:pt x="467360" y="401760"/>
                  </a:lnTo>
                  <a:lnTo>
                    <a:pt x="427780" y="364069"/>
                  </a:lnTo>
                  <a:lnTo>
                    <a:pt x="382635" y="354833"/>
                  </a:lnTo>
                  <a:lnTo>
                    <a:pt x="371687" y="367916"/>
                  </a:lnTo>
                  <a:lnTo>
                    <a:pt x="315369" y="369328"/>
                  </a:lnTo>
                  <a:lnTo>
                    <a:pt x="334244" y="331955"/>
                  </a:lnTo>
                  <a:lnTo>
                    <a:pt x="362226" y="319204"/>
                  </a:lnTo>
                  <a:lnTo>
                    <a:pt x="350637" y="269267"/>
                  </a:lnTo>
                  <a:lnTo>
                    <a:pt x="329298" y="230715"/>
                  </a:lnTo>
                  <a:lnTo>
                    <a:pt x="243128" y="191825"/>
                  </a:lnTo>
                  <a:lnTo>
                    <a:pt x="206472" y="187985"/>
                  </a:lnTo>
                  <a:lnTo>
                    <a:pt x="139721" y="145548"/>
                  </a:lnTo>
                  <a:lnTo>
                    <a:pt x="126600" y="167866"/>
                  </a:lnTo>
                  <a:lnTo>
                    <a:pt x="109542" y="171914"/>
                  </a:lnTo>
                  <a:lnTo>
                    <a:pt x="99452" y="155074"/>
                  </a:lnTo>
                  <a:lnTo>
                    <a:pt x="99312" y="135120"/>
                  </a:lnTo>
                  <a:lnTo>
                    <a:pt x="65352" y="112561"/>
                  </a:lnTo>
                  <a:lnTo>
                    <a:pt x="113227" y="96022"/>
                  </a:lnTo>
                  <a:lnTo>
                    <a:pt x="144928" y="96914"/>
                  </a:lnTo>
                  <a:lnTo>
                    <a:pt x="141202" y="84730"/>
                  </a:lnTo>
                  <a:lnTo>
                    <a:pt x="76135" y="84638"/>
                  </a:lnTo>
                  <a:lnTo>
                    <a:pt x="58526" y="57296"/>
                  </a:lnTo>
                  <a:lnTo>
                    <a:pt x="18815" y="48817"/>
                  </a:lnTo>
                  <a:lnTo>
                    <a:pt x="0" y="26093"/>
                  </a:lnTo>
                  <a:lnTo>
                    <a:pt x="59918" y="14968"/>
                  </a:lnTo>
                  <a:lnTo>
                    <a:pt x="82702" y="0"/>
                  </a:lnTo>
                  <a:lnTo>
                    <a:pt x="154063" y="18860"/>
                  </a:lnTo>
                  <a:lnTo>
                    <a:pt x="161078" y="35928"/>
                  </a:lnTo>
                  <a:close/>
                </a:path>
              </a:pathLst>
            </a:custGeom>
            <a:solidFill>
              <a:srgbClr val="E6EBE2"/>
            </a:solidFill>
            <a:ln w="4403">
              <a:solidFill>
                <a:srgbClr val="B6C3B3"/>
              </a:solidFill>
              <a:prstDash val="solid"/>
            </a:ln>
          </p:spPr>
          <p:txBody>
            <a:bodyPr/>
            <a:p/>
          </p:txBody>
        </p:sp>
        <p:sp>
          <p:nvSpPr>
            <p:cNvPr id="47" name="land-31">
              <a:extLst>
                <a:ext uri="{FF2B5EF4-FFF2-40B4-BE49-F238E27FC236}">
                  <a16:creationId xmlns:a16="http://schemas.microsoft.com/office/drawing/2014/main" id="{383228EB-9BAA-4154-B085-B65300C5B715}"/>
                </a:ext>
              </a:extLst>
            </p:cNvPr>
            <p:cNvSpPr>
              <a:spLocks/>
            </p:cNvSpPr>
            <p:nvPr/>
          </p:nvSpPr>
          <p:spPr>
            <a:xfrm>
              <a:off x="5108784" y="3134641"/>
              <a:ext cx="204596" cy="238941"/>
            </a:xfrm>
            <a:custGeom>
              <a:avLst/>
              <a:gdLst/>
              <a:ahLst/>
              <a:cxnLst/>
              <a:rect l="0" t="0" r="0" b="0"/>
              <a:pathLst>
                <a:path w="287713" h="336011">
                  <a:moveTo>
                    <a:pt x="287713" y="10261"/>
                  </a:moveTo>
                  <a:lnTo>
                    <a:pt x="251999" y="55815"/>
                  </a:lnTo>
                  <a:lnTo>
                    <a:pt x="218593" y="64646"/>
                  </a:lnTo>
                  <a:lnTo>
                    <a:pt x="175814" y="55666"/>
                  </a:lnTo>
                  <a:lnTo>
                    <a:pt x="101744" y="57958"/>
                  </a:lnTo>
                  <a:lnTo>
                    <a:pt x="62911" y="64570"/>
                  </a:lnTo>
                  <a:lnTo>
                    <a:pt x="56589" y="99330"/>
                  </a:lnTo>
                  <a:lnTo>
                    <a:pt x="96374" y="140168"/>
                  </a:lnTo>
                  <a:lnTo>
                    <a:pt x="120373" y="119367"/>
                  </a:lnTo>
                  <a:lnTo>
                    <a:pt x="203261" y="103739"/>
                  </a:lnTo>
                  <a:lnTo>
                    <a:pt x="199609" y="124889"/>
                  </a:lnTo>
                  <a:lnTo>
                    <a:pt x="180242" y="118218"/>
                  </a:lnTo>
                  <a:lnTo>
                    <a:pt x="160943" y="145126"/>
                  </a:lnTo>
                  <a:lnTo>
                    <a:pt x="121815" y="162927"/>
                  </a:lnTo>
                  <a:lnTo>
                    <a:pt x="163878" y="221782"/>
                  </a:lnTo>
                  <a:lnTo>
                    <a:pt x="155758" y="237554"/>
                  </a:lnTo>
                  <a:lnTo>
                    <a:pt x="195722" y="290560"/>
                  </a:lnTo>
                  <a:lnTo>
                    <a:pt x="195338" y="320728"/>
                  </a:lnTo>
                  <a:lnTo>
                    <a:pt x="171610" y="334229"/>
                  </a:lnTo>
                  <a:lnTo>
                    <a:pt x="154180" y="318079"/>
                  </a:lnTo>
                  <a:lnTo>
                    <a:pt x="175658" y="280478"/>
                  </a:lnTo>
                  <a:lnTo>
                    <a:pt x="132037" y="298258"/>
                  </a:lnTo>
                  <a:lnTo>
                    <a:pt x="120979" y="285547"/>
                  </a:lnTo>
                  <a:lnTo>
                    <a:pt x="126745" y="267817"/>
                  </a:lnTo>
                  <a:lnTo>
                    <a:pt x="94697" y="240889"/>
                  </a:lnTo>
                  <a:lnTo>
                    <a:pt x="97995" y="196137"/>
                  </a:lnTo>
                  <a:lnTo>
                    <a:pt x="68350" y="210096"/>
                  </a:lnTo>
                  <a:lnTo>
                    <a:pt x="72110" y="263643"/>
                  </a:lnTo>
                  <a:lnTo>
                    <a:pt x="73918" y="329345"/>
                  </a:lnTo>
                  <a:lnTo>
                    <a:pt x="45729" y="336011"/>
                  </a:lnTo>
                  <a:lnTo>
                    <a:pt x="26632" y="322531"/>
                  </a:lnTo>
                  <a:lnTo>
                    <a:pt x="39375" y="280260"/>
                  </a:lnTo>
                  <a:lnTo>
                    <a:pt x="32496" y="235943"/>
                  </a:lnTo>
                  <a:lnTo>
                    <a:pt x="13805" y="235604"/>
                  </a:lnTo>
                  <a:lnTo>
                    <a:pt x="0" y="204145"/>
                  </a:lnTo>
                  <a:lnTo>
                    <a:pt x="18367" y="174069"/>
                  </a:lnTo>
                  <a:lnTo>
                    <a:pt x="24698" y="137607"/>
                  </a:lnTo>
                  <a:lnTo>
                    <a:pt x="47038" y="68381"/>
                  </a:lnTo>
                  <a:lnTo>
                    <a:pt x="56360" y="49450"/>
                  </a:lnTo>
                  <a:lnTo>
                    <a:pt x="94146" y="15340"/>
                  </a:lnTo>
                  <a:lnTo>
                    <a:pt x="128863" y="28901"/>
                  </a:lnTo>
                  <a:lnTo>
                    <a:pt x="184903" y="35273"/>
                  </a:lnTo>
                  <a:lnTo>
                    <a:pt x="236019" y="33348"/>
                  </a:lnTo>
                  <a:lnTo>
                    <a:pt x="279956" y="0"/>
                  </a:lnTo>
                  <a:lnTo>
                    <a:pt x="287713" y="10261"/>
                  </a:lnTo>
                  <a:close/>
                </a:path>
              </a:pathLst>
            </a:custGeom>
            <a:solidFill>
              <a:srgbClr val="E6EBE2"/>
            </a:solidFill>
            <a:ln w="4403">
              <a:solidFill>
                <a:srgbClr val="B6C3B3"/>
              </a:solidFill>
              <a:prstDash val="solid"/>
            </a:ln>
          </p:spPr>
          <p:txBody>
            <a:bodyPr/>
            <a:p/>
          </p:txBody>
        </p:sp>
        <p:sp>
          <p:nvSpPr>
            <p:cNvPr id="48" name="land-32">
              <a:extLst>
                <a:ext uri="{FF2B5EF4-FFF2-40B4-BE49-F238E27FC236}">
                  <a16:creationId xmlns:a16="http://schemas.microsoft.com/office/drawing/2014/main" id="{8106182C-2A77-481A-9438-F64A8F1CFF5D}"/>
                </a:ext>
              </a:extLst>
            </p:cNvPr>
            <p:cNvSpPr>
              <a:spLocks/>
            </p:cNvSpPr>
            <p:nvPr/>
          </p:nvSpPr>
          <p:spPr>
            <a:xfrm>
              <a:off x="5381623" y="3117289"/>
              <a:ext cx="40736" cy="100407"/>
            </a:xfrm>
            <a:custGeom>
              <a:avLst/>
              <a:gdLst/>
              <a:ahLst/>
              <a:cxnLst/>
              <a:rect l="0" t="0" r="0" b="0"/>
              <a:pathLst>
                <a:path w="57285" h="141198">
                  <a:moveTo>
                    <a:pt x="57285" y="47863"/>
                  </a:moveTo>
                  <a:lnTo>
                    <a:pt x="54961" y="87996"/>
                  </a:lnTo>
                  <a:lnTo>
                    <a:pt x="32034" y="83498"/>
                  </a:lnTo>
                  <a:lnTo>
                    <a:pt x="25272" y="111443"/>
                  </a:lnTo>
                  <a:lnTo>
                    <a:pt x="43584" y="135687"/>
                  </a:lnTo>
                  <a:lnTo>
                    <a:pt x="31138" y="141198"/>
                  </a:lnTo>
                  <a:lnTo>
                    <a:pt x="13201" y="112110"/>
                  </a:lnTo>
                  <a:lnTo>
                    <a:pt x="0" y="53404"/>
                  </a:lnTo>
                  <a:lnTo>
                    <a:pt x="8935" y="16712"/>
                  </a:lnTo>
                  <a:lnTo>
                    <a:pt x="23687" y="0"/>
                  </a:lnTo>
                  <a:lnTo>
                    <a:pt x="26877" y="25078"/>
                  </a:lnTo>
                  <a:lnTo>
                    <a:pt x="53121" y="29106"/>
                  </a:lnTo>
                  <a:lnTo>
                    <a:pt x="57285" y="47863"/>
                  </a:lnTo>
                  <a:close/>
                </a:path>
              </a:pathLst>
            </a:custGeom>
            <a:solidFill>
              <a:srgbClr val="E6EBE2"/>
            </a:solidFill>
            <a:ln w="4403">
              <a:solidFill>
                <a:srgbClr val="B6C3B3"/>
              </a:solidFill>
              <a:prstDash val="solid"/>
            </a:ln>
          </p:spPr>
          <p:txBody>
            <a:bodyPr/>
            <a:p/>
          </p:txBody>
        </p:sp>
        <p:sp>
          <p:nvSpPr>
            <p:cNvPr id="49" name="land-33">
              <a:extLst>
                <a:ext uri="{FF2B5EF4-FFF2-40B4-BE49-F238E27FC236}">
                  <a16:creationId xmlns:a16="http://schemas.microsoft.com/office/drawing/2014/main" id="{C5EFFFA8-0CBC-4ED2-BD1A-8BE58B3E1BEC}"/>
                </a:ext>
              </a:extLst>
            </p:cNvPr>
            <p:cNvSpPr>
              <a:spLocks/>
            </p:cNvSpPr>
            <p:nvPr/>
          </p:nvSpPr>
          <p:spPr>
            <a:xfrm>
              <a:off x="4366773" y="3009349"/>
              <a:ext cx="341868" cy="370760"/>
            </a:xfrm>
            <a:custGeom>
              <a:avLst/>
              <a:gdLst/>
              <a:ahLst/>
              <a:cxnLst/>
              <a:rect l="0" t="0" r="0" b="0"/>
              <a:pathLst>
                <a:path w="480752" h="521381">
                  <a:moveTo>
                    <a:pt x="467820" y="520420"/>
                  </a:moveTo>
                  <a:lnTo>
                    <a:pt x="418602" y="521381"/>
                  </a:lnTo>
                  <a:lnTo>
                    <a:pt x="381167" y="482990"/>
                  </a:lnTo>
                  <a:lnTo>
                    <a:pt x="324095" y="445468"/>
                  </a:lnTo>
                  <a:lnTo>
                    <a:pt x="305067" y="417632"/>
                  </a:lnTo>
                  <a:lnTo>
                    <a:pt x="271416" y="380233"/>
                  </a:lnTo>
                  <a:lnTo>
                    <a:pt x="249341" y="345812"/>
                  </a:lnTo>
                  <a:lnTo>
                    <a:pt x="215536" y="281523"/>
                  </a:lnTo>
                  <a:lnTo>
                    <a:pt x="176498" y="243245"/>
                  </a:lnTo>
                  <a:lnTo>
                    <a:pt x="163442" y="203762"/>
                  </a:lnTo>
                  <a:lnTo>
                    <a:pt x="147055" y="167913"/>
                  </a:lnTo>
                  <a:lnTo>
                    <a:pt x="106972" y="138996"/>
                  </a:lnTo>
                  <a:lnTo>
                    <a:pt x="83740" y="99703"/>
                  </a:lnTo>
                  <a:lnTo>
                    <a:pt x="50273" y="73982"/>
                  </a:lnTo>
                  <a:lnTo>
                    <a:pt x="3905" y="23377"/>
                  </a:lnTo>
                  <a:lnTo>
                    <a:pt x="0" y="0"/>
                  </a:lnTo>
                  <a:lnTo>
                    <a:pt x="28619" y="1851"/>
                  </a:lnTo>
                  <a:lnTo>
                    <a:pt x="97428" y="10723"/>
                  </a:lnTo>
                  <a:lnTo>
                    <a:pt x="136735" y="55635"/>
                  </a:lnTo>
                  <a:lnTo>
                    <a:pt x="171112" y="86772"/>
                  </a:lnTo>
                  <a:lnTo>
                    <a:pt x="195623" y="105878"/>
                  </a:lnTo>
                  <a:lnTo>
                    <a:pt x="237737" y="155244"/>
                  </a:lnTo>
                  <a:lnTo>
                    <a:pt x="282924" y="155964"/>
                  </a:lnTo>
                  <a:lnTo>
                    <a:pt x="320273" y="187422"/>
                  </a:lnTo>
                  <a:lnTo>
                    <a:pt x="345991" y="225876"/>
                  </a:lnTo>
                  <a:lnTo>
                    <a:pt x="379842" y="246855"/>
                  </a:lnTo>
                  <a:lnTo>
                    <a:pt x="362028" y="284351"/>
                  </a:lnTo>
                  <a:lnTo>
                    <a:pt x="387505" y="300299"/>
                  </a:lnTo>
                  <a:lnTo>
                    <a:pt x="403471" y="301476"/>
                  </a:lnTo>
                  <a:lnTo>
                    <a:pt x="411005" y="333510"/>
                  </a:lnTo>
                  <a:lnTo>
                    <a:pt x="426492" y="359138"/>
                  </a:lnTo>
                  <a:lnTo>
                    <a:pt x="459128" y="363198"/>
                  </a:lnTo>
                  <a:lnTo>
                    <a:pt x="480752" y="392265"/>
                  </a:lnTo>
                  <a:lnTo>
                    <a:pt x="469588" y="449383"/>
                  </a:lnTo>
                  <a:lnTo>
                    <a:pt x="467820" y="520420"/>
                  </a:lnTo>
                  <a:close/>
                </a:path>
              </a:pathLst>
            </a:custGeom>
            <a:solidFill>
              <a:srgbClr val="E6EBE2"/>
            </a:solidFill>
            <a:ln w="4403">
              <a:solidFill>
                <a:srgbClr val="B6C3B3"/>
              </a:solidFill>
              <a:prstDash val="solid"/>
            </a:ln>
          </p:spPr>
          <p:txBody>
            <a:bodyPr/>
            <a:p/>
          </p:txBody>
        </p:sp>
        <p:sp>
          <p:nvSpPr>
            <p:cNvPr id="50" name="land-34">
              <a:extLst>
                <a:ext uri="{FF2B5EF4-FFF2-40B4-BE49-F238E27FC236}">
                  <a16:creationId xmlns:a16="http://schemas.microsoft.com/office/drawing/2014/main" id="{83A2281E-6C61-4248-A8FE-35FE2370B1A2}"/>
                </a:ext>
              </a:extLst>
            </p:cNvPr>
            <p:cNvSpPr>
              <a:spLocks/>
            </p:cNvSpPr>
            <p:nvPr/>
          </p:nvSpPr>
          <p:spPr>
            <a:xfrm>
              <a:off x="4798539" y="2962054"/>
              <a:ext cx="323335" cy="360373"/>
            </a:xfrm>
            <a:custGeom>
              <a:avLst/>
              <a:gdLst/>
              <a:ahLst/>
              <a:cxnLst/>
              <a:rect l="0" t="0" r="0" b="0"/>
              <a:pathLst>
                <a:path w="454690" h="506774">
                  <a:moveTo>
                    <a:pt x="396626" y="234232"/>
                  </a:moveTo>
                  <a:lnTo>
                    <a:pt x="446460" y="276731"/>
                  </a:lnTo>
                  <a:lnTo>
                    <a:pt x="393791" y="282149"/>
                  </a:lnTo>
                  <a:lnTo>
                    <a:pt x="378967" y="313459"/>
                  </a:lnTo>
                  <a:lnTo>
                    <a:pt x="380891" y="355075"/>
                  </a:lnTo>
                  <a:lnTo>
                    <a:pt x="338148" y="386484"/>
                  </a:lnTo>
                  <a:lnTo>
                    <a:pt x="336982" y="432218"/>
                  </a:lnTo>
                  <a:lnTo>
                    <a:pt x="319837" y="502446"/>
                  </a:lnTo>
                  <a:lnTo>
                    <a:pt x="313292" y="486111"/>
                  </a:lnTo>
                  <a:lnTo>
                    <a:pt x="262795" y="506774"/>
                  </a:lnTo>
                  <a:lnTo>
                    <a:pt x="245186" y="478702"/>
                  </a:lnTo>
                  <a:lnTo>
                    <a:pt x="213494" y="476105"/>
                  </a:lnTo>
                  <a:lnTo>
                    <a:pt x="191328" y="461392"/>
                  </a:lnTo>
                  <a:lnTo>
                    <a:pt x="138483" y="477907"/>
                  </a:lnTo>
                  <a:lnTo>
                    <a:pt x="122266" y="455682"/>
                  </a:lnTo>
                  <a:lnTo>
                    <a:pt x="93149" y="458207"/>
                  </a:lnTo>
                  <a:lnTo>
                    <a:pt x="56504" y="452907"/>
                  </a:lnTo>
                  <a:lnTo>
                    <a:pt x="49707" y="391316"/>
                  </a:lnTo>
                  <a:lnTo>
                    <a:pt x="27527" y="378551"/>
                  </a:lnTo>
                  <a:lnTo>
                    <a:pt x="6188" y="339267"/>
                  </a:lnTo>
                  <a:lnTo>
                    <a:pt x="0" y="299089"/>
                  </a:lnTo>
                  <a:lnTo>
                    <a:pt x="5177" y="256538"/>
                  </a:lnTo>
                  <a:lnTo>
                    <a:pt x="31586" y="226019"/>
                  </a:lnTo>
                  <a:lnTo>
                    <a:pt x="64163" y="241757"/>
                  </a:lnTo>
                  <a:lnTo>
                    <a:pt x="98510" y="233176"/>
                  </a:lnTo>
                  <a:lnTo>
                    <a:pt x="107454" y="194293"/>
                  </a:lnTo>
                  <a:lnTo>
                    <a:pt x="126428" y="185632"/>
                  </a:lnTo>
                  <a:lnTo>
                    <a:pt x="179709" y="175690"/>
                  </a:lnTo>
                  <a:lnTo>
                    <a:pt x="211594" y="139359"/>
                  </a:lnTo>
                  <a:lnTo>
                    <a:pt x="233423" y="110318"/>
                  </a:lnTo>
                  <a:lnTo>
                    <a:pt x="251023" y="93136"/>
                  </a:lnTo>
                  <a:lnTo>
                    <a:pt x="288838" y="67983"/>
                  </a:lnTo>
                  <a:lnTo>
                    <a:pt x="323066" y="36044"/>
                  </a:lnTo>
                  <a:lnTo>
                    <a:pt x="345485" y="151"/>
                  </a:lnTo>
                  <a:lnTo>
                    <a:pt x="363466" y="0"/>
                  </a:lnTo>
                  <a:lnTo>
                    <a:pt x="386303" y="23232"/>
                  </a:lnTo>
                  <a:lnTo>
                    <a:pt x="388334" y="43195"/>
                  </a:lnTo>
                  <a:lnTo>
                    <a:pt x="417609" y="55998"/>
                  </a:lnTo>
                  <a:lnTo>
                    <a:pt x="454690" y="69815"/>
                  </a:lnTo>
                  <a:lnTo>
                    <a:pt x="451525" y="87803"/>
                  </a:lnTo>
                  <a:lnTo>
                    <a:pt x="421700" y="90082"/>
                  </a:lnTo>
                  <a:lnTo>
                    <a:pt x="429639" y="112507"/>
                  </a:lnTo>
                  <a:lnTo>
                    <a:pt x="396911" y="128151"/>
                  </a:lnTo>
                  <a:lnTo>
                    <a:pt x="371628" y="169626"/>
                  </a:lnTo>
                  <a:lnTo>
                    <a:pt x="404303" y="213105"/>
                  </a:lnTo>
                  <a:lnTo>
                    <a:pt x="396626" y="234232"/>
                  </a:lnTo>
                  <a:close/>
                </a:path>
              </a:pathLst>
            </a:custGeom>
            <a:solidFill>
              <a:srgbClr val="E6EBE2"/>
            </a:solidFill>
            <a:ln w="4403">
              <a:solidFill>
                <a:srgbClr val="B6C3B3"/>
              </a:solidFill>
              <a:prstDash val="solid"/>
            </a:ln>
          </p:spPr>
          <p:txBody>
            <a:bodyPr/>
            <a:p/>
          </p:txBody>
        </p:sp>
        <p:sp>
          <p:nvSpPr>
            <p:cNvPr id="51" name="land-35">
              <a:extLst>
                <a:ext uri="{FF2B5EF4-FFF2-40B4-BE49-F238E27FC236}">
                  <a16:creationId xmlns:a16="http://schemas.microsoft.com/office/drawing/2014/main" id="{0C93AB25-2F22-4437-B51F-041FEC265462}"/>
                </a:ext>
              </a:extLst>
            </p:cNvPr>
            <p:cNvSpPr>
              <a:spLocks/>
            </p:cNvSpPr>
            <p:nvPr/>
          </p:nvSpPr>
          <p:spPr>
            <a:xfrm>
              <a:off x="5208420" y="2869560"/>
              <a:ext cx="145954" cy="136485"/>
            </a:xfrm>
            <a:custGeom>
              <a:avLst/>
              <a:gdLst/>
              <a:ahLst/>
              <a:cxnLst/>
              <a:rect l="0" t="0" r="0" b="0"/>
              <a:pathLst>
                <a:path w="205248" h="191932">
                  <a:moveTo>
                    <a:pt x="198109" y="61797"/>
                  </a:moveTo>
                  <a:lnTo>
                    <a:pt x="202629" y="92307"/>
                  </a:lnTo>
                  <a:lnTo>
                    <a:pt x="205248" y="118069"/>
                  </a:lnTo>
                  <a:lnTo>
                    <a:pt x="190106" y="160093"/>
                  </a:lnTo>
                  <a:lnTo>
                    <a:pt x="173866" y="113277"/>
                  </a:lnTo>
                  <a:lnTo>
                    <a:pt x="153082" y="136571"/>
                  </a:lnTo>
                  <a:lnTo>
                    <a:pt x="167276" y="170410"/>
                  </a:lnTo>
                  <a:lnTo>
                    <a:pt x="154534" y="191932"/>
                  </a:lnTo>
                  <a:lnTo>
                    <a:pt x="102229" y="165280"/>
                  </a:lnTo>
                  <a:lnTo>
                    <a:pt x="89735" y="132041"/>
                  </a:lnTo>
                  <a:lnTo>
                    <a:pt x="103290" y="110205"/>
                  </a:lnTo>
                  <a:lnTo>
                    <a:pt x="75133" y="88487"/>
                  </a:lnTo>
                  <a:lnTo>
                    <a:pt x="61170" y="107529"/>
                  </a:lnTo>
                  <a:lnTo>
                    <a:pt x="40253" y="105761"/>
                  </a:lnTo>
                  <a:lnTo>
                    <a:pt x="7360" y="131385"/>
                  </a:lnTo>
                  <a:lnTo>
                    <a:pt x="0" y="117943"/>
                  </a:lnTo>
                  <a:lnTo>
                    <a:pt x="17444" y="79236"/>
                  </a:lnTo>
                  <a:lnTo>
                    <a:pt x="45449" y="66319"/>
                  </a:lnTo>
                  <a:lnTo>
                    <a:pt x="69687" y="49016"/>
                  </a:lnTo>
                  <a:lnTo>
                    <a:pt x="85398" y="69805"/>
                  </a:lnTo>
                  <a:lnTo>
                    <a:pt x="119195" y="57230"/>
                  </a:lnTo>
                  <a:lnTo>
                    <a:pt x="126446" y="36736"/>
                  </a:lnTo>
                  <a:lnTo>
                    <a:pt x="157863" y="35515"/>
                  </a:lnTo>
                  <a:lnTo>
                    <a:pt x="155228" y="0"/>
                  </a:lnTo>
                  <a:lnTo>
                    <a:pt x="191259" y="21780"/>
                  </a:lnTo>
                  <a:lnTo>
                    <a:pt x="194989" y="44907"/>
                  </a:lnTo>
                  <a:lnTo>
                    <a:pt x="198109" y="61797"/>
                  </a:lnTo>
                  <a:close/>
                </a:path>
              </a:pathLst>
            </a:custGeom>
            <a:solidFill>
              <a:srgbClr val="E6EBE2"/>
            </a:solidFill>
            <a:ln w="4403">
              <a:solidFill>
                <a:srgbClr val="B6C3B3"/>
              </a:solidFill>
              <a:prstDash val="solid"/>
            </a:ln>
          </p:spPr>
          <p:txBody>
            <a:bodyPr/>
            <a:p/>
          </p:txBody>
        </p:sp>
        <p:sp>
          <p:nvSpPr>
            <p:cNvPr id="52" name="land-36">
              <a:extLst>
                <a:ext uri="{FF2B5EF4-FFF2-40B4-BE49-F238E27FC236}">
                  <a16:creationId xmlns:a16="http://schemas.microsoft.com/office/drawing/2014/main" id="{98EEFFF4-7133-4052-9A92-285F3ECCEC07}"/>
                </a:ext>
              </a:extLst>
            </p:cNvPr>
            <p:cNvSpPr>
              <a:spLocks/>
            </p:cNvSpPr>
            <p:nvPr/>
          </p:nvSpPr>
          <p:spPr>
            <a:xfrm>
              <a:off x="3873742" y="2867478"/>
              <a:ext cx="66151" cy="125916"/>
            </a:xfrm>
            <a:custGeom>
              <a:avLst/>
              <a:gdLst/>
              <a:ahLst/>
              <a:cxnLst/>
              <a:rect l="0" t="0" r="0" b="0"/>
              <a:pathLst>
                <a:path w="93025" h="177070">
                  <a:moveTo>
                    <a:pt x="67691" y="166564"/>
                  </a:moveTo>
                  <a:lnTo>
                    <a:pt x="29034" y="177070"/>
                  </a:lnTo>
                  <a:lnTo>
                    <a:pt x="7881" y="140556"/>
                  </a:lnTo>
                  <a:lnTo>
                    <a:pt x="0" y="74546"/>
                  </a:lnTo>
                  <a:lnTo>
                    <a:pt x="20120" y="0"/>
                  </a:lnTo>
                  <a:lnTo>
                    <a:pt x="50835" y="25518"/>
                  </a:lnTo>
                  <a:lnTo>
                    <a:pt x="71527" y="57858"/>
                  </a:lnTo>
                  <a:lnTo>
                    <a:pt x="93025" y="105672"/>
                  </a:lnTo>
                  <a:lnTo>
                    <a:pt x="86329" y="153492"/>
                  </a:lnTo>
                  <a:lnTo>
                    <a:pt x="67691" y="166564"/>
                  </a:lnTo>
                  <a:close/>
                </a:path>
              </a:pathLst>
            </a:custGeom>
            <a:solidFill>
              <a:srgbClr val="E6EBE2"/>
            </a:solidFill>
            <a:ln w="4403">
              <a:solidFill>
                <a:srgbClr val="B6C3B3"/>
              </a:solidFill>
              <a:prstDash val="solid"/>
            </a:ln>
          </p:spPr>
          <p:txBody>
            <a:bodyPr/>
            <a:p/>
          </p:txBody>
        </p:sp>
        <p:sp>
          <p:nvSpPr>
            <p:cNvPr id="53" name="land-37">
              <a:extLst>
                <a:ext uri="{FF2B5EF4-FFF2-40B4-BE49-F238E27FC236}">
                  <a16:creationId xmlns:a16="http://schemas.microsoft.com/office/drawing/2014/main" id="{C7C47E3D-CE03-41C3-80CC-F8EED9B2D134}"/>
                </a:ext>
              </a:extLst>
            </p:cNvPr>
            <p:cNvSpPr>
              <a:spLocks/>
            </p:cNvSpPr>
            <p:nvPr/>
          </p:nvSpPr>
          <p:spPr>
            <a:xfrm>
              <a:off x="10775696" y="2832668"/>
              <a:ext cx="33347" cy="29065"/>
            </a:xfrm>
            <a:custGeom>
              <a:avLst/>
              <a:gdLst/>
              <a:ahLst/>
              <a:cxnLst/>
              <a:rect l="0" t="0" r="0" b="0"/>
              <a:pathLst>
                <a:path w="46895" h="40872">
                  <a:moveTo>
                    <a:pt x="45117" y="35821"/>
                  </a:moveTo>
                  <a:lnTo>
                    <a:pt x="8001" y="40872"/>
                  </a:lnTo>
                  <a:lnTo>
                    <a:pt x="0" y="36739"/>
                  </a:lnTo>
                  <a:lnTo>
                    <a:pt x="12890" y="24110"/>
                  </a:lnTo>
                  <a:lnTo>
                    <a:pt x="12001" y="5970"/>
                  </a:lnTo>
                  <a:lnTo>
                    <a:pt x="37560" y="0"/>
                  </a:lnTo>
                  <a:lnTo>
                    <a:pt x="46895" y="1607"/>
                  </a:lnTo>
                  <a:lnTo>
                    <a:pt x="45117" y="35821"/>
                  </a:lnTo>
                  <a:close/>
                </a:path>
              </a:pathLst>
            </a:custGeom>
            <a:solidFill>
              <a:srgbClr val="E6EBE2"/>
            </a:solidFill>
            <a:ln w="4403">
              <a:solidFill>
                <a:srgbClr val="B6C3B3"/>
              </a:solidFill>
              <a:prstDash val="solid"/>
            </a:ln>
          </p:spPr>
          <p:txBody>
            <a:bodyPr/>
            <a:p/>
          </p:txBody>
        </p:sp>
        <p:sp>
          <p:nvSpPr>
            <p:cNvPr id="54" name="land-38">
              <a:extLst>
                <a:ext uri="{FF2B5EF4-FFF2-40B4-BE49-F238E27FC236}">
                  <a16:creationId xmlns:a16="http://schemas.microsoft.com/office/drawing/2014/main" id="{BEE27108-C53D-4DDD-A863-B178E4478C42}"/>
                </a:ext>
              </a:extLst>
            </p:cNvPr>
            <p:cNvSpPr>
              <a:spLocks/>
            </p:cNvSpPr>
            <p:nvPr/>
          </p:nvSpPr>
          <p:spPr>
            <a:xfrm>
              <a:off x="5222964" y="2821476"/>
              <a:ext cx="53668" cy="72190"/>
            </a:xfrm>
            <a:custGeom>
              <a:avLst/>
              <a:gdLst/>
              <a:ahLst/>
              <a:cxnLst/>
              <a:rect l="0" t="0" r="0" b="0"/>
              <a:pathLst>
                <a:path w="75471" h="101517">
                  <a:moveTo>
                    <a:pt x="71226" y="43809"/>
                  </a:moveTo>
                  <a:lnTo>
                    <a:pt x="55257" y="58904"/>
                  </a:lnTo>
                  <a:lnTo>
                    <a:pt x="41333" y="87920"/>
                  </a:lnTo>
                  <a:lnTo>
                    <a:pt x="27374" y="101517"/>
                  </a:lnTo>
                  <a:lnTo>
                    <a:pt x="0" y="69775"/>
                  </a:lnTo>
                  <a:lnTo>
                    <a:pt x="9158" y="57482"/>
                  </a:lnTo>
                  <a:lnTo>
                    <a:pt x="20315" y="44618"/>
                  </a:lnTo>
                  <a:lnTo>
                    <a:pt x="25219" y="16113"/>
                  </a:lnTo>
                  <a:lnTo>
                    <a:pt x="49730" y="13415"/>
                  </a:lnTo>
                  <a:lnTo>
                    <a:pt x="42571" y="44332"/>
                  </a:lnTo>
                  <a:lnTo>
                    <a:pt x="75471" y="0"/>
                  </a:lnTo>
                  <a:lnTo>
                    <a:pt x="71226" y="43809"/>
                  </a:lnTo>
                  <a:close/>
                </a:path>
              </a:pathLst>
            </a:custGeom>
            <a:solidFill>
              <a:srgbClr val="E6EBE2"/>
            </a:solidFill>
            <a:ln w="4403">
              <a:solidFill>
                <a:srgbClr val="B6C3B3"/>
              </a:solidFill>
              <a:prstDash val="solid"/>
            </a:ln>
          </p:spPr>
          <p:txBody>
            <a:bodyPr/>
            <a:p/>
          </p:txBody>
        </p:sp>
        <p:sp>
          <p:nvSpPr>
            <p:cNvPr id="55" name="land-39">
              <a:extLst>
                <a:ext uri="{FF2B5EF4-FFF2-40B4-BE49-F238E27FC236}">
                  <a16:creationId xmlns:a16="http://schemas.microsoft.com/office/drawing/2014/main" id="{24AF4D72-38CC-4966-97CC-8E94CF750DE3}"/>
                </a:ext>
              </a:extLst>
            </p:cNvPr>
            <p:cNvSpPr>
              <a:spLocks/>
            </p:cNvSpPr>
            <p:nvPr/>
          </p:nvSpPr>
          <p:spPr>
            <a:xfrm>
              <a:off x="5058415" y="2817004"/>
              <a:ext cx="79509" cy="98042"/>
            </a:xfrm>
            <a:custGeom>
              <a:avLst/>
              <a:gdLst/>
              <a:ahLst/>
              <a:cxnLst/>
              <a:rect l="0" t="0" r="0" b="0"/>
              <a:pathLst>
                <a:path w="111810" h="137872">
                  <a:moveTo>
                    <a:pt x="59132" y="94295"/>
                  </a:moveTo>
                  <a:lnTo>
                    <a:pt x="0" y="137872"/>
                  </a:lnTo>
                  <a:lnTo>
                    <a:pt x="21789" y="105753"/>
                  </a:lnTo>
                  <a:lnTo>
                    <a:pt x="53902" y="77390"/>
                  </a:lnTo>
                  <a:lnTo>
                    <a:pt x="80591" y="45620"/>
                  </a:lnTo>
                  <a:lnTo>
                    <a:pt x="103889" y="0"/>
                  </a:lnTo>
                  <a:lnTo>
                    <a:pt x="111810" y="37445"/>
                  </a:lnTo>
                  <a:lnTo>
                    <a:pt x="82463" y="62733"/>
                  </a:lnTo>
                  <a:lnTo>
                    <a:pt x="59132" y="94295"/>
                  </a:lnTo>
                  <a:close/>
                </a:path>
              </a:pathLst>
            </a:custGeom>
            <a:solidFill>
              <a:srgbClr val="E6EBE2"/>
            </a:solidFill>
            <a:ln w="4403">
              <a:solidFill>
                <a:srgbClr val="B6C3B3"/>
              </a:solidFill>
              <a:prstDash val="solid"/>
            </a:ln>
          </p:spPr>
          <p:txBody>
            <a:bodyPr/>
            <a:p/>
          </p:txBody>
        </p:sp>
        <p:sp>
          <p:nvSpPr>
            <p:cNvPr id="56" name="land-40">
              <a:extLst>
                <a:ext uri="{FF2B5EF4-FFF2-40B4-BE49-F238E27FC236}">
                  <a16:creationId xmlns:a16="http://schemas.microsoft.com/office/drawing/2014/main" id="{6BEE11DB-715A-480F-A8F4-63FA24DBBD89}"/>
                </a:ext>
              </a:extLst>
            </p:cNvPr>
            <p:cNvSpPr>
              <a:spLocks/>
            </p:cNvSpPr>
            <p:nvPr/>
          </p:nvSpPr>
          <p:spPr>
            <a:xfrm>
              <a:off x="5207270" y="2799954"/>
              <a:ext cx="39090" cy="47377"/>
            </a:xfrm>
            <a:custGeom>
              <a:avLst/>
              <a:gdLst/>
              <a:ahLst/>
              <a:cxnLst/>
              <a:rect l="0" t="0" r="0" b="0"/>
              <a:pathLst>
                <a:path w="54970" h="66624">
                  <a:moveTo>
                    <a:pt x="0" y="0"/>
                  </a:moveTo>
                  <a:lnTo>
                    <a:pt x="26682" y="14217"/>
                  </a:lnTo>
                  <a:lnTo>
                    <a:pt x="54970" y="14149"/>
                  </a:lnTo>
                  <a:lnTo>
                    <a:pt x="54109" y="33333"/>
                  </a:lnTo>
                  <a:lnTo>
                    <a:pt x="33523" y="52833"/>
                  </a:lnTo>
                  <a:lnTo>
                    <a:pt x="5292" y="66624"/>
                  </a:lnTo>
                  <a:lnTo>
                    <a:pt x="3726" y="45284"/>
                  </a:lnTo>
                  <a:lnTo>
                    <a:pt x="6882" y="21856"/>
                  </a:lnTo>
                  <a:lnTo>
                    <a:pt x="0" y="0"/>
                  </a:lnTo>
                  <a:close/>
                </a:path>
              </a:pathLst>
            </a:custGeom>
            <a:solidFill>
              <a:srgbClr val="E6EBE2"/>
            </a:solidFill>
            <a:ln w="4403">
              <a:solidFill>
                <a:srgbClr val="B6C3B3"/>
              </a:solidFill>
              <a:prstDash val="solid"/>
            </a:ln>
          </p:spPr>
          <p:txBody>
            <a:bodyPr/>
            <a:p/>
          </p:txBody>
        </p:sp>
        <p:sp>
          <p:nvSpPr>
            <p:cNvPr id="57" name="land-41">
              <a:extLst>
                <a:ext uri="{FF2B5EF4-FFF2-40B4-BE49-F238E27FC236}">
                  <a16:creationId xmlns:a16="http://schemas.microsoft.com/office/drawing/2014/main" id="{2BCF2852-70E0-4F69-86B6-BE69ADA19E38}"/>
                </a:ext>
              </a:extLst>
            </p:cNvPr>
            <p:cNvSpPr>
              <a:spLocks/>
            </p:cNvSpPr>
            <p:nvPr/>
          </p:nvSpPr>
          <p:spPr>
            <a:xfrm>
              <a:off x="5282601" y="2778204"/>
              <a:ext cx="47941" cy="79131"/>
            </a:xfrm>
            <a:custGeom>
              <a:avLst/>
              <a:gdLst/>
              <a:ahLst/>
              <a:cxnLst/>
              <a:rect l="0" t="0" r="0" b="0"/>
              <a:pathLst>
                <a:path w="67417" h="111278">
                  <a:moveTo>
                    <a:pt x="54931" y="18143"/>
                  </a:moveTo>
                  <a:lnTo>
                    <a:pt x="67417" y="69421"/>
                  </a:lnTo>
                  <a:lnTo>
                    <a:pt x="33121" y="57235"/>
                  </a:lnTo>
                  <a:lnTo>
                    <a:pt x="34049" y="72649"/>
                  </a:lnTo>
                  <a:lnTo>
                    <a:pt x="44925" y="100989"/>
                  </a:lnTo>
                  <a:lnTo>
                    <a:pt x="23783" y="111278"/>
                  </a:lnTo>
                  <a:lnTo>
                    <a:pt x="21932" y="78979"/>
                  </a:lnTo>
                  <a:lnTo>
                    <a:pt x="8549" y="76594"/>
                  </a:lnTo>
                  <a:lnTo>
                    <a:pt x="1590" y="48789"/>
                  </a:lnTo>
                  <a:lnTo>
                    <a:pt x="27748" y="52454"/>
                  </a:lnTo>
                  <a:lnTo>
                    <a:pt x="27169" y="35066"/>
                  </a:lnTo>
                  <a:lnTo>
                    <a:pt x="0" y="0"/>
                  </a:lnTo>
                  <a:lnTo>
                    <a:pt x="42688" y="1012"/>
                  </a:lnTo>
                  <a:lnTo>
                    <a:pt x="54931" y="18143"/>
                  </a:lnTo>
                  <a:close/>
                </a:path>
              </a:pathLst>
            </a:custGeom>
            <a:solidFill>
              <a:srgbClr val="E6EBE2"/>
            </a:solidFill>
            <a:ln w="4403">
              <a:solidFill>
                <a:srgbClr val="B6C3B3"/>
              </a:solidFill>
              <a:prstDash val="solid"/>
            </a:ln>
          </p:spPr>
          <p:txBody>
            <a:bodyPr/>
            <a:p/>
          </p:txBody>
        </p:sp>
        <p:sp>
          <p:nvSpPr>
            <p:cNvPr id="58" name="land-42">
              <a:extLst>
                <a:ext uri="{FF2B5EF4-FFF2-40B4-BE49-F238E27FC236}">
                  <a16:creationId xmlns:a16="http://schemas.microsoft.com/office/drawing/2014/main" id="{C4D16284-BAF7-4649-9C62-C5CE09196B9C}"/>
                </a:ext>
              </a:extLst>
            </p:cNvPr>
            <p:cNvSpPr>
              <a:spLocks/>
            </p:cNvSpPr>
            <p:nvPr/>
          </p:nvSpPr>
          <p:spPr>
            <a:xfrm>
              <a:off x="5157957" y="2748530"/>
              <a:ext cx="38056" cy="41176"/>
            </a:xfrm>
            <a:custGeom>
              <a:avLst/>
              <a:gdLst/>
              <a:ahLst/>
              <a:cxnLst/>
              <a:rect l="0" t="0" r="0" b="0"/>
              <a:pathLst>
                <a:path w="53516" h="57904">
                  <a:moveTo>
                    <a:pt x="53516" y="18224"/>
                  </a:moveTo>
                  <a:lnTo>
                    <a:pt x="41728" y="57904"/>
                  </a:lnTo>
                  <a:lnTo>
                    <a:pt x="22690" y="34990"/>
                  </a:lnTo>
                  <a:lnTo>
                    <a:pt x="0" y="0"/>
                  </a:lnTo>
                  <a:lnTo>
                    <a:pt x="38080" y="1686"/>
                  </a:lnTo>
                  <a:lnTo>
                    <a:pt x="53516" y="18224"/>
                  </a:lnTo>
                  <a:close/>
                </a:path>
              </a:pathLst>
            </a:custGeom>
            <a:solidFill>
              <a:srgbClr val="E6EBE2"/>
            </a:solidFill>
            <a:ln w="4403">
              <a:solidFill>
                <a:srgbClr val="B6C3B3"/>
              </a:solidFill>
              <a:prstDash val="solid"/>
            </a:ln>
          </p:spPr>
          <p:txBody>
            <a:bodyPr/>
            <a:p/>
          </p:txBody>
        </p:sp>
        <p:sp>
          <p:nvSpPr>
            <p:cNvPr id="59" name="land-43">
              <a:extLst>
                <a:ext uri="{FF2B5EF4-FFF2-40B4-BE49-F238E27FC236}">
                  <a16:creationId xmlns:a16="http://schemas.microsoft.com/office/drawing/2014/main" id="{80B0AFA2-682E-499F-8181-15EF85324D7D}"/>
                </a:ext>
              </a:extLst>
            </p:cNvPr>
            <p:cNvSpPr>
              <a:spLocks/>
            </p:cNvSpPr>
            <p:nvPr/>
          </p:nvSpPr>
          <p:spPr>
            <a:xfrm>
              <a:off x="5144060" y="2583977"/>
              <a:ext cx="135840" cy="194916"/>
            </a:xfrm>
            <a:custGeom>
              <a:avLst/>
              <a:gdLst/>
              <a:ahLst/>
              <a:cxnLst/>
              <a:rect l="0" t="0" r="0" b="0"/>
              <a:pathLst>
                <a:path w="191025" h="274100">
                  <a:moveTo>
                    <a:pt x="63898" y="53"/>
                  </a:moveTo>
                  <a:lnTo>
                    <a:pt x="91293" y="13165"/>
                  </a:lnTo>
                  <a:lnTo>
                    <a:pt x="105001" y="1207"/>
                  </a:lnTo>
                  <a:lnTo>
                    <a:pt x="109044" y="12875"/>
                  </a:lnTo>
                  <a:lnTo>
                    <a:pt x="101813" y="31915"/>
                  </a:lnTo>
                  <a:lnTo>
                    <a:pt x="116987" y="64832"/>
                  </a:lnTo>
                  <a:lnTo>
                    <a:pt x="105282" y="102998"/>
                  </a:lnTo>
                  <a:lnTo>
                    <a:pt x="79077" y="118218"/>
                  </a:lnTo>
                  <a:lnTo>
                    <a:pt x="72067" y="155242"/>
                  </a:lnTo>
                  <a:lnTo>
                    <a:pt x="82013" y="191818"/>
                  </a:lnTo>
                  <a:lnTo>
                    <a:pt x="105576" y="196878"/>
                  </a:lnTo>
                  <a:lnTo>
                    <a:pt x="125238" y="191443"/>
                  </a:lnTo>
                  <a:lnTo>
                    <a:pt x="180757" y="216904"/>
                  </a:lnTo>
                  <a:lnTo>
                    <a:pt x="176526" y="241903"/>
                  </a:lnTo>
                  <a:lnTo>
                    <a:pt x="191025" y="252936"/>
                  </a:lnTo>
                  <a:lnTo>
                    <a:pt x="186408" y="274100"/>
                  </a:lnTo>
                  <a:lnTo>
                    <a:pt x="151764" y="251559"/>
                  </a:lnTo>
                  <a:lnTo>
                    <a:pt x="135345" y="227430"/>
                  </a:lnTo>
                  <a:lnTo>
                    <a:pt x="123908" y="244288"/>
                  </a:lnTo>
                  <a:lnTo>
                    <a:pt x="95606" y="216796"/>
                  </a:lnTo>
                  <a:lnTo>
                    <a:pt x="55234" y="223583"/>
                  </a:lnTo>
                  <a:lnTo>
                    <a:pt x="33109" y="213436"/>
                  </a:lnTo>
                  <a:lnTo>
                    <a:pt x="35365" y="194452"/>
                  </a:lnTo>
                  <a:lnTo>
                    <a:pt x="49253" y="182770"/>
                  </a:lnTo>
                  <a:lnTo>
                    <a:pt x="35985" y="172149"/>
                  </a:lnTo>
                  <a:lnTo>
                    <a:pt x="30243" y="188700"/>
                  </a:lnTo>
                  <a:lnTo>
                    <a:pt x="8297" y="162312"/>
                  </a:lnTo>
                  <a:lnTo>
                    <a:pt x="1652" y="142313"/>
                  </a:lnTo>
                  <a:lnTo>
                    <a:pt x="0" y="98348"/>
                  </a:lnTo>
                  <a:lnTo>
                    <a:pt x="17901" y="113460"/>
                  </a:lnTo>
                  <a:lnTo>
                    <a:pt x="22504" y="41614"/>
                  </a:lnTo>
                  <a:lnTo>
                    <a:pt x="36987" y="0"/>
                  </a:lnTo>
                  <a:lnTo>
                    <a:pt x="63898" y="53"/>
                  </a:lnTo>
                  <a:close/>
                </a:path>
              </a:pathLst>
            </a:custGeom>
            <a:solidFill>
              <a:srgbClr val="E6EBE2"/>
            </a:solidFill>
            <a:ln w="4403">
              <a:solidFill>
                <a:srgbClr val="B6C3B3"/>
              </a:solidFill>
              <a:prstDash val="solid"/>
            </a:ln>
          </p:spPr>
          <p:txBody>
            <a:bodyPr/>
            <a:p/>
          </p:txBody>
        </p:sp>
        <p:sp>
          <p:nvSpPr>
            <p:cNvPr id="60" name="land-44">
              <a:extLst>
                <a:ext uri="{FF2B5EF4-FFF2-40B4-BE49-F238E27FC236}">
                  <a16:creationId xmlns:a16="http://schemas.microsoft.com/office/drawing/2014/main" id="{C7ACEBC0-6FB8-464B-A253-458B4988227A}"/>
                </a:ext>
              </a:extLst>
            </p:cNvPr>
            <p:cNvSpPr>
              <a:spLocks/>
            </p:cNvSpPr>
            <p:nvPr/>
          </p:nvSpPr>
          <p:spPr>
            <a:xfrm>
              <a:off x="10608408" y="2583475"/>
              <a:ext cx="52200" cy="18747"/>
            </a:xfrm>
            <a:custGeom>
              <a:avLst/>
              <a:gdLst/>
              <a:ahLst/>
              <a:cxnLst/>
              <a:rect l="0" t="0" r="0" b="0"/>
              <a:pathLst>
                <a:path w="73406" h="26363">
                  <a:moveTo>
                    <a:pt x="73406" y="13436"/>
                  </a:moveTo>
                  <a:lnTo>
                    <a:pt x="62019" y="25015"/>
                  </a:lnTo>
                  <a:lnTo>
                    <a:pt x="28559" y="24743"/>
                  </a:lnTo>
                  <a:lnTo>
                    <a:pt x="2590" y="26363"/>
                  </a:lnTo>
                  <a:lnTo>
                    <a:pt x="0" y="6711"/>
                  </a:lnTo>
                  <a:lnTo>
                    <a:pt x="6301" y="0"/>
                  </a:lnTo>
                  <a:lnTo>
                    <a:pt x="42672" y="268"/>
                  </a:lnTo>
                  <a:lnTo>
                    <a:pt x="65392" y="4313"/>
                  </a:lnTo>
                  <a:lnTo>
                    <a:pt x="73406" y="13436"/>
                  </a:lnTo>
                  <a:close/>
                </a:path>
              </a:pathLst>
            </a:custGeom>
            <a:solidFill>
              <a:srgbClr val="E6EBE2"/>
            </a:solidFill>
            <a:ln w="4403">
              <a:solidFill>
                <a:srgbClr val="B6C3B3"/>
              </a:solidFill>
              <a:prstDash val="solid"/>
            </a:ln>
          </p:spPr>
          <p:txBody>
            <a:bodyPr/>
            <a:p/>
          </p:txBody>
        </p:sp>
        <p:sp>
          <p:nvSpPr>
            <p:cNvPr id="61" name="land-45">
              <a:extLst>
                <a:ext uri="{FF2B5EF4-FFF2-40B4-BE49-F238E27FC236}">
                  <a16:creationId xmlns:a16="http://schemas.microsoft.com/office/drawing/2014/main" id="{4D84F9ED-55DF-44C3-B0B4-084B6A600242}"/>
                </a:ext>
              </a:extLst>
            </p:cNvPr>
            <p:cNvSpPr>
              <a:spLocks/>
            </p:cNvSpPr>
            <p:nvPr/>
          </p:nvSpPr>
          <p:spPr>
            <a:xfrm>
              <a:off x="10257698" y="2583357"/>
              <a:ext cx="67582" cy="26880"/>
            </a:xfrm>
            <a:custGeom>
              <a:avLst/>
              <a:gdLst/>
              <a:ahLst/>
              <a:cxnLst/>
              <a:rect l="0" t="0" r="0" b="0"/>
              <a:pathLst>
                <a:path w="95037" h="37800">
                  <a:moveTo>
                    <a:pt x="63793" y="30125"/>
                  </a:moveTo>
                  <a:lnTo>
                    <a:pt x="50290" y="37800"/>
                  </a:lnTo>
                  <a:lnTo>
                    <a:pt x="25412" y="30430"/>
                  </a:lnTo>
                  <a:lnTo>
                    <a:pt x="0" y="13697"/>
                  </a:lnTo>
                  <a:lnTo>
                    <a:pt x="5334" y="3200"/>
                  </a:lnTo>
                  <a:lnTo>
                    <a:pt x="24019" y="0"/>
                  </a:lnTo>
                  <a:lnTo>
                    <a:pt x="34143" y="1547"/>
                  </a:lnTo>
                  <a:lnTo>
                    <a:pt x="64057" y="5665"/>
                  </a:lnTo>
                  <a:lnTo>
                    <a:pt x="87671" y="16694"/>
                  </a:lnTo>
                  <a:lnTo>
                    <a:pt x="95037" y="29270"/>
                  </a:lnTo>
                  <a:lnTo>
                    <a:pt x="63793" y="30125"/>
                  </a:lnTo>
                  <a:close/>
                </a:path>
              </a:pathLst>
            </a:custGeom>
            <a:solidFill>
              <a:srgbClr val="E6EBE2"/>
            </a:solidFill>
            <a:ln w="4403">
              <a:solidFill>
                <a:srgbClr val="B6C3B3"/>
              </a:solidFill>
              <a:prstDash val="solid"/>
            </a:ln>
          </p:spPr>
          <p:txBody>
            <a:bodyPr/>
            <a:p/>
          </p:txBody>
        </p:sp>
        <p:sp>
          <p:nvSpPr>
            <p:cNvPr id="62" name="land-46">
              <a:extLst>
                <a:ext uri="{FF2B5EF4-FFF2-40B4-BE49-F238E27FC236}">
                  <a16:creationId xmlns:a16="http://schemas.microsoft.com/office/drawing/2014/main" id="{42295BE4-9A06-4204-BAF4-6964FE05D633}"/>
                </a:ext>
              </a:extLst>
            </p:cNvPr>
            <p:cNvSpPr>
              <a:spLocks/>
            </p:cNvSpPr>
            <p:nvPr/>
          </p:nvSpPr>
          <p:spPr>
            <a:xfrm>
              <a:off x="10380331" y="2537915"/>
              <a:ext cx="194081" cy="75671"/>
            </a:xfrm>
            <a:custGeom>
              <a:avLst/>
              <a:gdLst/>
              <a:ahLst/>
              <a:cxnLst/>
              <a:rect l="0" t="0" r="0" b="0"/>
              <a:pathLst>
                <a:path w="272927" h="106412">
                  <a:moveTo>
                    <a:pt x="83493" y="2029"/>
                  </a:moveTo>
                  <a:lnTo>
                    <a:pt x="122045" y="9241"/>
                  </a:lnTo>
                  <a:lnTo>
                    <a:pt x="127604" y="1413"/>
                  </a:lnTo>
                  <a:lnTo>
                    <a:pt x="162302" y="1626"/>
                  </a:lnTo>
                  <a:lnTo>
                    <a:pt x="188631" y="13447"/>
                  </a:lnTo>
                  <a:lnTo>
                    <a:pt x="200346" y="12293"/>
                  </a:lnTo>
                  <a:lnTo>
                    <a:pt x="208416" y="28584"/>
                  </a:lnTo>
                  <a:lnTo>
                    <a:pt x="232736" y="27668"/>
                  </a:lnTo>
                  <a:lnTo>
                    <a:pt x="231304" y="41354"/>
                  </a:lnTo>
                  <a:lnTo>
                    <a:pt x="251081" y="43013"/>
                  </a:lnTo>
                  <a:lnTo>
                    <a:pt x="272927" y="59861"/>
                  </a:lnTo>
                  <a:lnTo>
                    <a:pt x="256420" y="78555"/>
                  </a:lnTo>
                  <a:lnTo>
                    <a:pt x="235278" y="68566"/>
                  </a:lnTo>
                  <a:lnTo>
                    <a:pt x="214873" y="70492"/>
                  </a:lnTo>
                  <a:lnTo>
                    <a:pt x="200252" y="68306"/>
                  </a:lnTo>
                  <a:lnTo>
                    <a:pt x="192237" y="76683"/>
                  </a:lnTo>
                  <a:lnTo>
                    <a:pt x="175173" y="79513"/>
                  </a:lnTo>
                  <a:lnTo>
                    <a:pt x="168409" y="68372"/>
                  </a:lnTo>
                  <a:lnTo>
                    <a:pt x="153712" y="74964"/>
                  </a:lnTo>
                  <a:lnTo>
                    <a:pt x="135920" y="106412"/>
                  </a:lnTo>
                  <a:lnTo>
                    <a:pt x="124477" y="99109"/>
                  </a:lnTo>
                  <a:lnTo>
                    <a:pt x="122225" y="85910"/>
                  </a:lnTo>
                  <a:lnTo>
                    <a:pt x="92703" y="78104"/>
                  </a:lnTo>
                  <a:lnTo>
                    <a:pt x="71726" y="81289"/>
                  </a:lnTo>
                  <a:lnTo>
                    <a:pt x="44605" y="77969"/>
                  </a:lnTo>
                  <a:lnTo>
                    <a:pt x="23807" y="86553"/>
                  </a:lnTo>
                  <a:lnTo>
                    <a:pt x="0" y="72245"/>
                  </a:lnTo>
                  <a:lnTo>
                    <a:pt x="3916" y="57441"/>
                  </a:lnTo>
                  <a:lnTo>
                    <a:pt x="44827" y="63818"/>
                  </a:lnTo>
                  <a:lnTo>
                    <a:pt x="78370" y="67503"/>
                  </a:lnTo>
                  <a:lnTo>
                    <a:pt x="94374" y="57279"/>
                  </a:lnTo>
                  <a:lnTo>
                    <a:pt x="74071" y="37385"/>
                  </a:lnTo>
                  <a:lnTo>
                    <a:pt x="74406" y="19843"/>
                  </a:lnTo>
                  <a:lnTo>
                    <a:pt x="46362" y="12681"/>
                  </a:lnTo>
                  <a:lnTo>
                    <a:pt x="56373" y="0"/>
                  </a:lnTo>
                  <a:lnTo>
                    <a:pt x="83493" y="2029"/>
                  </a:lnTo>
                  <a:close/>
                </a:path>
              </a:pathLst>
            </a:custGeom>
            <a:solidFill>
              <a:srgbClr val="E6EBE2"/>
            </a:solidFill>
            <a:ln w="4403">
              <a:solidFill>
                <a:srgbClr val="B6C3B3"/>
              </a:solidFill>
              <a:prstDash val="solid"/>
            </a:ln>
          </p:spPr>
          <p:txBody>
            <a:bodyPr/>
            <a:p/>
          </p:txBody>
        </p:sp>
        <p:sp>
          <p:nvSpPr>
            <p:cNvPr id="63" name="land-47">
              <a:extLst>
                <a:ext uri="{FF2B5EF4-FFF2-40B4-BE49-F238E27FC236}">
                  <a16:creationId xmlns:a16="http://schemas.microsoft.com/office/drawing/2014/main" id="{CB7AEA47-5876-44DB-944C-D4D2BA5B7418}"/>
                </a:ext>
              </a:extLst>
            </p:cNvPr>
            <p:cNvSpPr>
              <a:spLocks/>
            </p:cNvSpPr>
            <p:nvPr/>
          </p:nvSpPr>
          <p:spPr>
            <a:xfrm>
              <a:off x="4788221" y="2531855"/>
              <a:ext cx="75350" cy="62165"/>
            </a:xfrm>
            <a:custGeom>
              <a:avLst/>
              <a:gdLst/>
              <a:ahLst/>
              <a:cxnLst/>
              <a:rect l="0" t="0" r="0" b="0"/>
              <a:pathLst>
                <a:path w="105961" h="87419">
                  <a:moveTo>
                    <a:pt x="76142" y="65344"/>
                  </a:moveTo>
                  <a:lnTo>
                    <a:pt x="37738" y="87419"/>
                  </a:lnTo>
                  <a:lnTo>
                    <a:pt x="1289" y="73183"/>
                  </a:lnTo>
                  <a:lnTo>
                    <a:pt x="0" y="33679"/>
                  </a:lnTo>
                  <a:lnTo>
                    <a:pt x="21907" y="12869"/>
                  </a:lnTo>
                  <a:lnTo>
                    <a:pt x="70470" y="0"/>
                  </a:lnTo>
                  <a:lnTo>
                    <a:pt x="96027" y="1089"/>
                  </a:lnTo>
                  <a:lnTo>
                    <a:pt x="105961" y="18614"/>
                  </a:lnTo>
                  <a:lnTo>
                    <a:pt x="86430" y="38823"/>
                  </a:lnTo>
                  <a:lnTo>
                    <a:pt x="76142" y="65344"/>
                  </a:lnTo>
                  <a:close/>
                </a:path>
              </a:pathLst>
            </a:custGeom>
            <a:solidFill>
              <a:srgbClr val="E6EBE2"/>
            </a:solidFill>
            <a:ln w="4403">
              <a:solidFill>
                <a:srgbClr val="B6C3B3"/>
              </a:solidFill>
              <a:prstDash val="solid"/>
            </a:ln>
          </p:spPr>
          <p:txBody>
            <a:bodyPr/>
            <a:p/>
          </p:txBody>
        </p:sp>
        <p:sp>
          <p:nvSpPr>
            <p:cNvPr id="64" name="land-48">
              <a:extLst>
                <a:ext uri="{FF2B5EF4-FFF2-40B4-BE49-F238E27FC236}">
                  <a16:creationId xmlns:a16="http://schemas.microsoft.com/office/drawing/2014/main" id="{89DA546E-BE40-4A7E-9CEF-7E55F5E995D6}"/>
                </a:ext>
              </a:extLst>
            </p:cNvPr>
            <p:cNvSpPr>
              <a:spLocks/>
            </p:cNvSpPr>
            <p:nvPr/>
          </p:nvSpPr>
          <p:spPr>
            <a:xfrm>
              <a:off x="7800558" y="2526436"/>
              <a:ext cx="40019" cy="44120"/>
            </a:xfrm>
            <a:custGeom>
              <a:avLst/>
              <a:gdLst/>
              <a:ahLst/>
              <a:cxnLst/>
              <a:rect l="0" t="0" r="0" b="0"/>
              <a:pathLst>
                <a:path w="56276" h="62044">
                  <a:moveTo>
                    <a:pt x="23619" y="54362"/>
                  </a:moveTo>
                  <a:lnTo>
                    <a:pt x="17127" y="62044"/>
                  </a:lnTo>
                  <a:lnTo>
                    <a:pt x="6082" y="55468"/>
                  </a:lnTo>
                  <a:lnTo>
                    <a:pt x="7352" y="42633"/>
                  </a:lnTo>
                  <a:lnTo>
                    <a:pt x="0" y="25914"/>
                  </a:lnTo>
                  <a:lnTo>
                    <a:pt x="2213" y="20803"/>
                  </a:lnTo>
                  <a:lnTo>
                    <a:pt x="9930" y="13314"/>
                  </a:lnTo>
                  <a:lnTo>
                    <a:pt x="6863" y="4283"/>
                  </a:lnTo>
                  <a:lnTo>
                    <a:pt x="9441" y="0"/>
                  </a:lnTo>
                  <a:lnTo>
                    <a:pt x="12820" y="850"/>
                  </a:lnTo>
                  <a:lnTo>
                    <a:pt x="29841" y="8609"/>
                  </a:lnTo>
                  <a:lnTo>
                    <a:pt x="37736" y="12592"/>
                  </a:lnTo>
                  <a:lnTo>
                    <a:pt x="44948" y="18742"/>
                  </a:lnTo>
                  <a:lnTo>
                    <a:pt x="56276" y="34833"/>
                  </a:lnTo>
                  <a:lnTo>
                    <a:pt x="55207" y="37379"/>
                  </a:lnTo>
                  <a:lnTo>
                    <a:pt x="37840" y="47187"/>
                  </a:lnTo>
                  <a:lnTo>
                    <a:pt x="23619" y="54362"/>
                  </a:lnTo>
                  <a:close/>
                </a:path>
              </a:pathLst>
            </a:custGeom>
            <a:solidFill>
              <a:srgbClr val="E6EBE2"/>
            </a:solidFill>
            <a:ln w="4403">
              <a:solidFill>
                <a:srgbClr val="B6C3B3"/>
              </a:solidFill>
              <a:prstDash val="solid"/>
            </a:ln>
          </p:spPr>
          <p:txBody>
            <a:bodyPr/>
            <a:p/>
          </p:txBody>
        </p:sp>
        <p:sp>
          <p:nvSpPr>
            <p:cNvPr id="65" name="land-49">
              <a:extLst>
                <a:ext uri="{FF2B5EF4-FFF2-40B4-BE49-F238E27FC236}">
                  <a16:creationId xmlns:a16="http://schemas.microsoft.com/office/drawing/2014/main" id="{9C9C0D05-1FD8-4F0A-BE9D-412C7BF5090A}"/>
                </a:ext>
              </a:extLst>
            </p:cNvPr>
            <p:cNvSpPr>
              <a:spLocks/>
            </p:cNvSpPr>
            <p:nvPr/>
          </p:nvSpPr>
          <p:spPr>
            <a:xfrm>
              <a:off x="7780420" y="2502097"/>
              <a:ext cx="22597" cy="14372"/>
            </a:xfrm>
            <a:custGeom>
              <a:avLst/>
              <a:gdLst/>
              <a:ahLst/>
              <a:cxnLst/>
              <a:rect l="0" t="0" r="0" b="0"/>
              <a:pathLst>
                <a:path w="31777" h="20210">
                  <a:moveTo>
                    <a:pt x="28061" y="16924"/>
                  </a:moveTo>
                  <a:lnTo>
                    <a:pt x="13162" y="20210"/>
                  </a:lnTo>
                  <a:lnTo>
                    <a:pt x="5504" y="10539"/>
                  </a:lnTo>
                  <a:lnTo>
                    <a:pt x="395" y="6805"/>
                  </a:lnTo>
                  <a:lnTo>
                    <a:pt x="0" y="3937"/>
                  </a:lnTo>
                  <a:lnTo>
                    <a:pt x="4355" y="0"/>
                  </a:lnTo>
                  <a:lnTo>
                    <a:pt x="20155" y="4365"/>
                  </a:lnTo>
                  <a:lnTo>
                    <a:pt x="31777" y="11410"/>
                  </a:lnTo>
                  <a:lnTo>
                    <a:pt x="28061" y="16924"/>
                  </a:lnTo>
                  <a:close/>
                </a:path>
              </a:pathLst>
            </a:custGeom>
            <a:solidFill>
              <a:srgbClr val="E6EBE2"/>
            </a:solidFill>
            <a:ln w="4403">
              <a:solidFill>
                <a:srgbClr val="B6C3B3"/>
              </a:solidFill>
              <a:prstDash val="solid"/>
            </a:ln>
          </p:spPr>
          <p:txBody>
            <a:bodyPr/>
            <a:p/>
          </p:txBody>
        </p:sp>
        <p:sp>
          <p:nvSpPr>
            <p:cNvPr id="66" name="land-50">
              <a:extLst>
                <a:ext uri="{FF2B5EF4-FFF2-40B4-BE49-F238E27FC236}">
                  <a16:creationId xmlns:a16="http://schemas.microsoft.com/office/drawing/2014/main" id="{CE3CAF4E-07EB-4DBC-8E8A-A09202FCDF23}"/>
                </a:ext>
              </a:extLst>
            </p:cNvPr>
            <p:cNvSpPr>
              <a:spLocks/>
            </p:cNvSpPr>
            <p:nvPr/>
          </p:nvSpPr>
          <p:spPr>
            <a:xfrm>
              <a:off x="7730412" y="2479091"/>
              <a:ext cx="20224" cy="14779"/>
            </a:xfrm>
            <a:custGeom>
              <a:avLst/>
              <a:gdLst/>
              <a:ahLst/>
              <a:cxnLst/>
              <a:rect l="0" t="0" r="0" b="0"/>
              <a:pathLst>
                <a:path w="28440" h="20782">
                  <a:moveTo>
                    <a:pt x="28440" y="18130"/>
                  </a:moveTo>
                  <a:lnTo>
                    <a:pt x="26031" y="20782"/>
                  </a:lnTo>
                  <a:lnTo>
                    <a:pt x="22850" y="20191"/>
                  </a:lnTo>
                  <a:lnTo>
                    <a:pt x="7378" y="18577"/>
                  </a:lnTo>
                  <a:lnTo>
                    <a:pt x="1727" y="8164"/>
                  </a:lnTo>
                  <a:lnTo>
                    <a:pt x="0" y="6330"/>
                  </a:lnTo>
                  <a:lnTo>
                    <a:pt x="11888" y="0"/>
                  </a:lnTo>
                  <a:lnTo>
                    <a:pt x="15604" y="2950"/>
                  </a:lnTo>
                  <a:lnTo>
                    <a:pt x="28440" y="18130"/>
                  </a:lnTo>
                  <a:close/>
                </a:path>
              </a:pathLst>
            </a:custGeom>
            <a:solidFill>
              <a:srgbClr val="E6EBE2"/>
            </a:solidFill>
            <a:ln w="4403">
              <a:solidFill>
                <a:srgbClr val="B6C3B3"/>
              </a:solidFill>
              <a:prstDash val="solid"/>
            </a:ln>
          </p:spPr>
          <p:txBody>
            <a:bodyPr/>
            <a:p/>
          </p:txBody>
        </p:sp>
        <p:sp>
          <p:nvSpPr>
            <p:cNvPr id="67" name="land-51">
              <a:extLst>
                <a:ext uri="{FF2B5EF4-FFF2-40B4-BE49-F238E27FC236}">
                  <a16:creationId xmlns:a16="http://schemas.microsoft.com/office/drawing/2014/main" id="{85B9EE6F-BA26-4F0D-A3B8-80640DE4429D}"/>
                </a:ext>
              </a:extLst>
            </p:cNvPr>
            <p:cNvSpPr>
              <a:spLocks/>
            </p:cNvSpPr>
            <p:nvPr/>
          </p:nvSpPr>
          <p:spPr>
            <a:xfrm>
              <a:off x="7682750" y="2462135"/>
              <a:ext cx="14394" cy="11534"/>
            </a:xfrm>
            <a:custGeom>
              <a:avLst/>
              <a:gdLst/>
              <a:ahLst/>
              <a:cxnLst/>
              <a:rect l="0" t="0" r="0" b="0"/>
              <a:pathLst>
                <a:path w="20242" h="16220">
                  <a:moveTo>
                    <a:pt x="20242" y="11673"/>
                  </a:moveTo>
                  <a:lnTo>
                    <a:pt x="14970" y="16220"/>
                  </a:lnTo>
                  <a:lnTo>
                    <a:pt x="0" y="7846"/>
                  </a:lnTo>
                  <a:lnTo>
                    <a:pt x="2300" y="4500"/>
                  </a:lnTo>
                  <a:lnTo>
                    <a:pt x="9082" y="0"/>
                  </a:lnTo>
                  <a:lnTo>
                    <a:pt x="19328" y="975"/>
                  </a:lnTo>
                  <a:lnTo>
                    <a:pt x="20242" y="11673"/>
                  </a:lnTo>
                  <a:close/>
                </a:path>
              </a:pathLst>
            </a:custGeom>
            <a:solidFill>
              <a:srgbClr val="E6EBE2"/>
            </a:solidFill>
            <a:ln w="4403">
              <a:solidFill>
                <a:srgbClr val="B6C3B3"/>
              </a:solidFill>
              <a:prstDash val="solid"/>
            </a:ln>
          </p:spPr>
          <p:txBody>
            <a:bodyPr/>
            <a:p/>
          </p:txBody>
        </p:sp>
        <p:sp>
          <p:nvSpPr>
            <p:cNvPr id="68" name="land-52">
              <a:extLst>
                <a:ext uri="{FF2B5EF4-FFF2-40B4-BE49-F238E27FC236}">
                  <a16:creationId xmlns:a16="http://schemas.microsoft.com/office/drawing/2014/main" id="{3C1CBFC3-38AC-4BDE-9C8C-B9461E62B2D9}"/>
                </a:ext>
              </a:extLst>
            </p:cNvPr>
            <p:cNvSpPr>
              <a:spLocks/>
            </p:cNvSpPr>
            <p:nvPr/>
          </p:nvSpPr>
          <p:spPr>
            <a:xfrm>
              <a:off x="10047904" y="2431031"/>
              <a:ext cx="341278" cy="108851"/>
            </a:xfrm>
            <a:custGeom>
              <a:avLst/>
              <a:gdLst/>
              <a:ahLst/>
              <a:cxnLst/>
              <a:rect l="0" t="0" r="0" b="0"/>
              <a:pathLst>
                <a:path w="479922" h="153071">
                  <a:moveTo>
                    <a:pt x="235380" y="19440"/>
                  </a:moveTo>
                  <a:lnTo>
                    <a:pt x="253073" y="36253"/>
                  </a:lnTo>
                  <a:lnTo>
                    <a:pt x="294591" y="31065"/>
                  </a:lnTo>
                  <a:lnTo>
                    <a:pt x="310333" y="41856"/>
                  </a:lnTo>
                  <a:lnTo>
                    <a:pt x="347976" y="70299"/>
                  </a:lnTo>
                  <a:lnTo>
                    <a:pt x="375651" y="91012"/>
                  </a:lnTo>
                  <a:lnTo>
                    <a:pt x="390284" y="90381"/>
                  </a:lnTo>
                  <a:lnTo>
                    <a:pt x="416794" y="99747"/>
                  </a:lnTo>
                  <a:lnTo>
                    <a:pt x="413556" y="112676"/>
                  </a:lnTo>
                  <a:lnTo>
                    <a:pt x="446323" y="114567"/>
                  </a:lnTo>
                  <a:lnTo>
                    <a:pt x="479922" y="133363"/>
                  </a:lnTo>
                  <a:lnTo>
                    <a:pt x="474649" y="144121"/>
                  </a:lnTo>
                  <a:lnTo>
                    <a:pt x="445092" y="149950"/>
                  </a:lnTo>
                  <a:lnTo>
                    <a:pt x="415173" y="152231"/>
                  </a:lnTo>
                  <a:lnTo>
                    <a:pt x="384548" y="148598"/>
                  </a:lnTo>
                  <a:lnTo>
                    <a:pt x="320904" y="153071"/>
                  </a:lnTo>
                  <a:lnTo>
                    <a:pt x="350702" y="127451"/>
                  </a:lnTo>
                  <a:lnTo>
                    <a:pt x="332586" y="115522"/>
                  </a:lnTo>
                  <a:lnTo>
                    <a:pt x="303932" y="112453"/>
                  </a:lnTo>
                  <a:lnTo>
                    <a:pt x="288573" y="99196"/>
                  </a:lnTo>
                  <a:lnTo>
                    <a:pt x="278037" y="73042"/>
                  </a:lnTo>
                  <a:lnTo>
                    <a:pt x="252917" y="74830"/>
                  </a:lnTo>
                  <a:lnTo>
                    <a:pt x="211468" y="62516"/>
                  </a:lnTo>
                  <a:lnTo>
                    <a:pt x="198130" y="52883"/>
                  </a:lnTo>
                  <a:lnTo>
                    <a:pt x="140194" y="45766"/>
                  </a:lnTo>
                  <a:lnTo>
                    <a:pt x="124679" y="36808"/>
                  </a:lnTo>
                  <a:lnTo>
                    <a:pt x="141347" y="25334"/>
                  </a:lnTo>
                  <a:lnTo>
                    <a:pt x="97746" y="22983"/>
                  </a:lnTo>
                  <a:lnTo>
                    <a:pt x="65806" y="46847"/>
                  </a:lnTo>
                  <a:lnTo>
                    <a:pt x="47389" y="47488"/>
                  </a:lnTo>
                  <a:lnTo>
                    <a:pt x="41017" y="58693"/>
                  </a:lnTo>
                  <a:lnTo>
                    <a:pt x="19019" y="63714"/>
                  </a:lnTo>
                  <a:lnTo>
                    <a:pt x="0" y="59361"/>
                  </a:lnTo>
                  <a:lnTo>
                    <a:pt x="23463" y="45174"/>
                  </a:lnTo>
                  <a:lnTo>
                    <a:pt x="33095" y="28604"/>
                  </a:lnTo>
                  <a:lnTo>
                    <a:pt x="53192" y="18392"/>
                  </a:lnTo>
                  <a:lnTo>
                    <a:pt x="75892" y="9441"/>
                  </a:lnTo>
                  <a:lnTo>
                    <a:pt x="109546" y="5045"/>
                  </a:lnTo>
                  <a:lnTo>
                    <a:pt x="120315" y="0"/>
                  </a:lnTo>
                  <a:lnTo>
                    <a:pt x="158707" y="3276"/>
                  </a:lnTo>
                  <a:lnTo>
                    <a:pt x="193631" y="3795"/>
                  </a:lnTo>
                  <a:lnTo>
                    <a:pt x="235380" y="19440"/>
                  </a:lnTo>
                  <a:close/>
                </a:path>
              </a:pathLst>
            </a:custGeom>
            <a:solidFill>
              <a:srgbClr val="E6EBE2"/>
            </a:solidFill>
            <a:ln w="4403">
              <a:solidFill>
                <a:srgbClr val="B6C3B3"/>
              </a:solidFill>
              <a:prstDash val="solid"/>
            </a:ln>
          </p:spPr>
          <p:txBody>
            <a:bodyPr/>
            <a:p/>
          </p:txBody>
        </p:sp>
        <p:sp>
          <p:nvSpPr>
            <p:cNvPr id="69" name="land-53">
              <a:extLst>
                <a:ext uri="{FF2B5EF4-FFF2-40B4-BE49-F238E27FC236}">
                  <a16:creationId xmlns:a16="http://schemas.microsoft.com/office/drawing/2014/main" id="{4E394A17-0A16-4528-A496-E40D24F4661F}"/>
                </a:ext>
              </a:extLst>
            </p:cNvPr>
            <p:cNvSpPr>
              <a:spLocks/>
            </p:cNvSpPr>
            <p:nvPr/>
          </p:nvSpPr>
          <p:spPr>
            <a:xfrm>
              <a:off x="10255462" y="2365008"/>
              <a:ext cx="27620" cy="48996"/>
            </a:xfrm>
            <a:custGeom>
              <a:avLst/>
              <a:gdLst/>
              <a:ahLst/>
              <a:cxnLst/>
              <a:rect l="0" t="0" r="0" b="0"/>
              <a:pathLst>
                <a:path w="38841" h="68900">
                  <a:moveTo>
                    <a:pt x="38841" y="66615"/>
                  </a:moveTo>
                  <a:lnTo>
                    <a:pt x="27936" y="68900"/>
                  </a:lnTo>
                  <a:lnTo>
                    <a:pt x="16643" y="42441"/>
                  </a:lnTo>
                  <a:lnTo>
                    <a:pt x="0" y="29146"/>
                  </a:lnTo>
                  <a:lnTo>
                    <a:pt x="9673" y="0"/>
                  </a:lnTo>
                  <a:lnTo>
                    <a:pt x="23046" y="1851"/>
                  </a:lnTo>
                  <a:lnTo>
                    <a:pt x="38604" y="39968"/>
                  </a:lnTo>
                  <a:lnTo>
                    <a:pt x="38841" y="66615"/>
                  </a:lnTo>
                  <a:close/>
                </a:path>
              </a:pathLst>
            </a:custGeom>
            <a:solidFill>
              <a:srgbClr val="E6EBE2"/>
            </a:solidFill>
            <a:ln w="4403">
              <a:solidFill>
                <a:srgbClr val="B6C3B3"/>
              </a:solidFill>
              <a:prstDash val="solid"/>
            </a:ln>
          </p:spPr>
          <p:txBody>
            <a:bodyPr/>
            <a:p/>
          </p:txBody>
        </p:sp>
        <p:sp>
          <p:nvSpPr>
            <p:cNvPr id="70" name="land-54">
              <a:extLst>
                <a:ext uri="{FF2B5EF4-FFF2-40B4-BE49-F238E27FC236}">
                  <a16:creationId xmlns:a16="http://schemas.microsoft.com/office/drawing/2014/main" id="{CA3FFF15-53A2-46C3-BA92-20535C6B9D5D}"/>
                </a:ext>
              </a:extLst>
            </p:cNvPr>
            <p:cNvSpPr>
              <a:spLocks/>
            </p:cNvSpPr>
            <p:nvPr/>
          </p:nvSpPr>
          <p:spPr>
            <a:xfrm>
              <a:off x="5151090" y="2362227"/>
              <a:ext cx="58320" cy="108581"/>
            </a:xfrm>
            <a:custGeom>
              <a:avLst/>
              <a:gdLst/>
              <a:ahLst/>
              <a:cxnLst/>
              <a:rect l="0" t="0" r="0" b="0"/>
              <a:pathLst>
                <a:path w="82013" h="152693">
                  <a:moveTo>
                    <a:pt x="47537" y="115022"/>
                  </a:moveTo>
                  <a:lnTo>
                    <a:pt x="28488" y="152693"/>
                  </a:lnTo>
                  <a:lnTo>
                    <a:pt x="5063" y="113919"/>
                  </a:lnTo>
                  <a:lnTo>
                    <a:pt x="0" y="79871"/>
                  </a:lnTo>
                  <a:lnTo>
                    <a:pt x="26158" y="34765"/>
                  </a:lnTo>
                  <a:lnTo>
                    <a:pt x="61735" y="0"/>
                  </a:lnTo>
                  <a:lnTo>
                    <a:pt x="82013" y="13679"/>
                  </a:lnTo>
                  <a:lnTo>
                    <a:pt x="74304" y="41386"/>
                  </a:lnTo>
                  <a:lnTo>
                    <a:pt x="47537" y="115022"/>
                  </a:lnTo>
                  <a:close/>
                </a:path>
              </a:pathLst>
            </a:custGeom>
            <a:solidFill>
              <a:srgbClr val="E6EBE2"/>
            </a:solidFill>
            <a:ln w="4403">
              <a:solidFill>
                <a:srgbClr val="B6C3B3"/>
              </a:solidFill>
              <a:prstDash val="solid"/>
            </a:ln>
          </p:spPr>
          <p:txBody>
            <a:bodyPr/>
            <a:p/>
          </p:txBody>
        </p:sp>
        <p:sp>
          <p:nvSpPr>
            <p:cNvPr id="71" name="land-55">
              <a:extLst>
                <a:ext uri="{FF2B5EF4-FFF2-40B4-BE49-F238E27FC236}">
                  <a16:creationId xmlns:a16="http://schemas.microsoft.com/office/drawing/2014/main" id="{355EC1FB-AF8A-4192-BD48-0A0ADDF3C4E8}"/>
                </a:ext>
              </a:extLst>
            </p:cNvPr>
            <p:cNvSpPr>
              <a:spLocks/>
            </p:cNvSpPr>
            <p:nvPr/>
          </p:nvSpPr>
          <p:spPr>
            <a:xfrm>
              <a:off x="10237397" y="2310807"/>
              <a:ext cx="36666" cy="14696"/>
            </a:xfrm>
            <a:custGeom>
              <a:avLst/>
              <a:gdLst/>
              <a:ahLst/>
              <a:cxnLst/>
              <a:rect l="0" t="0" r="0" b="0"/>
              <a:pathLst>
                <a:path w="51562" h="20666">
                  <a:moveTo>
                    <a:pt x="51562" y="13318"/>
                  </a:moveTo>
                  <a:lnTo>
                    <a:pt x="3112" y="20666"/>
                  </a:lnTo>
                  <a:lnTo>
                    <a:pt x="0" y="3674"/>
                  </a:lnTo>
                  <a:lnTo>
                    <a:pt x="20892" y="0"/>
                  </a:lnTo>
                  <a:lnTo>
                    <a:pt x="50229" y="1378"/>
                  </a:lnTo>
                  <a:lnTo>
                    <a:pt x="51562" y="13318"/>
                  </a:lnTo>
                  <a:close/>
                </a:path>
              </a:pathLst>
            </a:custGeom>
            <a:solidFill>
              <a:srgbClr val="E6EBE2"/>
            </a:solidFill>
            <a:ln w="4403">
              <a:solidFill>
                <a:srgbClr val="B6C3B3"/>
              </a:solidFill>
              <a:prstDash val="solid"/>
            </a:ln>
          </p:spPr>
          <p:txBody>
            <a:bodyPr/>
            <a:p/>
          </p:txBody>
        </p:sp>
        <p:sp>
          <p:nvSpPr>
            <p:cNvPr id="72" name="land-56">
              <a:extLst>
                <a:ext uri="{FF2B5EF4-FFF2-40B4-BE49-F238E27FC236}">
                  <a16:creationId xmlns:a16="http://schemas.microsoft.com/office/drawing/2014/main" id="{0BCCA330-B425-4CFF-8A25-96B15F4E8FE6}"/>
                </a:ext>
              </a:extLst>
            </p:cNvPr>
            <p:cNvSpPr>
              <a:spLocks/>
            </p:cNvSpPr>
            <p:nvPr/>
          </p:nvSpPr>
          <p:spPr>
            <a:xfrm>
              <a:off x="10275011" y="2305256"/>
              <a:ext cx="24971" cy="37909"/>
            </a:xfrm>
            <a:custGeom>
              <a:avLst/>
              <a:gdLst/>
              <a:ahLst/>
              <a:cxnLst/>
              <a:rect l="0" t="0" r="0" b="0"/>
              <a:pathLst>
                <a:path w="35116" h="53310">
                  <a:moveTo>
                    <a:pt x="35116" y="20666"/>
                  </a:moveTo>
                  <a:lnTo>
                    <a:pt x="27446" y="53310"/>
                  </a:lnTo>
                  <a:lnTo>
                    <a:pt x="19273" y="47424"/>
                  </a:lnTo>
                  <a:lnTo>
                    <a:pt x="20002" y="23421"/>
                  </a:lnTo>
                  <a:lnTo>
                    <a:pt x="88" y="5274"/>
                  </a:lnTo>
                  <a:lnTo>
                    <a:pt x="0" y="0"/>
                  </a:lnTo>
                  <a:lnTo>
                    <a:pt x="35116" y="20666"/>
                  </a:lnTo>
                  <a:close/>
                </a:path>
              </a:pathLst>
            </a:custGeom>
            <a:solidFill>
              <a:srgbClr val="E6EBE2"/>
            </a:solidFill>
            <a:ln w="4403">
              <a:solidFill>
                <a:srgbClr val="B6C3B3"/>
              </a:solidFill>
              <a:prstDash val="solid"/>
            </a:ln>
          </p:spPr>
          <p:txBody>
            <a:bodyPr/>
            <a:p/>
          </p:txBody>
        </p:sp>
        <p:sp>
          <p:nvSpPr>
            <p:cNvPr id="73" name="land-57">
              <a:extLst>
                <a:ext uri="{FF2B5EF4-FFF2-40B4-BE49-F238E27FC236}">
                  <a16:creationId xmlns:a16="http://schemas.microsoft.com/office/drawing/2014/main" id="{7A32A970-00A7-44E6-BC54-9B6B3287C92C}"/>
                </a:ext>
              </a:extLst>
            </p:cNvPr>
            <p:cNvSpPr>
              <a:spLocks/>
            </p:cNvSpPr>
            <p:nvPr/>
          </p:nvSpPr>
          <p:spPr>
            <a:xfrm>
              <a:off x="5538518" y="2066044"/>
              <a:ext cx="75965" cy="54223"/>
            </a:xfrm>
            <a:custGeom>
              <a:avLst/>
              <a:gdLst/>
              <a:ahLst/>
              <a:cxnLst/>
              <a:rect l="0" t="0" r="0" b="0"/>
              <a:pathLst>
                <a:path w="106825" h="76251">
                  <a:moveTo>
                    <a:pt x="101138" y="9906"/>
                  </a:moveTo>
                  <a:lnTo>
                    <a:pt x="106825" y="25653"/>
                  </a:lnTo>
                  <a:lnTo>
                    <a:pt x="81801" y="53444"/>
                  </a:lnTo>
                  <a:lnTo>
                    <a:pt x="63556" y="38712"/>
                  </a:lnTo>
                  <a:lnTo>
                    <a:pt x="40767" y="49385"/>
                  </a:lnTo>
                  <a:lnTo>
                    <a:pt x="28970" y="76251"/>
                  </a:lnTo>
                  <a:lnTo>
                    <a:pt x="0" y="63171"/>
                  </a:lnTo>
                  <a:lnTo>
                    <a:pt x="358" y="41391"/>
                  </a:lnTo>
                  <a:lnTo>
                    <a:pt x="24948" y="13990"/>
                  </a:lnTo>
                  <a:lnTo>
                    <a:pt x="50222" y="19302"/>
                  </a:lnTo>
                  <a:lnTo>
                    <a:pt x="68497" y="0"/>
                  </a:lnTo>
                  <a:lnTo>
                    <a:pt x="101138" y="9906"/>
                  </a:lnTo>
                  <a:close/>
                </a:path>
              </a:pathLst>
            </a:custGeom>
            <a:solidFill>
              <a:srgbClr val="E6EBE2"/>
            </a:solidFill>
            <a:ln w="4403">
              <a:solidFill>
                <a:srgbClr val="B6C3B3"/>
              </a:solidFill>
              <a:prstDash val="solid"/>
            </a:ln>
          </p:spPr>
          <p:txBody>
            <a:bodyPr/>
            <a:p/>
          </p:txBody>
        </p:sp>
        <p:sp>
          <p:nvSpPr>
            <p:cNvPr id="74" name="land-58">
              <a:extLst>
                <a:ext uri="{FF2B5EF4-FFF2-40B4-BE49-F238E27FC236}">
                  <a16:creationId xmlns:a16="http://schemas.microsoft.com/office/drawing/2014/main" id="{021FE060-3E6C-44D0-8435-50DB13CCCF2D}"/>
                </a:ext>
              </a:extLst>
            </p:cNvPr>
            <p:cNvSpPr>
              <a:spLocks/>
            </p:cNvSpPr>
            <p:nvPr/>
          </p:nvSpPr>
          <p:spPr>
            <a:xfrm>
              <a:off x="2374264" y="2023372"/>
              <a:ext cx="73327" cy="35914"/>
            </a:xfrm>
            <a:custGeom>
              <a:avLst/>
              <a:gdLst/>
              <a:ahLst/>
              <a:cxnLst/>
              <a:rect l="0" t="0" r="0" b="0"/>
              <a:pathLst>
                <a:path w="103115" h="50504">
                  <a:moveTo>
                    <a:pt x="103115" y="0"/>
                  </a:moveTo>
                  <a:lnTo>
                    <a:pt x="73082" y="19556"/>
                  </a:lnTo>
                  <a:lnTo>
                    <a:pt x="76318" y="28156"/>
                  </a:lnTo>
                  <a:lnTo>
                    <a:pt x="77708" y="31848"/>
                  </a:lnTo>
                  <a:lnTo>
                    <a:pt x="32144" y="50504"/>
                  </a:lnTo>
                  <a:lnTo>
                    <a:pt x="10385" y="44544"/>
                  </a:lnTo>
                  <a:lnTo>
                    <a:pt x="0" y="26102"/>
                  </a:lnTo>
                  <a:lnTo>
                    <a:pt x="21119" y="24412"/>
                  </a:lnTo>
                  <a:lnTo>
                    <a:pt x="24261" y="24160"/>
                  </a:lnTo>
                  <a:lnTo>
                    <a:pt x="30684" y="13083"/>
                  </a:lnTo>
                  <a:lnTo>
                    <a:pt x="62699" y="13703"/>
                  </a:lnTo>
                  <a:lnTo>
                    <a:pt x="103115" y="0"/>
                  </a:lnTo>
                  <a:close/>
                </a:path>
              </a:pathLst>
            </a:custGeom>
            <a:solidFill>
              <a:srgbClr val="E6EBE2"/>
            </a:solidFill>
            <a:ln w="4403">
              <a:solidFill>
                <a:srgbClr val="B6C3B3"/>
              </a:solidFill>
              <a:prstDash val="solid"/>
            </a:ln>
          </p:spPr>
          <p:txBody>
            <a:bodyPr/>
            <a:p/>
          </p:txBody>
        </p:sp>
        <p:sp>
          <p:nvSpPr>
            <p:cNvPr id="75" name="land-59">
              <a:extLst>
                <a:ext uri="{FF2B5EF4-FFF2-40B4-BE49-F238E27FC236}">
                  <a16:creationId xmlns:a16="http://schemas.microsoft.com/office/drawing/2014/main" id="{1F048B11-FB52-4837-AF60-EE45D7798B96}"/>
                </a:ext>
              </a:extLst>
            </p:cNvPr>
            <p:cNvSpPr>
              <a:spLocks/>
            </p:cNvSpPr>
            <p:nvPr/>
          </p:nvSpPr>
          <p:spPr>
            <a:xfrm>
              <a:off x="2097949" y="2022281"/>
              <a:ext cx="87715" cy="25636"/>
            </a:xfrm>
            <a:custGeom>
              <a:avLst/>
              <a:gdLst/>
              <a:ahLst/>
              <a:cxnLst/>
              <a:rect l="0" t="0" r="0" b="0"/>
              <a:pathLst>
                <a:path w="123350" h="36051">
                  <a:moveTo>
                    <a:pt x="8223" y="0"/>
                  </a:moveTo>
                  <a:lnTo>
                    <a:pt x="32523" y="15476"/>
                  </a:lnTo>
                  <a:lnTo>
                    <a:pt x="67121" y="12859"/>
                  </a:lnTo>
                  <a:lnTo>
                    <a:pt x="100201" y="16119"/>
                  </a:lnTo>
                  <a:lnTo>
                    <a:pt x="99126" y="24110"/>
                  </a:lnTo>
                  <a:lnTo>
                    <a:pt x="123350" y="18600"/>
                  </a:lnTo>
                  <a:lnTo>
                    <a:pt x="117793" y="32147"/>
                  </a:lnTo>
                  <a:lnTo>
                    <a:pt x="53785" y="36051"/>
                  </a:lnTo>
                  <a:lnTo>
                    <a:pt x="54230" y="28474"/>
                  </a:lnTo>
                  <a:lnTo>
                    <a:pt x="0" y="19518"/>
                  </a:lnTo>
                  <a:lnTo>
                    <a:pt x="8223" y="0"/>
                  </a:lnTo>
                  <a:close/>
                </a:path>
              </a:pathLst>
            </a:custGeom>
            <a:solidFill>
              <a:srgbClr val="E6EBE2"/>
            </a:solidFill>
            <a:ln w="4403">
              <a:solidFill>
                <a:srgbClr val="B6C3B3"/>
              </a:solidFill>
              <a:prstDash val="solid"/>
            </a:ln>
          </p:spPr>
          <p:txBody>
            <a:bodyPr/>
            <a:p/>
          </p:txBody>
        </p:sp>
        <p:sp>
          <p:nvSpPr>
            <p:cNvPr id="76" name="land-60">
              <a:extLst>
                <a:ext uri="{FF2B5EF4-FFF2-40B4-BE49-F238E27FC236}">
                  <a16:creationId xmlns:a16="http://schemas.microsoft.com/office/drawing/2014/main" id="{B935703E-0E19-4B7E-947B-DE68A3B671AD}"/>
                </a:ext>
              </a:extLst>
            </p:cNvPr>
            <p:cNvSpPr>
              <a:spLocks/>
            </p:cNvSpPr>
            <p:nvPr/>
          </p:nvSpPr>
          <p:spPr>
            <a:xfrm>
              <a:off x="1747597" y="1939784"/>
              <a:ext cx="97652" cy="52616"/>
            </a:xfrm>
            <a:custGeom>
              <a:avLst/>
              <a:gdLst/>
              <a:ahLst/>
              <a:cxnLst/>
              <a:rect l="0" t="0" r="0" b="0"/>
              <a:pathLst>
                <a:path w="137323" h="73991">
                  <a:moveTo>
                    <a:pt x="137323" y="0"/>
                  </a:moveTo>
                  <a:lnTo>
                    <a:pt x="121315" y="36147"/>
                  </a:lnTo>
                  <a:lnTo>
                    <a:pt x="127967" y="50376"/>
                  </a:lnTo>
                  <a:lnTo>
                    <a:pt x="118636" y="73991"/>
                  </a:lnTo>
                  <a:lnTo>
                    <a:pt x="84643" y="56694"/>
                  </a:lnTo>
                  <a:lnTo>
                    <a:pt x="62040" y="51739"/>
                  </a:lnTo>
                  <a:lnTo>
                    <a:pt x="0" y="28391"/>
                  </a:lnTo>
                  <a:lnTo>
                    <a:pt x="6220" y="4812"/>
                  </a:lnTo>
                  <a:lnTo>
                    <a:pt x="58236" y="9010"/>
                  </a:lnTo>
                  <a:lnTo>
                    <a:pt x="103579" y="4008"/>
                  </a:lnTo>
                  <a:lnTo>
                    <a:pt x="137323" y="0"/>
                  </a:lnTo>
                  <a:close/>
                </a:path>
              </a:pathLst>
            </a:custGeom>
            <a:solidFill>
              <a:srgbClr val="E6EBE2"/>
            </a:solidFill>
            <a:ln w="4403">
              <a:solidFill>
                <a:srgbClr val="B6C3B3"/>
              </a:solidFill>
              <a:prstDash val="solid"/>
            </a:ln>
          </p:spPr>
          <p:txBody>
            <a:bodyPr/>
            <a:p/>
          </p:txBody>
        </p:sp>
        <p:sp>
          <p:nvSpPr>
            <p:cNvPr id="77" name="land-61">
              <a:extLst>
                <a:ext uri="{FF2B5EF4-FFF2-40B4-BE49-F238E27FC236}">
                  <a16:creationId xmlns:a16="http://schemas.microsoft.com/office/drawing/2014/main" id="{F82710E5-AC3C-49DD-BF35-CF4EB74B9F53}"/>
                </a:ext>
              </a:extLst>
            </p:cNvPr>
            <p:cNvSpPr>
              <a:spLocks/>
            </p:cNvSpPr>
            <p:nvPr/>
          </p:nvSpPr>
          <p:spPr>
            <a:xfrm>
              <a:off x="1612595" y="1842504"/>
              <a:ext cx="52154" cy="75222"/>
            </a:xfrm>
            <a:custGeom>
              <a:avLst/>
              <a:gdLst/>
              <a:ahLst/>
              <a:cxnLst/>
              <a:rect l="0" t="0" r="0" b="0"/>
              <a:pathLst>
                <a:path w="73341" h="105780">
                  <a:moveTo>
                    <a:pt x="46673" y="0"/>
                  </a:moveTo>
                  <a:lnTo>
                    <a:pt x="73341" y="32605"/>
                  </a:lnTo>
                  <a:lnTo>
                    <a:pt x="67098" y="93346"/>
                  </a:lnTo>
                  <a:lnTo>
                    <a:pt x="46887" y="90448"/>
                  </a:lnTo>
                  <a:lnTo>
                    <a:pt x="28756" y="105780"/>
                  </a:lnTo>
                  <a:lnTo>
                    <a:pt x="11926" y="93600"/>
                  </a:lnTo>
                  <a:lnTo>
                    <a:pt x="10146" y="38194"/>
                  </a:lnTo>
                  <a:lnTo>
                    <a:pt x="0" y="11940"/>
                  </a:lnTo>
                  <a:lnTo>
                    <a:pt x="24447" y="14237"/>
                  </a:lnTo>
                  <a:lnTo>
                    <a:pt x="46673" y="0"/>
                  </a:lnTo>
                  <a:close/>
                </a:path>
              </a:pathLst>
            </a:custGeom>
            <a:solidFill>
              <a:srgbClr val="E6EBE2"/>
            </a:solidFill>
            <a:ln w="4403">
              <a:solidFill>
                <a:srgbClr val="B6C3B3"/>
              </a:solidFill>
              <a:prstDash val="solid"/>
            </a:ln>
          </p:spPr>
          <p:txBody>
            <a:bodyPr/>
            <a:p/>
          </p:txBody>
        </p:sp>
        <p:sp>
          <p:nvSpPr>
            <p:cNvPr id="78" name="land-62">
              <a:extLst>
                <a:ext uri="{FF2B5EF4-FFF2-40B4-BE49-F238E27FC236}">
                  <a16:creationId xmlns:a16="http://schemas.microsoft.com/office/drawing/2014/main" id="{6FF8CB1A-2641-4D76-A32D-1E6C6BC940FF}"/>
                </a:ext>
              </a:extLst>
            </p:cNvPr>
            <p:cNvSpPr>
              <a:spLocks/>
            </p:cNvSpPr>
            <p:nvPr/>
          </p:nvSpPr>
          <p:spPr>
            <a:xfrm>
              <a:off x="5445124" y="1836999"/>
              <a:ext cx="395294" cy="337968"/>
            </a:xfrm>
            <a:custGeom>
              <a:avLst/>
              <a:gdLst/>
              <a:ahLst/>
              <a:cxnLst/>
              <a:rect l="0" t="0" r="0" b="0"/>
              <a:pathLst>
                <a:path w="555883" h="475268">
                  <a:moveTo>
                    <a:pt x="514194" y="194557"/>
                  </a:moveTo>
                  <a:lnTo>
                    <a:pt x="497454" y="231208"/>
                  </a:lnTo>
                  <a:lnTo>
                    <a:pt x="505201" y="254221"/>
                  </a:lnTo>
                  <a:lnTo>
                    <a:pt x="482052" y="286587"/>
                  </a:lnTo>
                  <a:lnTo>
                    <a:pt x="425256" y="308195"/>
                  </a:lnTo>
                  <a:lnTo>
                    <a:pt x="347116" y="311011"/>
                  </a:lnTo>
                  <a:lnTo>
                    <a:pt x="283792" y="363432"/>
                  </a:lnTo>
                  <a:lnTo>
                    <a:pt x="253922" y="345785"/>
                  </a:lnTo>
                  <a:lnTo>
                    <a:pt x="252075" y="311458"/>
                  </a:lnTo>
                  <a:lnTo>
                    <a:pt x="174771" y="321589"/>
                  </a:lnTo>
                  <a:lnTo>
                    <a:pt x="122162" y="343220"/>
                  </a:lnTo>
                  <a:lnTo>
                    <a:pt x="70128" y="344100"/>
                  </a:lnTo>
                  <a:lnTo>
                    <a:pt x="115195" y="377890"/>
                  </a:lnTo>
                  <a:lnTo>
                    <a:pt x="85536" y="455944"/>
                  </a:lnTo>
                  <a:lnTo>
                    <a:pt x="56801" y="475268"/>
                  </a:lnTo>
                  <a:lnTo>
                    <a:pt x="35291" y="457419"/>
                  </a:lnTo>
                  <a:lnTo>
                    <a:pt x="46193" y="416030"/>
                  </a:lnTo>
                  <a:lnTo>
                    <a:pt x="18057" y="402674"/>
                  </a:lnTo>
                  <a:lnTo>
                    <a:pt x="0" y="371182"/>
                  </a:lnTo>
                  <a:lnTo>
                    <a:pt x="42026" y="357033"/>
                  </a:lnTo>
                  <a:lnTo>
                    <a:pt x="65341" y="328165"/>
                  </a:lnTo>
                  <a:lnTo>
                    <a:pt x="110048" y="304424"/>
                  </a:lnTo>
                  <a:lnTo>
                    <a:pt x="142649" y="273026"/>
                  </a:lnTo>
                  <a:lnTo>
                    <a:pt x="231133" y="259331"/>
                  </a:lnTo>
                  <a:lnTo>
                    <a:pt x="278660" y="268722"/>
                  </a:lnTo>
                  <a:lnTo>
                    <a:pt x="325168" y="187075"/>
                  </a:lnTo>
                  <a:lnTo>
                    <a:pt x="354807" y="209008"/>
                  </a:lnTo>
                  <a:lnTo>
                    <a:pt x="420014" y="163080"/>
                  </a:lnTo>
                  <a:lnTo>
                    <a:pt x="445298" y="145239"/>
                  </a:lnTo>
                  <a:lnTo>
                    <a:pt x="473229" y="89081"/>
                  </a:lnTo>
                  <a:lnTo>
                    <a:pt x="465610" y="37440"/>
                  </a:lnTo>
                  <a:lnTo>
                    <a:pt x="484386" y="8430"/>
                  </a:lnTo>
                  <a:lnTo>
                    <a:pt x="531645" y="0"/>
                  </a:lnTo>
                  <a:lnTo>
                    <a:pt x="555883" y="63694"/>
                  </a:lnTo>
                  <a:lnTo>
                    <a:pt x="554564" y="100927"/>
                  </a:lnTo>
                  <a:lnTo>
                    <a:pt x="513443" y="147167"/>
                  </a:lnTo>
                  <a:lnTo>
                    <a:pt x="514194" y="194557"/>
                  </a:lnTo>
                  <a:close/>
                </a:path>
              </a:pathLst>
            </a:custGeom>
            <a:solidFill>
              <a:srgbClr val="E6EBE2"/>
            </a:solidFill>
            <a:ln w="4403">
              <a:solidFill>
                <a:srgbClr val="B6C3B3"/>
              </a:solidFill>
              <a:prstDash val="solid"/>
            </a:ln>
          </p:spPr>
          <p:txBody>
            <a:bodyPr/>
            <a:p/>
          </p:txBody>
        </p:sp>
        <p:sp>
          <p:nvSpPr>
            <p:cNvPr id="79" name="land-63">
              <a:extLst>
                <a:ext uri="{FF2B5EF4-FFF2-40B4-BE49-F238E27FC236}">
                  <a16:creationId xmlns:a16="http://schemas.microsoft.com/office/drawing/2014/main" id="{062D551F-0650-49B4-A766-DB674045A92B}"/>
                </a:ext>
              </a:extLst>
            </p:cNvPr>
            <p:cNvSpPr>
              <a:spLocks/>
            </p:cNvSpPr>
            <p:nvPr/>
          </p:nvSpPr>
          <p:spPr>
            <a:xfrm>
              <a:off x="1624740" y="1783722"/>
              <a:ext cx="32108" cy="53230"/>
            </a:xfrm>
            <a:custGeom>
              <a:avLst/>
              <a:gdLst/>
              <a:ahLst/>
              <a:cxnLst/>
              <a:rect l="0" t="0" r="0" b="0"/>
              <a:pathLst>
                <a:path w="45152" h="74855">
                  <a:moveTo>
                    <a:pt x="45152" y="39380"/>
                  </a:moveTo>
                  <a:lnTo>
                    <a:pt x="30472" y="74855"/>
                  </a:lnTo>
                  <a:lnTo>
                    <a:pt x="10291" y="65505"/>
                  </a:lnTo>
                  <a:lnTo>
                    <a:pt x="0" y="34602"/>
                  </a:lnTo>
                  <a:lnTo>
                    <a:pt x="8970" y="17537"/>
                  </a:lnTo>
                  <a:lnTo>
                    <a:pt x="37595" y="0"/>
                  </a:lnTo>
                  <a:lnTo>
                    <a:pt x="45152" y="39380"/>
                  </a:lnTo>
                  <a:close/>
                </a:path>
              </a:pathLst>
            </a:custGeom>
            <a:solidFill>
              <a:srgbClr val="E6EBE2"/>
            </a:solidFill>
            <a:ln w="4403">
              <a:solidFill>
                <a:srgbClr val="B6C3B3"/>
              </a:solidFill>
              <a:prstDash val="solid"/>
            </a:ln>
          </p:spPr>
          <p:txBody>
            <a:bodyPr/>
            <a:p/>
          </p:txBody>
        </p:sp>
        <p:sp>
          <p:nvSpPr>
            <p:cNvPr id="80" name="land-64">
              <a:extLst>
                <a:ext uri="{FF2B5EF4-FFF2-40B4-BE49-F238E27FC236}">
                  <a16:creationId xmlns:a16="http://schemas.microsoft.com/office/drawing/2014/main" id="{AB883BE5-45C7-40A9-9DE4-D5627CA6C2BF}"/>
                </a:ext>
              </a:extLst>
            </p:cNvPr>
            <p:cNvSpPr>
              <a:spLocks/>
            </p:cNvSpPr>
            <p:nvPr/>
          </p:nvSpPr>
          <p:spPr>
            <a:xfrm>
              <a:off x="5774144" y="1700723"/>
              <a:ext cx="180980" cy="130038"/>
            </a:xfrm>
            <a:custGeom>
              <a:avLst/>
              <a:gdLst/>
              <a:ahLst/>
              <a:cxnLst/>
              <a:rect l="0" t="0" r="0" b="0"/>
              <a:pathLst>
                <a:path w="254503" h="182866">
                  <a:moveTo>
                    <a:pt x="181917" y="63255"/>
                  </a:moveTo>
                  <a:lnTo>
                    <a:pt x="213177" y="73047"/>
                  </a:lnTo>
                  <a:lnTo>
                    <a:pt x="244621" y="53582"/>
                  </a:lnTo>
                  <a:lnTo>
                    <a:pt x="254503" y="105138"/>
                  </a:lnTo>
                  <a:lnTo>
                    <a:pt x="188562" y="117709"/>
                  </a:lnTo>
                  <a:lnTo>
                    <a:pt x="149632" y="163318"/>
                  </a:lnTo>
                  <a:lnTo>
                    <a:pt x="79741" y="131926"/>
                  </a:lnTo>
                  <a:lnTo>
                    <a:pt x="55551" y="182176"/>
                  </a:lnTo>
                  <a:lnTo>
                    <a:pt x="6115" y="182866"/>
                  </a:lnTo>
                  <a:lnTo>
                    <a:pt x="0" y="137209"/>
                  </a:lnTo>
                  <a:lnTo>
                    <a:pt x="21982" y="101869"/>
                  </a:lnTo>
                  <a:lnTo>
                    <a:pt x="69476" y="99318"/>
                  </a:lnTo>
                  <a:lnTo>
                    <a:pt x="82428" y="35791"/>
                  </a:lnTo>
                  <a:lnTo>
                    <a:pt x="95572" y="0"/>
                  </a:lnTo>
                  <a:lnTo>
                    <a:pt x="147811" y="47813"/>
                  </a:lnTo>
                  <a:lnTo>
                    <a:pt x="181917" y="63255"/>
                  </a:lnTo>
                  <a:close/>
                </a:path>
              </a:pathLst>
            </a:custGeom>
            <a:solidFill>
              <a:srgbClr val="E6EBE2"/>
            </a:solidFill>
            <a:ln w="4403">
              <a:solidFill>
                <a:srgbClr val="B6C3B3"/>
              </a:solidFill>
              <a:prstDash val="solid"/>
            </a:ln>
          </p:spPr>
          <p:txBody>
            <a:bodyPr/>
            <a:p/>
          </p:txBody>
        </p:sp>
        <p:sp>
          <p:nvSpPr>
            <p:cNvPr id="81" name="land-65">
              <a:extLst>
                <a:ext uri="{FF2B5EF4-FFF2-40B4-BE49-F238E27FC236}">
                  <a16:creationId xmlns:a16="http://schemas.microsoft.com/office/drawing/2014/main" id="{2ABA78BD-DE76-4DA0-A6AA-3BAC0637FB69}"/>
                </a:ext>
              </a:extLst>
            </p:cNvPr>
            <p:cNvSpPr>
              <a:spLocks/>
            </p:cNvSpPr>
            <p:nvPr/>
          </p:nvSpPr>
          <p:spPr>
            <a:xfrm>
              <a:off x="10698488" y="1652243"/>
              <a:ext cx="75246" cy="34872"/>
            </a:xfrm>
            <a:custGeom>
              <a:avLst/>
              <a:gdLst/>
              <a:ahLst/>
              <a:cxnLst/>
              <a:rect l="0" t="0" r="0" b="0"/>
              <a:pathLst>
                <a:path w="105815" h="49039">
                  <a:moveTo>
                    <a:pt x="32364" y="22319"/>
                  </a:moveTo>
                  <a:lnTo>
                    <a:pt x="64600" y="28479"/>
                  </a:lnTo>
                  <a:lnTo>
                    <a:pt x="105815" y="27227"/>
                  </a:lnTo>
                  <a:lnTo>
                    <a:pt x="83953" y="46044"/>
                  </a:lnTo>
                  <a:lnTo>
                    <a:pt x="67488" y="49039"/>
                  </a:lnTo>
                  <a:lnTo>
                    <a:pt x="11104" y="29546"/>
                  </a:lnTo>
                  <a:lnTo>
                    <a:pt x="0" y="14169"/>
                  </a:lnTo>
                  <a:lnTo>
                    <a:pt x="16791" y="0"/>
                  </a:lnTo>
                  <a:lnTo>
                    <a:pt x="32364" y="22319"/>
                  </a:lnTo>
                  <a:close/>
                </a:path>
              </a:pathLst>
            </a:custGeom>
            <a:solidFill>
              <a:srgbClr val="E6EBE2"/>
            </a:solidFill>
            <a:ln w="4403">
              <a:solidFill>
                <a:srgbClr val="B6C3B3"/>
              </a:solidFill>
              <a:prstDash val="solid"/>
            </a:ln>
          </p:spPr>
          <p:txBody>
            <a:bodyPr/>
            <a:p/>
          </p:txBody>
        </p:sp>
        <p:sp>
          <p:nvSpPr>
            <p:cNvPr id="82" name="land-66">
              <a:extLst>
                <a:ext uri="{FF2B5EF4-FFF2-40B4-BE49-F238E27FC236}">
                  <a16:creationId xmlns:a16="http://schemas.microsoft.com/office/drawing/2014/main" id="{C43D6DA0-1014-41C3-800D-CA1BE83C74B0}"/>
                </a:ext>
              </a:extLst>
            </p:cNvPr>
            <p:cNvSpPr>
              <a:spLocks/>
            </p:cNvSpPr>
            <p:nvPr/>
          </p:nvSpPr>
          <p:spPr>
            <a:xfrm>
              <a:off x="10694489" y="1556846"/>
              <a:ext cx="85749" cy="28412"/>
            </a:xfrm>
            <a:custGeom>
              <a:avLst/>
              <a:gdLst/>
              <a:ahLst/>
              <a:cxnLst/>
              <a:rect l="0" t="0" r="0" b="0"/>
              <a:pathLst>
                <a:path w="120585" h="39954">
                  <a:moveTo>
                    <a:pt x="120585" y="39133"/>
                  </a:moveTo>
                  <a:lnTo>
                    <a:pt x="98943" y="39954"/>
                  </a:lnTo>
                  <a:lnTo>
                    <a:pt x="41332" y="25556"/>
                  </a:lnTo>
                  <a:lnTo>
                    <a:pt x="0" y="3864"/>
                  </a:lnTo>
                  <a:lnTo>
                    <a:pt x="15375" y="0"/>
                  </a:lnTo>
                  <a:lnTo>
                    <a:pt x="73824" y="11516"/>
                  </a:lnTo>
                  <a:lnTo>
                    <a:pt x="119283" y="30706"/>
                  </a:lnTo>
                  <a:lnTo>
                    <a:pt x="120585" y="39133"/>
                  </a:lnTo>
                  <a:close/>
                </a:path>
              </a:pathLst>
            </a:custGeom>
            <a:solidFill>
              <a:srgbClr val="E6EBE2"/>
            </a:solidFill>
            <a:ln w="4403">
              <a:solidFill>
                <a:srgbClr val="B6C3B3"/>
              </a:solidFill>
              <a:prstDash val="solid"/>
            </a:ln>
          </p:spPr>
          <p:txBody>
            <a:bodyPr/>
            <a:p/>
          </p:txBody>
        </p:sp>
        <p:sp>
          <p:nvSpPr>
            <p:cNvPr id="83" name="land-67">
              <a:extLst>
                <a:ext uri="{FF2B5EF4-FFF2-40B4-BE49-F238E27FC236}">
                  <a16:creationId xmlns:a16="http://schemas.microsoft.com/office/drawing/2014/main" id="{3FFBEE47-4CFF-497E-9D9D-338404F081CD}"/>
                </a:ext>
              </a:extLst>
            </p:cNvPr>
            <p:cNvSpPr>
              <a:spLocks/>
            </p:cNvSpPr>
            <p:nvPr/>
          </p:nvSpPr>
          <p:spPr>
            <a:xfrm>
              <a:off x="8673876" y="1530280"/>
              <a:ext cx="155977" cy="78371"/>
            </a:xfrm>
            <a:custGeom>
              <a:avLst/>
              <a:gdLst/>
              <a:ahLst/>
              <a:cxnLst/>
              <a:rect l="0" t="0" r="0" b="0"/>
              <a:pathLst>
                <a:path w="219342" h="110209">
                  <a:moveTo>
                    <a:pt x="219342" y="103818"/>
                  </a:moveTo>
                  <a:lnTo>
                    <a:pt x="196989" y="110209"/>
                  </a:lnTo>
                  <a:lnTo>
                    <a:pt x="123996" y="89352"/>
                  </a:lnTo>
                  <a:lnTo>
                    <a:pt x="110662" y="73049"/>
                  </a:lnTo>
                  <a:lnTo>
                    <a:pt x="70879" y="56976"/>
                  </a:lnTo>
                  <a:lnTo>
                    <a:pt x="62879" y="43887"/>
                  </a:lnTo>
                  <a:lnTo>
                    <a:pt x="17124" y="35623"/>
                  </a:lnTo>
                  <a:lnTo>
                    <a:pt x="0" y="10632"/>
                  </a:lnTo>
                  <a:lnTo>
                    <a:pt x="3830" y="0"/>
                  </a:lnTo>
                  <a:lnTo>
                    <a:pt x="50495" y="10015"/>
                  </a:lnTo>
                  <a:lnTo>
                    <a:pt x="77769" y="16980"/>
                  </a:lnTo>
                  <a:lnTo>
                    <a:pt x="119552" y="21843"/>
                  </a:lnTo>
                  <a:lnTo>
                    <a:pt x="134665" y="37687"/>
                  </a:lnTo>
                  <a:lnTo>
                    <a:pt x="156634" y="59489"/>
                  </a:lnTo>
                  <a:lnTo>
                    <a:pt x="201006" y="78446"/>
                  </a:lnTo>
                  <a:lnTo>
                    <a:pt x="219342" y="103818"/>
                  </a:lnTo>
                  <a:close/>
                </a:path>
              </a:pathLst>
            </a:custGeom>
            <a:solidFill>
              <a:srgbClr val="E6EBE2"/>
            </a:solidFill>
            <a:ln w="4403">
              <a:solidFill>
                <a:srgbClr val="B6C3B3"/>
              </a:solidFill>
              <a:prstDash val="solid"/>
            </a:ln>
          </p:spPr>
          <p:txBody>
            <a:bodyPr/>
            <a:p/>
          </p:txBody>
        </p:sp>
        <p:sp>
          <p:nvSpPr>
            <p:cNvPr id="84" name="land-68">
              <a:extLst>
                <a:ext uri="{FF2B5EF4-FFF2-40B4-BE49-F238E27FC236}">
                  <a16:creationId xmlns:a16="http://schemas.microsoft.com/office/drawing/2014/main" id="{ADD408C5-DFB8-4146-96E5-E60AF9A29A5F}"/>
                </a:ext>
              </a:extLst>
            </p:cNvPr>
            <p:cNvSpPr>
              <a:spLocks/>
            </p:cNvSpPr>
            <p:nvPr/>
          </p:nvSpPr>
          <p:spPr>
            <a:xfrm>
              <a:off x="10855682" y="1502148"/>
              <a:ext cx="214036" cy="163736"/>
            </a:xfrm>
            <a:custGeom>
              <a:avLst/>
              <a:gdLst/>
              <a:ahLst/>
              <a:cxnLst/>
              <a:rect l="0" t="0" r="0" b="0"/>
              <a:pathLst>
                <a:path w="300989" h="230254">
                  <a:moveTo>
                    <a:pt x="146039" y="43402"/>
                  </a:moveTo>
                  <a:lnTo>
                    <a:pt x="116620" y="83572"/>
                  </a:lnTo>
                  <a:lnTo>
                    <a:pt x="145635" y="68058"/>
                  </a:lnTo>
                  <a:lnTo>
                    <a:pt x="175489" y="77900"/>
                  </a:lnTo>
                  <a:lnTo>
                    <a:pt x="159891" y="93913"/>
                  </a:lnTo>
                  <a:lnTo>
                    <a:pt x="199329" y="106502"/>
                  </a:lnTo>
                  <a:lnTo>
                    <a:pt x="219837" y="95311"/>
                  </a:lnTo>
                  <a:lnTo>
                    <a:pt x="264164" y="109435"/>
                  </a:lnTo>
                  <a:lnTo>
                    <a:pt x="250408" y="143068"/>
                  </a:lnTo>
                  <a:lnTo>
                    <a:pt x="281518" y="135214"/>
                  </a:lnTo>
                  <a:lnTo>
                    <a:pt x="287185" y="159583"/>
                  </a:lnTo>
                  <a:lnTo>
                    <a:pt x="300989" y="188130"/>
                  </a:lnTo>
                  <a:lnTo>
                    <a:pt x="282272" y="228546"/>
                  </a:lnTo>
                  <a:lnTo>
                    <a:pt x="262168" y="230254"/>
                  </a:lnTo>
                  <a:lnTo>
                    <a:pt x="232943" y="221585"/>
                  </a:lnTo>
                  <a:lnTo>
                    <a:pt x="242591" y="184013"/>
                  </a:lnTo>
                  <a:lnTo>
                    <a:pt x="230207" y="178177"/>
                  </a:lnTo>
                  <a:lnTo>
                    <a:pt x="178632" y="218006"/>
                  </a:lnTo>
                  <a:lnTo>
                    <a:pt x="152108" y="216412"/>
                  </a:lnTo>
                  <a:lnTo>
                    <a:pt x="183502" y="194834"/>
                  </a:lnTo>
                  <a:lnTo>
                    <a:pt x="140848" y="183676"/>
                  </a:lnTo>
                  <a:lnTo>
                    <a:pt x="93090" y="186419"/>
                  </a:lnTo>
                  <a:lnTo>
                    <a:pt x="6822" y="185017"/>
                  </a:lnTo>
                  <a:lnTo>
                    <a:pt x="0" y="171418"/>
                  </a:lnTo>
                  <a:lnTo>
                    <a:pt x="27688" y="155250"/>
                  </a:lnTo>
                  <a:lnTo>
                    <a:pt x="8351" y="142774"/>
                  </a:lnTo>
                  <a:lnTo>
                    <a:pt x="45681" y="115109"/>
                  </a:lnTo>
                  <a:lnTo>
                    <a:pt x="91603" y="41966"/>
                  </a:lnTo>
                  <a:lnTo>
                    <a:pt x="119164" y="15828"/>
                  </a:lnTo>
                  <a:lnTo>
                    <a:pt x="157732" y="0"/>
                  </a:lnTo>
                  <a:lnTo>
                    <a:pt x="178357" y="2012"/>
                  </a:lnTo>
                  <a:lnTo>
                    <a:pt x="169767" y="14467"/>
                  </a:lnTo>
                  <a:lnTo>
                    <a:pt x="146039" y="43402"/>
                  </a:lnTo>
                  <a:close/>
                </a:path>
              </a:pathLst>
            </a:custGeom>
            <a:solidFill>
              <a:srgbClr val="E6EBE2"/>
            </a:solidFill>
            <a:ln w="4403">
              <a:solidFill>
                <a:srgbClr val="B6C3B3"/>
              </a:solidFill>
              <a:prstDash val="solid"/>
            </a:ln>
          </p:spPr>
          <p:txBody>
            <a:bodyPr/>
            <a:p/>
          </p:txBody>
        </p:sp>
        <p:sp>
          <p:nvSpPr>
            <p:cNvPr id="85" name="land-69">
              <a:extLst>
                <a:ext uri="{FF2B5EF4-FFF2-40B4-BE49-F238E27FC236}">
                  <a16:creationId xmlns:a16="http://schemas.microsoft.com/office/drawing/2014/main" id="{1B5E0837-CCD9-4A9C-ACDB-F24985579480}"/>
                </a:ext>
              </a:extLst>
            </p:cNvPr>
            <p:cNvSpPr>
              <a:spLocks/>
            </p:cNvSpPr>
            <p:nvPr/>
          </p:nvSpPr>
          <p:spPr>
            <a:xfrm>
              <a:off x="8522309" y="1419268"/>
              <a:ext cx="65134" cy="64973"/>
            </a:xfrm>
            <a:custGeom>
              <a:avLst/>
              <a:gdLst/>
              <a:ahLst/>
              <a:cxnLst/>
              <a:rect l="0" t="0" r="0" b="0"/>
              <a:pathLst>
                <a:path w="91595" h="91368">
                  <a:moveTo>
                    <a:pt x="23543" y="5969"/>
                  </a:moveTo>
                  <a:lnTo>
                    <a:pt x="23543" y="5969"/>
                  </a:lnTo>
                  <a:lnTo>
                    <a:pt x="23543" y="5969"/>
                  </a:lnTo>
                  <a:lnTo>
                    <a:pt x="23543" y="5969"/>
                  </a:lnTo>
                  <a:lnTo>
                    <a:pt x="66216" y="2295"/>
                  </a:lnTo>
                  <a:lnTo>
                    <a:pt x="52904" y="54436"/>
                  </a:lnTo>
                  <a:lnTo>
                    <a:pt x="91595" y="91368"/>
                  </a:lnTo>
                  <a:lnTo>
                    <a:pt x="73869" y="91279"/>
                  </a:lnTo>
                  <a:lnTo>
                    <a:pt x="47083" y="70276"/>
                  </a:lnTo>
                  <a:lnTo>
                    <a:pt x="30656" y="49137"/>
                  </a:lnTo>
                  <a:lnTo>
                    <a:pt x="8226" y="34834"/>
                  </a:lnTo>
                  <a:lnTo>
                    <a:pt x="0" y="14645"/>
                  </a:lnTo>
                  <a:lnTo>
                    <a:pt x="2652" y="0"/>
                  </a:lnTo>
                  <a:lnTo>
                    <a:pt x="23543" y="5969"/>
                  </a:lnTo>
                  <a:close/>
                </a:path>
              </a:pathLst>
            </a:custGeom>
            <a:solidFill>
              <a:srgbClr val="E6EBE2"/>
            </a:solidFill>
            <a:ln w="4403">
              <a:solidFill>
                <a:srgbClr val="B6C3B3"/>
              </a:solidFill>
              <a:prstDash val="solid"/>
            </a:ln>
          </p:spPr>
          <p:txBody>
            <a:bodyPr/>
            <a:p/>
          </p:txBody>
        </p:sp>
        <p:sp>
          <p:nvSpPr>
            <p:cNvPr id="86" name="land-70">
              <a:extLst>
                <a:ext uri="{FF2B5EF4-FFF2-40B4-BE49-F238E27FC236}">
                  <a16:creationId xmlns:a16="http://schemas.microsoft.com/office/drawing/2014/main" id="{A6D14373-6FBE-4A20-8FF3-6753D04D2FA7}"/>
                </a:ext>
              </a:extLst>
            </p:cNvPr>
            <p:cNvSpPr>
              <a:spLocks/>
            </p:cNvSpPr>
            <p:nvPr/>
          </p:nvSpPr>
          <p:spPr>
            <a:xfrm>
              <a:off x="5830298" y="1412870"/>
              <a:ext cx="96725" cy="274291"/>
            </a:xfrm>
            <a:custGeom>
              <a:avLst/>
              <a:gdLst/>
              <a:ahLst/>
              <a:cxnLst/>
              <a:rect l="0" t="0" r="0" b="0"/>
              <a:pathLst>
                <a:path w="136020" h="385722">
                  <a:moveTo>
                    <a:pt x="91297" y="166166"/>
                  </a:moveTo>
                  <a:lnTo>
                    <a:pt x="136020" y="247508"/>
                  </a:lnTo>
                  <a:lnTo>
                    <a:pt x="70224" y="232345"/>
                  </a:lnTo>
                  <a:lnTo>
                    <a:pt x="42876" y="298704"/>
                  </a:lnTo>
                  <a:lnTo>
                    <a:pt x="86207" y="345770"/>
                  </a:lnTo>
                  <a:lnTo>
                    <a:pt x="84953" y="377862"/>
                  </a:lnTo>
                  <a:lnTo>
                    <a:pt x="51279" y="350177"/>
                  </a:lnTo>
                  <a:lnTo>
                    <a:pt x="22134" y="385722"/>
                  </a:lnTo>
                  <a:lnTo>
                    <a:pt x="13906" y="347184"/>
                  </a:lnTo>
                  <a:lnTo>
                    <a:pt x="18863" y="302445"/>
                  </a:lnTo>
                  <a:lnTo>
                    <a:pt x="13796" y="252890"/>
                  </a:lnTo>
                  <a:lnTo>
                    <a:pt x="24080" y="218172"/>
                  </a:lnTo>
                  <a:lnTo>
                    <a:pt x="26044" y="156764"/>
                  </a:lnTo>
                  <a:lnTo>
                    <a:pt x="0" y="111616"/>
                  </a:lnTo>
                  <a:lnTo>
                    <a:pt x="3932" y="48859"/>
                  </a:lnTo>
                  <a:lnTo>
                    <a:pt x="45022" y="27726"/>
                  </a:lnTo>
                  <a:lnTo>
                    <a:pt x="27367" y="6448"/>
                  </a:lnTo>
                  <a:lnTo>
                    <a:pt x="47149" y="0"/>
                  </a:lnTo>
                  <a:lnTo>
                    <a:pt x="58698" y="30370"/>
                  </a:lnTo>
                  <a:lnTo>
                    <a:pt x="74088" y="74632"/>
                  </a:lnTo>
                  <a:lnTo>
                    <a:pt x="72951" y="119826"/>
                  </a:lnTo>
                  <a:lnTo>
                    <a:pt x="91297" y="166166"/>
                  </a:lnTo>
                  <a:close/>
                </a:path>
              </a:pathLst>
            </a:custGeom>
            <a:solidFill>
              <a:srgbClr val="E6EBE2"/>
            </a:solidFill>
            <a:ln w="4403">
              <a:solidFill>
                <a:srgbClr val="B6C3B3"/>
              </a:solidFill>
              <a:prstDash val="solid"/>
            </a:ln>
          </p:spPr>
          <p:txBody>
            <a:bodyPr/>
            <a:p/>
          </p:txBody>
        </p:sp>
        <p:sp>
          <p:nvSpPr>
            <p:cNvPr id="87" name="land-71">
              <a:extLst>
                <a:ext uri="{FF2B5EF4-FFF2-40B4-BE49-F238E27FC236}">
                  <a16:creationId xmlns:a16="http://schemas.microsoft.com/office/drawing/2014/main" id="{424D2AF4-ABC7-4751-BD16-628F41821B90}"/>
                </a:ext>
              </a:extLst>
            </p:cNvPr>
            <p:cNvSpPr>
              <a:spLocks/>
            </p:cNvSpPr>
            <p:nvPr/>
          </p:nvSpPr>
          <p:spPr>
            <a:xfrm>
              <a:off x="1039302" y="1386517"/>
              <a:ext cx="136397" cy="114416"/>
            </a:xfrm>
            <a:custGeom>
              <a:avLst/>
              <a:gdLst/>
              <a:ahLst/>
              <a:cxnLst/>
              <a:rect l="0" t="0" r="0" b="0"/>
              <a:pathLst>
                <a:path w="191808" h="160898">
                  <a:moveTo>
                    <a:pt x="141717" y="133765"/>
                  </a:moveTo>
                  <a:lnTo>
                    <a:pt x="62918" y="160898"/>
                  </a:lnTo>
                  <a:lnTo>
                    <a:pt x="0" y="153956"/>
                  </a:lnTo>
                  <a:lnTo>
                    <a:pt x="36040" y="106003"/>
                  </a:lnTo>
                  <a:lnTo>
                    <a:pt x="12827" y="59311"/>
                  </a:lnTo>
                  <a:lnTo>
                    <a:pt x="73302" y="23345"/>
                  </a:lnTo>
                  <a:lnTo>
                    <a:pt x="106899" y="1894"/>
                  </a:lnTo>
                  <a:lnTo>
                    <a:pt x="144162" y="0"/>
                  </a:lnTo>
                  <a:lnTo>
                    <a:pt x="191808" y="28393"/>
                  </a:lnTo>
                  <a:lnTo>
                    <a:pt x="167985" y="59945"/>
                  </a:lnTo>
                  <a:lnTo>
                    <a:pt x="175315" y="92753"/>
                  </a:lnTo>
                  <a:lnTo>
                    <a:pt x="141717" y="133765"/>
                  </a:lnTo>
                  <a:close/>
                </a:path>
              </a:pathLst>
            </a:custGeom>
            <a:solidFill>
              <a:srgbClr val="E6EBE2"/>
            </a:solidFill>
            <a:ln w="4403">
              <a:solidFill>
                <a:srgbClr val="B6C3B3"/>
              </a:solidFill>
              <a:prstDash val="solid"/>
            </a:ln>
          </p:spPr>
          <p:txBody>
            <a:bodyPr/>
            <a:p/>
          </p:txBody>
        </p:sp>
        <p:sp>
          <p:nvSpPr>
            <p:cNvPr id="88" name="land-72">
              <a:extLst>
                <a:ext uri="{FF2B5EF4-FFF2-40B4-BE49-F238E27FC236}">
                  <a16:creationId xmlns:a16="http://schemas.microsoft.com/office/drawing/2014/main" id="{3E83AC2C-1037-4168-9C09-520CB4FEC89D}"/>
                </a:ext>
              </a:extLst>
            </p:cNvPr>
            <p:cNvSpPr>
              <a:spLocks/>
            </p:cNvSpPr>
            <p:nvPr/>
          </p:nvSpPr>
          <p:spPr>
            <a:xfrm>
              <a:off x="1699327" y="1355867"/>
              <a:ext cx="56456" cy="42826"/>
            </a:xfrm>
            <a:custGeom>
              <a:avLst/>
              <a:gdLst/>
              <a:ahLst/>
              <a:cxnLst/>
              <a:rect l="0" t="0" r="0" b="0"/>
              <a:pathLst>
                <a:path w="79392" h="60225">
                  <a:moveTo>
                    <a:pt x="79392" y="23027"/>
                  </a:moveTo>
                  <a:lnTo>
                    <a:pt x="52721" y="60225"/>
                  </a:lnTo>
                  <a:lnTo>
                    <a:pt x="6207" y="34284"/>
                  </a:lnTo>
                  <a:lnTo>
                    <a:pt x="0" y="15222"/>
                  </a:lnTo>
                  <a:lnTo>
                    <a:pt x="65208" y="0"/>
                  </a:lnTo>
                  <a:lnTo>
                    <a:pt x="79392" y="23027"/>
                  </a:lnTo>
                  <a:close/>
                </a:path>
              </a:pathLst>
            </a:custGeom>
            <a:solidFill>
              <a:srgbClr val="E6EBE2"/>
            </a:solidFill>
            <a:ln w="4403">
              <a:solidFill>
                <a:srgbClr val="B6C3B3"/>
              </a:solidFill>
              <a:prstDash val="solid"/>
            </a:ln>
          </p:spPr>
          <p:txBody>
            <a:bodyPr/>
            <a:p/>
          </p:txBody>
        </p:sp>
        <p:sp>
          <p:nvSpPr>
            <p:cNvPr id="89" name="land-73">
              <a:extLst>
                <a:ext uri="{FF2B5EF4-FFF2-40B4-BE49-F238E27FC236}">
                  <a16:creationId xmlns:a16="http://schemas.microsoft.com/office/drawing/2014/main" id="{E9465C02-8C00-4550-89D6-BCEC7A27B674}"/>
                </a:ext>
              </a:extLst>
            </p:cNvPr>
            <p:cNvSpPr>
              <a:spLocks/>
            </p:cNvSpPr>
            <p:nvPr/>
          </p:nvSpPr>
          <p:spPr>
            <a:xfrm>
              <a:off x="7844888" y="1295204"/>
              <a:ext cx="79966" cy="40308"/>
            </a:xfrm>
            <a:custGeom>
              <a:avLst/>
              <a:gdLst/>
              <a:ahLst/>
              <a:cxnLst/>
              <a:rect l="0" t="0" r="0" b="0"/>
              <a:pathLst>
                <a:path w="112452" h="56684">
                  <a:moveTo>
                    <a:pt x="73995" y="39179"/>
                  </a:moveTo>
                  <a:lnTo>
                    <a:pt x="29599" y="56684"/>
                  </a:lnTo>
                  <a:lnTo>
                    <a:pt x="6872" y="44832"/>
                  </a:lnTo>
                  <a:lnTo>
                    <a:pt x="0" y="23319"/>
                  </a:lnTo>
                  <a:lnTo>
                    <a:pt x="40370" y="6999"/>
                  </a:lnTo>
                  <a:lnTo>
                    <a:pt x="64109" y="0"/>
                  </a:lnTo>
                  <a:lnTo>
                    <a:pt x="93621" y="3102"/>
                  </a:lnTo>
                  <a:lnTo>
                    <a:pt x="112452" y="17355"/>
                  </a:lnTo>
                  <a:lnTo>
                    <a:pt x="73995" y="39179"/>
                  </a:lnTo>
                  <a:close/>
                </a:path>
              </a:pathLst>
            </a:custGeom>
            <a:solidFill>
              <a:srgbClr val="E6EBE2"/>
            </a:solidFill>
            <a:ln w="4403">
              <a:solidFill>
                <a:srgbClr val="B6C3B3"/>
              </a:solidFill>
              <a:prstDash val="solid"/>
            </a:ln>
          </p:spPr>
          <p:txBody>
            <a:bodyPr/>
            <a:p/>
          </p:txBody>
        </p:sp>
        <p:sp>
          <p:nvSpPr>
            <p:cNvPr id="90" name="land-74">
              <a:extLst>
                <a:ext uri="{FF2B5EF4-FFF2-40B4-BE49-F238E27FC236}">
                  <a16:creationId xmlns:a16="http://schemas.microsoft.com/office/drawing/2014/main" id="{42276012-FA94-4F32-BFD2-50C9AE6F2087}"/>
                </a:ext>
              </a:extLst>
            </p:cNvPr>
            <p:cNvSpPr>
              <a:spLocks/>
            </p:cNvSpPr>
            <p:nvPr/>
          </p:nvSpPr>
          <p:spPr>
            <a:xfrm>
              <a:off x="1160273" y="1273453"/>
              <a:ext cx="247545" cy="283301"/>
            </a:xfrm>
            <a:custGeom>
              <a:avLst/>
              <a:gdLst/>
              <a:ahLst/>
              <a:cxnLst/>
              <a:rect l="0" t="0" r="0" b="0"/>
              <a:pathLst>
                <a:path w="348111" h="398392">
                  <a:moveTo>
                    <a:pt x="139794" y="0"/>
                  </a:moveTo>
                  <a:lnTo>
                    <a:pt x="92285" y="49689"/>
                  </a:lnTo>
                  <a:lnTo>
                    <a:pt x="137572" y="43397"/>
                  </a:lnTo>
                  <a:lnTo>
                    <a:pt x="186277" y="43637"/>
                  </a:lnTo>
                  <a:lnTo>
                    <a:pt x="174688" y="81055"/>
                  </a:lnTo>
                  <a:lnTo>
                    <a:pt x="134727" y="122214"/>
                  </a:lnTo>
                  <a:lnTo>
                    <a:pt x="180688" y="125143"/>
                  </a:lnTo>
                  <a:lnTo>
                    <a:pt x="223805" y="184156"/>
                  </a:lnTo>
                  <a:lnTo>
                    <a:pt x="254232" y="191532"/>
                  </a:lnTo>
                  <a:lnTo>
                    <a:pt x="281589" y="243856"/>
                  </a:lnTo>
                  <a:lnTo>
                    <a:pt x="294257" y="261997"/>
                  </a:lnTo>
                  <a:lnTo>
                    <a:pt x="348111" y="270745"/>
                  </a:lnTo>
                  <a:lnTo>
                    <a:pt x="342708" y="300114"/>
                  </a:lnTo>
                  <a:lnTo>
                    <a:pt x="320064" y="313581"/>
                  </a:lnTo>
                  <a:lnTo>
                    <a:pt x="337813" y="337339"/>
                  </a:lnTo>
                  <a:lnTo>
                    <a:pt x="297829" y="361389"/>
                  </a:lnTo>
                  <a:lnTo>
                    <a:pt x="238362" y="360964"/>
                  </a:lnTo>
                  <a:lnTo>
                    <a:pt x="162686" y="373592"/>
                  </a:lnTo>
                  <a:lnTo>
                    <a:pt x="141960" y="364551"/>
                  </a:lnTo>
                  <a:lnTo>
                    <a:pt x="112571" y="386068"/>
                  </a:lnTo>
                  <a:lnTo>
                    <a:pt x="71452" y="380856"/>
                  </a:lnTo>
                  <a:lnTo>
                    <a:pt x="40225" y="398392"/>
                  </a:lnTo>
                  <a:lnTo>
                    <a:pt x="16598" y="389222"/>
                  </a:lnTo>
                  <a:lnTo>
                    <a:pt x="81788" y="340986"/>
                  </a:lnTo>
                  <a:lnTo>
                    <a:pt x="121577" y="331066"/>
                  </a:lnTo>
                  <a:lnTo>
                    <a:pt x="51812" y="323376"/>
                  </a:lnTo>
                  <a:lnTo>
                    <a:pt x="39235" y="305101"/>
                  </a:lnTo>
                  <a:lnTo>
                    <a:pt x="85683" y="290867"/>
                  </a:lnTo>
                  <a:lnTo>
                    <a:pt x="61340" y="266130"/>
                  </a:lnTo>
                  <a:lnTo>
                    <a:pt x="69786" y="236050"/>
                  </a:lnTo>
                  <a:lnTo>
                    <a:pt x="135924" y="240209"/>
                  </a:lnTo>
                  <a:lnTo>
                    <a:pt x="142461" y="213547"/>
                  </a:lnTo>
                  <a:lnTo>
                    <a:pt x="112013" y="184614"/>
                  </a:lnTo>
                  <a:lnTo>
                    <a:pt x="58043" y="176534"/>
                  </a:lnTo>
                  <a:lnTo>
                    <a:pt x="47448" y="164105"/>
                  </a:lnTo>
                  <a:lnTo>
                    <a:pt x="63602" y="143583"/>
                  </a:lnTo>
                  <a:lnTo>
                    <a:pt x="48984" y="130930"/>
                  </a:lnTo>
                  <a:lnTo>
                    <a:pt x="25051" y="152645"/>
                  </a:lnTo>
                  <a:lnTo>
                    <a:pt x="22446" y="108380"/>
                  </a:lnTo>
                  <a:lnTo>
                    <a:pt x="0" y="84959"/>
                  </a:lnTo>
                  <a:lnTo>
                    <a:pt x="16142" y="37481"/>
                  </a:lnTo>
                  <a:lnTo>
                    <a:pt x="50672" y="229"/>
                  </a:lnTo>
                  <a:lnTo>
                    <a:pt x="86166" y="3865"/>
                  </a:lnTo>
                  <a:lnTo>
                    <a:pt x="139794" y="0"/>
                  </a:lnTo>
                  <a:close/>
                </a:path>
              </a:pathLst>
            </a:custGeom>
            <a:solidFill>
              <a:srgbClr val="E6EBE2"/>
            </a:solidFill>
            <a:ln w="4403">
              <a:solidFill>
                <a:srgbClr val="B6C3B3"/>
              </a:solidFill>
              <a:prstDash val="solid"/>
            </a:ln>
          </p:spPr>
          <p:txBody>
            <a:bodyPr/>
            <a:p/>
          </p:txBody>
        </p:sp>
        <p:sp>
          <p:nvSpPr>
            <p:cNvPr id="91" name="land-75">
              <a:extLst>
                <a:ext uri="{FF2B5EF4-FFF2-40B4-BE49-F238E27FC236}">
                  <a16:creationId xmlns:a16="http://schemas.microsoft.com/office/drawing/2014/main" id="{B4EC2DF1-C1C6-4B74-A811-F56814381682}"/>
                </a:ext>
              </a:extLst>
            </p:cNvPr>
            <p:cNvSpPr>
              <a:spLocks/>
            </p:cNvSpPr>
            <p:nvPr/>
          </p:nvSpPr>
          <p:spPr>
            <a:xfrm>
              <a:off x="7440791" y="1216330"/>
              <a:ext cx="59302" cy="20565"/>
            </a:xfrm>
            <a:custGeom>
              <a:avLst/>
              <a:gdLst/>
              <a:ahLst/>
              <a:cxnLst/>
              <a:rect l="0" t="0" r="0" b="0"/>
              <a:pathLst>
                <a:path w="83393" h="28920">
                  <a:moveTo>
                    <a:pt x="83393" y="21776"/>
                  </a:moveTo>
                  <a:lnTo>
                    <a:pt x="56118" y="28920"/>
                  </a:lnTo>
                  <a:lnTo>
                    <a:pt x="26978" y="20334"/>
                  </a:lnTo>
                  <a:lnTo>
                    <a:pt x="0" y="7858"/>
                  </a:lnTo>
                  <a:lnTo>
                    <a:pt x="43894" y="0"/>
                  </a:lnTo>
                  <a:lnTo>
                    <a:pt x="79159" y="4159"/>
                  </a:lnTo>
                  <a:lnTo>
                    <a:pt x="83393" y="21776"/>
                  </a:lnTo>
                  <a:close/>
                </a:path>
              </a:pathLst>
            </a:custGeom>
            <a:solidFill>
              <a:srgbClr val="E6EBE2"/>
            </a:solidFill>
            <a:ln w="4403">
              <a:solidFill>
                <a:srgbClr val="B6C3B3"/>
              </a:solidFill>
              <a:prstDash val="solid"/>
            </a:ln>
          </p:spPr>
          <p:txBody>
            <a:bodyPr/>
            <a:p/>
          </p:txBody>
        </p:sp>
        <p:sp>
          <p:nvSpPr>
            <p:cNvPr id="92" name="land-76">
              <a:extLst>
                <a:ext uri="{FF2B5EF4-FFF2-40B4-BE49-F238E27FC236}">
                  <a16:creationId xmlns:a16="http://schemas.microsoft.com/office/drawing/2014/main" id="{701F79CE-5B74-41D8-A3DC-EC5332000ADE}"/>
                </a:ext>
              </a:extLst>
            </p:cNvPr>
            <p:cNvSpPr>
              <a:spLocks/>
            </p:cNvSpPr>
            <p:nvPr/>
          </p:nvSpPr>
          <p:spPr>
            <a:xfrm>
              <a:off x="10193708" y="1150969"/>
              <a:ext cx="34654" cy="24575"/>
            </a:xfrm>
            <a:custGeom>
              <a:avLst/>
              <a:gdLst/>
              <a:ahLst/>
              <a:cxnLst/>
              <a:rect l="0" t="0" r="0" b="0"/>
              <a:pathLst>
                <a:path w="48732" h="34559">
                  <a:moveTo>
                    <a:pt x="48732" y="10421"/>
                  </a:moveTo>
                  <a:lnTo>
                    <a:pt x="31321" y="34559"/>
                  </a:lnTo>
                  <a:lnTo>
                    <a:pt x="11672" y="30654"/>
                  </a:lnTo>
                  <a:lnTo>
                    <a:pt x="0" y="16951"/>
                  </a:lnTo>
                  <a:lnTo>
                    <a:pt x="2078" y="13779"/>
                  </a:lnTo>
                  <a:lnTo>
                    <a:pt x="19236" y="0"/>
                  </a:lnTo>
                  <a:lnTo>
                    <a:pt x="37433" y="1005"/>
                  </a:lnTo>
                  <a:lnTo>
                    <a:pt x="48732" y="10421"/>
                  </a:lnTo>
                  <a:close/>
                </a:path>
              </a:pathLst>
            </a:custGeom>
            <a:solidFill>
              <a:srgbClr val="E6EBE2"/>
            </a:solidFill>
            <a:ln w="4403">
              <a:solidFill>
                <a:srgbClr val="B6C3B3"/>
              </a:solidFill>
              <a:prstDash val="solid"/>
            </a:ln>
          </p:spPr>
          <p:txBody>
            <a:bodyPr/>
            <a:p/>
          </p:txBody>
        </p:sp>
        <p:sp>
          <p:nvSpPr>
            <p:cNvPr id="93" name="land-77">
              <a:extLst>
                <a:ext uri="{FF2B5EF4-FFF2-40B4-BE49-F238E27FC236}">
                  <a16:creationId xmlns:a16="http://schemas.microsoft.com/office/drawing/2014/main" id="{2E596664-7ADD-4ACA-9885-64BE916E777F}"/>
                </a:ext>
              </a:extLst>
            </p:cNvPr>
            <p:cNvSpPr>
              <a:spLocks/>
            </p:cNvSpPr>
            <p:nvPr/>
          </p:nvSpPr>
          <p:spPr>
            <a:xfrm>
              <a:off x="10078920" y="1133710"/>
              <a:ext cx="66906" cy="24652"/>
            </a:xfrm>
            <a:custGeom>
              <a:avLst/>
              <a:gdLst/>
              <a:ahLst/>
              <a:cxnLst/>
              <a:rect l="0" t="0" r="0" b="0"/>
              <a:pathLst>
                <a:path w="94086" h="34667">
                  <a:moveTo>
                    <a:pt x="93141" y="9336"/>
                  </a:moveTo>
                  <a:lnTo>
                    <a:pt x="41121" y="34667"/>
                  </a:lnTo>
                  <a:lnTo>
                    <a:pt x="9737" y="33606"/>
                  </a:lnTo>
                  <a:lnTo>
                    <a:pt x="0" y="21184"/>
                  </a:lnTo>
                  <a:lnTo>
                    <a:pt x="33035" y="0"/>
                  </a:lnTo>
                  <a:lnTo>
                    <a:pt x="94086" y="437"/>
                  </a:lnTo>
                  <a:lnTo>
                    <a:pt x="93141" y="9336"/>
                  </a:lnTo>
                  <a:close/>
                </a:path>
              </a:pathLst>
            </a:custGeom>
            <a:solidFill>
              <a:srgbClr val="E6EBE2"/>
            </a:solidFill>
            <a:ln w="4403">
              <a:solidFill>
                <a:srgbClr val="B6C3B3"/>
              </a:solidFill>
              <a:prstDash val="solid"/>
            </a:ln>
          </p:spPr>
          <p:txBody>
            <a:bodyPr/>
            <a:p/>
          </p:txBody>
        </p:sp>
        <p:sp>
          <p:nvSpPr>
            <p:cNvPr id="94" name="land-78">
              <a:extLst>
                <a:ext uri="{FF2B5EF4-FFF2-40B4-BE49-F238E27FC236}">
                  <a16:creationId xmlns:a16="http://schemas.microsoft.com/office/drawing/2014/main" id="{92774EB2-CA87-4FB1-B638-CB148601365A}"/>
                </a:ext>
              </a:extLst>
            </p:cNvPr>
            <p:cNvSpPr>
              <a:spLocks/>
            </p:cNvSpPr>
            <p:nvPr/>
          </p:nvSpPr>
          <p:spPr>
            <a:xfrm>
              <a:off x="7303741" y="1105350"/>
              <a:ext cx="98040" cy="26308"/>
            </a:xfrm>
            <a:custGeom>
              <a:avLst/>
              <a:gdLst/>
              <a:ahLst/>
              <a:cxnLst/>
              <a:rect l="0" t="0" r="0" b="0"/>
              <a:pathLst>
                <a:path w="137869" h="36996">
                  <a:moveTo>
                    <a:pt x="2643" y="0"/>
                  </a:moveTo>
                  <a:lnTo>
                    <a:pt x="30078" y="8740"/>
                  </a:lnTo>
                  <a:lnTo>
                    <a:pt x="57785" y="4020"/>
                  </a:lnTo>
                  <a:lnTo>
                    <a:pt x="93728" y="16138"/>
                  </a:lnTo>
                  <a:lnTo>
                    <a:pt x="137869" y="22274"/>
                  </a:lnTo>
                  <a:lnTo>
                    <a:pt x="134202" y="27275"/>
                  </a:lnTo>
                  <a:lnTo>
                    <a:pt x="100531" y="36996"/>
                  </a:lnTo>
                  <a:lnTo>
                    <a:pt x="66700" y="27007"/>
                  </a:lnTo>
                  <a:lnTo>
                    <a:pt x="49772" y="18677"/>
                  </a:lnTo>
                  <a:lnTo>
                    <a:pt x="10581" y="21342"/>
                  </a:lnTo>
                  <a:lnTo>
                    <a:pt x="0" y="17298"/>
                  </a:lnTo>
                  <a:lnTo>
                    <a:pt x="2643" y="0"/>
                  </a:lnTo>
                  <a:close/>
                </a:path>
              </a:pathLst>
            </a:custGeom>
            <a:solidFill>
              <a:srgbClr val="E6EBE2"/>
            </a:solidFill>
            <a:ln w="4403">
              <a:solidFill>
                <a:srgbClr val="B6C3B3"/>
              </a:solidFill>
              <a:prstDash val="solid"/>
            </a:ln>
          </p:spPr>
          <p:txBody>
            <a:bodyPr/>
            <a:p/>
          </p:txBody>
        </p:sp>
        <p:sp>
          <p:nvSpPr>
            <p:cNvPr id="95" name="land-79">
              <a:extLst>
                <a:ext uri="{FF2B5EF4-FFF2-40B4-BE49-F238E27FC236}">
                  <a16:creationId xmlns:a16="http://schemas.microsoft.com/office/drawing/2014/main" id="{BA0CBD4A-DA90-4DFE-A70A-FD9700ADBBDC}"/>
                </a:ext>
              </a:extLst>
            </p:cNvPr>
            <p:cNvSpPr>
              <a:spLocks/>
            </p:cNvSpPr>
            <p:nvPr/>
          </p:nvSpPr>
          <p:spPr>
            <a:xfrm>
              <a:off x="9976877" y="1041464"/>
              <a:ext cx="225009" cy="87730"/>
            </a:xfrm>
            <a:custGeom>
              <a:avLst/>
              <a:gdLst/>
              <a:ahLst/>
              <a:cxnLst/>
              <a:rect l="0" t="0" r="0" b="0"/>
              <a:pathLst>
                <a:path w="316419" h="123370">
                  <a:moveTo>
                    <a:pt x="91597" y="3742"/>
                  </a:moveTo>
                  <a:lnTo>
                    <a:pt x="99844" y="23938"/>
                  </a:lnTo>
                  <a:lnTo>
                    <a:pt x="122592" y="16854"/>
                  </a:lnTo>
                  <a:lnTo>
                    <a:pt x="148434" y="28894"/>
                  </a:lnTo>
                  <a:lnTo>
                    <a:pt x="197109" y="44642"/>
                  </a:lnTo>
                  <a:lnTo>
                    <a:pt x="248030" y="58950"/>
                  </a:lnTo>
                  <a:lnTo>
                    <a:pt x="251967" y="80788"/>
                  </a:lnTo>
                  <a:lnTo>
                    <a:pt x="284685" y="77212"/>
                  </a:lnTo>
                  <a:lnTo>
                    <a:pt x="316419" y="92436"/>
                  </a:lnTo>
                  <a:lnTo>
                    <a:pt x="276966" y="106890"/>
                  </a:lnTo>
                  <a:lnTo>
                    <a:pt x="207795" y="95846"/>
                  </a:lnTo>
                  <a:lnTo>
                    <a:pt x="182831" y="75173"/>
                  </a:lnTo>
                  <a:lnTo>
                    <a:pt x="138754" y="99612"/>
                  </a:lnTo>
                  <a:lnTo>
                    <a:pt x="75502" y="123370"/>
                  </a:lnTo>
                  <a:lnTo>
                    <a:pt x="60239" y="96511"/>
                  </a:lnTo>
                  <a:lnTo>
                    <a:pt x="0" y="100920"/>
                  </a:lnTo>
                  <a:lnTo>
                    <a:pt x="38637" y="78206"/>
                  </a:lnTo>
                  <a:lnTo>
                    <a:pt x="44321" y="42060"/>
                  </a:lnTo>
                  <a:lnTo>
                    <a:pt x="59480" y="0"/>
                  </a:lnTo>
                  <a:lnTo>
                    <a:pt x="91597" y="3742"/>
                  </a:lnTo>
                  <a:close/>
                </a:path>
              </a:pathLst>
            </a:custGeom>
            <a:solidFill>
              <a:srgbClr val="E6EBE2"/>
            </a:solidFill>
            <a:ln w="4403">
              <a:solidFill>
                <a:srgbClr val="B6C3B3"/>
              </a:solidFill>
              <a:prstDash val="solid"/>
            </a:ln>
          </p:spPr>
          <p:txBody>
            <a:bodyPr/>
            <a:p/>
          </p:txBody>
        </p:sp>
        <p:sp>
          <p:nvSpPr>
            <p:cNvPr id="96" name="land-80">
              <a:extLst>
                <a:ext uri="{FF2B5EF4-FFF2-40B4-BE49-F238E27FC236}">
                  <a16:creationId xmlns:a16="http://schemas.microsoft.com/office/drawing/2014/main" id="{C6B895C0-7FCD-47D4-8852-D682F8BB607E}"/>
                </a:ext>
              </a:extLst>
            </p:cNvPr>
            <p:cNvSpPr>
              <a:spLocks/>
            </p:cNvSpPr>
            <p:nvPr/>
          </p:nvSpPr>
          <p:spPr>
            <a:xfrm>
              <a:off x="585743" y="1015730"/>
              <a:ext cx="338735" cy="98964"/>
            </a:xfrm>
            <a:custGeom>
              <a:avLst/>
              <a:gdLst/>
              <a:ahLst/>
              <a:cxnLst/>
              <a:rect l="0" t="0" r="0" b="0"/>
              <a:pathLst>
                <a:path w="476346" h="139169">
                  <a:moveTo>
                    <a:pt x="436387" y="3256"/>
                  </a:moveTo>
                  <a:lnTo>
                    <a:pt x="426122" y="32976"/>
                  </a:lnTo>
                  <a:lnTo>
                    <a:pt x="476346" y="64299"/>
                  </a:lnTo>
                  <a:lnTo>
                    <a:pt x="418557" y="99321"/>
                  </a:lnTo>
                  <a:lnTo>
                    <a:pt x="290336" y="130794"/>
                  </a:lnTo>
                  <a:lnTo>
                    <a:pt x="252029" y="139169"/>
                  </a:lnTo>
                  <a:lnTo>
                    <a:pt x="193510" y="132406"/>
                  </a:lnTo>
                  <a:lnTo>
                    <a:pt x="69485" y="117869"/>
                  </a:lnTo>
                  <a:lnTo>
                    <a:pt x="113245" y="97574"/>
                  </a:lnTo>
                  <a:lnTo>
                    <a:pt x="16497" y="75116"/>
                  </a:lnTo>
                  <a:lnTo>
                    <a:pt x="95202" y="66214"/>
                  </a:lnTo>
                  <a:lnTo>
                    <a:pt x="93290" y="52730"/>
                  </a:lnTo>
                  <a:lnTo>
                    <a:pt x="0" y="42048"/>
                  </a:lnTo>
                  <a:lnTo>
                    <a:pt x="30033" y="12137"/>
                  </a:lnTo>
                  <a:lnTo>
                    <a:pt x="97402" y="5342"/>
                  </a:lnTo>
                  <a:lnTo>
                    <a:pt x="166683" y="36495"/>
                  </a:lnTo>
                  <a:lnTo>
                    <a:pt x="234222" y="11490"/>
                  </a:lnTo>
                  <a:lnTo>
                    <a:pt x="290150" y="24475"/>
                  </a:lnTo>
                  <a:lnTo>
                    <a:pt x="362639" y="0"/>
                  </a:lnTo>
                  <a:lnTo>
                    <a:pt x="436387" y="3256"/>
                  </a:lnTo>
                  <a:close/>
                </a:path>
              </a:pathLst>
            </a:custGeom>
            <a:solidFill>
              <a:srgbClr val="E6EBE2"/>
            </a:solidFill>
            <a:ln w="4403">
              <a:solidFill>
                <a:srgbClr val="B6C3B3"/>
              </a:solidFill>
              <a:prstDash val="solid"/>
            </a:ln>
          </p:spPr>
          <p:txBody>
            <a:bodyPr/>
            <a:p/>
          </p:txBody>
        </p:sp>
        <p:sp>
          <p:nvSpPr>
            <p:cNvPr id="97" name="land-81">
              <a:extLst>
                <a:ext uri="{FF2B5EF4-FFF2-40B4-BE49-F238E27FC236}">
                  <a16:creationId xmlns:a16="http://schemas.microsoft.com/office/drawing/2014/main" id="{139E516E-6EFC-41D5-A3F9-C1E8D477F8FA}"/>
                </a:ext>
              </a:extLst>
            </p:cNvPr>
            <p:cNvSpPr>
              <a:spLocks/>
            </p:cNvSpPr>
            <p:nvPr/>
          </p:nvSpPr>
          <p:spPr>
            <a:xfrm>
              <a:off x="10292510" y="958240"/>
              <a:ext cx="67424" cy="38812"/>
            </a:xfrm>
            <a:custGeom>
              <a:avLst/>
              <a:gdLst/>
              <a:ahLst/>
              <a:cxnLst/>
              <a:rect l="0" t="0" r="0" b="0"/>
              <a:pathLst>
                <a:path w="94815" h="54580">
                  <a:moveTo>
                    <a:pt x="60920" y="52278"/>
                  </a:moveTo>
                  <a:lnTo>
                    <a:pt x="11092" y="54580"/>
                  </a:lnTo>
                  <a:lnTo>
                    <a:pt x="0" y="32106"/>
                  </a:lnTo>
                  <a:lnTo>
                    <a:pt x="18880" y="6367"/>
                  </a:lnTo>
                  <a:lnTo>
                    <a:pt x="59616" y="0"/>
                  </a:lnTo>
                  <a:lnTo>
                    <a:pt x="94318" y="12714"/>
                  </a:lnTo>
                  <a:lnTo>
                    <a:pt x="94815" y="32385"/>
                  </a:lnTo>
                  <a:lnTo>
                    <a:pt x="89808" y="38712"/>
                  </a:lnTo>
                  <a:lnTo>
                    <a:pt x="60920" y="52278"/>
                  </a:lnTo>
                  <a:close/>
                </a:path>
              </a:pathLst>
            </a:custGeom>
            <a:solidFill>
              <a:srgbClr val="E6EBE2"/>
            </a:solidFill>
            <a:ln w="4403">
              <a:solidFill>
                <a:srgbClr val="B6C3B3"/>
              </a:solidFill>
              <a:prstDash val="solid"/>
            </a:ln>
          </p:spPr>
          <p:txBody>
            <a:bodyPr/>
            <a:p/>
          </p:txBody>
        </p:sp>
        <p:sp>
          <p:nvSpPr>
            <p:cNvPr id="98" name="land-82">
              <a:extLst>
                <a:ext uri="{FF2B5EF4-FFF2-40B4-BE49-F238E27FC236}">
                  <a16:creationId xmlns:a16="http://schemas.microsoft.com/office/drawing/2014/main" id="{4EED90B6-01D2-4B7C-9E9B-9C0E5987C71D}"/>
                </a:ext>
              </a:extLst>
            </p:cNvPr>
            <p:cNvSpPr>
              <a:spLocks/>
            </p:cNvSpPr>
            <p:nvPr/>
          </p:nvSpPr>
          <p:spPr>
            <a:xfrm>
              <a:off x="7044267" y="936149"/>
              <a:ext cx="319263" cy="153846"/>
            </a:xfrm>
            <a:custGeom>
              <a:avLst/>
              <a:gdLst/>
              <a:ahLst/>
              <a:cxnLst/>
              <a:rect l="0" t="0" r="0" b="0"/>
              <a:pathLst>
                <a:path w="448964" h="216346">
                  <a:moveTo>
                    <a:pt x="221617" y="109267"/>
                  </a:moveTo>
                  <a:lnTo>
                    <a:pt x="251595" y="120692"/>
                  </a:lnTo>
                  <a:lnTo>
                    <a:pt x="241283" y="87322"/>
                  </a:lnTo>
                  <a:lnTo>
                    <a:pt x="361943" y="94170"/>
                  </a:lnTo>
                  <a:lnTo>
                    <a:pt x="448964" y="137148"/>
                  </a:lnTo>
                  <a:lnTo>
                    <a:pt x="404892" y="157164"/>
                  </a:lnTo>
                  <a:lnTo>
                    <a:pt x="332030" y="161916"/>
                  </a:lnTo>
                  <a:lnTo>
                    <a:pt x="330930" y="206789"/>
                  </a:lnTo>
                  <a:lnTo>
                    <a:pt x="313136" y="216346"/>
                  </a:lnTo>
                  <a:lnTo>
                    <a:pt x="271508" y="214972"/>
                  </a:lnTo>
                  <a:lnTo>
                    <a:pt x="237633" y="198961"/>
                  </a:lnTo>
                  <a:lnTo>
                    <a:pt x="178532" y="185568"/>
                  </a:lnTo>
                  <a:lnTo>
                    <a:pt x="168592" y="165647"/>
                  </a:lnTo>
                  <a:lnTo>
                    <a:pt x="123453" y="158135"/>
                  </a:lnTo>
                  <a:lnTo>
                    <a:pt x="72901" y="164092"/>
                  </a:lnTo>
                  <a:lnTo>
                    <a:pt x="48747" y="148022"/>
                  </a:lnTo>
                  <a:lnTo>
                    <a:pt x="58402" y="130954"/>
                  </a:lnTo>
                  <a:lnTo>
                    <a:pt x="5166" y="141863"/>
                  </a:lnTo>
                  <a:lnTo>
                    <a:pt x="25217" y="163468"/>
                  </a:lnTo>
                  <a:lnTo>
                    <a:pt x="0" y="182958"/>
                  </a:lnTo>
                  <a:lnTo>
                    <a:pt x="0" y="0"/>
                  </a:lnTo>
                  <a:lnTo>
                    <a:pt x="108903" y="35069"/>
                  </a:lnTo>
                  <a:lnTo>
                    <a:pt x="225439" y="80723"/>
                  </a:lnTo>
                  <a:lnTo>
                    <a:pt x="221617" y="109267"/>
                  </a:lnTo>
                  <a:close/>
                </a:path>
              </a:pathLst>
            </a:custGeom>
            <a:solidFill>
              <a:srgbClr val="E6EBE2"/>
            </a:solidFill>
            <a:ln w="4403">
              <a:solidFill>
                <a:srgbClr val="B6C3B3"/>
              </a:solidFill>
              <a:prstDash val="solid"/>
            </a:ln>
          </p:spPr>
          <p:txBody>
            <a:bodyPr/>
            <a:p/>
          </p:txBody>
        </p:sp>
        <p:sp>
          <p:nvSpPr>
            <p:cNvPr id="99" name="land-83">
              <a:extLst>
                <a:ext uri="{FF2B5EF4-FFF2-40B4-BE49-F238E27FC236}">
                  <a16:creationId xmlns:a16="http://schemas.microsoft.com/office/drawing/2014/main" id="{699FA0EC-3C19-473F-B36B-6F6BA16C0C88}"/>
                </a:ext>
              </a:extLst>
            </p:cNvPr>
            <p:cNvSpPr>
              <a:spLocks/>
            </p:cNvSpPr>
            <p:nvPr/>
          </p:nvSpPr>
          <p:spPr>
            <a:xfrm>
              <a:off x="9579382" y="897617"/>
              <a:ext cx="131168" cy="45279"/>
            </a:xfrm>
            <a:custGeom>
              <a:avLst/>
              <a:gdLst/>
              <a:ahLst/>
              <a:cxnLst/>
              <a:rect l="0" t="0" r="0" b="0"/>
              <a:pathLst>
                <a:path w="184455" h="63674">
                  <a:moveTo>
                    <a:pt x="184455" y="47570"/>
                  </a:moveTo>
                  <a:lnTo>
                    <a:pt x="156814" y="63674"/>
                  </a:lnTo>
                  <a:lnTo>
                    <a:pt x="96901" y="49759"/>
                  </a:lnTo>
                  <a:lnTo>
                    <a:pt x="60701" y="54780"/>
                  </a:lnTo>
                  <a:lnTo>
                    <a:pt x="0" y="34145"/>
                  </a:lnTo>
                  <a:lnTo>
                    <a:pt x="39116" y="19909"/>
                  </a:lnTo>
                  <a:lnTo>
                    <a:pt x="70193" y="0"/>
                  </a:lnTo>
                  <a:lnTo>
                    <a:pt x="117348" y="13020"/>
                  </a:lnTo>
                  <a:lnTo>
                    <a:pt x="144018" y="21286"/>
                  </a:lnTo>
                  <a:lnTo>
                    <a:pt x="157353" y="30012"/>
                  </a:lnTo>
                  <a:lnTo>
                    <a:pt x="184455" y="47570"/>
                  </a:lnTo>
                  <a:close/>
                </a:path>
              </a:pathLst>
            </a:custGeom>
            <a:solidFill>
              <a:srgbClr val="E6EBE2"/>
            </a:solidFill>
            <a:ln w="4403">
              <a:solidFill>
                <a:srgbClr val="B6C3B3"/>
              </a:solidFill>
              <a:prstDash val="solid"/>
            </a:ln>
          </p:spPr>
          <p:txBody>
            <a:bodyPr/>
            <a:p/>
          </p:txBody>
        </p:sp>
        <p:sp>
          <p:nvSpPr>
            <p:cNvPr id="100" name="land-84">
              <a:extLst>
                <a:ext uri="{FF2B5EF4-FFF2-40B4-BE49-F238E27FC236}">
                  <a16:creationId xmlns:a16="http://schemas.microsoft.com/office/drawing/2014/main" id="{2A55F474-1605-4901-87EA-EFE8F3971563}"/>
                </a:ext>
              </a:extLst>
            </p:cNvPr>
            <p:cNvSpPr>
              <a:spLocks/>
            </p:cNvSpPr>
            <p:nvPr/>
          </p:nvSpPr>
          <p:spPr>
            <a:xfrm>
              <a:off x="7003975" y="852806"/>
              <a:ext cx="40292" cy="23989"/>
            </a:xfrm>
            <a:custGeom>
              <a:avLst/>
              <a:gdLst/>
              <a:ahLst/>
              <a:cxnLst/>
              <a:rect l="0" t="0" r="0" b="0"/>
              <a:pathLst>
                <a:path w="56660" h="33735">
                  <a:moveTo>
                    <a:pt x="56660" y="31390"/>
                  </a:moveTo>
                  <a:lnTo>
                    <a:pt x="7918" y="33735"/>
                  </a:lnTo>
                  <a:lnTo>
                    <a:pt x="0" y="19146"/>
                  </a:lnTo>
                  <a:lnTo>
                    <a:pt x="56660" y="0"/>
                  </a:lnTo>
                  <a:lnTo>
                    <a:pt x="56660" y="31390"/>
                  </a:lnTo>
                  <a:close/>
                </a:path>
              </a:pathLst>
            </a:custGeom>
            <a:solidFill>
              <a:srgbClr val="E6EBE2"/>
            </a:solidFill>
            <a:ln w="4403">
              <a:solidFill>
                <a:srgbClr val="B6C3B3"/>
              </a:solidFill>
              <a:prstDash val="solid"/>
            </a:ln>
          </p:spPr>
          <p:txBody>
            <a:bodyPr/>
            <a:p/>
          </p:txBody>
        </p:sp>
        <p:sp>
          <p:nvSpPr>
            <p:cNvPr id="101" name="land-85">
              <a:extLst>
                <a:ext uri="{FF2B5EF4-FFF2-40B4-BE49-F238E27FC236}">
                  <a16:creationId xmlns:a16="http://schemas.microsoft.com/office/drawing/2014/main" id="{764834E3-E39F-4C21-BEE4-66C7773A9483}"/>
                </a:ext>
              </a:extLst>
            </p:cNvPr>
            <p:cNvSpPr>
              <a:spLocks/>
            </p:cNvSpPr>
            <p:nvPr/>
          </p:nvSpPr>
          <p:spPr>
            <a:xfrm>
              <a:off x="7044267" y="851437"/>
              <a:ext cx="76558" cy="23690"/>
            </a:xfrm>
            <a:custGeom>
              <a:avLst/>
              <a:gdLst/>
              <a:ahLst/>
              <a:cxnLst/>
              <a:rect l="0" t="0" r="0" b="0"/>
              <a:pathLst>
                <a:path w="107660" h="33314">
                  <a:moveTo>
                    <a:pt x="58061" y="30521"/>
                  </a:moveTo>
                  <a:lnTo>
                    <a:pt x="0" y="33314"/>
                  </a:lnTo>
                  <a:lnTo>
                    <a:pt x="0" y="1924"/>
                  </a:lnTo>
                  <a:lnTo>
                    <a:pt x="5695" y="0"/>
                  </a:lnTo>
                  <a:lnTo>
                    <a:pt x="43369" y="96"/>
                  </a:lnTo>
                  <a:lnTo>
                    <a:pt x="107660" y="13233"/>
                  </a:lnTo>
                  <a:lnTo>
                    <a:pt x="103854" y="19511"/>
                  </a:lnTo>
                  <a:lnTo>
                    <a:pt x="58061" y="30521"/>
                  </a:lnTo>
                  <a:close/>
                </a:path>
              </a:pathLst>
            </a:custGeom>
            <a:solidFill>
              <a:srgbClr val="E6EBE2"/>
            </a:solidFill>
            <a:ln w="4403">
              <a:solidFill>
                <a:srgbClr val="B6C3B3"/>
              </a:solidFill>
              <a:prstDash val="solid"/>
            </a:ln>
          </p:spPr>
          <p:txBody>
            <a:bodyPr/>
            <a:p/>
          </p:txBody>
        </p:sp>
        <p:sp>
          <p:nvSpPr>
            <p:cNvPr id="102" name="land-86">
              <a:extLst>
                <a:ext uri="{FF2B5EF4-FFF2-40B4-BE49-F238E27FC236}">
                  <a16:creationId xmlns:a16="http://schemas.microsoft.com/office/drawing/2014/main" id="{AA7886E2-2DC6-4289-91EF-CF5DB581FCD4}"/>
                </a:ext>
              </a:extLst>
            </p:cNvPr>
            <p:cNvSpPr>
              <a:spLocks/>
            </p:cNvSpPr>
            <p:nvPr/>
          </p:nvSpPr>
          <p:spPr>
            <a:xfrm>
              <a:off x="7420081" y="839588"/>
              <a:ext cx="4216009" cy="4107513"/>
            </a:xfrm>
            <a:custGeom>
              <a:avLst/>
              <a:gdLst/>
              <a:ahLst/>
              <a:cxnLst/>
              <a:rect l="0" t="0" r="0" b="0"/>
              <a:pathLst>
                <a:path w="5928763" h="5776190">
                  <a:moveTo>
                    <a:pt x="3447691" y="111264"/>
                  </a:moveTo>
                  <a:lnTo>
                    <a:pt x="3447496" y="158226"/>
                  </a:lnTo>
                  <a:lnTo>
                    <a:pt x="3506900" y="122238"/>
                  </a:lnTo>
                  <a:lnTo>
                    <a:pt x="3560040" y="151796"/>
                  </a:lnTo>
                  <a:lnTo>
                    <a:pt x="3546797" y="185855"/>
                  </a:lnTo>
                  <a:lnTo>
                    <a:pt x="3589799" y="216842"/>
                  </a:lnTo>
                  <a:lnTo>
                    <a:pt x="3636205" y="183649"/>
                  </a:lnTo>
                  <a:lnTo>
                    <a:pt x="3668631" y="144017"/>
                  </a:lnTo>
                  <a:lnTo>
                    <a:pt x="3671062" y="93611"/>
                  </a:lnTo>
                  <a:lnTo>
                    <a:pt x="3734231" y="97129"/>
                  </a:lnTo>
                  <a:lnTo>
                    <a:pt x="3799941" y="103887"/>
                  </a:lnTo>
                  <a:lnTo>
                    <a:pt x="3859597" y="126675"/>
                  </a:lnTo>
                  <a:lnTo>
                    <a:pt x="3862272" y="149472"/>
                  </a:lnTo>
                  <a:lnTo>
                    <a:pt x="3829198" y="173959"/>
                  </a:lnTo>
                  <a:lnTo>
                    <a:pt x="3860536" y="198538"/>
                  </a:lnTo>
                  <a:lnTo>
                    <a:pt x="3854882" y="220875"/>
                  </a:lnTo>
                  <a:lnTo>
                    <a:pt x="3767848" y="252986"/>
                  </a:lnTo>
                  <a:lnTo>
                    <a:pt x="3706021" y="260075"/>
                  </a:lnTo>
                  <a:lnTo>
                    <a:pt x="3660060" y="246253"/>
                  </a:lnTo>
                  <a:lnTo>
                    <a:pt x="3646805" y="269308"/>
                  </a:lnTo>
                  <a:lnTo>
                    <a:pt x="3603966" y="308031"/>
                  </a:lnTo>
                  <a:lnTo>
                    <a:pt x="3590995" y="328117"/>
                  </a:lnTo>
                  <a:lnTo>
                    <a:pt x="3539445" y="359189"/>
                  </a:lnTo>
                  <a:lnTo>
                    <a:pt x="3475814" y="362238"/>
                  </a:lnTo>
                  <a:lnTo>
                    <a:pt x="3440719" y="381638"/>
                  </a:lnTo>
                  <a:lnTo>
                    <a:pt x="3437783" y="411487"/>
                  </a:lnTo>
                  <a:lnTo>
                    <a:pt x="3386070" y="417238"/>
                  </a:lnTo>
                  <a:lnTo>
                    <a:pt x="3331683" y="454454"/>
                  </a:lnTo>
                  <a:lnTo>
                    <a:pt x="3283475" y="506166"/>
                  </a:lnTo>
                  <a:lnTo>
                    <a:pt x="3266239" y="542372"/>
                  </a:lnTo>
                  <a:lnTo>
                    <a:pt x="3263784" y="595707"/>
                  </a:lnTo>
                  <a:lnTo>
                    <a:pt x="3329103" y="603368"/>
                  </a:lnTo>
                  <a:lnTo>
                    <a:pt x="3349125" y="646371"/>
                  </a:lnTo>
                  <a:lnTo>
                    <a:pt x="3369909" y="681209"/>
                  </a:lnTo>
                  <a:lnTo>
                    <a:pt x="3432108" y="672133"/>
                  </a:lnTo>
                  <a:lnTo>
                    <a:pt x="3514705" y="692021"/>
                  </a:lnTo>
                  <a:lnTo>
                    <a:pt x="3559142" y="709472"/>
                  </a:lnTo>
                  <a:lnTo>
                    <a:pt x="3590949" y="731175"/>
                  </a:lnTo>
                  <a:lnTo>
                    <a:pt x="3646644" y="743814"/>
                  </a:lnTo>
                  <a:lnTo>
                    <a:pt x="3693737" y="763158"/>
                  </a:lnTo>
                  <a:lnTo>
                    <a:pt x="3767138" y="765812"/>
                  </a:lnTo>
                  <a:lnTo>
                    <a:pt x="3815483" y="770246"/>
                  </a:lnTo>
                  <a:lnTo>
                    <a:pt x="3808221" y="810018"/>
                  </a:lnTo>
                  <a:lnTo>
                    <a:pt x="3822054" y="856180"/>
                  </a:lnTo>
                  <a:lnTo>
                    <a:pt x="3854250" y="907579"/>
                  </a:lnTo>
                  <a:lnTo>
                    <a:pt x="3920382" y="951179"/>
                  </a:lnTo>
                  <a:lnTo>
                    <a:pt x="3954604" y="936236"/>
                  </a:lnTo>
                  <a:lnTo>
                    <a:pt x="3978655" y="889017"/>
                  </a:lnTo>
                  <a:lnTo>
                    <a:pt x="3955440" y="816484"/>
                  </a:lnTo>
                  <a:lnTo>
                    <a:pt x="3924085" y="792317"/>
                  </a:lnTo>
                  <a:lnTo>
                    <a:pt x="3995245" y="770790"/>
                  </a:lnTo>
                  <a:lnTo>
                    <a:pt x="4045612" y="738595"/>
                  </a:lnTo>
                  <a:lnTo>
                    <a:pt x="4070246" y="706596"/>
                  </a:lnTo>
                  <a:lnTo>
                    <a:pt x="4066613" y="675901"/>
                  </a:lnTo>
                  <a:lnTo>
                    <a:pt x="4036428" y="636891"/>
                  </a:lnTo>
                  <a:lnTo>
                    <a:pt x="3982434" y="602331"/>
                  </a:lnTo>
                  <a:lnTo>
                    <a:pt x="4034896" y="554201"/>
                  </a:lnTo>
                  <a:lnTo>
                    <a:pt x="4015514" y="512632"/>
                  </a:lnTo>
                  <a:lnTo>
                    <a:pt x="4000663" y="440907"/>
                  </a:lnTo>
                  <a:lnTo>
                    <a:pt x="4031610" y="430309"/>
                  </a:lnTo>
                  <a:lnTo>
                    <a:pt x="4107813" y="442799"/>
                  </a:lnTo>
                  <a:lnTo>
                    <a:pt x="4153509" y="447272"/>
                  </a:lnTo>
                  <a:lnTo>
                    <a:pt x="4190327" y="435203"/>
                  </a:lnTo>
                  <a:lnTo>
                    <a:pt x="4231727" y="450762"/>
                  </a:lnTo>
                  <a:lnTo>
                    <a:pt x="4286468" y="477388"/>
                  </a:lnTo>
                  <a:lnTo>
                    <a:pt x="4299949" y="495217"/>
                  </a:lnTo>
                  <a:lnTo>
                    <a:pt x="4379218" y="498687"/>
                  </a:lnTo>
                  <a:lnTo>
                    <a:pt x="4377888" y="537273"/>
                  </a:lnTo>
                  <a:lnTo>
                    <a:pt x="4392663" y="595323"/>
                  </a:lnTo>
                  <a:lnTo>
                    <a:pt x="4433264" y="602496"/>
                  </a:lnTo>
                  <a:lnTo>
                    <a:pt x="4465478" y="629545"/>
                  </a:lnTo>
                  <a:lnTo>
                    <a:pt x="4529841" y="604049"/>
                  </a:lnTo>
                  <a:lnTo>
                    <a:pt x="4572362" y="553374"/>
                  </a:lnTo>
                  <a:lnTo>
                    <a:pt x="4601774" y="532021"/>
                  </a:lnTo>
                  <a:lnTo>
                    <a:pt x="4636392" y="573031"/>
                  </a:lnTo>
                  <a:lnTo>
                    <a:pt x="4694280" y="631611"/>
                  </a:lnTo>
                  <a:lnTo>
                    <a:pt x="4743437" y="686701"/>
                  </a:lnTo>
                  <a:lnTo>
                    <a:pt x="4725564" y="715543"/>
                  </a:lnTo>
                  <a:lnTo>
                    <a:pt x="4784685" y="741443"/>
                  </a:lnTo>
                  <a:lnTo>
                    <a:pt x="4824643" y="767684"/>
                  </a:lnTo>
                  <a:lnTo>
                    <a:pt x="4895517" y="779561"/>
                  </a:lnTo>
                  <a:lnTo>
                    <a:pt x="4924050" y="794209"/>
                  </a:lnTo>
                  <a:lnTo>
                    <a:pt x="4941666" y="833072"/>
                  </a:lnTo>
                  <a:lnTo>
                    <a:pt x="4976284" y="839169"/>
                  </a:lnTo>
                  <a:lnTo>
                    <a:pt x="4994144" y="856483"/>
                  </a:lnTo>
                  <a:lnTo>
                    <a:pt x="4997388" y="908091"/>
                  </a:lnTo>
                  <a:lnTo>
                    <a:pt x="4965123" y="925361"/>
                  </a:lnTo>
                  <a:lnTo>
                    <a:pt x="4933220" y="941481"/>
                  </a:lnTo>
                  <a:lnTo>
                    <a:pt x="4859972" y="957802"/>
                  </a:lnTo>
                  <a:lnTo>
                    <a:pt x="4804040" y="995522"/>
                  </a:lnTo>
                  <a:lnTo>
                    <a:pt x="4728898" y="1002981"/>
                  </a:lnTo>
                  <a:lnTo>
                    <a:pt x="4633823" y="993311"/>
                  </a:lnTo>
                  <a:lnTo>
                    <a:pt x="4567113" y="992980"/>
                  </a:lnTo>
                  <a:lnTo>
                    <a:pt x="4521076" y="996167"/>
                  </a:lnTo>
                  <a:lnTo>
                    <a:pt x="4483856" y="1029113"/>
                  </a:lnTo>
                  <a:lnTo>
                    <a:pt x="4427192" y="1049457"/>
                  </a:lnTo>
                  <a:lnTo>
                    <a:pt x="4363072" y="1110243"/>
                  </a:lnTo>
                  <a:lnTo>
                    <a:pt x="4311916" y="1152638"/>
                  </a:lnTo>
                  <a:lnTo>
                    <a:pt x="4349667" y="1145089"/>
                  </a:lnTo>
                  <a:lnTo>
                    <a:pt x="4421017" y="1084744"/>
                  </a:lnTo>
                  <a:lnTo>
                    <a:pt x="4514255" y="1046489"/>
                  </a:lnTo>
                  <a:lnTo>
                    <a:pt x="4580762" y="1041906"/>
                  </a:lnTo>
                  <a:lnTo>
                    <a:pt x="4620109" y="1064428"/>
                  </a:lnTo>
                  <a:lnTo>
                    <a:pt x="4578128" y="1095269"/>
                  </a:lnTo>
                  <a:lnTo>
                    <a:pt x="4592216" y="1144767"/>
                  </a:lnTo>
                  <a:lnTo>
                    <a:pt x="4606725" y="1179420"/>
                  </a:lnTo>
                  <a:lnTo>
                    <a:pt x="4664458" y="1202357"/>
                  </a:lnTo>
                  <a:lnTo>
                    <a:pt x="4737916" y="1195706"/>
                  </a:lnTo>
                  <a:lnTo>
                    <a:pt x="4782480" y="1144089"/>
                  </a:lnTo>
                  <a:lnTo>
                    <a:pt x="4785570" y="1177391"/>
                  </a:lnTo>
                  <a:lnTo>
                    <a:pt x="4814276" y="1194027"/>
                  </a:lnTo>
                  <a:lnTo>
                    <a:pt x="4759292" y="1224114"/>
                  </a:lnTo>
                  <a:lnTo>
                    <a:pt x="4660839" y="1251440"/>
                  </a:lnTo>
                  <a:lnTo>
                    <a:pt x="4616750" y="1270030"/>
                  </a:lnTo>
                  <a:lnTo>
                    <a:pt x="4567077" y="1303105"/>
                  </a:lnTo>
                  <a:lnTo>
                    <a:pt x="4533325" y="1299733"/>
                  </a:lnTo>
                  <a:lnTo>
                    <a:pt x="4531624" y="1260864"/>
                  </a:lnTo>
                  <a:lnTo>
                    <a:pt x="4608798" y="1222884"/>
                  </a:lnTo>
                  <a:lnTo>
                    <a:pt x="4537655" y="1224392"/>
                  </a:lnTo>
                  <a:lnTo>
                    <a:pt x="4488254" y="1229983"/>
                  </a:lnTo>
                  <a:lnTo>
                    <a:pt x="4495934" y="1245038"/>
                  </a:lnTo>
                  <a:lnTo>
                    <a:pt x="4448467" y="1267283"/>
                  </a:lnTo>
                  <a:lnTo>
                    <a:pt x="4402794" y="1283136"/>
                  </a:lnTo>
                  <a:lnTo>
                    <a:pt x="4355850" y="1296731"/>
                  </a:lnTo>
                  <a:lnTo>
                    <a:pt x="4330340" y="1326765"/>
                  </a:lnTo>
                  <a:lnTo>
                    <a:pt x="4324789" y="1334333"/>
                  </a:lnTo>
                  <a:lnTo>
                    <a:pt x="4324339" y="1358683"/>
                  </a:lnTo>
                  <a:lnTo>
                    <a:pt x="4339008" y="1383021"/>
                  </a:lnTo>
                  <a:lnTo>
                    <a:pt x="4357454" y="1384170"/>
                  </a:lnTo>
                  <a:lnTo>
                    <a:pt x="4352787" y="1367408"/>
                  </a:lnTo>
                  <a:lnTo>
                    <a:pt x="4366127" y="1377611"/>
                  </a:lnTo>
                  <a:lnTo>
                    <a:pt x="4362565" y="1390737"/>
                  </a:lnTo>
                  <a:lnTo>
                    <a:pt x="4332562" y="1398177"/>
                  </a:lnTo>
                  <a:lnTo>
                    <a:pt x="4311213" y="1397285"/>
                  </a:lnTo>
                  <a:lnTo>
                    <a:pt x="4278334" y="1405293"/>
                  </a:lnTo>
                  <a:lnTo>
                    <a:pt x="4258999" y="1407592"/>
                  </a:lnTo>
                  <a:lnTo>
                    <a:pt x="4233154" y="1409859"/>
                  </a:lnTo>
                  <a:lnTo>
                    <a:pt x="4196100" y="1423160"/>
                  </a:lnTo>
                  <a:lnTo>
                    <a:pt x="4261389" y="1414507"/>
                  </a:lnTo>
                  <a:lnTo>
                    <a:pt x="4274555" y="1423204"/>
                  </a:lnTo>
                  <a:lnTo>
                    <a:pt x="4212329" y="1436981"/>
                  </a:lnTo>
                  <a:lnTo>
                    <a:pt x="4184011" y="1437074"/>
                  </a:lnTo>
                  <a:lnTo>
                    <a:pt x="4185332" y="1431445"/>
                  </a:lnTo>
                  <a:lnTo>
                    <a:pt x="4171800" y="1444174"/>
                  </a:lnTo>
                  <a:lnTo>
                    <a:pt x="4184882" y="1446279"/>
                  </a:lnTo>
                  <a:lnTo>
                    <a:pt x="4175280" y="1479270"/>
                  </a:lnTo>
                  <a:lnTo>
                    <a:pt x="4142939" y="1514621"/>
                  </a:lnTo>
                  <a:lnTo>
                    <a:pt x="4139631" y="1502820"/>
                  </a:lnTo>
                  <a:lnTo>
                    <a:pt x="4129870" y="1500432"/>
                  </a:lnTo>
                  <a:lnTo>
                    <a:pt x="4115288" y="1488951"/>
                  </a:lnTo>
                  <a:lnTo>
                    <a:pt x="4124536" y="1513676"/>
                  </a:lnTo>
                  <a:lnTo>
                    <a:pt x="4135049" y="1521886"/>
                  </a:lnTo>
                  <a:lnTo>
                    <a:pt x="4136240" y="1539209"/>
                  </a:lnTo>
                  <a:lnTo>
                    <a:pt x="4121986" y="1557055"/>
                  </a:lnTo>
                  <a:lnTo>
                    <a:pt x="4096969" y="1593730"/>
                  </a:lnTo>
                  <a:lnTo>
                    <a:pt x="4092924" y="1591902"/>
                  </a:lnTo>
                  <a:lnTo>
                    <a:pt x="4106668" y="1560657"/>
                  </a:lnTo>
                  <a:lnTo>
                    <a:pt x="4083963" y="1543105"/>
                  </a:lnTo>
                  <a:lnTo>
                    <a:pt x="4078754" y="1504951"/>
                  </a:lnTo>
                  <a:lnTo>
                    <a:pt x="4070186" y="1524807"/>
                  </a:lnTo>
                  <a:lnTo>
                    <a:pt x="4079674" y="1553941"/>
                  </a:lnTo>
                  <a:lnTo>
                    <a:pt x="4051638" y="1547071"/>
                  </a:lnTo>
                  <a:lnTo>
                    <a:pt x="4080906" y="1561529"/>
                  </a:lnTo>
                  <a:lnTo>
                    <a:pt x="4082810" y="1605230"/>
                  </a:lnTo>
                  <a:lnTo>
                    <a:pt x="4095564" y="1608409"/>
                  </a:lnTo>
                  <a:lnTo>
                    <a:pt x="4100179" y="1624296"/>
                  </a:lnTo>
                  <a:lnTo>
                    <a:pt x="4106424" y="1670248"/>
                  </a:lnTo>
                  <a:lnTo>
                    <a:pt x="4078171" y="1704335"/>
                  </a:lnTo>
                  <a:lnTo>
                    <a:pt x="4032188" y="1717947"/>
                  </a:lnTo>
                  <a:lnTo>
                    <a:pt x="4002972" y="1744886"/>
                  </a:lnTo>
                  <a:lnTo>
                    <a:pt x="3980771" y="1747832"/>
                  </a:lnTo>
                  <a:lnTo>
                    <a:pt x="3958267" y="1764698"/>
                  </a:lnTo>
                  <a:lnTo>
                    <a:pt x="3951915" y="1780109"/>
                  </a:lnTo>
                  <a:lnTo>
                    <a:pt x="3903119" y="1809924"/>
                  </a:lnTo>
                  <a:lnTo>
                    <a:pt x="3878062" y="1831782"/>
                  </a:lnTo>
                  <a:lnTo>
                    <a:pt x="3857112" y="1859007"/>
                  </a:lnTo>
                  <a:lnTo>
                    <a:pt x="3850262" y="1891631"/>
                  </a:lnTo>
                  <a:lnTo>
                    <a:pt x="3858116" y="1923529"/>
                  </a:lnTo>
                  <a:lnTo>
                    <a:pt x="3872950" y="1962813"/>
                  </a:lnTo>
                  <a:lnTo>
                    <a:pt x="3892704" y="1995327"/>
                  </a:lnTo>
                  <a:lnTo>
                    <a:pt x="3892951" y="2015167"/>
                  </a:lnTo>
                  <a:lnTo>
                    <a:pt x="3913998" y="2068438"/>
                  </a:lnTo>
                  <a:lnTo>
                    <a:pt x="3912598" y="2099411"/>
                  </a:lnTo>
                  <a:lnTo>
                    <a:pt x="3910667" y="2117266"/>
                  </a:lnTo>
                  <a:lnTo>
                    <a:pt x="3899576" y="2145307"/>
                  </a:lnTo>
                  <a:lnTo>
                    <a:pt x="3886285" y="2151103"/>
                  </a:lnTo>
                  <a:lnTo>
                    <a:pt x="3864410" y="2145536"/>
                  </a:lnTo>
                  <a:lnTo>
                    <a:pt x="3857391" y="2125386"/>
                  </a:lnTo>
                  <a:lnTo>
                    <a:pt x="3840500" y="2114821"/>
                  </a:lnTo>
                  <a:lnTo>
                    <a:pt x="3816943" y="2075327"/>
                  </a:lnTo>
                  <a:lnTo>
                    <a:pt x="3796270" y="2040195"/>
                  </a:lnTo>
                  <a:lnTo>
                    <a:pt x="3789593" y="2022230"/>
                  </a:lnTo>
                  <a:lnTo>
                    <a:pt x="3798717" y="1991745"/>
                  </a:lnTo>
                  <a:lnTo>
                    <a:pt x="3786272" y="1966487"/>
                  </a:lnTo>
                  <a:lnTo>
                    <a:pt x="3751619" y="1928067"/>
                  </a:lnTo>
                  <a:lnTo>
                    <a:pt x="3734267" y="1921023"/>
                  </a:lnTo>
                  <a:lnTo>
                    <a:pt x="3689423" y="1941863"/>
                  </a:lnTo>
                  <a:lnTo>
                    <a:pt x="3681469" y="1939576"/>
                  </a:lnTo>
                  <a:lnTo>
                    <a:pt x="3659900" y="1918147"/>
                  </a:lnTo>
                  <a:lnTo>
                    <a:pt x="3632030" y="1906787"/>
                  </a:lnTo>
                  <a:lnTo>
                    <a:pt x="3581790" y="1912555"/>
                  </a:lnTo>
                  <a:lnTo>
                    <a:pt x="3542340" y="1907485"/>
                  </a:lnTo>
                  <a:lnTo>
                    <a:pt x="3508438" y="1910644"/>
                  </a:lnTo>
                  <a:lnTo>
                    <a:pt x="3489572" y="1917062"/>
                  </a:lnTo>
                  <a:lnTo>
                    <a:pt x="3498072" y="1930015"/>
                  </a:lnTo>
                  <a:lnTo>
                    <a:pt x="3497347" y="1948641"/>
                  </a:lnTo>
                  <a:lnTo>
                    <a:pt x="3506789" y="1957717"/>
                  </a:lnTo>
                  <a:lnTo>
                    <a:pt x="3498316" y="1963749"/>
                  </a:lnTo>
                  <a:lnTo>
                    <a:pt x="3481821" y="1956980"/>
                  </a:lnTo>
                  <a:lnTo>
                    <a:pt x="3465139" y="1965689"/>
                  </a:lnTo>
                  <a:lnTo>
                    <a:pt x="3432886" y="1964256"/>
                  </a:lnTo>
                  <a:lnTo>
                    <a:pt x="3399703" y="1939988"/>
                  </a:lnTo>
                  <a:lnTo>
                    <a:pt x="3360926" y="1945720"/>
                  </a:lnTo>
                  <a:lnTo>
                    <a:pt x="3328598" y="1935086"/>
                  </a:lnTo>
                  <a:lnTo>
                    <a:pt x="3300950" y="1938309"/>
                  </a:lnTo>
                  <a:lnTo>
                    <a:pt x="3263540" y="1949036"/>
                  </a:lnTo>
                  <a:lnTo>
                    <a:pt x="3223078" y="1983084"/>
                  </a:lnTo>
                  <a:lnTo>
                    <a:pt x="3178908" y="2002887"/>
                  </a:lnTo>
                  <a:lnTo>
                    <a:pt x="3154637" y="2024812"/>
                  </a:lnTo>
                  <a:lnTo>
                    <a:pt x="3144414" y="2045476"/>
                  </a:lnTo>
                  <a:lnTo>
                    <a:pt x="3143969" y="2077163"/>
                  </a:lnTo>
                  <a:lnTo>
                    <a:pt x="3146191" y="2099209"/>
                  </a:lnTo>
                  <a:lnTo>
                    <a:pt x="3154629" y="2114849"/>
                  </a:lnTo>
                  <a:lnTo>
                    <a:pt x="3154699" y="2114922"/>
                  </a:lnTo>
                  <a:lnTo>
                    <a:pt x="3154558" y="2115015"/>
                  </a:lnTo>
                  <a:lnTo>
                    <a:pt x="3137388" y="2155142"/>
                  </a:lnTo>
                  <a:lnTo>
                    <a:pt x="3129618" y="2188201"/>
                  </a:lnTo>
                  <a:lnTo>
                    <a:pt x="3126367" y="2249721"/>
                  </a:lnTo>
                  <a:lnTo>
                    <a:pt x="3122084" y="2272150"/>
                  </a:lnTo>
                  <a:lnTo>
                    <a:pt x="3129791" y="2297206"/>
                  </a:lnTo>
                  <a:lnTo>
                    <a:pt x="3143571" y="2319599"/>
                  </a:lnTo>
                  <a:lnTo>
                    <a:pt x="3152448" y="2355217"/>
                  </a:lnTo>
                  <a:lnTo>
                    <a:pt x="3181952" y="2389410"/>
                  </a:lnTo>
                  <a:lnTo>
                    <a:pt x="3192326" y="2415607"/>
                  </a:lnTo>
                  <a:lnTo>
                    <a:pt x="3209716" y="2438219"/>
                  </a:lnTo>
                  <a:lnTo>
                    <a:pt x="3256918" y="2450409"/>
                  </a:lnTo>
                  <a:lnTo>
                    <a:pt x="3275287" y="2469623"/>
                  </a:lnTo>
                  <a:lnTo>
                    <a:pt x="3314276" y="2456783"/>
                  </a:lnTo>
                  <a:lnTo>
                    <a:pt x="3348170" y="2452144"/>
                  </a:lnTo>
                  <a:lnTo>
                    <a:pt x="3381453" y="2443886"/>
                  </a:lnTo>
                  <a:lnTo>
                    <a:pt x="3409430" y="2436015"/>
                  </a:lnTo>
                  <a:lnTo>
                    <a:pt x="3437705" y="2417277"/>
                  </a:lnTo>
                  <a:lnTo>
                    <a:pt x="3448296" y="2390487"/>
                  </a:lnTo>
                  <a:lnTo>
                    <a:pt x="3451942" y="2351909"/>
                  </a:lnTo>
                  <a:lnTo>
                    <a:pt x="3459626" y="2338483"/>
                  </a:lnTo>
                  <a:lnTo>
                    <a:pt x="3489732" y="2326458"/>
                  </a:lnTo>
                  <a:lnTo>
                    <a:pt x="3536735" y="2315804"/>
                  </a:lnTo>
                  <a:lnTo>
                    <a:pt x="3576095" y="2317402"/>
                  </a:lnTo>
                  <a:lnTo>
                    <a:pt x="3603055" y="2313517"/>
                  </a:lnTo>
                  <a:lnTo>
                    <a:pt x="3613717" y="2323254"/>
                  </a:lnTo>
                  <a:lnTo>
                    <a:pt x="3612211" y="2345370"/>
                  </a:lnTo>
                  <a:lnTo>
                    <a:pt x="3588323" y="2372668"/>
                  </a:lnTo>
                  <a:lnTo>
                    <a:pt x="3577758" y="2400636"/>
                  </a:lnTo>
                  <a:lnTo>
                    <a:pt x="3585949" y="2408627"/>
                  </a:lnTo>
                  <a:lnTo>
                    <a:pt x="3579291" y="2428484"/>
                  </a:lnTo>
                  <a:lnTo>
                    <a:pt x="3568146" y="2464314"/>
                  </a:lnTo>
                  <a:lnTo>
                    <a:pt x="3556884" y="2452519"/>
                  </a:lnTo>
                  <a:lnTo>
                    <a:pt x="3547576" y="2453282"/>
                  </a:lnTo>
                  <a:lnTo>
                    <a:pt x="3547739" y="2460026"/>
                  </a:lnTo>
                  <a:lnTo>
                    <a:pt x="3556163" y="2460236"/>
                  </a:lnTo>
                  <a:lnTo>
                    <a:pt x="3555425" y="2472726"/>
                  </a:lnTo>
                  <a:lnTo>
                    <a:pt x="3548230" y="2492585"/>
                  </a:lnTo>
                  <a:lnTo>
                    <a:pt x="3552115" y="2499694"/>
                  </a:lnTo>
                  <a:lnTo>
                    <a:pt x="3547459" y="2516125"/>
                  </a:lnTo>
                  <a:lnTo>
                    <a:pt x="3550265" y="2520517"/>
                  </a:lnTo>
                  <a:lnTo>
                    <a:pt x="3545113" y="2543717"/>
                  </a:lnTo>
                  <a:lnTo>
                    <a:pt x="3536382" y="2555905"/>
                  </a:lnTo>
                  <a:lnTo>
                    <a:pt x="3528354" y="2557365"/>
                  </a:lnTo>
                  <a:lnTo>
                    <a:pt x="3519545" y="2573272"/>
                  </a:lnTo>
                  <a:lnTo>
                    <a:pt x="3534035" y="2581577"/>
                  </a:lnTo>
                  <a:lnTo>
                    <a:pt x="3537872" y="2574732"/>
                  </a:lnTo>
                  <a:lnTo>
                    <a:pt x="3550910" y="2580602"/>
                  </a:lnTo>
                  <a:lnTo>
                    <a:pt x="3555528" y="2582393"/>
                  </a:lnTo>
                  <a:lnTo>
                    <a:pt x="3565276" y="2574320"/>
                  </a:lnTo>
                  <a:lnTo>
                    <a:pt x="3577997" y="2573659"/>
                  </a:lnTo>
                  <a:lnTo>
                    <a:pt x="3582118" y="2577406"/>
                  </a:lnTo>
                  <a:lnTo>
                    <a:pt x="3589017" y="2575128"/>
                  </a:lnTo>
                  <a:lnTo>
                    <a:pt x="3609663" y="2579270"/>
                  </a:lnTo>
                  <a:lnTo>
                    <a:pt x="3630212" y="2578068"/>
                  </a:lnTo>
                  <a:lnTo>
                    <a:pt x="3644512" y="2572989"/>
                  </a:lnTo>
                  <a:lnTo>
                    <a:pt x="3649726" y="2567845"/>
                  </a:lnTo>
                  <a:lnTo>
                    <a:pt x="3663888" y="2570225"/>
                  </a:lnTo>
                  <a:lnTo>
                    <a:pt x="3674526" y="2573348"/>
                  </a:lnTo>
                  <a:lnTo>
                    <a:pt x="3686154" y="2572263"/>
                  </a:lnTo>
                  <a:lnTo>
                    <a:pt x="3694985" y="2568285"/>
                  </a:lnTo>
                  <a:lnTo>
                    <a:pt x="3715286" y="2574651"/>
                  </a:lnTo>
                  <a:lnTo>
                    <a:pt x="3722343" y="2575671"/>
                  </a:lnTo>
                  <a:lnTo>
                    <a:pt x="3735911" y="2584249"/>
                  </a:lnTo>
                  <a:lnTo>
                    <a:pt x="3748757" y="2594547"/>
                  </a:lnTo>
                  <a:lnTo>
                    <a:pt x="3764918" y="2601582"/>
                  </a:lnTo>
                  <a:lnTo>
                    <a:pt x="3776617" y="2614210"/>
                  </a:lnTo>
                  <a:lnTo>
                    <a:pt x="3772794" y="2618619"/>
                  </a:lnTo>
                  <a:lnTo>
                    <a:pt x="3770529" y="2628869"/>
                  </a:lnTo>
                  <a:lnTo>
                    <a:pt x="3775065" y="2645676"/>
                  </a:lnTo>
                  <a:lnTo>
                    <a:pt x="3764826" y="2661319"/>
                  </a:lnTo>
                  <a:lnTo>
                    <a:pt x="3760057" y="2679799"/>
                  </a:lnTo>
                  <a:lnTo>
                    <a:pt x="3758616" y="2700034"/>
                  </a:lnTo>
                  <a:lnTo>
                    <a:pt x="3761003" y="2711871"/>
                  </a:lnTo>
                  <a:lnTo>
                    <a:pt x="3762121" y="2732546"/>
                  </a:lnTo>
                  <a:lnTo>
                    <a:pt x="3755330" y="2737056"/>
                  </a:lnTo>
                  <a:lnTo>
                    <a:pt x="3751174" y="2756702"/>
                  </a:lnTo>
                  <a:lnTo>
                    <a:pt x="3754229" y="2768828"/>
                  </a:lnTo>
                  <a:lnTo>
                    <a:pt x="3745138" y="2780575"/>
                  </a:lnTo>
                  <a:lnTo>
                    <a:pt x="3747205" y="2792984"/>
                  </a:lnTo>
                  <a:lnTo>
                    <a:pt x="3754020" y="2800524"/>
                  </a:lnTo>
                  <a:lnTo>
                    <a:pt x="3765279" y="2825479"/>
                  </a:lnTo>
                  <a:lnTo>
                    <a:pt x="3782463" y="2843959"/>
                  </a:lnTo>
                  <a:lnTo>
                    <a:pt x="3803332" y="2863560"/>
                  </a:lnTo>
                  <a:lnTo>
                    <a:pt x="3819295" y="2880036"/>
                  </a:lnTo>
                  <a:lnTo>
                    <a:pt x="3818384" y="2889763"/>
                  </a:lnTo>
                  <a:lnTo>
                    <a:pt x="3836119" y="2891831"/>
                  </a:lnTo>
                  <a:lnTo>
                    <a:pt x="3840318" y="2888092"/>
                  </a:lnTo>
                  <a:lnTo>
                    <a:pt x="3852538" y="2899380"/>
                  </a:lnTo>
                  <a:lnTo>
                    <a:pt x="3874402" y="2896064"/>
                  </a:lnTo>
                  <a:lnTo>
                    <a:pt x="3893312" y="2884465"/>
                  </a:lnTo>
                  <a:lnTo>
                    <a:pt x="3920306" y="2875207"/>
                  </a:lnTo>
                  <a:lnTo>
                    <a:pt x="3935477" y="2861475"/>
                  </a:lnTo>
                  <a:lnTo>
                    <a:pt x="3960019" y="2864174"/>
                  </a:lnTo>
                  <a:lnTo>
                    <a:pt x="3958364" y="2868684"/>
                  </a:lnTo>
                  <a:lnTo>
                    <a:pt x="3983145" y="2870257"/>
                  </a:lnTo>
                  <a:lnTo>
                    <a:pt x="4002925" y="2878192"/>
                  </a:lnTo>
                  <a:lnTo>
                    <a:pt x="4017435" y="2892005"/>
                  </a:lnTo>
                  <a:lnTo>
                    <a:pt x="4034158" y="2904700"/>
                  </a:lnTo>
                  <a:lnTo>
                    <a:pt x="4057123" y="2906160"/>
                  </a:lnTo>
                  <a:lnTo>
                    <a:pt x="4090474" y="2874094"/>
                  </a:lnTo>
                  <a:lnTo>
                    <a:pt x="4108774" y="2869208"/>
                  </a:lnTo>
                  <a:lnTo>
                    <a:pt x="4109216" y="2854016"/>
                  </a:lnTo>
                  <a:lnTo>
                    <a:pt x="4117406" y="2815212"/>
                  </a:lnTo>
                  <a:lnTo>
                    <a:pt x="4142898" y="2793901"/>
                  </a:lnTo>
                  <a:lnTo>
                    <a:pt x="4170912" y="2793029"/>
                  </a:lnTo>
                  <a:lnTo>
                    <a:pt x="4174445" y="2783459"/>
                  </a:lnTo>
                  <a:lnTo>
                    <a:pt x="4209228" y="2787288"/>
                  </a:lnTo>
                  <a:lnTo>
                    <a:pt x="4244205" y="2764096"/>
                  </a:lnTo>
                  <a:lnTo>
                    <a:pt x="4261522" y="2753829"/>
                  </a:lnTo>
                  <a:lnTo>
                    <a:pt x="4283041" y="2731711"/>
                  </a:lnTo>
                  <a:lnTo>
                    <a:pt x="4298790" y="2734522"/>
                  </a:lnTo>
                  <a:lnTo>
                    <a:pt x="4310454" y="2746600"/>
                  </a:lnTo>
                  <a:lnTo>
                    <a:pt x="4301821" y="2762067"/>
                  </a:lnTo>
                  <a:lnTo>
                    <a:pt x="4300559" y="2772915"/>
                  </a:lnTo>
                  <a:lnTo>
                    <a:pt x="4274465" y="2778280"/>
                  </a:lnTo>
                  <a:lnTo>
                    <a:pt x="4288966" y="2799120"/>
                  </a:lnTo>
                  <a:lnTo>
                    <a:pt x="4288424" y="2823139"/>
                  </a:lnTo>
                  <a:lnTo>
                    <a:pt x="4268817" y="2849809"/>
                  </a:lnTo>
                  <a:lnTo>
                    <a:pt x="4285640" y="2886245"/>
                  </a:lnTo>
                  <a:lnTo>
                    <a:pt x="4304800" y="2883260"/>
                  </a:lnTo>
                  <a:lnTo>
                    <a:pt x="4314784" y="2850067"/>
                  </a:lnTo>
                  <a:lnTo>
                    <a:pt x="4300999" y="2833910"/>
                  </a:lnTo>
                  <a:lnTo>
                    <a:pt x="4298755" y="2799137"/>
                  </a:lnTo>
                  <a:lnTo>
                    <a:pt x="4354111" y="2780474"/>
                  </a:lnTo>
                  <a:lnTo>
                    <a:pt x="4347950" y="2758824"/>
                  </a:lnTo>
                  <a:lnTo>
                    <a:pt x="4363536" y="2744341"/>
                  </a:lnTo>
                  <a:lnTo>
                    <a:pt x="4379489" y="2776606"/>
                  </a:lnTo>
                  <a:lnTo>
                    <a:pt x="4410661" y="2777352"/>
                  </a:lnTo>
                  <a:lnTo>
                    <a:pt x="4439541" y="2802968"/>
                  </a:lnTo>
                  <a:lnTo>
                    <a:pt x="4441283" y="2818169"/>
                  </a:lnTo>
                  <a:lnTo>
                    <a:pt x="4481194" y="2818572"/>
                  </a:lnTo>
                  <a:lnTo>
                    <a:pt x="4528686" y="2813852"/>
                  </a:lnTo>
                  <a:lnTo>
                    <a:pt x="4554136" y="2834415"/>
                  </a:lnTo>
                  <a:lnTo>
                    <a:pt x="4588133" y="2840094"/>
                  </a:lnTo>
                  <a:lnTo>
                    <a:pt x="4613068" y="2825745"/>
                  </a:lnTo>
                  <a:lnTo>
                    <a:pt x="4613576" y="2814183"/>
                  </a:lnTo>
                  <a:lnTo>
                    <a:pt x="4668636" y="2811416"/>
                  </a:lnTo>
                  <a:lnTo>
                    <a:pt x="4721904" y="2810775"/>
                  </a:lnTo>
                  <a:lnTo>
                    <a:pt x="4684157" y="2824341"/>
                  </a:lnTo>
                  <a:lnTo>
                    <a:pt x="4699342" y="2846016"/>
                  </a:lnTo>
                  <a:lnTo>
                    <a:pt x="4734894" y="2849470"/>
                  </a:lnTo>
                  <a:lnTo>
                    <a:pt x="4768595" y="2872056"/>
                  </a:lnTo>
                  <a:lnTo>
                    <a:pt x="4775676" y="2908840"/>
                  </a:lnTo>
                  <a:lnTo>
                    <a:pt x="4798839" y="2907803"/>
                  </a:lnTo>
                  <a:lnTo>
                    <a:pt x="4816254" y="2918631"/>
                  </a:lnTo>
                  <a:lnTo>
                    <a:pt x="4845441" y="2935521"/>
                  </a:lnTo>
                  <a:lnTo>
                    <a:pt x="4872945" y="2965446"/>
                  </a:lnTo>
                  <a:lnTo>
                    <a:pt x="4874190" y="2989089"/>
                  </a:lnTo>
                  <a:lnTo>
                    <a:pt x="4890938" y="2990182"/>
                  </a:lnTo>
                  <a:lnTo>
                    <a:pt x="4914761" y="3012584"/>
                  </a:lnTo>
                  <a:lnTo>
                    <a:pt x="4932309" y="3028575"/>
                  </a:lnTo>
                  <a:lnTo>
                    <a:pt x="4985565" y="3037769"/>
                  </a:lnTo>
                  <a:lnTo>
                    <a:pt x="4990343" y="3029491"/>
                  </a:lnTo>
                  <a:lnTo>
                    <a:pt x="5026285" y="3026176"/>
                  </a:lnTo>
                  <a:lnTo>
                    <a:pt x="5074077" y="3038520"/>
                  </a:lnTo>
                  <a:lnTo>
                    <a:pt x="5089172" y="3043574"/>
                  </a:lnTo>
                  <a:lnTo>
                    <a:pt x="5121902" y="3054438"/>
                  </a:lnTo>
                  <a:lnTo>
                    <a:pt x="5168965" y="3093198"/>
                  </a:lnTo>
                  <a:lnTo>
                    <a:pt x="5176322" y="3112009"/>
                  </a:lnTo>
                  <a:lnTo>
                    <a:pt x="5191466" y="3109842"/>
                  </a:lnTo>
                  <a:lnTo>
                    <a:pt x="5202462" y="3135237"/>
                  </a:lnTo>
                  <a:lnTo>
                    <a:pt x="5227395" y="3215559"/>
                  </a:lnTo>
                  <a:lnTo>
                    <a:pt x="5251166" y="3223136"/>
                  </a:lnTo>
                  <a:lnTo>
                    <a:pt x="5252363" y="3254832"/>
                  </a:lnTo>
                  <a:lnTo>
                    <a:pt x="5218928" y="3292639"/>
                  </a:lnTo>
                  <a:lnTo>
                    <a:pt x="5232756" y="3306482"/>
                  </a:lnTo>
                  <a:lnTo>
                    <a:pt x="5311330" y="3313695"/>
                  </a:lnTo>
                  <a:lnTo>
                    <a:pt x="5312933" y="3359728"/>
                  </a:lnTo>
                  <a:lnTo>
                    <a:pt x="5346694" y="3329593"/>
                  </a:lnTo>
                  <a:lnTo>
                    <a:pt x="5402626" y="3346097"/>
                  </a:lnTo>
                  <a:lnTo>
                    <a:pt x="5476452" y="3374144"/>
                  </a:lnTo>
                  <a:lnTo>
                    <a:pt x="5498148" y="3401055"/>
                  </a:lnTo>
                  <a:lnTo>
                    <a:pt x="5490858" y="3426478"/>
                  </a:lnTo>
                  <a:lnTo>
                    <a:pt x="5542549" y="3412326"/>
                  </a:lnTo>
                  <a:lnTo>
                    <a:pt x="5629054" y="3436614"/>
                  </a:lnTo>
                  <a:lnTo>
                    <a:pt x="5695463" y="3434823"/>
                  </a:lnTo>
                  <a:lnTo>
                    <a:pt x="5761172" y="3472831"/>
                  </a:lnTo>
                  <a:lnTo>
                    <a:pt x="5817939" y="3524280"/>
                  </a:lnTo>
                  <a:lnTo>
                    <a:pt x="5852180" y="3537527"/>
                  </a:lnTo>
                  <a:lnTo>
                    <a:pt x="5890189" y="3539368"/>
                  </a:lnTo>
                  <a:lnTo>
                    <a:pt x="5906296" y="3553854"/>
                  </a:lnTo>
                  <a:lnTo>
                    <a:pt x="5921384" y="3612330"/>
                  </a:lnTo>
                  <a:lnTo>
                    <a:pt x="5928763" y="3640113"/>
                  </a:lnTo>
                  <a:lnTo>
                    <a:pt x="5911063" y="3716035"/>
                  </a:lnTo>
                  <a:lnTo>
                    <a:pt x="5888450" y="3746019"/>
                  </a:lnTo>
                  <a:lnTo>
                    <a:pt x="5825793" y="3809918"/>
                  </a:lnTo>
                  <a:lnTo>
                    <a:pt x="5797475" y="3861835"/>
                  </a:lnTo>
                  <a:lnTo>
                    <a:pt x="5764569" y="3901646"/>
                  </a:lnTo>
                  <a:lnTo>
                    <a:pt x="5753456" y="3902546"/>
                  </a:lnTo>
                  <a:lnTo>
                    <a:pt x="5741041" y="3936333"/>
                  </a:lnTo>
                  <a:lnTo>
                    <a:pt x="5744191" y="4022376"/>
                  </a:lnTo>
                  <a:lnTo>
                    <a:pt x="5731804" y="4093163"/>
                  </a:lnTo>
                  <a:lnTo>
                    <a:pt x="5727080" y="4123440"/>
                  </a:lnTo>
                  <a:lnTo>
                    <a:pt x="5713024" y="4141559"/>
                  </a:lnTo>
                  <a:lnTo>
                    <a:pt x="5705143" y="4202956"/>
                  </a:lnTo>
                  <a:lnTo>
                    <a:pt x="5660074" y="4262903"/>
                  </a:lnTo>
                  <a:lnTo>
                    <a:pt x="5652519" y="4310335"/>
                  </a:lnTo>
                  <a:lnTo>
                    <a:pt x="5616541" y="4330233"/>
                  </a:lnTo>
                  <a:lnTo>
                    <a:pt x="5606131" y="4357764"/>
                  </a:lnTo>
                  <a:lnTo>
                    <a:pt x="5557840" y="4357655"/>
                  </a:lnTo>
                  <a:lnTo>
                    <a:pt x="5487915" y="4375303"/>
                  </a:lnTo>
                  <a:lnTo>
                    <a:pt x="5456609" y="4395731"/>
                  </a:lnTo>
                  <a:lnTo>
                    <a:pt x="5406825" y="4409149"/>
                  </a:lnTo>
                  <a:lnTo>
                    <a:pt x="5354513" y="4445714"/>
                  </a:lnTo>
                  <a:lnTo>
                    <a:pt x="5316886" y="4491262"/>
                  </a:lnTo>
                  <a:lnTo>
                    <a:pt x="5310419" y="4525554"/>
                  </a:lnTo>
                  <a:lnTo>
                    <a:pt x="5317811" y="4550912"/>
                  </a:lnTo>
                  <a:lnTo>
                    <a:pt x="5309507" y="4597305"/>
                  </a:lnTo>
                  <a:lnTo>
                    <a:pt x="5299420" y="4619715"/>
                  </a:lnTo>
                  <a:lnTo>
                    <a:pt x="5268356" y="4644992"/>
                  </a:lnTo>
                  <a:lnTo>
                    <a:pt x="5219033" y="4725813"/>
                  </a:lnTo>
                  <a:lnTo>
                    <a:pt x="5179950" y="4762246"/>
                  </a:lnTo>
                  <a:lnTo>
                    <a:pt x="5149727" y="4783720"/>
                  </a:lnTo>
                  <a:lnTo>
                    <a:pt x="5129458" y="4827407"/>
                  </a:lnTo>
                  <a:lnTo>
                    <a:pt x="5100054" y="4853663"/>
                  </a:lnTo>
                  <a:lnTo>
                    <a:pt x="5080816" y="4882525"/>
                  </a:lnTo>
                  <a:lnTo>
                    <a:pt x="5030615" y="4908049"/>
                  </a:lnTo>
                  <a:lnTo>
                    <a:pt x="4997801" y="4898869"/>
                  </a:lnTo>
                  <a:lnTo>
                    <a:pt x="4973744" y="4903789"/>
                  </a:lnTo>
                  <a:lnTo>
                    <a:pt x="4932651" y="4884073"/>
                  </a:lnTo>
                  <a:lnTo>
                    <a:pt x="4902509" y="4885544"/>
                  </a:lnTo>
                  <a:lnTo>
                    <a:pt x="4875430" y="4860146"/>
                  </a:lnTo>
                  <a:lnTo>
                    <a:pt x="4872389" y="4884120"/>
                  </a:lnTo>
                  <a:lnTo>
                    <a:pt x="4928825" y="4923454"/>
                  </a:lnTo>
                  <a:lnTo>
                    <a:pt x="4922756" y="4955114"/>
                  </a:lnTo>
                  <a:lnTo>
                    <a:pt x="4950529" y="4975122"/>
                  </a:lnTo>
                  <a:lnTo>
                    <a:pt x="4948275" y="4997551"/>
                  </a:lnTo>
                  <a:lnTo>
                    <a:pt x="4905564" y="5056445"/>
                  </a:lnTo>
                  <a:lnTo>
                    <a:pt x="4839657" y="5081075"/>
                  </a:lnTo>
                  <a:lnTo>
                    <a:pt x="4750507" y="5090636"/>
                  </a:lnTo>
                  <a:lnTo>
                    <a:pt x="4701681" y="5086011"/>
                  </a:lnTo>
                  <a:lnTo>
                    <a:pt x="4711019" y="5113399"/>
                  </a:lnTo>
                  <a:lnTo>
                    <a:pt x="4701920" y="5147775"/>
                  </a:lnTo>
                  <a:lnTo>
                    <a:pt x="4710121" y="5170933"/>
                  </a:lnTo>
                  <a:lnTo>
                    <a:pt x="4683460" y="5187089"/>
                  </a:lnTo>
                  <a:lnTo>
                    <a:pt x="4637911" y="5193432"/>
                  </a:lnTo>
                  <a:lnTo>
                    <a:pt x="4595168" y="5176707"/>
                  </a:lnTo>
                  <a:lnTo>
                    <a:pt x="4578016" y="5188723"/>
                  </a:lnTo>
                  <a:lnTo>
                    <a:pt x="4584213" y="5234359"/>
                  </a:lnTo>
                  <a:lnTo>
                    <a:pt x="4614224" y="5248183"/>
                  </a:lnTo>
                  <a:lnTo>
                    <a:pt x="4638560" y="5233703"/>
                  </a:lnTo>
                  <a:lnTo>
                    <a:pt x="4651802" y="5257556"/>
                  </a:lnTo>
                  <a:lnTo>
                    <a:pt x="4610874" y="5271809"/>
                  </a:lnTo>
                  <a:lnTo>
                    <a:pt x="4575178" y="5300366"/>
                  </a:lnTo>
                  <a:lnTo>
                    <a:pt x="4568646" y="5346565"/>
                  </a:lnTo>
                  <a:lnTo>
                    <a:pt x="4558138" y="5371158"/>
                  </a:lnTo>
                  <a:lnTo>
                    <a:pt x="4516146" y="5371287"/>
                  </a:lnTo>
                  <a:lnTo>
                    <a:pt x="4481300" y="5394813"/>
                  </a:lnTo>
                  <a:lnTo>
                    <a:pt x="4468557" y="5429248"/>
                  </a:lnTo>
                  <a:lnTo>
                    <a:pt x="4512275" y="5462872"/>
                  </a:lnTo>
                  <a:lnTo>
                    <a:pt x="4554769" y="5472158"/>
                  </a:lnTo>
                  <a:lnTo>
                    <a:pt x="4539473" y="5513362"/>
                  </a:lnTo>
                  <a:lnTo>
                    <a:pt x="4486973" y="5539265"/>
                  </a:lnTo>
                  <a:lnTo>
                    <a:pt x="4458085" y="5593104"/>
                  </a:lnTo>
                  <a:lnTo>
                    <a:pt x="4417520" y="5611223"/>
                  </a:lnTo>
                  <a:lnTo>
                    <a:pt x="4399305" y="5632727"/>
                  </a:lnTo>
                  <a:lnTo>
                    <a:pt x="4413662" y="5680426"/>
                  </a:lnTo>
                  <a:lnTo>
                    <a:pt x="4443242" y="5707009"/>
                  </a:lnTo>
                  <a:lnTo>
                    <a:pt x="4424509" y="5704686"/>
                  </a:lnTo>
                  <a:lnTo>
                    <a:pt x="4384956" y="5704341"/>
                  </a:lnTo>
                  <a:lnTo>
                    <a:pt x="4363558" y="5715640"/>
                  </a:lnTo>
                  <a:lnTo>
                    <a:pt x="4323446" y="5732231"/>
                  </a:lnTo>
                  <a:lnTo>
                    <a:pt x="4316281" y="5775125"/>
                  </a:lnTo>
                  <a:lnTo>
                    <a:pt x="4297456" y="5776190"/>
                  </a:lnTo>
                  <a:lnTo>
                    <a:pt x="4247311" y="5761264"/>
                  </a:lnTo>
                  <a:lnTo>
                    <a:pt x="4196426" y="5729287"/>
                  </a:lnTo>
                  <a:lnTo>
                    <a:pt x="4141126" y="5703001"/>
                  </a:lnTo>
                  <a:lnTo>
                    <a:pt x="4127203" y="5673912"/>
                  </a:lnTo>
                  <a:lnTo>
                    <a:pt x="4139800" y="5647006"/>
                  </a:lnTo>
                  <a:lnTo>
                    <a:pt x="4117439" y="5616462"/>
                  </a:lnTo>
                  <a:lnTo>
                    <a:pt x="4111736" y="5538180"/>
                  </a:lnTo>
                  <a:lnTo>
                    <a:pt x="4130641" y="5494010"/>
                  </a:lnTo>
                  <a:lnTo>
                    <a:pt x="4177584" y="5458525"/>
                  </a:lnTo>
                  <a:lnTo>
                    <a:pt x="4110117" y="5445132"/>
                  </a:lnTo>
                  <a:lnTo>
                    <a:pt x="4152448" y="5404553"/>
                  </a:lnTo>
                  <a:lnTo>
                    <a:pt x="4167578" y="5328276"/>
                  </a:lnTo>
                  <a:lnTo>
                    <a:pt x="4216979" y="5344435"/>
                  </a:lnTo>
                  <a:lnTo>
                    <a:pt x="4240208" y="5249299"/>
                  </a:lnTo>
                  <a:lnTo>
                    <a:pt x="4210373" y="5237092"/>
                  </a:lnTo>
                  <a:lnTo>
                    <a:pt x="4196488" y="5294418"/>
                  </a:lnTo>
                  <a:lnTo>
                    <a:pt x="4168457" y="5287952"/>
                  </a:lnTo>
                  <a:lnTo>
                    <a:pt x="4182416" y="5222272"/>
                  </a:lnTo>
                  <a:lnTo>
                    <a:pt x="4197562" y="5137193"/>
                  </a:lnTo>
                  <a:lnTo>
                    <a:pt x="4217989" y="5105800"/>
                  </a:lnTo>
                  <a:lnTo>
                    <a:pt x="4205191" y="5060991"/>
                  </a:lnTo>
                  <a:lnTo>
                    <a:pt x="4201523" y="5009254"/>
                  </a:lnTo>
                  <a:lnTo>
                    <a:pt x="4220251" y="5007760"/>
                  </a:lnTo>
                  <a:lnTo>
                    <a:pt x="4247525" y="4933593"/>
                  </a:lnTo>
                  <a:lnTo>
                    <a:pt x="4278258" y="4860129"/>
                  </a:lnTo>
                  <a:lnTo>
                    <a:pt x="4297070" y="4791692"/>
                  </a:lnTo>
                  <a:lnTo>
                    <a:pt x="4286837" y="4722884"/>
                  </a:lnTo>
                  <a:lnTo>
                    <a:pt x="4300114" y="4685002"/>
                  </a:lnTo>
                  <a:lnTo>
                    <a:pt x="4294789" y="4628317"/>
                  </a:lnTo>
                  <a:lnTo>
                    <a:pt x="4320779" y="4572243"/>
                  </a:lnTo>
                  <a:lnTo>
                    <a:pt x="4328785" y="4483403"/>
                  </a:lnTo>
                  <a:lnTo>
                    <a:pt x="4343053" y="4388020"/>
                  </a:lnTo>
                  <a:lnTo>
                    <a:pt x="4356957" y="4285352"/>
                  </a:lnTo>
                  <a:lnTo>
                    <a:pt x="4353702" y="4210179"/>
                  </a:lnTo>
                  <a:lnTo>
                    <a:pt x="4344453" y="4145494"/>
                  </a:lnTo>
                  <a:lnTo>
                    <a:pt x="4299884" y="4119129"/>
                  </a:lnTo>
                  <a:lnTo>
                    <a:pt x="4296026" y="4100282"/>
                  </a:lnTo>
                  <a:lnTo>
                    <a:pt x="4207902" y="4054173"/>
                  </a:lnTo>
                  <a:lnTo>
                    <a:pt x="4128191" y="4003946"/>
                  </a:lnTo>
                  <a:lnTo>
                    <a:pt x="4093901" y="3975639"/>
                  </a:lnTo>
                  <a:lnTo>
                    <a:pt x="4075490" y="3937701"/>
                  </a:lnTo>
                  <a:lnTo>
                    <a:pt x="4082788" y="3924465"/>
                  </a:lnTo>
                  <a:lnTo>
                    <a:pt x="4045140" y="3864201"/>
                  </a:lnTo>
                  <a:lnTo>
                    <a:pt x="4001317" y="3779469"/>
                  </a:lnTo>
                  <a:lnTo>
                    <a:pt x="3959319" y="3688030"/>
                  </a:lnTo>
                  <a:lnTo>
                    <a:pt x="3941139" y="3667098"/>
                  </a:lnTo>
                  <a:lnTo>
                    <a:pt x="3927156" y="3633274"/>
                  </a:lnTo>
                  <a:lnTo>
                    <a:pt x="3892620" y="3603305"/>
                  </a:lnTo>
                  <a:lnTo>
                    <a:pt x="3860948" y="3584710"/>
                  </a:lnTo>
                  <a:lnTo>
                    <a:pt x="3875338" y="3564214"/>
                  </a:lnTo>
                  <a:lnTo>
                    <a:pt x="3853797" y="3520412"/>
                  </a:lnTo>
                  <a:lnTo>
                    <a:pt x="3867633" y="3488250"/>
                  </a:lnTo>
                  <a:lnTo>
                    <a:pt x="3903065" y="3459245"/>
                  </a:lnTo>
                  <a:lnTo>
                    <a:pt x="3926725" y="3424925"/>
                  </a:lnTo>
                  <a:lnTo>
                    <a:pt x="3917110" y="3404867"/>
                  </a:lnTo>
                  <a:lnTo>
                    <a:pt x="3900121" y="3426198"/>
                  </a:lnTo>
                  <a:lnTo>
                    <a:pt x="3873496" y="3406070"/>
                  </a:lnTo>
                  <a:lnTo>
                    <a:pt x="3882516" y="3393126"/>
                  </a:lnTo>
                  <a:lnTo>
                    <a:pt x="3875012" y="3351442"/>
                  </a:lnTo>
                  <a:lnTo>
                    <a:pt x="3890582" y="3344522"/>
                  </a:lnTo>
                  <a:lnTo>
                    <a:pt x="3898762" y="3315912"/>
                  </a:lnTo>
                  <a:lnTo>
                    <a:pt x="3915585" y="3286329"/>
                  </a:lnTo>
                  <a:lnTo>
                    <a:pt x="3912484" y="3267591"/>
                  </a:lnTo>
                  <a:lnTo>
                    <a:pt x="3936834" y="3257744"/>
                  </a:lnTo>
                  <a:lnTo>
                    <a:pt x="3967393" y="3239466"/>
                  </a:lnTo>
                  <a:lnTo>
                    <a:pt x="3961365" y="3225213"/>
                  </a:lnTo>
                  <a:lnTo>
                    <a:pt x="3977949" y="3221759"/>
                  </a:lnTo>
                  <a:lnTo>
                    <a:pt x="3975980" y="3198761"/>
                  </a:lnTo>
                  <a:lnTo>
                    <a:pt x="3986403" y="3182117"/>
                  </a:lnTo>
                  <a:lnTo>
                    <a:pt x="4008455" y="3179039"/>
                  </a:lnTo>
                  <a:lnTo>
                    <a:pt x="4027174" y="3150182"/>
                  </a:lnTo>
                  <a:lnTo>
                    <a:pt x="4044185" y="3126091"/>
                  </a:lnTo>
                  <a:lnTo>
                    <a:pt x="4027801" y="3115159"/>
                  </a:lnTo>
                  <a:lnTo>
                    <a:pt x="4036187" y="3088506"/>
                  </a:lnTo>
                  <a:lnTo>
                    <a:pt x="4026160" y="3046494"/>
                  </a:lnTo>
                  <a:lnTo>
                    <a:pt x="4035690" y="3034444"/>
                  </a:lnTo>
                  <a:lnTo>
                    <a:pt x="4028672" y="2995601"/>
                  </a:lnTo>
                  <a:lnTo>
                    <a:pt x="4010674" y="2971133"/>
                  </a:lnTo>
                  <a:lnTo>
                    <a:pt x="3995858" y="2957886"/>
                  </a:lnTo>
                  <a:lnTo>
                    <a:pt x="3986338" y="2933097"/>
                  </a:lnTo>
                  <a:lnTo>
                    <a:pt x="3997320" y="2920828"/>
                  </a:lnTo>
                  <a:lnTo>
                    <a:pt x="3986053" y="2917686"/>
                  </a:lnTo>
                  <a:lnTo>
                    <a:pt x="3977760" y="2902513"/>
                  </a:lnTo>
                  <a:lnTo>
                    <a:pt x="3955613" y="2889746"/>
                  </a:lnTo>
                  <a:lnTo>
                    <a:pt x="3936166" y="2892667"/>
                  </a:lnTo>
                  <a:lnTo>
                    <a:pt x="3927156" y="2908649"/>
                  </a:lnTo>
                  <a:lnTo>
                    <a:pt x="3909199" y="2920183"/>
                  </a:lnTo>
                  <a:lnTo>
                    <a:pt x="3899503" y="2921781"/>
                  </a:lnTo>
                  <a:lnTo>
                    <a:pt x="3895143" y="2931345"/>
                  </a:lnTo>
                  <a:lnTo>
                    <a:pt x="3916351" y="2956272"/>
                  </a:lnTo>
                  <a:lnTo>
                    <a:pt x="3904215" y="2962141"/>
                  </a:lnTo>
                  <a:lnTo>
                    <a:pt x="3897793" y="2968947"/>
                  </a:lnTo>
                  <a:lnTo>
                    <a:pt x="3877109" y="2971287"/>
                  </a:lnTo>
                  <a:lnTo>
                    <a:pt x="3869415" y="2943855"/>
                  </a:lnTo>
                  <a:lnTo>
                    <a:pt x="3863629" y="2951661"/>
                  </a:lnTo>
                  <a:lnTo>
                    <a:pt x="3848970" y="2948959"/>
                  </a:lnTo>
                  <a:lnTo>
                    <a:pt x="3839998" y="2930490"/>
                  </a:lnTo>
                  <a:lnTo>
                    <a:pt x="3821769" y="2927432"/>
                  </a:lnTo>
                  <a:lnTo>
                    <a:pt x="3810236" y="2922059"/>
                  </a:lnTo>
                  <a:lnTo>
                    <a:pt x="3791161" y="2922132"/>
                  </a:lnTo>
                  <a:lnTo>
                    <a:pt x="3789788" y="2932096"/>
                  </a:lnTo>
                  <a:lnTo>
                    <a:pt x="3784685" y="2925153"/>
                  </a:lnTo>
                  <a:lnTo>
                    <a:pt x="3760561" y="2914967"/>
                  </a:lnTo>
                  <a:lnTo>
                    <a:pt x="3751535" y="2905322"/>
                  </a:lnTo>
                  <a:lnTo>
                    <a:pt x="3756654" y="2897350"/>
                  </a:lnTo>
                  <a:lnTo>
                    <a:pt x="3755040" y="2887201"/>
                  </a:lnTo>
                  <a:lnTo>
                    <a:pt x="3742715" y="2876207"/>
                  </a:lnTo>
                  <a:lnTo>
                    <a:pt x="3725224" y="2867179"/>
                  </a:lnTo>
                  <a:lnTo>
                    <a:pt x="3709926" y="2861301"/>
                  </a:lnTo>
                  <a:lnTo>
                    <a:pt x="3707001" y="2847864"/>
                  </a:lnTo>
                  <a:lnTo>
                    <a:pt x="3695346" y="2839659"/>
                  </a:lnTo>
                  <a:lnTo>
                    <a:pt x="3698200" y="2853007"/>
                  </a:lnTo>
                  <a:lnTo>
                    <a:pt x="3689331" y="2863981"/>
                  </a:lnTo>
                  <a:lnTo>
                    <a:pt x="3679171" y="2851244"/>
                  </a:lnTo>
                  <a:lnTo>
                    <a:pt x="3664892" y="2846706"/>
                  </a:lnTo>
                  <a:lnTo>
                    <a:pt x="3658815" y="2837448"/>
                  </a:lnTo>
                  <a:lnTo>
                    <a:pt x="3659070" y="2823469"/>
                  </a:lnTo>
                  <a:lnTo>
                    <a:pt x="3664955" y="2809003"/>
                  </a:lnTo>
                  <a:lnTo>
                    <a:pt x="3652402" y="2802525"/>
                  </a:lnTo>
                  <a:lnTo>
                    <a:pt x="3662589" y="2793654"/>
                  </a:lnTo>
                  <a:lnTo>
                    <a:pt x="3647214" y="2779188"/>
                  </a:lnTo>
                  <a:lnTo>
                    <a:pt x="3626435" y="2760663"/>
                  </a:lnTo>
                  <a:lnTo>
                    <a:pt x="3616655" y="2745176"/>
                  </a:lnTo>
                  <a:lnTo>
                    <a:pt x="3597916" y="2730747"/>
                  </a:lnTo>
                  <a:lnTo>
                    <a:pt x="3575645" y="2710007"/>
                  </a:lnTo>
                  <a:lnTo>
                    <a:pt x="3580580" y="2702899"/>
                  </a:lnTo>
                  <a:lnTo>
                    <a:pt x="3587919" y="2709814"/>
                  </a:lnTo>
                  <a:lnTo>
                    <a:pt x="3591288" y="2706574"/>
                  </a:lnTo>
                  <a:lnTo>
                    <a:pt x="3583608" y="2692208"/>
                  </a:lnTo>
                  <a:lnTo>
                    <a:pt x="3570108" y="2688211"/>
                  </a:lnTo>
                  <a:lnTo>
                    <a:pt x="3565173" y="2699022"/>
                  </a:lnTo>
                  <a:lnTo>
                    <a:pt x="3539429" y="2698344"/>
                  </a:lnTo>
                  <a:lnTo>
                    <a:pt x="3523430" y="2693943"/>
                  </a:lnTo>
                  <a:lnTo>
                    <a:pt x="3505050" y="2684806"/>
                  </a:lnTo>
                  <a:lnTo>
                    <a:pt x="3480350" y="2681958"/>
                  </a:lnTo>
                  <a:lnTo>
                    <a:pt x="3467762" y="2672094"/>
                  </a:lnTo>
                  <a:lnTo>
                    <a:pt x="3444959" y="2664083"/>
                  </a:lnTo>
                  <a:lnTo>
                    <a:pt x="3417229" y="2663256"/>
                  </a:lnTo>
                  <a:lnTo>
                    <a:pt x="3396904" y="2654147"/>
                  </a:lnTo>
                  <a:lnTo>
                    <a:pt x="3372988" y="2635198"/>
                  </a:lnTo>
                  <a:lnTo>
                    <a:pt x="3322686" y="2585756"/>
                  </a:lnTo>
                  <a:lnTo>
                    <a:pt x="3299759" y="2570839"/>
                  </a:lnTo>
                  <a:lnTo>
                    <a:pt x="3263469" y="2558862"/>
                  </a:lnTo>
                  <a:lnTo>
                    <a:pt x="3238640" y="2562206"/>
                  </a:lnTo>
                  <a:lnTo>
                    <a:pt x="3202937" y="2579483"/>
                  </a:lnTo>
                  <a:lnTo>
                    <a:pt x="3180535" y="2584010"/>
                  </a:lnTo>
                  <a:lnTo>
                    <a:pt x="3149143" y="2571904"/>
                  </a:lnTo>
                  <a:lnTo>
                    <a:pt x="3115833" y="2563170"/>
                  </a:lnTo>
                  <a:lnTo>
                    <a:pt x="3074286" y="2542100"/>
                  </a:lnTo>
                  <a:lnTo>
                    <a:pt x="3040962" y="2535662"/>
                  </a:lnTo>
                  <a:lnTo>
                    <a:pt x="2990638" y="2514317"/>
                  </a:lnTo>
                  <a:lnTo>
                    <a:pt x="2953453" y="2492364"/>
                  </a:lnTo>
                  <a:lnTo>
                    <a:pt x="2942232" y="2480104"/>
                  </a:lnTo>
                  <a:lnTo>
                    <a:pt x="2917360" y="2477357"/>
                  </a:lnTo>
                  <a:lnTo>
                    <a:pt x="2871892" y="2462826"/>
                  </a:lnTo>
                  <a:lnTo>
                    <a:pt x="2853379" y="2441865"/>
                  </a:lnTo>
                  <a:lnTo>
                    <a:pt x="2805616" y="2415800"/>
                  </a:lnTo>
                  <a:lnTo>
                    <a:pt x="2783348" y="2386840"/>
                  </a:lnTo>
                  <a:lnTo>
                    <a:pt x="2772751" y="2364466"/>
                  </a:lnTo>
                  <a:lnTo>
                    <a:pt x="2787583" y="2359984"/>
                  </a:lnTo>
                  <a:lnTo>
                    <a:pt x="2783008" y="2346886"/>
                  </a:lnTo>
                  <a:lnTo>
                    <a:pt x="2793228" y="2334973"/>
                  </a:lnTo>
                  <a:lnTo>
                    <a:pt x="2793445" y="2319092"/>
                  </a:lnTo>
                  <a:lnTo>
                    <a:pt x="2778453" y="2298465"/>
                  </a:lnTo>
                  <a:lnTo>
                    <a:pt x="2774438" y="2280195"/>
                  </a:lnTo>
                  <a:lnTo>
                    <a:pt x="2759535" y="2257022"/>
                  </a:lnTo>
                  <a:lnTo>
                    <a:pt x="2720365" y="2211365"/>
                  </a:lnTo>
                  <a:lnTo>
                    <a:pt x="2675671" y="2175498"/>
                  </a:lnTo>
                  <a:lnTo>
                    <a:pt x="2654045" y="2146868"/>
                  </a:lnTo>
                  <a:lnTo>
                    <a:pt x="2615895" y="2128113"/>
                  </a:lnTo>
                  <a:lnTo>
                    <a:pt x="2607721" y="2116898"/>
                  </a:lnTo>
                  <a:lnTo>
                    <a:pt x="2614498" y="2088518"/>
                  </a:lnTo>
                  <a:lnTo>
                    <a:pt x="2591839" y="2077808"/>
                  </a:lnTo>
                  <a:lnTo>
                    <a:pt x="2565598" y="2055488"/>
                  </a:lnTo>
                  <a:lnTo>
                    <a:pt x="2554519" y="2023441"/>
                  </a:lnTo>
                  <a:lnTo>
                    <a:pt x="2530609" y="2019705"/>
                  </a:lnTo>
                  <a:lnTo>
                    <a:pt x="2504797" y="1995512"/>
                  </a:lnTo>
                  <a:lnTo>
                    <a:pt x="2483967" y="1973173"/>
                  </a:lnTo>
                  <a:lnTo>
                    <a:pt x="2482030" y="1958827"/>
                  </a:lnTo>
                  <a:lnTo>
                    <a:pt x="2458128" y="1924190"/>
                  </a:lnTo>
                  <a:lnTo>
                    <a:pt x="2442379" y="1889021"/>
                  </a:lnTo>
                  <a:lnTo>
                    <a:pt x="2443052" y="1871379"/>
                  </a:lnTo>
                  <a:lnTo>
                    <a:pt x="2410905" y="1853166"/>
                  </a:lnTo>
                  <a:lnTo>
                    <a:pt x="2396068" y="1855167"/>
                  </a:lnTo>
                  <a:lnTo>
                    <a:pt x="2370698" y="1842511"/>
                  </a:lnTo>
                  <a:lnTo>
                    <a:pt x="2363574" y="1861165"/>
                  </a:lnTo>
                  <a:lnTo>
                    <a:pt x="2370932" y="1883200"/>
                  </a:lnTo>
                  <a:lnTo>
                    <a:pt x="2375256" y="1917687"/>
                  </a:lnTo>
                  <a:lnTo>
                    <a:pt x="2390498" y="1936619"/>
                  </a:lnTo>
                  <a:lnTo>
                    <a:pt x="2423488" y="1968250"/>
                  </a:lnTo>
                  <a:lnTo>
                    <a:pt x="2430813" y="1979062"/>
                  </a:lnTo>
                  <a:lnTo>
                    <a:pt x="2437574" y="1982341"/>
                  </a:lnTo>
                  <a:lnTo>
                    <a:pt x="2443437" y="1998119"/>
                  </a:lnTo>
                  <a:lnTo>
                    <a:pt x="2451337" y="1997477"/>
                  </a:lnTo>
                  <a:lnTo>
                    <a:pt x="2460258" y="2027099"/>
                  </a:lnTo>
                  <a:lnTo>
                    <a:pt x="2473758" y="2038782"/>
                  </a:lnTo>
                  <a:lnTo>
                    <a:pt x="2483226" y="2055039"/>
                  </a:lnTo>
                  <a:lnTo>
                    <a:pt x="2511156" y="2078413"/>
                  </a:lnTo>
                  <a:lnTo>
                    <a:pt x="2525910" y="2121131"/>
                  </a:lnTo>
                  <a:lnTo>
                    <a:pt x="2539103" y="2141248"/>
                  </a:lnTo>
                  <a:lnTo>
                    <a:pt x="2551450" y="2162766"/>
                  </a:lnTo>
                  <a:lnTo>
                    <a:pt x="2553895" y="2186987"/>
                  </a:lnTo>
                  <a:lnTo>
                    <a:pt x="2575330" y="2188503"/>
                  </a:lnTo>
                  <a:lnTo>
                    <a:pt x="2593155" y="2209372"/>
                  </a:lnTo>
                  <a:lnTo>
                    <a:pt x="2609275" y="2229881"/>
                  </a:lnTo>
                  <a:lnTo>
                    <a:pt x="2608195" y="2238099"/>
                  </a:lnTo>
                  <a:lnTo>
                    <a:pt x="2589492" y="2254973"/>
                  </a:lnTo>
                  <a:lnTo>
                    <a:pt x="2581619" y="2254752"/>
                  </a:lnTo>
                  <a:lnTo>
                    <a:pt x="2569899" y="2226831"/>
                  </a:lnTo>
                  <a:lnTo>
                    <a:pt x="2540804" y="2200654"/>
                  </a:lnTo>
                  <a:lnTo>
                    <a:pt x="2508753" y="2178455"/>
                  </a:lnTo>
                  <a:lnTo>
                    <a:pt x="2486020" y="2166789"/>
                  </a:lnTo>
                  <a:lnTo>
                    <a:pt x="2487488" y="2133184"/>
                  </a:lnTo>
                  <a:lnTo>
                    <a:pt x="2480744" y="2108302"/>
                  </a:lnTo>
                  <a:lnTo>
                    <a:pt x="2459560" y="2094065"/>
                  </a:lnTo>
                  <a:lnTo>
                    <a:pt x="2429009" y="2073573"/>
                  </a:lnTo>
                  <a:lnTo>
                    <a:pt x="2423138" y="2079487"/>
                  </a:lnTo>
                  <a:lnTo>
                    <a:pt x="2411928" y="2067521"/>
                  </a:lnTo>
                  <a:lnTo>
                    <a:pt x="2384510" y="2056407"/>
                  </a:lnTo>
                  <a:lnTo>
                    <a:pt x="2358311" y="2029742"/>
                  </a:lnTo>
                  <a:lnTo>
                    <a:pt x="2361553" y="2026272"/>
                  </a:lnTo>
                  <a:lnTo>
                    <a:pt x="2379860" y="2028879"/>
                  </a:lnTo>
                  <a:lnTo>
                    <a:pt x="2396353" y="2011722"/>
                  </a:lnTo>
                  <a:lnTo>
                    <a:pt x="2398010" y="1991011"/>
                  </a:lnTo>
                  <a:lnTo>
                    <a:pt x="2363791" y="1958249"/>
                  </a:lnTo>
                  <a:lnTo>
                    <a:pt x="2337705" y="1945538"/>
                  </a:lnTo>
                  <a:lnTo>
                    <a:pt x="2321316" y="1916852"/>
                  </a:lnTo>
                  <a:lnTo>
                    <a:pt x="2304829" y="1886745"/>
                  </a:lnTo>
                  <a:lnTo>
                    <a:pt x="2284240" y="1850043"/>
                  </a:lnTo>
                  <a:lnTo>
                    <a:pt x="2266185" y="1808730"/>
                  </a:lnTo>
                  <a:lnTo>
                    <a:pt x="2258708" y="1785260"/>
                  </a:lnTo>
                  <a:lnTo>
                    <a:pt x="2229904" y="1758856"/>
                  </a:lnTo>
                  <a:lnTo>
                    <a:pt x="2209160" y="1753362"/>
                  </a:lnTo>
                  <a:lnTo>
                    <a:pt x="2204301" y="1740183"/>
                  </a:lnTo>
                  <a:lnTo>
                    <a:pt x="2179360" y="1737876"/>
                  </a:lnTo>
                  <a:lnTo>
                    <a:pt x="2163457" y="1725459"/>
                  </a:lnTo>
                  <a:lnTo>
                    <a:pt x="2122162" y="1720932"/>
                  </a:lnTo>
                  <a:lnTo>
                    <a:pt x="2110827" y="1713518"/>
                  </a:lnTo>
                  <a:lnTo>
                    <a:pt x="2105425" y="1688333"/>
                  </a:lnTo>
                  <a:lnTo>
                    <a:pt x="2062297" y="1642190"/>
                  </a:lnTo>
                  <a:lnTo>
                    <a:pt x="2025275" y="1578347"/>
                  </a:lnTo>
                  <a:lnTo>
                    <a:pt x="2026851" y="1567710"/>
                  </a:lnTo>
                  <a:lnTo>
                    <a:pt x="2007241" y="1552545"/>
                  </a:lnTo>
                  <a:lnTo>
                    <a:pt x="1972840" y="1514060"/>
                  </a:lnTo>
                  <a:lnTo>
                    <a:pt x="1966706" y="1476615"/>
                  </a:lnTo>
                  <a:lnTo>
                    <a:pt x="1943019" y="1451531"/>
                  </a:lnTo>
                  <a:lnTo>
                    <a:pt x="1952764" y="1413470"/>
                  </a:lnTo>
                  <a:lnTo>
                    <a:pt x="1951212" y="1374085"/>
                  </a:lnTo>
                  <a:lnTo>
                    <a:pt x="1937029" y="1338888"/>
                  </a:lnTo>
                  <a:lnTo>
                    <a:pt x="1954395" y="1295610"/>
                  </a:lnTo>
                  <a:lnTo>
                    <a:pt x="1965203" y="1212257"/>
                  </a:lnTo>
                  <a:lnTo>
                    <a:pt x="1957173" y="1150665"/>
                  </a:lnTo>
                  <a:lnTo>
                    <a:pt x="1943122" y="1111372"/>
                  </a:lnTo>
                  <a:lnTo>
                    <a:pt x="1930165" y="1090053"/>
                  </a:lnTo>
                  <a:lnTo>
                    <a:pt x="1935547" y="1081089"/>
                  </a:lnTo>
                  <a:lnTo>
                    <a:pt x="1999827" y="1096685"/>
                  </a:lnTo>
                  <a:lnTo>
                    <a:pt x="2023506" y="1140036"/>
                  </a:lnTo>
                  <a:lnTo>
                    <a:pt x="2034496" y="1127913"/>
                  </a:lnTo>
                  <a:lnTo>
                    <a:pt x="2027386" y="1090255"/>
                  </a:lnTo>
                  <a:lnTo>
                    <a:pt x="2012271" y="1052597"/>
                  </a:lnTo>
                  <a:lnTo>
                    <a:pt x="2006308" y="1052479"/>
                  </a:lnTo>
                  <a:lnTo>
                    <a:pt x="1920251" y="1007382"/>
                  </a:lnTo>
                  <a:lnTo>
                    <a:pt x="1888498" y="987542"/>
                  </a:lnTo>
                  <a:lnTo>
                    <a:pt x="1807998" y="968529"/>
                  </a:lnTo>
                  <a:lnTo>
                    <a:pt x="1783236" y="927878"/>
                  </a:lnTo>
                  <a:lnTo>
                    <a:pt x="1789566" y="899688"/>
                  </a:lnTo>
                  <a:lnTo>
                    <a:pt x="1732695" y="880135"/>
                  </a:lnTo>
                  <a:lnTo>
                    <a:pt x="1724895" y="843110"/>
                  </a:lnTo>
                  <a:lnTo>
                    <a:pt x="1671124" y="809768"/>
                  </a:lnTo>
                  <a:lnTo>
                    <a:pt x="1670182" y="786120"/>
                  </a:lnTo>
                  <a:lnTo>
                    <a:pt x="1645746" y="768842"/>
                  </a:lnTo>
                  <a:lnTo>
                    <a:pt x="1606567" y="754191"/>
                  </a:lnTo>
                  <a:lnTo>
                    <a:pt x="1593998" y="714136"/>
                  </a:lnTo>
                  <a:lnTo>
                    <a:pt x="1536694" y="676994"/>
                  </a:lnTo>
                  <a:lnTo>
                    <a:pt x="1512743" y="633632"/>
                  </a:lnTo>
                  <a:lnTo>
                    <a:pt x="1470062" y="630666"/>
                  </a:lnTo>
                  <a:lnTo>
                    <a:pt x="1399396" y="629536"/>
                  </a:lnTo>
                  <a:lnTo>
                    <a:pt x="1347301" y="616318"/>
                  </a:lnTo>
                  <a:lnTo>
                    <a:pt x="1255387" y="568658"/>
                  </a:lnTo>
                  <a:lnTo>
                    <a:pt x="1212831" y="559952"/>
                  </a:lnTo>
                  <a:lnTo>
                    <a:pt x="1135078" y="543558"/>
                  </a:lnTo>
                  <a:lnTo>
                    <a:pt x="1073542" y="547468"/>
                  </a:lnTo>
                  <a:lnTo>
                    <a:pt x="986123" y="526373"/>
                  </a:lnTo>
                  <a:lnTo>
                    <a:pt x="933276" y="506808"/>
                  </a:lnTo>
                  <a:lnTo>
                    <a:pt x="883940" y="516526"/>
                  </a:lnTo>
                  <a:lnTo>
                    <a:pt x="893110" y="548435"/>
                  </a:lnTo>
                  <a:lnTo>
                    <a:pt x="868538" y="551372"/>
                  </a:lnTo>
                  <a:lnTo>
                    <a:pt x="817111" y="560953"/>
                  </a:lnTo>
                  <a:lnTo>
                    <a:pt x="777975" y="576448"/>
                  </a:lnTo>
                  <a:lnTo>
                    <a:pt x="728721" y="586202"/>
                  </a:lnTo>
                  <a:lnTo>
                    <a:pt x="722361" y="559142"/>
                  </a:lnTo>
                  <a:lnTo>
                    <a:pt x="742348" y="514101"/>
                  </a:lnTo>
                  <a:lnTo>
                    <a:pt x="789590" y="499966"/>
                  </a:lnTo>
                  <a:lnTo>
                    <a:pt x="777403" y="488448"/>
                  </a:lnTo>
                  <a:lnTo>
                    <a:pt x="720742" y="514037"/>
                  </a:lnTo>
                  <a:lnTo>
                    <a:pt x="690405" y="544603"/>
                  </a:lnTo>
                  <a:lnTo>
                    <a:pt x="626361" y="577275"/>
                  </a:lnTo>
                  <a:lnTo>
                    <a:pt x="658882" y="599575"/>
                  </a:lnTo>
                  <a:lnTo>
                    <a:pt x="616877" y="632558"/>
                  </a:lnTo>
                  <a:lnTo>
                    <a:pt x="569092" y="651781"/>
                  </a:lnTo>
                  <a:lnTo>
                    <a:pt x="524607" y="665787"/>
                  </a:lnTo>
                  <a:lnTo>
                    <a:pt x="513592" y="686123"/>
                  </a:lnTo>
                  <a:lnTo>
                    <a:pt x="444202" y="709839"/>
                  </a:lnTo>
                  <a:lnTo>
                    <a:pt x="430151" y="731405"/>
                  </a:lnTo>
                  <a:lnTo>
                    <a:pt x="378145" y="751032"/>
                  </a:lnTo>
                  <a:lnTo>
                    <a:pt x="347635" y="747497"/>
                  </a:lnTo>
                  <a:lnTo>
                    <a:pt x="306147" y="760310"/>
                  </a:lnTo>
                  <a:lnTo>
                    <a:pt x="261041" y="775942"/>
                  </a:lnTo>
                  <a:lnTo>
                    <a:pt x="224076" y="791300"/>
                  </a:lnTo>
                  <a:lnTo>
                    <a:pt x="147791" y="804415"/>
                  </a:lnTo>
                  <a:lnTo>
                    <a:pt x="140830" y="796698"/>
                  </a:lnTo>
                  <a:lnTo>
                    <a:pt x="189452" y="775244"/>
                  </a:lnTo>
                  <a:lnTo>
                    <a:pt x="232939" y="761072"/>
                  </a:lnTo>
                  <a:lnTo>
                    <a:pt x="280314" y="735952"/>
                  </a:lnTo>
                  <a:lnTo>
                    <a:pt x="335459" y="730761"/>
                  </a:lnTo>
                  <a:lnTo>
                    <a:pt x="357377" y="711933"/>
                  </a:lnTo>
                  <a:lnTo>
                    <a:pt x="418990" y="684441"/>
                  </a:lnTo>
                  <a:lnTo>
                    <a:pt x="428914" y="675247"/>
                  </a:lnTo>
                  <a:lnTo>
                    <a:pt x="461733" y="659027"/>
                  </a:lnTo>
                  <a:lnTo>
                    <a:pt x="469400" y="624208"/>
                  </a:lnTo>
                  <a:lnTo>
                    <a:pt x="492008" y="597086"/>
                  </a:lnTo>
                  <a:lnTo>
                    <a:pt x="440756" y="611000"/>
                  </a:lnTo>
                  <a:lnTo>
                    <a:pt x="426420" y="603101"/>
                  </a:lnTo>
                  <a:lnTo>
                    <a:pt x="402356" y="619799"/>
                  </a:lnTo>
                  <a:lnTo>
                    <a:pt x="373330" y="596506"/>
                  </a:lnTo>
                  <a:lnTo>
                    <a:pt x="361346" y="612985"/>
                  </a:lnTo>
                  <a:lnTo>
                    <a:pt x="344718" y="590096"/>
                  </a:lnTo>
                  <a:lnTo>
                    <a:pt x="300282" y="608475"/>
                  </a:lnTo>
                  <a:lnTo>
                    <a:pt x="272997" y="608438"/>
                  </a:lnTo>
                  <a:lnTo>
                    <a:pt x="269166" y="581104"/>
                  </a:lnTo>
                  <a:lnTo>
                    <a:pt x="277208" y="564258"/>
                  </a:lnTo>
                  <a:lnTo>
                    <a:pt x="248585" y="547911"/>
                  </a:lnTo>
                  <a:lnTo>
                    <a:pt x="190787" y="556709"/>
                  </a:lnTo>
                  <a:lnTo>
                    <a:pt x="153277" y="535152"/>
                  </a:lnTo>
                  <a:lnTo>
                    <a:pt x="122864" y="524130"/>
                  </a:lnTo>
                  <a:lnTo>
                    <a:pt x="122669" y="498118"/>
                  </a:lnTo>
                  <a:lnTo>
                    <a:pt x="88414" y="478545"/>
                  </a:lnTo>
                  <a:lnTo>
                    <a:pt x="105618" y="452141"/>
                  </a:lnTo>
                  <a:lnTo>
                    <a:pt x="141853" y="426513"/>
                  </a:lnTo>
                  <a:lnTo>
                    <a:pt x="157707" y="402938"/>
                  </a:lnTo>
                  <a:lnTo>
                    <a:pt x="193677" y="399585"/>
                  </a:lnTo>
                  <a:lnTo>
                    <a:pt x="224174" y="406932"/>
                  </a:lnTo>
                  <a:lnTo>
                    <a:pt x="260031" y="384780"/>
                  </a:lnTo>
                  <a:lnTo>
                    <a:pt x="292305" y="388729"/>
                  </a:lnTo>
                  <a:lnTo>
                    <a:pt x="326172" y="374482"/>
                  </a:lnTo>
                  <a:lnTo>
                    <a:pt x="317914" y="353504"/>
                  </a:lnTo>
                  <a:lnTo>
                    <a:pt x="293035" y="345238"/>
                  </a:lnTo>
                  <a:lnTo>
                    <a:pt x="325941" y="327520"/>
                  </a:lnTo>
                  <a:lnTo>
                    <a:pt x="298640" y="328045"/>
                  </a:lnTo>
                  <a:lnTo>
                    <a:pt x="251475" y="338046"/>
                  </a:lnTo>
                  <a:lnTo>
                    <a:pt x="237926" y="348187"/>
                  </a:lnTo>
                  <a:lnTo>
                    <a:pt x="202874" y="338065"/>
                  </a:lnTo>
                  <a:lnTo>
                    <a:pt x="140002" y="343209"/>
                  </a:lnTo>
                  <a:lnTo>
                    <a:pt x="74906" y="332204"/>
                  </a:lnTo>
                  <a:lnTo>
                    <a:pt x="56252" y="313733"/>
                  </a:lnTo>
                  <a:lnTo>
                    <a:pt x="0" y="287042"/>
                  </a:lnTo>
                  <a:lnTo>
                    <a:pt x="62464" y="267836"/>
                  </a:lnTo>
                  <a:lnTo>
                    <a:pt x="161611" y="245407"/>
                  </a:lnTo>
                  <a:lnTo>
                    <a:pt x="198156" y="245407"/>
                  </a:lnTo>
                  <a:lnTo>
                    <a:pt x="192111" y="268344"/>
                  </a:lnTo>
                  <a:lnTo>
                    <a:pt x="285933" y="266561"/>
                  </a:lnTo>
                  <a:lnTo>
                    <a:pt x="249844" y="238116"/>
                  </a:lnTo>
                  <a:lnTo>
                    <a:pt x="195169" y="220617"/>
                  </a:lnTo>
                  <a:lnTo>
                    <a:pt x="163557" y="197666"/>
                  </a:lnTo>
                  <a:lnTo>
                    <a:pt x="120916" y="178074"/>
                  </a:lnTo>
                  <a:lnTo>
                    <a:pt x="59833" y="163563"/>
                  </a:lnTo>
                  <a:lnTo>
                    <a:pt x="84711" y="139488"/>
                  </a:lnTo>
                  <a:lnTo>
                    <a:pt x="163562" y="137999"/>
                  </a:lnTo>
                  <a:lnTo>
                    <a:pt x="219667" y="117078"/>
                  </a:lnTo>
                  <a:lnTo>
                    <a:pt x="230251" y="94713"/>
                  </a:lnTo>
                  <a:lnTo>
                    <a:pt x="275661" y="72889"/>
                  </a:lnTo>
                  <a:lnTo>
                    <a:pt x="318958" y="67636"/>
                  </a:lnTo>
                  <a:lnTo>
                    <a:pt x="403219" y="47244"/>
                  </a:lnTo>
                  <a:lnTo>
                    <a:pt x="444090" y="50322"/>
                  </a:lnTo>
                  <a:lnTo>
                    <a:pt x="512494" y="25835"/>
                  </a:lnTo>
                  <a:lnTo>
                    <a:pt x="579746" y="35480"/>
                  </a:lnTo>
                  <a:lnTo>
                    <a:pt x="611912" y="56211"/>
                  </a:lnTo>
                  <a:lnTo>
                    <a:pt x="631655" y="47320"/>
                  </a:lnTo>
                  <a:lnTo>
                    <a:pt x="706775" y="50075"/>
                  </a:lnTo>
                  <a:lnTo>
                    <a:pt x="704108" y="60637"/>
                  </a:lnTo>
                  <a:lnTo>
                    <a:pt x="772118" y="68443"/>
                  </a:lnTo>
                  <a:lnTo>
                    <a:pt x="817458" y="63852"/>
                  </a:lnTo>
                  <a:lnTo>
                    <a:pt x="911100" y="78363"/>
                  </a:lnTo>
                  <a:lnTo>
                    <a:pt x="996590" y="82680"/>
                  </a:lnTo>
                  <a:lnTo>
                    <a:pt x="1030817" y="88650"/>
                  </a:lnTo>
                  <a:lnTo>
                    <a:pt x="1089961" y="81191"/>
                  </a:lnTo>
                  <a:lnTo>
                    <a:pt x="1157387" y="94996"/>
                  </a:lnTo>
                  <a:lnTo>
                    <a:pt x="1205687" y="101418"/>
                  </a:lnTo>
                  <a:lnTo>
                    <a:pt x="1288605" y="112484"/>
                  </a:lnTo>
                  <a:lnTo>
                    <a:pt x="1358574" y="134574"/>
                  </a:lnTo>
                  <a:lnTo>
                    <a:pt x="1404926" y="138801"/>
                  </a:lnTo>
                  <a:lnTo>
                    <a:pt x="1443949" y="119648"/>
                  </a:lnTo>
                  <a:lnTo>
                    <a:pt x="1497781" y="105303"/>
                  </a:lnTo>
                  <a:lnTo>
                    <a:pt x="1563808" y="110914"/>
                  </a:lnTo>
                  <a:lnTo>
                    <a:pt x="1630390" y="90744"/>
                  </a:lnTo>
                  <a:lnTo>
                    <a:pt x="1703137" y="79299"/>
                  </a:lnTo>
                  <a:lnTo>
                    <a:pt x="1733672" y="98332"/>
                  </a:lnTo>
                  <a:lnTo>
                    <a:pt x="1766841" y="87605"/>
                  </a:lnTo>
                  <a:lnTo>
                    <a:pt x="1776768" y="65974"/>
                  </a:lnTo>
                  <a:lnTo>
                    <a:pt x="1807488" y="70868"/>
                  </a:lnTo>
                  <a:lnTo>
                    <a:pt x="1882644" y="112044"/>
                  </a:lnTo>
                  <a:lnTo>
                    <a:pt x="1941828" y="80917"/>
                  </a:lnTo>
                  <a:lnTo>
                    <a:pt x="1947837" y="115763"/>
                  </a:lnTo>
                  <a:lnTo>
                    <a:pt x="2002445" y="108232"/>
                  </a:lnTo>
                  <a:lnTo>
                    <a:pt x="2019233" y="94831"/>
                  </a:lnTo>
                  <a:lnTo>
                    <a:pt x="2073067" y="97477"/>
                  </a:lnTo>
                  <a:lnTo>
                    <a:pt x="2141053" y="116764"/>
                  </a:lnTo>
                  <a:lnTo>
                    <a:pt x="2245075" y="133601"/>
                  </a:lnTo>
                  <a:lnTo>
                    <a:pt x="2306248" y="141399"/>
                  </a:lnTo>
                  <a:lnTo>
                    <a:pt x="2349786" y="138442"/>
                  </a:lnTo>
                  <a:lnTo>
                    <a:pt x="2409749" y="161724"/>
                  </a:lnTo>
                  <a:lnTo>
                    <a:pt x="2347212" y="184512"/>
                  </a:lnTo>
                  <a:lnTo>
                    <a:pt x="2427560" y="194359"/>
                  </a:lnTo>
                  <a:lnTo>
                    <a:pt x="2547543" y="188949"/>
                  </a:lnTo>
                  <a:lnTo>
                    <a:pt x="2585406" y="180913"/>
                  </a:lnTo>
                  <a:lnTo>
                    <a:pt x="2632786" y="208447"/>
                  </a:lnTo>
                  <a:lnTo>
                    <a:pt x="2681138" y="185210"/>
                  </a:lnTo>
                  <a:lnTo>
                    <a:pt x="2635773" y="165729"/>
                  </a:lnTo>
                  <a:lnTo>
                    <a:pt x="2664480" y="150013"/>
                  </a:lnTo>
                  <a:lnTo>
                    <a:pt x="2718583" y="147894"/>
                  </a:lnTo>
                  <a:lnTo>
                    <a:pt x="2754142" y="143300"/>
                  </a:lnTo>
                  <a:lnTo>
                    <a:pt x="2790024" y="154268"/>
                  </a:lnTo>
                  <a:lnTo>
                    <a:pt x="2834691" y="179212"/>
                  </a:lnTo>
                  <a:lnTo>
                    <a:pt x="2884334" y="175548"/>
                  </a:lnTo>
                  <a:lnTo>
                    <a:pt x="2962868" y="196259"/>
                  </a:lnTo>
                  <a:lnTo>
                    <a:pt x="3031868" y="188966"/>
                  </a:lnTo>
                  <a:lnTo>
                    <a:pt x="3096711" y="190070"/>
                  </a:lnTo>
                  <a:lnTo>
                    <a:pt x="3091581" y="161494"/>
                  </a:lnTo>
                  <a:lnTo>
                    <a:pt x="3131102" y="153469"/>
                  </a:lnTo>
                  <a:lnTo>
                    <a:pt x="3199982" y="169045"/>
                  </a:lnTo>
                  <a:lnTo>
                    <a:pt x="3199719" y="212489"/>
                  </a:lnTo>
                  <a:lnTo>
                    <a:pt x="3228008" y="175879"/>
                  </a:lnTo>
                  <a:lnTo>
                    <a:pt x="3263762" y="177109"/>
                  </a:lnTo>
                  <a:lnTo>
                    <a:pt x="3283863" y="130947"/>
                  </a:lnTo>
                  <a:lnTo>
                    <a:pt x="3236244" y="102628"/>
                  </a:lnTo>
                  <a:lnTo>
                    <a:pt x="3184361" y="84067"/>
                  </a:lnTo>
                  <a:lnTo>
                    <a:pt x="3187926" y="33322"/>
                  </a:lnTo>
                  <a:lnTo>
                    <a:pt x="3240479" y="0"/>
                  </a:lnTo>
                  <a:lnTo>
                    <a:pt x="3299105" y="7366"/>
                  </a:lnTo>
                  <a:lnTo>
                    <a:pt x="3344078" y="27635"/>
                  </a:lnTo>
                  <a:lnTo>
                    <a:pt x="3404465" y="79411"/>
                  </a:lnTo>
                  <a:lnTo>
                    <a:pt x="3365023" y="101970"/>
                  </a:lnTo>
                  <a:lnTo>
                    <a:pt x="3447691" y="111264"/>
                  </a:lnTo>
                  <a:close/>
                </a:path>
              </a:pathLst>
            </a:custGeom>
            <a:solidFill>
              <a:srgbClr val="E6EBE2"/>
            </a:solidFill>
            <a:ln w="4403">
              <a:solidFill>
                <a:srgbClr val="B6C3B3"/>
              </a:solidFill>
              <a:prstDash val="solid"/>
            </a:ln>
          </p:spPr>
          <p:txBody>
            <a:bodyPr/>
            <a:p/>
          </p:txBody>
        </p:sp>
        <p:sp>
          <p:nvSpPr>
            <p:cNvPr id="103" name="land-87">
              <a:extLst>
                <a:ext uri="{FF2B5EF4-FFF2-40B4-BE49-F238E27FC236}">
                  <a16:creationId xmlns:a16="http://schemas.microsoft.com/office/drawing/2014/main" id="{4904CA91-2F45-4EAC-A83C-31C1F1263533}"/>
                </a:ext>
              </a:extLst>
            </p:cNvPr>
            <p:cNvSpPr>
              <a:spLocks/>
            </p:cNvSpPr>
            <p:nvPr/>
          </p:nvSpPr>
          <p:spPr>
            <a:xfrm>
              <a:off x="8959702" y="794060"/>
              <a:ext cx="582274" cy="156070"/>
            </a:xfrm>
            <a:custGeom>
              <a:avLst/>
              <a:gdLst/>
              <a:ahLst/>
              <a:cxnLst/>
              <a:rect l="0" t="0" r="0" b="0"/>
              <a:pathLst>
                <a:path w="818823" h="219474">
                  <a:moveTo>
                    <a:pt x="232688" y="8870"/>
                  </a:moveTo>
                  <a:lnTo>
                    <a:pt x="210500" y="30393"/>
                  </a:lnTo>
                  <a:lnTo>
                    <a:pt x="309415" y="16495"/>
                  </a:lnTo>
                  <a:lnTo>
                    <a:pt x="371229" y="39687"/>
                  </a:lnTo>
                  <a:lnTo>
                    <a:pt x="421459" y="16232"/>
                  </a:lnTo>
                  <a:lnTo>
                    <a:pt x="462078" y="31285"/>
                  </a:lnTo>
                  <a:lnTo>
                    <a:pt x="498446" y="76404"/>
                  </a:lnTo>
                  <a:lnTo>
                    <a:pt x="520776" y="57364"/>
                  </a:lnTo>
                  <a:lnTo>
                    <a:pt x="489199" y="10336"/>
                  </a:lnTo>
                  <a:lnTo>
                    <a:pt x="528312" y="3610"/>
                  </a:lnTo>
                  <a:lnTo>
                    <a:pt x="572489" y="10957"/>
                  </a:lnTo>
                  <a:lnTo>
                    <a:pt x="622279" y="29483"/>
                  </a:lnTo>
                  <a:lnTo>
                    <a:pt x="650177" y="74222"/>
                  </a:lnTo>
                  <a:lnTo>
                    <a:pt x="663960" y="106618"/>
                  </a:lnTo>
                  <a:lnTo>
                    <a:pt x="738609" y="129360"/>
                  </a:lnTo>
                  <a:lnTo>
                    <a:pt x="818823" y="151103"/>
                  </a:lnTo>
                  <a:lnTo>
                    <a:pt x="814000" y="171302"/>
                  </a:lnTo>
                  <a:lnTo>
                    <a:pt x="741018" y="174997"/>
                  </a:lnTo>
                  <a:lnTo>
                    <a:pt x="769372" y="192650"/>
                  </a:lnTo>
                  <a:lnTo>
                    <a:pt x="754394" y="209495"/>
                  </a:lnTo>
                  <a:lnTo>
                    <a:pt x="673950" y="202277"/>
                  </a:lnTo>
                  <a:lnTo>
                    <a:pt x="597496" y="189877"/>
                  </a:lnTo>
                  <a:lnTo>
                    <a:pt x="545822" y="192669"/>
                  </a:lnTo>
                  <a:lnTo>
                    <a:pt x="462368" y="208247"/>
                  </a:lnTo>
                  <a:lnTo>
                    <a:pt x="330494" y="216309"/>
                  </a:lnTo>
                  <a:lnTo>
                    <a:pt x="270647" y="219474"/>
                  </a:lnTo>
                  <a:lnTo>
                    <a:pt x="246565" y="197802"/>
                  </a:lnTo>
                  <a:lnTo>
                    <a:pt x="185889" y="185285"/>
                  </a:lnTo>
                  <a:lnTo>
                    <a:pt x="146421" y="190419"/>
                  </a:lnTo>
                  <a:lnTo>
                    <a:pt x="91655" y="154057"/>
                  </a:lnTo>
                  <a:lnTo>
                    <a:pt x="121227" y="149163"/>
                  </a:lnTo>
                  <a:lnTo>
                    <a:pt x="189840" y="141322"/>
                  </a:lnTo>
                  <a:lnTo>
                    <a:pt x="252502" y="143385"/>
                  </a:lnTo>
                  <a:lnTo>
                    <a:pt x="310523" y="135394"/>
                  </a:lnTo>
                  <a:lnTo>
                    <a:pt x="224561" y="124665"/>
                  </a:lnTo>
                  <a:lnTo>
                    <a:pt x="129578" y="128318"/>
                  </a:lnTo>
                  <a:lnTo>
                    <a:pt x="66550" y="127395"/>
                  </a:lnTo>
                  <a:lnTo>
                    <a:pt x="43099" y="110465"/>
                  </a:lnTo>
                  <a:lnTo>
                    <a:pt x="146191" y="92097"/>
                  </a:lnTo>
                  <a:lnTo>
                    <a:pt x="77623" y="92739"/>
                  </a:lnTo>
                  <a:lnTo>
                    <a:pt x="0" y="80643"/>
                  </a:lnTo>
                  <a:lnTo>
                    <a:pt x="37308" y="46234"/>
                  </a:lnTo>
                  <a:lnTo>
                    <a:pt x="68256" y="27952"/>
                  </a:lnTo>
                  <a:lnTo>
                    <a:pt x="187263" y="0"/>
                  </a:lnTo>
                  <a:lnTo>
                    <a:pt x="232688" y="8870"/>
                  </a:lnTo>
                  <a:close/>
                </a:path>
              </a:pathLst>
            </a:custGeom>
            <a:solidFill>
              <a:srgbClr val="E6EBE2"/>
            </a:solidFill>
            <a:ln w="4403">
              <a:solidFill>
                <a:srgbClr val="B6C3B3"/>
              </a:solidFill>
              <a:prstDash val="solid"/>
            </a:ln>
          </p:spPr>
          <p:txBody>
            <a:bodyPr/>
            <a:p/>
          </p:txBody>
        </p:sp>
        <p:sp>
          <p:nvSpPr>
            <p:cNvPr id="104" name="land-88">
              <a:extLst>
                <a:ext uri="{FF2B5EF4-FFF2-40B4-BE49-F238E27FC236}">
                  <a16:creationId xmlns:a16="http://schemas.microsoft.com/office/drawing/2014/main" id="{2F94936C-CA95-47C2-8454-8873EE2275ED}"/>
                </a:ext>
              </a:extLst>
            </p:cNvPr>
            <p:cNvSpPr>
              <a:spLocks/>
            </p:cNvSpPr>
            <p:nvPr/>
          </p:nvSpPr>
          <p:spPr>
            <a:xfrm>
              <a:off x="9353612" y="783433"/>
              <a:ext cx="77126" cy="28738"/>
            </a:xfrm>
            <a:custGeom>
              <a:avLst/>
              <a:gdLst/>
              <a:ahLst/>
              <a:cxnLst/>
              <a:rect l="0" t="0" r="0" b="0"/>
              <a:pathLst>
                <a:path w="108458" h="40413">
                  <a:moveTo>
                    <a:pt x="108458" y="10103"/>
                  </a:moveTo>
                  <a:lnTo>
                    <a:pt x="69342" y="40413"/>
                  </a:lnTo>
                  <a:lnTo>
                    <a:pt x="0" y="8266"/>
                  </a:lnTo>
                  <a:lnTo>
                    <a:pt x="15113" y="1837"/>
                  </a:lnTo>
                  <a:lnTo>
                    <a:pt x="74676" y="0"/>
                  </a:lnTo>
                  <a:lnTo>
                    <a:pt x="108458" y="10103"/>
                  </a:lnTo>
                  <a:close/>
                </a:path>
              </a:pathLst>
            </a:custGeom>
            <a:solidFill>
              <a:srgbClr val="E6EBE2"/>
            </a:solidFill>
            <a:ln w="4403">
              <a:solidFill>
                <a:srgbClr val="B6C3B3"/>
              </a:solidFill>
              <a:prstDash val="solid"/>
            </a:ln>
          </p:spPr>
          <p:txBody>
            <a:bodyPr/>
            <a:p/>
          </p:txBody>
        </p:sp>
        <p:sp>
          <p:nvSpPr>
            <p:cNvPr id="105" name="land-89">
              <a:extLst>
                <a:ext uri="{FF2B5EF4-FFF2-40B4-BE49-F238E27FC236}">
                  <a16:creationId xmlns:a16="http://schemas.microsoft.com/office/drawing/2014/main" id="{D5CA101A-B827-46DF-8EB6-0AED9CCFD6EA}"/>
                </a:ext>
              </a:extLst>
            </p:cNvPr>
            <p:cNvSpPr>
              <a:spLocks/>
            </p:cNvSpPr>
            <p:nvPr/>
          </p:nvSpPr>
          <p:spPr>
            <a:xfrm>
              <a:off x="10177463" y="779523"/>
              <a:ext cx="146181" cy="33229"/>
            </a:xfrm>
            <a:custGeom>
              <a:avLst/>
              <a:gdLst/>
              <a:ahLst/>
              <a:cxnLst/>
              <a:rect l="0" t="0" r="0" b="0"/>
              <a:pathLst>
                <a:path w="205568" h="46729">
                  <a:moveTo>
                    <a:pt x="201630" y="30174"/>
                  </a:moveTo>
                  <a:lnTo>
                    <a:pt x="205568" y="42863"/>
                  </a:lnTo>
                  <a:lnTo>
                    <a:pt x="158316" y="41523"/>
                  </a:lnTo>
                  <a:lnTo>
                    <a:pt x="110433" y="40554"/>
                  </a:lnTo>
                  <a:lnTo>
                    <a:pt x="61779" y="46729"/>
                  </a:lnTo>
                  <a:lnTo>
                    <a:pt x="48907" y="43941"/>
                  </a:lnTo>
                  <a:lnTo>
                    <a:pt x="0" y="19588"/>
                  </a:lnTo>
                  <a:lnTo>
                    <a:pt x="1876" y="3056"/>
                  </a:lnTo>
                  <a:lnTo>
                    <a:pt x="23249" y="0"/>
                  </a:lnTo>
                  <a:lnTo>
                    <a:pt x="124978" y="4950"/>
                  </a:lnTo>
                  <a:lnTo>
                    <a:pt x="201630" y="30174"/>
                  </a:lnTo>
                  <a:close/>
                </a:path>
              </a:pathLst>
            </a:custGeom>
            <a:solidFill>
              <a:srgbClr val="E6EBE2"/>
            </a:solidFill>
            <a:ln w="4403">
              <a:solidFill>
                <a:srgbClr val="B6C3B3"/>
              </a:solidFill>
              <a:prstDash val="solid"/>
            </a:ln>
          </p:spPr>
          <p:txBody>
            <a:bodyPr/>
            <a:p/>
          </p:txBody>
        </p:sp>
        <p:sp>
          <p:nvSpPr>
            <p:cNvPr id="106" name="land-90">
              <a:extLst>
                <a:ext uri="{FF2B5EF4-FFF2-40B4-BE49-F238E27FC236}">
                  <a16:creationId xmlns:a16="http://schemas.microsoft.com/office/drawing/2014/main" id="{D63CB294-18FD-4F78-B0CC-719FE1C92291}"/>
                </a:ext>
              </a:extLst>
            </p:cNvPr>
            <p:cNvSpPr>
              <a:spLocks/>
            </p:cNvSpPr>
            <p:nvPr/>
          </p:nvSpPr>
          <p:spPr>
            <a:xfrm>
              <a:off x="9882582" y="778083"/>
              <a:ext cx="896212" cy="387736"/>
            </a:xfrm>
            <a:custGeom>
              <a:avLst/>
              <a:gdLst/>
              <a:ahLst/>
              <a:cxnLst/>
              <a:rect l="0" t="0" r="0" b="0"/>
              <a:pathLst>
                <a:path w="1260299" h="545253">
                  <a:moveTo>
                    <a:pt x="161931" y="29684"/>
                  </a:moveTo>
                  <a:lnTo>
                    <a:pt x="196949" y="58309"/>
                  </a:lnTo>
                  <a:lnTo>
                    <a:pt x="238032" y="21288"/>
                  </a:lnTo>
                  <a:lnTo>
                    <a:pt x="350691" y="2428"/>
                  </a:lnTo>
                  <a:lnTo>
                    <a:pt x="426945" y="49932"/>
                  </a:lnTo>
                  <a:lnTo>
                    <a:pt x="420329" y="79996"/>
                  </a:lnTo>
                  <a:lnTo>
                    <a:pt x="508264" y="66665"/>
                  </a:lnTo>
                  <a:lnTo>
                    <a:pt x="550315" y="48413"/>
                  </a:lnTo>
                  <a:lnTo>
                    <a:pt x="648940" y="71648"/>
                  </a:lnTo>
                  <a:lnTo>
                    <a:pt x="710157" y="93532"/>
                  </a:lnTo>
                  <a:lnTo>
                    <a:pt x="715913" y="113569"/>
                  </a:lnTo>
                  <a:lnTo>
                    <a:pt x="798452" y="103186"/>
                  </a:lnTo>
                  <a:lnTo>
                    <a:pt x="844779" y="132436"/>
                  </a:lnTo>
                  <a:lnTo>
                    <a:pt x="952079" y="150576"/>
                  </a:lnTo>
                  <a:lnTo>
                    <a:pt x="990799" y="169087"/>
                  </a:lnTo>
                  <a:lnTo>
                    <a:pt x="1032846" y="212065"/>
                  </a:lnTo>
                  <a:lnTo>
                    <a:pt x="951232" y="233461"/>
                  </a:lnTo>
                  <a:lnTo>
                    <a:pt x="1055923" y="263451"/>
                  </a:lnTo>
                  <a:lnTo>
                    <a:pt x="1126490" y="273537"/>
                  </a:lnTo>
                  <a:lnTo>
                    <a:pt x="1190381" y="315744"/>
                  </a:lnTo>
                  <a:lnTo>
                    <a:pt x="1260299" y="318791"/>
                  </a:lnTo>
                  <a:lnTo>
                    <a:pt x="1246466" y="351024"/>
                  </a:lnTo>
                  <a:lnTo>
                    <a:pt x="1168445" y="404369"/>
                  </a:lnTo>
                  <a:lnTo>
                    <a:pt x="1113753" y="384742"/>
                  </a:lnTo>
                  <a:lnTo>
                    <a:pt x="1043861" y="340563"/>
                  </a:lnTo>
                  <a:lnTo>
                    <a:pt x="986352" y="346318"/>
                  </a:lnTo>
                  <a:lnTo>
                    <a:pt x="980739" y="372629"/>
                  </a:lnTo>
                  <a:lnTo>
                    <a:pt x="1027485" y="399327"/>
                  </a:lnTo>
                  <a:lnTo>
                    <a:pt x="1087828" y="420454"/>
                  </a:lnTo>
                  <a:lnTo>
                    <a:pt x="1106138" y="432655"/>
                  </a:lnTo>
                  <a:lnTo>
                    <a:pt x="1135064" y="478111"/>
                  </a:lnTo>
                  <a:lnTo>
                    <a:pt x="1119756" y="511118"/>
                  </a:lnTo>
                  <a:lnTo>
                    <a:pt x="1063694" y="498677"/>
                  </a:lnTo>
                  <a:lnTo>
                    <a:pt x="952207" y="461911"/>
                  </a:lnTo>
                  <a:lnTo>
                    <a:pt x="1015037" y="501484"/>
                  </a:lnTo>
                  <a:lnTo>
                    <a:pt x="1061327" y="529218"/>
                  </a:lnTo>
                  <a:lnTo>
                    <a:pt x="1068560" y="545253"/>
                  </a:lnTo>
                  <a:lnTo>
                    <a:pt x="948020" y="526918"/>
                  </a:lnTo>
                  <a:lnTo>
                    <a:pt x="852628" y="500256"/>
                  </a:lnTo>
                  <a:lnTo>
                    <a:pt x="798757" y="477885"/>
                  </a:lnTo>
                  <a:lnTo>
                    <a:pt x="814274" y="464928"/>
                  </a:lnTo>
                  <a:lnTo>
                    <a:pt x="747954" y="441324"/>
                  </a:lnTo>
                  <a:lnTo>
                    <a:pt x="683229" y="419046"/>
                  </a:lnTo>
                  <a:lnTo>
                    <a:pt x="683937" y="432363"/>
                  </a:lnTo>
                  <a:lnTo>
                    <a:pt x="555411" y="439690"/>
                  </a:lnTo>
                  <a:lnTo>
                    <a:pt x="517807" y="423921"/>
                  </a:lnTo>
                  <a:lnTo>
                    <a:pt x="547085" y="390108"/>
                  </a:lnTo>
                  <a:lnTo>
                    <a:pt x="630607" y="389292"/>
                  </a:lnTo>
                  <a:lnTo>
                    <a:pt x="722106" y="383423"/>
                  </a:lnTo>
                  <a:lnTo>
                    <a:pt x="707256" y="367028"/>
                  </a:lnTo>
                  <a:lnTo>
                    <a:pt x="722768" y="344120"/>
                  </a:lnTo>
                  <a:lnTo>
                    <a:pt x="780275" y="299390"/>
                  </a:lnTo>
                  <a:lnTo>
                    <a:pt x="768056" y="279076"/>
                  </a:lnTo>
                  <a:lnTo>
                    <a:pt x="750918" y="263346"/>
                  </a:lnTo>
                  <a:lnTo>
                    <a:pt x="682834" y="241064"/>
                  </a:lnTo>
                  <a:lnTo>
                    <a:pt x="592788" y="225445"/>
                  </a:lnTo>
                  <a:lnTo>
                    <a:pt x="621256" y="213825"/>
                  </a:lnTo>
                  <a:lnTo>
                    <a:pt x="574196" y="185271"/>
                  </a:lnTo>
                  <a:lnTo>
                    <a:pt x="535024" y="182655"/>
                  </a:lnTo>
                  <a:lnTo>
                    <a:pt x="499970" y="167023"/>
                  </a:lnTo>
                  <a:lnTo>
                    <a:pt x="476180" y="180574"/>
                  </a:lnTo>
                  <a:lnTo>
                    <a:pt x="395591" y="186481"/>
                  </a:lnTo>
                  <a:lnTo>
                    <a:pt x="233827" y="176219"/>
                  </a:lnTo>
                  <a:lnTo>
                    <a:pt x="139802" y="162747"/>
                  </a:lnTo>
                  <a:lnTo>
                    <a:pt x="67717" y="155824"/>
                  </a:lnTo>
                  <a:lnTo>
                    <a:pt x="30748" y="139691"/>
                  </a:lnTo>
                  <a:lnTo>
                    <a:pt x="77229" y="118743"/>
                  </a:lnTo>
                  <a:lnTo>
                    <a:pt x="14091" y="118542"/>
                  </a:lnTo>
                  <a:lnTo>
                    <a:pt x="0" y="72043"/>
                  </a:lnTo>
                  <a:lnTo>
                    <a:pt x="34164" y="30969"/>
                  </a:lnTo>
                  <a:lnTo>
                    <a:pt x="79873" y="12212"/>
                  </a:lnTo>
                  <a:lnTo>
                    <a:pt x="194647" y="0"/>
                  </a:lnTo>
                  <a:lnTo>
                    <a:pt x="161931" y="29684"/>
                  </a:lnTo>
                  <a:close/>
                </a:path>
              </a:pathLst>
            </a:custGeom>
            <a:solidFill>
              <a:srgbClr val="E6EBE2"/>
            </a:solidFill>
            <a:ln w="4403">
              <a:solidFill>
                <a:srgbClr val="B6C3B3"/>
              </a:solidFill>
              <a:prstDash val="solid"/>
            </a:ln>
          </p:spPr>
          <p:txBody>
            <a:bodyPr/>
            <a:p/>
          </p:txBody>
        </p:sp>
        <p:sp>
          <p:nvSpPr>
            <p:cNvPr id="107" name="land-91">
              <a:extLst>
                <a:ext uri="{FF2B5EF4-FFF2-40B4-BE49-F238E27FC236}">
                  <a16:creationId xmlns:a16="http://schemas.microsoft.com/office/drawing/2014/main" id="{1674BF52-DD6B-4F4D-A2F1-7B9EF590A880}"/>
                </a:ext>
              </a:extLst>
            </p:cNvPr>
            <p:cNvSpPr>
              <a:spLocks/>
            </p:cNvSpPr>
            <p:nvPr/>
          </p:nvSpPr>
          <p:spPr>
            <a:xfrm>
              <a:off x="9493956" y="776774"/>
              <a:ext cx="188389" cy="83963"/>
            </a:xfrm>
            <a:custGeom>
              <a:avLst/>
              <a:gdLst/>
              <a:ahLst/>
              <a:cxnLst/>
              <a:rect l="0" t="0" r="0" b="0"/>
              <a:pathLst>
                <a:path w="264922" h="118073">
                  <a:moveTo>
                    <a:pt x="95282" y="0"/>
                  </a:moveTo>
                  <a:lnTo>
                    <a:pt x="148291" y="9667"/>
                  </a:lnTo>
                  <a:lnTo>
                    <a:pt x="227584" y="3853"/>
                  </a:lnTo>
                  <a:lnTo>
                    <a:pt x="239141" y="17171"/>
                  </a:lnTo>
                  <a:lnTo>
                    <a:pt x="197643" y="39190"/>
                  </a:lnTo>
                  <a:lnTo>
                    <a:pt x="264922" y="58962"/>
                  </a:lnTo>
                  <a:lnTo>
                    <a:pt x="256921" y="100293"/>
                  </a:lnTo>
                  <a:lnTo>
                    <a:pt x="184038" y="118073"/>
                  </a:lnTo>
                  <a:lnTo>
                    <a:pt x="141224" y="114236"/>
                  </a:lnTo>
                  <a:lnTo>
                    <a:pt x="110466" y="96699"/>
                  </a:lnTo>
                  <a:lnTo>
                    <a:pt x="0" y="61258"/>
                  </a:lnTo>
                  <a:lnTo>
                    <a:pt x="889" y="46562"/>
                  </a:lnTo>
                  <a:lnTo>
                    <a:pt x="91640" y="52262"/>
                  </a:lnTo>
                  <a:lnTo>
                    <a:pt x="42672" y="22222"/>
                  </a:lnTo>
                  <a:lnTo>
                    <a:pt x="95282" y="0"/>
                  </a:lnTo>
                  <a:close/>
                </a:path>
              </a:pathLst>
            </a:custGeom>
            <a:solidFill>
              <a:srgbClr val="E6EBE2"/>
            </a:solidFill>
            <a:ln w="4403">
              <a:solidFill>
                <a:srgbClr val="B6C3B3"/>
              </a:solidFill>
              <a:prstDash val="solid"/>
            </a:ln>
          </p:spPr>
          <p:txBody>
            <a:bodyPr/>
            <a:p/>
          </p:txBody>
        </p:sp>
        <p:sp>
          <p:nvSpPr>
            <p:cNvPr id="108" name="land-92">
              <a:extLst>
                <a:ext uri="{FF2B5EF4-FFF2-40B4-BE49-F238E27FC236}">
                  <a16:creationId xmlns:a16="http://schemas.microsoft.com/office/drawing/2014/main" id="{3755633F-B887-4013-9BEF-77EF7E06D339}"/>
                </a:ext>
              </a:extLst>
            </p:cNvPr>
            <p:cNvSpPr>
              <a:spLocks/>
            </p:cNvSpPr>
            <p:nvPr/>
          </p:nvSpPr>
          <p:spPr>
            <a:xfrm>
              <a:off x="5775584" y="776327"/>
              <a:ext cx="118240" cy="21297"/>
            </a:xfrm>
            <a:custGeom>
              <a:avLst/>
              <a:gdLst/>
              <a:ahLst/>
              <a:cxnLst/>
              <a:rect l="0" t="0" r="0" b="0"/>
              <a:pathLst>
                <a:path w="166275" h="29949">
                  <a:moveTo>
                    <a:pt x="166275" y="29627"/>
                  </a:moveTo>
                  <a:lnTo>
                    <a:pt x="98879" y="29949"/>
                  </a:lnTo>
                  <a:lnTo>
                    <a:pt x="7780" y="24829"/>
                  </a:lnTo>
                  <a:lnTo>
                    <a:pt x="0" y="22399"/>
                  </a:lnTo>
                  <a:lnTo>
                    <a:pt x="42165" y="4249"/>
                  </a:lnTo>
                  <a:lnTo>
                    <a:pt x="97743" y="0"/>
                  </a:lnTo>
                  <a:lnTo>
                    <a:pt x="160896" y="17558"/>
                  </a:lnTo>
                  <a:lnTo>
                    <a:pt x="166275" y="29627"/>
                  </a:lnTo>
                  <a:close/>
                </a:path>
              </a:pathLst>
            </a:custGeom>
            <a:solidFill>
              <a:srgbClr val="E6EBE2"/>
            </a:solidFill>
            <a:ln w="4403">
              <a:solidFill>
                <a:srgbClr val="B6C3B3"/>
              </a:solidFill>
              <a:prstDash val="solid"/>
            </a:ln>
          </p:spPr>
          <p:txBody>
            <a:bodyPr/>
            <a:p/>
          </p:txBody>
        </p:sp>
        <p:sp>
          <p:nvSpPr>
            <p:cNvPr id="109" name="land-93">
              <a:extLst>
                <a:ext uri="{FF2B5EF4-FFF2-40B4-BE49-F238E27FC236}">
                  <a16:creationId xmlns:a16="http://schemas.microsoft.com/office/drawing/2014/main" id="{13D86B01-F0E9-4315-880E-D5AB737386CE}"/>
                </a:ext>
              </a:extLst>
            </p:cNvPr>
            <p:cNvSpPr>
              <a:spLocks/>
            </p:cNvSpPr>
            <p:nvPr/>
          </p:nvSpPr>
          <p:spPr>
            <a:xfrm>
              <a:off x="9698347" y="767271"/>
              <a:ext cx="174606" cy="68917"/>
            </a:xfrm>
            <a:custGeom>
              <a:avLst/>
              <a:gdLst/>
              <a:ahLst/>
              <a:cxnLst/>
              <a:rect l="0" t="0" r="0" b="0"/>
              <a:pathLst>
                <a:path w="245540" h="96914">
                  <a:moveTo>
                    <a:pt x="126125" y="62591"/>
                  </a:moveTo>
                  <a:lnTo>
                    <a:pt x="78441" y="96914"/>
                  </a:lnTo>
                  <a:lnTo>
                    <a:pt x="27732" y="95202"/>
                  </a:lnTo>
                  <a:lnTo>
                    <a:pt x="0" y="54862"/>
                  </a:lnTo>
                  <a:lnTo>
                    <a:pt x="688" y="32031"/>
                  </a:lnTo>
                  <a:lnTo>
                    <a:pt x="23912" y="12514"/>
                  </a:lnTo>
                  <a:lnTo>
                    <a:pt x="68012" y="0"/>
                  </a:lnTo>
                  <a:lnTo>
                    <a:pt x="160630" y="1602"/>
                  </a:lnTo>
                  <a:lnTo>
                    <a:pt x="245540" y="12775"/>
                  </a:lnTo>
                  <a:lnTo>
                    <a:pt x="179124" y="53670"/>
                  </a:lnTo>
                  <a:lnTo>
                    <a:pt x="126125" y="62591"/>
                  </a:lnTo>
                  <a:close/>
                </a:path>
              </a:pathLst>
            </a:custGeom>
            <a:solidFill>
              <a:srgbClr val="E6EBE2"/>
            </a:solidFill>
            <a:ln w="4403">
              <a:solidFill>
                <a:srgbClr val="B6C3B3"/>
              </a:solidFill>
              <a:prstDash val="solid"/>
            </a:ln>
          </p:spPr>
          <p:txBody>
            <a:bodyPr/>
            <a:p/>
          </p:txBody>
        </p:sp>
        <p:sp>
          <p:nvSpPr>
            <p:cNvPr id="110" name="land-94">
              <a:extLst>
                <a:ext uri="{FF2B5EF4-FFF2-40B4-BE49-F238E27FC236}">
                  <a16:creationId xmlns:a16="http://schemas.microsoft.com/office/drawing/2014/main" id="{9A686A39-8707-4015-A32C-F43B015C4C82}"/>
                </a:ext>
              </a:extLst>
            </p:cNvPr>
            <p:cNvSpPr>
              <a:spLocks/>
            </p:cNvSpPr>
            <p:nvPr/>
          </p:nvSpPr>
          <p:spPr>
            <a:xfrm>
              <a:off x="8753392" y="757015"/>
              <a:ext cx="329306" cy="115844"/>
            </a:xfrm>
            <a:custGeom>
              <a:avLst/>
              <a:gdLst/>
              <a:ahLst/>
              <a:cxnLst/>
              <a:rect l="0" t="0" r="0" b="0"/>
              <a:pathLst>
                <a:path w="463087" h="162906">
                  <a:moveTo>
                    <a:pt x="243095" y="140019"/>
                  </a:moveTo>
                  <a:lnTo>
                    <a:pt x="126094" y="162906"/>
                  </a:lnTo>
                  <a:lnTo>
                    <a:pt x="102633" y="142775"/>
                  </a:lnTo>
                  <a:lnTo>
                    <a:pt x="0" y="118496"/>
                  </a:lnTo>
                  <a:lnTo>
                    <a:pt x="14946" y="103532"/>
                  </a:lnTo>
                  <a:lnTo>
                    <a:pt x="49858" y="65505"/>
                  </a:lnTo>
                  <a:lnTo>
                    <a:pt x="88409" y="35312"/>
                  </a:lnTo>
                  <a:lnTo>
                    <a:pt x="44948" y="7172"/>
                  </a:lnTo>
                  <a:lnTo>
                    <a:pt x="195184" y="0"/>
                  </a:lnTo>
                  <a:lnTo>
                    <a:pt x="258663" y="9533"/>
                  </a:lnTo>
                  <a:lnTo>
                    <a:pt x="372194" y="12085"/>
                  </a:lnTo>
                  <a:lnTo>
                    <a:pt x="415365" y="25390"/>
                  </a:lnTo>
                  <a:lnTo>
                    <a:pt x="463087" y="44718"/>
                  </a:lnTo>
                  <a:lnTo>
                    <a:pt x="407207" y="56303"/>
                  </a:lnTo>
                  <a:lnTo>
                    <a:pt x="298213" y="88584"/>
                  </a:lnTo>
                  <a:lnTo>
                    <a:pt x="243095" y="120731"/>
                  </a:lnTo>
                  <a:lnTo>
                    <a:pt x="243095" y="140019"/>
                  </a:lnTo>
                  <a:close/>
                </a:path>
              </a:pathLst>
            </a:custGeom>
            <a:solidFill>
              <a:srgbClr val="E6EBE2"/>
            </a:solidFill>
            <a:ln w="4403">
              <a:solidFill>
                <a:srgbClr val="B6C3B3"/>
              </a:solidFill>
              <a:prstDash val="solid"/>
            </a:ln>
          </p:spPr>
          <p:txBody>
            <a:bodyPr/>
            <a:p/>
          </p:txBody>
        </p:sp>
        <p:sp>
          <p:nvSpPr>
            <p:cNvPr id="111" name="land-95">
              <a:extLst>
                <a:ext uri="{FF2B5EF4-FFF2-40B4-BE49-F238E27FC236}">
                  <a16:creationId xmlns:a16="http://schemas.microsoft.com/office/drawing/2014/main" id="{C7B0A01B-1840-4D3A-9993-EB86A3195EBD}"/>
                </a:ext>
              </a:extLst>
            </p:cNvPr>
            <p:cNvSpPr>
              <a:spLocks/>
            </p:cNvSpPr>
            <p:nvPr/>
          </p:nvSpPr>
          <p:spPr>
            <a:xfrm>
              <a:off x="5973332" y="722794"/>
              <a:ext cx="145795" cy="26384"/>
            </a:xfrm>
            <a:custGeom>
              <a:avLst/>
              <a:gdLst/>
              <a:ahLst/>
              <a:cxnLst/>
              <a:rect l="0" t="0" r="0" b="0"/>
              <a:pathLst>
                <a:path w="205025" h="37102">
                  <a:moveTo>
                    <a:pt x="205025" y="18956"/>
                  </a:moveTo>
                  <a:lnTo>
                    <a:pt x="153652" y="37102"/>
                  </a:lnTo>
                  <a:lnTo>
                    <a:pt x="82600" y="32995"/>
                  </a:lnTo>
                  <a:lnTo>
                    <a:pt x="0" y="14872"/>
                  </a:lnTo>
                  <a:lnTo>
                    <a:pt x="10637" y="0"/>
                  </a:lnTo>
                  <a:lnTo>
                    <a:pt x="93480" y="6933"/>
                  </a:lnTo>
                  <a:lnTo>
                    <a:pt x="205025" y="18956"/>
                  </a:lnTo>
                  <a:close/>
                </a:path>
              </a:pathLst>
            </a:custGeom>
            <a:solidFill>
              <a:srgbClr val="E6EBE2"/>
            </a:solidFill>
            <a:ln w="4403">
              <a:solidFill>
                <a:srgbClr val="B6C3B3"/>
              </a:solidFill>
              <a:prstDash val="solid"/>
            </a:ln>
          </p:spPr>
          <p:txBody>
            <a:bodyPr/>
            <a:p/>
          </p:txBody>
        </p:sp>
        <p:sp>
          <p:nvSpPr>
            <p:cNvPr id="112" name="land-96">
              <a:extLst>
                <a:ext uri="{FF2B5EF4-FFF2-40B4-BE49-F238E27FC236}">
                  <a16:creationId xmlns:a16="http://schemas.microsoft.com/office/drawing/2014/main" id="{A0E0CF9D-7127-4B64-A8CB-9E6DEC1B0309}"/>
                </a:ext>
              </a:extLst>
            </p:cNvPr>
            <p:cNvSpPr>
              <a:spLocks/>
            </p:cNvSpPr>
            <p:nvPr/>
          </p:nvSpPr>
          <p:spPr>
            <a:xfrm>
              <a:off x="9673465" y="717883"/>
              <a:ext cx="101407" cy="34449"/>
            </a:xfrm>
            <a:custGeom>
              <a:avLst/>
              <a:gdLst/>
              <a:ahLst/>
              <a:cxnLst/>
              <a:rect l="0" t="0" r="0" b="0"/>
              <a:pathLst>
                <a:path w="142603" h="48444">
                  <a:moveTo>
                    <a:pt x="142603" y="30642"/>
                  </a:moveTo>
                  <a:lnTo>
                    <a:pt x="118416" y="48444"/>
                  </a:lnTo>
                  <a:lnTo>
                    <a:pt x="53885" y="45022"/>
                  </a:lnTo>
                  <a:lnTo>
                    <a:pt x="0" y="33047"/>
                  </a:lnTo>
                  <a:lnTo>
                    <a:pt x="23663" y="12371"/>
                  </a:lnTo>
                  <a:lnTo>
                    <a:pt x="87571" y="0"/>
                  </a:lnTo>
                  <a:lnTo>
                    <a:pt x="126380" y="16107"/>
                  </a:lnTo>
                  <a:lnTo>
                    <a:pt x="142603" y="30642"/>
                  </a:lnTo>
                  <a:close/>
                </a:path>
              </a:pathLst>
            </a:custGeom>
            <a:solidFill>
              <a:srgbClr val="E6EBE2"/>
            </a:solidFill>
            <a:ln w="4403">
              <a:solidFill>
                <a:srgbClr val="B6C3B3"/>
              </a:solidFill>
              <a:prstDash val="solid"/>
            </a:ln>
          </p:spPr>
          <p:txBody>
            <a:bodyPr/>
            <a:p/>
          </p:txBody>
        </p:sp>
        <p:sp>
          <p:nvSpPr>
            <p:cNvPr id="113" name="land-97">
              <a:extLst>
                <a:ext uri="{FF2B5EF4-FFF2-40B4-BE49-F238E27FC236}">
                  <a16:creationId xmlns:a16="http://schemas.microsoft.com/office/drawing/2014/main" id="{02008753-09BE-4A13-8B33-7025618E3645}"/>
                </a:ext>
              </a:extLst>
            </p:cNvPr>
            <p:cNvSpPr>
              <a:spLocks/>
            </p:cNvSpPr>
            <p:nvPr/>
          </p:nvSpPr>
          <p:spPr>
            <a:xfrm>
              <a:off x="5684275" y="701896"/>
              <a:ext cx="256408" cy="49811"/>
            </a:xfrm>
            <a:custGeom>
              <a:avLst/>
              <a:gdLst/>
              <a:ahLst/>
              <a:cxnLst/>
              <a:rect l="0" t="0" r="0" b="0"/>
              <a:pathLst>
                <a:path w="360574" h="70047">
                  <a:moveTo>
                    <a:pt x="360574" y="26367"/>
                  </a:moveTo>
                  <a:lnTo>
                    <a:pt x="325623" y="60471"/>
                  </a:lnTo>
                  <a:lnTo>
                    <a:pt x="161772" y="59200"/>
                  </a:lnTo>
                  <a:lnTo>
                    <a:pt x="88058" y="70047"/>
                  </a:lnTo>
                  <a:lnTo>
                    <a:pt x="0" y="40188"/>
                  </a:lnTo>
                  <a:lnTo>
                    <a:pt x="23886" y="8615"/>
                  </a:lnTo>
                  <a:lnTo>
                    <a:pt x="82530" y="0"/>
                  </a:lnTo>
                  <a:lnTo>
                    <a:pt x="199902" y="2015"/>
                  </a:lnTo>
                  <a:lnTo>
                    <a:pt x="360574" y="26367"/>
                  </a:lnTo>
                  <a:close/>
                </a:path>
              </a:pathLst>
            </a:custGeom>
            <a:solidFill>
              <a:srgbClr val="E6EBE2"/>
            </a:solidFill>
            <a:ln w="4403">
              <a:solidFill>
                <a:srgbClr val="B6C3B3"/>
              </a:solidFill>
              <a:prstDash val="solid"/>
            </a:ln>
          </p:spPr>
          <p:txBody>
            <a:bodyPr/>
            <a:p/>
          </p:txBody>
        </p:sp>
        <p:sp>
          <p:nvSpPr>
            <p:cNvPr id="114" name="land-98">
              <a:extLst>
                <a:ext uri="{FF2B5EF4-FFF2-40B4-BE49-F238E27FC236}">
                  <a16:creationId xmlns:a16="http://schemas.microsoft.com/office/drawing/2014/main" id="{E960D924-42FB-4686-AA29-531D088F009F}"/>
                </a:ext>
              </a:extLst>
            </p:cNvPr>
            <p:cNvSpPr>
              <a:spLocks/>
            </p:cNvSpPr>
            <p:nvPr/>
          </p:nvSpPr>
          <p:spPr>
            <a:xfrm>
              <a:off x="9491885" y="682849"/>
              <a:ext cx="153654" cy="59520"/>
            </a:xfrm>
            <a:custGeom>
              <a:avLst/>
              <a:gdLst/>
              <a:ahLst/>
              <a:cxnLst/>
              <a:rect l="0" t="0" r="0" b="0"/>
              <a:pathLst>
                <a:path w="216076" h="83699">
                  <a:moveTo>
                    <a:pt x="180712" y="0"/>
                  </a:moveTo>
                  <a:lnTo>
                    <a:pt x="214691" y="21283"/>
                  </a:lnTo>
                  <a:lnTo>
                    <a:pt x="216076" y="44848"/>
                  </a:lnTo>
                  <a:lnTo>
                    <a:pt x="195825" y="78989"/>
                  </a:lnTo>
                  <a:lnTo>
                    <a:pt x="122539" y="83699"/>
                  </a:lnTo>
                  <a:lnTo>
                    <a:pt x="74759" y="76355"/>
                  </a:lnTo>
                  <a:lnTo>
                    <a:pt x="75681" y="49564"/>
                  </a:lnTo>
                  <a:lnTo>
                    <a:pt x="2819" y="53097"/>
                  </a:lnTo>
                  <a:lnTo>
                    <a:pt x="0" y="17607"/>
                  </a:lnTo>
                  <a:lnTo>
                    <a:pt x="47819" y="19042"/>
                  </a:lnTo>
                  <a:lnTo>
                    <a:pt x="114771" y="3383"/>
                  </a:lnTo>
                  <a:lnTo>
                    <a:pt x="177290" y="6035"/>
                  </a:lnTo>
                  <a:lnTo>
                    <a:pt x="180712" y="0"/>
                  </a:lnTo>
                  <a:close/>
                </a:path>
              </a:pathLst>
            </a:custGeom>
            <a:solidFill>
              <a:srgbClr val="E6EBE2"/>
            </a:solidFill>
            <a:ln w="4403">
              <a:solidFill>
                <a:srgbClr val="B6C3B3"/>
              </a:solidFill>
              <a:prstDash val="solid"/>
            </a:ln>
          </p:spPr>
          <p:txBody>
            <a:bodyPr/>
            <a:p/>
          </p:txBody>
        </p:sp>
        <p:sp>
          <p:nvSpPr>
            <p:cNvPr id="115" name="land-99">
              <a:extLst>
                <a:ext uri="{FF2B5EF4-FFF2-40B4-BE49-F238E27FC236}">
                  <a16:creationId xmlns:a16="http://schemas.microsoft.com/office/drawing/2014/main" id="{21248848-AAF3-41BF-82FE-245EAB5DC09C}"/>
                </a:ext>
              </a:extLst>
            </p:cNvPr>
            <p:cNvSpPr>
              <a:spLocks/>
            </p:cNvSpPr>
            <p:nvPr/>
          </p:nvSpPr>
          <p:spPr>
            <a:xfrm>
              <a:off x="9013172" y="680427"/>
              <a:ext cx="379478" cy="78374"/>
            </a:xfrm>
            <a:custGeom>
              <a:avLst/>
              <a:gdLst/>
              <a:ahLst/>
              <a:cxnLst/>
              <a:rect l="0" t="0" r="0" b="0"/>
              <a:pathLst>
                <a:path w="533641" h="110213">
                  <a:moveTo>
                    <a:pt x="422230" y="27210"/>
                  </a:moveTo>
                  <a:lnTo>
                    <a:pt x="439654" y="43566"/>
                  </a:lnTo>
                  <a:lnTo>
                    <a:pt x="479236" y="35883"/>
                  </a:lnTo>
                  <a:lnTo>
                    <a:pt x="525817" y="37877"/>
                  </a:lnTo>
                  <a:lnTo>
                    <a:pt x="533641" y="60375"/>
                  </a:lnTo>
                  <a:lnTo>
                    <a:pt x="506594" y="82154"/>
                  </a:lnTo>
                  <a:lnTo>
                    <a:pt x="356062" y="89284"/>
                  </a:lnTo>
                  <a:lnTo>
                    <a:pt x="243912" y="109171"/>
                  </a:lnTo>
                  <a:lnTo>
                    <a:pt x="176315" y="110213"/>
                  </a:lnTo>
                  <a:lnTo>
                    <a:pt x="170646" y="95241"/>
                  </a:lnTo>
                  <a:lnTo>
                    <a:pt x="262975" y="74933"/>
                  </a:lnTo>
                  <a:lnTo>
                    <a:pt x="62150" y="80401"/>
                  </a:lnTo>
                  <a:lnTo>
                    <a:pt x="0" y="72191"/>
                  </a:lnTo>
                  <a:lnTo>
                    <a:pt x="60647" y="27331"/>
                  </a:lnTo>
                  <a:lnTo>
                    <a:pt x="102481" y="14480"/>
                  </a:lnTo>
                  <a:lnTo>
                    <a:pt x="227577" y="29981"/>
                  </a:lnTo>
                  <a:lnTo>
                    <a:pt x="306535" y="57175"/>
                  </a:lnTo>
                  <a:lnTo>
                    <a:pt x="384195" y="60664"/>
                  </a:lnTo>
                  <a:lnTo>
                    <a:pt x="320624" y="16732"/>
                  </a:lnTo>
                  <a:lnTo>
                    <a:pt x="361347" y="0"/>
                  </a:lnTo>
                  <a:lnTo>
                    <a:pt x="407242" y="5320"/>
                  </a:lnTo>
                  <a:lnTo>
                    <a:pt x="422230" y="27210"/>
                  </a:lnTo>
                  <a:close/>
                </a:path>
              </a:pathLst>
            </a:custGeom>
            <a:solidFill>
              <a:srgbClr val="E6EBE2"/>
            </a:solidFill>
            <a:ln w="4403">
              <a:solidFill>
                <a:srgbClr val="B6C3B3"/>
              </a:solidFill>
              <a:prstDash val="solid"/>
            </a:ln>
          </p:spPr>
          <p:txBody>
            <a:bodyPr/>
            <a:p/>
          </p:txBody>
        </p:sp>
        <p:sp>
          <p:nvSpPr>
            <p:cNvPr id="116" name="land-100">
              <a:extLst>
                <a:ext uri="{FF2B5EF4-FFF2-40B4-BE49-F238E27FC236}">
                  <a16:creationId xmlns:a16="http://schemas.microsoft.com/office/drawing/2014/main" id="{F6AA77CC-4EE7-4BAF-AA5F-B7E8C2272E2B}"/>
                </a:ext>
              </a:extLst>
            </p:cNvPr>
            <p:cNvSpPr>
              <a:spLocks/>
            </p:cNvSpPr>
            <p:nvPr/>
          </p:nvSpPr>
          <p:spPr>
            <a:xfrm>
              <a:off x="2981126" y="675674"/>
              <a:ext cx="549883" cy="205967"/>
            </a:xfrm>
            <a:custGeom>
              <a:avLst/>
              <a:gdLst/>
              <a:ahLst/>
              <a:cxnLst/>
              <a:rect l="0" t="0" r="0" b="0"/>
              <a:pathLst>
                <a:path w="773273" h="289641">
                  <a:moveTo>
                    <a:pt x="270253" y="285613"/>
                  </a:moveTo>
                  <a:lnTo>
                    <a:pt x="243996" y="289641"/>
                  </a:lnTo>
                  <a:lnTo>
                    <a:pt x="98751" y="283675"/>
                  </a:lnTo>
                  <a:lnTo>
                    <a:pt x="86956" y="263285"/>
                  </a:lnTo>
                  <a:lnTo>
                    <a:pt x="6496" y="250972"/>
                  </a:lnTo>
                  <a:lnTo>
                    <a:pt x="0" y="226168"/>
                  </a:lnTo>
                  <a:lnTo>
                    <a:pt x="45451" y="216314"/>
                  </a:lnTo>
                  <a:lnTo>
                    <a:pt x="43935" y="191272"/>
                  </a:lnTo>
                  <a:lnTo>
                    <a:pt x="132099" y="152107"/>
                  </a:lnTo>
                  <a:lnTo>
                    <a:pt x="91235" y="146493"/>
                  </a:lnTo>
                  <a:lnTo>
                    <a:pt x="197656" y="106186"/>
                  </a:lnTo>
                  <a:lnTo>
                    <a:pt x="185631" y="85340"/>
                  </a:lnTo>
                  <a:lnTo>
                    <a:pt x="285053" y="61093"/>
                  </a:lnTo>
                  <a:lnTo>
                    <a:pt x="431800" y="31587"/>
                  </a:lnTo>
                  <a:lnTo>
                    <a:pt x="579744" y="22992"/>
                  </a:lnTo>
                  <a:lnTo>
                    <a:pt x="655870" y="5966"/>
                  </a:lnTo>
                  <a:lnTo>
                    <a:pt x="742373" y="0"/>
                  </a:lnTo>
                  <a:lnTo>
                    <a:pt x="773273" y="18135"/>
                  </a:lnTo>
                  <a:lnTo>
                    <a:pt x="743418" y="32425"/>
                  </a:lnTo>
                  <a:lnTo>
                    <a:pt x="585921" y="55198"/>
                  </a:lnTo>
                  <a:lnTo>
                    <a:pt x="450179" y="77098"/>
                  </a:lnTo>
                  <a:lnTo>
                    <a:pt x="312098" y="120810"/>
                  </a:lnTo>
                  <a:lnTo>
                    <a:pt x="245854" y="165632"/>
                  </a:lnTo>
                  <a:lnTo>
                    <a:pt x="176181" y="209801"/>
                  </a:lnTo>
                  <a:lnTo>
                    <a:pt x="185227" y="247949"/>
                  </a:lnTo>
                  <a:lnTo>
                    <a:pt x="270253" y="285613"/>
                  </a:lnTo>
                  <a:close/>
                </a:path>
              </a:pathLst>
            </a:custGeom>
            <a:solidFill>
              <a:srgbClr val="E6EBE2"/>
            </a:solidFill>
            <a:ln w="4403">
              <a:solidFill>
                <a:srgbClr val="B6C3B3"/>
              </a:solidFill>
              <a:prstDash val="solid"/>
            </a:ln>
          </p:spPr>
          <p:txBody>
            <a:bodyPr/>
            <a:p/>
          </p:txBody>
        </p:sp>
        <p:sp>
          <p:nvSpPr>
            <p:cNvPr id="117" name="land-101">
              <a:extLst>
                <a:ext uri="{FF2B5EF4-FFF2-40B4-BE49-F238E27FC236}">
                  <a16:creationId xmlns:a16="http://schemas.microsoft.com/office/drawing/2014/main" id="{F9A31C2D-5D80-4D19-A0F3-0ED383AA1CE1}"/>
                </a:ext>
              </a:extLst>
            </p:cNvPr>
            <p:cNvSpPr>
              <a:spLocks/>
            </p:cNvSpPr>
            <p:nvPr/>
          </p:nvSpPr>
          <p:spPr>
            <a:xfrm>
              <a:off x="9663968" y="668434"/>
              <a:ext cx="546437" cy="90430"/>
            </a:xfrm>
            <a:custGeom>
              <a:avLst/>
              <a:gdLst/>
              <a:ahLst/>
              <a:cxnLst/>
              <a:rect l="0" t="0" r="0" b="0"/>
              <a:pathLst>
                <a:path w="768427" h="127168">
                  <a:moveTo>
                    <a:pt x="108338" y="2917"/>
                  </a:moveTo>
                  <a:lnTo>
                    <a:pt x="157685" y="17685"/>
                  </a:lnTo>
                  <a:lnTo>
                    <a:pt x="245202" y="17583"/>
                  </a:lnTo>
                  <a:lnTo>
                    <a:pt x="283570" y="32688"/>
                  </a:lnTo>
                  <a:lnTo>
                    <a:pt x="273444" y="49937"/>
                  </a:lnTo>
                  <a:lnTo>
                    <a:pt x="324447" y="60327"/>
                  </a:lnTo>
                  <a:lnTo>
                    <a:pt x="352679" y="71239"/>
                  </a:lnTo>
                  <a:lnTo>
                    <a:pt x="412634" y="73258"/>
                  </a:lnTo>
                  <a:lnTo>
                    <a:pt x="477490" y="77105"/>
                  </a:lnTo>
                  <a:lnTo>
                    <a:pt x="548146" y="67150"/>
                  </a:lnTo>
                  <a:lnTo>
                    <a:pt x="638655" y="63241"/>
                  </a:lnTo>
                  <a:lnTo>
                    <a:pt x="710882" y="66471"/>
                  </a:lnTo>
                  <a:lnTo>
                    <a:pt x="758489" y="83790"/>
                  </a:lnTo>
                  <a:lnTo>
                    <a:pt x="768427" y="102790"/>
                  </a:lnTo>
                  <a:lnTo>
                    <a:pt x="740697" y="114998"/>
                  </a:lnTo>
                  <a:lnTo>
                    <a:pt x="674419" y="124864"/>
                  </a:lnTo>
                  <a:lnTo>
                    <a:pt x="617521" y="119281"/>
                  </a:lnTo>
                  <a:lnTo>
                    <a:pt x="490014" y="126354"/>
                  </a:lnTo>
                  <a:lnTo>
                    <a:pt x="398762" y="127168"/>
                  </a:lnTo>
                  <a:lnTo>
                    <a:pt x="327003" y="121508"/>
                  </a:lnTo>
                  <a:lnTo>
                    <a:pt x="208868" y="106711"/>
                  </a:lnTo>
                  <a:lnTo>
                    <a:pt x="193495" y="81495"/>
                  </a:lnTo>
                  <a:lnTo>
                    <a:pt x="188089" y="58725"/>
                  </a:lnTo>
                  <a:lnTo>
                    <a:pt x="143465" y="38675"/>
                  </a:lnTo>
                  <a:lnTo>
                    <a:pt x="51514" y="33066"/>
                  </a:lnTo>
                  <a:lnTo>
                    <a:pt x="0" y="18843"/>
                  </a:lnTo>
                  <a:lnTo>
                    <a:pt x="16725" y="0"/>
                  </a:lnTo>
                  <a:lnTo>
                    <a:pt x="108338" y="2917"/>
                  </a:lnTo>
                  <a:close/>
                </a:path>
              </a:pathLst>
            </a:custGeom>
            <a:solidFill>
              <a:srgbClr val="E6EBE2"/>
            </a:solidFill>
            <a:ln w="4403">
              <a:solidFill>
                <a:srgbClr val="B6C3B3"/>
              </a:solidFill>
              <a:prstDash val="solid"/>
            </a:ln>
          </p:spPr>
          <p:txBody>
            <a:bodyPr/>
            <a:p/>
          </p:txBody>
        </p:sp>
        <p:sp>
          <p:nvSpPr>
            <p:cNvPr id="118" name="land-102">
              <a:extLst>
                <a:ext uri="{FF2B5EF4-FFF2-40B4-BE49-F238E27FC236}">
                  <a16:creationId xmlns:a16="http://schemas.microsoft.com/office/drawing/2014/main" id="{04DCBEAA-E4AD-4501-BB18-0DF56C726276}"/>
                </a:ext>
              </a:extLst>
            </p:cNvPr>
            <p:cNvSpPr>
              <a:spLocks/>
            </p:cNvSpPr>
            <p:nvPr/>
          </p:nvSpPr>
          <p:spPr>
            <a:xfrm>
              <a:off x="8850559" y="652632"/>
              <a:ext cx="210399" cy="56995"/>
            </a:xfrm>
            <a:custGeom>
              <a:avLst/>
              <a:gdLst/>
              <a:ahLst/>
              <a:cxnLst/>
              <a:rect l="0" t="0" r="0" b="0"/>
              <a:pathLst>
                <a:path w="295874" h="80150">
                  <a:moveTo>
                    <a:pt x="295874" y="0"/>
                  </a:moveTo>
                  <a:lnTo>
                    <a:pt x="289775" y="35285"/>
                  </a:lnTo>
                  <a:lnTo>
                    <a:pt x="255537" y="51217"/>
                  </a:lnTo>
                  <a:lnTo>
                    <a:pt x="214005" y="53461"/>
                  </a:lnTo>
                  <a:lnTo>
                    <a:pt x="131377" y="73115"/>
                  </a:lnTo>
                  <a:lnTo>
                    <a:pt x="60227" y="80150"/>
                  </a:lnTo>
                  <a:lnTo>
                    <a:pt x="0" y="70206"/>
                  </a:lnTo>
                  <a:lnTo>
                    <a:pt x="0" y="70206"/>
                  </a:lnTo>
                  <a:lnTo>
                    <a:pt x="75449" y="35857"/>
                  </a:lnTo>
                  <a:lnTo>
                    <a:pt x="166731" y="6111"/>
                  </a:lnTo>
                  <a:lnTo>
                    <a:pt x="234909" y="6749"/>
                  </a:lnTo>
                  <a:lnTo>
                    <a:pt x="295874" y="0"/>
                  </a:lnTo>
                  <a:close/>
                </a:path>
              </a:pathLst>
            </a:custGeom>
            <a:solidFill>
              <a:srgbClr val="E6EBE2"/>
            </a:solidFill>
            <a:ln w="4403">
              <a:solidFill>
                <a:srgbClr val="B6C3B3"/>
              </a:solidFill>
              <a:prstDash val="solid"/>
            </a:ln>
          </p:spPr>
          <p:txBody>
            <a:bodyPr/>
            <a:p/>
          </p:txBody>
        </p:sp>
        <p:sp>
          <p:nvSpPr>
            <p:cNvPr id="119" name="land-103">
              <a:extLst>
                <a:ext uri="{FF2B5EF4-FFF2-40B4-BE49-F238E27FC236}">
                  <a16:creationId xmlns:a16="http://schemas.microsoft.com/office/drawing/2014/main" id="{D309E098-15BF-4A9D-ACDD-3513CA7C896E}"/>
                </a:ext>
              </a:extLst>
            </p:cNvPr>
            <p:cNvSpPr>
              <a:spLocks/>
            </p:cNvSpPr>
            <p:nvPr/>
          </p:nvSpPr>
          <p:spPr>
            <a:xfrm>
              <a:off x="797560" y="650914"/>
              <a:ext cx="6246707" cy="3674483"/>
            </a:xfrm>
            <a:custGeom>
              <a:avLst/>
              <a:gdLst/>
              <a:ahLst/>
              <a:cxnLst/>
              <a:rect l="0" t="0" r="0" b="0"/>
              <a:pathLst>
                <a:path w="8784431" h="5167241">
                  <a:moveTo>
                    <a:pt x="5538260" y="33229"/>
                  </a:moveTo>
                  <a:lnTo>
                    <a:pt x="5550254" y="55925"/>
                  </a:lnTo>
                  <a:lnTo>
                    <a:pt x="5590873" y="44755"/>
                  </a:lnTo>
                  <a:lnTo>
                    <a:pt x="5720816" y="45364"/>
                  </a:lnTo>
                  <a:lnTo>
                    <a:pt x="5821016" y="67765"/>
                  </a:lnTo>
                  <a:lnTo>
                    <a:pt x="5856700" y="84967"/>
                  </a:lnTo>
                  <a:lnTo>
                    <a:pt x="5845642" y="108840"/>
                  </a:lnTo>
                  <a:lnTo>
                    <a:pt x="5796471" y="122432"/>
                  </a:lnTo>
                  <a:lnTo>
                    <a:pt x="5679657" y="147930"/>
                  </a:lnTo>
                  <a:lnTo>
                    <a:pt x="5646265" y="161550"/>
                  </a:lnTo>
                  <a:lnTo>
                    <a:pt x="5701383" y="167980"/>
                  </a:lnTo>
                  <a:lnTo>
                    <a:pt x="5767135" y="179570"/>
                  </a:lnTo>
                  <a:lnTo>
                    <a:pt x="5807147" y="170881"/>
                  </a:lnTo>
                  <a:lnTo>
                    <a:pt x="5829827" y="200357"/>
                  </a:lnTo>
                  <a:lnTo>
                    <a:pt x="5849348" y="188425"/>
                  </a:lnTo>
                  <a:lnTo>
                    <a:pt x="5920423" y="181168"/>
                  </a:lnTo>
                  <a:lnTo>
                    <a:pt x="6063038" y="188756"/>
                  </a:lnTo>
                  <a:lnTo>
                    <a:pt x="6073874" y="210229"/>
                  </a:lnTo>
                  <a:lnTo>
                    <a:pt x="6259702" y="217063"/>
                  </a:lnTo>
                  <a:lnTo>
                    <a:pt x="6262244" y="181987"/>
                  </a:lnTo>
                  <a:lnTo>
                    <a:pt x="6356578" y="190023"/>
                  </a:lnTo>
                  <a:lnTo>
                    <a:pt x="6427537" y="189776"/>
                  </a:lnTo>
                  <a:lnTo>
                    <a:pt x="6499315" y="213969"/>
                  </a:lnTo>
                  <a:lnTo>
                    <a:pt x="6519779" y="243361"/>
                  </a:lnTo>
                  <a:lnTo>
                    <a:pt x="6493482" y="262584"/>
                  </a:lnTo>
                  <a:lnTo>
                    <a:pt x="6549313" y="298725"/>
                  </a:lnTo>
                  <a:lnTo>
                    <a:pt x="6619214" y="317371"/>
                  </a:lnTo>
                  <a:lnTo>
                    <a:pt x="6662098" y="269187"/>
                  </a:lnTo>
                  <a:lnTo>
                    <a:pt x="6733407" y="289845"/>
                  </a:lnTo>
                  <a:lnTo>
                    <a:pt x="6809165" y="277501"/>
                  </a:lnTo>
                  <a:lnTo>
                    <a:pt x="6895203" y="291625"/>
                  </a:lnTo>
                  <a:lnTo>
                    <a:pt x="6927938" y="278748"/>
                  </a:lnTo>
                  <a:lnTo>
                    <a:pt x="7000647" y="285187"/>
                  </a:lnTo>
                  <a:lnTo>
                    <a:pt x="6968555" y="242551"/>
                  </a:lnTo>
                  <a:lnTo>
                    <a:pt x="7027237" y="222658"/>
                  </a:lnTo>
                  <a:lnTo>
                    <a:pt x="7428712" y="252482"/>
                  </a:lnTo>
                  <a:lnTo>
                    <a:pt x="7466547" y="279741"/>
                  </a:lnTo>
                  <a:lnTo>
                    <a:pt x="7582898" y="314837"/>
                  </a:lnTo>
                  <a:lnTo>
                    <a:pt x="7762388" y="306148"/>
                  </a:lnTo>
                  <a:lnTo>
                    <a:pt x="7850889" y="313716"/>
                  </a:lnTo>
                  <a:lnTo>
                    <a:pt x="7887889" y="332700"/>
                  </a:lnTo>
                  <a:lnTo>
                    <a:pt x="7882482" y="366280"/>
                  </a:lnTo>
                  <a:lnTo>
                    <a:pt x="7937244" y="379359"/>
                  </a:lnTo>
                  <a:lnTo>
                    <a:pt x="7996738" y="369955"/>
                  </a:lnTo>
                  <a:lnTo>
                    <a:pt x="8075564" y="368752"/>
                  </a:lnTo>
                  <a:lnTo>
                    <a:pt x="8159486" y="377761"/>
                  </a:lnTo>
                  <a:lnTo>
                    <a:pt x="8243728" y="372682"/>
                  </a:lnTo>
                  <a:lnTo>
                    <a:pt x="8321160" y="413499"/>
                  </a:lnTo>
                  <a:lnTo>
                    <a:pt x="8376242" y="398814"/>
                  </a:lnTo>
                  <a:lnTo>
                    <a:pt x="8340300" y="369459"/>
                  </a:lnTo>
                  <a:lnTo>
                    <a:pt x="8360089" y="349059"/>
                  </a:lnTo>
                  <a:lnTo>
                    <a:pt x="8501904" y="361899"/>
                  </a:lnTo>
                  <a:lnTo>
                    <a:pt x="8594368" y="359152"/>
                  </a:lnTo>
                  <a:lnTo>
                    <a:pt x="8722206" y="381069"/>
                  </a:lnTo>
                  <a:lnTo>
                    <a:pt x="8784431" y="401108"/>
                  </a:lnTo>
                  <a:lnTo>
                    <a:pt x="8784431" y="584076"/>
                  </a:lnTo>
                  <a:lnTo>
                    <a:pt x="8784117" y="584319"/>
                  </a:lnTo>
                  <a:lnTo>
                    <a:pt x="8726970" y="604497"/>
                  </a:lnTo>
                  <a:lnTo>
                    <a:pt x="8669364" y="601128"/>
                  </a:lnTo>
                  <a:lnTo>
                    <a:pt x="8709449" y="625576"/>
                  </a:lnTo>
                  <a:lnTo>
                    <a:pt x="8735906" y="663411"/>
                  </a:lnTo>
                  <a:lnTo>
                    <a:pt x="8756449" y="675780"/>
                  </a:lnTo>
                  <a:lnTo>
                    <a:pt x="8761607" y="694776"/>
                  </a:lnTo>
                  <a:lnTo>
                    <a:pt x="8750128" y="706946"/>
                  </a:lnTo>
                  <a:lnTo>
                    <a:pt x="8667275" y="696943"/>
                  </a:lnTo>
                  <a:lnTo>
                    <a:pt x="8543036" y="731506"/>
                  </a:lnTo>
                  <a:lnTo>
                    <a:pt x="8503512" y="736860"/>
                  </a:lnTo>
                  <a:lnTo>
                    <a:pt x="8435503" y="769128"/>
                  </a:lnTo>
                  <a:lnTo>
                    <a:pt x="8370979" y="797315"/>
                  </a:lnTo>
                  <a:lnTo>
                    <a:pt x="8354639" y="818183"/>
                  </a:lnTo>
                  <a:lnTo>
                    <a:pt x="8291059" y="786422"/>
                  </a:lnTo>
                  <a:lnTo>
                    <a:pt x="8175249" y="822463"/>
                  </a:lnTo>
                  <a:lnTo>
                    <a:pt x="8155023" y="805407"/>
                  </a:lnTo>
                  <a:lnTo>
                    <a:pt x="8112209" y="825081"/>
                  </a:lnTo>
                  <a:lnTo>
                    <a:pt x="8052753" y="818788"/>
                  </a:lnTo>
                  <a:lnTo>
                    <a:pt x="8038431" y="848988"/>
                  </a:lnTo>
                  <a:lnTo>
                    <a:pt x="7985099" y="893435"/>
                  </a:lnTo>
                  <a:lnTo>
                    <a:pt x="7986692" y="911996"/>
                  </a:lnTo>
                  <a:lnTo>
                    <a:pt x="8037311" y="922283"/>
                  </a:lnTo>
                  <a:lnTo>
                    <a:pt x="8031356" y="989140"/>
                  </a:lnTo>
                  <a:lnTo>
                    <a:pt x="7990096" y="990838"/>
                  </a:lnTo>
                  <a:lnTo>
                    <a:pt x="7971062" y="1029259"/>
                  </a:lnTo>
                  <a:lnTo>
                    <a:pt x="7989554" y="1049026"/>
                  </a:lnTo>
                  <a:lnTo>
                    <a:pt x="7911829" y="1072484"/>
                  </a:lnTo>
                  <a:lnTo>
                    <a:pt x="7896397" y="1124919"/>
                  </a:lnTo>
                  <a:lnTo>
                    <a:pt x="7830129" y="1136126"/>
                  </a:lnTo>
                  <a:lnTo>
                    <a:pt x="7816814" y="1182784"/>
                  </a:lnTo>
                  <a:lnTo>
                    <a:pt x="7752743" y="1225566"/>
                  </a:lnTo>
                  <a:lnTo>
                    <a:pt x="7736305" y="1193926"/>
                  </a:lnTo>
                  <a:lnTo>
                    <a:pt x="7717270" y="1126932"/>
                  </a:lnTo>
                  <a:lnTo>
                    <a:pt x="7692460" y="1024878"/>
                  </a:lnTo>
                  <a:lnTo>
                    <a:pt x="7713830" y="961191"/>
                  </a:lnTo>
                  <a:lnTo>
                    <a:pt x="7751338" y="933784"/>
                  </a:lnTo>
                  <a:lnTo>
                    <a:pt x="7753657" y="912318"/>
                  </a:lnTo>
                  <a:lnTo>
                    <a:pt x="7822725" y="902048"/>
                  </a:lnTo>
                  <a:lnTo>
                    <a:pt x="7902130" y="844223"/>
                  </a:lnTo>
                  <a:lnTo>
                    <a:pt x="7978645" y="797004"/>
                  </a:lnTo>
                  <a:lnTo>
                    <a:pt x="8058548" y="760363"/>
                  </a:lnTo>
                  <a:lnTo>
                    <a:pt x="8094287" y="695620"/>
                  </a:lnTo>
                  <a:lnTo>
                    <a:pt x="8040271" y="699496"/>
                  </a:lnTo>
                  <a:lnTo>
                    <a:pt x="8013575" y="737328"/>
                  </a:lnTo>
                  <a:lnTo>
                    <a:pt x="7900833" y="787762"/>
                  </a:lnTo>
                  <a:lnTo>
                    <a:pt x="7864419" y="731285"/>
                  </a:lnTo>
                  <a:lnTo>
                    <a:pt x="7749666" y="746881"/>
                  </a:lnTo>
                  <a:lnTo>
                    <a:pt x="7638425" y="823859"/>
                  </a:lnTo>
                  <a:lnTo>
                    <a:pt x="7675132" y="852021"/>
                  </a:lnTo>
                  <a:lnTo>
                    <a:pt x="7575920" y="864015"/>
                  </a:lnTo>
                  <a:lnTo>
                    <a:pt x="7507191" y="868746"/>
                  </a:lnTo>
                  <a:lnTo>
                    <a:pt x="7510409" y="835533"/>
                  </a:lnTo>
                  <a:lnTo>
                    <a:pt x="7441316" y="828571"/>
                  </a:lnTo>
                  <a:lnTo>
                    <a:pt x="7386253" y="851129"/>
                  </a:lnTo>
                  <a:lnTo>
                    <a:pt x="7250342" y="843230"/>
                  </a:lnTo>
                  <a:lnTo>
                    <a:pt x="7104127" y="856842"/>
                  </a:lnTo>
                  <a:lnTo>
                    <a:pt x="6960136" y="946487"/>
                  </a:lnTo>
                  <a:lnTo>
                    <a:pt x="6789794" y="1054794"/>
                  </a:lnTo>
                  <a:lnTo>
                    <a:pt x="6859823" y="1060579"/>
                  </a:lnTo>
                  <a:lnTo>
                    <a:pt x="6881681" y="1089347"/>
                  </a:lnTo>
                  <a:lnTo>
                    <a:pt x="6924851" y="1099549"/>
                  </a:lnTo>
                  <a:lnTo>
                    <a:pt x="6953300" y="1076607"/>
                  </a:lnTo>
                  <a:lnTo>
                    <a:pt x="7002052" y="1079592"/>
                  </a:lnTo>
                  <a:lnTo>
                    <a:pt x="7066229" y="1130108"/>
                  </a:lnTo>
                  <a:lnTo>
                    <a:pt x="7067740" y="1169181"/>
                  </a:lnTo>
                  <a:lnTo>
                    <a:pt x="7032989" y="1215069"/>
                  </a:lnTo>
                  <a:lnTo>
                    <a:pt x="7029240" y="1269912"/>
                  </a:lnTo>
                  <a:lnTo>
                    <a:pt x="7009190" y="1343333"/>
                  </a:lnTo>
                  <a:lnTo>
                    <a:pt x="6942187" y="1409787"/>
                  </a:lnTo>
                  <a:lnTo>
                    <a:pt x="6927298" y="1441556"/>
                  </a:lnTo>
                  <a:lnTo>
                    <a:pt x="6866961" y="1495031"/>
                  </a:lnTo>
                  <a:lnTo>
                    <a:pt x="6807087" y="1548047"/>
                  </a:lnTo>
                  <a:lnTo>
                    <a:pt x="6778381" y="1575177"/>
                  </a:lnTo>
                  <a:lnTo>
                    <a:pt x="6719148" y="1602125"/>
                  </a:lnTo>
                  <a:lnTo>
                    <a:pt x="6691117" y="1602722"/>
                  </a:lnTo>
                  <a:lnTo>
                    <a:pt x="6663192" y="1580404"/>
                  </a:lnTo>
                  <a:lnTo>
                    <a:pt x="6603533" y="1614012"/>
                  </a:lnTo>
                  <a:lnTo>
                    <a:pt x="6596606" y="1629286"/>
                  </a:lnTo>
                  <a:lnTo>
                    <a:pt x="6579715" y="1626530"/>
                  </a:lnTo>
                  <a:lnTo>
                    <a:pt x="6560415" y="1642090"/>
                  </a:lnTo>
                  <a:lnTo>
                    <a:pt x="6547151" y="1657713"/>
                  </a:lnTo>
                  <a:lnTo>
                    <a:pt x="6548833" y="1690696"/>
                  </a:lnTo>
                  <a:lnTo>
                    <a:pt x="6525843" y="1700843"/>
                  </a:lnTo>
                  <a:lnTo>
                    <a:pt x="6517948" y="1708946"/>
                  </a:lnTo>
                  <a:lnTo>
                    <a:pt x="6501190" y="1722521"/>
                  </a:lnTo>
                  <a:lnTo>
                    <a:pt x="6471588" y="1730070"/>
                  </a:lnTo>
                  <a:lnTo>
                    <a:pt x="6452296" y="1742406"/>
                  </a:lnTo>
                  <a:lnTo>
                    <a:pt x="6450898" y="1762290"/>
                  </a:lnTo>
                  <a:lnTo>
                    <a:pt x="6445717" y="1767361"/>
                  </a:lnTo>
                  <a:lnTo>
                    <a:pt x="6463400" y="1774828"/>
                  </a:lnTo>
                  <a:lnTo>
                    <a:pt x="6488574" y="1794970"/>
                  </a:lnTo>
                  <a:lnTo>
                    <a:pt x="6526944" y="1849152"/>
                  </a:lnTo>
                  <a:lnTo>
                    <a:pt x="6537951" y="1878919"/>
                  </a:lnTo>
                  <a:lnTo>
                    <a:pt x="6538298" y="1931834"/>
                  </a:lnTo>
                  <a:lnTo>
                    <a:pt x="6521548" y="1957072"/>
                  </a:lnTo>
                  <a:lnTo>
                    <a:pt x="6481295" y="1965890"/>
                  </a:lnTo>
                  <a:lnTo>
                    <a:pt x="6445760" y="1984939"/>
                  </a:lnTo>
                  <a:lnTo>
                    <a:pt x="6405721" y="1988872"/>
                  </a:lnTo>
                  <a:lnTo>
                    <a:pt x="6400751" y="1963861"/>
                  </a:lnTo>
                  <a:lnTo>
                    <a:pt x="6408993" y="1929418"/>
                  </a:lnTo>
                  <a:lnTo>
                    <a:pt x="6389354" y="1881619"/>
                  </a:lnTo>
                  <a:lnTo>
                    <a:pt x="6422371" y="1873885"/>
                  </a:lnTo>
                  <a:lnTo>
                    <a:pt x="6391896" y="1834585"/>
                  </a:lnTo>
                  <a:lnTo>
                    <a:pt x="6370311" y="1825839"/>
                  </a:lnTo>
                  <a:lnTo>
                    <a:pt x="6364950" y="1834475"/>
                  </a:lnTo>
                  <a:lnTo>
                    <a:pt x="6351920" y="1838285"/>
                  </a:lnTo>
                  <a:lnTo>
                    <a:pt x="6350354" y="1829643"/>
                  </a:lnTo>
                  <a:lnTo>
                    <a:pt x="6338840" y="1825436"/>
                  </a:lnTo>
                  <a:lnTo>
                    <a:pt x="6326892" y="1818117"/>
                  </a:lnTo>
                  <a:lnTo>
                    <a:pt x="6339063" y="1797899"/>
                  </a:lnTo>
                  <a:lnTo>
                    <a:pt x="6349546" y="1792509"/>
                  </a:lnTo>
                  <a:lnTo>
                    <a:pt x="6345587" y="1784114"/>
                  </a:lnTo>
                  <a:lnTo>
                    <a:pt x="6356871" y="1759352"/>
                  </a:lnTo>
                  <a:lnTo>
                    <a:pt x="6353954" y="1751838"/>
                  </a:lnTo>
                  <a:lnTo>
                    <a:pt x="6328013" y="1746843"/>
                  </a:lnTo>
                  <a:lnTo>
                    <a:pt x="6307041" y="1734524"/>
                  </a:lnTo>
                  <a:lnTo>
                    <a:pt x="6244899" y="1747871"/>
                  </a:lnTo>
                  <a:lnTo>
                    <a:pt x="6212178" y="1769337"/>
                  </a:lnTo>
                  <a:lnTo>
                    <a:pt x="6164312" y="1781872"/>
                  </a:lnTo>
                  <a:lnTo>
                    <a:pt x="6187934" y="1760591"/>
                  </a:lnTo>
                  <a:lnTo>
                    <a:pt x="6178634" y="1742708"/>
                  </a:lnTo>
                  <a:lnTo>
                    <a:pt x="6213830" y="1711839"/>
                  </a:lnTo>
                  <a:lnTo>
                    <a:pt x="6190352" y="1687775"/>
                  </a:lnTo>
                  <a:lnTo>
                    <a:pt x="6151599" y="1703985"/>
                  </a:lnTo>
                  <a:lnTo>
                    <a:pt x="6101416" y="1735922"/>
                  </a:lnTo>
                  <a:lnTo>
                    <a:pt x="6074026" y="1765578"/>
                  </a:lnTo>
                  <a:lnTo>
                    <a:pt x="6030430" y="1767784"/>
                  </a:lnTo>
                  <a:lnTo>
                    <a:pt x="6007760" y="1789213"/>
                  </a:lnTo>
                  <a:lnTo>
                    <a:pt x="6031185" y="1820264"/>
                  </a:lnTo>
                  <a:lnTo>
                    <a:pt x="6067572" y="1827807"/>
                  </a:lnTo>
                  <a:lnTo>
                    <a:pt x="6069056" y="1848417"/>
                  </a:lnTo>
                  <a:lnTo>
                    <a:pt x="6104224" y="1861827"/>
                  </a:lnTo>
                  <a:lnTo>
                    <a:pt x="6154035" y="1829037"/>
                  </a:lnTo>
                  <a:lnTo>
                    <a:pt x="6193499" y="1846920"/>
                  </a:lnTo>
                  <a:lnTo>
                    <a:pt x="6222240" y="1848140"/>
                  </a:lnTo>
                  <a:lnTo>
                    <a:pt x="6229449" y="1872195"/>
                  </a:lnTo>
                  <a:lnTo>
                    <a:pt x="6166518" y="1885027"/>
                  </a:lnTo>
                  <a:lnTo>
                    <a:pt x="6145750" y="1909817"/>
                  </a:lnTo>
                  <a:lnTo>
                    <a:pt x="6102526" y="1932852"/>
                  </a:lnTo>
                  <a:lnTo>
                    <a:pt x="6079707" y="1964999"/>
                  </a:lnTo>
                  <a:lnTo>
                    <a:pt x="6127543" y="1990231"/>
                  </a:lnTo>
                  <a:lnTo>
                    <a:pt x="6145012" y="2035410"/>
                  </a:lnTo>
                  <a:lnTo>
                    <a:pt x="6172066" y="2077494"/>
                  </a:lnTo>
                  <a:lnTo>
                    <a:pt x="6202245" y="2112764"/>
                  </a:lnTo>
                  <a:lnTo>
                    <a:pt x="6201527" y="2146888"/>
                  </a:lnTo>
                  <a:lnTo>
                    <a:pt x="6173629" y="2159422"/>
                  </a:lnTo>
                  <a:lnTo>
                    <a:pt x="6184261" y="2183921"/>
                  </a:lnTo>
                  <a:lnTo>
                    <a:pt x="6210425" y="2198174"/>
                  </a:lnTo>
                  <a:lnTo>
                    <a:pt x="6203597" y="2235574"/>
                  </a:lnTo>
                  <a:lnTo>
                    <a:pt x="6192308" y="2271974"/>
                  </a:lnTo>
                  <a:lnTo>
                    <a:pt x="6167467" y="2276100"/>
                  </a:lnTo>
                  <a:lnTo>
                    <a:pt x="6135012" y="2325808"/>
                  </a:lnTo>
                  <a:lnTo>
                    <a:pt x="6099007" y="2386077"/>
                  </a:lnTo>
                  <a:lnTo>
                    <a:pt x="6057731" y="2440884"/>
                  </a:lnTo>
                  <a:lnTo>
                    <a:pt x="5996602" y="2483271"/>
                  </a:lnTo>
                  <a:lnTo>
                    <a:pt x="5934772" y="2521921"/>
                  </a:lnTo>
                  <a:lnTo>
                    <a:pt x="5884687" y="2527194"/>
                  </a:lnTo>
                  <a:lnTo>
                    <a:pt x="5857511" y="2547594"/>
                  </a:lnTo>
                  <a:lnTo>
                    <a:pt x="5842147" y="2532696"/>
                  </a:lnTo>
                  <a:lnTo>
                    <a:pt x="5816998" y="2555509"/>
                  </a:lnTo>
                  <a:lnTo>
                    <a:pt x="5754883" y="2578519"/>
                  </a:lnTo>
                  <a:lnTo>
                    <a:pt x="5707848" y="2585555"/>
                  </a:lnTo>
                  <a:lnTo>
                    <a:pt x="5692671" y="2634058"/>
                  </a:lnTo>
                  <a:lnTo>
                    <a:pt x="5668037" y="2636751"/>
                  </a:lnTo>
                  <a:lnTo>
                    <a:pt x="5656382" y="2603418"/>
                  </a:lnTo>
                  <a:lnTo>
                    <a:pt x="5666908" y="2585656"/>
                  </a:lnTo>
                  <a:lnTo>
                    <a:pt x="5607274" y="2570951"/>
                  </a:lnTo>
                  <a:lnTo>
                    <a:pt x="5586267" y="2578427"/>
                  </a:lnTo>
                  <a:lnTo>
                    <a:pt x="5526917" y="2617719"/>
                  </a:lnTo>
                  <a:lnTo>
                    <a:pt x="5489873" y="2661109"/>
                  </a:lnTo>
                  <a:lnTo>
                    <a:pt x="5480112" y="2692971"/>
                  </a:lnTo>
                  <a:lnTo>
                    <a:pt x="5514106" y="2741384"/>
                  </a:lnTo>
                  <a:lnTo>
                    <a:pt x="5555667" y="2801387"/>
                  </a:lnTo>
                  <a:lnTo>
                    <a:pt x="5596009" y="2829759"/>
                  </a:lnTo>
                  <a:lnTo>
                    <a:pt x="5623017" y="2866638"/>
                  </a:lnTo>
                  <a:lnTo>
                    <a:pt x="5643387" y="2951625"/>
                  </a:lnTo>
                  <a:lnTo>
                    <a:pt x="5637374" y="3032415"/>
                  </a:lnTo>
                  <a:lnTo>
                    <a:pt x="5600304" y="3062659"/>
                  </a:lnTo>
                  <a:lnTo>
                    <a:pt x="5549400" y="3092225"/>
                  </a:lnTo>
                  <a:lnTo>
                    <a:pt x="5513138" y="3130508"/>
                  </a:lnTo>
                  <a:lnTo>
                    <a:pt x="5457719" y="3173273"/>
                  </a:lnTo>
                  <a:lnTo>
                    <a:pt x="5441582" y="3143817"/>
                  </a:lnTo>
                  <a:lnTo>
                    <a:pt x="5454073" y="3112706"/>
                  </a:lnTo>
                  <a:lnTo>
                    <a:pt x="5421099" y="3086614"/>
                  </a:lnTo>
                  <a:lnTo>
                    <a:pt x="5383887" y="3079909"/>
                  </a:lnTo>
                  <a:lnTo>
                    <a:pt x="5365813" y="3055982"/>
                  </a:lnTo>
                  <a:lnTo>
                    <a:pt x="5343338" y="3008542"/>
                  </a:lnTo>
                  <a:lnTo>
                    <a:pt x="5303422" y="2987455"/>
                  </a:lnTo>
                  <a:lnTo>
                    <a:pt x="5265410" y="2988318"/>
                  </a:lnTo>
                  <a:lnTo>
                    <a:pt x="5271926" y="2952238"/>
                  </a:lnTo>
                  <a:lnTo>
                    <a:pt x="5232783" y="2952505"/>
                  </a:lnTo>
                  <a:lnTo>
                    <a:pt x="5229261" y="3003012"/>
                  </a:lnTo>
                  <a:lnTo>
                    <a:pt x="5205268" y="3070090"/>
                  </a:lnTo>
                  <a:lnTo>
                    <a:pt x="5190813" y="3110660"/>
                  </a:lnTo>
                  <a:lnTo>
                    <a:pt x="5193870" y="3143898"/>
                  </a:lnTo>
                  <a:lnTo>
                    <a:pt x="5222826" y="3145342"/>
                  </a:lnTo>
                  <a:lnTo>
                    <a:pt x="5240865" y="3187252"/>
                  </a:lnTo>
                  <a:lnTo>
                    <a:pt x="5248847" y="3227004"/>
                  </a:lnTo>
                  <a:lnTo>
                    <a:pt x="5273649" y="3253310"/>
                  </a:lnTo>
                  <a:lnTo>
                    <a:pt x="5300578" y="3258644"/>
                  </a:lnTo>
                  <a:lnTo>
                    <a:pt x="5323612" y="3282480"/>
                  </a:lnTo>
                  <a:lnTo>
                    <a:pt x="5333835" y="3286769"/>
                  </a:lnTo>
                  <a:lnTo>
                    <a:pt x="5360080" y="3314499"/>
                  </a:lnTo>
                  <a:lnTo>
                    <a:pt x="5378729" y="3345239"/>
                  </a:lnTo>
                  <a:lnTo>
                    <a:pt x="5381282" y="3376165"/>
                  </a:lnTo>
                  <a:lnTo>
                    <a:pt x="5376543" y="3397061"/>
                  </a:lnTo>
                  <a:lnTo>
                    <a:pt x="5380873" y="3412850"/>
                  </a:lnTo>
                  <a:lnTo>
                    <a:pt x="5384117" y="3440028"/>
                  </a:lnTo>
                  <a:lnTo>
                    <a:pt x="5399772" y="3452683"/>
                  </a:lnTo>
                  <a:lnTo>
                    <a:pt x="5417252" y="3493290"/>
                  </a:lnTo>
                  <a:lnTo>
                    <a:pt x="5416405" y="3508822"/>
                  </a:lnTo>
                  <a:lnTo>
                    <a:pt x="5384883" y="3511888"/>
                  </a:lnTo>
                  <a:lnTo>
                    <a:pt x="5342834" y="3477868"/>
                  </a:lnTo>
                  <a:lnTo>
                    <a:pt x="5290247" y="3441413"/>
                  </a:lnTo>
                  <a:lnTo>
                    <a:pt x="5285046" y="3418019"/>
                  </a:lnTo>
                  <a:lnTo>
                    <a:pt x="5259346" y="3387307"/>
                  </a:lnTo>
                  <a:lnTo>
                    <a:pt x="5253212" y="3349273"/>
                  </a:lnTo>
                  <a:lnTo>
                    <a:pt x="5237175" y="3324234"/>
                  </a:lnTo>
                  <a:lnTo>
                    <a:pt x="5242045" y="3290791"/>
                  </a:lnTo>
                  <a:lnTo>
                    <a:pt x="5232248" y="3271330"/>
                  </a:lnTo>
                  <a:lnTo>
                    <a:pt x="5214682" y="3253702"/>
                  </a:lnTo>
                  <a:lnTo>
                    <a:pt x="5207083" y="3230962"/>
                  </a:lnTo>
                  <a:lnTo>
                    <a:pt x="5183460" y="3205034"/>
                  </a:lnTo>
                  <a:lnTo>
                    <a:pt x="5161930" y="3183255"/>
                  </a:lnTo>
                  <a:lnTo>
                    <a:pt x="5154632" y="3210250"/>
                  </a:lnTo>
                  <a:lnTo>
                    <a:pt x="5146203" y="3184735"/>
                  </a:lnTo>
                  <a:lnTo>
                    <a:pt x="5151056" y="3156088"/>
                  </a:lnTo>
                  <a:lnTo>
                    <a:pt x="5164136" y="3112037"/>
                  </a:lnTo>
                  <a:lnTo>
                    <a:pt x="5159857" y="3077952"/>
                  </a:lnTo>
                  <a:lnTo>
                    <a:pt x="5173514" y="3042775"/>
                  </a:lnTo>
                  <a:lnTo>
                    <a:pt x="5158568" y="3015597"/>
                  </a:lnTo>
                  <a:lnTo>
                    <a:pt x="5162188" y="2965567"/>
                  </a:lnTo>
                  <a:lnTo>
                    <a:pt x="5144141" y="2941778"/>
                  </a:lnTo>
                  <a:lnTo>
                    <a:pt x="5129650" y="2886817"/>
                  </a:lnTo>
                  <a:lnTo>
                    <a:pt x="5121623" y="2828795"/>
                  </a:lnTo>
                  <a:lnTo>
                    <a:pt x="5102401" y="2790770"/>
                  </a:lnTo>
                  <a:lnTo>
                    <a:pt x="5073119" y="2813796"/>
                  </a:lnTo>
                  <a:lnTo>
                    <a:pt x="5022598" y="2846532"/>
                  </a:lnTo>
                  <a:lnTo>
                    <a:pt x="4997668" y="2842443"/>
                  </a:lnTo>
                  <a:lnTo>
                    <a:pt x="4970128" y="2831671"/>
                  </a:lnTo>
                  <a:lnTo>
                    <a:pt x="4985446" y="2774762"/>
                  </a:lnTo>
                  <a:lnTo>
                    <a:pt x="4976173" y="2731767"/>
                  </a:lnTo>
                  <a:lnTo>
                    <a:pt x="4941332" y="2678816"/>
                  </a:lnTo>
                  <a:lnTo>
                    <a:pt x="4946766" y="2662256"/>
                  </a:lnTo>
                  <a:lnTo>
                    <a:pt x="4920762" y="2656369"/>
                  </a:lnTo>
                  <a:lnTo>
                    <a:pt x="4889212" y="2618913"/>
                  </a:lnTo>
                  <a:lnTo>
                    <a:pt x="4876516" y="2594967"/>
                  </a:lnTo>
                  <a:lnTo>
                    <a:pt x="4873957" y="2571573"/>
                  </a:lnTo>
                  <a:lnTo>
                    <a:pt x="4865493" y="2549475"/>
                  </a:lnTo>
                  <a:lnTo>
                    <a:pt x="4846922" y="2522740"/>
                  </a:lnTo>
                  <a:lnTo>
                    <a:pt x="4805983" y="2520901"/>
                  </a:lnTo>
                  <a:lnTo>
                    <a:pt x="4810028" y="2539832"/>
                  </a:lnTo>
                  <a:lnTo>
                    <a:pt x="4796061" y="2565384"/>
                  </a:lnTo>
                  <a:lnTo>
                    <a:pt x="4777151" y="2556078"/>
                  </a:lnTo>
                  <a:lnTo>
                    <a:pt x="4770689" y="2564437"/>
                  </a:lnTo>
                  <a:lnTo>
                    <a:pt x="4758101" y="2559422"/>
                  </a:lnTo>
                  <a:lnTo>
                    <a:pt x="4740908" y="2555316"/>
                  </a:lnTo>
                  <a:lnTo>
                    <a:pt x="4734544" y="2572081"/>
                  </a:lnTo>
                  <a:lnTo>
                    <a:pt x="4704299" y="2571501"/>
                  </a:lnTo>
                  <a:lnTo>
                    <a:pt x="4649501" y="2581045"/>
                  </a:lnTo>
                  <a:lnTo>
                    <a:pt x="4652052" y="2615589"/>
                  </a:lnTo>
                  <a:lnTo>
                    <a:pt x="4628326" y="2642758"/>
                  </a:lnTo>
                  <a:lnTo>
                    <a:pt x="4564362" y="2673664"/>
                  </a:lnTo>
                  <a:lnTo>
                    <a:pt x="4514613" y="2727697"/>
                  </a:lnTo>
                  <a:lnTo>
                    <a:pt x="4481194" y="2756666"/>
                  </a:lnTo>
                  <a:lnTo>
                    <a:pt x="4436904" y="2786728"/>
                  </a:lnTo>
                  <a:lnTo>
                    <a:pt x="4436834" y="2807854"/>
                  </a:lnTo>
                  <a:lnTo>
                    <a:pt x="4414671" y="2819169"/>
                  </a:lnTo>
                  <a:lnTo>
                    <a:pt x="4374641" y="2835620"/>
                  </a:lnTo>
                  <a:lnTo>
                    <a:pt x="4353873" y="2838045"/>
                  </a:lnTo>
                  <a:lnTo>
                    <a:pt x="4340546" y="2873076"/>
                  </a:lnTo>
                  <a:lnTo>
                    <a:pt x="4349800" y="2932805"/>
                  </a:lnTo>
                  <a:lnTo>
                    <a:pt x="4352158" y="2970903"/>
                  </a:lnTo>
                  <a:lnTo>
                    <a:pt x="4333319" y="3014532"/>
                  </a:lnTo>
                  <a:lnTo>
                    <a:pt x="4333123" y="3092556"/>
                  </a:lnTo>
                  <a:lnTo>
                    <a:pt x="4310117" y="3094779"/>
                  </a:lnTo>
                  <a:lnTo>
                    <a:pt x="4289892" y="3129810"/>
                  </a:lnTo>
                  <a:lnTo>
                    <a:pt x="4303413" y="3144938"/>
                  </a:lnTo>
                  <a:lnTo>
                    <a:pt x="4262892" y="3157961"/>
                  </a:lnTo>
                  <a:lnTo>
                    <a:pt x="4247921" y="3189197"/>
                  </a:lnTo>
                  <a:lnTo>
                    <a:pt x="4230081" y="3202396"/>
                  </a:lnTo>
                  <a:lnTo>
                    <a:pt x="4187994" y="3159514"/>
                  </a:lnTo>
                  <a:lnTo>
                    <a:pt x="4167415" y="3095202"/>
                  </a:lnTo>
                  <a:lnTo>
                    <a:pt x="4150364" y="3048883"/>
                  </a:lnTo>
                  <a:lnTo>
                    <a:pt x="4134789" y="3027159"/>
                  </a:lnTo>
                  <a:lnTo>
                    <a:pt x="4111177" y="2983046"/>
                  </a:lnTo>
                  <a:lnTo>
                    <a:pt x="4100144" y="2925604"/>
                  </a:lnTo>
                  <a:lnTo>
                    <a:pt x="4092463" y="2896919"/>
                  </a:lnTo>
                  <a:lnTo>
                    <a:pt x="4052031" y="2833846"/>
                  </a:lnTo>
                  <a:lnTo>
                    <a:pt x="4033610" y="2744846"/>
                  </a:lnTo>
                  <a:lnTo>
                    <a:pt x="4020321" y="2686081"/>
                  </a:lnTo>
                  <a:lnTo>
                    <a:pt x="4020481" y="2630459"/>
                  </a:lnTo>
                  <a:lnTo>
                    <a:pt x="4011865" y="2587447"/>
                  </a:lnTo>
                  <a:lnTo>
                    <a:pt x="3947173" y="2614936"/>
                  </a:lnTo>
                  <a:lnTo>
                    <a:pt x="3915846" y="2609433"/>
                  </a:lnTo>
                  <a:lnTo>
                    <a:pt x="3857777" y="2553774"/>
                  </a:lnTo>
                  <a:lnTo>
                    <a:pt x="3879147" y="2537178"/>
                  </a:lnTo>
                  <a:lnTo>
                    <a:pt x="3866024" y="2519146"/>
                  </a:lnTo>
                  <a:lnTo>
                    <a:pt x="3813885" y="2480168"/>
                  </a:lnTo>
                  <a:lnTo>
                    <a:pt x="3781305" y="2468558"/>
                  </a:lnTo>
                  <a:lnTo>
                    <a:pt x="3768049" y="2435547"/>
                  </a:lnTo>
                  <a:lnTo>
                    <a:pt x="3733708" y="2400572"/>
                  </a:lnTo>
                  <a:lnTo>
                    <a:pt x="3651813" y="2409213"/>
                  </a:lnTo>
                  <a:lnTo>
                    <a:pt x="3579590" y="2410068"/>
                  </a:lnTo>
                  <a:lnTo>
                    <a:pt x="3516995" y="2416507"/>
                  </a:lnTo>
                  <a:lnTo>
                    <a:pt x="3433366" y="2402646"/>
                  </a:lnTo>
                  <a:lnTo>
                    <a:pt x="3384907" y="2392084"/>
                  </a:lnTo>
                  <a:lnTo>
                    <a:pt x="3334740" y="2386122"/>
                  </a:lnTo>
                  <a:lnTo>
                    <a:pt x="3315787" y="2329810"/>
                  </a:lnTo>
                  <a:lnTo>
                    <a:pt x="3294506" y="2321673"/>
                  </a:lnTo>
                  <a:lnTo>
                    <a:pt x="3260349" y="2329875"/>
                  </a:lnTo>
                  <a:lnTo>
                    <a:pt x="3215517" y="2352102"/>
                  </a:lnTo>
                  <a:lnTo>
                    <a:pt x="3161200" y="2336865"/>
                  </a:lnTo>
                  <a:lnTo>
                    <a:pt x="3116332" y="2301579"/>
                  </a:lnTo>
                  <a:lnTo>
                    <a:pt x="3073534" y="2288497"/>
                  </a:lnTo>
                  <a:lnTo>
                    <a:pt x="3043851" y="2244925"/>
                  </a:lnTo>
                  <a:lnTo>
                    <a:pt x="3011048" y="2183691"/>
                  </a:lnTo>
                  <a:lnTo>
                    <a:pt x="2987125" y="2191138"/>
                  </a:lnTo>
                  <a:lnTo>
                    <a:pt x="2958871" y="2175921"/>
                  </a:lnTo>
                  <a:lnTo>
                    <a:pt x="2942284" y="2193840"/>
                  </a:lnTo>
                  <a:lnTo>
                    <a:pt x="2915897" y="2191590"/>
                  </a:lnTo>
                  <a:lnTo>
                    <a:pt x="2925178" y="2211861"/>
                  </a:lnTo>
                  <a:lnTo>
                    <a:pt x="2921204" y="2222341"/>
                  </a:lnTo>
                  <a:lnTo>
                    <a:pt x="2935526" y="2256975"/>
                  </a:lnTo>
                  <a:lnTo>
                    <a:pt x="2952933" y="2296581"/>
                  </a:lnTo>
                  <a:lnTo>
                    <a:pt x="2974802" y="2307070"/>
                  </a:lnTo>
                  <a:lnTo>
                    <a:pt x="2982412" y="2323198"/>
                  </a:lnTo>
                  <a:lnTo>
                    <a:pt x="3012711" y="2342505"/>
                  </a:lnTo>
                  <a:lnTo>
                    <a:pt x="3015402" y="2361453"/>
                  </a:lnTo>
                  <a:lnTo>
                    <a:pt x="3010967" y="2376746"/>
                  </a:lnTo>
                  <a:lnTo>
                    <a:pt x="3016596" y="2392177"/>
                  </a:lnTo>
                  <a:lnTo>
                    <a:pt x="3029380" y="2405045"/>
                  </a:lnTo>
                  <a:lnTo>
                    <a:pt x="3035300" y="2420109"/>
                  </a:lnTo>
                  <a:lnTo>
                    <a:pt x="3041941" y="2431360"/>
                  </a:lnTo>
                  <a:lnTo>
                    <a:pt x="3038997" y="2397945"/>
                  </a:lnTo>
                  <a:lnTo>
                    <a:pt x="3050981" y="2373854"/>
                  </a:lnTo>
                  <a:lnTo>
                    <a:pt x="3063116" y="2368912"/>
                  </a:lnTo>
                  <a:lnTo>
                    <a:pt x="3076567" y="2383314"/>
                  </a:lnTo>
                  <a:lnTo>
                    <a:pt x="3077349" y="2410197"/>
                  </a:lnTo>
                  <a:lnTo>
                    <a:pt x="3067704" y="2437210"/>
                  </a:lnTo>
                  <a:lnTo>
                    <a:pt x="3076141" y="2454753"/>
                  </a:lnTo>
                  <a:lnTo>
                    <a:pt x="3084052" y="2452519"/>
                  </a:lnTo>
                  <a:lnTo>
                    <a:pt x="3085697" y="2465113"/>
                  </a:lnTo>
                  <a:lnTo>
                    <a:pt x="3120483" y="2457876"/>
                  </a:lnTo>
                  <a:lnTo>
                    <a:pt x="3157244" y="2459078"/>
                  </a:lnTo>
                  <a:lnTo>
                    <a:pt x="3184092" y="2460429"/>
                  </a:lnTo>
                  <a:lnTo>
                    <a:pt x="3214540" y="2429384"/>
                  </a:lnTo>
                  <a:lnTo>
                    <a:pt x="3247699" y="2399938"/>
                  </a:lnTo>
                  <a:lnTo>
                    <a:pt x="3275784" y="2371631"/>
                  </a:lnTo>
                  <a:lnTo>
                    <a:pt x="3288728" y="2355999"/>
                  </a:lnTo>
                  <a:lnTo>
                    <a:pt x="3294221" y="2359984"/>
                  </a:lnTo>
                  <a:lnTo>
                    <a:pt x="3290032" y="2378949"/>
                  </a:lnTo>
                  <a:lnTo>
                    <a:pt x="3284238" y="2387280"/>
                  </a:lnTo>
                  <a:lnTo>
                    <a:pt x="3290274" y="2423562"/>
                  </a:lnTo>
                  <a:lnTo>
                    <a:pt x="3310204" y="2454927"/>
                  </a:lnTo>
                  <a:lnTo>
                    <a:pt x="3335017" y="2471597"/>
                  </a:lnTo>
                  <a:lnTo>
                    <a:pt x="3367625" y="2477603"/>
                  </a:lnTo>
                  <a:lnTo>
                    <a:pt x="3393949" y="2485973"/>
                  </a:lnTo>
                  <a:lnTo>
                    <a:pt x="3414004" y="2512296"/>
                  </a:lnTo>
                  <a:lnTo>
                    <a:pt x="3425987" y="2527553"/>
                  </a:lnTo>
                  <a:lnTo>
                    <a:pt x="3441902" y="2533366"/>
                  </a:lnTo>
                  <a:lnTo>
                    <a:pt x="3441820" y="2543616"/>
                  </a:lnTo>
                  <a:lnTo>
                    <a:pt x="3425642" y="2570988"/>
                  </a:lnTo>
                  <a:lnTo>
                    <a:pt x="3418537" y="2583873"/>
                  </a:lnTo>
                  <a:lnTo>
                    <a:pt x="3399806" y="2598561"/>
                  </a:lnTo>
                  <a:lnTo>
                    <a:pt x="3383227" y="2630018"/>
                  </a:lnTo>
                  <a:lnTo>
                    <a:pt x="3363056" y="2627611"/>
                  </a:lnTo>
                  <a:lnTo>
                    <a:pt x="3353818" y="2638559"/>
                  </a:lnTo>
                  <a:lnTo>
                    <a:pt x="3346680" y="2661844"/>
                  </a:lnTo>
                  <a:lnTo>
                    <a:pt x="3352139" y="2692539"/>
                  </a:lnTo>
                  <a:lnTo>
                    <a:pt x="3347953" y="2698187"/>
                  </a:lnTo>
                  <a:lnTo>
                    <a:pt x="3327497" y="2698030"/>
                  </a:lnTo>
                  <a:lnTo>
                    <a:pt x="3299732" y="2715198"/>
                  </a:lnTo>
                  <a:lnTo>
                    <a:pt x="3295404" y="2737572"/>
                  </a:lnTo>
                  <a:lnTo>
                    <a:pt x="3285233" y="2747262"/>
                  </a:lnTo>
                  <a:lnTo>
                    <a:pt x="3257585" y="2746886"/>
                  </a:lnTo>
                  <a:lnTo>
                    <a:pt x="3240186" y="2758457"/>
                  </a:lnTo>
                  <a:lnTo>
                    <a:pt x="3240401" y="2777013"/>
                  </a:lnTo>
                  <a:lnTo>
                    <a:pt x="3218895" y="2789761"/>
                  </a:lnTo>
                  <a:lnTo>
                    <a:pt x="3194369" y="2785424"/>
                  </a:lnTo>
                  <a:lnTo>
                    <a:pt x="3164640" y="2800919"/>
                  </a:lnTo>
                  <a:lnTo>
                    <a:pt x="3144113" y="2803518"/>
                  </a:lnTo>
                  <a:lnTo>
                    <a:pt x="3111959" y="2815854"/>
                  </a:lnTo>
                  <a:lnTo>
                    <a:pt x="3103353" y="2836245"/>
                  </a:lnTo>
                  <a:lnTo>
                    <a:pt x="3102311" y="2851906"/>
                  </a:lnTo>
                  <a:lnTo>
                    <a:pt x="3058048" y="2871294"/>
                  </a:lnTo>
                  <a:lnTo>
                    <a:pt x="2987027" y="2892723"/>
                  </a:lnTo>
                  <a:lnTo>
                    <a:pt x="2947227" y="2925117"/>
                  </a:lnTo>
                  <a:lnTo>
                    <a:pt x="2927658" y="2927651"/>
                  </a:lnTo>
                  <a:lnTo>
                    <a:pt x="2914316" y="2924932"/>
                  </a:lnTo>
                  <a:lnTo>
                    <a:pt x="2888338" y="2943992"/>
                  </a:lnTo>
                  <a:lnTo>
                    <a:pt x="2860006" y="2952835"/>
                  </a:lnTo>
                  <a:lnTo>
                    <a:pt x="2822694" y="2955215"/>
                  </a:lnTo>
                  <a:lnTo>
                    <a:pt x="2811468" y="2957825"/>
                  </a:lnTo>
                  <a:lnTo>
                    <a:pt x="2801750" y="2969956"/>
                  </a:lnTo>
                  <a:lnTo>
                    <a:pt x="2790095" y="2973308"/>
                  </a:lnTo>
                  <a:lnTo>
                    <a:pt x="2783223" y="2984983"/>
                  </a:lnTo>
                  <a:lnTo>
                    <a:pt x="2761220" y="2983974"/>
                  </a:lnTo>
                  <a:lnTo>
                    <a:pt x="2747015" y="2990210"/>
                  </a:lnTo>
                  <a:lnTo>
                    <a:pt x="2716255" y="2987867"/>
                  </a:lnTo>
                  <a:lnTo>
                    <a:pt x="2704689" y="2961048"/>
                  </a:lnTo>
                  <a:lnTo>
                    <a:pt x="2705962" y="2935936"/>
                  </a:lnTo>
                  <a:lnTo>
                    <a:pt x="2698696" y="2922389"/>
                  </a:lnTo>
                  <a:lnTo>
                    <a:pt x="2689993" y="2888423"/>
                  </a:lnTo>
                  <a:lnTo>
                    <a:pt x="2677220" y="2869548"/>
                  </a:lnTo>
                  <a:lnTo>
                    <a:pt x="2686119" y="2867308"/>
                  </a:lnTo>
                  <a:lnTo>
                    <a:pt x="2681558" y="2846330"/>
                  </a:lnTo>
                  <a:lnTo>
                    <a:pt x="2686946" y="2837476"/>
                  </a:lnTo>
                  <a:lnTo>
                    <a:pt x="2684979" y="2817443"/>
                  </a:lnTo>
                  <a:lnTo>
                    <a:pt x="2679211" y="2797842"/>
                  </a:lnTo>
                  <a:lnTo>
                    <a:pt x="2665804" y="2784009"/>
                  </a:lnTo>
                  <a:lnTo>
                    <a:pt x="2662372" y="2765697"/>
                  </a:lnTo>
                  <a:lnTo>
                    <a:pt x="2639420" y="2749235"/>
                  </a:lnTo>
                  <a:lnTo>
                    <a:pt x="2615727" y="2710725"/>
                  </a:lnTo>
                  <a:lnTo>
                    <a:pt x="2603182" y="2673305"/>
                  </a:lnTo>
                  <a:lnTo>
                    <a:pt x="2572441" y="2641701"/>
                  </a:lnTo>
                  <a:lnTo>
                    <a:pt x="2552617" y="2634158"/>
                  </a:lnTo>
                  <a:lnTo>
                    <a:pt x="2523183" y="2590395"/>
                  </a:lnTo>
                  <a:lnTo>
                    <a:pt x="2518034" y="2558478"/>
                  </a:lnTo>
                  <a:lnTo>
                    <a:pt x="2519928" y="2531252"/>
                  </a:lnTo>
                  <a:lnTo>
                    <a:pt x="2494442" y="2480333"/>
                  </a:lnTo>
                  <a:lnTo>
                    <a:pt x="2473595" y="2462414"/>
                  </a:lnTo>
                  <a:lnTo>
                    <a:pt x="2449582" y="2452915"/>
                  </a:lnTo>
                  <a:lnTo>
                    <a:pt x="2434967" y="2426600"/>
                  </a:lnTo>
                  <a:lnTo>
                    <a:pt x="2437392" y="2416224"/>
                  </a:lnTo>
                  <a:lnTo>
                    <a:pt x="2425045" y="2392407"/>
                  </a:lnTo>
                  <a:lnTo>
                    <a:pt x="2412066" y="2382156"/>
                  </a:lnTo>
                  <a:lnTo>
                    <a:pt x="2394703" y="2347996"/>
                  </a:lnTo>
                  <a:lnTo>
                    <a:pt x="2367643" y="2310963"/>
                  </a:lnTo>
                  <a:lnTo>
                    <a:pt x="2344974" y="2279415"/>
                  </a:lnTo>
                  <a:lnTo>
                    <a:pt x="2322838" y="2279645"/>
                  </a:lnTo>
                  <a:lnTo>
                    <a:pt x="2329754" y="2254432"/>
                  </a:lnTo>
                  <a:lnTo>
                    <a:pt x="2331726" y="2238357"/>
                  </a:lnTo>
                  <a:lnTo>
                    <a:pt x="2337231" y="2220026"/>
                  </a:lnTo>
                  <a:lnTo>
                    <a:pt x="2335747" y="2213386"/>
                  </a:lnTo>
                  <a:lnTo>
                    <a:pt x="2323256" y="2231838"/>
                  </a:lnTo>
                  <a:lnTo>
                    <a:pt x="2313698" y="2266527"/>
                  </a:lnTo>
                  <a:lnTo>
                    <a:pt x="2301598" y="2290445"/>
                  </a:lnTo>
                  <a:lnTo>
                    <a:pt x="2291242" y="2298465"/>
                  </a:lnTo>
                  <a:lnTo>
                    <a:pt x="2276421" y="2283640"/>
                  </a:lnTo>
                  <a:lnTo>
                    <a:pt x="2256367" y="2263147"/>
                  </a:lnTo>
                  <a:lnTo>
                    <a:pt x="2224646" y="2197322"/>
                  </a:lnTo>
                  <a:lnTo>
                    <a:pt x="2220077" y="2201481"/>
                  </a:lnTo>
                  <a:lnTo>
                    <a:pt x="2238499" y="2249939"/>
                  </a:lnTo>
                  <a:lnTo>
                    <a:pt x="2265789" y="2296113"/>
                  </a:lnTo>
                  <a:lnTo>
                    <a:pt x="2299384" y="2367645"/>
                  </a:lnTo>
                  <a:lnTo>
                    <a:pt x="2315795" y="2392608"/>
                  </a:lnTo>
                  <a:lnTo>
                    <a:pt x="2330074" y="2418547"/>
                  </a:lnTo>
                  <a:lnTo>
                    <a:pt x="2369963" y="2469393"/>
                  </a:lnTo>
                  <a:lnTo>
                    <a:pt x="2361127" y="2477393"/>
                  </a:lnTo>
                  <a:lnTo>
                    <a:pt x="2362567" y="2507245"/>
                  </a:lnTo>
                  <a:lnTo>
                    <a:pt x="2414332" y="2548466"/>
                  </a:lnTo>
                  <a:lnTo>
                    <a:pt x="2422137" y="2557870"/>
                  </a:lnTo>
                  <a:lnTo>
                    <a:pt x="2436470" y="2602930"/>
                  </a:lnTo>
                  <a:lnTo>
                    <a:pt x="2426725" y="2611261"/>
                  </a:lnTo>
                  <a:lnTo>
                    <a:pt x="2433179" y="2658536"/>
                  </a:lnTo>
                  <a:lnTo>
                    <a:pt x="2449501" y="2713371"/>
                  </a:lnTo>
                  <a:lnTo>
                    <a:pt x="2466427" y="2724675"/>
                  </a:lnTo>
                  <a:lnTo>
                    <a:pt x="2490760" y="2741650"/>
                  </a:lnTo>
                  <a:lnTo>
                    <a:pt x="2516569" y="2794812"/>
                  </a:lnTo>
                  <a:lnTo>
                    <a:pt x="2528810" y="2836968"/>
                  </a:lnTo>
                  <a:lnTo>
                    <a:pt x="2553176" y="2859333"/>
                  </a:lnTo>
                  <a:lnTo>
                    <a:pt x="2613852" y="2902715"/>
                  </a:lnTo>
                  <a:lnTo>
                    <a:pt x="2638549" y="2928892"/>
                  </a:lnTo>
                  <a:lnTo>
                    <a:pt x="2662640" y="2955389"/>
                  </a:lnTo>
                  <a:lnTo>
                    <a:pt x="2676544" y="2971170"/>
                  </a:lnTo>
                  <a:lnTo>
                    <a:pt x="2698395" y="2984983"/>
                  </a:lnTo>
                  <a:lnTo>
                    <a:pt x="2708911" y="2999202"/>
                  </a:lnTo>
                  <a:lnTo>
                    <a:pt x="2707516" y="3018268"/>
                  </a:lnTo>
                  <a:lnTo>
                    <a:pt x="2682152" y="3029253"/>
                  </a:lnTo>
                  <a:lnTo>
                    <a:pt x="2701241" y="3041819"/>
                  </a:lnTo>
                  <a:lnTo>
                    <a:pt x="2715704" y="3050287"/>
                  </a:lnTo>
                  <a:lnTo>
                    <a:pt x="2724415" y="3069271"/>
                  </a:lnTo>
                  <a:lnTo>
                    <a:pt x="2744473" y="3088497"/>
                  </a:lnTo>
                  <a:lnTo>
                    <a:pt x="2766538" y="3088651"/>
                  </a:lnTo>
                  <a:lnTo>
                    <a:pt x="2808435" y="3076904"/>
                  </a:lnTo>
                  <a:lnTo>
                    <a:pt x="2856824" y="3071466"/>
                  </a:lnTo>
                  <a:lnTo>
                    <a:pt x="2895948" y="3057193"/>
                  </a:lnTo>
                  <a:lnTo>
                    <a:pt x="2917997" y="3054172"/>
                  </a:lnTo>
                  <a:lnTo>
                    <a:pt x="2933874" y="3045796"/>
                  </a:lnTo>
                  <a:lnTo>
                    <a:pt x="2959183" y="3044179"/>
                  </a:lnTo>
                  <a:lnTo>
                    <a:pt x="2973389" y="3043271"/>
                  </a:lnTo>
                  <a:lnTo>
                    <a:pt x="2993872" y="3036454"/>
                  </a:lnTo>
                  <a:lnTo>
                    <a:pt x="3017440" y="3031826"/>
                  </a:lnTo>
                  <a:lnTo>
                    <a:pt x="3038474" y="3016110"/>
                  </a:lnTo>
                  <a:lnTo>
                    <a:pt x="3055330" y="3015981"/>
                  </a:lnTo>
                  <a:lnTo>
                    <a:pt x="3056334" y="3028676"/>
                  </a:lnTo>
                  <a:lnTo>
                    <a:pt x="3052226" y="3055394"/>
                  </a:lnTo>
                  <a:lnTo>
                    <a:pt x="3052394" y="3079530"/>
                  </a:lnTo>
                  <a:lnTo>
                    <a:pt x="3043015" y="3096118"/>
                  </a:lnTo>
                  <a:lnTo>
                    <a:pt x="3030489" y="3145762"/>
                  </a:lnTo>
                  <a:lnTo>
                    <a:pt x="3009084" y="3197060"/>
                  </a:lnTo>
                  <a:lnTo>
                    <a:pt x="2981604" y="3255706"/>
                  </a:lnTo>
                  <a:lnTo>
                    <a:pt x="2943456" y="3323012"/>
                  </a:lnTo>
                  <a:lnTo>
                    <a:pt x="2905515" y="3374430"/>
                  </a:lnTo>
                  <a:lnTo>
                    <a:pt x="2853240" y="3437079"/>
                  </a:lnTo>
                  <a:lnTo>
                    <a:pt x="2808755" y="3474250"/>
                  </a:lnTo>
                  <a:lnTo>
                    <a:pt x="2742267" y="3519851"/>
                  </a:lnTo>
                  <a:lnTo>
                    <a:pt x="2700831" y="3554782"/>
                  </a:lnTo>
                  <a:lnTo>
                    <a:pt x="2652184" y="3610419"/>
                  </a:lnTo>
                  <a:lnTo>
                    <a:pt x="2641934" y="3634631"/>
                  </a:lnTo>
                  <a:lnTo>
                    <a:pt x="2631888" y="3645506"/>
                  </a:lnTo>
                  <a:lnTo>
                    <a:pt x="2600765" y="3663843"/>
                  </a:lnTo>
                  <a:lnTo>
                    <a:pt x="2589785" y="3683007"/>
                  </a:lnTo>
                  <a:lnTo>
                    <a:pt x="2573127" y="3686374"/>
                  </a:lnTo>
                  <a:lnTo>
                    <a:pt x="2566822" y="3718731"/>
                  </a:lnTo>
                  <a:lnTo>
                    <a:pt x="2552546" y="3737256"/>
                  </a:lnTo>
                  <a:lnTo>
                    <a:pt x="2543870" y="3767815"/>
                  </a:lnTo>
                  <a:lnTo>
                    <a:pt x="2525972" y="3782979"/>
                  </a:lnTo>
                  <a:lnTo>
                    <a:pt x="2505446" y="3839565"/>
                  </a:lnTo>
                  <a:lnTo>
                    <a:pt x="2508077" y="3865591"/>
                  </a:lnTo>
                  <a:lnTo>
                    <a:pt x="2536545" y="3882328"/>
                  </a:lnTo>
                  <a:lnTo>
                    <a:pt x="2537877" y="3894266"/>
                  </a:lnTo>
                  <a:lnTo>
                    <a:pt x="2525636" y="3922001"/>
                  </a:lnTo>
                  <a:lnTo>
                    <a:pt x="2528186" y="3935957"/>
                  </a:lnTo>
                  <a:lnTo>
                    <a:pt x="2525272" y="3957893"/>
                  </a:lnTo>
                  <a:lnTo>
                    <a:pt x="2540802" y="3986680"/>
                  </a:lnTo>
                  <a:lnTo>
                    <a:pt x="2559196" y="4031965"/>
                  </a:lnTo>
                  <a:lnTo>
                    <a:pt x="2575509" y="4042008"/>
                  </a:lnTo>
                  <a:lnTo>
                    <a:pt x="2582701" y="4062596"/>
                  </a:lnTo>
                  <a:lnTo>
                    <a:pt x="2580870" y="4108352"/>
                  </a:lnTo>
                  <a:lnTo>
                    <a:pt x="2586364" y="4148645"/>
                  </a:lnTo>
                  <a:lnTo>
                    <a:pt x="2588087" y="4220415"/>
                  </a:lnTo>
                  <a:lnTo>
                    <a:pt x="2595903" y="4242909"/>
                  </a:lnTo>
                  <a:lnTo>
                    <a:pt x="2582647" y="4275727"/>
                  </a:lnTo>
                  <a:lnTo>
                    <a:pt x="2565400" y="4307616"/>
                  </a:lnTo>
                  <a:lnTo>
                    <a:pt x="2537104" y="4336097"/>
                  </a:lnTo>
                  <a:lnTo>
                    <a:pt x="2496460" y="4353554"/>
                  </a:lnTo>
                  <a:lnTo>
                    <a:pt x="2446353" y="4375841"/>
                  </a:lnTo>
                  <a:lnTo>
                    <a:pt x="2396136" y="4425131"/>
                  </a:lnTo>
                  <a:lnTo>
                    <a:pt x="2379030" y="4433521"/>
                  </a:lnTo>
                  <a:lnTo>
                    <a:pt x="2348004" y="4466150"/>
                  </a:lnTo>
                  <a:lnTo>
                    <a:pt x="2329691" y="4476768"/>
                  </a:lnTo>
                  <a:lnTo>
                    <a:pt x="2325931" y="4509512"/>
                  </a:lnTo>
                  <a:lnTo>
                    <a:pt x="2347008" y="4544289"/>
                  </a:lnTo>
                  <a:lnTo>
                    <a:pt x="2355782" y="4571226"/>
                  </a:lnTo>
                  <a:lnTo>
                    <a:pt x="2356336" y="4584966"/>
                  </a:lnTo>
                  <a:lnTo>
                    <a:pt x="2364193" y="4582670"/>
                  </a:lnTo>
                  <a:lnTo>
                    <a:pt x="2362912" y="4627712"/>
                  </a:lnTo>
                  <a:lnTo>
                    <a:pt x="2355712" y="4649042"/>
                  </a:lnTo>
                  <a:lnTo>
                    <a:pt x="2366184" y="4656905"/>
                  </a:lnTo>
                  <a:lnTo>
                    <a:pt x="2359570" y="4676015"/>
                  </a:lnTo>
                  <a:lnTo>
                    <a:pt x="2340991" y="4692348"/>
                  </a:lnTo>
                  <a:lnTo>
                    <a:pt x="2304327" y="4707871"/>
                  </a:lnTo>
                  <a:lnTo>
                    <a:pt x="2250873" y="4732725"/>
                  </a:lnTo>
                  <a:lnTo>
                    <a:pt x="2231377" y="4749709"/>
                  </a:lnTo>
                  <a:lnTo>
                    <a:pt x="2235181" y="4769052"/>
                  </a:lnTo>
                  <a:lnTo>
                    <a:pt x="2246551" y="4772147"/>
                  </a:lnTo>
                  <a:lnTo>
                    <a:pt x="2242728" y="4796317"/>
                  </a:lnTo>
                  <a:lnTo>
                    <a:pt x="2231627" y="4829745"/>
                  </a:lnTo>
                  <a:lnTo>
                    <a:pt x="2226380" y="4867905"/>
                  </a:lnTo>
                  <a:lnTo>
                    <a:pt x="2214876" y="4888633"/>
                  </a:lnTo>
                  <a:lnTo>
                    <a:pt x="2184545" y="4911825"/>
                  </a:lnTo>
                  <a:lnTo>
                    <a:pt x="2175858" y="4918465"/>
                  </a:lnTo>
                  <a:lnTo>
                    <a:pt x="2157011" y="4941792"/>
                  </a:lnTo>
                  <a:lnTo>
                    <a:pt x="2144620" y="4965387"/>
                  </a:lnTo>
                  <a:lnTo>
                    <a:pt x="2119408" y="4998291"/>
                  </a:lnTo>
                  <a:lnTo>
                    <a:pt x="2069169" y="5045676"/>
                  </a:lnTo>
                  <a:lnTo>
                    <a:pt x="2037798" y="5073226"/>
                  </a:lnTo>
                  <a:lnTo>
                    <a:pt x="2004238" y="5094125"/>
                  </a:lnTo>
                  <a:lnTo>
                    <a:pt x="1957778" y="5111941"/>
                  </a:lnTo>
                  <a:lnTo>
                    <a:pt x="1935119" y="5114332"/>
                  </a:lnTo>
                  <a:lnTo>
                    <a:pt x="1929383" y="5127080"/>
                  </a:lnTo>
                  <a:lnTo>
                    <a:pt x="1902367" y="5120297"/>
                  </a:lnTo>
                  <a:lnTo>
                    <a:pt x="1880365" y="5129037"/>
                  </a:lnTo>
                  <a:lnTo>
                    <a:pt x="1832190" y="5120188"/>
                  </a:lnTo>
                  <a:lnTo>
                    <a:pt x="1805260" y="5125785"/>
                  </a:lnTo>
                  <a:lnTo>
                    <a:pt x="1786858" y="5123383"/>
                  </a:lnTo>
                  <a:lnTo>
                    <a:pt x="1741014" y="5141510"/>
                  </a:lnTo>
                  <a:lnTo>
                    <a:pt x="1703061" y="5148784"/>
                  </a:lnTo>
                  <a:lnTo>
                    <a:pt x="1675600" y="5166140"/>
                  </a:lnTo>
                  <a:lnTo>
                    <a:pt x="1655385" y="5167241"/>
                  </a:lnTo>
                  <a:lnTo>
                    <a:pt x="1636573" y="5150869"/>
                  </a:lnTo>
                  <a:lnTo>
                    <a:pt x="1621549" y="5150028"/>
                  </a:lnTo>
                  <a:lnTo>
                    <a:pt x="1602408" y="5129524"/>
                  </a:lnTo>
                  <a:lnTo>
                    <a:pt x="1600311" y="5135893"/>
                  </a:lnTo>
                  <a:lnTo>
                    <a:pt x="1594400" y="5123548"/>
                  </a:lnTo>
                  <a:lnTo>
                    <a:pt x="1594649" y="5096623"/>
                  </a:lnTo>
                  <a:lnTo>
                    <a:pt x="1580211" y="5065846"/>
                  </a:lnTo>
                  <a:lnTo>
                    <a:pt x="1594552" y="5057482"/>
                  </a:lnTo>
                  <a:lnTo>
                    <a:pt x="1593385" y="5022237"/>
                  </a:lnTo>
                  <a:lnTo>
                    <a:pt x="1564280" y="4979256"/>
                  </a:lnTo>
                  <a:lnTo>
                    <a:pt x="1541949" y="4940354"/>
                  </a:lnTo>
                  <a:lnTo>
                    <a:pt x="1541878" y="4940233"/>
                  </a:lnTo>
                  <a:lnTo>
                    <a:pt x="1509971" y="4880566"/>
                  </a:lnTo>
                  <a:lnTo>
                    <a:pt x="1476937" y="4845871"/>
                  </a:lnTo>
                  <a:lnTo>
                    <a:pt x="1459538" y="4812330"/>
                  </a:lnTo>
                  <a:lnTo>
                    <a:pt x="1449723" y="4767620"/>
                  </a:lnTo>
                  <a:lnTo>
                    <a:pt x="1438770" y="4734351"/>
                  </a:lnTo>
                  <a:lnTo>
                    <a:pt x="1423870" y="4663635"/>
                  </a:lnTo>
                  <a:lnTo>
                    <a:pt x="1422875" y="4608693"/>
                  </a:lnTo>
                  <a:lnTo>
                    <a:pt x="1417186" y="4583643"/>
                  </a:lnTo>
                  <a:lnTo>
                    <a:pt x="1399896" y="4564712"/>
                  </a:lnTo>
                  <a:lnTo>
                    <a:pt x="1376949" y="4526770"/>
                  </a:lnTo>
                  <a:lnTo>
                    <a:pt x="1353587" y="4471675"/>
                  </a:lnTo>
                  <a:lnTo>
                    <a:pt x="1343888" y="4442843"/>
                  </a:lnTo>
                  <a:lnTo>
                    <a:pt x="1307716" y="4398012"/>
                  </a:lnTo>
                  <a:lnTo>
                    <a:pt x="1305022" y="4362779"/>
                  </a:lnTo>
                  <a:lnTo>
                    <a:pt x="1300833" y="4333903"/>
                  </a:lnTo>
                  <a:lnTo>
                    <a:pt x="1306994" y="4293523"/>
                  </a:lnTo>
                  <a:lnTo>
                    <a:pt x="1322331" y="4251478"/>
                  </a:lnTo>
                  <a:lnTo>
                    <a:pt x="1324642" y="4231767"/>
                  </a:lnTo>
                  <a:lnTo>
                    <a:pt x="1339062" y="4190373"/>
                  </a:lnTo>
                  <a:lnTo>
                    <a:pt x="1349659" y="4171551"/>
                  </a:lnTo>
                  <a:lnTo>
                    <a:pt x="1375191" y="4141503"/>
                  </a:lnTo>
                  <a:lnTo>
                    <a:pt x="1389450" y="4121066"/>
                  </a:lnTo>
                  <a:lnTo>
                    <a:pt x="1394117" y="4087047"/>
                  </a:lnTo>
                  <a:lnTo>
                    <a:pt x="1391797" y="4061021"/>
                  </a:lnTo>
                  <a:lnTo>
                    <a:pt x="1378498" y="4044604"/>
                  </a:lnTo>
                  <a:lnTo>
                    <a:pt x="1366664" y="4016742"/>
                  </a:lnTo>
                  <a:lnTo>
                    <a:pt x="1355747" y="3989186"/>
                  </a:lnTo>
                  <a:lnTo>
                    <a:pt x="1358129" y="3979645"/>
                  </a:lnTo>
                  <a:lnTo>
                    <a:pt x="1371794" y="3961436"/>
                  </a:lnTo>
                  <a:lnTo>
                    <a:pt x="1358308" y="3917068"/>
                  </a:lnTo>
                  <a:lnTo>
                    <a:pt x="1349203" y="3886328"/>
                  </a:lnTo>
                  <a:lnTo>
                    <a:pt x="1326943" y="3857269"/>
                  </a:lnTo>
                  <a:lnTo>
                    <a:pt x="1331167" y="3848347"/>
                  </a:lnTo>
                  <a:lnTo>
                    <a:pt x="1324935" y="3834102"/>
                  </a:lnTo>
                  <a:lnTo>
                    <a:pt x="1313057" y="3799567"/>
                  </a:lnTo>
                  <a:lnTo>
                    <a:pt x="1276546" y="3750929"/>
                  </a:lnTo>
                  <a:lnTo>
                    <a:pt x="1230878" y="3704576"/>
                  </a:lnTo>
                  <a:lnTo>
                    <a:pt x="1201496" y="3666680"/>
                  </a:lnTo>
                  <a:lnTo>
                    <a:pt x="1174507" y="3619242"/>
                  </a:lnTo>
                  <a:lnTo>
                    <a:pt x="1175928" y="3603980"/>
                  </a:lnTo>
                  <a:lnTo>
                    <a:pt x="1185638" y="3589298"/>
                  </a:lnTo>
                  <a:lnTo>
                    <a:pt x="1196430" y="3555867"/>
                  </a:lnTo>
                  <a:lnTo>
                    <a:pt x="1205392" y="3521819"/>
                  </a:lnTo>
                  <a:lnTo>
                    <a:pt x="1197071" y="3514893"/>
                  </a:lnTo>
                  <a:lnTo>
                    <a:pt x="1212342" y="3463321"/>
                  </a:lnTo>
                  <a:lnTo>
                    <a:pt x="1218832" y="3427058"/>
                  </a:lnTo>
                  <a:lnTo>
                    <a:pt x="1201460" y="3396702"/>
                  </a:lnTo>
                  <a:lnTo>
                    <a:pt x="1181175" y="3388913"/>
                  </a:lnTo>
                  <a:lnTo>
                    <a:pt x="1172141" y="3368330"/>
                  </a:lnTo>
                  <a:lnTo>
                    <a:pt x="1160762" y="3361743"/>
                  </a:lnTo>
                  <a:lnTo>
                    <a:pt x="1161270" y="3349051"/>
                  </a:lnTo>
                  <a:lnTo>
                    <a:pt x="1115121" y="3365583"/>
                  </a:lnTo>
                  <a:lnTo>
                    <a:pt x="1098257" y="3363167"/>
                  </a:lnTo>
                  <a:lnTo>
                    <a:pt x="1081163" y="3373454"/>
                  </a:lnTo>
                  <a:lnTo>
                    <a:pt x="1045611" y="3372454"/>
                  </a:lnTo>
                  <a:lnTo>
                    <a:pt x="1021813" y="3343723"/>
                  </a:lnTo>
                  <a:lnTo>
                    <a:pt x="1007179" y="3310485"/>
                  </a:lnTo>
                  <a:lnTo>
                    <a:pt x="975708" y="3280230"/>
                  </a:lnTo>
                  <a:lnTo>
                    <a:pt x="942308" y="3280799"/>
                  </a:lnTo>
                  <a:lnTo>
                    <a:pt x="903078" y="3280771"/>
                  </a:lnTo>
                  <a:lnTo>
                    <a:pt x="866344" y="3286127"/>
                  </a:lnTo>
                  <a:lnTo>
                    <a:pt x="830554" y="3295926"/>
                  </a:lnTo>
                  <a:lnTo>
                    <a:pt x="760867" y="3322810"/>
                  </a:lnTo>
                  <a:lnTo>
                    <a:pt x="736154" y="3338563"/>
                  </a:lnTo>
                  <a:lnTo>
                    <a:pt x="696099" y="3351880"/>
                  </a:lnTo>
                  <a:lnTo>
                    <a:pt x="656479" y="3338837"/>
                  </a:lnTo>
                  <a:lnTo>
                    <a:pt x="636253" y="3339305"/>
                  </a:lnTo>
                  <a:lnTo>
                    <a:pt x="605241" y="3330325"/>
                  </a:lnTo>
                  <a:lnTo>
                    <a:pt x="576743" y="3330857"/>
                  </a:lnTo>
                  <a:lnTo>
                    <a:pt x="524092" y="3338874"/>
                  </a:lnTo>
                  <a:lnTo>
                    <a:pt x="493231" y="3352129"/>
                  </a:lnTo>
                  <a:lnTo>
                    <a:pt x="449215" y="3368972"/>
                  </a:lnTo>
                  <a:lnTo>
                    <a:pt x="440629" y="3367761"/>
                  </a:lnTo>
                  <a:lnTo>
                    <a:pt x="428982" y="3368165"/>
                  </a:lnTo>
                  <a:lnTo>
                    <a:pt x="383167" y="3346276"/>
                  </a:lnTo>
                  <a:lnTo>
                    <a:pt x="342781" y="3311320"/>
                  </a:lnTo>
                  <a:lnTo>
                    <a:pt x="304910" y="3286200"/>
                  </a:lnTo>
                  <a:lnTo>
                    <a:pt x="274977" y="3256570"/>
                  </a:lnTo>
                  <a:lnTo>
                    <a:pt x="263002" y="3253161"/>
                  </a:lnTo>
                  <a:lnTo>
                    <a:pt x="231002" y="3234664"/>
                  </a:lnTo>
                  <a:lnTo>
                    <a:pt x="207849" y="3210057"/>
                  </a:lnTo>
                  <a:lnTo>
                    <a:pt x="200068" y="3193287"/>
                  </a:lnTo>
                  <a:lnTo>
                    <a:pt x="194623" y="3159340"/>
                  </a:lnTo>
                  <a:lnTo>
                    <a:pt x="175125" y="3132162"/>
                  </a:lnTo>
                  <a:lnTo>
                    <a:pt x="157843" y="3114186"/>
                  </a:lnTo>
                  <a:lnTo>
                    <a:pt x="146459" y="3108244"/>
                  </a:lnTo>
                  <a:lnTo>
                    <a:pt x="135363" y="3099115"/>
                  </a:lnTo>
                  <a:lnTo>
                    <a:pt x="130320" y="3078824"/>
                  </a:lnTo>
                  <a:lnTo>
                    <a:pt x="123816" y="3068702"/>
                  </a:lnTo>
                  <a:lnTo>
                    <a:pt x="110889" y="3061179"/>
                  </a:lnTo>
                  <a:lnTo>
                    <a:pt x="87158" y="3041984"/>
                  </a:lnTo>
                  <a:lnTo>
                    <a:pt x="68444" y="3038943"/>
                  </a:lnTo>
                  <a:lnTo>
                    <a:pt x="58243" y="3026002"/>
                  </a:lnTo>
                  <a:lnTo>
                    <a:pt x="58501" y="3019014"/>
                  </a:lnTo>
                  <a:lnTo>
                    <a:pt x="44949" y="3009268"/>
                  </a:lnTo>
                  <a:lnTo>
                    <a:pt x="42120" y="2999441"/>
                  </a:lnTo>
                  <a:lnTo>
                    <a:pt x="34827" y="2964235"/>
                  </a:lnTo>
                  <a:lnTo>
                    <a:pt x="40508" y="2943863"/>
                  </a:lnTo>
                  <a:lnTo>
                    <a:pt x="22176" y="2908117"/>
                  </a:lnTo>
                  <a:lnTo>
                    <a:pt x="0" y="2891758"/>
                  </a:lnTo>
                  <a:lnTo>
                    <a:pt x="19550" y="2883041"/>
                  </a:lnTo>
                  <a:lnTo>
                    <a:pt x="41086" y="2850801"/>
                  </a:lnTo>
                  <a:lnTo>
                    <a:pt x="51650" y="2827217"/>
                  </a:lnTo>
                  <a:lnTo>
                    <a:pt x="47798" y="2802472"/>
                  </a:lnTo>
                  <a:lnTo>
                    <a:pt x="60207" y="2779821"/>
                  </a:lnTo>
                  <a:lnTo>
                    <a:pt x="65728" y="2736588"/>
                  </a:lnTo>
                  <a:lnTo>
                    <a:pt x="60812" y="2691208"/>
                  </a:lnTo>
                  <a:lnTo>
                    <a:pt x="55446" y="2668375"/>
                  </a:lnTo>
                  <a:lnTo>
                    <a:pt x="59884" y="2645474"/>
                  </a:lnTo>
                  <a:lnTo>
                    <a:pt x="48392" y="2623644"/>
                  </a:lnTo>
                  <a:lnTo>
                    <a:pt x="24962" y="2603805"/>
                  </a:lnTo>
                  <a:lnTo>
                    <a:pt x="26875" y="2584405"/>
                  </a:lnTo>
                  <a:lnTo>
                    <a:pt x="28972" y="2563125"/>
                  </a:lnTo>
                  <a:lnTo>
                    <a:pt x="46045" y="2550604"/>
                  </a:lnTo>
                  <a:lnTo>
                    <a:pt x="60590" y="2526678"/>
                  </a:lnTo>
                  <a:lnTo>
                    <a:pt x="57722" y="2511130"/>
                  </a:lnTo>
                  <a:lnTo>
                    <a:pt x="73004" y="2478725"/>
                  </a:lnTo>
                  <a:lnTo>
                    <a:pt x="97744" y="2449534"/>
                  </a:lnTo>
                  <a:lnTo>
                    <a:pt x="112712" y="2442132"/>
                  </a:lnTo>
                  <a:lnTo>
                    <a:pt x="124478" y="2415349"/>
                  </a:lnTo>
                  <a:lnTo>
                    <a:pt x="125531" y="2390882"/>
                  </a:lnTo>
                  <a:lnTo>
                    <a:pt x="141579" y="2362490"/>
                  </a:lnTo>
                  <a:lnTo>
                    <a:pt x="171186" y="2345757"/>
                  </a:lnTo>
                  <a:lnTo>
                    <a:pt x="199363" y="2298860"/>
                  </a:lnTo>
                  <a:lnTo>
                    <a:pt x="222527" y="2280570"/>
                  </a:lnTo>
                  <a:lnTo>
                    <a:pt x="263859" y="2275502"/>
                  </a:lnTo>
                  <a:lnTo>
                    <a:pt x="298887" y="2244109"/>
                  </a:lnTo>
                  <a:lnTo>
                    <a:pt x="321169" y="2231874"/>
                  </a:lnTo>
                  <a:lnTo>
                    <a:pt x="358275" y="2193526"/>
                  </a:lnTo>
                  <a:lnTo>
                    <a:pt x="347168" y="2136399"/>
                  </a:lnTo>
                  <a:lnTo>
                    <a:pt x="364054" y="2096885"/>
                  </a:lnTo>
                  <a:lnTo>
                    <a:pt x="370014" y="2072701"/>
                  </a:lnTo>
                  <a:lnTo>
                    <a:pt x="398609" y="2041675"/>
                  </a:lnTo>
                  <a:lnTo>
                    <a:pt x="443203" y="2020697"/>
                  </a:lnTo>
                  <a:lnTo>
                    <a:pt x="476172" y="2001713"/>
                  </a:lnTo>
                  <a:lnTo>
                    <a:pt x="505871" y="1954163"/>
                  </a:lnTo>
                  <a:lnTo>
                    <a:pt x="519843" y="1925956"/>
                  </a:lnTo>
                  <a:lnTo>
                    <a:pt x="552567" y="1926175"/>
                  </a:lnTo>
                  <a:lnTo>
                    <a:pt x="579361" y="1945675"/>
                  </a:lnTo>
                  <a:lnTo>
                    <a:pt x="621630" y="1942497"/>
                  </a:lnTo>
                  <a:lnTo>
                    <a:pt x="667670" y="1952638"/>
                  </a:lnTo>
                  <a:lnTo>
                    <a:pt x="686978" y="1953123"/>
                  </a:lnTo>
                  <a:lnTo>
                    <a:pt x="729708" y="1928030"/>
                  </a:lnTo>
                  <a:lnTo>
                    <a:pt x="777769" y="1920050"/>
                  </a:lnTo>
                  <a:lnTo>
                    <a:pt x="805830" y="1901099"/>
                  </a:lnTo>
                  <a:lnTo>
                    <a:pt x="848636" y="1887121"/>
                  </a:lnTo>
                  <a:lnTo>
                    <a:pt x="923968" y="1878939"/>
                  </a:lnTo>
                  <a:lnTo>
                    <a:pt x="997488" y="1875208"/>
                  </a:lnTo>
                  <a:lnTo>
                    <a:pt x="1019911" y="1882033"/>
                  </a:lnTo>
                  <a:lnTo>
                    <a:pt x="1061773" y="1863929"/>
                  </a:lnTo>
                  <a:lnTo>
                    <a:pt x="1109272" y="1863570"/>
                  </a:lnTo>
                  <a:lnTo>
                    <a:pt x="1127346" y="1874264"/>
                  </a:lnTo>
                  <a:lnTo>
                    <a:pt x="1157748" y="1871472"/>
                  </a:lnTo>
                  <a:lnTo>
                    <a:pt x="1206154" y="1852936"/>
                  </a:lnTo>
                  <a:lnTo>
                    <a:pt x="1237269" y="1858446"/>
                  </a:lnTo>
                  <a:lnTo>
                    <a:pt x="1235964" y="1881683"/>
                  </a:lnTo>
                  <a:lnTo>
                    <a:pt x="1273667" y="1864784"/>
                  </a:lnTo>
                  <a:lnTo>
                    <a:pt x="1276831" y="1873602"/>
                  </a:lnTo>
                  <a:lnTo>
                    <a:pt x="1254606" y="1896104"/>
                  </a:lnTo>
                  <a:lnTo>
                    <a:pt x="1254304" y="1917348"/>
                  </a:lnTo>
                  <a:lnTo>
                    <a:pt x="1269693" y="1928756"/>
                  </a:lnTo>
                  <a:lnTo>
                    <a:pt x="1263843" y="1968508"/>
                  </a:lnTo>
                  <a:lnTo>
                    <a:pt x="1234586" y="1991599"/>
                  </a:lnTo>
                  <a:lnTo>
                    <a:pt x="1243032" y="2016619"/>
                  </a:lnTo>
                  <a:lnTo>
                    <a:pt x="1266019" y="2017409"/>
                  </a:lnTo>
                  <a:lnTo>
                    <a:pt x="1277205" y="2039242"/>
                  </a:lnTo>
                  <a:lnTo>
                    <a:pt x="1294112" y="2046415"/>
                  </a:lnTo>
                  <a:lnTo>
                    <a:pt x="1346316" y="2062221"/>
                  </a:lnTo>
                  <a:lnTo>
                    <a:pt x="1364985" y="2058271"/>
                  </a:lnTo>
                  <a:lnTo>
                    <a:pt x="1402118" y="2065932"/>
                  </a:lnTo>
                  <a:lnTo>
                    <a:pt x="1461104" y="2086461"/>
                  </a:lnTo>
                  <a:lnTo>
                    <a:pt x="1481915" y="2127278"/>
                  </a:lnTo>
                  <a:lnTo>
                    <a:pt x="1521821" y="2136186"/>
                  </a:lnTo>
                  <a:lnTo>
                    <a:pt x="1584470" y="2155420"/>
                  </a:lnTo>
                  <a:lnTo>
                    <a:pt x="1631826" y="2178245"/>
                  </a:lnTo>
                  <a:lnTo>
                    <a:pt x="1653500" y="2166332"/>
                  </a:lnTo>
                  <a:lnTo>
                    <a:pt x="1674800" y="2145206"/>
                  </a:lnTo>
                  <a:lnTo>
                    <a:pt x="1664444" y="2110028"/>
                  </a:lnTo>
                  <a:lnTo>
                    <a:pt x="1678392" y="2087691"/>
                  </a:lnTo>
                  <a:lnTo>
                    <a:pt x="1710413" y="2066170"/>
                  </a:lnTo>
                  <a:lnTo>
                    <a:pt x="1741022" y="2059905"/>
                  </a:lnTo>
                  <a:lnTo>
                    <a:pt x="1801153" y="2069312"/>
                  </a:lnTo>
                  <a:lnTo>
                    <a:pt x="1816310" y="2089838"/>
                  </a:lnTo>
                  <a:lnTo>
                    <a:pt x="1832857" y="2090032"/>
                  </a:lnTo>
                  <a:lnTo>
                    <a:pt x="1847008" y="2097866"/>
                  </a:lnTo>
                  <a:lnTo>
                    <a:pt x="1891173" y="2103251"/>
                  </a:lnTo>
                  <a:lnTo>
                    <a:pt x="1902012" y="2118415"/>
                  </a:lnTo>
                  <a:lnTo>
                    <a:pt x="1961147" y="2117661"/>
                  </a:lnTo>
                  <a:lnTo>
                    <a:pt x="2003926" y="2129803"/>
                  </a:lnTo>
                  <a:lnTo>
                    <a:pt x="2048056" y="2143370"/>
                  </a:lnTo>
                  <a:lnTo>
                    <a:pt x="2068637" y="2150523"/>
                  </a:lnTo>
                  <a:lnTo>
                    <a:pt x="2102862" y="2135976"/>
                  </a:lnTo>
                  <a:lnTo>
                    <a:pt x="2121158" y="2122813"/>
                  </a:lnTo>
                  <a:lnTo>
                    <a:pt x="2160356" y="2119029"/>
                  </a:lnTo>
                  <a:lnTo>
                    <a:pt x="2191968" y="2124825"/>
                  </a:lnTo>
                  <a:lnTo>
                    <a:pt x="2204076" y="2147602"/>
                  </a:lnTo>
                  <a:lnTo>
                    <a:pt x="2214388" y="2132604"/>
                  </a:lnTo>
                  <a:lnTo>
                    <a:pt x="2250010" y="2143451"/>
                  </a:lnTo>
                  <a:lnTo>
                    <a:pt x="2284663" y="2146049"/>
                  </a:lnTo>
                  <a:lnTo>
                    <a:pt x="2306533" y="2134479"/>
                  </a:lnTo>
                  <a:lnTo>
                    <a:pt x="2319469" y="2119351"/>
                  </a:lnTo>
                  <a:lnTo>
                    <a:pt x="2316427" y="2116750"/>
                  </a:lnTo>
                  <a:lnTo>
                    <a:pt x="2328188" y="2095287"/>
                  </a:lnTo>
                  <a:lnTo>
                    <a:pt x="2337203" y="2060631"/>
                  </a:lnTo>
                  <a:lnTo>
                    <a:pt x="2343560" y="2049005"/>
                  </a:lnTo>
                  <a:lnTo>
                    <a:pt x="2344786" y="2048536"/>
                  </a:lnTo>
                  <a:lnTo>
                    <a:pt x="2360619" y="2011125"/>
                  </a:lnTo>
                  <a:lnTo>
                    <a:pt x="2382728" y="1978767"/>
                  </a:lnTo>
                  <a:lnTo>
                    <a:pt x="2383563" y="1977170"/>
                  </a:lnTo>
                  <a:lnTo>
                    <a:pt x="2379413" y="1942029"/>
                  </a:lnTo>
                  <a:lnTo>
                    <a:pt x="2390294" y="1923136"/>
                  </a:lnTo>
                  <a:lnTo>
                    <a:pt x="2373946" y="1902305"/>
                  </a:lnTo>
                  <a:lnTo>
                    <a:pt x="2390783" y="1885055"/>
                  </a:lnTo>
                  <a:lnTo>
                    <a:pt x="2363677" y="1888968"/>
                  </a:lnTo>
                  <a:lnTo>
                    <a:pt x="2326490" y="1878406"/>
                  </a:lnTo>
                  <a:lnTo>
                    <a:pt x="2295928" y="1904830"/>
                  </a:lnTo>
                  <a:lnTo>
                    <a:pt x="2228469" y="1910002"/>
                  </a:lnTo>
                  <a:lnTo>
                    <a:pt x="2192483" y="1885349"/>
                  </a:lnTo>
                  <a:lnTo>
                    <a:pt x="2144566" y="1883805"/>
                  </a:lnTo>
                  <a:lnTo>
                    <a:pt x="2134316" y="1902854"/>
                  </a:lnTo>
                  <a:lnTo>
                    <a:pt x="2103599" y="1908311"/>
                  </a:lnTo>
                  <a:lnTo>
                    <a:pt x="2060609" y="1883853"/>
                  </a:lnTo>
                  <a:lnTo>
                    <a:pt x="2012087" y="1884679"/>
                  </a:lnTo>
                  <a:lnTo>
                    <a:pt x="1985754" y="1839002"/>
                  </a:lnTo>
                  <a:lnTo>
                    <a:pt x="1953280" y="1813531"/>
                  </a:lnTo>
                  <a:lnTo>
                    <a:pt x="1974900" y="1777813"/>
                  </a:lnTo>
                  <a:lnTo>
                    <a:pt x="1946728" y="1755871"/>
                  </a:lnTo>
                  <a:lnTo>
                    <a:pt x="1996031" y="1711948"/>
                  </a:lnTo>
                  <a:lnTo>
                    <a:pt x="2064486" y="1710112"/>
                  </a:lnTo>
                  <a:lnTo>
                    <a:pt x="2083154" y="1675210"/>
                  </a:lnTo>
                  <a:lnTo>
                    <a:pt x="2167865" y="1681289"/>
                  </a:lnTo>
                  <a:lnTo>
                    <a:pt x="2221304" y="1651502"/>
                  </a:lnTo>
                  <a:lnTo>
                    <a:pt x="2273098" y="1638516"/>
                  </a:lnTo>
                  <a:lnTo>
                    <a:pt x="2346637" y="1637543"/>
                  </a:lnTo>
                  <a:lnTo>
                    <a:pt x="2424218" y="1669909"/>
                  </a:lnTo>
                  <a:lnTo>
                    <a:pt x="2487987" y="1687672"/>
                  </a:lnTo>
                  <a:lnTo>
                    <a:pt x="2539771" y="1680591"/>
                  </a:lnTo>
                  <a:lnTo>
                    <a:pt x="2578032" y="1684689"/>
                  </a:lnTo>
                  <a:lnTo>
                    <a:pt x="2630510" y="1660715"/>
                  </a:lnTo>
                  <a:lnTo>
                    <a:pt x="2637143" y="1641089"/>
                  </a:lnTo>
                  <a:lnTo>
                    <a:pt x="2626039" y="1609768"/>
                  </a:lnTo>
                  <a:lnTo>
                    <a:pt x="2600347" y="1592841"/>
                  </a:lnTo>
                  <a:lnTo>
                    <a:pt x="2575721" y="1587557"/>
                  </a:lnTo>
                  <a:lnTo>
                    <a:pt x="2559434" y="1573486"/>
                  </a:lnTo>
                  <a:lnTo>
                    <a:pt x="2502762" y="1534682"/>
                  </a:lnTo>
                  <a:lnTo>
                    <a:pt x="2452045" y="1517360"/>
                  </a:lnTo>
                  <a:lnTo>
                    <a:pt x="2413656" y="1490384"/>
                  </a:lnTo>
                  <a:lnTo>
                    <a:pt x="2446009" y="1483045"/>
                  </a:lnTo>
                  <a:lnTo>
                    <a:pt x="2482892" y="1444633"/>
                  </a:lnTo>
                  <a:lnTo>
                    <a:pt x="2458027" y="1426456"/>
                  </a:lnTo>
                  <a:lnTo>
                    <a:pt x="2523547" y="1407721"/>
                  </a:lnTo>
                  <a:lnTo>
                    <a:pt x="2522372" y="1397672"/>
                  </a:lnTo>
                  <a:lnTo>
                    <a:pt x="2482474" y="1405075"/>
                  </a:lnTo>
                  <a:lnTo>
                    <a:pt x="2446977" y="1408749"/>
                  </a:lnTo>
                  <a:lnTo>
                    <a:pt x="2417408" y="1423608"/>
                  </a:lnTo>
                  <a:lnTo>
                    <a:pt x="2375796" y="1426035"/>
                  </a:lnTo>
                  <a:lnTo>
                    <a:pt x="2337505" y="1443145"/>
                  </a:lnTo>
                  <a:lnTo>
                    <a:pt x="2340109" y="1471710"/>
                  </a:lnTo>
                  <a:lnTo>
                    <a:pt x="2361854" y="1482788"/>
                  </a:lnTo>
                  <a:lnTo>
                    <a:pt x="2407194" y="1480032"/>
                  </a:lnTo>
                  <a:lnTo>
                    <a:pt x="2398509" y="1496418"/>
                  </a:lnTo>
                  <a:lnTo>
                    <a:pt x="2349854" y="1504370"/>
                  </a:lnTo>
                  <a:lnTo>
                    <a:pt x="2289509" y="1530943"/>
                  </a:lnTo>
                  <a:lnTo>
                    <a:pt x="2264793" y="1521603"/>
                  </a:lnTo>
                  <a:lnTo>
                    <a:pt x="2274590" y="1500017"/>
                  </a:lnTo>
                  <a:lnTo>
                    <a:pt x="2226024" y="1486580"/>
                  </a:lnTo>
                  <a:lnTo>
                    <a:pt x="2233876" y="1477773"/>
                  </a:lnTo>
                  <a:lnTo>
                    <a:pt x="2276421" y="1462508"/>
                  </a:lnTo>
                  <a:lnTo>
                    <a:pt x="2263559" y="1451991"/>
                  </a:lnTo>
                  <a:lnTo>
                    <a:pt x="2194456" y="1440381"/>
                  </a:lnTo>
                  <a:lnTo>
                    <a:pt x="2191398" y="1423261"/>
                  </a:lnTo>
                  <a:lnTo>
                    <a:pt x="2150220" y="1428917"/>
                  </a:lnTo>
                  <a:lnTo>
                    <a:pt x="2133719" y="1454205"/>
                  </a:lnTo>
                  <a:lnTo>
                    <a:pt x="2099297" y="1488152"/>
                  </a:lnTo>
                  <a:lnTo>
                    <a:pt x="2100330" y="1499989"/>
                  </a:lnTo>
                  <a:lnTo>
                    <a:pt x="2078781" y="1509873"/>
                  </a:lnTo>
                  <a:lnTo>
                    <a:pt x="2065276" y="1505576"/>
                  </a:lnTo>
                  <a:lnTo>
                    <a:pt x="2052839" y="1560977"/>
                  </a:lnTo>
                  <a:lnTo>
                    <a:pt x="2029770" y="1580001"/>
                  </a:lnTo>
                  <a:lnTo>
                    <a:pt x="2013536" y="1612854"/>
                  </a:lnTo>
                  <a:lnTo>
                    <a:pt x="2027885" y="1639048"/>
                  </a:lnTo>
                  <a:lnTo>
                    <a:pt x="2033164" y="1656710"/>
                  </a:lnTo>
                  <a:lnTo>
                    <a:pt x="2071971" y="1671543"/>
                  </a:lnTo>
                  <a:lnTo>
                    <a:pt x="2063881" y="1682797"/>
                  </a:lnTo>
                  <a:lnTo>
                    <a:pt x="2011099" y="1685323"/>
                  </a:lnTo>
                  <a:lnTo>
                    <a:pt x="1992138" y="1699523"/>
                  </a:lnTo>
                  <a:lnTo>
                    <a:pt x="1955048" y="1724256"/>
                  </a:lnTo>
                  <a:lnTo>
                    <a:pt x="1941055" y="1702875"/>
                  </a:lnTo>
                  <a:lnTo>
                    <a:pt x="1941660" y="1693395"/>
                  </a:lnTo>
                  <a:lnTo>
                    <a:pt x="1914581" y="1692092"/>
                  </a:lnTo>
                  <a:lnTo>
                    <a:pt x="1891388" y="1687747"/>
                  </a:lnTo>
                  <a:lnTo>
                    <a:pt x="1837559" y="1699688"/>
                  </a:lnTo>
                  <a:lnTo>
                    <a:pt x="1868370" y="1725495"/>
                  </a:lnTo>
                  <a:lnTo>
                    <a:pt x="1845790" y="1732982"/>
                  </a:lnTo>
                  <a:lnTo>
                    <a:pt x="1821031" y="1733027"/>
                  </a:lnTo>
                  <a:lnTo>
                    <a:pt x="1797517" y="1709378"/>
                  </a:lnTo>
                  <a:lnTo>
                    <a:pt x="1789169" y="1719460"/>
                  </a:lnTo>
                  <a:lnTo>
                    <a:pt x="1799099" y="1746888"/>
                  </a:lnTo>
                  <a:lnTo>
                    <a:pt x="1821343" y="1768434"/>
                  </a:lnTo>
                  <a:lnTo>
                    <a:pt x="1804585" y="1778502"/>
                  </a:lnTo>
                  <a:lnTo>
                    <a:pt x="1829344" y="1799665"/>
                  </a:lnTo>
                  <a:lnTo>
                    <a:pt x="1851346" y="1812982"/>
                  </a:lnTo>
                  <a:lnTo>
                    <a:pt x="1852014" y="1838929"/>
                  </a:lnTo>
                  <a:lnTo>
                    <a:pt x="1810898" y="1826759"/>
                  </a:lnTo>
                  <a:lnTo>
                    <a:pt x="1824010" y="1850180"/>
                  </a:lnTo>
                  <a:lnTo>
                    <a:pt x="1795784" y="1855001"/>
                  </a:lnTo>
                  <a:lnTo>
                    <a:pt x="1812640" y="1895535"/>
                  </a:lnTo>
                  <a:lnTo>
                    <a:pt x="1783117" y="1896104"/>
                  </a:lnTo>
                  <a:lnTo>
                    <a:pt x="1746667" y="1876128"/>
                  </a:lnTo>
                  <a:lnTo>
                    <a:pt x="1729999" y="1839389"/>
                  </a:lnTo>
                  <a:lnTo>
                    <a:pt x="1722220" y="1808839"/>
                  </a:lnTo>
                  <a:lnTo>
                    <a:pt x="1704884" y="1787724"/>
                  </a:lnTo>
                  <a:lnTo>
                    <a:pt x="1682109" y="1761539"/>
                  </a:lnTo>
                  <a:lnTo>
                    <a:pt x="1679103" y="1748457"/>
                  </a:lnTo>
                  <a:lnTo>
                    <a:pt x="1671547" y="1745242"/>
                  </a:lnTo>
                  <a:lnTo>
                    <a:pt x="1670657" y="1735140"/>
                  </a:lnTo>
                  <a:lnTo>
                    <a:pt x="1646034" y="1719718"/>
                  </a:lnTo>
                  <a:lnTo>
                    <a:pt x="1642165" y="1697841"/>
                  </a:lnTo>
                  <a:lnTo>
                    <a:pt x="1645925" y="1666512"/>
                  </a:lnTo>
                  <a:lnTo>
                    <a:pt x="1651989" y="1652248"/>
                  </a:lnTo>
                  <a:lnTo>
                    <a:pt x="1644512" y="1645010"/>
                  </a:lnTo>
                  <a:lnTo>
                    <a:pt x="1635203" y="1641456"/>
                  </a:lnTo>
                  <a:lnTo>
                    <a:pt x="1622740" y="1626466"/>
                  </a:lnTo>
                  <a:lnTo>
                    <a:pt x="1603537" y="1617345"/>
                  </a:lnTo>
                  <a:lnTo>
                    <a:pt x="1561746" y="1600353"/>
                  </a:lnTo>
                  <a:lnTo>
                    <a:pt x="1535975" y="1583821"/>
                  </a:lnTo>
                  <a:lnTo>
                    <a:pt x="1495320" y="1570171"/>
                  </a:lnTo>
                  <a:lnTo>
                    <a:pt x="1457938" y="1536372"/>
                  </a:lnTo>
                  <a:lnTo>
                    <a:pt x="1466907" y="1532947"/>
                  </a:lnTo>
                  <a:lnTo>
                    <a:pt x="1446638" y="1513629"/>
                  </a:lnTo>
                  <a:lnTo>
                    <a:pt x="1445811" y="1498125"/>
                  </a:lnTo>
                  <a:lnTo>
                    <a:pt x="1417232" y="1490880"/>
                  </a:lnTo>
                  <a:lnTo>
                    <a:pt x="1403610" y="1510708"/>
                  </a:lnTo>
                  <a:lnTo>
                    <a:pt x="1390490" y="1495325"/>
                  </a:lnTo>
                  <a:lnTo>
                    <a:pt x="1391485" y="1479387"/>
                  </a:lnTo>
                  <a:lnTo>
                    <a:pt x="1393067" y="1478645"/>
                  </a:lnTo>
                  <a:lnTo>
                    <a:pt x="1402961" y="1474474"/>
                  </a:lnTo>
                  <a:lnTo>
                    <a:pt x="1367581" y="1467789"/>
                  </a:lnTo>
                  <a:lnTo>
                    <a:pt x="1331441" y="1484082"/>
                  </a:lnTo>
                  <a:lnTo>
                    <a:pt x="1333896" y="1506879"/>
                  </a:lnTo>
                  <a:lnTo>
                    <a:pt x="1328454" y="1519966"/>
                  </a:lnTo>
                  <a:lnTo>
                    <a:pt x="1343025" y="1543343"/>
                  </a:lnTo>
                  <a:lnTo>
                    <a:pt x="1384703" y="1566479"/>
                  </a:lnTo>
                  <a:lnTo>
                    <a:pt x="1407061" y="1604440"/>
                  </a:lnTo>
                  <a:lnTo>
                    <a:pt x="1456524" y="1641456"/>
                  </a:lnTo>
                  <a:lnTo>
                    <a:pt x="1491357" y="1641170"/>
                  </a:lnTo>
                  <a:lnTo>
                    <a:pt x="1502184" y="1651320"/>
                  </a:lnTo>
                  <a:lnTo>
                    <a:pt x="1489710" y="1660469"/>
                  </a:lnTo>
                  <a:lnTo>
                    <a:pt x="1529529" y="1677065"/>
                  </a:lnTo>
                  <a:lnTo>
                    <a:pt x="1562164" y="1690962"/>
                  </a:lnTo>
                  <a:lnTo>
                    <a:pt x="1600276" y="1714905"/>
                  </a:lnTo>
                  <a:lnTo>
                    <a:pt x="1604880" y="1723485"/>
                  </a:lnTo>
                  <a:lnTo>
                    <a:pt x="1596578" y="1739925"/>
                  </a:lnTo>
                  <a:lnTo>
                    <a:pt x="1571909" y="1718488"/>
                  </a:lnTo>
                  <a:lnTo>
                    <a:pt x="1533289" y="1710928"/>
                  </a:lnTo>
                  <a:lnTo>
                    <a:pt x="1514577" y="1740634"/>
                  </a:lnTo>
                  <a:lnTo>
                    <a:pt x="1546705" y="1757662"/>
                  </a:lnTo>
                  <a:lnTo>
                    <a:pt x="1541433" y="1781625"/>
                  </a:lnTo>
                  <a:lnTo>
                    <a:pt x="1522860" y="1784344"/>
                  </a:lnTo>
                  <a:lnTo>
                    <a:pt x="1499124" y="1823737"/>
                  </a:lnTo>
                  <a:lnTo>
                    <a:pt x="1480589" y="1827274"/>
                  </a:lnTo>
                  <a:lnTo>
                    <a:pt x="1480768" y="1813229"/>
                  </a:lnTo>
                  <a:lnTo>
                    <a:pt x="1489835" y="1788604"/>
                  </a:lnTo>
                  <a:lnTo>
                    <a:pt x="1499490" y="1778797"/>
                  </a:lnTo>
                  <a:lnTo>
                    <a:pt x="1482135" y="1752177"/>
                  </a:lnTo>
                  <a:lnTo>
                    <a:pt x="1468570" y="1729024"/>
                  </a:lnTo>
                  <a:lnTo>
                    <a:pt x="1450113" y="1723292"/>
                  </a:lnTo>
                  <a:lnTo>
                    <a:pt x="1436993" y="1703472"/>
                  </a:lnTo>
                  <a:lnTo>
                    <a:pt x="1408431" y="1695122"/>
                  </a:lnTo>
                  <a:lnTo>
                    <a:pt x="1389201" y="1676670"/>
                  </a:lnTo>
                  <a:lnTo>
                    <a:pt x="1356308" y="1673693"/>
                  </a:lnTo>
                  <a:lnTo>
                    <a:pt x="1321574" y="1652962"/>
                  </a:lnTo>
                  <a:lnTo>
                    <a:pt x="1280911" y="1623066"/>
                  </a:lnTo>
                  <a:lnTo>
                    <a:pt x="1250693" y="1596614"/>
                  </a:lnTo>
                  <a:lnTo>
                    <a:pt x="1236824" y="1551214"/>
                  </a:lnTo>
                  <a:lnTo>
                    <a:pt x="1214708" y="1545877"/>
                  </a:lnTo>
                  <a:lnTo>
                    <a:pt x="1178544" y="1530724"/>
                  </a:lnTo>
                  <a:lnTo>
                    <a:pt x="1158087" y="1536922"/>
                  </a:lnTo>
                  <a:lnTo>
                    <a:pt x="1132403" y="1558233"/>
                  </a:lnTo>
                  <a:lnTo>
                    <a:pt x="1113930" y="1561602"/>
                  </a:lnTo>
                  <a:lnTo>
                    <a:pt x="1073659" y="1587549"/>
                  </a:lnTo>
                  <a:lnTo>
                    <a:pt x="985985" y="1575112"/>
                  </a:lnTo>
                  <a:lnTo>
                    <a:pt x="921250" y="1590010"/>
                  </a:lnTo>
                  <a:lnTo>
                    <a:pt x="916163" y="1617667"/>
                  </a:lnTo>
                  <a:lnTo>
                    <a:pt x="918537" y="1644349"/>
                  </a:lnTo>
                  <a:lnTo>
                    <a:pt x="876417" y="1674935"/>
                  </a:lnTo>
                  <a:lnTo>
                    <a:pt x="819457" y="1684642"/>
                  </a:lnTo>
                  <a:lnTo>
                    <a:pt x="815494" y="1700092"/>
                  </a:lnTo>
                  <a:lnTo>
                    <a:pt x="788174" y="1725543"/>
                  </a:lnTo>
                  <a:lnTo>
                    <a:pt x="771044" y="1762923"/>
                  </a:lnTo>
                  <a:lnTo>
                    <a:pt x="788380" y="1789173"/>
                  </a:lnTo>
                  <a:lnTo>
                    <a:pt x="762669" y="1809658"/>
                  </a:lnTo>
                  <a:lnTo>
                    <a:pt x="753054" y="1839518"/>
                  </a:lnTo>
                  <a:lnTo>
                    <a:pt x="719499" y="1848664"/>
                  </a:lnTo>
                  <a:lnTo>
                    <a:pt x="688023" y="1883982"/>
                  </a:lnTo>
                  <a:lnTo>
                    <a:pt x="631603" y="1884679"/>
                  </a:lnTo>
                  <a:lnTo>
                    <a:pt x="589234" y="1883805"/>
                  </a:lnTo>
                  <a:lnTo>
                    <a:pt x="561396" y="1900026"/>
                  </a:lnTo>
                  <a:lnTo>
                    <a:pt x="544420" y="1917376"/>
                  </a:lnTo>
                  <a:lnTo>
                    <a:pt x="522670" y="1913564"/>
                  </a:lnTo>
                  <a:lnTo>
                    <a:pt x="506210" y="1898053"/>
                  </a:lnTo>
                  <a:lnTo>
                    <a:pt x="493608" y="1871637"/>
                  </a:lnTo>
                  <a:lnTo>
                    <a:pt x="452115" y="1864518"/>
                  </a:lnTo>
                  <a:lnTo>
                    <a:pt x="434250" y="1876439"/>
                  </a:lnTo>
                  <a:lnTo>
                    <a:pt x="410815" y="1869983"/>
                  </a:lnTo>
                  <a:lnTo>
                    <a:pt x="387879" y="1875034"/>
                  </a:lnTo>
                  <a:lnTo>
                    <a:pt x="394667" y="1839095"/>
                  </a:lnTo>
                  <a:lnTo>
                    <a:pt x="390492" y="1810860"/>
                  </a:lnTo>
                  <a:lnTo>
                    <a:pt x="370603" y="1806625"/>
                  </a:lnTo>
                  <a:lnTo>
                    <a:pt x="359979" y="1789221"/>
                  </a:lnTo>
                  <a:lnTo>
                    <a:pt x="363517" y="1759159"/>
                  </a:lnTo>
                  <a:lnTo>
                    <a:pt x="381235" y="1742487"/>
                  </a:lnTo>
                  <a:lnTo>
                    <a:pt x="384390" y="1723925"/>
                  </a:lnTo>
                  <a:lnTo>
                    <a:pt x="393664" y="1696308"/>
                  </a:lnTo>
                  <a:lnTo>
                    <a:pt x="392681" y="1676852"/>
                  </a:lnTo>
                  <a:lnTo>
                    <a:pt x="383791" y="1660357"/>
                  </a:lnTo>
                  <a:lnTo>
                    <a:pt x="381835" y="1644873"/>
                  </a:lnTo>
                  <a:lnTo>
                    <a:pt x="384076" y="1612165"/>
                  </a:lnTo>
                  <a:lnTo>
                    <a:pt x="365918" y="1592244"/>
                  </a:lnTo>
                  <a:lnTo>
                    <a:pt x="428800" y="1559096"/>
                  </a:lnTo>
                  <a:lnTo>
                    <a:pt x="483193" y="1567390"/>
                  </a:lnTo>
                  <a:lnTo>
                    <a:pt x="542877" y="1567096"/>
                  </a:lnTo>
                  <a:lnTo>
                    <a:pt x="590173" y="1574938"/>
                  </a:lnTo>
                  <a:lnTo>
                    <a:pt x="627078" y="1572533"/>
                  </a:lnTo>
                  <a:lnTo>
                    <a:pt x="698918" y="1574047"/>
                  </a:lnTo>
                  <a:lnTo>
                    <a:pt x="721903" y="1546502"/>
                  </a:lnTo>
                  <a:lnTo>
                    <a:pt x="730367" y="1455013"/>
                  </a:lnTo>
                  <a:lnTo>
                    <a:pt x="684499" y="1406810"/>
                  </a:lnTo>
                  <a:lnTo>
                    <a:pt x="651717" y="1383581"/>
                  </a:lnTo>
                  <a:lnTo>
                    <a:pt x="583781" y="1365911"/>
                  </a:lnTo>
                  <a:lnTo>
                    <a:pt x="579304" y="1332433"/>
                  </a:lnTo>
                  <a:lnTo>
                    <a:pt x="636934" y="1322440"/>
                  </a:lnTo>
                  <a:lnTo>
                    <a:pt x="711577" y="1334252"/>
                  </a:lnTo>
                  <a:lnTo>
                    <a:pt x="697491" y="1282265"/>
                  </a:lnTo>
                  <a:lnTo>
                    <a:pt x="739453" y="1301967"/>
                  </a:lnTo>
                  <a:lnTo>
                    <a:pt x="842936" y="1266153"/>
                  </a:lnTo>
                  <a:lnTo>
                    <a:pt x="856289" y="1228523"/>
                  </a:lnTo>
                  <a:lnTo>
                    <a:pt x="895156" y="1219256"/>
                  </a:lnTo>
                  <a:lnTo>
                    <a:pt x="930789" y="1210192"/>
                  </a:lnTo>
                  <a:lnTo>
                    <a:pt x="953689" y="1197581"/>
                  </a:lnTo>
                  <a:lnTo>
                    <a:pt x="992618" y="1130007"/>
                  </a:lnTo>
                  <a:lnTo>
                    <a:pt x="1053433" y="1110784"/>
                  </a:lnTo>
                  <a:lnTo>
                    <a:pt x="1090371" y="1112079"/>
                  </a:lnTo>
                  <a:lnTo>
                    <a:pt x="1099050" y="1102361"/>
                  </a:lnTo>
                  <a:lnTo>
                    <a:pt x="1136199" y="1099863"/>
                  </a:lnTo>
                  <a:lnTo>
                    <a:pt x="1144441" y="1109985"/>
                  </a:lnTo>
                  <a:lnTo>
                    <a:pt x="1174623" y="1087345"/>
                  </a:lnTo>
                  <a:lnTo>
                    <a:pt x="1164460" y="1070132"/>
                  </a:lnTo>
                  <a:lnTo>
                    <a:pt x="1162426" y="1044084"/>
                  </a:lnTo>
                  <a:lnTo>
                    <a:pt x="1144379" y="1018605"/>
                  </a:lnTo>
                  <a:lnTo>
                    <a:pt x="1143036" y="971652"/>
                  </a:lnTo>
                  <a:lnTo>
                    <a:pt x="1150442" y="959252"/>
                  </a:lnTo>
                  <a:lnTo>
                    <a:pt x="1163191" y="945475"/>
                  </a:lnTo>
                  <a:lnTo>
                    <a:pt x="1202350" y="942627"/>
                  </a:lnTo>
                  <a:lnTo>
                    <a:pt x="1217961" y="929963"/>
                  </a:lnTo>
                  <a:lnTo>
                    <a:pt x="1253716" y="917002"/>
                  </a:lnTo>
                  <a:lnTo>
                    <a:pt x="1252205" y="940617"/>
                  </a:lnTo>
                  <a:lnTo>
                    <a:pt x="1239049" y="955580"/>
                  </a:lnTo>
                  <a:lnTo>
                    <a:pt x="1244383" y="968437"/>
                  </a:lnTo>
                  <a:lnTo>
                    <a:pt x="1268483" y="975391"/>
                  </a:lnTo>
                  <a:lnTo>
                    <a:pt x="1257620" y="992714"/>
                  </a:lnTo>
                  <a:lnTo>
                    <a:pt x="1244383" y="987724"/>
                  </a:lnTo>
                  <a:lnTo>
                    <a:pt x="1212378" y="1020791"/>
                  </a:lnTo>
                  <a:lnTo>
                    <a:pt x="1224459" y="1043156"/>
                  </a:lnTo>
                  <a:lnTo>
                    <a:pt x="1225251" y="1060902"/>
                  </a:lnTo>
                  <a:lnTo>
                    <a:pt x="1270162" y="1071601"/>
                  </a:lnTo>
                  <a:lnTo>
                    <a:pt x="1269693" y="1087903"/>
                  </a:lnTo>
                  <a:lnTo>
                    <a:pt x="1314889" y="1079281"/>
                  </a:lnTo>
                  <a:lnTo>
                    <a:pt x="1339878" y="1066696"/>
                  </a:lnTo>
                  <a:lnTo>
                    <a:pt x="1390064" y="1084837"/>
                  </a:lnTo>
                  <a:lnTo>
                    <a:pt x="1411051" y="1099460"/>
                  </a:lnTo>
                  <a:lnTo>
                    <a:pt x="1441421" y="1085975"/>
                  </a:lnTo>
                  <a:lnTo>
                    <a:pt x="1510790" y="1064731"/>
                  </a:lnTo>
                  <a:lnTo>
                    <a:pt x="1566770" y="1049191"/>
                  </a:lnTo>
                  <a:lnTo>
                    <a:pt x="1611131" y="1056952"/>
                  </a:lnTo>
                  <a:lnTo>
                    <a:pt x="1614481" y="1068156"/>
                  </a:lnTo>
                  <a:lnTo>
                    <a:pt x="1657350" y="1068736"/>
                  </a:lnTo>
                  <a:lnTo>
                    <a:pt x="1667475" y="1048529"/>
                  </a:lnTo>
                  <a:lnTo>
                    <a:pt x="1728816" y="1033632"/>
                  </a:lnTo>
                  <a:lnTo>
                    <a:pt x="1719366" y="995026"/>
                  </a:lnTo>
                  <a:lnTo>
                    <a:pt x="1720905" y="960457"/>
                  </a:lnTo>
                  <a:lnTo>
                    <a:pt x="1742747" y="931614"/>
                  </a:lnTo>
                  <a:lnTo>
                    <a:pt x="1784644" y="915929"/>
                  </a:lnTo>
                  <a:lnTo>
                    <a:pt x="1819938" y="950243"/>
                  </a:lnTo>
                  <a:lnTo>
                    <a:pt x="1855598" y="949351"/>
                  </a:lnTo>
                  <a:lnTo>
                    <a:pt x="1864141" y="914090"/>
                  </a:lnTo>
                  <a:lnTo>
                    <a:pt x="1869304" y="886996"/>
                  </a:lnTo>
                  <a:lnTo>
                    <a:pt x="1852955" y="892782"/>
                  </a:lnTo>
                  <a:lnTo>
                    <a:pt x="1824748" y="876471"/>
                  </a:lnTo>
                  <a:lnTo>
                    <a:pt x="1820890" y="850081"/>
                  </a:lnTo>
                  <a:lnTo>
                    <a:pt x="1877093" y="837288"/>
                  </a:lnTo>
                  <a:lnTo>
                    <a:pt x="1933100" y="830620"/>
                  </a:lnTo>
                  <a:lnTo>
                    <a:pt x="1981327" y="838205"/>
                  </a:lnTo>
                  <a:lnTo>
                    <a:pt x="2027190" y="836845"/>
                  </a:lnTo>
                  <a:lnTo>
                    <a:pt x="2077712" y="811470"/>
                  </a:lnTo>
                  <a:lnTo>
                    <a:pt x="2031148" y="789637"/>
                  </a:lnTo>
                  <a:lnTo>
                    <a:pt x="1950480" y="793292"/>
                  </a:lnTo>
                  <a:lnTo>
                    <a:pt x="1872310" y="810127"/>
                  </a:lnTo>
                  <a:lnTo>
                    <a:pt x="1799989" y="819809"/>
                  </a:lnTo>
                  <a:lnTo>
                    <a:pt x="1774261" y="794761"/>
                  </a:lnTo>
                  <a:lnTo>
                    <a:pt x="1731209" y="779681"/>
                  </a:lnTo>
                  <a:lnTo>
                    <a:pt x="1741103" y="734444"/>
                  </a:lnTo>
                  <a:lnTo>
                    <a:pt x="1719518" y="693013"/>
                  </a:lnTo>
                  <a:lnTo>
                    <a:pt x="1740710" y="666267"/>
                  </a:lnTo>
                  <a:lnTo>
                    <a:pt x="1781009" y="637427"/>
                  </a:lnTo>
                  <a:lnTo>
                    <a:pt x="1882703" y="587626"/>
                  </a:lnTo>
                  <a:lnTo>
                    <a:pt x="1912376" y="578018"/>
                  </a:lnTo>
                  <a:lnTo>
                    <a:pt x="1907755" y="558593"/>
                  </a:lnTo>
                  <a:lnTo>
                    <a:pt x="1845942" y="536898"/>
                  </a:lnTo>
                  <a:lnTo>
                    <a:pt x="1769478" y="549895"/>
                  </a:lnTo>
                  <a:lnTo>
                    <a:pt x="1726371" y="581939"/>
                  </a:lnTo>
                  <a:lnTo>
                    <a:pt x="1733314" y="610064"/>
                  </a:lnTo>
                  <a:lnTo>
                    <a:pt x="1662605" y="646988"/>
                  </a:lnTo>
                  <a:lnTo>
                    <a:pt x="1576770" y="686490"/>
                  </a:lnTo>
                  <a:lnTo>
                    <a:pt x="1544401" y="751161"/>
                  </a:lnTo>
                  <a:lnTo>
                    <a:pt x="1576041" y="783518"/>
                  </a:lnTo>
                  <a:lnTo>
                    <a:pt x="1618545" y="808998"/>
                  </a:lnTo>
                  <a:lnTo>
                    <a:pt x="1577723" y="860800"/>
                  </a:lnTo>
                  <a:lnTo>
                    <a:pt x="1531493" y="871546"/>
                  </a:lnTo>
                  <a:lnTo>
                    <a:pt x="1514531" y="948645"/>
                  </a:lnTo>
                  <a:lnTo>
                    <a:pt x="1489292" y="991665"/>
                  </a:lnTo>
                  <a:lnTo>
                    <a:pt x="1435365" y="987228"/>
                  </a:lnTo>
                  <a:lnTo>
                    <a:pt x="1410208" y="1023647"/>
                  </a:lnTo>
                  <a:lnTo>
                    <a:pt x="1358742" y="1025761"/>
                  </a:lnTo>
                  <a:lnTo>
                    <a:pt x="1344618" y="982351"/>
                  </a:lnTo>
                  <a:lnTo>
                    <a:pt x="1307412" y="930238"/>
                  </a:lnTo>
                  <a:lnTo>
                    <a:pt x="1273594" y="865293"/>
                  </a:lnTo>
                  <a:lnTo>
                    <a:pt x="1243786" y="837103"/>
                  </a:lnTo>
                  <a:lnTo>
                    <a:pt x="1156015" y="890220"/>
                  </a:lnTo>
                  <a:lnTo>
                    <a:pt x="1096754" y="900983"/>
                  </a:lnTo>
                  <a:lnTo>
                    <a:pt x="1035280" y="877601"/>
                  </a:lnTo>
                  <a:lnTo>
                    <a:pt x="1019385" y="828220"/>
                  </a:lnTo>
                  <a:lnTo>
                    <a:pt x="1005331" y="722237"/>
                  </a:lnTo>
                  <a:lnTo>
                    <a:pt x="1046260" y="692690"/>
                  </a:lnTo>
                  <a:lnTo>
                    <a:pt x="1163636" y="654133"/>
                  </a:lnTo>
                  <a:lnTo>
                    <a:pt x="1251388" y="606740"/>
                  </a:lnTo>
                  <a:lnTo>
                    <a:pt x="1332757" y="542739"/>
                  </a:lnTo>
                  <a:lnTo>
                    <a:pt x="1439571" y="454058"/>
                  </a:lnTo>
                  <a:lnTo>
                    <a:pt x="1514008" y="419498"/>
                  </a:lnTo>
                  <a:lnTo>
                    <a:pt x="1636164" y="361899"/>
                  </a:lnTo>
                  <a:lnTo>
                    <a:pt x="1733705" y="341793"/>
                  </a:lnTo>
                  <a:lnTo>
                    <a:pt x="1806834" y="344237"/>
                  </a:lnTo>
                  <a:lnTo>
                    <a:pt x="1874532" y="306192"/>
                  </a:lnTo>
                  <a:lnTo>
                    <a:pt x="1955583" y="308222"/>
                  </a:lnTo>
                  <a:lnTo>
                    <a:pt x="2035389" y="299076"/>
                  </a:lnTo>
                  <a:lnTo>
                    <a:pt x="2174428" y="332672"/>
                  </a:lnTo>
                  <a:lnTo>
                    <a:pt x="2117175" y="344963"/>
                  </a:lnTo>
                  <a:lnTo>
                    <a:pt x="2165874" y="373812"/>
                  </a:lnTo>
                  <a:lnTo>
                    <a:pt x="2211729" y="357840"/>
                  </a:lnTo>
                  <a:lnTo>
                    <a:pt x="2284753" y="385595"/>
                  </a:lnTo>
                  <a:lnTo>
                    <a:pt x="2406483" y="396527"/>
                  </a:lnTo>
                  <a:lnTo>
                    <a:pt x="2574432" y="448466"/>
                  </a:lnTo>
                  <a:lnTo>
                    <a:pt x="2608543" y="470290"/>
                  </a:lnTo>
                  <a:lnTo>
                    <a:pt x="2611486" y="500857"/>
                  </a:lnTo>
                  <a:lnTo>
                    <a:pt x="2562139" y="524985"/>
                  </a:lnTo>
                  <a:lnTo>
                    <a:pt x="2489550" y="537237"/>
                  </a:lnTo>
                  <a:lnTo>
                    <a:pt x="2291118" y="502326"/>
                  </a:lnTo>
                  <a:lnTo>
                    <a:pt x="2258483" y="508167"/>
                  </a:lnTo>
                  <a:lnTo>
                    <a:pt x="2330953" y="541803"/>
                  </a:lnTo>
                  <a:lnTo>
                    <a:pt x="2336688" y="610028"/>
                  </a:lnTo>
                  <a:lnTo>
                    <a:pt x="2393914" y="624034"/>
                  </a:lnTo>
                  <a:lnTo>
                    <a:pt x="2428654" y="635955"/>
                  </a:lnTo>
                  <a:lnTo>
                    <a:pt x="2434397" y="613691"/>
                  </a:lnTo>
                  <a:lnTo>
                    <a:pt x="2406643" y="593229"/>
                  </a:lnTo>
                  <a:lnTo>
                    <a:pt x="2435908" y="576557"/>
                  </a:lnTo>
                  <a:lnTo>
                    <a:pt x="2543363" y="605142"/>
                  </a:lnTo>
                  <a:lnTo>
                    <a:pt x="2580799" y="593953"/>
                  </a:lnTo>
                  <a:lnTo>
                    <a:pt x="2550883" y="560320"/>
                  </a:lnTo>
                  <a:lnTo>
                    <a:pt x="2654469" y="515340"/>
                  </a:lnTo>
                  <a:lnTo>
                    <a:pt x="2695497" y="517986"/>
                  </a:lnTo>
                  <a:lnTo>
                    <a:pt x="2737004" y="534042"/>
                  </a:lnTo>
                  <a:lnTo>
                    <a:pt x="2762891" y="502483"/>
                  </a:lnTo>
                  <a:lnTo>
                    <a:pt x="2725829" y="475103"/>
                  </a:lnTo>
                  <a:lnTo>
                    <a:pt x="2747585" y="447640"/>
                  </a:lnTo>
                  <a:lnTo>
                    <a:pt x="2714912" y="419147"/>
                  </a:lnTo>
                  <a:lnTo>
                    <a:pt x="2839249" y="433880"/>
                  </a:lnTo>
                  <a:lnTo>
                    <a:pt x="2864638" y="459608"/>
                  </a:lnTo>
                  <a:lnTo>
                    <a:pt x="2808364" y="465273"/>
                  </a:lnTo>
                  <a:lnTo>
                    <a:pt x="2808665" y="490828"/>
                  </a:lnTo>
                  <a:lnTo>
                    <a:pt x="2843650" y="506550"/>
                  </a:lnTo>
                  <a:lnTo>
                    <a:pt x="2912332" y="496594"/>
                  </a:lnTo>
                  <a:lnTo>
                    <a:pt x="2923195" y="467294"/>
                  </a:lnTo>
                  <a:lnTo>
                    <a:pt x="3016053" y="445425"/>
                  </a:lnTo>
                  <a:lnTo>
                    <a:pt x="3171175" y="405987"/>
                  </a:lnTo>
                  <a:lnTo>
                    <a:pt x="3204697" y="408246"/>
                  </a:lnTo>
                  <a:lnTo>
                    <a:pt x="3160880" y="436122"/>
                  </a:lnTo>
                  <a:lnTo>
                    <a:pt x="3216016" y="440907"/>
                  </a:lnTo>
                  <a:lnTo>
                    <a:pt x="3247859" y="425218"/>
                  </a:lnTo>
                  <a:lnTo>
                    <a:pt x="3331175" y="423951"/>
                  </a:lnTo>
                  <a:lnTo>
                    <a:pt x="3397186" y="404911"/>
                  </a:lnTo>
                  <a:lnTo>
                    <a:pt x="3447832" y="432576"/>
                  </a:lnTo>
                  <a:lnTo>
                    <a:pt x="3498343" y="402167"/>
                  </a:lnTo>
                  <a:lnTo>
                    <a:pt x="3451769" y="375558"/>
                  </a:lnTo>
                  <a:lnTo>
                    <a:pt x="3474884" y="360402"/>
                  </a:lnTo>
                  <a:lnTo>
                    <a:pt x="3606188" y="374299"/>
                  </a:lnTo>
                  <a:lnTo>
                    <a:pt x="3667708" y="388654"/>
                  </a:lnTo>
                  <a:lnTo>
                    <a:pt x="3828793" y="441128"/>
                  </a:lnTo>
                  <a:lnTo>
                    <a:pt x="3858514" y="417090"/>
                  </a:lnTo>
                  <a:lnTo>
                    <a:pt x="3813343" y="392816"/>
                  </a:lnTo>
                  <a:lnTo>
                    <a:pt x="3812046" y="383070"/>
                  </a:lnTo>
                  <a:lnTo>
                    <a:pt x="3758475" y="378560"/>
                  </a:lnTo>
                  <a:lnTo>
                    <a:pt x="3773133" y="356792"/>
                  </a:lnTo>
                  <a:lnTo>
                    <a:pt x="3749354" y="320961"/>
                  </a:lnTo>
                  <a:lnTo>
                    <a:pt x="3748011" y="306257"/>
                  </a:lnTo>
                  <a:lnTo>
                    <a:pt x="3830039" y="264677"/>
                  </a:lnTo>
                  <a:lnTo>
                    <a:pt x="3859206" y="222933"/>
                  </a:lnTo>
                  <a:lnTo>
                    <a:pt x="3892270" y="213904"/>
                  </a:lnTo>
                  <a:lnTo>
                    <a:pt x="4009947" y="226019"/>
                  </a:lnTo>
                  <a:lnTo>
                    <a:pt x="4019217" y="251562"/>
                  </a:lnTo>
                  <a:lnTo>
                    <a:pt x="3977079" y="288806"/>
                  </a:lnTo>
                  <a:lnTo>
                    <a:pt x="4004727" y="303448"/>
                  </a:lnTo>
                  <a:lnTo>
                    <a:pt x="4019030" y="335557"/>
                  </a:lnTo>
                  <a:lnTo>
                    <a:pt x="4008932" y="398484"/>
                  </a:lnTo>
                  <a:lnTo>
                    <a:pt x="4057970" y="426634"/>
                  </a:lnTo>
                  <a:lnTo>
                    <a:pt x="4038892" y="457285"/>
                  </a:lnTo>
                  <a:lnTo>
                    <a:pt x="3951831" y="522513"/>
                  </a:lnTo>
                  <a:lnTo>
                    <a:pt x="4002638" y="529282"/>
                  </a:lnTo>
                  <a:lnTo>
                    <a:pt x="4020310" y="512750"/>
                  </a:lnTo>
                  <a:lnTo>
                    <a:pt x="4069223" y="500958"/>
                  </a:lnTo>
                  <a:lnTo>
                    <a:pt x="4081022" y="478234"/>
                  </a:lnTo>
                  <a:lnTo>
                    <a:pt x="4119498" y="456365"/>
                  </a:lnTo>
                  <a:lnTo>
                    <a:pt x="4093592" y="430253"/>
                  </a:lnTo>
                  <a:lnTo>
                    <a:pt x="4114333" y="399933"/>
                  </a:lnTo>
                  <a:lnTo>
                    <a:pt x="4065721" y="396160"/>
                  </a:lnTo>
                  <a:lnTo>
                    <a:pt x="4055037" y="370616"/>
                  </a:lnTo>
                  <a:lnTo>
                    <a:pt x="4090507" y="324499"/>
                  </a:lnTo>
                  <a:lnTo>
                    <a:pt x="4032774" y="287062"/>
                  </a:lnTo>
                  <a:lnTo>
                    <a:pt x="4112333" y="256100"/>
                  </a:lnTo>
                  <a:lnTo>
                    <a:pt x="4102037" y="223448"/>
                  </a:lnTo>
                  <a:lnTo>
                    <a:pt x="4124208" y="222400"/>
                  </a:lnTo>
                  <a:lnTo>
                    <a:pt x="4147562" y="247871"/>
                  </a:lnTo>
                  <a:lnTo>
                    <a:pt x="4130033" y="292178"/>
                  </a:lnTo>
                  <a:lnTo>
                    <a:pt x="4177595" y="300573"/>
                  </a:lnTo>
                  <a:lnTo>
                    <a:pt x="4157323" y="267452"/>
                  </a:lnTo>
                  <a:lnTo>
                    <a:pt x="4231716" y="249396"/>
                  </a:lnTo>
                  <a:lnTo>
                    <a:pt x="4323967" y="246968"/>
                  </a:lnTo>
                  <a:lnTo>
                    <a:pt x="4406112" y="273145"/>
                  </a:lnTo>
                  <a:lnTo>
                    <a:pt x="4366578" y="234901"/>
                  </a:lnTo>
                  <a:lnTo>
                    <a:pt x="4362150" y="185972"/>
                  </a:lnTo>
                  <a:lnTo>
                    <a:pt x="4439449" y="176706"/>
                  </a:lnTo>
                  <a:lnTo>
                    <a:pt x="4546358" y="178735"/>
                  </a:lnTo>
                  <a:lnTo>
                    <a:pt x="4642684" y="172720"/>
                  </a:lnTo>
                  <a:lnTo>
                    <a:pt x="4606563" y="148710"/>
                  </a:lnTo>
                  <a:lnTo>
                    <a:pt x="4657999" y="118547"/>
                  </a:lnTo>
                  <a:lnTo>
                    <a:pt x="4709063" y="117288"/>
                  </a:lnTo>
                  <a:lnTo>
                    <a:pt x="4795491" y="94503"/>
                  </a:lnTo>
                  <a:lnTo>
                    <a:pt x="4912867" y="88384"/>
                  </a:lnTo>
                  <a:lnTo>
                    <a:pt x="4927697" y="75801"/>
                  </a:lnTo>
                  <a:lnTo>
                    <a:pt x="5044413" y="71541"/>
                  </a:lnTo>
                  <a:lnTo>
                    <a:pt x="5080781" y="81853"/>
                  </a:lnTo>
                  <a:lnTo>
                    <a:pt x="5180536" y="57450"/>
                  </a:lnTo>
                  <a:lnTo>
                    <a:pt x="5262200" y="58212"/>
                  </a:lnTo>
                  <a:lnTo>
                    <a:pt x="5274449" y="38393"/>
                  </a:lnTo>
                  <a:lnTo>
                    <a:pt x="5316927" y="18847"/>
                  </a:lnTo>
                  <a:lnTo>
                    <a:pt x="5421864" y="0"/>
                  </a:lnTo>
                  <a:lnTo>
                    <a:pt x="5498097" y="14878"/>
                  </a:lnTo>
                  <a:lnTo>
                    <a:pt x="5437572" y="26194"/>
                  </a:lnTo>
                  <a:lnTo>
                    <a:pt x="5538260" y="33229"/>
                  </a:lnTo>
                  <a:close/>
                </a:path>
              </a:pathLst>
            </a:custGeom>
            <a:solidFill>
              <a:srgbClr val="E6EBE2"/>
            </a:solidFill>
            <a:ln w="4403">
              <a:solidFill>
                <a:srgbClr val="B6C3B3"/>
              </a:solidFill>
              <a:prstDash val="solid"/>
            </a:ln>
          </p:spPr>
          <p:txBody>
            <a:bodyPr/>
            <a:p/>
          </p:txBody>
        </p:sp>
        <p:sp>
          <p:nvSpPr>
            <p:cNvPr id="120" name="land-104">
              <a:extLst>
                <a:ext uri="{FF2B5EF4-FFF2-40B4-BE49-F238E27FC236}">
                  <a16:creationId xmlns:a16="http://schemas.microsoft.com/office/drawing/2014/main" id="{BC08213D-F6D0-4913-919C-5A588213FA06}"/>
                </a:ext>
              </a:extLst>
            </p:cNvPr>
            <p:cNvSpPr>
              <a:spLocks/>
            </p:cNvSpPr>
            <p:nvPr/>
          </p:nvSpPr>
          <p:spPr>
            <a:xfrm>
              <a:off x="9685622" y="646448"/>
              <a:ext cx="85839" cy="11211"/>
            </a:xfrm>
            <a:custGeom>
              <a:avLst/>
              <a:gdLst/>
              <a:ahLst/>
              <a:cxnLst/>
              <a:rect l="0" t="0" r="0" b="0"/>
              <a:pathLst>
                <a:path w="120711" h="15765">
                  <a:moveTo>
                    <a:pt x="115406" y="14449"/>
                  </a:moveTo>
                  <a:lnTo>
                    <a:pt x="95154" y="15765"/>
                  </a:lnTo>
                  <a:lnTo>
                    <a:pt x="11853" y="12837"/>
                  </a:lnTo>
                  <a:lnTo>
                    <a:pt x="0" y="0"/>
                  </a:lnTo>
                  <a:lnTo>
                    <a:pt x="89510" y="672"/>
                  </a:lnTo>
                  <a:lnTo>
                    <a:pt x="120711" y="9199"/>
                  </a:lnTo>
                  <a:lnTo>
                    <a:pt x="115406" y="14449"/>
                  </a:lnTo>
                  <a:close/>
                </a:path>
              </a:pathLst>
            </a:custGeom>
            <a:solidFill>
              <a:srgbClr val="E6EBE2"/>
            </a:solidFill>
            <a:ln w="4403">
              <a:solidFill>
                <a:srgbClr val="B6C3B3"/>
              </a:solidFill>
              <a:prstDash val="solid"/>
            </a:ln>
          </p:spPr>
          <p:txBody>
            <a:bodyPr/>
            <a:p/>
          </p:txBody>
        </p:sp>
        <p:sp>
          <p:nvSpPr>
            <p:cNvPr id="121" name="land-105">
              <a:extLst>
                <a:ext uri="{FF2B5EF4-FFF2-40B4-BE49-F238E27FC236}">
                  <a16:creationId xmlns:a16="http://schemas.microsoft.com/office/drawing/2014/main" id="{AD141F9F-E61B-43A1-AE59-05C9FFFD0A98}"/>
                </a:ext>
              </a:extLst>
            </p:cNvPr>
            <p:cNvSpPr>
              <a:spLocks/>
            </p:cNvSpPr>
            <p:nvPr/>
          </p:nvSpPr>
          <p:spPr>
            <a:xfrm>
              <a:off x="9145174" y="636053"/>
              <a:ext cx="116315" cy="24288"/>
            </a:xfrm>
            <a:custGeom>
              <a:avLst/>
              <a:gdLst/>
              <a:ahLst/>
              <a:cxnLst/>
              <a:rect l="0" t="0" r="0" b="0"/>
              <a:pathLst>
                <a:path w="163568" h="34155">
                  <a:moveTo>
                    <a:pt x="148789" y="20939"/>
                  </a:moveTo>
                  <a:lnTo>
                    <a:pt x="65923" y="34155"/>
                  </a:lnTo>
                  <a:lnTo>
                    <a:pt x="0" y="19323"/>
                  </a:lnTo>
                  <a:lnTo>
                    <a:pt x="35991" y="4680"/>
                  </a:lnTo>
                  <a:lnTo>
                    <a:pt x="100894" y="0"/>
                  </a:lnTo>
                  <a:lnTo>
                    <a:pt x="163568" y="7193"/>
                  </a:lnTo>
                  <a:lnTo>
                    <a:pt x="148789" y="20939"/>
                  </a:lnTo>
                  <a:close/>
                </a:path>
              </a:pathLst>
            </a:custGeom>
            <a:solidFill>
              <a:srgbClr val="E6EBE2"/>
            </a:solidFill>
            <a:ln w="4403">
              <a:solidFill>
                <a:srgbClr val="B6C3B3"/>
              </a:solidFill>
              <a:prstDash val="solid"/>
            </a:ln>
          </p:spPr>
          <p:txBody>
            <a:bodyPr/>
            <a:p/>
          </p:txBody>
        </p:sp>
        <p:sp>
          <p:nvSpPr>
            <p:cNvPr id="122" name="land-106">
              <a:extLst>
                <a:ext uri="{FF2B5EF4-FFF2-40B4-BE49-F238E27FC236}">
                  <a16:creationId xmlns:a16="http://schemas.microsoft.com/office/drawing/2014/main" id="{421A032B-B228-4B69-AA04-2222C965E176}"/>
                </a:ext>
              </a:extLst>
            </p:cNvPr>
            <p:cNvSpPr>
              <a:spLocks/>
            </p:cNvSpPr>
            <p:nvPr/>
          </p:nvSpPr>
          <p:spPr>
            <a:xfrm>
              <a:off x="2009793" y="626191"/>
              <a:ext cx="126376" cy="32984"/>
            </a:xfrm>
            <a:custGeom>
              <a:avLst/>
              <a:gdLst/>
              <a:ahLst/>
              <a:cxnLst/>
              <a:rect l="0" t="0" r="0" b="0"/>
              <a:pathLst>
                <a:path w="177716" h="46384">
                  <a:moveTo>
                    <a:pt x="177716" y="27605"/>
                  </a:moveTo>
                  <a:lnTo>
                    <a:pt x="78424" y="46384"/>
                  </a:lnTo>
                  <a:lnTo>
                    <a:pt x="0" y="35724"/>
                  </a:lnTo>
                  <a:lnTo>
                    <a:pt x="30675" y="23876"/>
                  </a:lnTo>
                  <a:lnTo>
                    <a:pt x="3818" y="9199"/>
                  </a:lnTo>
                  <a:lnTo>
                    <a:pt x="95934" y="0"/>
                  </a:lnTo>
                  <a:lnTo>
                    <a:pt x="113584" y="17240"/>
                  </a:lnTo>
                  <a:lnTo>
                    <a:pt x="177716" y="27605"/>
                  </a:lnTo>
                  <a:close/>
                </a:path>
              </a:pathLst>
            </a:custGeom>
            <a:solidFill>
              <a:srgbClr val="E6EBE2"/>
            </a:solidFill>
            <a:ln w="4403">
              <a:solidFill>
                <a:srgbClr val="B6C3B3"/>
              </a:solidFill>
              <a:prstDash val="solid"/>
            </a:ln>
          </p:spPr>
          <p:txBody>
            <a:bodyPr/>
            <a:p/>
          </p:txBody>
        </p:sp>
        <p:sp>
          <p:nvSpPr>
            <p:cNvPr id="123" name="land-107">
              <a:extLst>
                <a:ext uri="{FF2B5EF4-FFF2-40B4-BE49-F238E27FC236}">
                  <a16:creationId xmlns:a16="http://schemas.microsoft.com/office/drawing/2014/main" id="{601F1ACE-457F-41BC-AB03-EEDA4C81B127}"/>
                </a:ext>
              </a:extLst>
            </p:cNvPr>
            <p:cNvSpPr>
              <a:spLocks/>
            </p:cNvSpPr>
            <p:nvPr/>
          </p:nvSpPr>
          <p:spPr>
            <a:xfrm>
              <a:off x="9176536" y="613289"/>
              <a:ext cx="91000" cy="14470"/>
            </a:xfrm>
            <a:custGeom>
              <a:avLst/>
              <a:gdLst/>
              <a:ahLst/>
              <a:cxnLst/>
              <a:rect l="0" t="0" r="0" b="0"/>
              <a:pathLst>
                <a:path w="127969" h="20348">
                  <a:moveTo>
                    <a:pt x="127969" y="11390"/>
                  </a:moveTo>
                  <a:lnTo>
                    <a:pt x="73822" y="20348"/>
                  </a:lnTo>
                  <a:lnTo>
                    <a:pt x="0" y="20303"/>
                  </a:lnTo>
                  <a:lnTo>
                    <a:pt x="720" y="13751"/>
                  </a:lnTo>
                  <a:lnTo>
                    <a:pt x="46321" y="0"/>
                  </a:lnTo>
                  <a:lnTo>
                    <a:pt x="70161" y="2092"/>
                  </a:lnTo>
                  <a:lnTo>
                    <a:pt x="127969" y="11390"/>
                  </a:lnTo>
                  <a:close/>
                </a:path>
              </a:pathLst>
            </a:custGeom>
            <a:solidFill>
              <a:srgbClr val="E6EBE2"/>
            </a:solidFill>
            <a:ln w="4403">
              <a:solidFill>
                <a:srgbClr val="B6C3B3"/>
              </a:solidFill>
              <a:prstDash val="solid"/>
            </a:ln>
          </p:spPr>
          <p:txBody>
            <a:bodyPr/>
            <a:p/>
          </p:txBody>
        </p:sp>
        <p:sp>
          <p:nvSpPr>
            <p:cNvPr id="124" name="land-108">
              <a:extLst>
                <a:ext uri="{FF2B5EF4-FFF2-40B4-BE49-F238E27FC236}">
                  <a16:creationId xmlns:a16="http://schemas.microsoft.com/office/drawing/2014/main" id="{C15BAAF0-CA7E-4E24-A611-CDB671F41723}"/>
                </a:ext>
              </a:extLst>
            </p:cNvPr>
            <p:cNvSpPr>
              <a:spLocks/>
            </p:cNvSpPr>
            <p:nvPr/>
          </p:nvSpPr>
          <p:spPr>
            <a:xfrm>
              <a:off x="9616219" y="612573"/>
              <a:ext cx="97125" cy="33354"/>
            </a:xfrm>
            <a:custGeom>
              <a:avLst/>
              <a:gdLst/>
              <a:ahLst/>
              <a:cxnLst/>
              <a:rect l="0" t="0" r="0" b="0"/>
              <a:pathLst>
                <a:path w="136582" h="46904">
                  <a:moveTo>
                    <a:pt x="124535" y="37428"/>
                  </a:moveTo>
                  <a:lnTo>
                    <a:pt x="58769" y="46904"/>
                  </a:lnTo>
                  <a:lnTo>
                    <a:pt x="22567" y="36237"/>
                  </a:lnTo>
                  <a:lnTo>
                    <a:pt x="3517" y="19005"/>
                  </a:lnTo>
                  <a:lnTo>
                    <a:pt x="0" y="0"/>
                  </a:lnTo>
                  <a:lnTo>
                    <a:pt x="57552" y="1834"/>
                  </a:lnTo>
                  <a:lnTo>
                    <a:pt x="83459" y="4873"/>
                  </a:lnTo>
                  <a:lnTo>
                    <a:pt x="136582" y="20832"/>
                  </a:lnTo>
                  <a:lnTo>
                    <a:pt x="124535" y="37428"/>
                  </a:lnTo>
                  <a:close/>
                </a:path>
              </a:pathLst>
            </a:custGeom>
            <a:solidFill>
              <a:srgbClr val="E6EBE2"/>
            </a:solidFill>
            <a:ln w="4403">
              <a:solidFill>
                <a:srgbClr val="B6C3B3"/>
              </a:solidFill>
              <a:prstDash val="solid"/>
            </a:ln>
          </p:spPr>
          <p:txBody>
            <a:bodyPr/>
            <a:p/>
          </p:txBody>
        </p:sp>
        <p:sp>
          <p:nvSpPr>
            <p:cNvPr id="125" name="land-109">
              <a:extLst>
                <a:ext uri="{FF2B5EF4-FFF2-40B4-BE49-F238E27FC236}">
                  <a16:creationId xmlns:a16="http://schemas.microsoft.com/office/drawing/2014/main" id="{42E233ED-439C-4F1D-95E4-EF0D27208085}"/>
                </a:ext>
              </a:extLst>
            </p:cNvPr>
            <p:cNvSpPr>
              <a:spLocks/>
            </p:cNvSpPr>
            <p:nvPr/>
          </p:nvSpPr>
          <p:spPr>
            <a:xfrm>
              <a:off x="9399373" y="598541"/>
              <a:ext cx="184006" cy="45526"/>
            </a:xfrm>
            <a:custGeom>
              <a:avLst/>
              <a:gdLst/>
              <a:ahLst/>
              <a:cxnLst/>
              <a:rect l="0" t="0" r="0" b="0"/>
              <a:pathLst>
                <a:path w="258759" h="64020">
                  <a:moveTo>
                    <a:pt x="241457" y="44861"/>
                  </a:moveTo>
                  <a:lnTo>
                    <a:pt x="258759" y="64020"/>
                  </a:lnTo>
                  <a:lnTo>
                    <a:pt x="186172" y="58903"/>
                  </a:lnTo>
                  <a:lnTo>
                    <a:pt x="113013" y="44012"/>
                  </a:lnTo>
                  <a:lnTo>
                    <a:pt x="14053" y="42308"/>
                  </a:lnTo>
                  <a:lnTo>
                    <a:pt x="56979" y="28665"/>
                  </a:lnTo>
                  <a:lnTo>
                    <a:pt x="3232" y="17601"/>
                  </a:lnTo>
                  <a:lnTo>
                    <a:pt x="0" y="0"/>
                  </a:lnTo>
                  <a:lnTo>
                    <a:pt x="87256" y="6257"/>
                  </a:lnTo>
                  <a:lnTo>
                    <a:pt x="207454" y="23014"/>
                  </a:lnTo>
                  <a:lnTo>
                    <a:pt x="241457" y="44861"/>
                  </a:lnTo>
                  <a:close/>
                </a:path>
              </a:pathLst>
            </a:custGeom>
            <a:solidFill>
              <a:srgbClr val="E6EBE2"/>
            </a:solidFill>
            <a:ln w="4403">
              <a:solidFill>
                <a:srgbClr val="B6C3B3"/>
              </a:solidFill>
              <a:prstDash val="solid"/>
            </a:ln>
          </p:spPr>
          <p:txBody>
            <a:bodyPr/>
            <a:p/>
          </p:txBody>
        </p:sp>
        <p:sp>
          <p:nvSpPr>
            <p:cNvPr id="126" name="land-110">
              <a:extLst>
                <a:ext uri="{FF2B5EF4-FFF2-40B4-BE49-F238E27FC236}">
                  <a16:creationId xmlns:a16="http://schemas.microsoft.com/office/drawing/2014/main" id="{E582DE1F-8760-488F-ACA2-579747886FD7}"/>
                </a:ext>
              </a:extLst>
            </p:cNvPr>
            <p:cNvSpPr>
              <a:spLocks/>
            </p:cNvSpPr>
            <p:nvPr/>
          </p:nvSpPr>
          <p:spPr>
            <a:xfrm>
              <a:off x="4497796" y="597078"/>
              <a:ext cx="187576" cy="46550"/>
            </a:xfrm>
            <a:custGeom>
              <a:avLst/>
              <a:gdLst/>
              <a:ahLst/>
              <a:cxnLst/>
              <a:rect l="0" t="0" r="0" b="0"/>
              <a:pathLst>
                <a:path w="263779" h="65461">
                  <a:moveTo>
                    <a:pt x="250579" y="47739"/>
                  </a:moveTo>
                  <a:lnTo>
                    <a:pt x="0" y="65461"/>
                  </a:lnTo>
                  <a:lnTo>
                    <a:pt x="81199" y="5163"/>
                  </a:lnTo>
                  <a:lnTo>
                    <a:pt x="117713" y="0"/>
                  </a:lnTo>
                  <a:lnTo>
                    <a:pt x="151116" y="2991"/>
                  </a:lnTo>
                  <a:lnTo>
                    <a:pt x="263779" y="29073"/>
                  </a:lnTo>
                  <a:lnTo>
                    <a:pt x="250579" y="47739"/>
                  </a:lnTo>
                  <a:close/>
                </a:path>
              </a:pathLst>
            </a:custGeom>
            <a:solidFill>
              <a:srgbClr val="E6EBE2"/>
            </a:solidFill>
            <a:ln w="4403">
              <a:solidFill>
                <a:srgbClr val="B6C3B3"/>
              </a:solidFill>
              <a:prstDash val="solid"/>
            </a:ln>
          </p:spPr>
          <p:txBody>
            <a:bodyPr/>
            <a:p/>
          </p:txBody>
        </p:sp>
        <p:sp>
          <p:nvSpPr>
            <p:cNvPr id="127" name="land-111">
              <a:extLst>
                <a:ext uri="{FF2B5EF4-FFF2-40B4-BE49-F238E27FC236}">
                  <a16:creationId xmlns:a16="http://schemas.microsoft.com/office/drawing/2014/main" id="{C39C9DF2-BC4B-4A7F-A5ED-ABDF12F00331}"/>
                </a:ext>
              </a:extLst>
            </p:cNvPr>
            <p:cNvSpPr>
              <a:spLocks/>
            </p:cNvSpPr>
            <p:nvPr/>
          </p:nvSpPr>
          <p:spPr>
            <a:xfrm>
              <a:off x="1684807" y="575733"/>
              <a:ext cx="350837" cy="105468"/>
            </a:xfrm>
            <a:custGeom>
              <a:avLst/>
              <a:gdLst/>
              <a:ahLst/>
              <a:cxnLst/>
              <a:rect l="0" t="0" r="0" b="0"/>
              <a:pathLst>
                <a:path w="493364" h="148314">
                  <a:moveTo>
                    <a:pt x="347034" y="13697"/>
                  </a:moveTo>
                  <a:lnTo>
                    <a:pt x="493364" y="47940"/>
                  </a:lnTo>
                  <a:lnTo>
                    <a:pt x="381507" y="66011"/>
                  </a:lnTo>
                  <a:lnTo>
                    <a:pt x="356809" y="99807"/>
                  </a:lnTo>
                  <a:lnTo>
                    <a:pt x="317812" y="108475"/>
                  </a:lnTo>
                  <a:lnTo>
                    <a:pt x="296645" y="146525"/>
                  </a:lnTo>
                  <a:lnTo>
                    <a:pt x="243080" y="148314"/>
                  </a:lnTo>
                  <a:lnTo>
                    <a:pt x="147488" y="120305"/>
                  </a:lnTo>
                  <a:lnTo>
                    <a:pt x="187803" y="103988"/>
                  </a:lnTo>
                  <a:lnTo>
                    <a:pt x="121174" y="90703"/>
                  </a:lnTo>
                  <a:lnTo>
                    <a:pt x="34572" y="51926"/>
                  </a:lnTo>
                  <a:lnTo>
                    <a:pt x="0" y="15964"/>
                  </a:lnTo>
                  <a:lnTo>
                    <a:pt x="117641" y="0"/>
                  </a:lnTo>
                  <a:lnTo>
                    <a:pt x="121909" y="0"/>
                  </a:lnTo>
                  <a:lnTo>
                    <a:pt x="145529" y="15596"/>
                  </a:lnTo>
                  <a:lnTo>
                    <a:pt x="208839" y="14957"/>
                  </a:lnTo>
                  <a:lnTo>
                    <a:pt x="224924" y="0"/>
                  </a:lnTo>
                  <a:lnTo>
                    <a:pt x="299150" y="0"/>
                  </a:lnTo>
                  <a:lnTo>
                    <a:pt x="347034" y="13697"/>
                  </a:lnTo>
                  <a:close/>
                </a:path>
              </a:pathLst>
            </a:custGeom>
            <a:solidFill>
              <a:srgbClr val="E6EBE2"/>
            </a:solidFill>
            <a:ln w="4403">
              <a:solidFill>
                <a:srgbClr val="B6C3B3"/>
              </a:solidFill>
              <a:prstDash val="solid"/>
            </a:ln>
          </p:spPr>
          <p:txBody>
            <a:bodyPr/>
            <a:p/>
          </p:txBody>
        </p:sp>
        <p:sp>
          <p:nvSpPr>
            <p:cNvPr id="128" name="land-112">
              <a:extLst>
                <a:ext uri="{FF2B5EF4-FFF2-40B4-BE49-F238E27FC236}">
                  <a16:creationId xmlns:a16="http://schemas.microsoft.com/office/drawing/2014/main" id="{2AD0E907-5B6A-4C49-8639-E0A6A8AD0072}"/>
                </a:ext>
              </a:extLst>
            </p:cNvPr>
            <p:cNvSpPr>
              <a:spLocks/>
            </p:cNvSpPr>
            <p:nvPr/>
          </p:nvSpPr>
          <p:spPr>
            <a:xfrm>
              <a:off x="1927680" y="575733"/>
              <a:ext cx="288399" cy="19594"/>
            </a:xfrm>
            <a:custGeom>
              <a:avLst/>
              <a:gdLst/>
              <a:ahLst/>
              <a:cxnLst/>
              <a:rect l="0" t="0" r="0" b="0"/>
              <a:pathLst>
                <a:path w="405561" h="27554">
                  <a:moveTo>
                    <a:pt x="405561" y="0"/>
                  </a:moveTo>
                  <a:lnTo>
                    <a:pt x="346551" y="22143"/>
                  </a:lnTo>
                  <a:lnTo>
                    <a:pt x="217638" y="27554"/>
                  </a:lnTo>
                  <a:lnTo>
                    <a:pt x="86542" y="19893"/>
                  </a:lnTo>
                  <a:lnTo>
                    <a:pt x="78634" y="7239"/>
                  </a:lnTo>
                  <a:lnTo>
                    <a:pt x="14848" y="6435"/>
                  </a:lnTo>
                  <a:lnTo>
                    <a:pt x="0" y="0"/>
                  </a:lnTo>
                  <a:close/>
                </a:path>
              </a:pathLst>
            </a:custGeom>
            <a:solidFill>
              <a:srgbClr val="E6EBE2"/>
            </a:solidFill>
            <a:ln w="4403">
              <a:solidFill>
                <a:srgbClr val="B6C3B3"/>
              </a:solidFill>
              <a:prstDash val="solid"/>
            </a:ln>
          </p:spPr>
          <p:txBody>
            <a:bodyPr/>
            <a:p/>
          </p:txBody>
        </p:sp>
        <p:sp>
          <p:nvSpPr>
            <p:cNvPr id="129" name="land-113">
              <a:extLst>
                <a:ext uri="{FF2B5EF4-FFF2-40B4-BE49-F238E27FC236}">
                  <a16:creationId xmlns:a16="http://schemas.microsoft.com/office/drawing/2014/main" id="{B75773E7-0851-4367-B44F-5D69DAEB29D3}"/>
                </a:ext>
              </a:extLst>
            </p:cNvPr>
            <p:cNvSpPr>
              <a:spLocks/>
            </p:cNvSpPr>
            <p:nvPr/>
          </p:nvSpPr>
          <p:spPr>
            <a:xfrm>
              <a:off x="4284787" y="575733"/>
              <a:ext cx="236669" cy="40619"/>
            </a:xfrm>
            <a:custGeom>
              <a:avLst/>
              <a:gdLst/>
              <a:ahLst/>
              <a:cxnLst/>
              <a:rect l="0" t="0" r="0" b="0"/>
              <a:pathLst>
                <a:path w="332815" h="57120">
                  <a:moveTo>
                    <a:pt x="321841" y="51392"/>
                  </a:moveTo>
                  <a:lnTo>
                    <a:pt x="224859" y="57120"/>
                  </a:lnTo>
                  <a:lnTo>
                    <a:pt x="101050" y="43869"/>
                  </a:lnTo>
                  <a:lnTo>
                    <a:pt x="27276" y="26337"/>
                  </a:lnTo>
                  <a:lnTo>
                    <a:pt x="0" y="0"/>
                  </a:lnTo>
                  <a:lnTo>
                    <a:pt x="309538" y="0"/>
                  </a:lnTo>
                  <a:lnTo>
                    <a:pt x="332815" y="10097"/>
                  </a:lnTo>
                  <a:lnTo>
                    <a:pt x="321841" y="51392"/>
                  </a:lnTo>
                  <a:close/>
                </a:path>
              </a:pathLst>
            </a:custGeom>
            <a:solidFill>
              <a:srgbClr val="E6EBE2"/>
            </a:solidFill>
            <a:ln w="4403">
              <a:solidFill>
                <a:srgbClr val="B6C3B3"/>
              </a:solidFill>
              <a:prstDash val="solid"/>
            </a:ln>
          </p:spPr>
          <p:txBody>
            <a:bodyPr/>
            <a:p/>
          </p:txBody>
        </p:sp>
        <p:sp>
          <p:nvSpPr>
            <p:cNvPr id="130" name="land-114">
              <a:extLst>
                <a:ext uri="{FF2B5EF4-FFF2-40B4-BE49-F238E27FC236}">
                  <a16:creationId xmlns:a16="http://schemas.microsoft.com/office/drawing/2014/main" id="{5FFD1F79-E6BC-4AA3-9376-104D9F0E7F2E}"/>
                </a:ext>
              </a:extLst>
            </p:cNvPr>
            <p:cNvSpPr>
              <a:spLocks/>
            </p:cNvSpPr>
            <p:nvPr/>
          </p:nvSpPr>
          <p:spPr>
            <a:xfrm>
              <a:off x="9683959" y="575733"/>
              <a:ext cx="337412" cy="58282"/>
            </a:xfrm>
            <a:custGeom>
              <a:avLst/>
              <a:gdLst/>
              <a:ahLst/>
              <a:cxnLst/>
              <a:rect l="0" t="0" r="0" b="0"/>
              <a:pathLst>
                <a:path w="474485" h="81959">
                  <a:moveTo>
                    <a:pt x="420894" y="15614"/>
                  </a:moveTo>
                  <a:lnTo>
                    <a:pt x="474485" y="30452"/>
                  </a:lnTo>
                  <a:lnTo>
                    <a:pt x="413446" y="44119"/>
                  </a:lnTo>
                  <a:lnTo>
                    <a:pt x="331312" y="78657"/>
                  </a:lnTo>
                  <a:lnTo>
                    <a:pt x="252679" y="81959"/>
                  </a:lnTo>
                  <a:lnTo>
                    <a:pt x="160564" y="76081"/>
                  </a:lnTo>
                  <a:lnTo>
                    <a:pt x="112804" y="57360"/>
                  </a:lnTo>
                  <a:lnTo>
                    <a:pt x="113490" y="40701"/>
                  </a:lnTo>
                  <a:lnTo>
                    <a:pt x="148627" y="28468"/>
                  </a:lnTo>
                  <a:lnTo>
                    <a:pt x="67339" y="28818"/>
                  </a:lnTo>
                  <a:lnTo>
                    <a:pt x="18349" y="13547"/>
                  </a:lnTo>
                  <a:lnTo>
                    <a:pt x="0" y="0"/>
                  </a:lnTo>
                  <a:lnTo>
                    <a:pt x="402804" y="0"/>
                  </a:lnTo>
                  <a:lnTo>
                    <a:pt x="420894" y="15614"/>
                  </a:lnTo>
                  <a:close/>
                </a:path>
              </a:pathLst>
            </a:custGeom>
            <a:solidFill>
              <a:srgbClr val="E6EBE2"/>
            </a:solidFill>
            <a:ln w="4403">
              <a:solidFill>
                <a:srgbClr val="B6C3B3"/>
              </a:solidFill>
              <a:prstDash val="solid"/>
            </a:ln>
          </p:spPr>
          <p:txBody>
            <a:bodyPr/>
            <a:p/>
          </p:txBody>
        </p:sp>
        <p:sp>
          <p:nvSpPr>
            <p:cNvPr id="131" name="land-115">
              <a:extLst>
                <a:ext uri="{FF2B5EF4-FFF2-40B4-BE49-F238E27FC236}">
                  <a16:creationId xmlns:a16="http://schemas.microsoft.com/office/drawing/2014/main" id="{EE2E30DC-87C5-469D-A2BB-F3A77BAEC74E}"/>
                </a:ext>
              </a:extLst>
            </p:cNvPr>
            <p:cNvSpPr>
              <a:spLocks/>
            </p:cNvSpPr>
            <p:nvPr/>
          </p:nvSpPr>
          <p:spPr>
            <a:xfrm>
              <a:off x="9901201" y="575733"/>
              <a:ext cx="595981" cy="124812"/>
            </a:xfrm>
            <a:custGeom>
              <a:avLst/>
              <a:gdLst/>
              <a:ahLst/>
              <a:cxnLst/>
              <a:rect l="0" t="0" r="0" b="0"/>
              <a:pathLst>
                <a:path w="838099" h="175516">
                  <a:moveTo>
                    <a:pt x="838099" y="0"/>
                  </a:moveTo>
                  <a:lnTo>
                    <a:pt x="819485" y="9185"/>
                  </a:lnTo>
                  <a:lnTo>
                    <a:pt x="727793" y="16801"/>
                  </a:lnTo>
                  <a:lnTo>
                    <a:pt x="699470" y="26169"/>
                  </a:lnTo>
                  <a:lnTo>
                    <a:pt x="564887" y="31086"/>
                  </a:lnTo>
                  <a:lnTo>
                    <a:pt x="626161" y="36847"/>
                  </a:lnTo>
                  <a:lnTo>
                    <a:pt x="595436" y="45048"/>
                  </a:lnTo>
                  <a:lnTo>
                    <a:pt x="632197" y="67701"/>
                  </a:lnTo>
                  <a:lnTo>
                    <a:pt x="589965" y="83446"/>
                  </a:lnTo>
                  <a:lnTo>
                    <a:pt x="521291" y="96445"/>
                  </a:lnTo>
                  <a:lnTo>
                    <a:pt x="500214" y="114416"/>
                  </a:lnTo>
                  <a:lnTo>
                    <a:pt x="438125" y="128143"/>
                  </a:lnTo>
                  <a:lnTo>
                    <a:pt x="444342" y="138536"/>
                  </a:lnTo>
                  <a:lnTo>
                    <a:pt x="520297" y="136760"/>
                  </a:lnTo>
                  <a:lnTo>
                    <a:pt x="521265" y="147970"/>
                  </a:lnTo>
                  <a:lnTo>
                    <a:pt x="402488" y="175516"/>
                  </a:lnTo>
                  <a:lnTo>
                    <a:pt x="286334" y="162846"/>
                  </a:lnTo>
                  <a:lnTo>
                    <a:pt x="155764" y="169965"/>
                  </a:lnTo>
                  <a:lnTo>
                    <a:pt x="89616" y="164408"/>
                  </a:lnTo>
                  <a:lnTo>
                    <a:pt x="5575" y="162002"/>
                  </a:lnTo>
                  <a:lnTo>
                    <a:pt x="0" y="139971"/>
                  </a:lnTo>
                  <a:lnTo>
                    <a:pt x="82175" y="129583"/>
                  </a:lnTo>
                  <a:lnTo>
                    <a:pt x="60279" y="96441"/>
                  </a:lnTo>
                  <a:lnTo>
                    <a:pt x="87393" y="93216"/>
                  </a:lnTo>
                  <a:lnTo>
                    <a:pt x="206237" y="113032"/>
                  </a:lnTo>
                  <a:lnTo>
                    <a:pt x="145623" y="83582"/>
                  </a:lnTo>
                  <a:lnTo>
                    <a:pt x="73528" y="74773"/>
                  </a:lnTo>
                  <a:lnTo>
                    <a:pt x="109530" y="57007"/>
                  </a:lnTo>
                  <a:lnTo>
                    <a:pt x="188353" y="46066"/>
                  </a:lnTo>
                  <a:lnTo>
                    <a:pt x="200965" y="30061"/>
                  </a:lnTo>
                  <a:lnTo>
                    <a:pt x="138184" y="12113"/>
                  </a:lnTo>
                  <a:lnTo>
                    <a:pt x="128526" y="0"/>
                  </a:lnTo>
                  <a:close/>
                </a:path>
              </a:pathLst>
            </a:custGeom>
            <a:solidFill>
              <a:srgbClr val="E6EBE2"/>
            </a:solidFill>
            <a:ln w="4403">
              <a:solidFill>
                <a:srgbClr val="B6C3B3"/>
              </a:solidFill>
              <a:prstDash val="solid"/>
            </a:ln>
          </p:spPr>
          <p:txBody>
            <a:bodyPr/>
            <a:p/>
          </p:txBody>
        </p:sp>
        <p:sp>
          <p:nvSpPr>
            <p:cNvPr id="132" name="land-116">
              <a:extLst>
                <a:ext uri="{FF2B5EF4-FFF2-40B4-BE49-F238E27FC236}">
                  <a16:creationId xmlns:a16="http://schemas.microsoft.com/office/drawing/2014/main" id="{034701A4-131F-4948-ACF5-18FD2DBACF67}"/>
                </a:ext>
              </a:extLst>
            </p:cNvPr>
            <p:cNvSpPr>
              <a:spLocks/>
            </p:cNvSpPr>
            <p:nvPr/>
          </p:nvSpPr>
          <p:spPr>
            <a:xfrm>
              <a:off x="406400" y="575733"/>
              <a:ext cx="381283" cy="385206"/>
            </a:xfrm>
            <a:custGeom>
              <a:avLst/>
              <a:gdLst/>
              <a:ahLst/>
              <a:cxnLst/>
              <a:rect l="0" t="0" r="0" b="0"/>
              <a:pathLst>
                <a:path w="536179" h="541695">
                  <a:moveTo>
                    <a:pt x="536179" y="0"/>
                  </a:moveTo>
                  <a:lnTo>
                    <a:pt x="493395" y="27554"/>
                  </a:lnTo>
                  <a:lnTo>
                    <a:pt x="457613" y="57346"/>
                  </a:lnTo>
                  <a:lnTo>
                    <a:pt x="459012" y="108446"/>
                  </a:lnTo>
                  <a:lnTo>
                    <a:pt x="512382" y="138431"/>
                  </a:lnTo>
                  <a:lnTo>
                    <a:pt x="442943" y="140328"/>
                  </a:lnTo>
                  <a:lnTo>
                    <a:pt x="369849" y="154858"/>
                  </a:lnTo>
                  <a:lnTo>
                    <a:pt x="451876" y="179192"/>
                  </a:lnTo>
                  <a:lnTo>
                    <a:pt x="462326" y="218214"/>
                  </a:lnTo>
                  <a:lnTo>
                    <a:pt x="414799" y="222463"/>
                  </a:lnTo>
                  <a:lnTo>
                    <a:pt x="472379" y="261969"/>
                  </a:lnTo>
                  <a:lnTo>
                    <a:pt x="373637" y="265266"/>
                  </a:lnTo>
                  <a:lnTo>
                    <a:pt x="425185" y="283943"/>
                  </a:lnTo>
                  <a:lnTo>
                    <a:pt x="410614" y="300143"/>
                  </a:lnTo>
                  <a:lnTo>
                    <a:pt x="347945" y="307253"/>
                  </a:lnTo>
                  <a:lnTo>
                    <a:pt x="285994" y="307387"/>
                  </a:lnTo>
                  <a:lnTo>
                    <a:pt x="341682" y="338494"/>
                  </a:lnTo>
                  <a:lnTo>
                    <a:pt x="342285" y="358939"/>
                  </a:lnTo>
                  <a:lnTo>
                    <a:pt x="254328" y="339936"/>
                  </a:lnTo>
                  <a:lnTo>
                    <a:pt x="231453" y="352229"/>
                  </a:lnTo>
                  <a:lnTo>
                    <a:pt x="291460" y="363712"/>
                  </a:lnTo>
                  <a:lnTo>
                    <a:pt x="349697" y="391779"/>
                  </a:lnTo>
                  <a:lnTo>
                    <a:pt x="366554" y="428762"/>
                  </a:lnTo>
                  <a:lnTo>
                    <a:pt x="287323" y="437611"/>
                  </a:lnTo>
                  <a:lnTo>
                    <a:pt x="253053" y="419908"/>
                  </a:lnTo>
                  <a:lnTo>
                    <a:pt x="198095" y="393526"/>
                  </a:lnTo>
                  <a:lnTo>
                    <a:pt x="213300" y="424694"/>
                  </a:lnTo>
                  <a:lnTo>
                    <a:pt x="161675" y="448841"/>
                  </a:lnTo>
                  <a:lnTo>
                    <a:pt x="278816" y="450791"/>
                  </a:lnTo>
                  <a:lnTo>
                    <a:pt x="340086" y="453296"/>
                  </a:lnTo>
                  <a:lnTo>
                    <a:pt x="220949" y="493280"/>
                  </a:lnTo>
                  <a:lnTo>
                    <a:pt x="100129" y="529484"/>
                  </a:lnTo>
                  <a:lnTo>
                    <a:pt x="0" y="541695"/>
                  </a:lnTo>
                  <a:lnTo>
                    <a:pt x="0" y="0"/>
                  </a:lnTo>
                  <a:close/>
                </a:path>
              </a:pathLst>
            </a:custGeom>
            <a:solidFill>
              <a:srgbClr val="E6EBE2"/>
            </a:solidFill>
            <a:ln w="4403">
              <a:solidFill>
                <a:srgbClr val="B6C3B3"/>
              </a:solidFill>
              <a:prstDash val="solid"/>
            </a:ln>
          </p:spPr>
          <p:txBody>
            <a:bodyPr/>
            <a:p/>
          </p:txBody>
        </p:sp>
        <p:sp>
          <p:nvSpPr>
            <p:cNvPr id="133" name="land-117">
              <a:extLst>
                <a:ext uri="{FF2B5EF4-FFF2-40B4-BE49-F238E27FC236}">
                  <a16:creationId xmlns:a16="http://schemas.microsoft.com/office/drawing/2014/main" id="{81727C03-D590-455D-8290-C8A0FC1611B8}"/>
                </a:ext>
              </a:extLst>
            </p:cNvPr>
            <p:cNvSpPr>
              <a:spLocks/>
            </p:cNvSpPr>
            <p:nvPr/>
          </p:nvSpPr>
          <p:spPr>
            <a:xfrm>
              <a:off x="10417030" y="575733"/>
              <a:ext cx="1368570" cy="651942"/>
            </a:xfrm>
            <a:custGeom>
              <a:avLst/>
              <a:gdLst/>
              <a:ahLst/>
              <a:cxnLst/>
              <a:rect l="0" t="0" r="0" b="0"/>
              <a:pathLst>
                <a:path w="1924552" h="916794">
                  <a:moveTo>
                    <a:pt x="1924552" y="0"/>
                  </a:moveTo>
                  <a:lnTo>
                    <a:pt x="1924552" y="541695"/>
                  </a:lnTo>
                  <a:lnTo>
                    <a:pt x="1894605" y="545347"/>
                  </a:lnTo>
                  <a:lnTo>
                    <a:pt x="1845580" y="545543"/>
                  </a:lnTo>
                  <a:lnTo>
                    <a:pt x="1799600" y="563238"/>
                  </a:lnTo>
                  <a:lnTo>
                    <a:pt x="1737775" y="611721"/>
                  </a:lnTo>
                  <a:lnTo>
                    <a:pt x="1642168" y="643906"/>
                  </a:lnTo>
                  <a:lnTo>
                    <a:pt x="1611456" y="645799"/>
                  </a:lnTo>
                  <a:lnTo>
                    <a:pt x="1552281" y="657076"/>
                  </a:lnTo>
                  <a:lnTo>
                    <a:pt x="1488398" y="667806"/>
                  </a:lnTo>
                  <a:lnTo>
                    <a:pt x="1450315" y="696211"/>
                  </a:lnTo>
                  <a:lnTo>
                    <a:pt x="1449701" y="728401"/>
                  </a:lnTo>
                  <a:lnTo>
                    <a:pt x="1427214" y="758553"/>
                  </a:lnTo>
                  <a:lnTo>
                    <a:pt x="1354730" y="795299"/>
                  </a:lnTo>
                  <a:lnTo>
                    <a:pt x="1372631" y="831184"/>
                  </a:lnTo>
                  <a:lnTo>
                    <a:pt x="1352650" y="869158"/>
                  </a:lnTo>
                  <a:lnTo>
                    <a:pt x="1329882" y="913994"/>
                  </a:lnTo>
                  <a:lnTo>
                    <a:pt x="1267247" y="916794"/>
                  </a:lnTo>
                  <a:lnTo>
                    <a:pt x="1201633" y="879296"/>
                  </a:lnTo>
                  <a:lnTo>
                    <a:pt x="1112764" y="879060"/>
                  </a:lnTo>
                  <a:lnTo>
                    <a:pt x="1069641" y="853876"/>
                  </a:lnTo>
                  <a:lnTo>
                    <a:pt x="1039979" y="809028"/>
                  </a:lnTo>
                  <a:lnTo>
                    <a:pt x="962954" y="751920"/>
                  </a:lnTo>
                  <a:lnTo>
                    <a:pt x="940422" y="722000"/>
                  </a:lnTo>
                  <a:lnTo>
                    <a:pt x="934357" y="680747"/>
                  </a:lnTo>
                  <a:lnTo>
                    <a:pt x="872791" y="638365"/>
                  </a:lnTo>
                  <a:lnTo>
                    <a:pt x="888795" y="604522"/>
                  </a:lnTo>
                  <a:lnTo>
                    <a:pt x="859125" y="588334"/>
                  </a:lnTo>
                  <a:lnTo>
                    <a:pt x="903073" y="534667"/>
                  </a:lnTo>
                  <a:lnTo>
                    <a:pt x="969972" y="517584"/>
                  </a:lnTo>
                  <a:lnTo>
                    <a:pt x="987527" y="498377"/>
                  </a:lnTo>
                  <a:lnTo>
                    <a:pt x="996826" y="462497"/>
                  </a:lnTo>
                  <a:lnTo>
                    <a:pt x="946048" y="478762"/>
                  </a:lnTo>
                  <a:lnTo>
                    <a:pt x="921852" y="485594"/>
                  </a:lnTo>
                  <a:lnTo>
                    <a:pt x="881920" y="492140"/>
                  </a:lnTo>
                  <a:lnTo>
                    <a:pt x="827376" y="477150"/>
                  </a:lnTo>
                  <a:lnTo>
                    <a:pt x="824414" y="445954"/>
                  </a:lnTo>
                  <a:lnTo>
                    <a:pt x="841801" y="421523"/>
                  </a:lnTo>
                  <a:lnTo>
                    <a:pt x="883030" y="420860"/>
                  </a:lnTo>
                  <a:lnTo>
                    <a:pt x="973760" y="433074"/>
                  </a:lnTo>
                  <a:lnTo>
                    <a:pt x="897340" y="403909"/>
                  </a:lnTo>
                  <a:lnTo>
                    <a:pt x="857564" y="388188"/>
                  </a:lnTo>
                  <a:lnTo>
                    <a:pt x="813302" y="394647"/>
                  </a:lnTo>
                  <a:lnTo>
                    <a:pt x="776200" y="383262"/>
                  </a:lnTo>
                  <a:lnTo>
                    <a:pt x="825828" y="340470"/>
                  </a:lnTo>
                  <a:lnTo>
                    <a:pt x="798796" y="323370"/>
                  </a:lnTo>
                  <a:lnTo>
                    <a:pt x="763516" y="291629"/>
                  </a:lnTo>
                  <a:lnTo>
                    <a:pt x="710016" y="242927"/>
                  </a:lnTo>
                  <a:lnTo>
                    <a:pt x="653424" y="225092"/>
                  </a:lnTo>
                  <a:lnTo>
                    <a:pt x="653941" y="205865"/>
                  </a:lnTo>
                  <a:lnTo>
                    <a:pt x="534662" y="178995"/>
                  </a:lnTo>
                  <a:lnTo>
                    <a:pt x="440293" y="175651"/>
                  </a:lnTo>
                  <a:lnTo>
                    <a:pt x="321495" y="177503"/>
                  </a:lnTo>
                  <a:lnTo>
                    <a:pt x="213032" y="180876"/>
                  </a:lnTo>
                  <a:lnTo>
                    <a:pt x="161449" y="166257"/>
                  </a:lnTo>
                  <a:lnTo>
                    <a:pt x="84207" y="137379"/>
                  </a:lnTo>
                  <a:lnTo>
                    <a:pt x="200927" y="122933"/>
                  </a:lnTo>
                  <a:lnTo>
                    <a:pt x="290393" y="120507"/>
                  </a:lnTo>
                  <a:lnTo>
                    <a:pt x="100193" y="108567"/>
                  </a:lnTo>
                  <a:lnTo>
                    <a:pt x="0" y="89819"/>
                  </a:lnTo>
                  <a:lnTo>
                    <a:pt x="6117" y="71976"/>
                  </a:lnTo>
                  <a:lnTo>
                    <a:pt x="174402" y="49879"/>
                  </a:lnTo>
                  <a:lnTo>
                    <a:pt x="337211" y="27813"/>
                  </a:lnTo>
                  <a:lnTo>
                    <a:pt x="354404" y="11107"/>
                  </a:lnTo>
                  <a:lnTo>
                    <a:pt x="273593" y="0"/>
                  </a:lnTo>
                  <a:close/>
                </a:path>
              </a:pathLst>
            </a:custGeom>
            <a:solidFill>
              <a:srgbClr val="E6EBE2"/>
            </a:solidFill>
            <a:ln w="4403">
              <a:solidFill>
                <a:srgbClr val="B6C3B3"/>
              </a:solidFill>
              <a:prstDash val="solid"/>
            </a:ln>
          </p:spPr>
          <p:txBody>
            <a:bodyPr/>
            <a:p/>
          </p:txBody>
        </p:sp>
        <p:sp>
          <p:nvSpPr>
            <p:cNvPr id="134" name="map-top">
              <a:extLst>
                <a:ext uri="{FF2B5EF4-FFF2-40B4-BE49-F238E27FC236}">
                  <a16:creationId xmlns:a16="http://schemas.microsoft.com/office/drawing/2014/main" id="{32AA4AB9-B056-41CB-A0B0-758BCC5C455F}"/>
                </a:ext>
              </a:extLst>
            </p:cNvPr>
            <p:cNvSpPr>
              <a:spLocks/>
            </p:cNvSpPr>
            <p:nvPr/>
          </p:nvSpPr>
          <p:spPr>
            <a:xfrm>
              <a:off x="406400" y="575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txBody>
            <a:bodyPr/>
            <a:p/>
          </p:txBody>
        </p:sp>
        <p:sp>
          <p:nvSpPr>
            <p:cNvPr id="135" name="map-bottom">
              <a:extLst>
                <a:ext uri="{FF2B5EF4-FFF2-40B4-BE49-F238E27FC236}">
                  <a16:creationId xmlns:a16="http://schemas.microsoft.com/office/drawing/2014/main" id="{55FB29B8-E1D9-4401-9F51-C6BFAC54B349}"/>
                </a:ext>
              </a:extLst>
            </p:cNvPr>
            <p:cNvSpPr>
              <a:spLocks/>
            </p:cNvSpPr>
            <p:nvPr/>
          </p:nvSpPr>
          <p:spPr>
            <a:xfrm>
              <a:off x="406400" y="5147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txBody>
            <a:bodyPr/>
            <a:p/>
          </p:txBody>
        </p:sp>
        <p:sp>
          <p:nvSpPr>
            <p:cNvPr id="136" name="spadiceus-reference-shading">
              <a:extLst>
                <a:ext uri="{FF2B5EF4-FFF2-40B4-BE49-F238E27FC236}">
                  <a16:creationId xmlns:a16="http://schemas.microsoft.com/office/drawing/2014/main" id="{8EF8D735-B459-469E-B4EE-E2F0F30274B2}"/>
                </a:ext>
              </a:extLst>
            </p:cNvPr>
            <p:cNvSpPr>
              <a:spLocks/>
            </p:cNvSpPr>
            <p:nvPr/>
          </p:nvSpPr>
          <p:spPr>
            <a:xfrm>
              <a:off x="4325902" y="2241248"/>
              <a:ext cx="442524" cy="457200"/>
            </a:xfrm>
            <a:custGeom>
              <a:avLst/>
              <a:gdLst/>
              <a:ahLst/>
              <a:cxnLst/>
              <a:rect l="0" t="0" r="0" b="0"/>
              <a:pathLst>
                <a:path w="622300" h="642938">
                  <a:moveTo>
                    <a:pt x="177800" y="0"/>
                  </a:moveTo>
                  <a:lnTo>
                    <a:pt x="533400" y="91848"/>
                  </a:lnTo>
                  <a:lnTo>
                    <a:pt x="622300" y="413317"/>
                  </a:lnTo>
                  <a:lnTo>
                    <a:pt x="355600" y="642938"/>
                  </a:lnTo>
                  <a:lnTo>
                    <a:pt x="0" y="505165"/>
                  </a:lnTo>
                  <a:lnTo>
                    <a:pt x="44450" y="183696"/>
                  </a:lnTo>
                  <a:close/>
                </a:path>
              </a:pathLst>
            </a:custGeom>
            <a:solidFill>
              <a:srgbClr val="F0C660"/>
            </a:solidFill>
            <a:ln w="8805">
              <a:solidFill>
                <a:srgbClr val="A57A2B"/>
              </a:solidFill>
              <a:prstDash val="dash"/>
            </a:ln>
          </p:spPr>
          <p:txBody>
            <a:bodyPr/>
            <a:p/>
          </p:txBody>
        </p:sp>
        <p:sp>
          <p:nvSpPr>
            <p:cNvPr id="137" name="regional-SEA-SouthAsia">
              <a:extLst>
                <a:ext uri="{FF2B5EF4-FFF2-40B4-BE49-F238E27FC236}">
                  <a16:creationId xmlns:a16="http://schemas.microsoft.com/office/drawing/2014/main" id="{F4DF3AEE-F60E-465C-8FC0-B64C2B65BF97}"/>
                </a:ext>
              </a:extLst>
            </p:cNvPr>
            <p:cNvSpPr>
              <a:spLocks/>
            </p:cNvSpPr>
            <p:nvPr/>
          </p:nvSpPr>
          <p:spPr>
            <a:xfrm>
              <a:off x="3693724" y="2404533"/>
              <a:ext cx="727004" cy="228600"/>
            </a:xfrm>
            <a:custGeom>
              <a:avLst/>
              <a:gdLst/>
              <a:ahLst/>
              <a:cxnLst/>
              <a:rect l="0" t="0" r="0" b="0"/>
              <a:pathLst>
                <a:path w="1022350" h="321469">
                  <a:moveTo>
                    <a:pt x="1022350" y="321469"/>
                  </a:moveTo>
                  <a:lnTo>
                    <a:pt x="994097" y="307435"/>
                  </a:lnTo>
                  <a:lnTo>
                    <a:pt x="965509" y="294305"/>
                  </a:lnTo>
                  <a:lnTo>
                    <a:pt x="936620" y="282029"/>
                  </a:lnTo>
                  <a:lnTo>
                    <a:pt x="907463" y="270557"/>
                  </a:lnTo>
                  <a:lnTo>
                    <a:pt x="878073" y="259837"/>
                  </a:lnTo>
                  <a:lnTo>
                    <a:pt x="848484" y="249821"/>
                  </a:lnTo>
                  <a:lnTo>
                    <a:pt x="818729" y="240457"/>
                  </a:lnTo>
                  <a:lnTo>
                    <a:pt x="788843" y="231696"/>
                  </a:lnTo>
                  <a:lnTo>
                    <a:pt x="758860" y="223488"/>
                  </a:lnTo>
                  <a:lnTo>
                    <a:pt x="728814" y="215781"/>
                  </a:lnTo>
                  <a:lnTo>
                    <a:pt x="698739" y="208527"/>
                  </a:lnTo>
                  <a:lnTo>
                    <a:pt x="668668" y="201674"/>
                  </a:lnTo>
                  <a:lnTo>
                    <a:pt x="638637" y="195172"/>
                  </a:lnTo>
                  <a:lnTo>
                    <a:pt x="608678" y="188972"/>
                  </a:lnTo>
                  <a:lnTo>
                    <a:pt x="578826" y="183024"/>
                  </a:lnTo>
                  <a:lnTo>
                    <a:pt x="549115" y="177275"/>
                  </a:lnTo>
                  <a:lnTo>
                    <a:pt x="519579" y="171678"/>
                  </a:lnTo>
                  <a:lnTo>
                    <a:pt x="490253" y="166181"/>
                  </a:lnTo>
                  <a:lnTo>
                    <a:pt x="461169" y="160734"/>
                  </a:lnTo>
                  <a:lnTo>
                    <a:pt x="432362" y="155288"/>
                  </a:lnTo>
                  <a:lnTo>
                    <a:pt x="403866" y="149791"/>
                  </a:lnTo>
                  <a:lnTo>
                    <a:pt x="375716" y="144193"/>
                  </a:lnTo>
                  <a:lnTo>
                    <a:pt x="347944" y="138445"/>
                  </a:lnTo>
                  <a:lnTo>
                    <a:pt x="320586" y="132496"/>
                  </a:lnTo>
                  <a:lnTo>
                    <a:pt x="293674" y="126296"/>
                  </a:lnTo>
                  <a:lnTo>
                    <a:pt x="267244" y="119795"/>
                  </a:lnTo>
                  <a:lnTo>
                    <a:pt x="241330" y="112942"/>
                  </a:lnTo>
                  <a:lnTo>
                    <a:pt x="215964" y="105688"/>
                  </a:lnTo>
                  <a:lnTo>
                    <a:pt x="191181" y="97981"/>
                  </a:lnTo>
                  <a:lnTo>
                    <a:pt x="167016" y="89773"/>
                  </a:lnTo>
                  <a:lnTo>
                    <a:pt x="143503" y="81012"/>
                  </a:lnTo>
                  <a:lnTo>
                    <a:pt x="120674" y="71648"/>
                  </a:lnTo>
                  <a:lnTo>
                    <a:pt x="98565" y="61632"/>
                  </a:lnTo>
                  <a:lnTo>
                    <a:pt x="77209" y="50912"/>
                  </a:lnTo>
                  <a:lnTo>
                    <a:pt x="56641" y="39440"/>
                  </a:lnTo>
                  <a:lnTo>
                    <a:pt x="36894" y="27163"/>
                  </a:lnTo>
                  <a:lnTo>
                    <a:pt x="18002" y="14034"/>
                  </a:lnTo>
                  <a:lnTo>
                    <a:pt x="0" y="0"/>
                  </a:lnTo>
                </a:path>
              </a:pathLst>
            </a:custGeom>
            <a:noFill/>
            <a:ln w="18965">
              <a:solidFill>
                <a:srgbClr val="4F788A"/>
              </a:solidFill>
              <a:prstDash val="solid"/>
            </a:ln>
          </p:spPr>
          <p:txBody>
            <a:bodyPr/>
            <a:p/>
          </p:txBody>
        </p:sp>
        <p:sp>
          <p:nvSpPr>
            <p:cNvPr id="138" name="regional-SEA-SouthAsia-head">
              <a:extLst>
                <a:ext uri="{FF2B5EF4-FFF2-40B4-BE49-F238E27FC236}">
                  <a16:creationId xmlns:a16="http://schemas.microsoft.com/office/drawing/2014/main" id="{3FD28F2E-000A-4E6B-8D57-372B329B47AD}"/>
                </a:ext>
              </a:extLst>
            </p:cNvPr>
            <p:cNvSpPr>
              <a:spLocks/>
            </p:cNvSpPr>
            <p:nvPr/>
          </p:nvSpPr>
          <p:spPr>
            <a:xfrm>
              <a:off x="3693724" y="2404533"/>
              <a:ext cx="86591" cy="78819"/>
            </a:xfrm>
            <a:custGeom>
              <a:avLst/>
              <a:gdLst/>
              <a:ahLst/>
              <a:cxnLst/>
              <a:rect l="0" t="0" r="0" b="0"/>
              <a:pathLst>
                <a:path w="121768" h="110839">
                  <a:moveTo>
                    <a:pt x="0" y="0"/>
                  </a:moveTo>
                  <a:lnTo>
                    <a:pt x="58522" y="110839"/>
                  </a:lnTo>
                  <a:lnTo>
                    <a:pt x="121768" y="29708"/>
                  </a:lnTo>
                  <a:close/>
                </a:path>
              </a:pathLst>
            </a:custGeom>
            <a:solidFill>
              <a:srgbClr val="4F788A"/>
            </a:solidFill>
            <a:ln w="0">
              <a:noFill/>
              <a:prstDash val="solid"/>
            </a:ln>
          </p:spPr>
          <p:txBody>
            <a:bodyPr/>
            <a:p/>
          </p:txBody>
        </p:sp>
        <p:sp>
          <p:nvSpPr>
            <p:cNvPr id="139" name="regional-SouthAsia-WestAsia">
              <a:extLst>
                <a:ext uri="{FF2B5EF4-FFF2-40B4-BE49-F238E27FC236}">
                  <a16:creationId xmlns:a16="http://schemas.microsoft.com/office/drawing/2014/main" id="{4ABFF7F5-DF06-4415-B1E6-2893FE06AB9A}"/>
                </a:ext>
              </a:extLst>
            </p:cNvPr>
            <p:cNvSpPr>
              <a:spLocks/>
            </p:cNvSpPr>
            <p:nvPr/>
          </p:nvSpPr>
          <p:spPr>
            <a:xfrm>
              <a:off x="2777067" y="2077962"/>
              <a:ext cx="790222" cy="261257"/>
            </a:xfrm>
            <a:custGeom>
              <a:avLst/>
              <a:gdLst/>
              <a:ahLst/>
              <a:cxnLst/>
              <a:rect l="0" t="0" r="0" b="0"/>
              <a:pathLst>
                <a:path w="1111250" h="367393">
                  <a:moveTo>
                    <a:pt x="1111250" y="367393"/>
                  </a:moveTo>
                  <a:lnTo>
                    <a:pt x="1086592" y="349549"/>
                  </a:lnTo>
                  <a:lnTo>
                    <a:pt x="1061745" y="332269"/>
                  </a:lnTo>
                  <a:lnTo>
                    <a:pt x="1036704" y="315540"/>
                  </a:lnTo>
                  <a:lnTo>
                    <a:pt x="1011463" y="299354"/>
                  </a:lnTo>
                  <a:lnTo>
                    <a:pt x="986018" y="283700"/>
                  </a:lnTo>
                  <a:lnTo>
                    <a:pt x="960364" y="268568"/>
                  </a:lnTo>
                  <a:lnTo>
                    <a:pt x="934496" y="253948"/>
                  </a:lnTo>
                  <a:lnTo>
                    <a:pt x="908409" y="239831"/>
                  </a:lnTo>
                  <a:lnTo>
                    <a:pt x="882099" y="226206"/>
                  </a:lnTo>
                  <a:lnTo>
                    <a:pt x="855560" y="213063"/>
                  </a:lnTo>
                  <a:lnTo>
                    <a:pt x="828789" y="200392"/>
                  </a:lnTo>
                  <a:lnTo>
                    <a:pt x="801778" y="188182"/>
                  </a:lnTo>
                  <a:lnTo>
                    <a:pt x="774525" y="176425"/>
                  </a:lnTo>
                  <a:lnTo>
                    <a:pt x="747024" y="165110"/>
                  </a:lnTo>
                  <a:lnTo>
                    <a:pt x="719271" y="154226"/>
                  </a:lnTo>
                  <a:lnTo>
                    <a:pt x="691259" y="143765"/>
                  </a:lnTo>
                  <a:lnTo>
                    <a:pt x="662986" y="133715"/>
                  </a:lnTo>
                  <a:lnTo>
                    <a:pt x="634445" y="124067"/>
                  </a:lnTo>
                  <a:lnTo>
                    <a:pt x="605631" y="114810"/>
                  </a:lnTo>
                  <a:lnTo>
                    <a:pt x="576541" y="105935"/>
                  </a:lnTo>
                  <a:lnTo>
                    <a:pt x="547169" y="97432"/>
                  </a:lnTo>
                  <a:lnTo>
                    <a:pt x="517510" y="89291"/>
                  </a:lnTo>
                  <a:lnTo>
                    <a:pt x="487559" y="81500"/>
                  </a:lnTo>
                  <a:lnTo>
                    <a:pt x="457312" y="74052"/>
                  </a:lnTo>
                  <a:lnTo>
                    <a:pt x="426764" y="66934"/>
                  </a:lnTo>
                  <a:lnTo>
                    <a:pt x="395909" y="60139"/>
                  </a:lnTo>
                  <a:lnTo>
                    <a:pt x="364743" y="53654"/>
                  </a:lnTo>
                  <a:lnTo>
                    <a:pt x="333262" y="47471"/>
                  </a:lnTo>
                  <a:lnTo>
                    <a:pt x="301459" y="41579"/>
                  </a:lnTo>
                  <a:lnTo>
                    <a:pt x="269331" y="35968"/>
                  </a:lnTo>
                  <a:lnTo>
                    <a:pt x="236873" y="30628"/>
                  </a:lnTo>
                  <a:lnTo>
                    <a:pt x="204079" y="25550"/>
                  </a:lnTo>
                  <a:lnTo>
                    <a:pt x="170944" y="20722"/>
                  </a:lnTo>
                  <a:lnTo>
                    <a:pt x="137465" y="16136"/>
                  </a:lnTo>
                  <a:lnTo>
                    <a:pt x="103636" y="11781"/>
                  </a:lnTo>
                  <a:lnTo>
                    <a:pt x="69452" y="7646"/>
                  </a:lnTo>
                  <a:lnTo>
                    <a:pt x="34908" y="3723"/>
                  </a:lnTo>
                  <a:lnTo>
                    <a:pt x="0" y="0"/>
                  </a:lnTo>
                </a:path>
              </a:pathLst>
            </a:custGeom>
            <a:noFill/>
            <a:ln w="18965">
              <a:solidFill>
                <a:srgbClr val="4F788A"/>
              </a:solidFill>
              <a:prstDash val="solid"/>
            </a:ln>
          </p:spPr>
          <p:txBody>
            <a:bodyPr/>
            <a:p/>
          </p:txBody>
        </p:sp>
        <p:sp>
          <p:nvSpPr>
            <p:cNvPr id="140" name="regional-SouthAsia-WestAsia-head">
              <a:extLst>
                <a:ext uri="{FF2B5EF4-FFF2-40B4-BE49-F238E27FC236}">
                  <a16:creationId xmlns:a16="http://schemas.microsoft.com/office/drawing/2014/main" id="{BCFE76F5-7C27-4FF8-A10D-DA8E485D2BC7}"/>
                </a:ext>
              </a:extLst>
            </p:cNvPr>
            <p:cNvSpPr>
              <a:spLocks/>
            </p:cNvSpPr>
            <p:nvPr/>
          </p:nvSpPr>
          <p:spPr>
            <a:xfrm>
              <a:off x="2777067" y="2050211"/>
              <a:ext cx="84700" cy="72740"/>
            </a:xfrm>
            <a:custGeom>
              <a:avLst/>
              <a:gdLst/>
              <a:ahLst/>
              <a:cxnLst/>
              <a:rect l="0" t="0" r="0" b="0"/>
              <a:pathLst>
                <a:path w="119110" h="102290">
                  <a:moveTo>
                    <a:pt x="0" y="39025"/>
                  </a:moveTo>
                  <a:lnTo>
                    <a:pt x="108201" y="102290"/>
                  </a:lnTo>
                  <a:lnTo>
                    <a:pt x="119110" y="0"/>
                  </a:lnTo>
                  <a:close/>
                </a:path>
              </a:pathLst>
            </a:custGeom>
            <a:solidFill>
              <a:srgbClr val="4F788A"/>
            </a:solidFill>
            <a:ln w="0">
              <a:noFill/>
              <a:prstDash val="solid"/>
            </a:ln>
          </p:spPr>
          <p:txBody>
            <a:bodyPr/>
            <a:p/>
          </p:txBody>
        </p:sp>
        <p:sp>
          <p:nvSpPr>
            <p:cNvPr id="141" name="regional-WestAsia-Mediterranean">
              <a:extLst>
                <a:ext uri="{FF2B5EF4-FFF2-40B4-BE49-F238E27FC236}">
                  <a16:creationId xmlns:a16="http://schemas.microsoft.com/office/drawing/2014/main" id="{47680FD8-4A19-47A8-9872-D7CDFE736C2B}"/>
                </a:ext>
              </a:extLst>
            </p:cNvPr>
            <p:cNvSpPr>
              <a:spLocks/>
            </p:cNvSpPr>
            <p:nvPr/>
          </p:nvSpPr>
          <p:spPr>
            <a:xfrm>
              <a:off x="1923627" y="1947333"/>
              <a:ext cx="758613" cy="130629"/>
            </a:xfrm>
            <a:custGeom>
              <a:avLst/>
              <a:gdLst/>
              <a:ahLst/>
              <a:cxnLst/>
              <a:rect l="0" t="0" r="0" b="0"/>
              <a:pathLst>
                <a:path w="1066800" h="183696">
                  <a:moveTo>
                    <a:pt x="1066800" y="183696"/>
                  </a:moveTo>
                  <a:lnTo>
                    <a:pt x="1048977" y="173288"/>
                  </a:lnTo>
                  <a:lnTo>
                    <a:pt x="1030600" y="163784"/>
                  </a:lnTo>
                  <a:lnTo>
                    <a:pt x="1011668" y="155134"/>
                  </a:lnTo>
                  <a:lnTo>
                    <a:pt x="992183" y="147287"/>
                  </a:lnTo>
                  <a:lnTo>
                    <a:pt x="972144" y="140193"/>
                  </a:lnTo>
                  <a:lnTo>
                    <a:pt x="951550" y="133802"/>
                  </a:lnTo>
                  <a:lnTo>
                    <a:pt x="930403" y="128064"/>
                  </a:lnTo>
                  <a:lnTo>
                    <a:pt x="908701" y="122929"/>
                  </a:lnTo>
                  <a:lnTo>
                    <a:pt x="886445" y="118345"/>
                  </a:lnTo>
                  <a:lnTo>
                    <a:pt x="863635" y="114265"/>
                  </a:lnTo>
                  <a:lnTo>
                    <a:pt x="840271" y="110636"/>
                  </a:lnTo>
                  <a:lnTo>
                    <a:pt x="816353" y="107408"/>
                  </a:lnTo>
                  <a:lnTo>
                    <a:pt x="791881" y="104533"/>
                  </a:lnTo>
                  <a:lnTo>
                    <a:pt x="766855" y="101958"/>
                  </a:lnTo>
                  <a:lnTo>
                    <a:pt x="741275" y="99635"/>
                  </a:lnTo>
                  <a:lnTo>
                    <a:pt x="715140" y="97513"/>
                  </a:lnTo>
                  <a:lnTo>
                    <a:pt x="688452" y="95541"/>
                  </a:lnTo>
                  <a:lnTo>
                    <a:pt x="661209" y="93669"/>
                  </a:lnTo>
                  <a:lnTo>
                    <a:pt x="633413" y="91848"/>
                  </a:lnTo>
                  <a:lnTo>
                    <a:pt x="605062" y="90027"/>
                  </a:lnTo>
                  <a:lnTo>
                    <a:pt x="576157" y="88156"/>
                  </a:lnTo>
                  <a:lnTo>
                    <a:pt x="546698" y="86184"/>
                  </a:lnTo>
                  <a:lnTo>
                    <a:pt x="516685" y="84061"/>
                  </a:lnTo>
                  <a:lnTo>
                    <a:pt x="486118" y="81738"/>
                  </a:lnTo>
                  <a:lnTo>
                    <a:pt x="454997" y="79164"/>
                  </a:lnTo>
                  <a:lnTo>
                    <a:pt x="423322" y="76288"/>
                  </a:lnTo>
                  <a:lnTo>
                    <a:pt x="391092" y="73061"/>
                  </a:lnTo>
                  <a:lnTo>
                    <a:pt x="358309" y="69432"/>
                  </a:lnTo>
                  <a:lnTo>
                    <a:pt x="324971" y="65351"/>
                  </a:lnTo>
                  <a:lnTo>
                    <a:pt x="291080" y="60768"/>
                  </a:lnTo>
                  <a:lnTo>
                    <a:pt x="256634" y="55633"/>
                  </a:lnTo>
                  <a:lnTo>
                    <a:pt x="221634" y="49895"/>
                  </a:lnTo>
                  <a:lnTo>
                    <a:pt x="186081" y="43504"/>
                  </a:lnTo>
                  <a:lnTo>
                    <a:pt x="149973" y="36410"/>
                  </a:lnTo>
                  <a:lnTo>
                    <a:pt x="113311" y="28563"/>
                  </a:lnTo>
                  <a:lnTo>
                    <a:pt x="76094" y="19912"/>
                  </a:lnTo>
                  <a:lnTo>
                    <a:pt x="38324" y="10408"/>
                  </a:lnTo>
                  <a:lnTo>
                    <a:pt x="0" y="0"/>
                  </a:lnTo>
                </a:path>
              </a:pathLst>
            </a:custGeom>
            <a:noFill/>
            <a:ln w="18965">
              <a:solidFill>
                <a:srgbClr val="4F788A"/>
              </a:solidFill>
              <a:prstDash val="solid"/>
            </a:ln>
          </p:spPr>
          <p:txBody>
            <a:bodyPr/>
            <a:p/>
          </p:txBody>
        </p:sp>
        <p:sp>
          <p:nvSpPr>
            <p:cNvPr id="142" name="regional-WestAsia-Mediterranean-head">
              <a:extLst>
                <a:ext uri="{FF2B5EF4-FFF2-40B4-BE49-F238E27FC236}">
                  <a16:creationId xmlns:a16="http://schemas.microsoft.com/office/drawing/2014/main" id="{EDBA7A5D-2E0F-46F2-B08A-DB3A7B421549}"/>
                </a:ext>
              </a:extLst>
            </p:cNvPr>
            <p:cNvSpPr>
              <a:spLocks/>
            </p:cNvSpPr>
            <p:nvPr/>
          </p:nvSpPr>
          <p:spPr>
            <a:xfrm>
              <a:off x="1923627" y="1933338"/>
              <a:ext cx="88025" cy="70595"/>
            </a:xfrm>
            <a:custGeom>
              <a:avLst/>
              <a:gdLst/>
              <a:ahLst/>
              <a:cxnLst/>
              <a:rect l="0" t="0" r="0" b="0"/>
              <a:pathLst>
                <a:path w="123785" h="99274">
                  <a:moveTo>
                    <a:pt x="0" y="19681"/>
                  </a:moveTo>
                  <a:lnTo>
                    <a:pt x="96824" y="99274"/>
                  </a:lnTo>
                  <a:lnTo>
                    <a:pt x="123785" y="0"/>
                  </a:lnTo>
                  <a:close/>
                </a:path>
              </a:pathLst>
            </a:custGeom>
            <a:solidFill>
              <a:srgbClr val="4F788A"/>
            </a:solidFill>
            <a:ln w="0">
              <a:noFill/>
              <a:prstDash val="solid"/>
            </a:ln>
          </p:spPr>
          <p:txBody>
            <a:bodyPr/>
            <a:p/>
          </p:txBody>
        </p:sp>
        <p:sp>
          <p:nvSpPr>
            <p:cNvPr id="143" name="regional-Mediterranean-continental-Europe">
              <a:extLst>
                <a:ext uri="{FF2B5EF4-FFF2-40B4-BE49-F238E27FC236}">
                  <a16:creationId xmlns:a16="http://schemas.microsoft.com/office/drawing/2014/main" id="{12F82945-3A6F-408D-9149-DB41F4B73125}"/>
                </a:ext>
              </a:extLst>
            </p:cNvPr>
            <p:cNvSpPr>
              <a:spLocks/>
            </p:cNvSpPr>
            <p:nvPr/>
          </p:nvSpPr>
          <p:spPr>
            <a:xfrm>
              <a:off x="1689680" y="1588105"/>
              <a:ext cx="202338" cy="326571"/>
            </a:xfrm>
            <a:custGeom>
              <a:avLst/>
              <a:gdLst/>
              <a:ahLst/>
              <a:cxnLst/>
              <a:rect l="0" t="0" r="0" b="0"/>
              <a:pathLst>
                <a:path w="284538" h="459241">
                  <a:moveTo>
                    <a:pt x="284538" y="459241"/>
                  </a:moveTo>
                  <a:lnTo>
                    <a:pt x="277160" y="444833"/>
                  </a:lnTo>
                  <a:lnTo>
                    <a:pt x="269101" y="430611"/>
                  </a:lnTo>
                  <a:lnTo>
                    <a:pt x="260420" y="416570"/>
                  </a:lnTo>
                  <a:lnTo>
                    <a:pt x="251176" y="402705"/>
                  </a:lnTo>
                  <a:lnTo>
                    <a:pt x="241426" y="389010"/>
                  </a:lnTo>
                  <a:lnTo>
                    <a:pt x="231229" y="375481"/>
                  </a:lnTo>
                  <a:lnTo>
                    <a:pt x="220643" y="362113"/>
                  </a:lnTo>
                  <a:lnTo>
                    <a:pt x="209726" y="348900"/>
                  </a:lnTo>
                  <a:lnTo>
                    <a:pt x="198538" y="335838"/>
                  </a:lnTo>
                  <a:lnTo>
                    <a:pt x="187135" y="322922"/>
                  </a:lnTo>
                  <a:lnTo>
                    <a:pt x="175577" y="310146"/>
                  </a:lnTo>
                  <a:lnTo>
                    <a:pt x="163922" y="297506"/>
                  </a:lnTo>
                  <a:lnTo>
                    <a:pt x="152228" y="284996"/>
                  </a:lnTo>
                  <a:lnTo>
                    <a:pt x="140553" y="272612"/>
                  </a:lnTo>
                  <a:lnTo>
                    <a:pt x="128956" y="260348"/>
                  </a:lnTo>
                  <a:lnTo>
                    <a:pt x="117495" y="248200"/>
                  </a:lnTo>
                  <a:lnTo>
                    <a:pt x="106229" y="236163"/>
                  </a:lnTo>
                  <a:lnTo>
                    <a:pt x="95215" y="224231"/>
                  </a:lnTo>
                  <a:lnTo>
                    <a:pt x="84513" y="212399"/>
                  </a:lnTo>
                  <a:lnTo>
                    <a:pt x="74179" y="200663"/>
                  </a:lnTo>
                  <a:lnTo>
                    <a:pt x="64274" y="189017"/>
                  </a:lnTo>
                  <a:lnTo>
                    <a:pt x="54855" y="177456"/>
                  </a:lnTo>
                  <a:lnTo>
                    <a:pt x="45979" y="165976"/>
                  </a:lnTo>
                  <a:lnTo>
                    <a:pt x="37707" y="154571"/>
                  </a:lnTo>
                  <a:lnTo>
                    <a:pt x="30096" y="143237"/>
                  </a:lnTo>
                  <a:lnTo>
                    <a:pt x="23204" y="131967"/>
                  </a:lnTo>
                  <a:lnTo>
                    <a:pt x="17089" y="120758"/>
                  </a:lnTo>
                  <a:lnTo>
                    <a:pt x="11811" y="109605"/>
                  </a:lnTo>
                  <a:lnTo>
                    <a:pt x="7427" y="98501"/>
                  </a:lnTo>
                  <a:lnTo>
                    <a:pt x="3995" y="87443"/>
                  </a:lnTo>
                  <a:lnTo>
                    <a:pt x="1575" y="76424"/>
                  </a:lnTo>
                  <a:lnTo>
                    <a:pt x="224" y="65441"/>
                  </a:lnTo>
                  <a:lnTo>
                    <a:pt x="0" y="54488"/>
                  </a:lnTo>
                  <a:lnTo>
                    <a:pt x="962" y="43561"/>
                  </a:lnTo>
                  <a:lnTo>
                    <a:pt x="3169" y="32653"/>
                  </a:lnTo>
                  <a:lnTo>
                    <a:pt x="6678" y="21760"/>
                  </a:lnTo>
                  <a:lnTo>
                    <a:pt x="11548" y="10878"/>
                  </a:lnTo>
                  <a:lnTo>
                    <a:pt x="17838" y="0"/>
                  </a:lnTo>
                </a:path>
              </a:pathLst>
            </a:custGeom>
            <a:noFill/>
            <a:ln w="18965">
              <a:solidFill>
                <a:srgbClr val="4F788A"/>
              </a:solidFill>
              <a:prstDash val="solid"/>
            </a:ln>
          </p:spPr>
          <p:txBody>
            <a:bodyPr/>
            <a:p/>
          </p:txBody>
        </p:sp>
        <p:sp>
          <p:nvSpPr>
            <p:cNvPr id="144" name="regional-Mediterranean-continental-Europe-head">
              <a:extLst>
                <a:ext uri="{FF2B5EF4-FFF2-40B4-BE49-F238E27FC236}">
                  <a16:creationId xmlns:a16="http://schemas.microsoft.com/office/drawing/2014/main" id="{AB9F1D25-5368-44EF-800F-EEE1A09F203A}"/>
                </a:ext>
              </a:extLst>
            </p:cNvPr>
            <p:cNvSpPr>
              <a:spLocks/>
            </p:cNvSpPr>
            <p:nvPr/>
          </p:nvSpPr>
          <p:spPr>
            <a:xfrm>
              <a:off x="1630016" y="1588105"/>
              <a:ext cx="72349" cy="88673"/>
            </a:xfrm>
            <a:custGeom>
              <a:avLst/>
              <a:gdLst/>
              <a:ahLst/>
              <a:cxnLst/>
              <a:rect l="0" t="0" r="0" b="0"/>
              <a:pathLst>
                <a:path w="101740" h="124696">
                  <a:moveTo>
                    <a:pt x="101740" y="0"/>
                  </a:moveTo>
                  <a:lnTo>
                    <a:pt x="0" y="73205"/>
                  </a:lnTo>
                  <a:lnTo>
                    <a:pt x="89055" y="124696"/>
                  </a:lnTo>
                  <a:close/>
                </a:path>
              </a:pathLst>
            </a:custGeom>
            <a:solidFill>
              <a:srgbClr val="4F788A"/>
            </a:solidFill>
            <a:ln w="0">
              <a:noFill/>
              <a:prstDash val="solid"/>
            </a:ln>
          </p:spPr>
          <p:txBody>
            <a:bodyPr/>
            <a:p/>
          </p:txBody>
        </p:sp>
        <p:sp>
          <p:nvSpPr>
            <p:cNvPr id="145" name="regional-mainland-EastAsia">
              <a:extLst>
                <a:ext uri="{FF2B5EF4-FFF2-40B4-BE49-F238E27FC236}">
                  <a16:creationId xmlns:a16="http://schemas.microsoft.com/office/drawing/2014/main" id="{15E8ED9E-3F61-47ED-8E21-6896B4B994D4}"/>
                </a:ext>
              </a:extLst>
            </p:cNvPr>
            <p:cNvSpPr>
              <a:spLocks/>
            </p:cNvSpPr>
            <p:nvPr/>
          </p:nvSpPr>
          <p:spPr>
            <a:xfrm>
              <a:off x="4641991" y="2045305"/>
              <a:ext cx="316089" cy="359229"/>
            </a:xfrm>
            <a:custGeom>
              <a:avLst/>
              <a:gdLst/>
              <a:ahLst/>
              <a:cxnLst/>
              <a:rect l="0" t="0" r="0" b="0"/>
              <a:pathLst>
                <a:path w="444500" h="505165">
                  <a:moveTo>
                    <a:pt x="0" y="505165"/>
                  </a:moveTo>
                  <a:lnTo>
                    <a:pt x="14125" y="487319"/>
                  </a:lnTo>
                  <a:lnTo>
                    <a:pt x="28411" y="470021"/>
                  </a:lnTo>
                  <a:lnTo>
                    <a:pt x="42832" y="453244"/>
                  </a:lnTo>
                  <a:lnTo>
                    <a:pt x="57366" y="436965"/>
                  </a:lnTo>
                  <a:lnTo>
                    <a:pt x="71987" y="421158"/>
                  </a:lnTo>
                  <a:lnTo>
                    <a:pt x="86671" y="405798"/>
                  </a:lnTo>
                  <a:lnTo>
                    <a:pt x="101394" y="390860"/>
                  </a:lnTo>
                  <a:lnTo>
                    <a:pt x="116131" y="376318"/>
                  </a:lnTo>
                  <a:lnTo>
                    <a:pt x="130859" y="362148"/>
                  </a:lnTo>
                  <a:lnTo>
                    <a:pt x="145553" y="348324"/>
                  </a:lnTo>
                  <a:lnTo>
                    <a:pt x="160188" y="334822"/>
                  </a:lnTo>
                  <a:lnTo>
                    <a:pt x="174741" y="321616"/>
                  </a:lnTo>
                  <a:lnTo>
                    <a:pt x="189187" y="308681"/>
                  </a:lnTo>
                  <a:lnTo>
                    <a:pt x="203502" y="295993"/>
                  </a:lnTo>
                  <a:lnTo>
                    <a:pt x="217661" y="283525"/>
                  </a:lnTo>
                  <a:lnTo>
                    <a:pt x="231640" y="271253"/>
                  </a:lnTo>
                  <a:lnTo>
                    <a:pt x="245415" y="259152"/>
                  </a:lnTo>
                  <a:lnTo>
                    <a:pt x="258962" y="247196"/>
                  </a:lnTo>
                  <a:lnTo>
                    <a:pt x="272256" y="235361"/>
                  </a:lnTo>
                  <a:lnTo>
                    <a:pt x="285273" y="223621"/>
                  </a:lnTo>
                  <a:lnTo>
                    <a:pt x="297989" y="211952"/>
                  </a:lnTo>
                  <a:lnTo>
                    <a:pt x="310379" y="200328"/>
                  </a:lnTo>
                  <a:lnTo>
                    <a:pt x="322419" y="188724"/>
                  </a:lnTo>
                  <a:lnTo>
                    <a:pt x="334085" y="177115"/>
                  </a:lnTo>
                  <a:lnTo>
                    <a:pt x="345352" y="165476"/>
                  </a:lnTo>
                  <a:lnTo>
                    <a:pt x="356196" y="153781"/>
                  </a:lnTo>
                  <a:lnTo>
                    <a:pt x="366593" y="142006"/>
                  </a:lnTo>
                  <a:lnTo>
                    <a:pt x="376519" y="130126"/>
                  </a:lnTo>
                  <a:lnTo>
                    <a:pt x="385949" y="118115"/>
                  </a:lnTo>
                  <a:lnTo>
                    <a:pt x="394859" y="105949"/>
                  </a:lnTo>
                  <a:lnTo>
                    <a:pt x="403225" y="93602"/>
                  </a:lnTo>
                  <a:lnTo>
                    <a:pt x="411022" y="81048"/>
                  </a:lnTo>
                  <a:lnTo>
                    <a:pt x="418225" y="68264"/>
                  </a:lnTo>
                  <a:lnTo>
                    <a:pt x="424812" y="55224"/>
                  </a:lnTo>
                  <a:lnTo>
                    <a:pt x="430757" y="41903"/>
                  </a:lnTo>
                  <a:lnTo>
                    <a:pt x="436036" y="28275"/>
                  </a:lnTo>
                  <a:lnTo>
                    <a:pt x="440625" y="14316"/>
                  </a:lnTo>
                  <a:lnTo>
                    <a:pt x="444500" y="0"/>
                  </a:lnTo>
                </a:path>
              </a:pathLst>
            </a:custGeom>
            <a:noFill/>
            <a:ln w="18965">
              <a:solidFill>
                <a:srgbClr val="4F788A"/>
              </a:solidFill>
              <a:prstDash val="solid"/>
            </a:ln>
          </p:spPr>
          <p:txBody>
            <a:bodyPr/>
            <a:p/>
          </p:txBody>
        </p:sp>
        <p:sp>
          <p:nvSpPr>
            <p:cNvPr id="146" name="regional-mainland-EastAsia-head">
              <a:extLst>
                <a:ext uri="{FF2B5EF4-FFF2-40B4-BE49-F238E27FC236}">
                  <a16:creationId xmlns:a16="http://schemas.microsoft.com/office/drawing/2014/main" id="{EBADE0C2-12EE-4418-9C2F-C3C50AB4268E}"/>
                </a:ext>
              </a:extLst>
            </p:cNvPr>
            <p:cNvSpPr>
              <a:spLocks/>
            </p:cNvSpPr>
            <p:nvPr/>
          </p:nvSpPr>
          <p:spPr>
            <a:xfrm>
              <a:off x="4901540" y="2045305"/>
              <a:ext cx="70612" cy="88013"/>
            </a:xfrm>
            <a:custGeom>
              <a:avLst/>
              <a:gdLst/>
              <a:ahLst/>
              <a:cxnLst/>
              <a:rect l="0" t="0" r="0" b="0"/>
              <a:pathLst>
                <a:path w="99297" h="123768">
                  <a:moveTo>
                    <a:pt x="79510" y="0"/>
                  </a:moveTo>
                  <a:lnTo>
                    <a:pt x="0" y="96893"/>
                  </a:lnTo>
                  <a:lnTo>
                    <a:pt x="99297" y="123768"/>
                  </a:lnTo>
                  <a:close/>
                </a:path>
              </a:pathLst>
            </a:custGeom>
            <a:solidFill>
              <a:srgbClr val="4F788A"/>
            </a:solidFill>
            <a:ln w="0">
              <a:noFill/>
              <a:prstDash val="solid"/>
            </a:ln>
          </p:spPr>
          <p:txBody>
            <a:bodyPr/>
            <a:p/>
          </p:txBody>
        </p:sp>
        <p:sp>
          <p:nvSpPr>
            <p:cNvPr id="147" name="proposed-EastAsia-Japan">
              <a:extLst>
                <a:ext uri="{FF2B5EF4-FFF2-40B4-BE49-F238E27FC236}">
                  <a16:creationId xmlns:a16="http://schemas.microsoft.com/office/drawing/2014/main" id="{A3995EB0-6ECC-461A-ADEA-5C3D4794E889}"/>
                </a:ext>
              </a:extLst>
            </p:cNvPr>
            <p:cNvSpPr>
              <a:spLocks/>
            </p:cNvSpPr>
            <p:nvPr/>
          </p:nvSpPr>
          <p:spPr>
            <a:xfrm>
              <a:off x="5052907" y="2059347"/>
              <a:ext cx="593299" cy="41169"/>
            </a:xfrm>
            <a:custGeom>
              <a:avLst/>
              <a:gdLst/>
              <a:ahLst/>
              <a:cxnLst/>
              <a:rect l="0" t="0" r="0" b="0"/>
              <a:pathLst>
                <a:path w="834327" h="57894">
                  <a:moveTo>
                    <a:pt x="0" y="26177"/>
                  </a:moveTo>
                  <a:lnTo>
                    <a:pt x="21146" y="29706"/>
                  </a:lnTo>
                  <a:lnTo>
                    <a:pt x="42465" y="33042"/>
                  </a:lnTo>
                  <a:lnTo>
                    <a:pt x="63948" y="36182"/>
                  </a:lnTo>
                  <a:lnTo>
                    <a:pt x="85583" y="39122"/>
                  </a:lnTo>
                  <a:lnTo>
                    <a:pt x="107359" y="41860"/>
                  </a:lnTo>
                  <a:lnTo>
                    <a:pt x="129266" y="44392"/>
                  </a:lnTo>
                  <a:lnTo>
                    <a:pt x="151292" y="46717"/>
                  </a:lnTo>
                  <a:lnTo>
                    <a:pt x="173427" y="48831"/>
                  </a:lnTo>
                  <a:lnTo>
                    <a:pt x="195661" y="50731"/>
                  </a:lnTo>
                  <a:lnTo>
                    <a:pt x="217981" y="52415"/>
                  </a:lnTo>
                  <a:lnTo>
                    <a:pt x="240378" y="53879"/>
                  </a:lnTo>
                  <a:lnTo>
                    <a:pt x="262840" y="55120"/>
                  </a:lnTo>
                  <a:lnTo>
                    <a:pt x="285356" y="56137"/>
                  </a:lnTo>
                  <a:lnTo>
                    <a:pt x="307917" y="56926"/>
                  </a:lnTo>
                  <a:lnTo>
                    <a:pt x="330510" y="57483"/>
                  </a:lnTo>
                  <a:lnTo>
                    <a:pt x="353126" y="57807"/>
                  </a:lnTo>
                  <a:lnTo>
                    <a:pt x="375753" y="57894"/>
                  </a:lnTo>
                  <a:lnTo>
                    <a:pt x="398380" y="57742"/>
                  </a:lnTo>
                  <a:lnTo>
                    <a:pt x="420997" y="57348"/>
                  </a:lnTo>
                  <a:lnTo>
                    <a:pt x="443593" y="56708"/>
                  </a:lnTo>
                  <a:lnTo>
                    <a:pt x="466156" y="55820"/>
                  </a:lnTo>
                  <a:lnTo>
                    <a:pt x="488677" y="54681"/>
                  </a:lnTo>
                  <a:lnTo>
                    <a:pt x="511144" y="53289"/>
                  </a:lnTo>
                  <a:lnTo>
                    <a:pt x="533546" y="51640"/>
                  </a:lnTo>
                  <a:lnTo>
                    <a:pt x="555873" y="49731"/>
                  </a:lnTo>
                  <a:lnTo>
                    <a:pt x="578114" y="47560"/>
                  </a:lnTo>
                  <a:lnTo>
                    <a:pt x="600257" y="45124"/>
                  </a:lnTo>
                  <a:lnTo>
                    <a:pt x="622293" y="42419"/>
                  </a:lnTo>
                  <a:lnTo>
                    <a:pt x="644210" y="39444"/>
                  </a:lnTo>
                  <a:lnTo>
                    <a:pt x="665997" y="36195"/>
                  </a:lnTo>
                  <a:lnTo>
                    <a:pt x="687643" y="32669"/>
                  </a:lnTo>
                  <a:lnTo>
                    <a:pt x="709139" y="28863"/>
                  </a:lnTo>
                  <a:lnTo>
                    <a:pt x="730472" y="24776"/>
                  </a:lnTo>
                  <a:lnTo>
                    <a:pt x="751632" y="20403"/>
                  </a:lnTo>
                  <a:lnTo>
                    <a:pt x="772609" y="15741"/>
                  </a:lnTo>
                  <a:lnTo>
                    <a:pt x="793390" y="10789"/>
                  </a:lnTo>
                  <a:lnTo>
                    <a:pt x="813967" y="5543"/>
                  </a:lnTo>
                  <a:lnTo>
                    <a:pt x="834327" y="0"/>
                  </a:lnTo>
                </a:path>
              </a:pathLst>
            </a:custGeom>
            <a:noFill/>
            <a:ln w="18965">
              <a:solidFill>
                <a:srgbClr val="627F79"/>
              </a:solidFill>
              <a:prstDash val="dash"/>
            </a:ln>
          </p:spPr>
          <p:txBody>
            <a:bodyPr/>
            <a:p/>
          </p:txBody>
        </p:sp>
        <p:sp>
          <p:nvSpPr>
            <p:cNvPr id="148" name="proposed-EastAsia-Japan-head">
              <a:extLst>
                <a:ext uri="{FF2B5EF4-FFF2-40B4-BE49-F238E27FC236}">
                  <a16:creationId xmlns:a16="http://schemas.microsoft.com/office/drawing/2014/main" id="{727C7983-1562-4871-9494-71A96C039881}"/>
                </a:ext>
              </a:extLst>
            </p:cNvPr>
            <p:cNvSpPr>
              <a:spLocks/>
            </p:cNvSpPr>
            <p:nvPr/>
          </p:nvSpPr>
          <p:spPr>
            <a:xfrm>
              <a:off x="5558172" y="2045407"/>
              <a:ext cx="88034" cy="70583"/>
            </a:xfrm>
            <a:custGeom>
              <a:avLst/>
              <a:gdLst/>
              <a:ahLst/>
              <a:cxnLst/>
              <a:rect l="0" t="0" r="0" b="0"/>
              <a:pathLst>
                <a:path w="123797" h="99257">
                  <a:moveTo>
                    <a:pt x="123797" y="19604"/>
                  </a:moveTo>
                  <a:lnTo>
                    <a:pt x="0" y="0"/>
                  </a:lnTo>
                  <a:lnTo>
                    <a:pt x="27022" y="99257"/>
                  </a:lnTo>
                  <a:close/>
                </a:path>
              </a:pathLst>
            </a:custGeom>
            <a:solidFill>
              <a:srgbClr val="627F79"/>
            </a:solidFill>
            <a:ln w="0">
              <a:noFill/>
              <a:prstDash val="solid"/>
            </a:ln>
          </p:spPr>
          <p:txBody>
            <a:bodyPr/>
            <a:p/>
          </p:txBody>
        </p:sp>
        <p:sp>
          <p:nvSpPr>
            <p:cNvPr id="149" name="regional-islandSEAsia-SWPacific">
              <a:extLst>
                <a:ext uri="{FF2B5EF4-FFF2-40B4-BE49-F238E27FC236}">
                  <a16:creationId xmlns:a16="http://schemas.microsoft.com/office/drawing/2014/main" id="{6C5DCA5C-BBDD-467C-9E30-3EFA231488EE}"/>
                </a:ext>
              </a:extLst>
            </p:cNvPr>
            <p:cNvSpPr>
              <a:spLocks/>
            </p:cNvSpPr>
            <p:nvPr/>
          </p:nvSpPr>
          <p:spPr>
            <a:xfrm>
              <a:off x="5147733" y="3286276"/>
              <a:ext cx="1485618" cy="359229"/>
            </a:xfrm>
            <a:custGeom>
              <a:avLst/>
              <a:gdLst/>
              <a:ahLst/>
              <a:cxnLst/>
              <a:rect l="0" t="0" r="0" b="0"/>
              <a:pathLst>
                <a:path w="2089150" h="505165">
                  <a:moveTo>
                    <a:pt x="0" y="0"/>
                  </a:moveTo>
                  <a:lnTo>
                    <a:pt x="45716" y="567"/>
                  </a:lnTo>
                  <a:lnTo>
                    <a:pt x="91641" y="2243"/>
                  </a:lnTo>
                  <a:lnTo>
                    <a:pt x="137800" y="4994"/>
                  </a:lnTo>
                  <a:lnTo>
                    <a:pt x="184216" y="8784"/>
                  </a:lnTo>
                  <a:lnTo>
                    <a:pt x="230914" y="13579"/>
                  </a:lnTo>
                  <a:lnTo>
                    <a:pt x="277918" y="19343"/>
                  </a:lnTo>
                  <a:lnTo>
                    <a:pt x="325252" y="26041"/>
                  </a:lnTo>
                  <a:lnTo>
                    <a:pt x="372942" y="33638"/>
                  </a:lnTo>
                  <a:lnTo>
                    <a:pt x="421010" y="42098"/>
                  </a:lnTo>
                  <a:lnTo>
                    <a:pt x="469482" y="51388"/>
                  </a:lnTo>
                  <a:lnTo>
                    <a:pt x="518382" y="61470"/>
                  </a:lnTo>
                  <a:lnTo>
                    <a:pt x="567734" y="72311"/>
                  </a:lnTo>
                  <a:lnTo>
                    <a:pt x="617562" y="83875"/>
                  </a:lnTo>
                  <a:lnTo>
                    <a:pt x="667891" y="96127"/>
                  </a:lnTo>
                  <a:lnTo>
                    <a:pt x="718744" y="109031"/>
                  </a:lnTo>
                  <a:lnTo>
                    <a:pt x="770147" y="122554"/>
                  </a:lnTo>
                  <a:lnTo>
                    <a:pt x="822123" y="136658"/>
                  </a:lnTo>
                  <a:lnTo>
                    <a:pt x="874697" y="151311"/>
                  </a:lnTo>
                  <a:lnTo>
                    <a:pt x="927894" y="166475"/>
                  </a:lnTo>
                  <a:lnTo>
                    <a:pt x="981736" y="182116"/>
                  </a:lnTo>
                  <a:lnTo>
                    <a:pt x="1036250" y="198200"/>
                  </a:lnTo>
                  <a:lnTo>
                    <a:pt x="1091458" y="214690"/>
                  </a:lnTo>
                  <a:lnTo>
                    <a:pt x="1147386" y="231551"/>
                  </a:lnTo>
                  <a:lnTo>
                    <a:pt x="1204058" y="248749"/>
                  </a:lnTo>
                  <a:lnTo>
                    <a:pt x="1261497" y="266249"/>
                  </a:lnTo>
                  <a:lnTo>
                    <a:pt x="1319729" y="284014"/>
                  </a:lnTo>
                  <a:lnTo>
                    <a:pt x="1378777" y="302011"/>
                  </a:lnTo>
                  <a:lnTo>
                    <a:pt x="1438666" y="320203"/>
                  </a:lnTo>
                  <a:lnTo>
                    <a:pt x="1499420" y="338556"/>
                  </a:lnTo>
                  <a:lnTo>
                    <a:pt x="1561064" y="357035"/>
                  </a:lnTo>
                  <a:lnTo>
                    <a:pt x="1623621" y="375604"/>
                  </a:lnTo>
                  <a:lnTo>
                    <a:pt x="1687117" y="394228"/>
                  </a:lnTo>
                  <a:lnTo>
                    <a:pt x="1751575" y="412873"/>
                  </a:lnTo>
                  <a:lnTo>
                    <a:pt x="1817019" y="431502"/>
                  </a:lnTo>
                  <a:lnTo>
                    <a:pt x="1883475" y="450081"/>
                  </a:lnTo>
                  <a:lnTo>
                    <a:pt x="1950966" y="468575"/>
                  </a:lnTo>
                  <a:lnTo>
                    <a:pt x="2019516" y="486948"/>
                  </a:lnTo>
                  <a:lnTo>
                    <a:pt x="2089150" y="505165"/>
                  </a:lnTo>
                </a:path>
              </a:pathLst>
            </a:custGeom>
            <a:noFill/>
            <a:ln w="18965">
              <a:solidFill>
                <a:srgbClr val="4F788A"/>
              </a:solidFill>
              <a:prstDash val="solid"/>
            </a:ln>
          </p:spPr>
          <p:txBody>
            <a:bodyPr/>
            <a:p/>
          </p:txBody>
        </p:sp>
        <p:sp>
          <p:nvSpPr>
            <p:cNvPr id="150" name="regional-islandSEAsia-SWPacific-head">
              <a:extLst>
                <a:ext uri="{FF2B5EF4-FFF2-40B4-BE49-F238E27FC236}">
                  <a16:creationId xmlns:a16="http://schemas.microsoft.com/office/drawing/2014/main" id="{F67825E2-9FBA-4EC8-A605-3940B22ECF17}"/>
                </a:ext>
              </a:extLst>
            </p:cNvPr>
            <p:cNvSpPr>
              <a:spLocks/>
            </p:cNvSpPr>
            <p:nvPr/>
          </p:nvSpPr>
          <p:spPr>
            <a:xfrm>
              <a:off x="6545460" y="3589548"/>
              <a:ext cx="87891" cy="70770"/>
            </a:xfrm>
            <a:custGeom>
              <a:avLst/>
              <a:gdLst/>
              <a:ahLst/>
              <a:cxnLst/>
              <a:rect l="0" t="0" r="0" b="0"/>
              <a:pathLst>
                <a:path w="123597" h="99521">
                  <a:moveTo>
                    <a:pt x="123597" y="78690"/>
                  </a:moveTo>
                  <a:lnTo>
                    <a:pt x="26036" y="0"/>
                  </a:lnTo>
                  <a:lnTo>
                    <a:pt x="0" y="99521"/>
                  </a:lnTo>
                  <a:close/>
                </a:path>
              </a:pathLst>
            </a:custGeom>
            <a:solidFill>
              <a:srgbClr val="4F788A"/>
            </a:solidFill>
            <a:ln w="0">
              <a:noFill/>
              <a:prstDash val="solid"/>
            </a:ln>
          </p:spPr>
          <p:txBody>
            <a:bodyPr/>
            <a:p/>
          </p:txBody>
        </p:sp>
        <p:sp>
          <p:nvSpPr>
            <p:cNvPr id="151" name="regional-SWPacific-Polynesia">
              <a:extLst>
                <a:ext uri="{FF2B5EF4-FFF2-40B4-BE49-F238E27FC236}">
                  <a16:creationId xmlns:a16="http://schemas.microsoft.com/office/drawing/2014/main" id="{DC8F15C9-B466-420D-BB77-1FC06B7EC63D}"/>
                </a:ext>
              </a:extLst>
            </p:cNvPr>
            <p:cNvSpPr>
              <a:spLocks/>
            </p:cNvSpPr>
            <p:nvPr/>
          </p:nvSpPr>
          <p:spPr>
            <a:xfrm>
              <a:off x="6633351" y="3645505"/>
              <a:ext cx="1864924" cy="245536"/>
            </a:xfrm>
            <a:custGeom>
              <a:avLst/>
              <a:gdLst/>
              <a:ahLst/>
              <a:cxnLst/>
              <a:rect l="0" t="0" r="0" b="0"/>
              <a:pathLst>
                <a:path w="2622550" h="345284">
                  <a:moveTo>
                    <a:pt x="0" y="0"/>
                  </a:moveTo>
                  <a:lnTo>
                    <a:pt x="56966" y="38646"/>
                  </a:lnTo>
                  <a:lnTo>
                    <a:pt x="115516" y="74842"/>
                  </a:lnTo>
                  <a:lnTo>
                    <a:pt x="175572" y="108617"/>
                  </a:lnTo>
                  <a:lnTo>
                    <a:pt x="237058" y="140002"/>
                  </a:lnTo>
                  <a:lnTo>
                    <a:pt x="299895" y="169027"/>
                  </a:lnTo>
                  <a:lnTo>
                    <a:pt x="364005" y="195721"/>
                  </a:lnTo>
                  <a:lnTo>
                    <a:pt x="429311" y="220116"/>
                  </a:lnTo>
                  <a:lnTo>
                    <a:pt x="495735" y="242241"/>
                  </a:lnTo>
                  <a:lnTo>
                    <a:pt x="563199" y="262127"/>
                  </a:lnTo>
                  <a:lnTo>
                    <a:pt x="631625" y="279803"/>
                  </a:lnTo>
                  <a:lnTo>
                    <a:pt x="700936" y="295300"/>
                  </a:lnTo>
                  <a:lnTo>
                    <a:pt x="771054" y="308647"/>
                  </a:lnTo>
                  <a:lnTo>
                    <a:pt x="841901" y="319875"/>
                  </a:lnTo>
                  <a:lnTo>
                    <a:pt x="913399" y="329015"/>
                  </a:lnTo>
                  <a:lnTo>
                    <a:pt x="985471" y="336095"/>
                  </a:lnTo>
                  <a:lnTo>
                    <a:pt x="1058038" y="341147"/>
                  </a:lnTo>
                  <a:lnTo>
                    <a:pt x="1131024" y="344200"/>
                  </a:lnTo>
                  <a:lnTo>
                    <a:pt x="1204349" y="345284"/>
                  </a:lnTo>
                  <a:lnTo>
                    <a:pt x="1277937" y="344431"/>
                  </a:lnTo>
                  <a:lnTo>
                    <a:pt x="1351710" y="341669"/>
                  </a:lnTo>
                  <a:lnTo>
                    <a:pt x="1425590" y="337029"/>
                  </a:lnTo>
                  <a:lnTo>
                    <a:pt x="1499499" y="330541"/>
                  </a:lnTo>
                  <a:lnTo>
                    <a:pt x="1573359" y="322235"/>
                  </a:lnTo>
                  <a:lnTo>
                    <a:pt x="1647093" y="312142"/>
                  </a:lnTo>
                  <a:lnTo>
                    <a:pt x="1720623" y="300291"/>
                  </a:lnTo>
                  <a:lnTo>
                    <a:pt x="1793871" y="286713"/>
                  </a:lnTo>
                  <a:lnTo>
                    <a:pt x="1866759" y="271437"/>
                  </a:lnTo>
                  <a:lnTo>
                    <a:pt x="1939210" y="254494"/>
                  </a:lnTo>
                  <a:lnTo>
                    <a:pt x="2011145" y="235914"/>
                  </a:lnTo>
                  <a:lnTo>
                    <a:pt x="2082488" y="215727"/>
                  </a:lnTo>
                  <a:lnTo>
                    <a:pt x="2153160" y="193964"/>
                  </a:lnTo>
                  <a:lnTo>
                    <a:pt x="2223083" y="170654"/>
                  </a:lnTo>
                  <a:lnTo>
                    <a:pt x="2292180" y="145827"/>
                  </a:lnTo>
                  <a:lnTo>
                    <a:pt x="2360373" y="119514"/>
                  </a:lnTo>
                  <a:lnTo>
                    <a:pt x="2427585" y="91744"/>
                  </a:lnTo>
                  <a:lnTo>
                    <a:pt x="2493736" y="62549"/>
                  </a:lnTo>
                  <a:lnTo>
                    <a:pt x="2558751" y="31957"/>
                  </a:lnTo>
                  <a:lnTo>
                    <a:pt x="2622550" y="0"/>
                  </a:lnTo>
                </a:path>
              </a:pathLst>
            </a:custGeom>
            <a:noFill/>
            <a:ln w="18098">
              <a:solidFill>
                <a:srgbClr val="627F79"/>
              </a:solidFill>
              <a:prstDash val="dash"/>
            </a:ln>
          </p:spPr>
          <p:txBody>
            <a:bodyPr/>
            <a:p/>
          </p:txBody>
        </p:sp>
        <p:sp>
          <p:nvSpPr>
            <p:cNvPr id="152" name="regional-SWPacific-Polynesia-head">
              <a:extLst>
                <a:ext uri="{FF2B5EF4-FFF2-40B4-BE49-F238E27FC236}">
                  <a16:creationId xmlns:a16="http://schemas.microsoft.com/office/drawing/2014/main" id="{F02DF47A-EAB7-49EF-9717-274073DBCF1C}"/>
                </a:ext>
              </a:extLst>
            </p:cNvPr>
            <p:cNvSpPr>
              <a:spLocks/>
            </p:cNvSpPr>
            <p:nvPr/>
          </p:nvSpPr>
          <p:spPr>
            <a:xfrm>
              <a:off x="8409222" y="3645505"/>
              <a:ext cx="89054" cy="69105"/>
            </a:xfrm>
            <a:custGeom>
              <a:avLst/>
              <a:gdLst/>
              <a:ahLst/>
              <a:cxnLst/>
              <a:rect l="0" t="0" r="0" b="0"/>
              <a:pathLst>
                <a:path w="125232" h="97179">
                  <a:moveTo>
                    <a:pt x="125232" y="0"/>
                  </a:moveTo>
                  <a:lnTo>
                    <a:pt x="0" y="5202"/>
                  </a:lnTo>
                  <a:lnTo>
                    <a:pt x="46071" y="97179"/>
                  </a:lnTo>
                  <a:close/>
                </a:path>
              </a:pathLst>
            </a:custGeom>
            <a:solidFill>
              <a:srgbClr val="627F79"/>
            </a:solidFill>
            <a:ln w="0">
              <a:noFill/>
              <a:prstDash val="solid"/>
            </a:ln>
          </p:spPr>
          <p:txBody>
            <a:bodyPr/>
            <a:p/>
          </p:txBody>
        </p:sp>
        <p:sp>
          <p:nvSpPr>
            <p:cNvPr id="153" name="regional-Polynesia-Hawaii">
              <a:extLst>
                <a:ext uri="{FF2B5EF4-FFF2-40B4-BE49-F238E27FC236}">
                  <a16:creationId xmlns:a16="http://schemas.microsoft.com/office/drawing/2014/main" id="{0299F5B3-39BB-4A8C-BCB6-D3C488813232}"/>
                </a:ext>
              </a:extLst>
            </p:cNvPr>
            <p:cNvSpPr>
              <a:spLocks/>
            </p:cNvSpPr>
            <p:nvPr/>
          </p:nvSpPr>
          <p:spPr>
            <a:xfrm>
              <a:off x="7818684" y="2551490"/>
              <a:ext cx="709409" cy="1094014"/>
            </a:xfrm>
            <a:custGeom>
              <a:avLst/>
              <a:gdLst/>
              <a:ahLst/>
              <a:cxnLst/>
              <a:rect l="0" t="0" r="0" b="0"/>
              <a:pathLst>
                <a:path w="997606" h="1538458">
                  <a:moveTo>
                    <a:pt x="955675" y="1538458"/>
                  </a:moveTo>
                  <a:lnTo>
                    <a:pt x="971303" y="1460208"/>
                  </a:lnTo>
                  <a:lnTo>
                    <a:pt x="983182" y="1384934"/>
                  </a:lnTo>
                  <a:lnTo>
                    <a:pt x="991439" y="1312558"/>
                  </a:lnTo>
                  <a:lnTo>
                    <a:pt x="996204" y="1243001"/>
                  </a:lnTo>
                  <a:lnTo>
                    <a:pt x="997606" y="1176185"/>
                  </a:lnTo>
                  <a:lnTo>
                    <a:pt x="995773" y="1112034"/>
                  </a:lnTo>
                  <a:lnTo>
                    <a:pt x="990835" y="1050469"/>
                  </a:lnTo>
                  <a:lnTo>
                    <a:pt x="982919" y="991412"/>
                  </a:lnTo>
                  <a:lnTo>
                    <a:pt x="972155" y="934786"/>
                  </a:lnTo>
                  <a:lnTo>
                    <a:pt x="958672" y="880512"/>
                  </a:lnTo>
                  <a:lnTo>
                    <a:pt x="942598" y="828513"/>
                  </a:lnTo>
                  <a:lnTo>
                    <a:pt x="924063" y="778711"/>
                  </a:lnTo>
                  <a:lnTo>
                    <a:pt x="903194" y="731028"/>
                  </a:lnTo>
                  <a:lnTo>
                    <a:pt x="880122" y="685387"/>
                  </a:lnTo>
                  <a:lnTo>
                    <a:pt x="854974" y="641708"/>
                  </a:lnTo>
                  <a:lnTo>
                    <a:pt x="827879" y="599916"/>
                  </a:lnTo>
                  <a:lnTo>
                    <a:pt x="798966" y="559931"/>
                  </a:lnTo>
                  <a:lnTo>
                    <a:pt x="768365" y="521676"/>
                  </a:lnTo>
                  <a:lnTo>
                    <a:pt x="736203" y="485073"/>
                  </a:lnTo>
                  <a:lnTo>
                    <a:pt x="702610" y="450045"/>
                  </a:lnTo>
                  <a:lnTo>
                    <a:pt x="667714" y="416513"/>
                  </a:lnTo>
                  <a:lnTo>
                    <a:pt x="631645" y="384399"/>
                  </a:lnTo>
                  <a:lnTo>
                    <a:pt x="594530" y="353627"/>
                  </a:lnTo>
                  <a:lnTo>
                    <a:pt x="556500" y="324117"/>
                  </a:lnTo>
                  <a:lnTo>
                    <a:pt x="517682" y="295792"/>
                  </a:lnTo>
                  <a:lnTo>
                    <a:pt x="478205" y="268575"/>
                  </a:lnTo>
                  <a:lnTo>
                    <a:pt x="438199" y="242387"/>
                  </a:lnTo>
                  <a:lnTo>
                    <a:pt x="397792" y="217150"/>
                  </a:lnTo>
                  <a:lnTo>
                    <a:pt x="357112" y="192788"/>
                  </a:lnTo>
                  <a:lnTo>
                    <a:pt x="316289" y="169221"/>
                  </a:lnTo>
                  <a:lnTo>
                    <a:pt x="275452" y="146372"/>
                  </a:lnTo>
                  <a:lnTo>
                    <a:pt x="234728" y="124164"/>
                  </a:lnTo>
                  <a:lnTo>
                    <a:pt x="194248" y="102518"/>
                  </a:lnTo>
                  <a:lnTo>
                    <a:pt x="154140" y="81356"/>
                  </a:lnTo>
                  <a:lnTo>
                    <a:pt x="114532" y="60602"/>
                  </a:lnTo>
                  <a:lnTo>
                    <a:pt x="75553" y="40176"/>
                  </a:lnTo>
                  <a:lnTo>
                    <a:pt x="37333" y="20001"/>
                  </a:lnTo>
                  <a:lnTo>
                    <a:pt x="0" y="0"/>
                  </a:lnTo>
                </a:path>
              </a:pathLst>
            </a:custGeom>
            <a:noFill/>
            <a:ln w="18098">
              <a:solidFill>
                <a:srgbClr val="627F79"/>
              </a:solidFill>
              <a:prstDash val="dash"/>
            </a:ln>
          </p:spPr>
          <p:txBody>
            <a:bodyPr/>
            <a:p/>
          </p:txBody>
        </p:sp>
        <p:sp>
          <p:nvSpPr>
            <p:cNvPr id="154" name="regional-Polynesia-Hawaii-head">
              <a:extLst>
                <a:ext uri="{FF2B5EF4-FFF2-40B4-BE49-F238E27FC236}">
                  <a16:creationId xmlns:a16="http://schemas.microsoft.com/office/drawing/2014/main" id="{4A07920A-E6C1-42A7-ADC0-7ABEA37F3DCA}"/>
                </a:ext>
              </a:extLst>
            </p:cNvPr>
            <p:cNvSpPr>
              <a:spLocks/>
            </p:cNvSpPr>
            <p:nvPr/>
          </p:nvSpPr>
          <p:spPr>
            <a:xfrm>
              <a:off x="7818684" y="2551490"/>
              <a:ext cx="88918" cy="70625"/>
            </a:xfrm>
            <a:custGeom>
              <a:avLst/>
              <a:gdLst/>
              <a:ahLst/>
              <a:cxnLst/>
              <a:rect l="0" t="0" r="0" b="0"/>
              <a:pathLst>
                <a:path w="125042" h="99316">
                  <a:moveTo>
                    <a:pt x="0" y="0"/>
                  </a:moveTo>
                  <a:lnTo>
                    <a:pt x="76461" y="99316"/>
                  </a:lnTo>
                  <a:lnTo>
                    <a:pt x="125042" y="8640"/>
                  </a:lnTo>
                  <a:close/>
                </a:path>
              </a:pathLst>
            </a:custGeom>
            <a:solidFill>
              <a:srgbClr val="627F79"/>
            </a:solidFill>
            <a:ln w="0">
              <a:noFill/>
              <a:prstDash val="solid"/>
            </a:ln>
          </p:spPr>
          <p:txBody>
            <a:bodyPr/>
            <a:p/>
          </p:txBody>
        </p:sp>
        <p:sp>
          <p:nvSpPr>
            <p:cNvPr id="155" name="proposed-Philippine-source">
              <a:extLst>
                <a:ext uri="{FF2B5EF4-FFF2-40B4-BE49-F238E27FC236}">
                  <a16:creationId xmlns:a16="http://schemas.microsoft.com/office/drawing/2014/main" id="{26678AEB-C682-4BAF-B539-16278DC008CB}"/>
                </a:ext>
              </a:extLst>
            </p:cNvPr>
            <p:cNvSpPr>
              <a:spLocks/>
            </p:cNvSpPr>
            <p:nvPr/>
          </p:nvSpPr>
          <p:spPr>
            <a:xfrm>
              <a:off x="5242560" y="2796419"/>
              <a:ext cx="695396" cy="522514"/>
            </a:xfrm>
            <a:custGeom>
              <a:avLst/>
              <a:gdLst/>
              <a:ahLst/>
              <a:cxnLst/>
              <a:rect l="0" t="0" r="0" b="0"/>
              <a:pathLst>
                <a:path w="977900" h="734786">
                  <a:moveTo>
                    <a:pt x="0" y="0"/>
                  </a:moveTo>
                  <a:lnTo>
                    <a:pt x="24475" y="7538"/>
                  </a:lnTo>
                  <a:lnTo>
                    <a:pt x="48785" y="15654"/>
                  </a:lnTo>
                  <a:lnTo>
                    <a:pt x="72950" y="24352"/>
                  </a:lnTo>
                  <a:lnTo>
                    <a:pt x="96988" y="33638"/>
                  </a:lnTo>
                  <a:lnTo>
                    <a:pt x="120919" y="43516"/>
                  </a:lnTo>
                  <a:lnTo>
                    <a:pt x="144762" y="53992"/>
                  </a:lnTo>
                  <a:lnTo>
                    <a:pt x="168538" y="65071"/>
                  </a:lnTo>
                  <a:lnTo>
                    <a:pt x="192265" y="76757"/>
                  </a:lnTo>
                  <a:lnTo>
                    <a:pt x="215962" y="89055"/>
                  </a:lnTo>
                  <a:lnTo>
                    <a:pt x="239650" y="101972"/>
                  </a:lnTo>
                  <a:lnTo>
                    <a:pt x="263348" y="115511"/>
                  </a:lnTo>
                  <a:lnTo>
                    <a:pt x="287075" y="129678"/>
                  </a:lnTo>
                  <a:lnTo>
                    <a:pt x="310850" y="144477"/>
                  </a:lnTo>
                  <a:lnTo>
                    <a:pt x="334694" y="159914"/>
                  </a:lnTo>
                  <a:lnTo>
                    <a:pt x="358625" y="175994"/>
                  </a:lnTo>
                  <a:lnTo>
                    <a:pt x="382663" y="192722"/>
                  </a:lnTo>
                  <a:lnTo>
                    <a:pt x="406827" y="210102"/>
                  </a:lnTo>
                  <a:lnTo>
                    <a:pt x="431137" y="228141"/>
                  </a:lnTo>
                  <a:lnTo>
                    <a:pt x="455613" y="246842"/>
                  </a:lnTo>
                  <a:lnTo>
                    <a:pt x="480273" y="266211"/>
                  </a:lnTo>
                  <a:lnTo>
                    <a:pt x="505137" y="286253"/>
                  </a:lnTo>
                  <a:lnTo>
                    <a:pt x="530225" y="306973"/>
                  </a:lnTo>
                  <a:lnTo>
                    <a:pt x="555555" y="328376"/>
                  </a:lnTo>
                  <a:lnTo>
                    <a:pt x="581149" y="350467"/>
                  </a:lnTo>
                  <a:lnTo>
                    <a:pt x="607024" y="373251"/>
                  </a:lnTo>
                  <a:lnTo>
                    <a:pt x="633200" y="396732"/>
                  </a:lnTo>
                  <a:lnTo>
                    <a:pt x="659698" y="420917"/>
                  </a:lnTo>
                  <a:lnTo>
                    <a:pt x="686535" y="445810"/>
                  </a:lnTo>
                  <a:lnTo>
                    <a:pt x="713732" y="471416"/>
                  </a:lnTo>
                  <a:lnTo>
                    <a:pt x="741309" y="497740"/>
                  </a:lnTo>
                  <a:lnTo>
                    <a:pt x="769283" y="524787"/>
                  </a:lnTo>
                  <a:lnTo>
                    <a:pt x="797676" y="552562"/>
                  </a:lnTo>
                  <a:lnTo>
                    <a:pt x="826507" y="581071"/>
                  </a:lnTo>
                  <a:lnTo>
                    <a:pt x="855794" y="610317"/>
                  </a:lnTo>
                  <a:lnTo>
                    <a:pt x="885557" y="640307"/>
                  </a:lnTo>
                  <a:lnTo>
                    <a:pt x="915816" y="671045"/>
                  </a:lnTo>
                  <a:lnTo>
                    <a:pt x="946591" y="702536"/>
                  </a:lnTo>
                  <a:lnTo>
                    <a:pt x="977900" y="734786"/>
                  </a:lnTo>
                </a:path>
              </a:pathLst>
            </a:custGeom>
            <a:noFill/>
            <a:ln w="18965">
              <a:solidFill>
                <a:srgbClr val="627F79"/>
              </a:solidFill>
              <a:prstDash val="dash"/>
            </a:ln>
          </p:spPr>
          <p:txBody>
            <a:bodyPr/>
            <a:p/>
          </p:txBody>
        </p:sp>
        <p:sp>
          <p:nvSpPr>
            <p:cNvPr id="156" name="proposed-Philippine-source-head">
              <a:extLst>
                <a:ext uri="{FF2B5EF4-FFF2-40B4-BE49-F238E27FC236}">
                  <a16:creationId xmlns:a16="http://schemas.microsoft.com/office/drawing/2014/main" id="{4CDC08CA-C20F-44A1-9479-D8CAA226BA6E}"/>
                </a:ext>
              </a:extLst>
            </p:cNvPr>
            <p:cNvSpPr>
              <a:spLocks/>
            </p:cNvSpPr>
            <p:nvPr/>
          </p:nvSpPr>
          <p:spPr>
            <a:xfrm>
              <a:off x="5855096" y="3235138"/>
              <a:ext cx="82860" cy="83795"/>
            </a:xfrm>
            <a:custGeom>
              <a:avLst/>
              <a:gdLst/>
              <a:ahLst/>
              <a:cxnLst/>
              <a:rect l="0" t="0" r="0" b="0"/>
              <a:pathLst>
                <a:path w="116522" h="117837">
                  <a:moveTo>
                    <a:pt x="116522" y="117837"/>
                  </a:moveTo>
                  <a:lnTo>
                    <a:pt x="73808" y="0"/>
                  </a:lnTo>
                  <a:lnTo>
                    <a:pt x="0" y="71656"/>
                  </a:lnTo>
                  <a:close/>
                </a:path>
              </a:pathLst>
            </a:custGeom>
            <a:solidFill>
              <a:srgbClr val="627F79"/>
            </a:solidFill>
            <a:ln w="0">
              <a:noFill/>
              <a:prstDash val="solid"/>
            </a:ln>
          </p:spPr>
          <p:txBody>
            <a:bodyPr/>
            <a:p/>
          </p:txBody>
        </p:sp>
        <p:sp>
          <p:nvSpPr>
            <p:cNvPr id="157" name="proposed-Arabia-RedSea-Ethiopia">
              <a:extLst>
                <a:ext uri="{FF2B5EF4-FFF2-40B4-BE49-F238E27FC236}">
                  <a16:creationId xmlns:a16="http://schemas.microsoft.com/office/drawing/2014/main" id="{F445EE06-E540-47B1-87B6-1150BC29075D}"/>
                </a:ext>
              </a:extLst>
            </p:cNvPr>
            <p:cNvSpPr>
              <a:spLocks/>
            </p:cNvSpPr>
            <p:nvPr/>
          </p:nvSpPr>
          <p:spPr>
            <a:xfrm>
              <a:off x="2603218" y="2714776"/>
              <a:ext cx="300284" cy="91979"/>
            </a:xfrm>
            <a:custGeom>
              <a:avLst/>
              <a:gdLst/>
              <a:ahLst/>
              <a:cxnLst/>
              <a:rect l="0" t="0" r="0" b="0"/>
              <a:pathLst>
                <a:path w="422275" h="129346">
                  <a:moveTo>
                    <a:pt x="422275" y="68886"/>
                  </a:moveTo>
                  <a:lnTo>
                    <a:pt x="414984" y="72601"/>
                  </a:lnTo>
                  <a:lnTo>
                    <a:pt x="407166" y="76469"/>
                  </a:lnTo>
                  <a:lnTo>
                    <a:pt x="398847" y="80452"/>
                  </a:lnTo>
                  <a:lnTo>
                    <a:pt x="390054" y="84513"/>
                  </a:lnTo>
                  <a:lnTo>
                    <a:pt x="380814" y="88615"/>
                  </a:lnTo>
                  <a:lnTo>
                    <a:pt x="371153" y="92719"/>
                  </a:lnTo>
                  <a:lnTo>
                    <a:pt x="361099" y="96787"/>
                  </a:lnTo>
                  <a:lnTo>
                    <a:pt x="350678" y="100783"/>
                  </a:lnTo>
                  <a:lnTo>
                    <a:pt x="339917" y="104669"/>
                  </a:lnTo>
                  <a:lnTo>
                    <a:pt x="328842" y="108406"/>
                  </a:lnTo>
                  <a:lnTo>
                    <a:pt x="317480" y="111958"/>
                  </a:lnTo>
                  <a:lnTo>
                    <a:pt x="305859" y="115286"/>
                  </a:lnTo>
                  <a:lnTo>
                    <a:pt x="294004" y="118353"/>
                  </a:lnTo>
                  <a:lnTo>
                    <a:pt x="281942" y="121121"/>
                  </a:lnTo>
                  <a:lnTo>
                    <a:pt x="269701" y="123552"/>
                  </a:lnTo>
                  <a:lnTo>
                    <a:pt x="257306" y="125610"/>
                  </a:lnTo>
                  <a:lnTo>
                    <a:pt x="244786" y="127256"/>
                  </a:lnTo>
                  <a:lnTo>
                    <a:pt x="232165" y="128452"/>
                  </a:lnTo>
                  <a:lnTo>
                    <a:pt x="219472" y="129162"/>
                  </a:lnTo>
                  <a:lnTo>
                    <a:pt x="206732" y="129346"/>
                  </a:lnTo>
                  <a:lnTo>
                    <a:pt x="193973" y="128968"/>
                  </a:lnTo>
                  <a:lnTo>
                    <a:pt x="181222" y="127990"/>
                  </a:lnTo>
                  <a:lnTo>
                    <a:pt x="168504" y="126375"/>
                  </a:lnTo>
                  <a:lnTo>
                    <a:pt x="155847" y="124083"/>
                  </a:lnTo>
                  <a:lnTo>
                    <a:pt x="143278" y="121079"/>
                  </a:lnTo>
                  <a:lnTo>
                    <a:pt x="130823" y="117324"/>
                  </a:lnTo>
                  <a:lnTo>
                    <a:pt x="118508" y="112781"/>
                  </a:lnTo>
                  <a:lnTo>
                    <a:pt x="106362" y="107412"/>
                  </a:lnTo>
                  <a:lnTo>
                    <a:pt x="94410" y="101179"/>
                  </a:lnTo>
                  <a:lnTo>
                    <a:pt x="82679" y="94044"/>
                  </a:lnTo>
                  <a:lnTo>
                    <a:pt x="71196" y="85971"/>
                  </a:lnTo>
                  <a:lnTo>
                    <a:pt x="59987" y="76921"/>
                  </a:lnTo>
                  <a:lnTo>
                    <a:pt x="49080" y="66856"/>
                  </a:lnTo>
                  <a:lnTo>
                    <a:pt x="38501" y="55740"/>
                  </a:lnTo>
                  <a:lnTo>
                    <a:pt x="28277" y="43533"/>
                  </a:lnTo>
                  <a:lnTo>
                    <a:pt x="18434" y="30200"/>
                  </a:lnTo>
                  <a:lnTo>
                    <a:pt x="8999" y="15701"/>
                  </a:lnTo>
                  <a:lnTo>
                    <a:pt x="0" y="0"/>
                  </a:lnTo>
                </a:path>
              </a:pathLst>
            </a:custGeom>
            <a:noFill/>
            <a:ln w="18965">
              <a:solidFill>
                <a:srgbClr val="627F79"/>
              </a:solidFill>
              <a:prstDash val="dash"/>
            </a:ln>
          </p:spPr>
          <p:txBody>
            <a:bodyPr/>
            <a:p/>
          </p:txBody>
        </p:sp>
        <p:sp>
          <p:nvSpPr>
            <p:cNvPr id="158" name="proposed-Arabia-RedSea-Ethiopia-head">
              <a:extLst>
                <a:ext uri="{FF2B5EF4-FFF2-40B4-BE49-F238E27FC236}">
                  <a16:creationId xmlns:a16="http://schemas.microsoft.com/office/drawing/2014/main" id="{4B7282AF-0C8B-46BE-BEDE-F9A133342B21}"/>
                </a:ext>
              </a:extLst>
            </p:cNvPr>
            <p:cNvSpPr>
              <a:spLocks/>
            </p:cNvSpPr>
            <p:nvPr/>
          </p:nvSpPr>
          <p:spPr>
            <a:xfrm>
              <a:off x="2603218" y="2714776"/>
              <a:ext cx="72152" cy="88706"/>
            </a:xfrm>
            <a:custGeom>
              <a:avLst/>
              <a:gdLst/>
              <a:ahLst/>
              <a:cxnLst/>
              <a:rect l="0" t="0" r="0" b="0"/>
              <a:pathLst>
                <a:path w="101463" h="124743">
                  <a:moveTo>
                    <a:pt x="0" y="0"/>
                  </a:moveTo>
                  <a:lnTo>
                    <a:pt x="12214" y="124743"/>
                  </a:lnTo>
                  <a:lnTo>
                    <a:pt x="101463" y="73588"/>
                  </a:lnTo>
                  <a:close/>
                </a:path>
              </a:pathLst>
            </a:custGeom>
            <a:solidFill>
              <a:srgbClr val="627F79"/>
            </a:solidFill>
            <a:ln w="0">
              <a:noFill/>
              <a:prstDash val="solid"/>
            </a:ln>
          </p:spPr>
          <p:txBody>
            <a:bodyPr/>
            <a:p/>
          </p:txBody>
        </p:sp>
        <p:sp>
          <p:nvSpPr>
            <p:cNvPr id="159" name="proposed-Atlantic-WestAfrica">
              <a:extLst>
                <a:ext uri="{FF2B5EF4-FFF2-40B4-BE49-F238E27FC236}">
                  <a16:creationId xmlns:a16="http://schemas.microsoft.com/office/drawing/2014/main" id="{4A48C5D7-D75E-4CAD-AC44-C143614A4250}"/>
                </a:ext>
              </a:extLst>
            </p:cNvPr>
            <p:cNvSpPr>
              <a:spLocks/>
            </p:cNvSpPr>
            <p:nvPr/>
          </p:nvSpPr>
          <p:spPr>
            <a:xfrm>
              <a:off x="745545" y="2273905"/>
              <a:ext cx="229815" cy="489857"/>
            </a:xfrm>
            <a:custGeom>
              <a:avLst/>
              <a:gdLst/>
              <a:ahLst/>
              <a:cxnLst/>
              <a:rect l="0" t="0" r="0" b="0"/>
              <a:pathLst>
                <a:path w="323178" h="688862">
                  <a:moveTo>
                    <a:pt x="323178" y="0"/>
                  </a:moveTo>
                  <a:lnTo>
                    <a:pt x="285861" y="11625"/>
                  </a:lnTo>
                  <a:lnTo>
                    <a:pt x="251082" y="24686"/>
                  </a:lnTo>
                  <a:lnTo>
                    <a:pt x="218791" y="39093"/>
                  </a:lnTo>
                  <a:lnTo>
                    <a:pt x="188940" y="54755"/>
                  </a:lnTo>
                  <a:lnTo>
                    <a:pt x="161480" y="71583"/>
                  </a:lnTo>
                  <a:lnTo>
                    <a:pt x="136363" y="89485"/>
                  </a:lnTo>
                  <a:lnTo>
                    <a:pt x="113541" y="108371"/>
                  </a:lnTo>
                  <a:lnTo>
                    <a:pt x="92963" y="128151"/>
                  </a:lnTo>
                  <a:lnTo>
                    <a:pt x="74583" y="148734"/>
                  </a:lnTo>
                  <a:lnTo>
                    <a:pt x="58351" y="170031"/>
                  </a:lnTo>
                  <a:lnTo>
                    <a:pt x="44218" y="191950"/>
                  </a:lnTo>
                  <a:lnTo>
                    <a:pt x="32137" y="214402"/>
                  </a:lnTo>
                  <a:lnTo>
                    <a:pt x="22058" y="237295"/>
                  </a:lnTo>
                  <a:lnTo>
                    <a:pt x="13933" y="260540"/>
                  </a:lnTo>
                  <a:lnTo>
                    <a:pt x="7713" y="284046"/>
                  </a:lnTo>
                  <a:lnTo>
                    <a:pt x="3350" y="307723"/>
                  </a:lnTo>
                  <a:lnTo>
                    <a:pt x="795" y="331480"/>
                  </a:lnTo>
                  <a:lnTo>
                    <a:pt x="0" y="355227"/>
                  </a:lnTo>
                  <a:lnTo>
                    <a:pt x="915" y="378874"/>
                  </a:lnTo>
                  <a:lnTo>
                    <a:pt x="3493" y="402330"/>
                  </a:lnTo>
                  <a:lnTo>
                    <a:pt x="7684" y="425504"/>
                  </a:lnTo>
                  <a:lnTo>
                    <a:pt x="13441" y="448307"/>
                  </a:lnTo>
                  <a:lnTo>
                    <a:pt x="20713" y="470648"/>
                  </a:lnTo>
                  <a:lnTo>
                    <a:pt x="29454" y="492437"/>
                  </a:lnTo>
                  <a:lnTo>
                    <a:pt x="39614" y="513583"/>
                  </a:lnTo>
                  <a:lnTo>
                    <a:pt x="51144" y="533996"/>
                  </a:lnTo>
                  <a:lnTo>
                    <a:pt x="63997" y="553585"/>
                  </a:lnTo>
                  <a:lnTo>
                    <a:pt x="78123" y="572260"/>
                  </a:lnTo>
                  <a:lnTo>
                    <a:pt x="93474" y="589931"/>
                  </a:lnTo>
                  <a:lnTo>
                    <a:pt x="110001" y="606508"/>
                  </a:lnTo>
                  <a:lnTo>
                    <a:pt x="127655" y="621899"/>
                  </a:lnTo>
                  <a:lnTo>
                    <a:pt x="146389" y="636014"/>
                  </a:lnTo>
                  <a:lnTo>
                    <a:pt x="166153" y="648764"/>
                  </a:lnTo>
                  <a:lnTo>
                    <a:pt x="186899" y="660058"/>
                  </a:lnTo>
                  <a:lnTo>
                    <a:pt x="208578" y="669805"/>
                  </a:lnTo>
                  <a:lnTo>
                    <a:pt x="231141" y="677915"/>
                  </a:lnTo>
                  <a:lnTo>
                    <a:pt x="254541" y="684297"/>
                  </a:lnTo>
                  <a:lnTo>
                    <a:pt x="278728" y="688862"/>
                  </a:lnTo>
                </a:path>
              </a:pathLst>
            </a:custGeom>
            <a:noFill/>
            <a:ln w="18965">
              <a:solidFill>
                <a:srgbClr val="627F79"/>
              </a:solidFill>
              <a:prstDash val="dash"/>
            </a:ln>
          </p:spPr>
          <p:txBody>
            <a:bodyPr/>
            <a:p/>
          </p:txBody>
        </p:sp>
        <p:sp>
          <p:nvSpPr>
            <p:cNvPr id="160" name="proposed-Atlantic-WestAfrica-head">
              <a:extLst>
                <a:ext uri="{FF2B5EF4-FFF2-40B4-BE49-F238E27FC236}">
                  <a16:creationId xmlns:a16="http://schemas.microsoft.com/office/drawing/2014/main" id="{069BE204-5C1A-419A-906C-BAEF6C15075B}"/>
                </a:ext>
              </a:extLst>
            </p:cNvPr>
            <p:cNvSpPr>
              <a:spLocks/>
            </p:cNvSpPr>
            <p:nvPr/>
          </p:nvSpPr>
          <p:spPr>
            <a:xfrm>
              <a:off x="857098" y="2712747"/>
              <a:ext cx="86653" cy="71883"/>
            </a:xfrm>
            <a:custGeom>
              <a:avLst/>
              <a:gdLst/>
              <a:ahLst/>
              <a:cxnLst/>
              <a:rect l="0" t="0" r="0" b="0"/>
              <a:pathLst>
                <a:path w="121856" h="101086">
                  <a:moveTo>
                    <a:pt x="121856" y="71740"/>
                  </a:moveTo>
                  <a:lnTo>
                    <a:pt x="19077" y="0"/>
                  </a:lnTo>
                  <a:lnTo>
                    <a:pt x="0" y="101086"/>
                  </a:lnTo>
                  <a:close/>
                </a:path>
              </a:pathLst>
            </a:custGeom>
            <a:solidFill>
              <a:srgbClr val="627F79"/>
            </a:solidFill>
            <a:ln w="0">
              <a:noFill/>
              <a:prstDash val="solid"/>
            </a:ln>
          </p:spPr>
          <p:txBody>
            <a:bodyPr/>
            <a:p/>
          </p:txBody>
        </p:sp>
        <p:sp>
          <p:nvSpPr>
            <p:cNvPr id="161" name="proposed-WestAfrica-inland">
              <a:extLst>
                <a:ext uri="{FF2B5EF4-FFF2-40B4-BE49-F238E27FC236}">
                  <a16:creationId xmlns:a16="http://schemas.microsoft.com/office/drawing/2014/main" id="{E8C08E4E-6101-4FCC-ABA9-8085FBC41275}"/>
                </a:ext>
              </a:extLst>
            </p:cNvPr>
            <p:cNvSpPr>
              <a:spLocks/>
            </p:cNvSpPr>
            <p:nvPr/>
          </p:nvSpPr>
          <p:spPr>
            <a:xfrm>
              <a:off x="943751" y="2734697"/>
              <a:ext cx="267411" cy="42677"/>
            </a:xfrm>
            <a:custGeom>
              <a:avLst/>
              <a:gdLst/>
              <a:ahLst/>
              <a:cxnLst/>
              <a:rect l="0" t="0" r="0" b="0"/>
              <a:pathLst>
                <a:path w="376047" h="60015">
                  <a:moveTo>
                    <a:pt x="0" y="40872"/>
                  </a:moveTo>
                  <a:lnTo>
                    <a:pt x="10527" y="44309"/>
                  </a:lnTo>
                  <a:lnTo>
                    <a:pt x="21052" y="47374"/>
                  </a:lnTo>
                  <a:lnTo>
                    <a:pt x="31571" y="50080"/>
                  </a:lnTo>
                  <a:lnTo>
                    <a:pt x="42083" y="52435"/>
                  </a:lnTo>
                  <a:lnTo>
                    <a:pt x="52583" y="54451"/>
                  </a:lnTo>
                  <a:lnTo>
                    <a:pt x="63071" y="56138"/>
                  </a:lnTo>
                  <a:lnTo>
                    <a:pt x="73543" y="57507"/>
                  </a:lnTo>
                  <a:lnTo>
                    <a:pt x="83997" y="58569"/>
                  </a:lnTo>
                  <a:lnTo>
                    <a:pt x="94430" y="59334"/>
                  </a:lnTo>
                  <a:lnTo>
                    <a:pt x="104839" y="59812"/>
                  </a:lnTo>
                  <a:lnTo>
                    <a:pt x="115222" y="60015"/>
                  </a:lnTo>
                  <a:lnTo>
                    <a:pt x="125576" y="59953"/>
                  </a:lnTo>
                  <a:lnTo>
                    <a:pt x="135898" y="59636"/>
                  </a:lnTo>
                  <a:lnTo>
                    <a:pt x="146187" y="59076"/>
                  </a:lnTo>
                  <a:lnTo>
                    <a:pt x="156438" y="58282"/>
                  </a:lnTo>
                  <a:lnTo>
                    <a:pt x="166650" y="57265"/>
                  </a:lnTo>
                  <a:lnTo>
                    <a:pt x="176821" y="56036"/>
                  </a:lnTo>
                  <a:lnTo>
                    <a:pt x="186946" y="54606"/>
                  </a:lnTo>
                  <a:lnTo>
                    <a:pt x="197025" y="52985"/>
                  </a:lnTo>
                  <a:lnTo>
                    <a:pt x="207053" y="51183"/>
                  </a:lnTo>
                  <a:lnTo>
                    <a:pt x="217029" y="49212"/>
                  </a:lnTo>
                  <a:lnTo>
                    <a:pt x="226950" y="47082"/>
                  </a:lnTo>
                  <a:lnTo>
                    <a:pt x="236813" y="44803"/>
                  </a:lnTo>
                  <a:lnTo>
                    <a:pt x="246616" y="42386"/>
                  </a:lnTo>
                  <a:lnTo>
                    <a:pt x="256356" y="39842"/>
                  </a:lnTo>
                  <a:lnTo>
                    <a:pt x="266030" y="37181"/>
                  </a:lnTo>
                  <a:lnTo>
                    <a:pt x="275636" y="34414"/>
                  </a:lnTo>
                  <a:lnTo>
                    <a:pt x="285171" y="31551"/>
                  </a:lnTo>
                  <a:lnTo>
                    <a:pt x="294633" y="28604"/>
                  </a:lnTo>
                  <a:lnTo>
                    <a:pt x="304018" y="25582"/>
                  </a:lnTo>
                  <a:lnTo>
                    <a:pt x="313325" y="22496"/>
                  </a:lnTo>
                  <a:lnTo>
                    <a:pt x="322550" y="19357"/>
                  </a:lnTo>
                  <a:lnTo>
                    <a:pt x="331692" y="16176"/>
                  </a:lnTo>
                  <a:lnTo>
                    <a:pt x="340746" y="12962"/>
                  </a:lnTo>
                  <a:lnTo>
                    <a:pt x="349712" y="9727"/>
                  </a:lnTo>
                  <a:lnTo>
                    <a:pt x="358586" y="6481"/>
                  </a:lnTo>
                  <a:lnTo>
                    <a:pt x="367365" y="3236"/>
                  </a:lnTo>
                  <a:lnTo>
                    <a:pt x="376047" y="0"/>
                  </a:lnTo>
                </a:path>
              </a:pathLst>
            </a:custGeom>
            <a:noFill/>
            <a:ln w="18965">
              <a:solidFill>
                <a:srgbClr val="627F79"/>
              </a:solidFill>
              <a:prstDash val="dash"/>
            </a:ln>
          </p:spPr>
          <p:txBody>
            <a:bodyPr/>
            <a:p/>
          </p:txBody>
        </p:sp>
        <p:sp>
          <p:nvSpPr>
            <p:cNvPr id="162" name="proposed-WestAfrica-inland-head">
              <a:extLst>
                <a:ext uri="{FF2B5EF4-FFF2-40B4-BE49-F238E27FC236}">
                  <a16:creationId xmlns:a16="http://schemas.microsoft.com/office/drawing/2014/main" id="{5AF9F6E9-A7B3-4360-982E-181EC5CB122B}"/>
                </a:ext>
              </a:extLst>
            </p:cNvPr>
            <p:cNvSpPr>
              <a:spLocks/>
            </p:cNvSpPr>
            <p:nvPr/>
          </p:nvSpPr>
          <p:spPr>
            <a:xfrm>
              <a:off x="1122227" y="2728807"/>
              <a:ext cx="88936" cy="68547"/>
            </a:xfrm>
            <a:custGeom>
              <a:avLst/>
              <a:gdLst/>
              <a:ahLst/>
              <a:cxnLst/>
              <a:rect l="0" t="0" r="0" b="0"/>
              <a:pathLst>
                <a:path w="125066" h="96394">
                  <a:moveTo>
                    <a:pt x="125066" y="8283"/>
                  </a:moveTo>
                  <a:lnTo>
                    <a:pt x="0" y="0"/>
                  </a:lnTo>
                  <a:lnTo>
                    <a:pt x="35923" y="96394"/>
                  </a:lnTo>
                  <a:close/>
                </a:path>
              </a:pathLst>
            </a:custGeom>
            <a:solidFill>
              <a:srgbClr val="627F79"/>
            </a:solidFill>
            <a:ln w="0">
              <a:noFill/>
              <a:prstDash val="solid"/>
            </a:ln>
          </p:spPr>
          <p:txBody>
            <a:bodyPr/>
            <a:p/>
          </p:txBody>
        </p:sp>
        <p:sp>
          <p:nvSpPr>
            <p:cNvPr id="163" name="proposed-Sahel-Sudan">
              <a:extLst>
                <a:ext uri="{FF2B5EF4-FFF2-40B4-BE49-F238E27FC236}">
                  <a16:creationId xmlns:a16="http://schemas.microsoft.com/office/drawing/2014/main" id="{BA027C4E-F4B1-4685-9AB2-C3B5AD6A45D6}"/>
                </a:ext>
              </a:extLst>
            </p:cNvPr>
            <p:cNvSpPr>
              <a:spLocks/>
            </p:cNvSpPr>
            <p:nvPr/>
          </p:nvSpPr>
          <p:spPr>
            <a:xfrm>
              <a:off x="1211162" y="2610026"/>
              <a:ext cx="1060162" cy="124671"/>
            </a:xfrm>
            <a:custGeom>
              <a:avLst/>
              <a:gdLst/>
              <a:ahLst/>
              <a:cxnLst/>
              <a:rect l="0" t="0" r="0" b="0"/>
              <a:pathLst>
                <a:path w="1490853" h="175319">
                  <a:moveTo>
                    <a:pt x="1490853" y="78419"/>
                  </a:moveTo>
                  <a:lnTo>
                    <a:pt x="1455488" y="64671"/>
                  </a:lnTo>
                  <a:lnTo>
                    <a:pt x="1419596" y="52401"/>
                  </a:lnTo>
                  <a:lnTo>
                    <a:pt x="1383203" y="41558"/>
                  </a:lnTo>
                  <a:lnTo>
                    <a:pt x="1346335" y="32092"/>
                  </a:lnTo>
                  <a:lnTo>
                    <a:pt x="1309019" y="23954"/>
                  </a:lnTo>
                  <a:lnTo>
                    <a:pt x="1271282" y="17095"/>
                  </a:lnTo>
                  <a:lnTo>
                    <a:pt x="1233150" y="11464"/>
                  </a:lnTo>
                  <a:lnTo>
                    <a:pt x="1194650" y="7012"/>
                  </a:lnTo>
                  <a:lnTo>
                    <a:pt x="1155808" y="3689"/>
                  </a:lnTo>
                  <a:lnTo>
                    <a:pt x="1116651" y="1446"/>
                  </a:lnTo>
                  <a:lnTo>
                    <a:pt x="1077205" y="233"/>
                  </a:lnTo>
                  <a:lnTo>
                    <a:pt x="1037496" y="0"/>
                  </a:lnTo>
                  <a:lnTo>
                    <a:pt x="997553" y="698"/>
                  </a:lnTo>
                  <a:lnTo>
                    <a:pt x="957400" y="2276"/>
                  </a:lnTo>
                  <a:lnTo>
                    <a:pt x="917064" y="4686"/>
                  </a:lnTo>
                  <a:lnTo>
                    <a:pt x="876573" y="7878"/>
                  </a:lnTo>
                  <a:lnTo>
                    <a:pt x="835952" y="11801"/>
                  </a:lnTo>
                  <a:lnTo>
                    <a:pt x="795228" y="16407"/>
                  </a:lnTo>
                  <a:lnTo>
                    <a:pt x="754428" y="21645"/>
                  </a:lnTo>
                  <a:lnTo>
                    <a:pt x="713577" y="27466"/>
                  </a:lnTo>
                  <a:lnTo>
                    <a:pt x="672704" y="33821"/>
                  </a:lnTo>
                  <a:lnTo>
                    <a:pt x="631834" y="40659"/>
                  </a:lnTo>
                  <a:lnTo>
                    <a:pt x="590993" y="47931"/>
                  </a:lnTo>
                  <a:lnTo>
                    <a:pt x="550209" y="55588"/>
                  </a:lnTo>
                  <a:lnTo>
                    <a:pt x="509507" y="63579"/>
                  </a:lnTo>
                  <a:lnTo>
                    <a:pt x="468915" y="71855"/>
                  </a:lnTo>
                  <a:lnTo>
                    <a:pt x="428459" y="80366"/>
                  </a:lnTo>
                  <a:lnTo>
                    <a:pt x="388165" y="89063"/>
                  </a:lnTo>
                  <a:lnTo>
                    <a:pt x="348061" y="97896"/>
                  </a:lnTo>
                  <a:lnTo>
                    <a:pt x="308171" y="106816"/>
                  </a:lnTo>
                  <a:lnTo>
                    <a:pt x="268524" y="115772"/>
                  </a:lnTo>
                  <a:lnTo>
                    <a:pt x="229145" y="124715"/>
                  </a:lnTo>
                  <a:lnTo>
                    <a:pt x="190062" y="133595"/>
                  </a:lnTo>
                  <a:lnTo>
                    <a:pt x="151300" y="142363"/>
                  </a:lnTo>
                  <a:lnTo>
                    <a:pt x="112886" y="150969"/>
                  </a:lnTo>
                  <a:lnTo>
                    <a:pt x="74847" y="159364"/>
                  </a:lnTo>
                  <a:lnTo>
                    <a:pt x="37210" y="167497"/>
                  </a:lnTo>
                  <a:lnTo>
                    <a:pt x="0" y="175319"/>
                  </a:lnTo>
                </a:path>
              </a:pathLst>
            </a:custGeom>
            <a:noFill/>
            <a:ln w="18965">
              <a:solidFill>
                <a:srgbClr val="627F79"/>
              </a:solidFill>
              <a:prstDash val="dash"/>
            </a:ln>
          </p:spPr>
          <p:txBody>
            <a:bodyPr/>
            <a:p/>
          </p:txBody>
        </p:sp>
        <p:sp>
          <p:nvSpPr>
            <p:cNvPr id="164" name="proposed-Sahel-Sudan-head">
              <a:extLst>
                <a:ext uri="{FF2B5EF4-FFF2-40B4-BE49-F238E27FC236}">
                  <a16:creationId xmlns:a16="http://schemas.microsoft.com/office/drawing/2014/main" id="{818A446E-25AB-4462-8DC5-AFA582BAC9B5}"/>
                </a:ext>
              </a:extLst>
            </p:cNvPr>
            <p:cNvSpPr>
              <a:spLocks/>
            </p:cNvSpPr>
            <p:nvPr/>
          </p:nvSpPr>
          <p:spPr>
            <a:xfrm>
              <a:off x="1211162" y="2682183"/>
              <a:ext cx="87066" cy="71587"/>
            </a:xfrm>
            <a:custGeom>
              <a:avLst/>
              <a:gdLst/>
              <a:ahLst/>
              <a:cxnLst/>
              <a:rect l="0" t="0" r="0" b="0"/>
              <a:pathLst>
                <a:path w="122436" h="100670">
                  <a:moveTo>
                    <a:pt x="0" y="73848"/>
                  </a:moveTo>
                  <a:lnTo>
                    <a:pt x="122436" y="100670"/>
                  </a:lnTo>
                  <a:lnTo>
                    <a:pt x="101274" y="0"/>
                  </a:lnTo>
                  <a:close/>
                </a:path>
              </a:pathLst>
            </a:custGeom>
            <a:solidFill>
              <a:srgbClr val="627F79"/>
            </a:solidFill>
            <a:ln w="0">
              <a:noFill/>
              <a:prstDash val="solid"/>
            </a:ln>
          </p:spPr>
          <p:txBody>
            <a:bodyPr/>
            <a:p/>
          </p:txBody>
        </p:sp>
        <p:sp>
          <p:nvSpPr>
            <p:cNvPr id="165" name="disputed-Polynesia-Chile">
              <a:extLst>
                <a:ext uri="{FF2B5EF4-FFF2-40B4-BE49-F238E27FC236}">
                  <a16:creationId xmlns:a16="http://schemas.microsoft.com/office/drawing/2014/main" id="{7AEE05CF-0097-4E78-A886-985E2DE54AE8}"/>
                </a:ext>
              </a:extLst>
            </p:cNvPr>
            <p:cNvSpPr>
              <a:spLocks/>
            </p:cNvSpPr>
            <p:nvPr/>
          </p:nvSpPr>
          <p:spPr>
            <a:xfrm>
              <a:off x="8814364" y="3841448"/>
              <a:ext cx="1600990" cy="643040"/>
            </a:xfrm>
            <a:custGeom>
              <a:avLst/>
              <a:gdLst/>
              <a:ahLst/>
              <a:cxnLst/>
              <a:rect l="0" t="0" r="0" b="0"/>
              <a:pathLst>
                <a:path w="2251392" h="904274">
                  <a:moveTo>
                    <a:pt x="0" y="0"/>
                  </a:moveTo>
                  <a:lnTo>
                    <a:pt x="36098" y="60678"/>
                  </a:lnTo>
                  <a:lnTo>
                    <a:pt x="74167" y="119427"/>
                  </a:lnTo>
                  <a:lnTo>
                    <a:pt x="114149" y="176228"/>
                  </a:lnTo>
                  <a:lnTo>
                    <a:pt x="155981" y="231060"/>
                  </a:lnTo>
                  <a:lnTo>
                    <a:pt x="199606" y="283904"/>
                  </a:lnTo>
                  <a:lnTo>
                    <a:pt x="244961" y="334739"/>
                  </a:lnTo>
                  <a:lnTo>
                    <a:pt x="291989" y="383546"/>
                  </a:lnTo>
                  <a:lnTo>
                    <a:pt x="340627" y="430303"/>
                  </a:lnTo>
                  <a:lnTo>
                    <a:pt x="390818" y="474992"/>
                  </a:lnTo>
                  <a:lnTo>
                    <a:pt x="442499" y="517592"/>
                  </a:lnTo>
                  <a:lnTo>
                    <a:pt x="495612" y="558083"/>
                  </a:lnTo>
                  <a:lnTo>
                    <a:pt x="550096" y="596444"/>
                  </a:lnTo>
                  <a:lnTo>
                    <a:pt x="605892" y="632657"/>
                  </a:lnTo>
                  <a:lnTo>
                    <a:pt x="662939" y="666700"/>
                  </a:lnTo>
                  <a:lnTo>
                    <a:pt x="721177" y="698553"/>
                  </a:lnTo>
                  <a:lnTo>
                    <a:pt x="780547" y="728197"/>
                  </a:lnTo>
                  <a:lnTo>
                    <a:pt x="840988" y="755612"/>
                  </a:lnTo>
                  <a:lnTo>
                    <a:pt x="902440" y="780777"/>
                  </a:lnTo>
                  <a:lnTo>
                    <a:pt x="964843" y="803672"/>
                  </a:lnTo>
                  <a:lnTo>
                    <a:pt x="1028137" y="824277"/>
                  </a:lnTo>
                  <a:lnTo>
                    <a:pt x="1092263" y="842572"/>
                  </a:lnTo>
                  <a:lnTo>
                    <a:pt x="1157159" y="858538"/>
                  </a:lnTo>
                  <a:lnTo>
                    <a:pt x="1222767" y="872153"/>
                  </a:lnTo>
                  <a:lnTo>
                    <a:pt x="1289025" y="883398"/>
                  </a:lnTo>
                  <a:lnTo>
                    <a:pt x="1355875" y="892253"/>
                  </a:lnTo>
                  <a:lnTo>
                    <a:pt x="1423256" y="898697"/>
                  </a:lnTo>
                  <a:lnTo>
                    <a:pt x="1491107" y="902711"/>
                  </a:lnTo>
                  <a:lnTo>
                    <a:pt x="1559370" y="904274"/>
                  </a:lnTo>
                  <a:lnTo>
                    <a:pt x="1627984" y="903367"/>
                  </a:lnTo>
                  <a:lnTo>
                    <a:pt x="1696888" y="899969"/>
                  </a:lnTo>
                  <a:lnTo>
                    <a:pt x="1766023" y="894060"/>
                  </a:lnTo>
                  <a:lnTo>
                    <a:pt x="1835329" y="885621"/>
                  </a:lnTo>
                  <a:lnTo>
                    <a:pt x="1904746" y="874630"/>
                  </a:lnTo>
                  <a:lnTo>
                    <a:pt x="1974214" y="861069"/>
                  </a:lnTo>
                  <a:lnTo>
                    <a:pt x="2043673" y="844916"/>
                  </a:lnTo>
                  <a:lnTo>
                    <a:pt x="2113062" y="826152"/>
                  </a:lnTo>
                  <a:lnTo>
                    <a:pt x="2182322" y="804757"/>
                  </a:lnTo>
                  <a:lnTo>
                    <a:pt x="2251392" y="780710"/>
                  </a:lnTo>
                </a:path>
              </a:pathLst>
            </a:custGeom>
            <a:noFill/>
            <a:ln w="23707">
              <a:solidFill>
                <a:srgbClr val="687573"/>
              </a:solidFill>
              <a:prstDash val="dot"/>
            </a:ln>
          </p:spPr>
          <p:txBody>
            <a:bodyPr/>
            <a:p/>
          </p:txBody>
        </p:sp>
        <p:sp>
          <p:nvSpPr>
            <p:cNvPr id="166" name="disputed-Polynesia-Chile-head">
              <a:extLst>
                <a:ext uri="{FF2B5EF4-FFF2-40B4-BE49-F238E27FC236}">
                  <a16:creationId xmlns:a16="http://schemas.microsoft.com/office/drawing/2014/main" id="{EB6E6125-A8A3-436F-8D2B-7CBA8D397F7D}"/>
                </a:ext>
              </a:extLst>
            </p:cNvPr>
            <p:cNvSpPr>
              <a:spLocks/>
            </p:cNvSpPr>
            <p:nvPr/>
          </p:nvSpPr>
          <p:spPr>
            <a:xfrm>
              <a:off x="10326568" y="4388801"/>
              <a:ext cx="88787" cy="69085"/>
            </a:xfrm>
            <a:custGeom>
              <a:avLst/>
              <a:gdLst/>
              <a:ahLst/>
              <a:cxnLst/>
              <a:rect l="0" t="0" r="0" b="0"/>
              <a:pathLst>
                <a:path w="124857" h="97151">
                  <a:moveTo>
                    <a:pt x="124857" y="10995"/>
                  </a:moveTo>
                  <a:lnTo>
                    <a:pt x="0" y="0"/>
                  </a:lnTo>
                  <a:lnTo>
                    <a:pt x="33823" y="97151"/>
                  </a:lnTo>
                  <a:close/>
                </a:path>
              </a:pathLst>
            </a:custGeom>
            <a:solidFill>
              <a:srgbClr val="687573"/>
            </a:solidFill>
            <a:ln w="0">
              <a:noFill/>
              <a:prstDash val="solid"/>
            </a:ln>
          </p:spPr>
          <p:txBody>
            <a:bodyPr/>
            <a:p/>
          </p:txBody>
        </p:sp>
        <p:sp>
          <p:nvSpPr>
            <p:cNvPr id="167" name="colonial-Iberia-Atlantic-left">
              <a:extLst>
                <a:ext uri="{FF2B5EF4-FFF2-40B4-BE49-F238E27FC236}">
                  <a16:creationId xmlns:a16="http://schemas.microsoft.com/office/drawing/2014/main" id="{F6B4A8E6-5670-4E54-904A-33C2C8410110}"/>
                </a:ext>
              </a:extLst>
            </p:cNvPr>
            <p:cNvSpPr>
              <a:spLocks/>
            </p:cNvSpPr>
            <p:nvPr/>
          </p:nvSpPr>
          <p:spPr>
            <a:xfrm>
              <a:off x="406400" y="1875615"/>
              <a:ext cx="758613" cy="169690"/>
            </a:xfrm>
            <a:custGeom>
              <a:avLst/>
              <a:gdLst/>
              <a:ahLst/>
              <a:cxnLst/>
              <a:rect l="0" t="0" r="0" b="0"/>
              <a:pathLst>
                <a:path w="1066800" h="238626">
                  <a:moveTo>
                    <a:pt x="1066800" y="9005"/>
                  </a:moveTo>
                  <a:lnTo>
                    <a:pt x="1038636" y="5758"/>
                  </a:lnTo>
                  <a:lnTo>
                    <a:pt x="1010303" y="3254"/>
                  </a:lnTo>
                  <a:lnTo>
                    <a:pt x="981813" y="1473"/>
                  </a:lnTo>
                  <a:lnTo>
                    <a:pt x="953183" y="395"/>
                  </a:lnTo>
                  <a:lnTo>
                    <a:pt x="924427" y="0"/>
                  </a:lnTo>
                  <a:lnTo>
                    <a:pt x="895558" y="268"/>
                  </a:lnTo>
                  <a:lnTo>
                    <a:pt x="866593" y="1178"/>
                  </a:lnTo>
                  <a:lnTo>
                    <a:pt x="837545" y="2712"/>
                  </a:lnTo>
                  <a:lnTo>
                    <a:pt x="808428" y="4848"/>
                  </a:lnTo>
                  <a:lnTo>
                    <a:pt x="779259" y="7566"/>
                  </a:lnTo>
                  <a:lnTo>
                    <a:pt x="750050" y="10847"/>
                  </a:lnTo>
                  <a:lnTo>
                    <a:pt x="720817" y="14670"/>
                  </a:lnTo>
                  <a:lnTo>
                    <a:pt x="691575" y="19015"/>
                  </a:lnTo>
                  <a:lnTo>
                    <a:pt x="662337" y="23863"/>
                  </a:lnTo>
                  <a:lnTo>
                    <a:pt x="633118" y="29192"/>
                  </a:lnTo>
                  <a:lnTo>
                    <a:pt x="603934" y="34984"/>
                  </a:lnTo>
                  <a:lnTo>
                    <a:pt x="574798" y="41217"/>
                  </a:lnTo>
                  <a:lnTo>
                    <a:pt x="545726" y="47872"/>
                  </a:lnTo>
                  <a:lnTo>
                    <a:pt x="516731" y="54929"/>
                  </a:lnTo>
                  <a:lnTo>
                    <a:pt x="487829" y="62368"/>
                  </a:lnTo>
                  <a:lnTo>
                    <a:pt x="459033" y="70168"/>
                  </a:lnTo>
                  <a:lnTo>
                    <a:pt x="430359" y="78310"/>
                  </a:lnTo>
                  <a:lnTo>
                    <a:pt x="401822" y="86773"/>
                  </a:lnTo>
                  <a:lnTo>
                    <a:pt x="373434" y="95537"/>
                  </a:lnTo>
                  <a:lnTo>
                    <a:pt x="345213" y="104583"/>
                  </a:lnTo>
                  <a:lnTo>
                    <a:pt x="317170" y="113890"/>
                  </a:lnTo>
                  <a:lnTo>
                    <a:pt x="289323" y="123437"/>
                  </a:lnTo>
                  <a:lnTo>
                    <a:pt x="261684" y="133206"/>
                  </a:lnTo>
                  <a:lnTo>
                    <a:pt x="234269" y="143176"/>
                  </a:lnTo>
                  <a:lnTo>
                    <a:pt x="207092" y="153326"/>
                  </a:lnTo>
                  <a:lnTo>
                    <a:pt x="180168" y="163637"/>
                  </a:lnTo>
                  <a:lnTo>
                    <a:pt x="153511" y="174088"/>
                  </a:lnTo>
                  <a:lnTo>
                    <a:pt x="127136" y="184661"/>
                  </a:lnTo>
                  <a:lnTo>
                    <a:pt x="101057" y="195333"/>
                  </a:lnTo>
                  <a:lnTo>
                    <a:pt x="75290" y="206086"/>
                  </a:lnTo>
                  <a:lnTo>
                    <a:pt x="49848" y="216899"/>
                  </a:lnTo>
                  <a:lnTo>
                    <a:pt x="24747" y="227753"/>
                  </a:lnTo>
                  <a:lnTo>
                    <a:pt x="0" y="238626"/>
                  </a:lnTo>
                </a:path>
              </a:pathLst>
            </a:custGeom>
            <a:noFill/>
            <a:ln w="18965">
              <a:solidFill>
                <a:srgbClr val="8B688E"/>
              </a:solidFill>
              <a:prstDash val="solid"/>
            </a:ln>
          </p:spPr>
          <p:txBody>
            <a:bodyPr/>
            <a:p/>
          </p:txBody>
        </p:sp>
        <p:sp>
          <p:nvSpPr>
            <p:cNvPr id="168" name="colonial-Iberia-Atlantic-left-head">
              <a:extLst>
                <a:ext uri="{FF2B5EF4-FFF2-40B4-BE49-F238E27FC236}">
                  <a16:creationId xmlns:a16="http://schemas.microsoft.com/office/drawing/2014/main" id="{017E737C-0AE7-4033-A2D7-93E614CE7D96}"/>
                </a:ext>
              </a:extLst>
            </p:cNvPr>
            <p:cNvSpPr>
              <a:spLocks/>
            </p:cNvSpPr>
            <p:nvPr/>
          </p:nvSpPr>
          <p:spPr>
            <a:xfrm>
              <a:off x="406400" y="1979122"/>
              <a:ext cx="89127" cy="66972"/>
            </a:xfrm>
            <a:custGeom>
              <a:avLst/>
              <a:gdLst/>
              <a:ahLst/>
              <a:cxnLst/>
              <a:rect l="0" t="0" r="0" b="0"/>
              <a:pathLst>
                <a:path w="125335" h="94180">
                  <a:moveTo>
                    <a:pt x="0" y="93069"/>
                  </a:moveTo>
                  <a:lnTo>
                    <a:pt x="125335" y="94180"/>
                  </a:lnTo>
                  <a:lnTo>
                    <a:pt x="83953" y="0"/>
                  </a:lnTo>
                  <a:close/>
                </a:path>
              </a:pathLst>
            </a:custGeom>
            <a:solidFill>
              <a:srgbClr val="8B688E"/>
            </a:solidFill>
            <a:ln w="0">
              <a:noFill/>
              <a:prstDash val="solid"/>
            </a:ln>
          </p:spPr>
          <p:txBody>
            <a:bodyPr/>
            <a:p/>
          </p:txBody>
        </p:sp>
        <p:sp>
          <p:nvSpPr>
            <p:cNvPr id="169" name="colonial-Atlantic-right">
              <a:extLst>
                <a:ext uri="{FF2B5EF4-FFF2-40B4-BE49-F238E27FC236}">
                  <a16:creationId xmlns:a16="http://schemas.microsoft.com/office/drawing/2014/main" id="{BB2E5B3E-DAFB-4A46-9194-98F93549C26C}"/>
                </a:ext>
              </a:extLst>
            </p:cNvPr>
            <p:cNvSpPr>
              <a:spLocks/>
            </p:cNvSpPr>
            <p:nvPr/>
          </p:nvSpPr>
          <p:spPr>
            <a:xfrm>
              <a:off x="10448592" y="2043324"/>
              <a:ext cx="1337008" cy="524473"/>
            </a:xfrm>
            <a:custGeom>
              <a:avLst/>
              <a:gdLst/>
              <a:ahLst/>
              <a:cxnLst/>
              <a:rect l="0" t="0" r="0" b="0"/>
              <a:pathLst>
                <a:path w="1337008" h="524473">
                  <a:moveTo>
                    <a:pt x="1337008" y="1981"/>
                  </a:moveTo>
                  <a:lnTo>
                    <a:pt x="1292481" y="207"/>
                  </a:lnTo>
                  <a:lnTo>
                    <a:pt x="1248720" y="0"/>
                  </a:lnTo>
                  <a:lnTo>
                    <a:pt x="1205703" y="1300"/>
                  </a:lnTo>
                  <a:lnTo>
                    <a:pt x="1163409" y="4047"/>
                  </a:lnTo>
                  <a:lnTo>
                    <a:pt x="1121816" y="8179"/>
                  </a:lnTo>
                  <a:lnTo>
                    <a:pt x="1080902" y="13636"/>
                  </a:lnTo>
                  <a:lnTo>
                    <a:pt x="1040645" y="20357"/>
                  </a:lnTo>
                  <a:lnTo>
                    <a:pt x="1001025" y="28281"/>
                  </a:lnTo>
                  <a:lnTo>
                    <a:pt x="962018" y="37348"/>
                  </a:lnTo>
                  <a:lnTo>
                    <a:pt x="923603" y="47497"/>
                  </a:lnTo>
                  <a:lnTo>
                    <a:pt x="885758" y="58668"/>
                  </a:lnTo>
                  <a:lnTo>
                    <a:pt x="848462" y="70799"/>
                  </a:lnTo>
                  <a:lnTo>
                    <a:pt x="811693" y="83829"/>
                  </a:lnTo>
                  <a:lnTo>
                    <a:pt x="775429" y="97699"/>
                  </a:lnTo>
                  <a:lnTo>
                    <a:pt x="739648" y="112347"/>
                  </a:lnTo>
                  <a:lnTo>
                    <a:pt x="704329" y="127713"/>
                  </a:lnTo>
                  <a:lnTo>
                    <a:pt x="669449" y="143736"/>
                  </a:lnTo>
                  <a:lnTo>
                    <a:pt x="634988" y="160355"/>
                  </a:lnTo>
                  <a:lnTo>
                    <a:pt x="600922" y="177510"/>
                  </a:lnTo>
                  <a:lnTo>
                    <a:pt x="567231" y="195140"/>
                  </a:lnTo>
                  <a:lnTo>
                    <a:pt x="533893" y="213184"/>
                  </a:lnTo>
                  <a:lnTo>
                    <a:pt x="500885" y="231581"/>
                  </a:lnTo>
                  <a:lnTo>
                    <a:pt x="468187" y="250271"/>
                  </a:lnTo>
                  <a:lnTo>
                    <a:pt x="435776" y="269193"/>
                  </a:lnTo>
                  <a:lnTo>
                    <a:pt x="403630" y="288287"/>
                  </a:lnTo>
                  <a:lnTo>
                    <a:pt x="371729" y="307491"/>
                  </a:lnTo>
                  <a:lnTo>
                    <a:pt x="340049" y="326745"/>
                  </a:lnTo>
                  <a:lnTo>
                    <a:pt x="308569" y="345988"/>
                  </a:lnTo>
                  <a:lnTo>
                    <a:pt x="277268" y="365160"/>
                  </a:lnTo>
                  <a:lnTo>
                    <a:pt x="246124" y="384200"/>
                  </a:lnTo>
                  <a:lnTo>
                    <a:pt x="215115" y="403047"/>
                  </a:lnTo>
                  <a:lnTo>
                    <a:pt x="184219" y="421640"/>
                  </a:lnTo>
                  <a:lnTo>
                    <a:pt x="153414" y="439919"/>
                  </a:lnTo>
                  <a:lnTo>
                    <a:pt x="122679" y="457822"/>
                  </a:lnTo>
                  <a:lnTo>
                    <a:pt x="91992" y="475290"/>
                  </a:lnTo>
                  <a:lnTo>
                    <a:pt x="61331" y="492262"/>
                  </a:lnTo>
                  <a:lnTo>
                    <a:pt x="30674" y="508676"/>
                  </a:lnTo>
                  <a:lnTo>
                    <a:pt x="0" y="524473"/>
                  </a:lnTo>
                </a:path>
              </a:pathLst>
            </a:custGeom>
            <a:noFill/>
            <a:ln w="18965">
              <a:solidFill>
                <a:srgbClr val="8B688E"/>
              </a:solidFill>
              <a:prstDash val="solid"/>
            </a:ln>
          </p:spPr>
          <p:txBody>
            <a:bodyPr/>
            <a:p/>
          </p:txBody>
        </p:sp>
        <p:sp>
          <p:nvSpPr>
            <p:cNvPr id="170" name="colonial-Atlantic-right-head">
              <a:extLst>
                <a:ext uri="{FF2B5EF4-FFF2-40B4-BE49-F238E27FC236}">
                  <a16:creationId xmlns:a16="http://schemas.microsoft.com/office/drawing/2014/main" id="{26B19E4A-E7B9-4628-93A9-FF02AEBAE0E3}"/>
                </a:ext>
              </a:extLst>
            </p:cNvPr>
            <p:cNvSpPr>
              <a:spLocks/>
            </p:cNvSpPr>
            <p:nvPr/>
          </p:nvSpPr>
          <p:spPr>
            <a:xfrm>
              <a:off x="10448592" y="2499156"/>
              <a:ext cx="87616" cy="68641"/>
            </a:xfrm>
            <a:custGeom>
              <a:avLst/>
              <a:gdLst/>
              <a:ahLst/>
              <a:cxnLst/>
              <a:rect l="0" t="0" r="0" b="0"/>
              <a:pathLst>
                <a:path w="87616" h="68641">
                  <a:moveTo>
                    <a:pt x="0" y="68641"/>
                  </a:moveTo>
                  <a:lnTo>
                    <a:pt x="87616" y="64019"/>
                  </a:lnTo>
                  <a:lnTo>
                    <a:pt x="54648" y="0"/>
                  </a:lnTo>
                  <a:close/>
                </a:path>
              </a:pathLst>
            </a:custGeom>
            <a:solidFill>
              <a:srgbClr val="8B688E"/>
            </a:solidFill>
            <a:ln w="0">
              <a:noFill/>
              <a:prstDash val="solid"/>
            </a:ln>
          </p:spPr>
          <p:txBody>
            <a:bodyPr/>
            <a:p/>
          </p:txBody>
        </p:sp>
        <p:sp>
          <p:nvSpPr>
            <p:cNvPr id="171" name="atlantic-left-continuation">
              <a:extLst>
                <a:ext uri="{FF2B5EF4-FFF2-40B4-BE49-F238E27FC236}">
                  <a16:creationId xmlns:a16="http://schemas.microsoft.com/office/drawing/2014/main" id="{A4742AED-EA30-451D-AE6C-502A3D7FF7A3}"/>
                </a:ext>
              </a:extLst>
            </p:cNvPr>
            <p:cNvSpPr>
              <a:spLocks/>
            </p:cNvSpPr>
            <p:nvPr/>
          </p:nvSpPr>
          <p:spPr>
            <a:xfrm>
              <a:off x="203200"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Microsoft YaHei"/>
                  <a:ea typeface="Microsoft YaHei"/>
                  <a:cs typeface="Microsoft YaHei"/>
                </a:defRPr>
              </a:defPPr>
            </a:lstStyle>
            <a:p>
              <a:pPr algn="l">
                <a:lnSpc>
                  <a:spcPct val="100000"/>
                </a:lnSpc>
                <a:buNone/>
                <a:defRPr sz="1333" b="1">
                  <a:solidFill>
                    <a:srgbClr val="8B688E"/>
                  </a:solidFill>
                  <a:latin typeface="Microsoft YaHei"/>
                  <a:ea typeface="Microsoft YaHei"/>
                  <a:cs typeface="Microsoft YaHei"/>
                </a:defRPr>
              </a:pPr>
              <a:r>
                <a:rPr sz="1333" b="1">
                  <a:solidFill>
                    <a:srgbClr val="8B688E"/>
                  </a:solidFill>
                  <a:latin typeface="Microsoft YaHei"/>
                  <a:ea typeface="Microsoft YaHei"/>
                  <a:cs typeface="Microsoft YaHei"/>
                </a:rPr>
                <a:t>A</a:t>
              </a:r>
            </a:p>
          </p:txBody>
        </p:sp>
        <p:sp>
          <p:nvSpPr>
            <p:cNvPr id="172" name="atlantic-right-continuation">
              <a:extLst>
                <a:ext uri="{FF2B5EF4-FFF2-40B4-BE49-F238E27FC236}">
                  <a16:creationId xmlns:a16="http://schemas.microsoft.com/office/drawing/2014/main" id="{25557F5F-DDEB-4FCF-BE88-F7D8B6851D18}"/>
                </a:ext>
              </a:extLst>
            </p:cNvPr>
            <p:cNvSpPr>
              <a:spLocks/>
            </p:cNvSpPr>
            <p:nvPr/>
          </p:nvSpPr>
          <p:spPr>
            <a:xfrm>
              <a:off x="11853333"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Microsoft YaHei"/>
                  <a:ea typeface="Microsoft YaHei"/>
                  <a:cs typeface="Microsoft YaHei"/>
                </a:defRPr>
              </a:defPPr>
            </a:lstStyle>
            <a:p>
              <a:pPr algn="l">
                <a:lnSpc>
                  <a:spcPct val="100000"/>
                </a:lnSpc>
                <a:buNone/>
                <a:defRPr sz="1333" b="1">
                  <a:solidFill>
                    <a:srgbClr val="8B688E"/>
                  </a:solidFill>
                  <a:latin typeface="Microsoft YaHei"/>
                  <a:ea typeface="Microsoft YaHei"/>
                  <a:cs typeface="Microsoft YaHei"/>
                </a:defRPr>
              </a:pPr>
              <a:r>
                <a:rPr sz="1333" b="1">
                  <a:solidFill>
                    <a:srgbClr val="8B688E"/>
                  </a:solidFill>
                  <a:latin typeface="Microsoft YaHei"/>
                  <a:ea typeface="Microsoft YaHei"/>
                  <a:cs typeface="Microsoft YaHei"/>
                </a:rPr>
                <a:t>A</a:t>
              </a:r>
            </a:p>
          </p:txBody>
        </p:sp>
        <p:sp>
          <p:nvSpPr>
            <p:cNvPr id="173" name="point-1-1">
              <a:extLst>
                <a:ext uri="{FF2B5EF4-FFF2-40B4-BE49-F238E27FC236}">
                  <a16:creationId xmlns:a16="http://schemas.microsoft.com/office/drawing/2014/main" id="{AB49718E-EBB3-444E-8186-92ECE0C77A37}"/>
                </a:ext>
              </a:extLst>
            </p:cNvPr>
            <p:cNvSpPr>
              <a:spLocks/>
            </p:cNvSpPr>
            <p:nvPr/>
          </p:nvSpPr>
          <p:spPr>
            <a:xfrm>
              <a:off x="4950404" y="1989062"/>
              <a:ext cx="40640" cy="40640"/>
            </a:xfrm>
            <a:prstGeom prst="ellipse">
              <a:avLst/>
            </a:prstGeom>
            <a:solidFill>
              <a:srgbClr val="293D3B"/>
            </a:solidFill>
            <a:ln w="0">
              <a:solidFill>
                <a:srgbClr val="293D3B"/>
              </a:solidFill>
            </a:ln>
          </p:spPr>
          <p:txBody>
            <a:bodyPr/>
            <a:p/>
          </p:txBody>
        </p:sp>
        <p:sp>
          <p:nvSpPr>
            <p:cNvPr id="174" name="record-leader-1-1">
              <a:extLst>
                <a:ext uri="{FF2B5EF4-FFF2-40B4-BE49-F238E27FC236}">
                  <a16:creationId xmlns:a16="http://schemas.microsoft.com/office/drawing/2014/main" id="{64A55310-505D-43D8-824A-9E59CF6F22EC}"/>
                </a:ext>
              </a:extLst>
            </p:cNvPr>
            <p:cNvSpPr>
              <a:spLocks/>
            </p:cNvSpPr>
            <p:nvPr/>
          </p:nvSpPr>
          <p:spPr>
            <a:xfrm>
              <a:off x="4970764" y="1581150"/>
              <a:ext cx="134636" cy="428292"/>
            </a:xfrm>
            <a:custGeom>
              <a:avLst/>
              <a:gdLst/>
              <a:ahLst/>
              <a:cxnLst/>
              <a:rect l="0" t="0" r="0" b="0"/>
              <a:pathLst>
                <a:path w="134636" h="428292">
                  <a:moveTo>
                    <a:pt x="0" y="428292"/>
                  </a:moveTo>
                  <a:lnTo>
                    <a:pt x="134636" y="0"/>
                  </a:lnTo>
                </a:path>
              </a:pathLst>
            </a:custGeom>
            <a:noFill/>
            <a:ln w="10478">
              <a:solidFill>
                <a:srgbClr val="879993"/>
              </a:solidFill>
              <a:prstDash val="solid"/>
            </a:ln>
          </p:spPr>
          <p:txBody>
            <a:bodyPr/>
            <a:p/>
          </p:txBody>
        </p:sp>
        <p:sp>
          <p:nvSpPr>
            <p:cNvPr id="175" name="badge-1">
              <a:extLst>
                <a:ext uri="{FF2B5EF4-FFF2-40B4-BE49-F238E27FC236}">
                  <a16:creationId xmlns:a16="http://schemas.microsoft.com/office/drawing/2014/main" id="{FC8A9956-DD92-471A-9C45-0443BE134D89}"/>
                </a:ext>
              </a:extLst>
            </p:cNvPr>
            <p:cNvSpPr>
              <a:spLocks/>
            </p:cNvSpPr>
            <p:nvPr/>
          </p:nvSpPr>
          <p:spPr>
            <a:xfrm>
              <a:off x="5000625" y="1476375"/>
              <a:ext cx="209550" cy="209550"/>
            </a:xfrm>
            <a:prstGeom prst="ellipse">
              <a:avLst/>
            </a:prstGeom>
            <a:solidFill>
              <a:srgbClr val="FFFFFF"/>
            </a:solidFill>
            <a:ln w="10837">
              <a:solidFill>
                <a:srgbClr val="293D3B"/>
              </a:solidFill>
            </a:ln>
          </p:spPr>
          <p:txBody>
            <a:bodyPr/>
            <a:p/>
          </p:txBody>
        </p:sp>
        <p:sp>
          <p:nvSpPr>
            <p:cNvPr id="176" name="record-code-1">
              <a:extLst>
                <a:ext uri="{FF2B5EF4-FFF2-40B4-BE49-F238E27FC236}">
                  <a16:creationId xmlns:a16="http://schemas.microsoft.com/office/drawing/2014/main" id="{D7BEFB2F-9D39-4F5A-892B-5AA69EFD88DE}"/>
                </a:ext>
              </a:extLst>
            </p:cNvPr>
            <p:cNvSpPr>
              <a:spLocks/>
            </p:cNvSpPr>
            <p:nvPr/>
          </p:nvSpPr>
          <p:spPr>
            <a:xfrm>
              <a:off x="5000625" y="14820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2</a:t>
              </a:r>
            </a:p>
          </p:txBody>
        </p:sp>
        <p:sp>
          <p:nvSpPr>
            <p:cNvPr id="177" name="point-2-1">
              <a:extLst>
                <a:ext uri="{FF2B5EF4-FFF2-40B4-BE49-F238E27FC236}">
                  <a16:creationId xmlns:a16="http://schemas.microsoft.com/office/drawing/2014/main" id="{1DB159C6-0EF4-4D8E-A8C6-805AC48A02D9}"/>
                </a:ext>
              </a:extLst>
            </p:cNvPr>
            <p:cNvSpPr>
              <a:spLocks/>
            </p:cNvSpPr>
            <p:nvPr/>
          </p:nvSpPr>
          <p:spPr>
            <a:xfrm>
              <a:off x="3695531" y="2531170"/>
              <a:ext cx="40640" cy="40640"/>
            </a:xfrm>
            <a:prstGeom prst="ellipse">
              <a:avLst/>
            </a:prstGeom>
            <a:solidFill>
              <a:srgbClr val="293D3B"/>
            </a:solidFill>
            <a:ln w="0">
              <a:solidFill>
                <a:srgbClr val="293D3B"/>
              </a:solidFill>
            </a:ln>
          </p:spPr>
          <p:txBody>
            <a:bodyPr/>
            <a:p/>
          </p:txBody>
        </p:sp>
        <p:sp>
          <p:nvSpPr>
            <p:cNvPr id="178" name="badge-2">
              <a:extLst>
                <a:ext uri="{FF2B5EF4-FFF2-40B4-BE49-F238E27FC236}">
                  <a16:creationId xmlns:a16="http://schemas.microsoft.com/office/drawing/2014/main" id="{70AAEE95-D03F-4483-8610-0349B0040BB9}"/>
                </a:ext>
              </a:extLst>
            </p:cNvPr>
            <p:cNvSpPr>
              <a:spLocks/>
            </p:cNvSpPr>
            <p:nvPr/>
          </p:nvSpPr>
          <p:spPr>
            <a:xfrm>
              <a:off x="3590925" y="2543175"/>
              <a:ext cx="209550" cy="209550"/>
            </a:xfrm>
            <a:prstGeom prst="ellipse">
              <a:avLst/>
            </a:prstGeom>
            <a:solidFill>
              <a:srgbClr val="FFFFFF"/>
            </a:solidFill>
            <a:ln w="10837">
              <a:solidFill>
                <a:srgbClr val="293D3B"/>
              </a:solidFill>
            </a:ln>
          </p:spPr>
          <p:txBody>
            <a:bodyPr/>
            <a:p/>
          </p:txBody>
        </p:sp>
        <p:sp>
          <p:nvSpPr>
            <p:cNvPr id="179" name="record-code-2">
              <a:extLst>
                <a:ext uri="{FF2B5EF4-FFF2-40B4-BE49-F238E27FC236}">
                  <a16:creationId xmlns:a16="http://schemas.microsoft.com/office/drawing/2014/main" id="{DE381157-EBA6-4AB9-8B24-01C0C35830E2}"/>
                </a:ext>
              </a:extLst>
            </p:cNvPr>
            <p:cNvSpPr>
              <a:spLocks/>
            </p:cNvSpPr>
            <p:nvPr/>
          </p:nvSpPr>
          <p:spPr>
            <a:xfrm>
              <a:off x="3590925" y="25488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5</a:t>
              </a:r>
            </a:p>
          </p:txBody>
        </p:sp>
        <p:sp>
          <p:nvSpPr>
            <p:cNvPr id="180" name="point-3-1">
              <a:extLst>
                <a:ext uri="{FF2B5EF4-FFF2-40B4-BE49-F238E27FC236}">
                  <a16:creationId xmlns:a16="http://schemas.microsoft.com/office/drawing/2014/main" id="{758D800A-E2D9-4D65-9CFB-8864C578380D}"/>
                </a:ext>
              </a:extLst>
            </p:cNvPr>
            <p:cNvSpPr>
              <a:spLocks/>
            </p:cNvSpPr>
            <p:nvPr/>
          </p:nvSpPr>
          <p:spPr>
            <a:xfrm>
              <a:off x="5625886" y="2039027"/>
              <a:ext cx="40640" cy="40640"/>
            </a:xfrm>
            <a:prstGeom prst="ellipse">
              <a:avLst/>
            </a:prstGeom>
            <a:solidFill>
              <a:srgbClr val="293D3B"/>
            </a:solidFill>
            <a:ln w="0">
              <a:solidFill>
                <a:srgbClr val="293D3B"/>
              </a:solidFill>
            </a:ln>
          </p:spPr>
          <p:txBody>
            <a:bodyPr/>
            <a:p/>
          </p:txBody>
        </p:sp>
        <p:sp>
          <p:nvSpPr>
            <p:cNvPr id="181" name="record-leader-3-1">
              <a:extLst>
                <a:ext uri="{FF2B5EF4-FFF2-40B4-BE49-F238E27FC236}">
                  <a16:creationId xmlns:a16="http://schemas.microsoft.com/office/drawing/2014/main" id="{139C4F66-9C22-4E81-8BB5-96011E23CE5B}"/>
                </a:ext>
              </a:extLst>
            </p:cNvPr>
            <p:cNvSpPr>
              <a:spLocks/>
            </p:cNvSpPr>
            <p:nvPr/>
          </p:nvSpPr>
          <p:spPr>
            <a:xfrm>
              <a:off x="5646182" y="1905000"/>
              <a:ext cx="364093" cy="154353"/>
            </a:xfrm>
            <a:custGeom>
              <a:avLst/>
              <a:gdLst/>
              <a:ahLst/>
              <a:cxnLst/>
              <a:rect l="0" t="0" r="0" b="0"/>
              <a:pathLst>
                <a:path w="364093" h="154353">
                  <a:moveTo>
                    <a:pt x="0" y="154353"/>
                  </a:moveTo>
                  <a:lnTo>
                    <a:pt x="364093" y="0"/>
                  </a:lnTo>
                </a:path>
              </a:pathLst>
            </a:custGeom>
            <a:noFill/>
            <a:ln w="10478">
              <a:solidFill>
                <a:srgbClr val="879993"/>
              </a:solidFill>
              <a:prstDash val="solid"/>
            </a:ln>
          </p:spPr>
          <p:txBody>
            <a:bodyPr/>
            <a:p/>
          </p:txBody>
        </p:sp>
        <p:sp>
          <p:nvSpPr>
            <p:cNvPr id="182" name="badge-3">
              <a:extLst>
                <a:ext uri="{FF2B5EF4-FFF2-40B4-BE49-F238E27FC236}">
                  <a16:creationId xmlns:a16="http://schemas.microsoft.com/office/drawing/2014/main" id="{DBC36C02-4230-4912-A979-875A1FE42210}"/>
                </a:ext>
              </a:extLst>
            </p:cNvPr>
            <p:cNvSpPr>
              <a:spLocks/>
            </p:cNvSpPr>
            <p:nvPr/>
          </p:nvSpPr>
          <p:spPr>
            <a:xfrm>
              <a:off x="5905500" y="1800225"/>
              <a:ext cx="209550" cy="209550"/>
            </a:xfrm>
            <a:prstGeom prst="ellipse">
              <a:avLst/>
            </a:prstGeom>
            <a:solidFill>
              <a:srgbClr val="FFFFFF"/>
            </a:solidFill>
            <a:ln w="10837">
              <a:solidFill>
                <a:srgbClr val="293D3B"/>
              </a:solidFill>
            </a:ln>
          </p:spPr>
          <p:txBody>
            <a:bodyPr/>
            <a:p/>
          </p:txBody>
        </p:sp>
        <p:sp>
          <p:nvSpPr>
            <p:cNvPr id="183" name="record-code-3">
              <a:extLst>
                <a:ext uri="{FF2B5EF4-FFF2-40B4-BE49-F238E27FC236}">
                  <a16:creationId xmlns:a16="http://schemas.microsoft.com/office/drawing/2014/main" id="{2D9DE8D4-5081-4BE1-A65A-8C0EF7FD5BCC}"/>
                </a:ext>
              </a:extLst>
            </p:cNvPr>
            <p:cNvSpPr>
              <a:spLocks/>
            </p:cNvSpPr>
            <p:nvPr/>
          </p:nvSpPr>
          <p:spPr>
            <a:xfrm>
              <a:off x="5905500" y="18059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3</a:t>
              </a:r>
            </a:p>
          </p:txBody>
        </p:sp>
        <p:sp>
          <p:nvSpPr>
            <p:cNvPr id="184" name="point-4-1">
              <a:extLst>
                <a:ext uri="{FF2B5EF4-FFF2-40B4-BE49-F238E27FC236}">
                  <a16:creationId xmlns:a16="http://schemas.microsoft.com/office/drawing/2014/main" id="{3BFE7051-E91C-4BCF-9E96-5878E49DD9E7}"/>
                </a:ext>
              </a:extLst>
            </p:cNvPr>
            <p:cNvSpPr>
              <a:spLocks/>
            </p:cNvSpPr>
            <p:nvPr/>
          </p:nvSpPr>
          <p:spPr>
            <a:xfrm>
              <a:off x="5435600" y="2064500"/>
              <a:ext cx="40640" cy="40640"/>
            </a:xfrm>
            <a:prstGeom prst="ellipse">
              <a:avLst/>
            </a:prstGeom>
            <a:solidFill>
              <a:srgbClr val="293D3B"/>
            </a:solidFill>
            <a:ln w="0">
              <a:solidFill>
                <a:srgbClr val="293D3B"/>
              </a:solidFill>
            </a:ln>
          </p:spPr>
          <p:txBody>
            <a:bodyPr/>
            <a:p/>
          </p:txBody>
        </p:sp>
        <p:sp>
          <p:nvSpPr>
            <p:cNvPr id="185" name="record-leader-4-1">
              <a:extLst>
                <a:ext uri="{FF2B5EF4-FFF2-40B4-BE49-F238E27FC236}">
                  <a16:creationId xmlns:a16="http://schemas.microsoft.com/office/drawing/2014/main" id="{4246BEB9-4796-4584-AE70-A51BCBF593EA}"/>
                </a:ext>
              </a:extLst>
            </p:cNvPr>
            <p:cNvSpPr>
              <a:spLocks/>
            </p:cNvSpPr>
            <p:nvPr/>
          </p:nvSpPr>
          <p:spPr>
            <a:xfrm>
              <a:off x="5455968" y="2084880"/>
              <a:ext cx="68532" cy="248745"/>
            </a:xfrm>
            <a:custGeom>
              <a:avLst/>
              <a:gdLst/>
              <a:ahLst/>
              <a:cxnLst/>
              <a:rect l="0" t="0" r="0" b="0"/>
              <a:pathLst>
                <a:path w="68532" h="248745">
                  <a:moveTo>
                    <a:pt x="0" y="0"/>
                  </a:moveTo>
                  <a:lnTo>
                    <a:pt x="68532" y="248745"/>
                  </a:lnTo>
                </a:path>
              </a:pathLst>
            </a:custGeom>
            <a:noFill/>
            <a:ln w="10478">
              <a:solidFill>
                <a:srgbClr val="879993"/>
              </a:solidFill>
              <a:prstDash val="solid"/>
            </a:ln>
          </p:spPr>
          <p:txBody>
            <a:bodyPr/>
            <a:p/>
          </p:txBody>
        </p:sp>
        <p:sp>
          <p:nvSpPr>
            <p:cNvPr id="186" name="badge-4">
              <a:extLst>
                <a:ext uri="{FF2B5EF4-FFF2-40B4-BE49-F238E27FC236}">
                  <a16:creationId xmlns:a16="http://schemas.microsoft.com/office/drawing/2014/main" id="{4483BDAC-334E-4ADC-B603-77191FCA7D7E}"/>
                </a:ext>
              </a:extLst>
            </p:cNvPr>
            <p:cNvSpPr>
              <a:spLocks/>
            </p:cNvSpPr>
            <p:nvPr/>
          </p:nvSpPr>
          <p:spPr>
            <a:xfrm>
              <a:off x="5419725" y="2228850"/>
              <a:ext cx="209550" cy="209550"/>
            </a:xfrm>
            <a:prstGeom prst="ellipse">
              <a:avLst/>
            </a:prstGeom>
            <a:solidFill>
              <a:srgbClr val="FFFFFF"/>
            </a:solidFill>
            <a:ln w="10837">
              <a:solidFill>
                <a:srgbClr val="293D3B"/>
              </a:solidFill>
            </a:ln>
          </p:spPr>
          <p:txBody>
            <a:bodyPr/>
            <a:p/>
          </p:txBody>
        </p:sp>
        <p:sp>
          <p:nvSpPr>
            <p:cNvPr id="187" name="record-code-4">
              <a:extLst>
                <a:ext uri="{FF2B5EF4-FFF2-40B4-BE49-F238E27FC236}">
                  <a16:creationId xmlns:a16="http://schemas.microsoft.com/office/drawing/2014/main" id="{4478D0C4-1F77-4441-87A8-1AB836D8530A}"/>
                </a:ext>
              </a:extLst>
            </p:cNvPr>
            <p:cNvSpPr>
              <a:spLocks/>
            </p:cNvSpPr>
            <p:nvPr/>
          </p:nvSpPr>
          <p:spPr>
            <a:xfrm>
              <a:off x="5419725" y="2234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4</a:t>
              </a:r>
            </a:p>
          </p:txBody>
        </p:sp>
        <p:sp>
          <p:nvSpPr>
            <p:cNvPr id="188" name="point-5-1">
              <a:extLst>
                <a:ext uri="{FF2B5EF4-FFF2-40B4-BE49-F238E27FC236}">
                  <a16:creationId xmlns:a16="http://schemas.microsoft.com/office/drawing/2014/main" id="{A518626F-C1E3-49E0-8FAD-69AC11AD5D37}"/>
                </a:ext>
              </a:extLst>
            </p:cNvPr>
            <p:cNvSpPr>
              <a:spLocks/>
            </p:cNvSpPr>
            <p:nvPr/>
          </p:nvSpPr>
          <p:spPr>
            <a:xfrm>
              <a:off x="3360476" y="1874762"/>
              <a:ext cx="40640" cy="40640"/>
            </a:xfrm>
            <a:prstGeom prst="ellipse">
              <a:avLst/>
            </a:prstGeom>
            <a:solidFill>
              <a:srgbClr val="293D3B"/>
            </a:solidFill>
            <a:ln w="0">
              <a:solidFill>
                <a:srgbClr val="293D3B"/>
              </a:solidFill>
            </a:ln>
          </p:spPr>
          <p:txBody>
            <a:bodyPr/>
            <a:p/>
          </p:txBody>
        </p:sp>
        <p:sp>
          <p:nvSpPr>
            <p:cNvPr id="189" name="record-leader-5-1">
              <a:extLst>
                <a:ext uri="{FF2B5EF4-FFF2-40B4-BE49-F238E27FC236}">
                  <a16:creationId xmlns:a16="http://schemas.microsoft.com/office/drawing/2014/main" id="{A0BEA4DC-9486-4BC7-8D8E-50EFEB647C7C}"/>
                </a:ext>
              </a:extLst>
            </p:cNvPr>
            <p:cNvSpPr>
              <a:spLocks/>
            </p:cNvSpPr>
            <p:nvPr/>
          </p:nvSpPr>
          <p:spPr>
            <a:xfrm>
              <a:off x="3371850" y="1724025"/>
              <a:ext cx="9001" cy="171117"/>
            </a:xfrm>
            <a:custGeom>
              <a:avLst/>
              <a:gdLst/>
              <a:ahLst/>
              <a:cxnLst/>
              <a:rect l="0" t="0" r="0" b="0"/>
              <a:pathLst>
                <a:path w="9001" h="171117">
                  <a:moveTo>
                    <a:pt x="9001" y="171117"/>
                  </a:moveTo>
                  <a:lnTo>
                    <a:pt x="0" y="0"/>
                  </a:lnTo>
                </a:path>
              </a:pathLst>
            </a:custGeom>
            <a:noFill/>
            <a:ln w="10478">
              <a:solidFill>
                <a:srgbClr val="879993"/>
              </a:solidFill>
              <a:prstDash val="solid"/>
            </a:ln>
          </p:spPr>
          <p:txBody>
            <a:bodyPr/>
            <a:p/>
          </p:txBody>
        </p:sp>
        <p:sp>
          <p:nvSpPr>
            <p:cNvPr id="190" name="badge-5">
              <a:extLst>
                <a:ext uri="{FF2B5EF4-FFF2-40B4-BE49-F238E27FC236}">
                  <a16:creationId xmlns:a16="http://schemas.microsoft.com/office/drawing/2014/main" id="{78FA59F9-1CC5-4D9F-A81A-FDD6D3EFFD1D}"/>
                </a:ext>
              </a:extLst>
            </p:cNvPr>
            <p:cNvSpPr>
              <a:spLocks/>
            </p:cNvSpPr>
            <p:nvPr/>
          </p:nvSpPr>
          <p:spPr>
            <a:xfrm>
              <a:off x="3267075" y="1619250"/>
              <a:ext cx="209550" cy="209550"/>
            </a:xfrm>
            <a:prstGeom prst="ellipse">
              <a:avLst/>
            </a:prstGeom>
            <a:solidFill>
              <a:srgbClr val="FFFFFF"/>
            </a:solidFill>
            <a:ln w="10837">
              <a:solidFill>
                <a:srgbClr val="293D3B"/>
              </a:solidFill>
            </a:ln>
          </p:spPr>
          <p:txBody>
            <a:bodyPr/>
            <a:p/>
          </p:txBody>
        </p:sp>
        <p:sp>
          <p:nvSpPr>
            <p:cNvPr id="191" name="record-code-5">
              <a:extLst>
                <a:ext uri="{FF2B5EF4-FFF2-40B4-BE49-F238E27FC236}">
                  <a16:creationId xmlns:a16="http://schemas.microsoft.com/office/drawing/2014/main" id="{2788FD15-F5F8-4257-B33C-A4C4CAE7CC41}"/>
                </a:ext>
              </a:extLst>
            </p:cNvPr>
            <p:cNvSpPr>
              <a:spLocks/>
            </p:cNvSpPr>
            <p:nvPr/>
          </p:nvSpPr>
          <p:spPr>
            <a:xfrm>
              <a:off x="3267075" y="16249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6</a:t>
              </a:r>
            </a:p>
          </p:txBody>
        </p:sp>
        <p:sp>
          <p:nvSpPr>
            <p:cNvPr id="192" name="point-6-1">
              <a:extLst>
                <a:ext uri="{FF2B5EF4-FFF2-40B4-BE49-F238E27FC236}">
                  <a16:creationId xmlns:a16="http://schemas.microsoft.com/office/drawing/2014/main" id="{B5C00AA9-74E3-46BA-B71C-F309C4BB77E4}"/>
                </a:ext>
              </a:extLst>
            </p:cNvPr>
            <p:cNvSpPr>
              <a:spLocks/>
            </p:cNvSpPr>
            <p:nvPr/>
          </p:nvSpPr>
          <p:spPr>
            <a:xfrm>
              <a:off x="2437497" y="2136019"/>
              <a:ext cx="40640" cy="40640"/>
            </a:xfrm>
            <a:prstGeom prst="ellipse">
              <a:avLst/>
            </a:prstGeom>
            <a:solidFill>
              <a:srgbClr val="293D3B"/>
            </a:solidFill>
            <a:ln w="0">
              <a:solidFill>
                <a:srgbClr val="293D3B"/>
              </a:solidFill>
            </a:ln>
          </p:spPr>
          <p:txBody>
            <a:bodyPr/>
            <a:p/>
          </p:txBody>
        </p:sp>
        <p:sp>
          <p:nvSpPr>
            <p:cNvPr id="193" name="record-leader-6-1">
              <a:extLst>
                <a:ext uri="{FF2B5EF4-FFF2-40B4-BE49-F238E27FC236}">
                  <a16:creationId xmlns:a16="http://schemas.microsoft.com/office/drawing/2014/main" id="{859916CA-76E1-4343-BA06-40998D3A57D6}"/>
                </a:ext>
              </a:extLst>
            </p:cNvPr>
            <p:cNvSpPr>
              <a:spLocks/>
            </p:cNvSpPr>
            <p:nvPr/>
          </p:nvSpPr>
          <p:spPr>
            <a:xfrm>
              <a:off x="2457879" y="2156317"/>
              <a:ext cx="190071" cy="120158"/>
            </a:xfrm>
            <a:custGeom>
              <a:avLst/>
              <a:gdLst/>
              <a:ahLst/>
              <a:cxnLst/>
              <a:rect l="0" t="0" r="0" b="0"/>
              <a:pathLst>
                <a:path w="190071" h="120158">
                  <a:moveTo>
                    <a:pt x="0" y="0"/>
                  </a:moveTo>
                  <a:lnTo>
                    <a:pt x="190071" y="120158"/>
                  </a:lnTo>
                </a:path>
              </a:pathLst>
            </a:custGeom>
            <a:noFill/>
            <a:ln w="10478">
              <a:solidFill>
                <a:srgbClr val="879993"/>
              </a:solidFill>
              <a:prstDash val="solid"/>
            </a:ln>
          </p:spPr>
          <p:txBody>
            <a:bodyPr/>
            <a:p/>
          </p:txBody>
        </p:sp>
        <p:sp>
          <p:nvSpPr>
            <p:cNvPr id="194" name="badge-6">
              <a:extLst>
                <a:ext uri="{FF2B5EF4-FFF2-40B4-BE49-F238E27FC236}">
                  <a16:creationId xmlns:a16="http://schemas.microsoft.com/office/drawing/2014/main" id="{AAE95520-E0C8-425B-AF90-5218B32547F1}"/>
                </a:ext>
              </a:extLst>
            </p:cNvPr>
            <p:cNvSpPr>
              <a:spLocks/>
            </p:cNvSpPr>
            <p:nvPr/>
          </p:nvSpPr>
          <p:spPr>
            <a:xfrm>
              <a:off x="2543175" y="2171700"/>
              <a:ext cx="209550" cy="209550"/>
            </a:xfrm>
            <a:prstGeom prst="ellipse">
              <a:avLst/>
            </a:prstGeom>
            <a:solidFill>
              <a:srgbClr val="FFFFFF"/>
            </a:solidFill>
            <a:ln w="10837">
              <a:solidFill>
                <a:srgbClr val="293D3B"/>
              </a:solidFill>
            </a:ln>
          </p:spPr>
          <p:txBody>
            <a:bodyPr/>
            <a:p/>
          </p:txBody>
        </p:sp>
        <p:sp>
          <p:nvSpPr>
            <p:cNvPr id="195" name="record-code-6">
              <a:extLst>
                <a:ext uri="{FF2B5EF4-FFF2-40B4-BE49-F238E27FC236}">
                  <a16:creationId xmlns:a16="http://schemas.microsoft.com/office/drawing/2014/main" id="{CECA87E3-9667-4B39-BA8D-31AD88C6391B}"/>
                </a:ext>
              </a:extLst>
            </p:cNvPr>
            <p:cNvSpPr>
              <a:spLocks/>
            </p:cNvSpPr>
            <p:nvPr/>
          </p:nvSpPr>
          <p:spPr>
            <a:xfrm>
              <a:off x="2543175" y="217741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8</a:t>
              </a:r>
            </a:p>
          </p:txBody>
        </p:sp>
        <p:sp>
          <p:nvSpPr>
            <p:cNvPr id="196" name="point-7-1">
              <a:extLst>
                <a:ext uri="{FF2B5EF4-FFF2-40B4-BE49-F238E27FC236}">
                  <a16:creationId xmlns:a16="http://schemas.microsoft.com/office/drawing/2014/main" id="{1C59095B-3FFB-4470-8C0E-DE354BEE935D}"/>
                </a:ext>
              </a:extLst>
            </p:cNvPr>
            <p:cNvSpPr>
              <a:spLocks/>
            </p:cNvSpPr>
            <p:nvPr/>
          </p:nvSpPr>
          <p:spPr>
            <a:xfrm>
              <a:off x="1676987" y="1694821"/>
              <a:ext cx="40640" cy="40640"/>
            </a:xfrm>
            <a:prstGeom prst="ellipse">
              <a:avLst/>
            </a:prstGeom>
            <a:solidFill>
              <a:srgbClr val="293D3B"/>
            </a:solidFill>
            <a:ln w="0">
              <a:solidFill>
                <a:srgbClr val="293D3B"/>
              </a:solidFill>
            </a:ln>
          </p:spPr>
          <p:txBody>
            <a:bodyPr/>
            <a:p/>
          </p:txBody>
        </p:sp>
        <p:sp>
          <p:nvSpPr>
            <p:cNvPr id="197" name="record-leader-7-1">
              <a:extLst>
                <a:ext uri="{FF2B5EF4-FFF2-40B4-BE49-F238E27FC236}">
                  <a16:creationId xmlns:a16="http://schemas.microsoft.com/office/drawing/2014/main" id="{01D24147-8706-43C6-8648-17E7B317B0DB}"/>
                </a:ext>
              </a:extLst>
            </p:cNvPr>
            <p:cNvSpPr>
              <a:spLocks/>
            </p:cNvSpPr>
            <p:nvPr/>
          </p:nvSpPr>
          <p:spPr>
            <a:xfrm>
              <a:off x="1085850" y="1715119"/>
              <a:ext cx="611457" cy="18431"/>
            </a:xfrm>
            <a:custGeom>
              <a:avLst/>
              <a:gdLst/>
              <a:ahLst/>
              <a:cxnLst/>
              <a:rect l="0" t="0" r="0" b="0"/>
              <a:pathLst>
                <a:path w="611457" h="18431">
                  <a:moveTo>
                    <a:pt x="611457" y="0"/>
                  </a:moveTo>
                  <a:lnTo>
                    <a:pt x="0" y="18431"/>
                  </a:lnTo>
                </a:path>
              </a:pathLst>
            </a:custGeom>
            <a:noFill/>
            <a:ln w="10478">
              <a:solidFill>
                <a:srgbClr val="879993"/>
              </a:solidFill>
              <a:prstDash val="solid"/>
            </a:ln>
          </p:spPr>
          <p:txBody>
            <a:bodyPr/>
            <a:p/>
          </p:txBody>
        </p:sp>
        <p:sp>
          <p:nvSpPr>
            <p:cNvPr id="198" name="point-7-2">
              <a:extLst>
                <a:ext uri="{FF2B5EF4-FFF2-40B4-BE49-F238E27FC236}">
                  <a16:creationId xmlns:a16="http://schemas.microsoft.com/office/drawing/2014/main" id="{0B2BFAF1-7A2B-468A-A01C-F1E10779AC10}"/>
                </a:ext>
              </a:extLst>
            </p:cNvPr>
            <p:cNvSpPr>
              <a:spLocks/>
            </p:cNvSpPr>
            <p:nvPr/>
          </p:nvSpPr>
          <p:spPr>
            <a:xfrm>
              <a:off x="1716814" y="1772872"/>
              <a:ext cx="40640" cy="40640"/>
            </a:xfrm>
            <a:prstGeom prst="ellipse">
              <a:avLst/>
            </a:prstGeom>
            <a:solidFill>
              <a:srgbClr val="293D3B"/>
            </a:solidFill>
            <a:ln w="0">
              <a:solidFill>
                <a:srgbClr val="293D3B"/>
              </a:solidFill>
            </a:ln>
          </p:spPr>
          <p:txBody>
            <a:bodyPr/>
            <a:p/>
          </p:txBody>
        </p:sp>
        <p:sp>
          <p:nvSpPr>
            <p:cNvPr id="199" name="record-leader-7-2">
              <a:extLst>
                <a:ext uri="{FF2B5EF4-FFF2-40B4-BE49-F238E27FC236}">
                  <a16:creationId xmlns:a16="http://schemas.microsoft.com/office/drawing/2014/main" id="{9B54525B-4FA3-4168-ACB6-CE8B3F4CD8D0}"/>
                </a:ext>
              </a:extLst>
            </p:cNvPr>
            <p:cNvSpPr>
              <a:spLocks/>
            </p:cNvSpPr>
            <p:nvPr/>
          </p:nvSpPr>
          <p:spPr>
            <a:xfrm>
              <a:off x="1085850" y="1733550"/>
              <a:ext cx="651272" cy="59674"/>
            </a:xfrm>
            <a:custGeom>
              <a:avLst/>
              <a:gdLst/>
              <a:ahLst/>
              <a:cxnLst/>
              <a:rect l="0" t="0" r="0" b="0"/>
              <a:pathLst>
                <a:path w="651272" h="59674">
                  <a:moveTo>
                    <a:pt x="651272" y="59674"/>
                  </a:moveTo>
                  <a:lnTo>
                    <a:pt x="0" y="0"/>
                  </a:lnTo>
                </a:path>
              </a:pathLst>
            </a:custGeom>
            <a:noFill/>
            <a:ln w="10478">
              <a:solidFill>
                <a:srgbClr val="879993"/>
              </a:solidFill>
              <a:prstDash val="solid"/>
            </a:ln>
          </p:spPr>
          <p:txBody>
            <a:bodyPr/>
            <a:p/>
          </p:txBody>
        </p:sp>
        <p:sp>
          <p:nvSpPr>
            <p:cNvPr id="200" name="badge-7">
              <a:extLst>
                <a:ext uri="{FF2B5EF4-FFF2-40B4-BE49-F238E27FC236}">
                  <a16:creationId xmlns:a16="http://schemas.microsoft.com/office/drawing/2014/main" id="{6A26697B-8C8A-486F-A0E6-6182815D89D2}"/>
                </a:ext>
              </a:extLst>
            </p:cNvPr>
            <p:cNvSpPr>
              <a:spLocks/>
            </p:cNvSpPr>
            <p:nvPr/>
          </p:nvSpPr>
          <p:spPr>
            <a:xfrm>
              <a:off x="981075" y="1628775"/>
              <a:ext cx="209550" cy="209550"/>
            </a:xfrm>
            <a:prstGeom prst="ellipse">
              <a:avLst/>
            </a:prstGeom>
            <a:solidFill>
              <a:srgbClr val="FFFFFF"/>
            </a:solidFill>
            <a:ln w="10837">
              <a:solidFill>
                <a:srgbClr val="293D3B"/>
              </a:solidFill>
            </a:ln>
          </p:spPr>
          <p:txBody>
            <a:bodyPr/>
            <a:p/>
          </p:txBody>
        </p:sp>
        <p:sp>
          <p:nvSpPr>
            <p:cNvPr id="201" name="record-code-7">
              <a:extLst>
                <a:ext uri="{FF2B5EF4-FFF2-40B4-BE49-F238E27FC236}">
                  <a16:creationId xmlns:a16="http://schemas.microsoft.com/office/drawing/2014/main" id="{E3753883-EDE4-45E8-B720-8819731B1E9B}"/>
                </a:ext>
              </a:extLst>
            </p:cNvPr>
            <p:cNvSpPr>
              <a:spLocks/>
            </p:cNvSpPr>
            <p:nvPr/>
          </p:nvSpPr>
          <p:spPr>
            <a:xfrm>
              <a:off x="981075" y="16344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9</a:t>
              </a:r>
            </a:p>
          </p:txBody>
        </p:sp>
        <p:sp>
          <p:nvSpPr>
            <p:cNvPr id="202" name="point-8-1">
              <a:extLst>
                <a:ext uri="{FF2B5EF4-FFF2-40B4-BE49-F238E27FC236}">
                  <a16:creationId xmlns:a16="http://schemas.microsoft.com/office/drawing/2014/main" id="{B4674988-6E60-48D2-A8C5-DED0CF350873}"/>
                </a:ext>
              </a:extLst>
            </p:cNvPr>
            <p:cNvSpPr>
              <a:spLocks/>
            </p:cNvSpPr>
            <p:nvPr/>
          </p:nvSpPr>
          <p:spPr>
            <a:xfrm>
              <a:off x="1309692" y="1507696"/>
              <a:ext cx="40640" cy="40640"/>
            </a:xfrm>
            <a:prstGeom prst="ellipse">
              <a:avLst/>
            </a:prstGeom>
            <a:solidFill>
              <a:srgbClr val="293D3B"/>
            </a:solidFill>
            <a:ln w="0">
              <a:solidFill>
                <a:srgbClr val="293D3B"/>
              </a:solidFill>
            </a:ln>
          </p:spPr>
          <p:txBody>
            <a:bodyPr/>
            <a:p/>
          </p:txBody>
        </p:sp>
        <p:sp>
          <p:nvSpPr>
            <p:cNvPr id="203" name="record-leader-8-1">
              <a:extLst>
                <a:ext uri="{FF2B5EF4-FFF2-40B4-BE49-F238E27FC236}">
                  <a16:creationId xmlns:a16="http://schemas.microsoft.com/office/drawing/2014/main" id="{8DFA4537-557A-4103-8A6B-A70A1683E22B}"/>
                </a:ext>
              </a:extLst>
            </p:cNvPr>
            <p:cNvSpPr>
              <a:spLocks/>
            </p:cNvSpPr>
            <p:nvPr/>
          </p:nvSpPr>
          <p:spPr>
            <a:xfrm>
              <a:off x="1028700" y="1257300"/>
              <a:ext cx="301323" cy="270748"/>
            </a:xfrm>
            <a:custGeom>
              <a:avLst/>
              <a:gdLst/>
              <a:ahLst/>
              <a:cxnLst/>
              <a:rect l="0" t="0" r="0" b="0"/>
              <a:pathLst>
                <a:path w="301323" h="270748">
                  <a:moveTo>
                    <a:pt x="301323" y="270748"/>
                  </a:moveTo>
                  <a:lnTo>
                    <a:pt x="0" y="0"/>
                  </a:lnTo>
                </a:path>
              </a:pathLst>
            </a:custGeom>
            <a:noFill/>
            <a:ln w="10478">
              <a:solidFill>
                <a:srgbClr val="879993"/>
              </a:solidFill>
              <a:prstDash val="solid"/>
            </a:ln>
          </p:spPr>
          <p:txBody>
            <a:bodyPr/>
            <a:p/>
          </p:txBody>
        </p:sp>
        <p:sp>
          <p:nvSpPr>
            <p:cNvPr id="204" name="badge-8">
              <a:extLst>
                <a:ext uri="{FF2B5EF4-FFF2-40B4-BE49-F238E27FC236}">
                  <a16:creationId xmlns:a16="http://schemas.microsoft.com/office/drawing/2014/main" id="{86A925A4-9B70-4CC2-B936-4AF7DE4F0F93}"/>
                </a:ext>
              </a:extLst>
            </p:cNvPr>
            <p:cNvSpPr>
              <a:spLocks/>
            </p:cNvSpPr>
            <p:nvPr/>
          </p:nvSpPr>
          <p:spPr>
            <a:xfrm>
              <a:off x="923925" y="1152525"/>
              <a:ext cx="209550" cy="209550"/>
            </a:xfrm>
            <a:prstGeom prst="ellipse">
              <a:avLst/>
            </a:prstGeom>
            <a:solidFill>
              <a:srgbClr val="FFFFFF"/>
            </a:solidFill>
            <a:ln w="10837">
              <a:solidFill>
                <a:srgbClr val="293D3B"/>
              </a:solidFill>
            </a:ln>
          </p:spPr>
          <p:txBody>
            <a:bodyPr/>
            <a:p/>
          </p:txBody>
        </p:sp>
        <p:sp>
          <p:nvSpPr>
            <p:cNvPr id="205" name="record-code-8">
              <a:extLst>
                <a:ext uri="{FF2B5EF4-FFF2-40B4-BE49-F238E27FC236}">
                  <a16:creationId xmlns:a16="http://schemas.microsoft.com/office/drawing/2014/main" id="{DE578E7C-C87E-4BBE-B1B6-26160E3C4E61}"/>
                </a:ext>
              </a:extLst>
            </p:cNvPr>
            <p:cNvSpPr>
              <a:spLocks/>
            </p:cNvSpPr>
            <p:nvPr/>
          </p:nvSpPr>
          <p:spPr>
            <a:xfrm>
              <a:off x="923925" y="11582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10</a:t>
              </a:r>
            </a:p>
          </p:txBody>
        </p:sp>
        <p:sp>
          <p:nvSpPr>
            <p:cNvPr id="206" name="point-9-1">
              <a:extLst>
                <a:ext uri="{FF2B5EF4-FFF2-40B4-BE49-F238E27FC236}">
                  <a16:creationId xmlns:a16="http://schemas.microsoft.com/office/drawing/2014/main" id="{2CED168E-3043-4E40-B175-AA966D76C9FC}"/>
                </a:ext>
              </a:extLst>
            </p:cNvPr>
            <p:cNvSpPr>
              <a:spLocks/>
            </p:cNvSpPr>
            <p:nvPr/>
          </p:nvSpPr>
          <p:spPr>
            <a:xfrm>
              <a:off x="1964944" y="1202025"/>
              <a:ext cx="40640" cy="40640"/>
            </a:xfrm>
            <a:prstGeom prst="ellipse">
              <a:avLst/>
            </a:prstGeom>
            <a:solidFill>
              <a:srgbClr val="293D3B"/>
            </a:solidFill>
            <a:ln w="0">
              <a:solidFill>
                <a:srgbClr val="293D3B"/>
              </a:solidFill>
            </a:ln>
          </p:spPr>
          <p:txBody>
            <a:bodyPr/>
            <a:p/>
          </p:txBody>
        </p:sp>
        <p:sp>
          <p:nvSpPr>
            <p:cNvPr id="207" name="record-leader-9-1">
              <a:extLst>
                <a:ext uri="{FF2B5EF4-FFF2-40B4-BE49-F238E27FC236}">
                  <a16:creationId xmlns:a16="http://schemas.microsoft.com/office/drawing/2014/main" id="{EAF4D5A2-9ADF-410C-9F88-C6CB755B3FB6}"/>
                </a:ext>
              </a:extLst>
            </p:cNvPr>
            <p:cNvSpPr>
              <a:spLocks/>
            </p:cNvSpPr>
            <p:nvPr/>
          </p:nvSpPr>
          <p:spPr>
            <a:xfrm>
              <a:off x="1985248" y="1038225"/>
              <a:ext cx="62627" cy="184166"/>
            </a:xfrm>
            <a:custGeom>
              <a:avLst/>
              <a:gdLst/>
              <a:ahLst/>
              <a:cxnLst/>
              <a:rect l="0" t="0" r="0" b="0"/>
              <a:pathLst>
                <a:path w="62627" h="184166">
                  <a:moveTo>
                    <a:pt x="0" y="184166"/>
                  </a:moveTo>
                  <a:lnTo>
                    <a:pt x="62627" y="0"/>
                  </a:lnTo>
                </a:path>
              </a:pathLst>
            </a:custGeom>
            <a:noFill/>
            <a:ln w="10478">
              <a:solidFill>
                <a:srgbClr val="879993"/>
              </a:solidFill>
              <a:prstDash val="solid"/>
            </a:ln>
          </p:spPr>
          <p:txBody>
            <a:bodyPr/>
            <a:p/>
          </p:txBody>
        </p:sp>
        <p:sp>
          <p:nvSpPr>
            <p:cNvPr id="208" name="badge-9">
              <a:extLst>
                <a:ext uri="{FF2B5EF4-FFF2-40B4-BE49-F238E27FC236}">
                  <a16:creationId xmlns:a16="http://schemas.microsoft.com/office/drawing/2014/main" id="{0D4C8D8F-DECB-4583-9499-E7D23B711544}"/>
                </a:ext>
              </a:extLst>
            </p:cNvPr>
            <p:cNvSpPr>
              <a:spLocks/>
            </p:cNvSpPr>
            <p:nvPr/>
          </p:nvSpPr>
          <p:spPr>
            <a:xfrm>
              <a:off x="1943100" y="933450"/>
              <a:ext cx="209550" cy="209550"/>
            </a:xfrm>
            <a:prstGeom prst="ellipse">
              <a:avLst/>
            </a:prstGeom>
            <a:solidFill>
              <a:srgbClr val="FFFFFF"/>
            </a:solidFill>
            <a:ln w="10837">
              <a:solidFill>
                <a:srgbClr val="293D3B"/>
              </a:solidFill>
            </a:ln>
          </p:spPr>
          <p:txBody>
            <a:bodyPr/>
            <a:p/>
          </p:txBody>
        </p:sp>
        <p:sp>
          <p:nvSpPr>
            <p:cNvPr id="209" name="record-code-9">
              <a:extLst>
                <a:ext uri="{FF2B5EF4-FFF2-40B4-BE49-F238E27FC236}">
                  <a16:creationId xmlns:a16="http://schemas.microsoft.com/office/drawing/2014/main" id="{F6BF624B-1464-445E-962B-5E538CD33DDF}"/>
                </a:ext>
              </a:extLst>
            </p:cNvPr>
            <p:cNvSpPr>
              <a:spLocks/>
            </p:cNvSpPr>
            <p:nvPr/>
          </p:nvSpPr>
          <p:spPr>
            <a:xfrm>
              <a:off x="1943100" y="9391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11</a:t>
              </a:r>
            </a:p>
          </p:txBody>
        </p:sp>
        <p:sp>
          <p:nvSpPr>
            <p:cNvPr id="210" name="point-10-1">
              <a:extLst>
                <a:ext uri="{FF2B5EF4-FFF2-40B4-BE49-F238E27FC236}">
                  <a16:creationId xmlns:a16="http://schemas.microsoft.com/office/drawing/2014/main" id="{4D75ED4F-288B-4E26-A2C2-98F7AB31F311}"/>
                </a:ext>
              </a:extLst>
            </p:cNvPr>
            <p:cNvSpPr>
              <a:spLocks/>
            </p:cNvSpPr>
            <p:nvPr/>
          </p:nvSpPr>
          <p:spPr>
            <a:xfrm>
              <a:off x="2582898" y="2694456"/>
              <a:ext cx="40640" cy="40640"/>
            </a:xfrm>
            <a:prstGeom prst="ellipse">
              <a:avLst/>
            </a:prstGeom>
            <a:solidFill>
              <a:srgbClr val="293D3B"/>
            </a:solidFill>
            <a:ln w="0">
              <a:solidFill>
                <a:srgbClr val="293D3B"/>
              </a:solidFill>
            </a:ln>
          </p:spPr>
          <p:txBody>
            <a:bodyPr/>
            <a:p/>
          </p:txBody>
        </p:sp>
        <p:sp>
          <p:nvSpPr>
            <p:cNvPr id="211" name="record-leader-10-1">
              <a:extLst>
                <a:ext uri="{FF2B5EF4-FFF2-40B4-BE49-F238E27FC236}">
                  <a16:creationId xmlns:a16="http://schemas.microsoft.com/office/drawing/2014/main" id="{01DC8BE1-D94F-4865-8E43-99485A8AA023}"/>
                </a:ext>
              </a:extLst>
            </p:cNvPr>
            <p:cNvSpPr>
              <a:spLocks/>
            </p:cNvSpPr>
            <p:nvPr/>
          </p:nvSpPr>
          <p:spPr>
            <a:xfrm>
              <a:off x="2603230" y="2714768"/>
              <a:ext cx="339995" cy="209407"/>
            </a:xfrm>
            <a:custGeom>
              <a:avLst/>
              <a:gdLst/>
              <a:ahLst/>
              <a:cxnLst/>
              <a:rect l="0" t="0" r="0" b="0"/>
              <a:pathLst>
                <a:path w="339995" h="209407">
                  <a:moveTo>
                    <a:pt x="0" y="0"/>
                  </a:moveTo>
                  <a:lnTo>
                    <a:pt x="339995" y="209407"/>
                  </a:lnTo>
                </a:path>
              </a:pathLst>
            </a:custGeom>
            <a:noFill/>
            <a:ln w="10478">
              <a:solidFill>
                <a:srgbClr val="879993"/>
              </a:solidFill>
              <a:prstDash val="solid"/>
            </a:ln>
          </p:spPr>
          <p:txBody>
            <a:bodyPr/>
            <a:p/>
          </p:txBody>
        </p:sp>
        <p:sp>
          <p:nvSpPr>
            <p:cNvPr id="212" name="badge-10">
              <a:extLst>
                <a:ext uri="{FF2B5EF4-FFF2-40B4-BE49-F238E27FC236}">
                  <a16:creationId xmlns:a16="http://schemas.microsoft.com/office/drawing/2014/main" id="{B80C3C20-3770-438E-99FE-065EE87C46F6}"/>
                </a:ext>
              </a:extLst>
            </p:cNvPr>
            <p:cNvSpPr>
              <a:spLocks/>
            </p:cNvSpPr>
            <p:nvPr/>
          </p:nvSpPr>
          <p:spPr>
            <a:xfrm>
              <a:off x="2838450" y="2819400"/>
              <a:ext cx="209550" cy="209550"/>
            </a:xfrm>
            <a:prstGeom prst="ellipse">
              <a:avLst/>
            </a:prstGeom>
            <a:solidFill>
              <a:srgbClr val="FFFFFF"/>
            </a:solidFill>
            <a:ln w="10837">
              <a:solidFill>
                <a:srgbClr val="293D3B"/>
              </a:solidFill>
            </a:ln>
          </p:spPr>
          <p:txBody>
            <a:bodyPr/>
            <a:p/>
          </p:txBody>
        </p:sp>
        <p:sp>
          <p:nvSpPr>
            <p:cNvPr id="213" name="record-code-10">
              <a:extLst>
                <a:ext uri="{FF2B5EF4-FFF2-40B4-BE49-F238E27FC236}">
                  <a16:creationId xmlns:a16="http://schemas.microsoft.com/office/drawing/2014/main" id="{25966B25-15DB-4016-9E92-8C03BE577901}"/>
                </a:ext>
              </a:extLst>
            </p:cNvPr>
            <p:cNvSpPr>
              <a:spLocks/>
            </p:cNvSpPr>
            <p:nvPr/>
          </p:nvSpPr>
          <p:spPr>
            <a:xfrm>
              <a:off x="2838450" y="282511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12</a:t>
              </a:r>
            </a:p>
          </p:txBody>
        </p:sp>
        <p:sp>
          <p:nvSpPr>
            <p:cNvPr id="214" name="point-11-1">
              <a:extLst>
                <a:ext uri="{FF2B5EF4-FFF2-40B4-BE49-F238E27FC236}">
                  <a16:creationId xmlns:a16="http://schemas.microsoft.com/office/drawing/2014/main" id="{B1C8EEC1-B2EE-4CB4-B8E5-E1C3A755E5AA}"/>
                </a:ext>
              </a:extLst>
            </p:cNvPr>
            <p:cNvSpPr>
              <a:spLocks/>
            </p:cNvSpPr>
            <p:nvPr/>
          </p:nvSpPr>
          <p:spPr>
            <a:xfrm>
              <a:off x="1190842" y="2714377"/>
              <a:ext cx="40640" cy="40640"/>
            </a:xfrm>
            <a:prstGeom prst="ellipse">
              <a:avLst/>
            </a:prstGeom>
            <a:solidFill>
              <a:srgbClr val="293D3B"/>
            </a:solidFill>
            <a:ln w="0">
              <a:solidFill>
                <a:srgbClr val="293D3B"/>
              </a:solidFill>
            </a:ln>
          </p:spPr>
          <p:txBody>
            <a:bodyPr/>
            <a:p/>
          </p:txBody>
        </p:sp>
        <p:sp>
          <p:nvSpPr>
            <p:cNvPr id="215" name="record-leader-11-1">
              <a:extLst>
                <a:ext uri="{FF2B5EF4-FFF2-40B4-BE49-F238E27FC236}">
                  <a16:creationId xmlns:a16="http://schemas.microsoft.com/office/drawing/2014/main" id="{44B2F8C0-1846-40EB-A6D1-468D774AA064}"/>
                </a:ext>
              </a:extLst>
            </p:cNvPr>
            <p:cNvSpPr>
              <a:spLocks/>
            </p:cNvSpPr>
            <p:nvPr/>
          </p:nvSpPr>
          <p:spPr>
            <a:xfrm>
              <a:off x="695325" y="2734675"/>
              <a:ext cx="515826" cy="122825"/>
            </a:xfrm>
            <a:custGeom>
              <a:avLst/>
              <a:gdLst/>
              <a:ahLst/>
              <a:cxnLst/>
              <a:rect l="0" t="0" r="0" b="0"/>
              <a:pathLst>
                <a:path w="515826" h="122825">
                  <a:moveTo>
                    <a:pt x="515826" y="0"/>
                  </a:moveTo>
                  <a:lnTo>
                    <a:pt x="0" y="122825"/>
                  </a:lnTo>
                </a:path>
              </a:pathLst>
            </a:custGeom>
            <a:noFill/>
            <a:ln w="10478">
              <a:solidFill>
                <a:srgbClr val="879993"/>
              </a:solidFill>
              <a:prstDash val="solid"/>
            </a:ln>
          </p:spPr>
          <p:txBody>
            <a:bodyPr/>
            <a:p/>
          </p:txBody>
        </p:sp>
        <p:sp>
          <p:nvSpPr>
            <p:cNvPr id="216" name="badge-11">
              <a:extLst>
                <a:ext uri="{FF2B5EF4-FFF2-40B4-BE49-F238E27FC236}">
                  <a16:creationId xmlns:a16="http://schemas.microsoft.com/office/drawing/2014/main" id="{91751B39-2AE5-4C79-9928-EB8A2107DE51}"/>
                </a:ext>
              </a:extLst>
            </p:cNvPr>
            <p:cNvSpPr>
              <a:spLocks/>
            </p:cNvSpPr>
            <p:nvPr/>
          </p:nvSpPr>
          <p:spPr>
            <a:xfrm>
              <a:off x="590550" y="2752725"/>
              <a:ext cx="209550" cy="209550"/>
            </a:xfrm>
            <a:prstGeom prst="ellipse">
              <a:avLst/>
            </a:prstGeom>
            <a:solidFill>
              <a:srgbClr val="FFFFFF"/>
            </a:solidFill>
            <a:ln w="10837">
              <a:solidFill>
                <a:srgbClr val="293D3B"/>
              </a:solidFill>
            </a:ln>
          </p:spPr>
          <p:txBody>
            <a:bodyPr/>
            <a:p/>
          </p:txBody>
        </p:sp>
        <p:sp>
          <p:nvSpPr>
            <p:cNvPr id="217" name="record-code-11">
              <a:extLst>
                <a:ext uri="{FF2B5EF4-FFF2-40B4-BE49-F238E27FC236}">
                  <a16:creationId xmlns:a16="http://schemas.microsoft.com/office/drawing/2014/main" id="{AAAB9AB8-C6DF-44AE-A14D-1F658C05DB8D}"/>
                </a:ext>
              </a:extLst>
            </p:cNvPr>
            <p:cNvSpPr>
              <a:spLocks/>
            </p:cNvSpPr>
            <p:nvPr/>
          </p:nvSpPr>
          <p:spPr>
            <a:xfrm>
              <a:off x="590550" y="27584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14</a:t>
              </a:r>
            </a:p>
          </p:txBody>
        </p:sp>
        <p:sp>
          <p:nvSpPr>
            <p:cNvPr id="218" name="point-12a-1">
              <a:extLst>
                <a:ext uri="{FF2B5EF4-FFF2-40B4-BE49-F238E27FC236}">
                  <a16:creationId xmlns:a16="http://schemas.microsoft.com/office/drawing/2014/main" id="{F13D7E05-B82F-4CB6-9F68-BFA58B344EAF}"/>
                </a:ext>
              </a:extLst>
            </p:cNvPr>
            <p:cNvSpPr>
              <a:spLocks/>
            </p:cNvSpPr>
            <p:nvPr/>
          </p:nvSpPr>
          <p:spPr>
            <a:xfrm>
              <a:off x="2576260" y="3374051"/>
              <a:ext cx="40640" cy="40640"/>
            </a:xfrm>
            <a:prstGeom prst="ellipse">
              <a:avLst/>
            </a:prstGeom>
            <a:solidFill>
              <a:srgbClr val="293D3B"/>
            </a:solidFill>
            <a:ln w="0">
              <a:solidFill>
                <a:srgbClr val="293D3B"/>
              </a:solidFill>
            </a:ln>
          </p:spPr>
          <p:txBody>
            <a:bodyPr/>
            <a:p/>
          </p:txBody>
        </p:sp>
        <p:sp>
          <p:nvSpPr>
            <p:cNvPr id="219" name="record-leader-12a-1">
              <a:extLst>
                <a:ext uri="{FF2B5EF4-FFF2-40B4-BE49-F238E27FC236}">
                  <a16:creationId xmlns:a16="http://schemas.microsoft.com/office/drawing/2014/main" id="{47B904A6-376C-4394-A837-31AC9686A771}"/>
                </a:ext>
              </a:extLst>
            </p:cNvPr>
            <p:cNvSpPr>
              <a:spLocks/>
            </p:cNvSpPr>
            <p:nvPr/>
          </p:nvSpPr>
          <p:spPr>
            <a:xfrm>
              <a:off x="2009775" y="3394377"/>
              <a:ext cx="586788" cy="34623"/>
            </a:xfrm>
            <a:custGeom>
              <a:avLst/>
              <a:gdLst/>
              <a:ahLst/>
              <a:cxnLst/>
              <a:rect l="0" t="0" r="0" b="0"/>
              <a:pathLst>
                <a:path w="586788" h="34623">
                  <a:moveTo>
                    <a:pt x="586788" y="0"/>
                  </a:moveTo>
                  <a:lnTo>
                    <a:pt x="0" y="34623"/>
                  </a:lnTo>
                </a:path>
              </a:pathLst>
            </a:custGeom>
            <a:noFill/>
            <a:ln w="10478">
              <a:solidFill>
                <a:srgbClr val="879993"/>
              </a:solidFill>
              <a:prstDash val="solid"/>
            </a:ln>
          </p:spPr>
          <p:txBody>
            <a:bodyPr/>
            <a:p/>
          </p:txBody>
        </p:sp>
        <p:sp>
          <p:nvSpPr>
            <p:cNvPr id="220" name="badge-12a">
              <a:extLst>
                <a:ext uri="{FF2B5EF4-FFF2-40B4-BE49-F238E27FC236}">
                  <a16:creationId xmlns:a16="http://schemas.microsoft.com/office/drawing/2014/main" id="{6F273151-49C7-4288-B417-AF68AE2A038A}"/>
                </a:ext>
              </a:extLst>
            </p:cNvPr>
            <p:cNvSpPr>
              <a:spLocks/>
            </p:cNvSpPr>
            <p:nvPr/>
          </p:nvSpPr>
          <p:spPr>
            <a:xfrm>
              <a:off x="1881188" y="3300413"/>
              <a:ext cx="257175" cy="257175"/>
            </a:xfrm>
            <a:prstGeom prst="ellipse">
              <a:avLst/>
            </a:prstGeom>
            <a:solidFill>
              <a:srgbClr val="FFFFFF"/>
            </a:solidFill>
            <a:ln w="10837">
              <a:solidFill>
                <a:srgbClr val="293D3B"/>
              </a:solidFill>
            </a:ln>
          </p:spPr>
          <p:txBody>
            <a:bodyPr/>
            <a:p/>
          </p:txBody>
        </p:sp>
        <p:sp>
          <p:nvSpPr>
            <p:cNvPr id="221" name="record-code-12a">
              <a:extLst>
                <a:ext uri="{FF2B5EF4-FFF2-40B4-BE49-F238E27FC236}">
                  <a16:creationId xmlns:a16="http://schemas.microsoft.com/office/drawing/2014/main" id="{4F1B4278-0ECE-48FD-935F-0FE917439D3B}"/>
                </a:ext>
              </a:extLst>
            </p:cNvPr>
            <p:cNvSpPr>
              <a:spLocks/>
            </p:cNvSpPr>
            <p:nvPr/>
          </p:nvSpPr>
          <p:spPr>
            <a:xfrm>
              <a:off x="1881188"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15a</a:t>
              </a:r>
            </a:p>
          </p:txBody>
        </p:sp>
        <p:sp>
          <p:nvSpPr>
            <p:cNvPr id="222" name="point-12b-1">
              <a:extLst>
                <a:ext uri="{FF2B5EF4-FFF2-40B4-BE49-F238E27FC236}">
                  <a16:creationId xmlns:a16="http://schemas.microsoft.com/office/drawing/2014/main" id="{0C2F81CE-CAFD-4A5D-A600-F416F70233FB}"/>
                </a:ext>
              </a:extLst>
            </p:cNvPr>
            <p:cNvSpPr>
              <a:spLocks/>
            </p:cNvSpPr>
            <p:nvPr/>
          </p:nvSpPr>
          <p:spPr>
            <a:xfrm>
              <a:off x="2843671" y="3641513"/>
              <a:ext cx="40640" cy="40640"/>
            </a:xfrm>
            <a:prstGeom prst="ellipse">
              <a:avLst/>
            </a:prstGeom>
            <a:solidFill>
              <a:srgbClr val="293D3B"/>
            </a:solidFill>
            <a:ln w="0">
              <a:solidFill>
                <a:srgbClr val="293D3B"/>
              </a:solidFill>
            </a:ln>
          </p:spPr>
          <p:txBody>
            <a:bodyPr/>
            <a:p/>
          </p:txBody>
        </p:sp>
        <p:sp>
          <p:nvSpPr>
            <p:cNvPr id="223" name="record-leader-12b-1">
              <a:extLst>
                <a:ext uri="{FF2B5EF4-FFF2-40B4-BE49-F238E27FC236}">
                  <a16:creationId xmlns:a16="http://schemas.microsoft.com/office/drawing/2014/main" id="{5333A4CE-73B7-4CC3-B331-A5CB7A98A88F}"/>
                </a:ext>
              </a:extLst>
            </p:cNvPr>
            <p:cNvSpPr>
              <a:spLocks/>
            </p:cNvSpPr>
            <p:nvPr/>
          </p:nvSpPr>
          <p:spPr>
            <a:xfrm>
              <a:off x="2864025" y="3661839"/>
              <a:ext cx="717375" cy="367236"/>
            </a:xfrm>
            <a:custGeom>
              <a:avLst/>
              <a:gdLst/>
              <a:ahLst/>
              <a:cxnLst/>
              <a:rect l="0" t="0" r="0" b="0"/>
              <a:pathLst>
                <a:path w="717375" h="367236">
                  <a:moveTo>
                    <a:pt x="0" y="0"/>
                  </a:moveTo>
                  <a:lnTo>
                    <a:pt x="717375" y="367236"/>
                  </a:lnTo>
                </a:path>
              </a:pathLst>
            </a:custGeom>
            <a:noFill/>
            <a:ln w="10478">
              <a:solidFill>
                <a:srgbClr val="879993"/>
              </a:solidFill>
              <a:prstDash val="solid"/>
            </a:ln>
          </p:spPr>
          <p:txBody>
            <a:bodyPr/>
            <a:p/>
          </p:txBody>
        </p:sp>
        <p:sp>
          <p:nvSpPr>
            <p:cNvPr id="224" name="badge-12b">
              <a:extLst>
                <a:ext uri="{FF2B5EF4-FFF2-40B4-BE49-F238E27FC236}">
                  <a16:creationId xmlns:a16="http://schemas.microsoft.com/office/drawing/2014/main" id="{44FAD8AD-F2A4-4791-A9FD-F9D430FC27FD}"/>
                </a:ext>
              </a:extLst>
            </p:cNvPr>
            <p:cNvSpPr>
              <a:spLocks/>
            </p:cNvSpPr>
            <p:nvPr/>
          </p:nvSpPr>
          <p:spPr>
            <a:xfrm>
              <a:off x="3452813" y="3900488"/>
              <a:ext cx="257175" cy="257175"/>
            </a:xfrm>
            <a:prstGeom prst="ellipse">
              <a:avLst/>
            </a:prstGeom>
            <a:solidFill>
              <a:srgbClr val="FFFFFF"/>
            </a:solidFill>
            <a:ln w="10837">
              <a:solidFill>
                <a:srgbClr val="293D3B"/>
              </a:solidFill>
            </a:ln>
          </p:spPr>
          <p:txBody>
            <a:bodyPr/>
            <a:p/>
          </p:txBody>
        </p:sp>
        <p:sp>
          <p:nvSpPr>
            <p:cNvPr id="225" name="record-code-12b">
              <a:extLst>
                <a:ext uri="{FF2B5EF4-FFF2-40B4-BE49-F238E27FC236}">
                  <a16:creationId xmlns:a16="http://schemas.microsoft.com/office/drawing/2014/main" id="{2ECAAEF9-C171-4363-B84A-3650B234C315}"/>
                </a:ext>
              </a:extLst>
            </p:cNvPr>
            <p:cNvSpPr>
              <a:spLocks/>
            </p:cNvSpPr>
            <p:nvPr/>
          </p:nvSpPr>
          <p:spPr>
            <a:xfrm>
              <a:off x="3452813" y="3906203"/>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15b</a:t>
              </a:r>
            </a:p>
          </p:txBody>
        </p:sp>
        <p:sp>
          <p:nvSpPr>
            <p:cNvPr id="226" name="point-13-1">
              <a:extLst>
                <a:ext uri="{FF2B5EF4-FFF2-40B4-BE49-F238E27FC236}">
                  <a16:creationId xmlns:a16="http://schemas.microsoft.com/office/drawing/2014/main" id="{1128F88C-20B1-4B26-A1E4-FF0C92672FC7}"/>
                </a:ext>
              </a:extLst>
            </p:cNvPr>
            <p:cNvSpPr>
              <a:spLocks/>
            </p:cNvSpPr>
            <p:nvPr/>
          </p:nvSpPr>
          <p:spPr>
            <a:xfrm>
              <a:off x="6580790" y="3519049"/>
              <a:ext cx="40640" cy="40640"/>
            </a:xfrm>
            <a:prstGeom prst="ellipse">
              <a:avLst/>
            </a:prstGeom>
            <a:solidFill>
              <a:srgbClr val="293D3B"/>
            </a:solidFill>
            <a:ln w="0">
              <a:solidFill>
                <a:srgbClr val="293D3B"/>
              </a:solidFill>
            </a:ln>
          </p:spPr>
          <p:txBody>
            <a:bodyPr/>
            <a:p/>
          </p:txBody>
        </p:sp>
        <p:sp>
          <p:nvSpPr>
            <p:cNvPr id="227" name="record-leader-13-1">
              <a:extLst>
                <a:ext uri="{FF2B5EF4-FFF2-40B4-BE49-F238E27FC236}">
                  <a16:creationId xmlns:a16="http://schemas.microsoft.com/office/drawing/2014/main" id="{916C468A-D402-424E-9E4A-EC0F652A4B79}"/>
                </a:ext>
              </a:extLst>
            </p:cNvPr>
            <p:cNvSpPr>
              <a:spLocks/>
            </p:cNvSpPr>
            <p:nvPr/>
          </p:nvSpPr>
          <p:spPr>
            <a:xfrm>
              <a:off x="6457950" y="3429000"/>
              <a:ext cx="143208" cy="110347"/>
            </a:xfrm>
            <a:custGeom>
              <a:avLst/>
              <a:gdLst/>
              <a:ahLst/>
              <a:cxnLst/>
              <a:rect l="0" t="0" r="0" b="0"/>
              <a:pathLst>
                <a:path w="143208" h="110347">
                  <a:moveTo>
                    <a:pt x="143208" y="110347"/>
                  </a:moveTo>
                  <a:lnTo>
                    <a:pt x="0" y="0"/>
                  </a:lnTo>
                </a:path>
              </a:pathLst>
            </a:custGeom>
            <a:noFill/>
            <a:ln w="10478">
              <a:solidFill>
                <a:srgbClr val="879993"/>
              </a:solidFill>
              <a:prstDash val="solid"/>
            </a:ln>
          </p:spPr>
          <p:txBody>
            <a:bodyPr/>
            <a:p/>
          </p:txBody>
        </p:sp>
        <p:sp>
          <p:nvSpPr>
            <p:cNvPr id="228" name="badge-13">
              <a:extLst>
                <a:ext uri="{FF2B5EF4-FFF2-40B4-BE49-F238E27FC236}">
                  <a16:creationId xmlns:a16="http://schemas.microsoft.com/office/drawing/2014/main" id="{BFE4BA5F-474C-4409-A385-B6F35EC39100}"/>
                </a:ext>
              </a:extLst>
            </p:cNvPr>
            <p:cNvSpPr>
              <a:spLocks/>
            </p:cNvSpPr>
            <p:nvPr/>
          </p:nvSpPr>
          <p:spPr>
            <a:xfrm>
              <a:off x="6329363" y="3300413"/>
              <a:ext cx="257175" cy="257175"/>
            </a:xfrm>
            <a:prstGeom prst="ellipse">
              <a:avLst/>
            </a:prstGeom>
            <a:solidFill>
              <a:srgbClr val="FFFFFF"/>
            </a:solidFill>
            <a:ln w="10837">
              <a:solidFill>
                <a:srgbClr val="293D3B"/>
              </a:solidFill>
            </a:ln>
          </p:spPr>
          <p:txBody>
            <a:bodyPr/>
            <a:p/>
          </p:txBody>
        </p:sp>
        <p:sp>
          <p:nvSpPr>
            <p:cNvPr id="229" name="record-code-13">
              <a:extLst>
                <a:ext uri="{FF2B5EF4-FFF2-40B4-BE49-F238E27FC236}">
                  <a16:creationId xmlns:a16="http://schemas.microsoft.com/office/drawing/2014/main" id="{E8CBFFE8-2F2F-4041-987E-957B2B5277F4}"/>
                </a:ext>
              </a:extLst>
            </p:cNvPr>
            <p:cNvSpPr>
              <a:spLocks/>
            </p:cNvSpPr>
            <p:nvPr/>
          </p:nvSpPr>
          <p:spPr>
            <a:xfrm>
              <a:off x="6329363"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16a</a:t>
              </a:r>
            </a:p>
          </p:txBody>
        </p:sp>
        <p:sp>
          <p:nvSpPr>
            <p:cNvPr id="230" name="point-13-1">
              <a:extLst>
                <a:ext uri="{FF2B5EF4-FFF2-40B4-BE49-F238E27FC236}">
                  <a16:creationId xmlns:a16="http://schemas.microsoft.com/office/drawing/2014/main" id="{8655E526-DF7A-41B0-818A-C917E22297C2}"/>
                </a:ext>
              </a:extLst>
            </p:cNvPr>
            <p:cNvSpPr>
              <a:spLocks/>
            </p:cNvSpPr>
            <p:nvPr/>
          </p:nvSpPr>
          <p:spPr>
            <a:xfrm>
              <a:off x="7193054" y="3814596"/>
              <a:ext cx="40640" cy="40640"/>
            </a:xfrm>
            <a:prstGeom prst="ellipse">
              <a:avLst/>
            </a:prstGeom>
            <a:solidFill>
              <a:srgbClr val="293D3B"/>
            </a:solidFill>
            <a:ln w="0">
              <a:solidFill>
                <a:srgbClr val="293D3B"/>
              </a:solidFill>
            </a:ln>
          </p:spPr>
          <p:txBody>
            <a:bodyPr/>
            <a:p/>
          </p:txBody>
        </p:sp>
        <p:sp>
          <p:nvSpPr>
            <p:cNvPr id="231" name="record-leader-13-1">
              <a:extLst>
                <a:ext uri="{FF2B5EF4-FFF2-40B4-BE49-F238E27FC236}">
                  <a16:creationId xmlns:a16="http://schemas.microsoft.com/office/drawing/2014/main" id="{4365A749-CAF5-4D05-A342-B7A03E6DAAE5}"/>
                </a:ext>
              </a:extLst>
            </p:cNvPr>
            <p:cNvSpPr>
              <a:spLocks/>
            </p:cNvSpPr>
            <p:nvPr/>
          </p:nvSpPr>
          <p:spPr>
            <a:xfrm>
              <a:off x="7213425" y="3834908"/>
              <a:ext cx="235125" cy="451342"/>
            </a:xfrm>
            <a:custGeom>
              <a:avLst/>
              <a:gdLst/>
              <a:ahLst/>
              <a:cxnLst/>
              <a:rect l="0" t="0" r="0" b="0"/>
              <a:pathLst>
                <a:path w="235125" h="451342">
                  <a:moveTo>
                    <a:pt x="0" y="0"/>
                  </a:moveTo>
                  <a:lnTo>
                    <a:pt x="235125" y="451342"/>
                  </a:lnTo>
                </a:path>
              </a:pathLst>
            </a:custGeom>
            <a:noFill/>
            <a:ln w="10478">
              <a:solidFill>
                <a:srgbClr val="879993"/>
              </a:solidFill>
              <a:prstDash val="solid"/>
            </a:ln>
          </p:spPr>
          <p:txBody>
            <a:bodyPr/>
            <a:p/>
          </p:txBody>
        </p:sp>
        <p:sp>
          <p:nvSpPr>
            <p:cNvPr id="232" name="badge-13">
              <a:extLst>
                <a:ext uri="{FF2B5EF4-FFF2-40B4-BE49-F238E27FC236}">
                  <a16:creationId xmlns:a16="http://schemas.microsoft.com/office/drawing/2014/main" id="{59146537-920E-4DED-83AD-6EF33CCFF095}"/>
                </a:ext>
              </a:extLst>
            </p:cNvPr>
            <p:cNvSpPr>
              <a:spLocks/>
            </p:cNvSpPr>
            <p:nvPr/>
          </p:nvSpPr>
          <p:spPr>
            <a:xfrm>
              <a:off x="7319963" y="4157663"/>
              <a:ext cx="257175" cy="257175"/>
            </a:xfrm>
            <a:prstGeom prst="ellipse">
              <a:avLst/>
            </a:prstGeom>
            <a:solidFill>
              <a:srgbClr val="FFFFFF"/>
            </a:solidFill>
            <a:ln w="10837">
              <a:solidFill>
                <a:srgbClr val="293D3B"/>
              </a:solidFill>
            </a:ln>
          </p:spPr>
          <p:txBody>
            <a:bodyPr/>
            <a:p/>
          </p:txBody>
        </p:sp>
        <p:sp>
          <p:nvSpPr>
            <p:cNvPr id="233" name="record-code-13">
              <a:extLst>
                <a:ext uri="{FF2B5EF4-FFF2-40B4-BE49-F238E27FC236}">
                  <a16:creationId xmlns:a16="http://schemas.microsoft.com/office/drawing/2014/main" id="{3EFFA0EF-7E25-46C9-9E54-A8DF41CE96DB}"/>
                </a:ext>
              </a:extLst>
            </p:cNvPr>
            <p:cNvSpPr>
              <a:spLocks/>
            </p:cNvSpPr>
            <p:nvPr/>
          </p:nvSpPr>
          <p:spPr>
            <a:xfrm>
              <a:off x="7319963" y="4163378"/>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16b</a:t>
              </a:r>
            </a:p>
          </p:txBody>
        </p:sp>
        <p:sp>
          <p:nvSpPr>
            <p:cNvPr id="234" name="point-14-1">
              <a:extLst>
                <a:ext uri="{FF2B5EF4-FFF2-40B4-BE49-F238E27FC236}">
                  <a16:creationId xmlns:a16="http://schemas.microsoft.com/office/drawing/2014/main" id="{670D159D-15E1-41B6-80AA-60BF49DE04BD}"/>
                </a:ext>
              </a:extLst>
            </p:cNvPr>
            <p:cNvSpPr>
              <a:spLocks/>
            </p:cNvSpPr>
            <p:nvPr/>
          </p:nvSpPr>
          <p:spPr>
            <a:xfrm>
              <a:off x="10395035" y="4376299"/>
              <a:ext cx="40640" cy="40640"/>
            </a:xfrm>
            <a:prstGeom prst="ellipse">
              <a:avLst/>
            </a:prstGeom>
            <a:solidFill>
              <a:srgbClr val="687573"/>
            </a:solidFill>
            <a:ln w="0">
              <a:solidFill>
                <a:srgbClr val="687573"/>
              </a:solidFill>
            </a:ln>
          </p:spPr>
          <p:txBody>
            <a:bodyPr/>
            <a:p/>
          </p:txBody>
        </p:sp>
        <p:sp>
          <p:nvSpPr>
            <p:cNvPr id="235" name="record-leader-14-1">
              <a:extLst>
                <a:ext uri="{FF2B5EF4-FFF2-40B4-BE49-F238E27FC236}">
                  <a16:creationId xmlns:a16="http://schemas.microsoft.com/office/drawing/2014/main" id="{F2300199-C272-403F-A083-C3AFF972BBBC}"/>
                </a:ext>
              </a:extLst>
            </p:cNvPr>
            <p:cNvSpPr>
              <a:spLocks/>
            </p:cNvSpPr>
            <p:nvPr/>
          </p:nvSpPr>
          <p:spPr>
            <a:xfrm>
              <a:off x="10415349" y="4396597"/>
              <a:ext cx="424101" cy="404003"/>
            </a:xfrm>
            <a:custGeom>
              <a:avLst/>
              <a:gdLst/>
              <a:ahLst/>
              <a:cxnLst/>
              <a:rect l="0" t="0" r="0" b="0"/>
              <a:pathLst>
                <a:path w="424101" h="404003">
                  <a:moveTo>
                    <a:pt x="0" y="0"/>
                  </a:moveTo>
                  <a:lnTo>
                    <a:pt x="424101" y="404003"/>
                  </a:lnTo>
                </a:path>
              </a:pathLst>
            </a:custGeom>
            <a:noFill/>
            <a:ln w="10478">
              <a:solidFill>
                <a:srgbClr val="879993"/>
              </a:solidFill>
              <a:prstDash val="solid"/>
            </a:ln>
          </p:spPr>
          <p:txBody>
            <a:bodyPr/>
            <a:p/>
          </p:txBody>
        </p:sp>
        <p:sp>
          <p:nvSpPr>
            <p:cNvPr id="236" name="badge-14">
              <a:extLst>
                <a:ext uri="{FF2B5EF4-FFF2-40B4-BE49-F238E27FC236}">
                  <a16:creationId xmlns:a16="http://schemas.microsoft.com/office/drawing/2014/main" id="{49C7C6ED-7CD3-4AC9-9E3C-31C44A5FB9CD}"/>
                </a:ext>
              </a:extLst>
            </p:cNvPr>
            <p:cNvSpPr>
              <a:spLocks/>
            </p:cNvSpPr>
            <p:nvPr/>
          </p:nvSpPr>
          <p:spPr>
            <a:xfrm>
              <a:off x="10734675" y="4695825"/>
              <a:ext cx="209550" cy="209550"/>
            </a:xfrm>
            <a:prstGeom prst="ellipse">
              <a:avLst/>
            </a:prstGeom>
            <a:solidFill>
              <a:srgbClr val="FFFFFF"/>
            </a:solidFill>
            <a:ln w="10837">
              <a:solidFill>
                <a:srgbClr val="687573"/>
              </a:solidFill>
            </a:ln>
          </p:spPr>
          <p:txBody>
            <a:bodyPr/>
            <a:p/>
          </p:txBody>
        </p:sp>
        <p:sp>
          <p:nvSpPr>
            <p:cNvPr id="237" name="record-code-14">
              <a:extLst>
                <a:ext uri="{FF2B5EF4-FFF2-40B4-BE49-F238E27FC236}">
                  <a16:creationId xmlns:a16="http://schemas.microsoft.com/office/drawing/2014/main" id="{EA18E313-49BF-458B-BF86-E70CE5A2EDF3}"/>
                </a:ext>
              </a:extLst>
            </p:cNvPr>
            <p:cNvSpPr>
              <a:spLocks/>
            </p:cNvSpPr>
            <p:nvPr/>
          </p:nvSpPr>
          <p:spPr>
            <a:xfrm>
              <a:off x="10734675" y="47015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20</a:t>
              </a:r>
            </a:p>
          </p:txBody>
        </p:sp>
        <p:sp>
          <p:nvSpPr>
            <p:cNvPr id="238" name="point-15-1">
              <a:extLst>
                <a:ext uri="{FF2B5EF4-FFF2-40B4-BE49-F238E27FC236}">
                  <a16:creationId xmlns:a16="http://schemas.microsoft.com/office/drawing/2014/main" id="{1C66289D-3B37-4C57-8122-AB32D80EC434}"/>
                </a:ext>
              </a:extLst>
            </p:cNvPr>
            <p:cNvSpPr>
              <a:spLocks/>
            </p:cNvSpPr>
            <p:nvPr/>
          </p:nvSpPr>
          <p:spPr>
            <a:xfrm>
              <a:off x="10428224" y="2547499"/>
              <a:ext cx="40640" cy="40640"/>
            </a:xfrm>
            <a:prstGeom prst="ellipse">
              <a:avLst/>
            </a:prstGeom>
            <a:solidFill>
              <a:srgbClr val="293D3B"/>
            </a:solidFill>
            <a:ln w="0">
              <a:solidFill>
                <a:srgbClr val="293D3B"/>
              </a:solidFill>
            </a:ln>
          </p:spPr>
          <p:txBody>
            <a:bodyPr/>
            <a:p/>
          </p:txBody>
        </p:sp>
        <p:sp>
          <p:nvSpPr>
            <p:cNvPr id="239" name="record-leader-15-1">
              <a:extLst>
                <a:ext uri="{FF2B5EF4-FFF2-40B4-BE49-F238E27FC236}">
                  <a16:creationId xmlns:a16="http://schemas.microsoft.com/office/drawing/2014/main" id="{E7BF12BA-E74B-4547-BC99-3E1C281D17AE}"/>
                </a:ext>
              </a:extLst>
            </p:cNvPr>
            <p:cNvSpPr>
              <a:spLocks/>
            </p:cNvSpPr>
            <p:nvPr/>
          </p:nvSpPr>
          <p:spPr>
            <a:xfrm>
              <a:off x="10448592" y="1828800"/>
              <a:ext cx="314658" cy="738997"/>
            </a:xfrm>
            <a:custGeom>
              <a:avLst/>
              <a:gdLst/>
              <a:ahLst/>
              <a:cxnLst/>
              <a:rect l="0" t="0" r="0" b="0"/>
              <a:pathLst>
                <a:path w="314658" h="738997">
                  <a:moveTo>
                    <a:pt x="0" y="738997"/>
                  </a:moveTo>
                  <a:lnTo>
                    <a:pt x="314658" y="0"/>
                  </a:lnTo>
                </a:path>
              </a:pathLst>
            </a:custGeom>
            <a:noFill/>
            <a:ln w="10478">
              <a:solidFill>
                <a:srgbClr val="879993"/>
              </a:solidFill>
              <a:prstDash val="solid"/>
            </a:ln>
          </p:spPr>
          <p:txBody>
            <a:bodyPr/>
            <a:p/>
          </p:txBody>
        </p:sp>
        <p:sp>
          <p:nvSpPr>
            <p:cNvPr id="240" name="point-15-2">
              <a:extLst>
                <a:ext uri="{FF2B5EF4-FFF2-40B4-BE49-F238E27FC236}">
                  <a16:creationId xmlns:a16="http://schemas.microsoft.com/office/drawing/2014/main" id="{63C8A345-5B54-4B76-81F7-DD9E9EBEEF19}"/>
                </a:ext>
              </a:extLst>
            </p:cNvPr>
            <p:cNvSpPr>
              <a:spLocks/>
            </p:cNvSpPr>
            <p:nvPr/>
          </p:nvSpPr>
          <p:spPr>
            <a:xfrm>
              <a:off x="10165870" y="2327063"/>
              <a:ext cx="40640" cy="40640"/>
            </a:xfrm>
            <a:prstGeom prst="ellipse">
              <a:avLst/>
            </a:prstGeom>
            <a:solidFill>
              <a:srgbClr val="293D3B"/>
            </a:solidFill>
            <a:ln w="0">
              <a:solidFill>
                <a:srgbClr val="293D3B"/>
              </a:solidFill>
            </a:ln>
          </p:spPr>
          <p:txBody>
            <a:bodyPr/>
            <a:p/>
          </p:txBody>
        </p:sp>
        <p:sp>
          <p:nvSpPr>
            <p:cNvPr id="241" name="record-leader-15-2">
              <a:extLst>
                <a:ext uri="{FF2B5EF4-FFF2-40B4-BE49-F238E27FC236}">
                  <a16:creationId xmlns:a16="http://schemas.microsoft.com/office/drawing/2014/main" id="{EF3D7197-7FD5-41A1-A0F0-B1BDF281455D}"/>
                </a:ext>
              </a:extLst>
            </p:cNvPr>
            <p:cNvSpPr>
              <a:spLocks/>
            </p:cNvSpPr>
            <p:nvPr/>
          </p:nvSpPr>
          <p:spPr>
            <a:xfrm>
              <a:off x="10186178" y="1828800"/>
              <a:ext cx="577072" cy="518589"/>
            </a:xfrm>
            <a:custGeom>
              <a:avLst/>
              <a:gdLst/>
              <a:ahLst/>
              <a:cxnLst/>
              <a:rect l="0" t="0" r="0" b="0"/>
              <a:pathLst>
                <a:path w="577072" h="518589">
                  <a:moveTo>
                    <a:pt x="0" y="518589"/>
                  </a:moveTo>
                  <a:lnTo>
                    <a:pt x="577072" y="0"/>
                  </a:lnTo>
                </a:path>
              </a:pathLst>
            </a:custGeom>
            <a:noFill/>
            <a:ln w="10478">
              <a:solidFill>
                <a:srgbClr val="879993"/>
              </a:solidFill>
              <a:prstDash val="solid"/>
            </a:ln>
          </p:spPr>
          <p:txBody>
            <a:bodyPr/>
            <a:p/>
          </p:txBody>
        </p:sp>
        <p:sp>
          <p:nvSpPr>
            <p:cNvPr id="242" name="badge-15">
              <a:extLst>
                <a:ext uri="{FF2B5EF4-FFF2-40B4-BE49-F238E27FC236}">
                  <a16:creationId xmlns:a16="http://schemas.microsoft.com/office/drawing/2014/main" id="{EC7276BD-7E8B-437B-94E1-A5E9787A16BF}"/>
                </a:ext>
              </a:extLst>
            </p:cNvPr>
            <p:cNvSpPr>
              <a:spLocks/>
            </p:cNvSpPr>
            <p:nvPr/>
          </p:nvSpPr>
          <p:spPr>
            <a:xfrm>
              <a:off x="10658475" y="1724025"/>
              <a:ext cx="209550" cy="209550"/>
            </a:xfrm>
            <a:prstGeom prst="ellipse">
              <a:avLst/>
            </a:prstGeom>
            <a:solidFill>
              <a:srgbClr val="FFFFFF"/>
            </a:solidFill>
            <a:ln w="10837">
              <a:solidFill>
                <a:srgbClr val="293D3B"/>
              </a:solidFill>
            </a:ln>
          </p:spPr>
          <p:txBody>
            <a:bodyPr/>
            <a:p/>
          </p:txBody>
        </p:sp>
        <p:sp>
          <p:nvSpPr>
            <p:cNvPr id="243" name="record-code-15">
              <a:extLst>
                <a:ext uri="{FF2B5EF4-FFF2-40B4-BE49-F238E27FC236}">
                  <a16:creationId xmlns:a16="http://schemas.microsoft.com/office/drawing/2014/main" id="{C82E855E-4AD3-4DB7-AD03-9239C331FE54}"/>
                </a:ext>
              </a:extLst>
            </p:cNvPr>
            <p:cNvSpPr>
              <a:spLocks/>
            </p:cNvSpPr>
            <p:nvPr/>
          </p:nvSpPr>
          <p:spPr>
            <a:xfrm>
              <a:off x="10658475" y="17297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21</a:t>
              </a:r>
            </a:p>
          </p:txBody>
        </p:sp>
        <p:sp>
          <p:nvSpPr>
            <p:cNvPr id="244" name="point-16-1">
              <a:extLst>
                <a:ext uri="{FF2B5EF4-FFF2-40B4-BE49-F238E27FC236}">
                  <a16:creationId xmlns:a16="http://schemas.microsoft.com/office/drawing/2014/main" id="{44AEBDAF-1CD4-4833-B0D8-4CEACDC69A76}"/>
                </a:ext>
              </a:extLst>
            </p:cNvPr>
            <p:cNvSpPr>
              <a:spLocks/>
            </p:cNvSpPr>
            <p:nvPr/>
          </p:nvSpPr>
          <p:spPr>
            <a:xfrm>
              <a:off x="4579631" y="2669310"/>
              <a:ext cx="40640" cy="40640"/>
            </a:xfrm>
            <a:prstGeom prst="ellipse">
              <a:avLst/>
            </a:prstGeom>
            <a:solidFill>
              <a:srgbClr val="293D3B"/>
            </a:solidFill>
            <a:ln w="0">
              <a:solidFill>
                <a:srgbClr val="293D3B"/>
              </a:solidFill>
            </a:ln>
          </p:spPr>
          <p:txBody>
            <a:bodyPr/>
            <a:p/>
          </p:txBody>
        </p:sp>
        <p:sp>
          <p:nvSpPr>
            <p:cNvPr id="245" name="record-leader-16-1">
              <a:extLst>
                <a:ext uri="{FF2B5EF4-FFF2-40B4-BE49-F238E27FC236}">
                  <a16:creationId xmlns:a16="http://schemas.microsoft.com/office/drawing/2014/main" id="{F80A050D-77D6-48B7-B23C-3A02179287B2}"/>
                </a:ext>
              </a:extLst>
            </p:cNvPr>
            <p:cNvSpPr>
              <a:spLocks/>
            </p:cNvSpPr>
            <p:nvPr/>
          </p:nvSpPr>
          <p:spPr>
            <a:xfrm>
              <a:off x="4543425" y="2689622"/>
              <a:ext cx="56531" cy="406003"/>
            </a:xfrm>
            <a:custGeom>
              <a:avLst/>
              <a:gdLst/>
              <a:ahLst/>
              <a:cxnLst/>
              <a:rect l="0" t="0" r="0" b="0"/>
              <a:pathLst>
                <a:path w="56531" h="406003">
                  <a:moveTo>
                    <a:pt x="56531" y="0"/>
                  </a:moveTo>
                  <a:lnTo>
                    <a:pt x="0" y="406003"/>
                  </a:lnTo>
                </a:path>
              </a:pathLst>
            </a:custGeom>
            <a:noFill/>
            <a:ln w="10478">
              <a:solidFill>
                <a:srgbClr val="879993"/>
              </a:solidFill>
              <a:prstDash val="solid"/>
            </a:ln>
          </p:spPr>
          <p:txBody>
            <a:bodyPr/>
            <a:p/>
          </p:txBody>
        </p:sp>
        <p:sp>
          <p:nvSpPr>
            <p:cNvPr id="246" name="badge-16">
              <a:extLst>
                <a:ext uri="{FF2B5EF4-FFF2-40B4-BE49-F238E27FC236}">
                  <a16:creationId xmlns:a16="http://schemas.microsoft.com/office/drawing/2014/main" id="{99D042CE-6B86-42D2-89C2-D9DA39BECA27}"/>
                </a:ext>
              </a:extLst>
            </p:cNvPr>
            <p:cNvSpPr>
              <a:spLocks/>
            </p:cNvSpPr>
            <p:nvPr/>
          </p:nvSpPr>
          <p:spPr>
            <a:xfrm>
              <a:off x="4438650" y="2990850"/>
              <a:ext cx="209550" cy="209550"/>
            </a:xfrm>
            <a:prstGeom prst="ellipse">
              <a:avLst/>
            </a:prstGeom>
            <a:solidFill>
              <a:srgbClr val="FFFFFF"/>
            </a:solidFill>
            <a:ln w="10837">
              <a:solidFill>
                <a:srgbClr val="293D3B"/>
              </a:solidFill>
            </a:ln>
          </p:spPr>
          <p:txBody>
            <a:bodyPr/>
            <a:p/>
          </p:txBody>
        </p:sp>
        <p:sp>
          <p:nvSpPr>
            <p:cNvPr id="247" name="record-code-16">
              <a:extLst>
                <a:ext uri="{FF2B5EF4-FFF2-40B4-BE49-F238E27FC236}">
                  <a16:creationId xmlns:a16="http://schemas.microsoft.com/office/drawing/2014/main" id="{AB38F288-7BD2-4D55-AC13-5F604F383D2B}"/>
                </a:ext>
              </a:extLst>
            </p:cNvPr>
            <p:cNvSpPr>
              <a:spLocks/>
            </p:cNvSpPr>
            <p:nvPr/>
          </p:nvSpPr>
          <p:spPr>
            <a:xfrm>
              <a:off x="4438650" y="2996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a:t>
              </a:r>
            </a:p>
          </p:txBody>
        </p:sp>
        <p:sp>
          <p:nvSpPr>
            <p:cNvPr id="248" name="point-17-1">
              <a:extLst>
                <a:ext uri="{FF2B5EF4-FFF2-40B4-BE49-F238E27FC236}">
                  <a16:creationId xmlns:a16="http://schemas.microsoft.com/office/drawing/2014/main" id="{A77E768D-89E7-4730-922F-EDE6CD1684DA}"/>
                </a:ext>
              </a:extLst>
            </p:cNvPr>
            <p:cNvSpPr>
              <a:spLocks/>
            </p:cNvSpPr>
            <p:nvPr/>
          </p:nvSpPr>
          <p:spPr>
            <a:xfrm>
              <a:off x="2546548" y="1914604"/>
              <a:ext cx="40640" cy="40640"/>
            </a:xfrm>
            <a:prstGeom prst="ellipse">
              <a:avLst/>
            </a:prstGeom>
            <a:solidFill>
              <a:srgbClr val="293D3B"/>
            </a:solidFill>
            <a:ln w="0">
              <a:solidFill>
                <a:srgbClr val="293D3B"/>
              </a:solidFill>
            </a:ln>
          </p:spPr>
          <p:txBody>
            <a:bodyPr/>
            <a:p/>
          </p:txBody>
        </p:sp>
        <p:sp>
          <p:nvSpPr>
            <p:cNvPr id="249" name="record-leader-17-1">
              <a:extLst>
                <a:ext uri="{FF2B5EF4-FFF2-40B4-BE49-F238E27FC236}">
                  <a16:creationId xmlns:a16="http://schemas.microsoft.com/office/drawing/2014/main" id="{DA6D839A-3FEB-430D-838E-7BE9F6973BF2}"/>
                </a:ext>
              </a:extLst>
            </p:cNvPr>
            <p:cNvSpPr>
              <a:spLocks/>
            </p:cNvSpPr>
            <p:nvPr/>
          </p:nvSpPr>
          <p:spPr>
            <a:xfrm>
              <a:off x="2566845" y="1685925"/>
              <a:ext cx="33480" cy="249031"/>
            </a:xfrm>
            <a:custGeom>
              <a:avLst/>
              <a:gdLst/>
              <a:ahLst/>
              <a:cxnLst/>
              <a:rect l="0" t="0" r="0" b="0"/>
              <a:pathLst>
                <a:path w="33480" h="249031">
                  <a:moveTo>
                    <a:pt x="0" y="249031"/>
                  </a:moveTo>
                  <a:lnTo>
                    <a:pt x="33480" y="0"/>
                  </a:lnTo>
                </a:path>
              </a:pathLst>
            </a:custGeom>
            <a:noFill/>
            <a:ln w="10478">
              <a:solidFill>
                <a:srgbClr val="879993"/>
              </a:solidFill>
              <a:prstDash val="solid"/>
            </a:ln>
          </p:spPr>
          <p:txBody>
            <a:bodyPr/>
            <a:p/>
          </p:txBody>
        </p:sp>
        <p:sp>
          <p:nvSpPr>
            <p:cNvPr id="250" name="badge-17">
              <a:extLst>
                <a:ext uri="{FF2B5EF4-FFF2-40B4-BE49-F238E27FC236}">
                  <a16:creationId xmlns:a16="http://schemas.microsoft.com/office/drawing/2014/main" id="{5010B29E-DFA6-4CFD-AB04-FEC30EE66ECF}"/>
                </a:ext>
              </a:extLst>
            </p:cNvPr>
            <p:cNvSpPr>
              <a:spLocks/>
            </p:cNvSpPr>
            <p:nvPr/>
          </p:nvSpPr>
          <p:spPr>
            <a:xfrm>
              <a:off x="2495550" y="1581150"/>
              <a:ext cx="209550" cy="209550"/>
            </a:xfrm>
            <a:prstGeom prst="ellipse">
              <a:avLst/>
            </a:prstGeom>
            <a:solidFill>
              <a:srgbClr val="FFFFFF"/>
            </a:solidFill>
            <a:ln w="10837">
              <a:solidFill>
                <a:srgbClr val="293D3B"/>
              </a:solidFill>
            </a:ln>
          </p:spPr>
          <p:txBody>
            <a:bodyPr/>
            <a:p/>
          </p:txBody>
        </p:sp>
        <p:sp>
          <p:nvSpPr>
            <p:cNvPr id="251" name="record-code-17">
              <a:extLst>
                <a:ext uri="{FF2B5EF4-FFF2-40B4-BE49-F238E27FC236}">
                  <a16:creationId xmlns:a16="http://schemas.microsoft.com/office/drawing/2014/main" id="{57ADDB07-7445-479D-8D85-12BD859584C9}"/>
                </a:ext>
              </a:extLst>
            </p:cNvPr>
            <p:cNvSpPr>
              <a:spLocks/>
            </p:cNvSpPr>
            <p:nvPr/>
          </p:nvSpPr>
          <p:spPr>
            <a:xfrm>
              <a:off x="2495550" y="15868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7</a:t>
              </a:r>
            </a:p>
          </p:txBody>
        </p:sp>
        <p:sp>
          <p:nvSpPr>
            <p:cNvPr id="252" name="point-18-1">
              <a:extLst>
                <a:ext uri="{FF2B5EF4-FFF2-40B4-BE49-F238E27FC236}">
                  <a16:creationId xmlns:a16="http://schemas.microsoft.com/office/drawing/2014/main" id="{0DD58F55-E7D2-469E-899B-E24FE5F2656A}"/>
                </a:ext>
              </a:extLst>
            </p:cNvPr>
            <p:cNvSpPr>
              <a:spLocks/>
            </p:cNvSpPr>
            <p:nvPr/>
          </p:nvSpPr>
          <p:spPr>
            <a:xfrm>
              <a:off x="2304740" y="2145816"/>
              <a:ext cx="40640" cy="40640"/>
            </a:xfrm>
            <a:prstGeom prst="ellipse">
              <a:avLst/>
            </a:prstGeom>
            <a:solidFill>
              <a:srgbClr val="293D3B"/>
            </a:solidFill>
            <a:ln w="0">
              <a:solidFill>
                <a:srgbClr val="293D3B"/>
              </a:solidFill>
            </a:ln>
          </p:spPr>
          <p:txBody>
            <a:bodyPr/>
            <a:p/>
          </p:txBody>
        </p:sp>
        <p:sp>
          <p:nvSpPr>
            <p:cNvPr id="253" name="record-leader-18-1">
              <a:extLst>
                <a:ext uri="{FF2B5EF4-FFF2-40B4-BE49-F238E27FC236}">
                  <a16:creationId xmlns:a16="http://schemas.microsoft.com/office/drawing/2014/main" id="{301FBF38-30F0-4D94-8C0A-A8B5D49A1975}"/>
                </a:ext>
              </a:extLst>
            </p:cNvPr>
            <p:cNvSpPr>
              <a:spLocks/>
            </p:cNvSpPr>
            <p:nvPr/>
          </p:nvSpPr>
          <p:spPr>
            <a:xfrm>
              <a:off x="1657350" y="2166128"/>
              <a:ext cx="667750" cy="291322"/>
            </a:xfrm>
            <a:custGeom>
              <a:avLst/>
              <a:gdLst/>
              <a:ahLst/>
              <a:cxnLst/>
              <a:rect l="0" t="0" r="0" b="0"/>
              <a:pathLst>
                <a:path w="667750" h="291322">
                  <a:moveTo>
                    <a:pt x="667750" y="0"/>
                  </a:moveTo>
                  <a:lnTo>
                    <a:pt x="0" y="291322"/>
                  </a:lnTo>
                </a:path>
              </a:pathLst>
            </a:custGeom>
            <a:noFill/>
            <a:ln w="10478">
              <a:solidFill>
                <a:srgbClr val="879993"/>
              </a:solidFill>
              <a:prstDash val="solid"/>
            </a:ln>
          </p:spPr>
          <p:txBody>
            <a:bodyPr/>
            <a:p/>
          </p:txBody>
        </p:sp>
        <p:sp>
          <p:nvSpPr>
            <p:cNvPr id="254" name="badge-18">
              <a:extLst>
                <a:ext uri="{FF2B5EF4-FFF2-40B4-BE49-F238E27FC236}">
                  <a16:creationId xmlns:a16="http://schemas.microsoft.com/office/drawing/2014/main" id="{05F41C36-38FA-4767-BEDE-698705245958}"/>
                </a:ext>
              </a:extLst>
            </p:cNvPr>
            <p:cNvSpPr>
              <a:spLocks/>
            </p:cNvSpPr>
            <p:nvPr/>
          </p:nvSpPr>
          <p:spPr>
            <a:xfrm>
              <a:off x="1552575" y="2352675"/>
              <a:ext cx="209550" cy="209550"/>
            </a:xfrm>
            <a:prstGeom prst="ellipse">
              <a:avLst/>
            </a:prstGeom>
            <a:solidFill>
              <a:srgbClr val="FFFFFF"/>
            </a:solidFill>
            <a:ln w="10837">
              <a:solidFill>
                <a:srgbClr val="293D3B"/>
              </a:solidFill>
            </a:ln>
          </p:spPr>
          <p:txBody>
            <a:bodyPr/>
            <a:p/>
          </p:txBody>
        </p:sp>
        <p:sp>
          <p:nvSpPr>
            <p:cNvPr id="255" name="record-code-18">
              <a:extLst>
                <a:ext uri="{FF2B5EF4-FFF2-40B4-BE49-F238E27FC236}">
                  <a16:creationId xmlns:a16="http://schemas.microsoft.com/office/drawing/2014/main" id="{3676C6B7-ABBC-4AC6-B8FC-63B38D41AE9C}"/>
                </a:ext>
              </a:extLst>
            </p:cNvPr>
            <p:cNvSpPr>
              <a:spLocks/>
            </p:cNvSpPr>
            <p:nvPr/>
          </p:nvSpPr>
          <p:spPr>
            <a:xfrm>
              <a:off x="1552575" y="23583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13</a:t>
              </a:r>
            </a:p>
          </p:txBody>
        </p:sp>
        <p:sp>
          <p:nvSpPr>
            <p:cNvPr id="256" name="point-19-1">
              <a:extLst>
                <a:ext uri="{FF2B5EF4-FFF2-40B4-BE49-F238E27FC236}">
                  <a16:creationId xmlns:a16="http://schemas.microsoft.com/office/drawing/2014/main" id="{93893917-8D9C-4BAA-B007-11F47985AEC4}"/>
                </a:ext>
              </a:extLst>
            </p:cNvPr>
            <p:cNvSpPr>
              <a:spLocks/>
            </p:cNvSpPr>
            <p:nvPr/>
          </p:nvSpPr>
          <p:spPr>
            <a:xfrm>
              <a:off x="6656335" y="3747322"/>
              <a:ext cx="40640" cy="40640"/>
            </a:xfrm>
            <a:prstGeom prst="ellipse">
              <a:avLst/>
            </a:prstGeom>
            <a:solidFill>
              <a:srgbClr val="293D3B"/>
            </a:solidFill>
            <a:ln w="0">
              <a:solidFill>
                <a:srgbClr val="293D3B"/>
              </a:solidFill>
            </a:ln>
          </p:spPr>
          <p:txBody>
            <a:bodyPr/>
            <a:p/>
          </p:txBody>
        </p:sp>
        <p:sp>
          <p:nvSpPr>
            <p:cNvPr id="257" name="record-leader-19-1">
              <a:extLst>
                <a:ext uri="{FF2B5EF4-FFF2-40B4-BE49-F238E27FC236}">
                  <a16:creationId xmlns:a16="http://schemas.microsoft.com/office/drawing/2014/main" id="{D8C493E7-8E74-45AD-8C53-9BA240BB265D}"/>
                </a:ext>
              </a:extLst>
            </p:cNvPr>
            <p:cNvSpPr>
              <a:spLocks/>
            </p:cNvSpPr>
            <p:nvPr/>
          </p:nvSpPr>
          <p:spPr>
            <a:xfrm>
              <a:off x="6248400" y="3767661"/>
              <a:ext cx="428292" cy="194739"/>
            </a:xfrm>
            <a:custGeom>
              <a:avLst/>
              <a:gdLst/>
              <a:ahLst/>
              <a:cxnLst/>
              <a:rect l="0" t="0" r="0" b="0"/>
              <a:pathLst>
                <a:path w="428292" h="194739">
                  <a:moveTo>
                    <a:pt x="428292" y="0"/>
                  </a:moveTo>
                  <a:lnTo>
                    <a:pt x="0" y="194739"/>
                  </a:lnTo>
                </a:path>
              </a:pathLst>
            </a:custGeom>
            <a:noFill/>
            <a:ln w="10478">
              <a:solidFill>
                <a:srgbClr val="879993"/>
              </a:solidFill>
              <a:prstDash val="solid"/>
            </a:ln>
          </p:spPr>
          <p:txBody>
            <a:bodyPr/>
            <a:p/>
          </p:txBody>
        </p:sp>
        <p:sp>
          <p:nvSpPr>
            <p:cNvPr id="258" name="badge-19">
              <a:extLst>
                <a:ext uri="{FF2B5EF4-FFF2-40B4-BE49-F238E27FC236}">
                  <a16:creationId xmlns:a16="http://schemas.microsoft.com/office/drawing/2014/main" id="{BB8F602F-18A6-46B5-9BA5-C18F4DB135B5}"/>
                </a:ext>
              </a:extLst>
            </p:cNvPr>
            <p:cNvSpPr>
              <a:spLocks/>
            </p:cNvSpPr>
            <p:nvPr/>
          </p:nvSpPr>
          <p:spPr>
            <a:xfrm>
              <a:off x="6143625" y="3857625"/>
              <a:ext cx="209550" cy="209550"/>
            </a:xfrm>
            <a:prstGeom prst="ellipse">
              <a:avLst/>
            </a:prstGeom>
            <a:solidFill>
              <a:srgbClr val="FFFFFF"/>
            </a:solidFill>
            <a:ln w="10837">
              <a:solidFill>
                <a:srgbClr val="293D3B"/>
              </a:solidFill>
            </a:ln>
          </p:spPr>
          <p:txBody>
            <a:bodyPr/>
            <a:p/>
          </p:txBody>
        </p:sp>
        <p:sp>
          <p:nvSpPr>
            <p:cNvPr id="259" name="record-code-19">
              <a:extLst>
                <a:ext uri="{FF2B5EF4-FFF2-40B4-BE49-F238E27FC236}">
                  <a16:creationId xmlns:a16="http://schemas.microsoft.com/office/drawing/2014/main" id="{8B09CF1C-2F1F-49C1-9DC9-1187FE76C7D8}"/>
                </a:ext>
              </a:extLst>
            </p:cNvPr>
            <p:cNvSpPr>
              <a:spLocks/>
            </p:cNvSpPr>
            <p:nvPr/>
          </p:nvSpPr>
          <p:spPr>
            <a:xfrm>
              <a:off x="6143625" y="38633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17</a:t>
              </a:r>
            </a:p>
          </p:txBody>
        </p:sp>
        <p:sp>
          <p:nvSpPr>
            <p:cNvPr id="260" name="point-20-1">
              <a:extLst>
                <a:ext uri="{FF2B5EF4-FFF2-40B4-BE49-F238E27FC236}">
                  <a16:creationId xmlns:a16="http://schemas.microsoft.com/office/drawing/2014/main" id="{7370AEE8-B964-4C83-AD6F-35868A474307}"/>
                </a:ext>
              </a:extLst>
            </p:cNvPr>
            <p:cNvSpPr>
              <a:spLocks/>
            </p:cNvSpPr>
            <p:nvPr/>
          </p:nvSpPr>
          <p:spPr>
            <a:xfrm>
              <a:off x="7798364" y="2531170"/>
              <a:ext cx="40640" cy="40640"/>
            </a:xfrm>
            <a:prstGeom prst="ellipse">
              <a:avLst/>
            </a:prstGeom>
            <a:solidFill>
              <a:srgbClr val="293D3B"/>
            </a:solidFill>
            <a:ln w="0">
              <a:solidFill>
                <a:srgbClr val="293D3B"/>
              </a:solidFill>
            </a:ln>
          </p:spPr>
          <p:txBody>
            <a:bodyPr/>
            <a:p/>
          </p:txBody>
        </p:sp>
        <p:sp>
          <p:nvSpPr>
            <p:cNvPr id="261" name="record-leader-20-1">
              <a:extLst>
                <a:ext uri="{FF2B5EF4-FFF2-40B4-BE49-F238E27FC236}">
                  <a16:creationId xmlns:a16="http://schemas.microsoft.com/office/drawing/2014/main" id="{00F41CE8-6832-4C68-A6F6-1B2774330CD0}"/>
                </a:ext>
              </a:extLst>
            </p:cNvPr>
            <p:cNvSpPr>
              <a:spLocks/>
            </p:cNvSpPr>
            <p:nvPr/>
          </p:nvSpPr>
          <p:spPr>
            <a:xfrm>
              <a:off x="7677150" y="2324100"/>
              <a:ext cx="141589" cy="227409"/>
            </a:xfrm>
            <a:custGeom>
              <a:avLst/>
              <a:gdLst/>
              <a:ahLst/>
              <a:cxnLst/>
              <a:rect l="0" t="0" r="0" b="0"/>
              <a:pathLst>
                <a:path w="141589" h="227409">
                  <a:moveTo>
                    <a:pt x="141589" y="227409"/>
                  </a:moveTo>
                  <a:lnTo>
                    <a:pt x="0" y="0"/>
                  </a:lnTo>
                </a:path>
              </a:pathLst>
            </a:custGeom>
            <a:noFill/>
            <a:ln w="10478">
              <a:solidFill>
                <a:srgbClr val="879993"/>
              </a:solidFill>
              <a:prstDash val="solid"/>
            </a:ln>
          </p:spPr>
          <p:txBody>
            <a:bodyPr/>
            <a:p/>
          </p:txBody>
        </p:sp>
        <p:sp>
          <p:nvSpPr>
            <p:cNvPr id="262" name="badge-20">
              <a:extLst>
                <a:ext uri="{FF2B5EF4-FFF2-40B4-BE49-F238E27FC236}">
                  <a16:creationId xmlns:a16="http://schemas.microsoft.com/office/drawing/2014/main" id="{B7450FF3-15DB-4901-A3EC-0926BE5202A0}"/>
                </a:ext>
              </a:extLst>
            </p:cNvPr>
            <p:cNvSpPr>
              <a:spLocks/>
            </p:cNvSpPr>
            <p:nvPr/>
          </p:nvSpPr>
          <p:spPr>
            <a:xfrm>
              <a:off x="7572375" y="2219325"/>
              <a:ext cx="209550" cy="209550"/>
            </a:xfrm>
            <a:prstGeom prst="ellipse">
              <a:avLst/>
            </a:prstGeom>
            <a:solidFill>
              <a:srgbClr val="FFFFFF"/>
            </a:solidFill>
            <a:ln w="10837">
              <a:solidFill>
                <a:srgbClr val="293D3B"/>
              </a:solidFill>
            </a:ln>
          </p:spPr>
          <p:txBody>
            <a:bodyPr/>
            <a:p/>
          </p:txBody>
        </p:sp>
        <p:sp>
          <p:nvSpPr>
            <p:cNvPr id="263" name="record-code-20">
              <a:extLst>
                <a:ext uri="{FF2B5EF4-FFF2-40B4-BE49-F238E27FC236}">
                  <a16:creationId xmlns:a16="http://schemas.microsoft.com/office/drawing/2014/main" id="{337C15DC-4ABF-4E95-A4D0-ADE1C6881B3B}"/>
                </a:ext>
              </a:extLst>
            </p:cNvPr>
            <p:cNvSpPr>
              <a:spLocks/>
            </p:cNvSpPr>
            <p:nvPr/>
          </p:nvSpPr>
          <p:spPr>
            <a:xfrm>
              <a:off x="7572375" y="22250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18</a:t>
              </a:r>
            </a:p>
          </p:txBody>
        </p:sp>
        <p:sp>
          <p:nvSpPr>
            <p:cNvPr id="264" name="point-21-1">
              <a:extLst>
                <a:ext uri="{FF2B5EF4-FFF2-40B4-BE49-F238E27FC236}">
                  <a16:creationId xmlns:a16="http://schemas.microsoft.com/office/drawing/2014/main" id="{7A769FFA-1FDB-4CB7-AD46-6CE37067EC87}"/>
                </a:ext>
              </a:extLst>
            </p:cNvPr>
            <p:cNvSpPr>
              <a:spLocks/>
            </p:cNvSpPr>
            <p:nvPr/>
          </p:nvSpPr>
          <p:spPr>
            <a:xfrm>
              <a:off x="9257115" y="4053646"/>
              <a:ext cx="40640" cy="40640"/>
            </a:xfrm>
            <a:prstGeom prst="ellipse">
              <a:avLst/>
            </a:prstGeom>
            <a:solidFill>
              <a:srgbClr val="4F788A"/>
            </a:solidFill>
            <a:ln w="0">
              <a:solidFill>
                <a:srgbClr val="4F788A"/>
              </a:solidFill>
            </a:ln>
          </p:spPr>
          <p:txBody>
            <a:bodyPr/>
            <a:p/>
          </p:txBody>
        </p:sp>
        <p:sp>
          <p:nvSpPr>
            <p:cNvPr id="265" name="record-leader-21-1">
              <a:extLst>
                <a:ext uri="{FF2B5EF4-FFF2-40B4-BE49-F238E27FC236}">
                  <a16:creationId xmlns:a16="http://schemas.microsoft.com/office/drawing/2014/main" id="{F94AF431-D9B2-471B-9A88-51FD74DA5586}"/>
                </a:ext>
              </a:extLst>
            </p:cNvPr>
            <p:cNvSpPr>
              <a:spLocks/>
            </p:cNvSpPr>
            <p:nvPr/>
          </p:nvSpPr>
          <p:spPr>
            <a:xfrm>
              <a:off x="8696325" y="4073985"/>
              <a:ext cx="581168" cy="459915"/>
            </a:xfrm>
            <a:custGeom>
              <a:avLst/>
              <a:gdLst/>
              <a:ahLst/>
              <a:cxnLst/>
              <a:rect l="0" t="0" r="0" b="0"/>
              <a:pathLst>
                <a:path w="581168" h="459915">
                  <a:moveTo>
                    <a:pt x="581168" y="0"/>
                  </a:moveTo>
                  <a:lnTo>
                    <a:pt x="0" y="459915"/>
                  </a:lnTo>
                </a:path>
              </a:pathLst>
            </a:custGeom>
            <a:noFill/>
            <a:ln w="10478">
              <a:solidFill>
                <a:srgbClr val="879993"/>
              </a:solidFill>
              <a:prstDash val="solid"/>
            </a:ln>
          </p:spPr>
          <p:txBody>
            <a:bodyPr/>
            <a:p/>
          </p:txBody>
        </p:sp>
        <p:sp>
          <p:nvSpPr>
            <p:cNvPr id="266" name="badge-21">
              <a:extLst>
                <a:ext uri="{FF2B5EF4-FFF2-40B4-BE49-F238E27FC236}">
                  <a16:creationId xmlns:a16="http://schemas.microsoft.com/office/drawing/2014/main" id="{C98597CE-B2E6-4773-96B7-F0AE2E85AC0A}"/>
                </a:ext>
              </a:extLst>
            </p:cNvPr>
            <p:cNvSpPr>
              <a:spLocks/>
            </p:cNvSpPr>
            <p:nvPr/>
          </p:nvSpPr>
          <p:spPr>
            <a:xfrm>
              <a:off x="8591550" y="4429125"/>
              <a:ext cx="209550" cy="209550"/>
            </a:xfrm>
            <a:prstGeom prst="ellipse">
              <a:avLst/>
            </a:prstGeom>
            <a:solidFill>
              <a:srgbClr val="FFFFFF"/>
            </a:solidFill>
            <a:ln w="10837">
              <a:solidFill>
                <a:srgbClr val="4F788A"/>
              </a:solidFill>
            </a:ln>
          </p:spPr>
          <p:txBody>
            <a:bodyPr/>
            <a:p/>
          </p:txBody>
        </p:sp>
        <p:sp>
          <p:nvSpPr>
            <p:cNvPr id="267" name="record-code-21">
              <a:extLst>
                <a:ext uri="{FF2B5EF4-FFF2-40B4-BE49-F238E27FC236}">
                  <a16:creationId xmlns:a16="http://schemas.microsoft.com/office/drawing/2014/main" id="{A2EBDEEC-C226-4DD0-B28B-A59537A9FAC2}"/>
                </a:ext>
              </a:extLst>
            </p:cNvPr>
            <p:cNvSpPr>
              <a:spLocks/>
            </p:cNvSpPr>
            <p:nvPr/>
          </p:nvSpPr>
          <p:spPr>
            <a:xfrm>
              <a:off x="8591550" y="44348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19</a:t>
              </a:r>
            </a:p>
          </p:txBody>
        </p:sp>
        <p:sp>
          <p:nvSpPr>
            <p:cNvPr id="268" name="continent-asia">
              <a:extLst>
                <a:ext uri="{FF2B5EF4-FFF2-40B4-BE49-F238E27FC236}">
                  <a16:creationId xmlns:a16="http://schemas.microsoft.com/office/drawing/2014/main" id="{30FBBCB6-E6A6-4317-94FD-5B31F800468E}"/>
                </a:ext>
              </a:extLst>
            </p:cNvPr>
            <p:cNvSpPr>
              <a:spLocks/>
            </p:cNvSpPr>
            <p:nvPr/>
          </p:nvSpPr>
          <p:spPr>
            <a:xfrm>
              <a:off x="4741333" y="738293"/>
              <a:ext cx="1354667" cy="257387"/>
            </a:xfrm>
            <a:prstGeom prst="rect">
              <a:avLst/>
            </a:prstGeom>
            <a:noFill/>
            <a:ln w="0">
              <a:noFill/>
            </a:ln>
          </p:spPr>
          <p:txBody>
            <a:bodyPr wrap="none" lIns="0" tIns="0" rIns="0" bIns="0" anchor="t">
              <a:noAutofit/>
            </a:bodyPr>
            <a:lstStyle>
              <a:defPPr algn="ctr">
                <a:defRPr sz="1493" b="0">
                  <a:solidFill>
                    <a:srgbClr val="82928C"/>
                  </a:solidFill>
                  <a:latin typeface="Microsoft YaHei"/>
                  <a:ea typeface="Microsoft YaHei"/>
                  <a:cs typeface="Microsoft YaHei"/>
                </a:defRPr>
              </a:defPPr>
            </a:lstStyle>
            <a:p>
              <a:pPr algn="ctr">
                <a:lnSpc>
                  <a:spcPct val="100000"/>
                </a:lnSpc>
                <a:buNone/>
                <a:defRPr sz="1493" b="0">
                  <a:solidFill>
                    <a:srgbClr val="82928C"/>
                  </a:solidFill>
                  <a:latin typeface="Microsoft YaHei"/>
                  <a:ea typeface="Microsoft YaHei"/>
                  <a:cs typeface="Microsoft YaHei"/>
                </a:defRPr>
              </a:pPr>
              <a:r>
                <a:rPr sz="1493">
                  <a:solidFill>
                    <a:srgbClr val="82928C"/>
                  </a:solidFill>
                  <a:latin typeface="Microsoft YaHei"/>
                  <a:ea typeface="Microsoft YaHei"/>
                  <a:cs typeface="Microsoft YaHei"/>
                </a:rPr>
                <a:t>亚洲</a:t>
              </a:r>
            </a:p>
          </p:txBody>
        </p:sp>
        <p:sp>
          <p:nvSpPr>
            <p:cNvPr id="269" name="continent-africa">
              <a:extLst>
                <a:ext uri="{FF2B5EF4-FFF2-40B4-BE49-F238E27FC236}">
                  <a16:creationId xmlns:a16="http://schemas.microsoft.com/office/drawing/2014/main" id="{7F31B71D-F2E2-4D14-A17F-759B751ACFC7}"/>
                </a:ext>
              </a:extLst>
            </p:cNvPr>
            <p:cNvSpPr>
              <a:spLocks/>
            </p:cNvSpPr>
            <p:nvPr/>
          </p:nvSpPr>
          <p:spPr>
            <a:xfrm>
              <a:off x="1449493" y="4253653"/>
              <a:ext cx="1422400" cy="257387"/>
            </a:xfrm>
            <a:prstGeom prst="rect">
              <a:avLst/>
            </a:prstGeom>
            <a:noFill/>
            <a:ln w="0">
              <a:noFill/>
            </a:ln>
          </p:spPr>
          <p:txBody>
            <a:bodyPr wrap="none" lIns="0" tIns="0" rIns="0" bIns="0" anchor="t">
              <a:noAutofit/>
            </a:bodyPr>
            <a:lstStyle>
              <a:defPPr algn="ctr">
                <a:defRPr sz="1493" b="0">
                  <a:solidFill>
                    <a:srgbClr val="82928C"/>
                  </a:solidFill>
                  <a:latin typeface="Microsoft YaHei"/>
                  <a:ea typeface="Microsoft YaHei"/>
                  <a:cs typeface="Microsoft YaHei"/>
                </a:defRPr>
              </a:defPPr>
            </a:lstStyle>
            <a:p>
              <a:pPr algn="ctr">
                <a:lnSpc>
                  <a:spcPct val="100000"/>
                </a:lnSpc>
                <a:buNone/>
                <a:defRPr sz="1493" b="0">
                  <a:solidFill>
                    <a:srgbClr val="82928C"/>
                  </a:solidFill>
                  <a:latin typeface="Microsoft YaHei"/>
                  <a:ea typeface="Microsoft YaHei"/>
                  <a:cs typeface="Microsoft YaHei"/>
                </a:defRPr>
              </a:pPr>
              <a:r>
                <a:rPr sz="1493">
                  <a:solidFill>
                    <a:srgbClr val="82928C"/>
                  </a:solidFill>
                  <a:latin typeface="Microsoft YaHei"/>
                  <a:ea typeface="Microsoft YaHei"/>
                  <a:cs typeface="Microsoft YaHei"/>
                </a:rPr>
                <a:t>非洲</a:t>
              </a:r>
            </a:p>
          </p:txBody>
        </p:sp>
        <p:sp>
          <p:nvSpPr>
            <p:cNvPr id="270" name="continent-north-america">
              <a:extLst>
                <a:ext uri="{FF2B5EF4-FFF2-40B4-BE49-F238E27FC236}">
                  <a16:creationId xmlns:a16="http://schemas.microsoft.com/office/drawing/2014/main" id="{0425C02A-56E2-42C3-94EE-B6F4B79F374F}"/>
                </a:ext>
              </a:extLst>
            </p:cNvPr>
            <p:cNvSpPr>
              <a:spLocks/>
            </p:cNvSpPr>
            <p:nvPr/>
          </p:nvSpPr>
          <p:spPr>
            <a:xfrm>
              <a:off x="9943253" y="745067"/>
              <a:ext cx="1679787" cy="433493"/>
            </a:xfrm>
            <a:prstGeom prst="rect">
              <a:avLst/>
            </a:prstGeom>
            <a:noFill/>
            <a:ln w="0">
              <a:noFill/>
            </a:ln>
          </p:spPr>
          <p:txBody>
            <a:bodyPr wrap="none" lIns="0" tIns="0" rIns="0" bIns="0" anchor="t">
              <a:noAutofit/>
            </a:bodyPr>
            <a:lstStyle>
              <a:defPPr algn="ctr">
                <a:defRPr sz="1493" b="0">
                  <a:solidFill>
                    <a:srgbClr val="82928C"/>
                  </a:solidFill>
                  <a:latin typeface="Microsoft YaHei"/>
                  <a:ea typeface="Microsoft YaHei"/>
                  <a:cs typeface="Microsoft YaHei"/>
                </a:defRPr>
              </a:defPPr>
            </a:lstStyle>
            <a:p>
              <a:pPr algn="ctr">
                <a:lnSpc>
                  <a:spcPct val="100000"/>
                </a:lnSpc>
                <a:buNone/>
                <a:defRPr sz="1493" b="0">
                  <a:solidFill>
                    <a:srgbClr val="82928C"/>
                  </a:solidFill>
                  <a:latin typeface="Microsoft YaHei"/>
                  <a:ea typeface="Microsoft YaHei"/>
                  <a:cs typeface="Microsoft YaHei"/>
                </a:defRPr>
              </a:pPr>
              <a:r>
                <a:rPr sz="1493">
                  <a:solidFill>
                    <a:srgbClr val="82928C"/>
                  </a:solidFill>
                  <a:latin typeface="Microsoft YaHei"/>
                  <a:ea typeface="Microsoft YaHei"/>
                  <a:cs typeface="Microsoft YaHei"/>
                </a:rPr>
                <a:t>北美洲</a:t>
              </a:r>
            </a:p>
          </p:txBody>
        </p:sp>
        <p:sp>
          <p:nvSpPr>
            <p:cNvPr id="271" name="continent-south-america">
              <a:extLst>
                <a:ext uri="{FF2B5EF4-FFF2-40B4-BE49-F238E27FC236}">
                  <a16:creationId xmlns:a16="http://schemas.microsoft.com/office/drawing/2014/main" id="{A0CF0208-4908-4EAF-9700-F3F56FFE4D29}"/>
                </a:ext>
              </a:extLst>
            </p:cNvPr>
            <p:cNvSpPr>
              <a:spLocks/>
            </p:cNvSpPr>
            <p:nvPr/>
          </p:nvSpPr>
          <p:spPr>
            <a:xfrm>
              <a:off x="10884747" y="3088640"/>
              <a:ext cx="806027" cy="528320"/>
            </a:xfrm>
            <a:prstGeom prst="rect">
              <a:avLst/>
            </a:prstGeom>
            <a:noFill/>
            <a:ln w="0">
              <a:noFill/>
            </a:ln>
          </p:spPr>
          <p:txBody>
            <a:bodyPr wrap="none" lIns="0" tIns="0" rIns="0" bIns="0" anchor="t">
              <a:noAutofit/>
            </a:bodyPr>
            <a:lstStyle>
              <a:defPPr algn="ctr">
                <a:defRPr sz="1387" b="0">
                  <a:solidFill>
                    <a:srgbClr val="82928C"/>
                  </a:solidFill>
                  <a:latin typeface="Microsoft YaHei"/>
                  <a:ea typeface="Microsoft YaHei"/>
                  <a:cs typeface="Microsoft YaHei"/>
                </a:defRPr>
              </a:defPPr>
            </a:lstStyle>
            <a:p>
              <a:pPr algn="ctr">
                <a:lnSpc>
                  <a:spcPct val="100000"/>
                </a:lnSpc>
                <a:buNone/>
                <a:defRPr sz="1387" b="0">
                  <a:solidFill>
                    <a:srgbClr val="82928C"/>
                  </a:solidFill>
                  <a:latin typeface="Microsoft YaHei"/>
                  <a:ea typeface="Microsoft YaHei"/>
                  <a:cs typeface="Microsoft YaHei"/>
                </a:defRPr>
              </a:pPr>
              <a:r>
                <a:rPr sz="1387">
                  <a:solidFill>
                    <a:srgbClr val="82928C"/>
                  </a:solidFill>
                  <a:latin typeface="Microsoft YaHei"/>
                  <a:ea typeface="Microsoft YaHei"/>
                  <a:cs typeface="Microsoft YaHei"/>
                </a:rPr>
                <a:t>南美洲</a:t>
              </a:r>
            </a:p>
          </p:txBody>
        </p:sp>
        <p:sp>
          <p:nvSpPr>
            <p:cNvPr id="272" name="continent-australia">
              <a:extLst>
                <a:ext uri="{FF2B5EF4-FFF2-40B4-BE49-F238E27FC236}">
                  <a16:creationId xmlns:a16="http://schemas.microsoft.com/office/drawing/2014/main" id="{D387250C-544F-4267-AF71-FA87AE5D271E}"/>
                </a:ext>
              </a:extLst>
            </p:cNvPr>
            <p:cNvSpPr>
              <a:spLocks/>
            </p:cNvSpPr>
            <p:nvPr/>
          </p:nvSpPr>
          <p:spPr>
            <a:xfrm>
              <a:off x="5506720" y="4876800"/>
              <a:ext cx="1524000" cy="270933"/>
            </a:xfrm>
            <a:prstGeom prst="rect">
              <a:avLst/>
            </a:prstGeom>
            <a:noFill/>
            <a:ln w="0">
              <a:noFill/>
            </a:ln>
          </p:spPr>
          <p:txBody>
            <a:bodyPr wrap="none" lIns="0" tIns="0" rIns="0" bIns="0" anchor="t">
              <a:noAutofit/>
            </a:bodyPr>
            <a:lstStyle>
              <a:defPPr algn="ctr">
                <a:defRPr sz="1387" b="0">
                  <a:solidFill>
                    <a:srgbClr val="82928C"/>
                  </a:solidFill>
                  <a:latin typeface="Microsoft YaHei"/>
                  <a:ea typeface="Microsoft YaHei"/>
                  <a:cs typeface="Microsoft YaHei"/>
                </a:defRPr>
              </a:defPPr>
            </a:lstStyle>
            <a:p>
              <a:pPr algn="ctr">
                <a:lnSpc>
                  <a:spcPct val="100000"/>
                </a:lnSpc>
                <a:buNone/>
                <a:defRPr sz="1387" b="0">
                  <a:solidFill>
                    <a:srgbClr val="82928C"/>
                  </a:solidFill>
                  <a:latin typeface="Microsoft YaHei"/>
                  <a:ea typeface="Microsoft YaHei"/>
                  <a:cs typeface="Microsoft YaHei"/>
                </a:defRPr>
              </a:pPr>
              <a:r>
                <a:rPr sz="1387">
                  <a:solidFill>
                    <a:srgbClr val="82928C"/>
                  </a:solidFill>
                  <a:latin typeface="Microsoft YaHei"/>
                  <a:ea typeface="Microsoft YaHei"/>
                  <a:cs typeface="Microsoft YaHei"/>
                </a:rPr>
                <a:t>澳大利亚</a:t>
              </a:r>
            </a:p>
          </p:txBody>
        </p:sp>
        <p:sp>
          <p:nvSpPr>
            <p:cNvPr id="273" name="location-name-1">
              <a:extLst>
                <a:ext uri="{FF2B5EF4-FFF2-40B4-BE49-F238E27FC236}">
                  <a16:creationId xmlns:a16="http://schemas.microsoft.com/office/drawing/2014/main" id="{8328AE58-AB64-40D2-AA17-75510B9C1D66}"/>
                </a:ext>
              </a:extLst>
            </p:cNvPr>
            <p:cNvSpPr>
              <a:spLocks/>
            </p:cNvSpPr>
            <p:nvPr/>
          </p:nvSpPr>
          <p:spPr>
            <a:xfrm>
              <a:off x="5257800" y="1457325"/>
              <a:ext cx="14478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中国中部</a:t>
              </a:r>
            </a:p>
          </p:txBody>
        </p:sp>
        <p:sp>
          <p:nvSpPr>
            <p:cNvPr id="274" name="location-name-2">
              <a:extLst>
                <a:ext uri="{FF2B5EF4-FFF2-40B4-BE49-F238E27FC236}">
                  <a16:creationId xmlns:a16="http://schemas.microsoft.com/office/drawing/2014/main" id="{D1F15165-D39B-4FE4-9CAC-D9DEE8EF72EE}"/>
                </a:ext>
              </a:extLst>
            </p:cNvPr>
            <p:cNvSpPr>
              <a:spLocks/>
            </p:cNvSpPr>
            <p:nvPr/>
          </p:nvSpPr>
          <p:spPr>
            <a:xfrm>
              <a:off x="3867150" y="2524125"/>
              <a:ext cx="10953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Daimabad</a:t>
              </a:r>
            </a:p>
          </p:txBody>
        </p:sp>
        <p:sp>
          <p:nvSpPr>
            <p:cNvPr id="275" name="location-name-3">
              <a:extLst>
                <a:ext uri="{FF2B5EF4-FFF2-40B4-BE49-F238E27FC236}">
                  <a16:creationId xmlns:a16="http://schemas.microsoft.com/office/drawing/2014/main" id="{DCBA3B53-AF19-4839-AF5B-4936398800C8}"/>
                </a:ext>
              </a:extLst>
            </p:cNvPr>
            <p:cNvSpPr>
              <a:spLocks/>
            </p:cNvSpPr>
            <p:nvPr/>
          </p:nvSpPr>
          <p:spPr>
            <a:xfrm>
              <a:off x="6181725" y="1781175"/>
              <a:ext cx="14287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唐古·键</a:t>
              </a:r>
            </a:p>
          </p:txBody>
        </p:sp>
        <p:sp>
          <p:nvSpPr>
            <p:cNvPr id="276" name="location-name-4">
              <a:extLst>
                <a:ext uri="{FF2B5EF4-FFF2-40B4-BE49-F238E27FC236}">
                  <a16:creationId xmlns:a16="http://schemas.microsoft.com/office/drawing/2014/main" id="{809089FC-013A-4B77-AA5C-602D5E1429ED}"/>
                </a:ext>
              </a:extLst>
            </p:cNvPr>
            <p:cNvSpPr>
              <a:spLocks/>
            </p:cNvSpPr>
            <p:nvPr/>
          </p:nvSpPr>
          <p:spPr>
            <a:xfrm>
              <a:off x="5695950" y="2209800"/>
              <a:ext cx="11430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唐神</a:t>
              </a:r>
            </a:p>
          </p:txBody>
        </p:sp>
        <p:sp>
          <p:nvSpPr>
            <p:cNvPr id="277" name="location-name-5">
              <a:extLst>
                <a:ext uri="{FF2B5EF4-FFF2-40B4-BE49-F238E27FC236}">
                  <a16:creationId xmlns:a16="http://schemas.microsoft.com/office/drawing/2014/main" id="{2FC9036A-58EB-4B05-B27A-84611314BC5C}"/>
                </a:ext>
              </a:extLst>
            </p:cNvPr>
            <p:cNvSpPr>
              <a:spLocks/>
            </p:cNvSpPr>
            <p:nvPr/>
          </p:nvSpPr>
          <p:spPr>
            <a:xfrm>
              <a:off x="3552825" y="1600200"/>
              <a:ext cx="14668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中亚</a:t>
              </a:r>
            </a:p>
          </p:txBody>
        </p:sp>
        <p:sp>
          <p:nvSpPr>
            <p:cNvPr id="278" name="location-name-6">
              <a:extLst>
                <a:ext uri="{FF2B5EF4-FFF2-40B4-BE49-F238E27FC236}">
                  <a16:creationId xmlns:a16="http://schemas.microsoft.com/office/drawing/2014/main" id="{352ABB3F-A94C-4DDD-933C-B09778D08219}"/>
                </a:ext>
              </a:extLst>
            </p:cNvPr>
            <p:cNvSpPr>
              <a:spLocks/>
            </p:cNvSpPr>
            <p:nvPr/>
          </p:nvSpPr>
          <p:spPr>
            <a:xfrm>
              <a:off x="2819400" y="2152650"/>
              <a:ext cx="10668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Maresha</a:t>
              </a:r>
            </a:p>
          </p:txBody>
        </p:sp>
        <p:sp>
          <p:nvSpPr>
            <p:cNvPr id="279" name="location-name-7">
              <a:extLst>
                <a:ext uri="{FF2B5EF4-FFF2-40B4-BE49-F238E27FC236}">
                  <a16:creationId xmlns:a16="http://schemas.microsoft.com/office/drawing/2014/main" id="{BBB39497-DD7E-456E-8D44-9F0FD4BBB9DD}"/>
                </a:ext>
              </a:extLst>
            </p:cNvPr>
            <p:cNvSpPr>
              <a:spLocks/>
            </p:cNvSpPr>
            <p:nvPr/>
          </p:nvSpPr>
          <p:spPr>
            <a:xfrm>
              <a:off x="457200" y="1609725"/>
              <a:ext cx="5238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意大利</a:t>
              </a:r>
            </a:p>
          </p:txBody>
        </p:sp>
        <p:sp>
          <p:nvSpPr>
            <p:cNvPr id="280" name="location-name-8">
              <a:extLst>
                <a:ext uri="{FF2B5EF4-FFF2-40B4-BE49-F238E27FC236}">
                  <a16:creationId xmlns:a16="http://schemas.microsoft.com/office/drawing/2014/main" id="{E434AEA6-F152-4D91-BE3F-6ED4565B851C}"/>
                </a:ext>
              </a:extLst>
            </p:cNvPr>
            <p:cNvSpPr>
              <a:spLocks/>
            </p:cNvSpPr>
            <p:nvPr/>
          </p:nvSpPr>
          <p:spPr>
            <a:xfrm>
              <a:off x="400050" y="1152525"/>
              <a:ext cx="5334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英国</a:t>
              </a:r>
            </a:p>
          </p:txBody>
        </p:sp>
        <p:sp>
          <p:nvSpPr>
            <p:cNvPr id="281" name="location-name-9">
              <a:extLst>
                <a:ext uri="{FF2B5EF4-FFF2-40B4-BE49-F238E27FC236}">
                  <a16:creationId xmlns:a16="http://schemas.microsoft.com/office/drawing/2014/main" id="{287184B3-2A03-42C4-8D33-0099ECC6197A}"/>
                </a:ext>
              </a:extLst>
            </p:cNvPr>
            <p:cNvSpPr>
              <a:spLocks/>
            </p:cNvSpPr>
            <p:nvPr/>
          </p:nvSpPr>
          <p:spPr>
            <a:xfrm>
              <a:off x="2228850" y="914400"/>
              <a:ext cx="8286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奥兰群岛</a:t>
              </a:r>
            </a:p>
          </p:txBody>
        </p:sp>
        <p:sp>
          <p:nvSpPr>
            <p:cNvPr id="282" name="location-name-10">
              <a:extLst>
                <a:ext uri="{FF2B5EF4-FFF2-40B4-BE49-F238E27FC236}">
                  <a16:creationId xmlns:a16="http://schemas.microsoft.com/office/drawing/2014/main" id="{9B5F8513-7362-498C-87F8-3AF721049ACA}"/>
                </a:ext>
              </a:extLst>
            </p:cNvPr>
            <p:cNvSpPr>
              <a:spLocks/>
            </p:cNvSpPr>
            <p:nvPr/>
          </p:nvSpPr>
          <p:spPr>
            <a:xfrm>
              <a:off x="3114675" y="2800350"/>
              <a:ext cx="10191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Mezber</a:t>
              </a:r>
            </a:p>
          </p:txBody>
        </p:sp>
        <p:sp>
          <p:nvSpPr>
            <p:cNvPr id="283" name="location-name-11">
              <a:extLst>
                <a:ext uri="{FF2B5EF4-FFF2-40B4-BE49-F238E27FC236}">
                  <a16:creationId xmlns:a16="http://schemas.microsoft.com/office/drawing/2014/main" id="{CCE6233E-F29D-4509-BB59-BFA74FDD9C77}"/>
                </a:ext>
              </a:extLst>
            </p:cNvPr>
            <p:cNvSpPr>
              <a:spLocks/>
            </p:cNvSpPr>
            <p:nvPr/>
          </p:nvSpPr>
          <p:spPr>
            <a:xfrm>
              <a:off x="866775" y="2733675"/>
              <a:ext cx="12382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Jenne-jeno</a:t>
              </a:r>
            </a:p>
          </p:txBody>
        </p:sp>
        <p:sp>
          <p:nvSpPr>
            <p:cNvPr id="284" name="location-name-12a">
              <a:extLst>
                <a:ext uri="{FF2B5EF4-FFF2-40B4-BE49-F238E27FC236}">
                  <a16:creationId xmlns:a16="http://schemas.microsoft.com/office/drawing/2014/main" id="{E5D57E5F-555B-44E2-875C-61608A48615C}"/>
                </a:ext>
              </a:extLst>
            </p:cNvPr>
            <p:cNvSpPr>
              <a:spLocks/>
            </p:cNvSpPr>
            <p:nvPr/>
          </p:nvSpPr>
          <p:spPr>
            <a:xfrm>
              <a:off x="752475" y="3305175"/>
              <a:ext cx="11334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Unguja Ukuu</a:t>
              </a:r>
            </a:p>
          </p:txBody>
        </p:sp>
        <p:sp>
          <p:nvSpPr>
            <p:cNvPr id="285" name="location-name-12b">
              <a:extLst>
                <a:ext uri="{FF2B5EF4-FFF2-40B4-BE49-F238E27FC236}">
                  <a16:creationId xmlns:a16="http://schemas.microsoft.com/office/drawing/2014/main" id="{A04D73B1-9CA2-41FF-87DE-24E97E07742E}"/>
                </a:ext>
              </a:extLst>
            </p:cNvPr>
            <p:cNvSpPr>
              <a:spLocks/>
            </p:cNvSpPr>
            <p:nvPr/>
          </p:nvSpPr>
          <p:spPr>
            <a:xfrm>
              <a:off x="3752850" y="3905250"/>
              <a:ext cx="12096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Mahilaka</a:t>
              </a:r>
            </a:p>
          </p:txBody>
        </p:sp>
        <p:sp>
          <p:nvSpPr>
            <p:cNvPr id="286" name="location-name-13a">
              <a:extLst>
                <a:ext uri="{FF2B5EF4-FFF2-40B4-BE49-F238E27FC236}">
                  <a16:creationId xmlns:a16="http://schemas.microsoft.com/office/drawing/2014/main" id="{5FB35464-657B-424C-9257-8BB937FF5477}"/>
                </a:ext>
              </a:extLst>
            </p:cNvPr>
            <p:cNvSpPr>
              <a:spLocks/>
            </p:cNvSpPr>
            <p:nvPr/>
          </p:nvSpPr>
          <p:spPr>
            <a:xfrm>
              <a:off x="6629400" y="3305175"/>
              <a:ext cx="12192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Nenumbo</a:t>
              </a:r>
            </a:p>
          </p:txBody>
        </p:sp>
        <p:sp>
          <p:nvSpPr>
            <p:cNvPr id="287" name="location-name-13b">
              <a:extLst>
                <a:ext uri="{FF2B5EF4-FFF2-40B4-BE49-F238E27FC236}">
                  <a16:creationId xmlns:a16="http://schemas.microsoft.com/office/drawing/2014/main" id="{3C6DDC90-8E13-487A-B8EA-32F6302F7BE6}"/>
                </a:ext>
              </a:extLst>
            </p:cNvPr>
            <p:cNvSpPr>
              <a:spLocks/>
            </p:cNvSpPr>
            <p:nvPr/>
          </p:nvSpPr>
          <p:spPr>
            <a:xfrm>
              <a:off x="7620000" y="4162425"/>
              <a:ext cx="14763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Tongoleleka</a:t>
              </a:r>
            </a:p>
          </p:txBody>
        </p:sp>
        <p:sp>
          <p:nvSpPr>
            <p:cNvPr id="288" name="location-name-14">
              <a:extLst>
                <a:ext uri="{FF2B5EF4-FFF2-40B4-BE49-F238E27FC236}">
                  <a16:creationId xmlns:a16="http://schemas.microsoft.com/office/drawing/2014/main" id="{BB774F2F-1E90-45D8-9830-1E2A00429E90}"/>
                </a:ext>
              </a:extLst>
            </p:cNvPr>
            <p:cNvSpPr>
              <a:spLocks/>
            </p:cNvSpPr>
            <p:nvPr/>
          </p:nvSpPr>
          <p:spPr>
            <a:xfrm>
              <a:off x="11010900" y="4676775"/>
              <a:ext cx="1104900" cy="247650"/>
            </a:xfrm>
            <a:prstGeom prst="rect">
              <a:avLst/>
            </a:prstGeom>
            <a:noFill/>
            <a:ln w="0">
              <a:noFill/>
            </a:ln>
          </p:spPr>
          <p:txBody>
            <a:bodyPr wrap="none" lIns="0" tIns="0" rIns="0" bIns="0" anchor="ctr">
              <a:noAutofit/>
            </a:bodyPr>
            <a:lstStyle>
              <a:defPPr algn="l">
                <a:defRPr sz="1313" b="0">
                  <a:solidFill>
                    <a:srgbClr val="405F5B"/>
                  </a:solidFill>
                  <a:latin typeface="Microsoft YaHei"/>
                  <a:ea typeface="Microsoft YaHei"/>
                  <a:cs typeface="Microsoft YaHei"/>
                </a:defRPr>
              </a:defPPr>
            </a:lstStyle>
            <a:p>
              <a:pPr algn="l">
                <a:lnSpc>
                  <a:spcPct val="100000"/>
                </a:lnSpc>
                <a:buNone/>
                <a:defRPr sz="1313" b="0">
                  <a:solidFill>
                    <a:srgbClr val="405F5B"/>
                  </a:solidFill>
                  <a:latin typeface="Microsoft YaHei"/>
                  <a:ea typeface="Microsoft YaHei"/>
                  <a:cs typeface="Microsoft YaHei"/>
                </a:defRPr>
              </a:pPr>
              <a:r>
                <a:rPr sz="1313">
                  <a:solidFill>
                    <a:srgbClr val="405F5B"/>
                  </a:solidFill>
                  <a:latin typeface="Microsoft YaHei"/>
                  <a:ea typeface="Microsoft YaHei"/>
                  <a:cs typeface="Microsoft YaHei"/>
                </a:rPr>
                <a:t>El Arenal-1</a:t>
              </a:r>
            </a:p>
          </p:txBody>
        </p:sp>
        <p:sp>
          <p:nvSpPr>
            <p:cNvPr id="289" name="location-name-15">
              <a:extLst>
                <a:ext uri="{FF2B5EF4-FFF2-40B4-BE49-F238E27FC236}">
                  <a16:creationId xmlns:a16="http://schemas.microsoft.com/office/drawing/2014/main" id="{708962E3-0D06-4DEB-9441-9649793254DA}"/>
                </a:ext>
              </a:extLst>
            </p:cNvPr>
            <p:cNvSpPr>
              <a:spLocks/>
            </p:cNvSpPr>
            <p:nvPr/>
          </p:nvSpPr>
          <p:spPr>
            <a:xfrm>
              <a:off x="10934700" y="1704975"/>
              <a:ext cx="1200150" cy="247650"/>
            </a:xfrm>
            <a:prstGeom prst="rect">
              <a:avLst/>
            </a:prstGeom>
            <a:noFill/>
            <a:ln w="0">
              <a:noFill/>
            </a:ln>
          </p:spPr>
          <p:txBody>
            <a:bodyPr wrap="none" lIns="0" tIns="0" rIns="0" bIns="0" anchor="ctr">
              <a:noAutofit/>
            </a:bodyPr>
            <a:lstStyle>
              <a:defPPr algn="l">
                <a:defRPr sz="1238" b="0">
                  <a:solidFill>
                    <a:srgbClr val="405F5B"/>
                  </a:solidFill>
                  <a:latin typeface="Microsoft YaHei"/>
                  <a:ea typeface="Microsoft YaHei"/>
                  <a:cs typeface="Microsoft YaHei"/>
                </a:defRPr>
              </a:defPPr>
            </a:lstStyle>
            <a:p>
              <a:pPr algn="l">
                <a:lnSpc>
                  <a:spcPct val="100000"/>
                </a:lnSpc>
                <a:buNone/>
                <a:defRPr sz="1238" b="0">
                  <a:solidFill>
                    <a:srgbClr val="405F5B"/>
                  </a:solidFill>
                  <a:latin typeface="Microsoft YaHei"/>
                  <a:ea typeface="Microsoft YaHei"/>
                  <a:cs typeface="Microsoft YaHei"/>
                </a:defRPr>
              </a:pPr>
              <a:r>
                <a:rPr sz="1238">
                  <a:solidFill>
                    <a:srgbClr val="405F5B"/>
                  </a:solidFill>
                  <a:latin typeface="Microsoft YaHei"/>
                  <a:ea typeface="Microsoft YaHei"/>
                  <a:cs typeface="Microsoft YaHei"/>
                </a:rPr>
                <a:t>海地／佛罗里达</a:t>
              </a:r>
            </a:p>
          </p:txBody>
        </p:sp>
        <p:sp>
          <p:nvSpPr>
            <p:cNvPr id="290" name="location-name-16">
              <a:extLst>
                <a:ext uri="{FF2B5EF4-FFF2-40B4-BE49-F238E27FC236}">
                  <a16:creationId xmlns:a16="http://schemas.microsoft.com/office/drawing/2014/main" id="{3B0299E3-705A-430D-AF08-8FDFA0AD0635}"/>
                </a:ext>
              </a:extLst>
            </p:cNvPr>
            <p:cNvSpPr>
              <a:spLocks/>
            </p:cNvSpPr>
            <p:nvPr/>
          </p:nvSpPr>
          <p:spPr>
            <a:xfrm>
              <a:off x="4714875" y="2971800"/>
              <a:ext cx="14287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Ban Non Wat</a:t>
              </a:r>
            </a:p>
          </p:txBody>
        </p:sp>
        <p:sp>
          <p:nvSpPr>
            <p:cNvPr id="291" name="location-name-17">
              <a:extLst>
                <a:ext uri="{FF2B5EF4-FFF2-40B4-BE49-F238E27FC236}">
                  <a16:creationId xmlns:a16="http://schemas.microsoft.com/office/drawing/2014/main" id="{346B96F3-7E88-497C-958A-78608C136E69}"/>
                </a:ext>
              </a:extLst>
            </p:cNvPr>
            <p:cNvSpPr>
              <a:spLocks/>
            </p:cNvSpPr>
            <p:nvPr/>
          </p:nvSpPr>
          <p:spPr>
            <a:xfrm>
              <a:off x="2152650" y="1371600"/>
              <a:ext cx="126682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Arslantepe</a:t>
              </a:r>
            </a:p>
          </p:txBody>
        </p:sp>
        <p:sp>
          <p:nvSpPr>
            <p:cNvPr id="292" name="location-name-18">
              <a:extLst>
                <a:ext uri="{FF2B5EF4-FFF2-40B4-BE49-F238E27FC236}">
                  <a16:creationId xmlns:a16="http://schemas.microsoft.com/office/drawing/2014/main" id="{94237A97-7548-4227-9B62-7E30A658B146}"/>
                </a:ext>
              </a:extLst>
            </p:cNvPr>
            <p:cNvSpPr>
              <a:spLocks/>
            </p:cNvSpPr>
            <p:nvPr/>
          </p:nvSpPr>
          <p:spPr>
            <a:xfrm>
              <a:off x="1828800" y="2333625"/>
              <a:ext cx="12954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下埃及</a:t>
              </a:r>
            </a:p>
          </p:txBody>
        </p:sp>
        <p:sp>
          <p:nvSpPr>
            <p:cNvPr id="293" name="location-name-19">
              <a:extLst>
                <a:ext uri="{FF2B5EF4-FFF2-40B4-BE49-F238E27FC236}">
                  <a16:creationId xmlns:a16="http://schemas.microsoft.com/office/drawing/2014/main" id="{4AE79F7F-DA40-44FA-83AC-D866AA0399D1}"/>
                </a:ext>
              </a:extLst>
            </p:cNvPr>
            <p:cNvSpPr>
              <a:spLocks/>
            </p:cNvSpPr>
            <p:nvPr/>
          </p:nvSpPr>
          <p:spPr>
            <a:xfrm>
              <a:off x="6381750" y="3943350"/>
              <a:ext cx="7905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Teouma</a:t>
              </a:r>
            </a:p>
          </p:txBody>
        </p:sp>
        <p:sp>
          <p:nvSpPr>
            <p:cNvPr id="294" name="location-name-20">
              <a:extLst>
                <a:ext uri="{FF2B5EF4-FFF2-40B4-BE49-F238E27FC236}">
                  <a16:creationId xmlns:a16="http://schemas.microsoft.com/office/drawing/2014/main" id="{5440274B-2CD8-4C72-BD7B-E41847148E29}"/>
                </a:ext>
              </a:extLst>
            </p:cNvPr>
            <p:cNvSpPr>
              <a:spLocks/>
            </p:cNvSpPr>
            <p:nvPr/>
          </p:nvSpPr>
          <p:spPr>
            <a:xfrm>
              <a:off x="7848600" y="2200275"/>
              <a:ext cx="17907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夏威夷Pelekane</a:t>
              </a:r>
            </a:p>
          </p:txBody>
        </p:sp>
        <p:sp>
          <p:nvSpPr>
            <p:cNvPr id="295" name="location-name-21">
              <a:extLst>
                <a:ext uri="{FF2B5EF4-FFF2-40B4-BE49-F238E27FC236}">
                  <a16:creationId xmlns:a16="http://schemas.microsoft.com/office/drawing/2014/main" id="{6B5500D8-8D01-4DB9-A064-789583788892}"/>
                </a:ext>
              </a:extLst>
            </p:cNvPr>
            <p:cNvSpPr>
              <a:spLocks/>
            </p:cNvSpPr>
            <p:nvPr/>
          </p:nvSpPr>
          <p:spPr>
            <a:xfrm>
              <a:off x="8867775" y="4410075"/>
              <a:ext cx="130492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复活节岛</a:t>
              </a:r>
            </a:p>
          </p:txBody>
        </p:sp>
        <p:sp>
          <p:nvSpPr>
            <p:cNvPr id="296" name="maternal-shared-source-EastAfrica">
              <a:extLst>
                <a:ext uri="{FF2B5EF4-FFF2-40B4-BE49-F238E27FC236}">
                  <a16:creationId xmlns:a16="http://schemas.microsoft.com/office/drawing/2014/main" id="{4F99D08D-CDD2-4C2C-8E78-BCC2357DCC14}"/>
                </a:ext>
              </a:extLst>
            </p:cNvPr>
            <p:cNvSpPr>
              <a:spLocks/>
            </p:cNvSpPr>
            <p:nvPr/>
          </p:nvSpPr>
          <p:spPr>
            <a:xfrm>
              <a:off x="2596580" y="2927048"/>
              <a:ext cx="1223580" cy="467324"/>
            </a:xfrm>
            <a:custGeom>
              <a:avLst/>
              <a:gdLst/>
              <a:ahLst/>
              <a:cxnLst/>
              <a:rect l="0" t="0" r="0" b="0"/>
              <a:pathLst>
                <a:path w="1720660" h="657174">
                  <a:moveTo>
                    <a:pt x="1720660" y="0"/>
                  </a:moveTo>
                  <a:lnTo>
                    <a:pt x="1685111" y="27882"/>
                  </a:lnTo>
                  <a:lnTo>
                    <a:pt x="1648669" y="53606"/>
                  </a:lnTo>
                  <a:lnTo>
                    <a:pt x="1611365" y="77304"/>
                  </a:lnTo>
                  <a:lnTo>
                    <a:pt x="1573229" y="99109"/>
                  </a:lnTo>
                  <a:lnTo>
                    <a:pt x="1534292" y="119153"/>
                  </a:lnTo>
                  <a:lnTo>
                    <a:pt x="1494585" y="137567"/>
                  </a:lnTo>
                  <a:lnTo>
                    <a:pt x="1454137" y="154484"/>
                  </a:lnTo>
                  <a:lnTo>
                    <a:pt x="1412980" y="170037"/>
                  </a:lnTo>
                  <a:lnTo>
                    <a:pt x="1371144" y="184356"/>
                  </a:lnTo>
                  <a:lnTo>
                    <a:pt x="1328660" y="197574"/>
                  </a:lnTo>
                  <a:lnTo>
                    <a:pt x="1285558" y="209824"/>
                  </a:lnTo>
                  <a:lnTo>
                    <a:pt x="1241869" y="221238"/>
                  </a:lnTo>
                  <a:lnTo>
                    <a:pt x="1197623" y="231946"/>
                  </a:lnTo>
                  <a:lnTo>
                    <a:pt x="1152851" y="242083"/>
                  </a:lnTo>
                  <a:lnTo>
                    <a:pt x="1107584" y="251779"/>
                  </a:lnTo>
                  <a:lnTo>
                    <a:pt x="1061851" y="261168"/>
                  </a:lnTo>
                  <a:lnTo>
                    <a:pt x="1015685" y="270380"/>
                  </a:lnTo>
                  <a:lnTo>
                    <a:pt x="969114" y="279548"/>
                  </a:lnTo>
                  <a:lnTo>
                    <a:pt x="922171" y="288805"/>
                  </a:lnTo>
                  <a:lnTo>
                    <a:pt x="874885" y="298282"/>
                  </a:lnTo>
                  <a:lnTo>
                    <a:pt x="827287" y="308112"/>
                  </a:lnTo>
                  <a:lnTo>
                    <a:pt x="779407" y="318426"/>
                  </a:lnTo>
                  <a:lnTo>
                    <a:pt x="731276" y="329357"/>
                  </a:lnTo>
                  <a:lnTo>
                    <a:pt x="682925" y="341037"/>
                  </a:lnTo>
                  <a:lnTo>
                    <a:pt x="634385" y="353598"/>
                  </a:lnTo>
                  <a:lnTo>
                    <a:pt x="585685" y="367172"/>
                  </a:lnTo>
                  <a:lnTo>
                    <a:pt x="536857" y="381892"/>
                  </a:lnTo>
                  <a:lnTo>
                    <a:pt x="487930" y="397888"/>
                  </a:lnTo>
                  <a:lnTo>
                    <a:pt x="438936" y="415294"/>
                  </a:lnTo>
                  <a:lnTo>
                    <a:pt x="389906" y="434242"/>
                  </a:lnTo>
                  <a:lnTo>
                    <a:pt x="340869" y="454863"/>
                  </a:lnTo>
                  <a:lnTo>
                    <a:pt x="291856" y="477290"/>
                  </a:lnTo>
                  <a:lnTo>
                    <a:pt x="242898" y="501655"/>
                  </a:lnTo>
                  <a:lnTo>
                    <a:pt x="194025" y="528091"/>
                  </a:lnTo>
                  <a:lnTo>
                    <a:pt x="145268" y="556728"/>
                  </a:lnTo>
                  <a:lnTo>
                    <a:pt x="96658" y="587699"/>
                  </a:lnTo>
                  <a:lnTo>
                    <a:pt x="48225" y="621137"/>
                  </a:lnTo>
                  <a:lnTo>
                    <a:pt x="0" y="657174"/>
                  </a:lnTo>
                </a:path>
              </a:pathLst>
            </a:custGeom>
            <a:noFill/>
            <a:ln w="18965">
              <a:solidFill>
                <a:srgbClr val="7C6F92"/>
              </a:solidFill>
              <a:prstDash val="dash"/>
            </a:ln>
          </p:spPr>
          <p:txBody>
            <a:bodyPr/>
            <a:p/>
          </p:txBody>
        </p:sp>
        <p:sp>
          <p:nvSpPr>
            <p:cNvPr id="297" name="maternal-shared-source-EastAfrica-head">
              <a:extLst>
                <a:ext uri="{FF2B5EF4-FFF2-40B4-BE49-F238E27FC236}">
                  <a16:creationId xmlns:a16="http://schemas.microsoft.com/office/drawing/2014/main" id="{631EB3CD-BFF2-4AC1-997C-08CDAEABC2E5}"/>
                </a:ext>
              </a:extLst>
            </p:cNvPr>
            <p:cNvSpPr>
              <a:spLocks/>
            </p:cNvSpPr>
            <p:nvPr/>
          </p:nvSpPr>
          <p:spPr>
            <a:xfrm>
              <a:off x="2596580" y="3316418"/>
              <a:ext cx="87004" cy="77953"/>
            </a:xfrm>
            <a:custGeom>
              <a:avLst/>
              <a:gdLst/>
              <a:ahLst/>
              <a:cxnLst/>
              <a:rect l="0" t="0" r="0" b="0"/>
              <a:pathLst>
                <a:path w="122349" h="109621">
                  <a:moveTo>
                    <a:pt x="0" y="109621"/>
                  </a:moveTo>
                  <a:lnTo>
                    <a:pt x="122349" y="82405"/>
                  </a:lnTo>
                  <a:lnTo>
                    <a:pt x="60772" y="0"/>
                  </a:lnTo>
                  <a:close/>
                </a:path>
              </a:pathLst>
            </a:custGeom>
            <a:solidFill>
              <a:srgbClr val="7C6F92"/>
            </a:solidFill>
            <a:ln w="0">
              <a:noFill/>
              <a:prstDash val="solid"/>
            </a:ln>
          </p:spPr>
          <p:txBody>
            <a:bodyPr/>
            <a:p/>
          </p:txBody>
        </p:sp>
        <p:sp>
          <p:nvSpPr>
            <p:cNvPr id="298" name="maternal-M1-EastAfrica-Madagascar">
              <a:extLst>
                <a:ext uri="{FF2B5EF4-FFF2-40B4-BE49-F238E27FC236}">
                  <a16:creationId xmlns:a16="http://schemas.microsoft.com/office/drawing/2014/main" id="{F16BDEEA-632C-4A3D-AEF8-991DE2EFAD01}"/>
                </a:ext>
              </a:extLst>
            </p:cNvPr>
            <p:cNvSpPr>
              <a:spLocks/>
            </p:cNvSpPr>
            <p:nvPr/>
          </p:nvSpPr>
          <p:spPr>
            <a:xfrm>
              <a:off x="2596563" y="3394377"/>
              <a:ext cx="267462" cy="267462"/>
            </a:xfrm>
            <a:custGeom>
              <a:avLst/>
              <a:gdLst/>
              <a:ahLst/>
              <a:cxnLst/>
              <a:rect l="0" t="0" r="0" b="0"/>
              <a:pathLst>
                <a:path w="267462" h="267462">
                  <a:moveTo>
                    <a:pt x="0" y="0"/>
                  </a:moveTo>
                  <a:lnTo>
                    <a:pt x="1277" y="9466"/>
                  </a:lnTo>
                  <a:lnTo>
                    <a:pt x="3050" y="18835"/>
                  </a:lnTo>
                  <a:lnTo>
                    <a:pt x="5303" y="28105"/>
                  </a:lnTo>
                  <a:lnTo>
                    <a:pt x="8021" y="37273"/>
                  </a:lnTo>
                  <a:lnTo>
                    <a:pt x="11188" y="46335"/>
                  </a:lnTo>
                  <a:lnTo>
                    <a:pt x="14790" y="55290"/>
                  </a:lnTo>
                  <a:lnTo>
                    <a:pt x="18810" y="64133"/>
                  </a:lnTo>
                  <a:lnTo>
                    <a:pt x="23234" y="72863"/>
                  </a:lnTo>
                  <a:lnTo>
                    <a:pt x="28045" y="81476"/>
                  </a:lnTo>
                  <a:lnTo>
                    <a:pt x="33230" y="89969"/>
                  </a:lnTo>
                  <a:lnTo>
                    <a:pt x="38772" y="98339"/>
                  </a:lnTo>
                  <a:lnTo>
                    <a:pt x="44656" y="106585"/>
                  </a:lnTo>
                  <a:lnTo>
                    <a:pt x="50867" y="114702"/>
                  </a:lnTo>
                  <a:lnTo>
                    <a:pt x="57389" y="122687"/>
                  </a:lnTo>
                  <a:lnTo>
                    <a:pt x="64208" y="130539"/>
                  </a:lnTo>
                  <a:lnTo>
                    <a:pt x="71307" y="138254"/>
                  </a:lnTo>
                  <a:lnTo>
                    <a:pt x="78671" y="145828"/>
                  </a:lnTo>
                  <a:lnTo>
                    <a:pt x="86286" y="153260"/>
                  </a:lnTo>
                  <a:lnTo>
                    <a:pt x="94135" y="160547"/>
                  </a:lnTo>
                  <a:lnTo>
                    <a:pt x="102203" y="167684"/>
                  </a:lnTo>
                  <a:lnTo>
                    <a:pt x="110476" y="174671"/>
                  </a:lnTo>
                  <a:lnTo>
                    <a:pt x="118937" y="181503"/>
                  </a:lnTo>
                  <a:lnTo>
                    <a:pt x="127572" y="188177"/>
                  </a:lnTo>
                  <a:lnTo>
                    <a:pt x="136365" y="194692"/>
                  </a:lnTo>
                  <a:lnTo>
                    <a:pt x="145300" y="201043"/>
                  </a:lnTo>
                  <a:lnTo>
                    <a:pt x="154363" y="207229"/>
                  </a:lnTo>
                  <a:lnTo>
                    <a:pt x="163537" y="213246"/>
                  </a:lnTo>
                  <a:lnTo>
                    <a:pt x="172808" y="219091"/>
                  </a:lnTo>
                  <a:lnTo>
                    <a:pt x="182161" y="224761"/>
                  </a:lnTo>
                  <a:lnTo>
                    <a:pt x="191580" y="230255"/>
                  </a:lnTo>
                  <a:lnTo>
                    <a:pt x="201049" y="235567"/>
                  </a:lnTo>
                  <a:lnTo>
                    <a:pt x="210553" y="240697"/>
                  </a:lnTo>
                  <a:lnTo>
                    <a:pt x="220078" y="245640"/>
                  </a:lnTo>
                  <a:lnTo>
                    <a:pt x="229607" y="250394"/>
                  </a:lnTo>
                  <a:lnTo>
                    <a:pt x="239125" y="254956"/>
                  </a:lnTo>
                  <a:lnTo>
                    <a:pt x="248617" y="259323"/>
                  </a:lnTo>
                  <a:lnTo>
                    <a:pt x="258068" y="263493"/>
                  </a:lnTo>
                  <a:lnTo>
                    <a:pt x="267462" y="267462"/>
                  </a:lnTo>
                </a:path>
              </a:pathLst>
            </a:custGeom>
            <a:noFill/>
            <a:ln w="18965">
              <a:solidFill>
                <a:srgbClr val="7C6F92"/>
              </a:solidFill>
              <a:prstDash val="dash"/>
            </a:ln>
          </p:spPr>
          <p:txBody>
            <a:bodyPr/>
            <a:p/>
          </p:txBody>
        </p:sp>
        <p:sp>
          <p:nvSpPr>
            <p:cNvPr id="299" name="maternal-M1-EastAfrica-Madagascar-head">
              <a:extLst>
                <a:ext uri="{FF2B5EF4-FFF2-40B4-BE49-F238E27FC236}">
                  <a16:creationId xmlns:a16="http://schemas.microsoft.com/office/drawing/2014/main" id="{1999FBA2-25F0-4506-98A8-43AFCC0D925C}"/>
                </a:ext>
              </a:extLst>
            </p:cNvPr>
            <p:cNvSpPr>
              <a:spLocks/>
            </p:cNvSpPr>
            <p:nvPr/>
          </p:nvSpPr>
          <p:spPr>
            <a:xfrm>
              <a:off x="2776310" y="3597534"/>
              <a:ext cx="87714" cy="66332"/>
            </a:xfrm>
            <a:custGeom>
              <a:avLst/>
              <a:gdLst/>
              <a:ahLst/>
              <a:cxnLst/>
              <a:rect l="0" t="0" r="0" b="0"/>
              <a:pathLst>
                <a:path w="87714" h="66332">
                  <a:moveTo>
                    <a:pt x="87714" y="64305"/>
                  </a:moveTo>
                  <a:lnTo>
                    <a:pt x="28025" y="0"/>
                  </a:lnTo>
                  <a:lnTo>
                    <a:pt x="0" y="66332"/>
                  </a:lnTo>
                  <a:close/>
                </a:path>
              </a:pathLst>
            </a:custGeom>
            <a:solidFill>
              <a:srgbClr val="7C6F92"/>
            </a:solidFill>
            <a:ln w="0">
              <a:noFill/>
              <a:prstDash val="solid"/>
            </a:ln>
          </p:spPr>
          <p:txBody>
            <a:bodyPr/>
            <a:p/>
          </p:txBody>
        </p:sp>
        <p:sp>
          <p:nvSpPr>
            <p:cNvPr id="300" name="maternal-M2-source-Madagascar">
              <a:extLst>
                <a:ext uri="{FF2B5EF4-FFF2-40B4-BE49-F238E27FC236}">
                  <a16:creationId xmlns:a16="http://schemas.microsoft.com/office/drawing/2014/main" id="{AD60415D-EA6A-4768-BAF7-A4F79C4E9F1E}"/>
                </a:ext>
              </a:extLst>
            </p:cNvPr>
            <p:cNvSpPr>
              <a:spLocks/>
            </p:cNvSpPr>
            <p:nvPr/>
          </p:nvSpPr>
          <p:spPr>
            <a:xfrm>
              <a:off x="2863991" y="2927048"/>
              <a:ext cx="972937" cy="734786"/>
            </a:xfrm>
            <a:custGeom>
              <a:avLst/>
              <a:gdLst/>
              <a:ahLst/>
              <a:cxnLst/>
              <a:rect l="0" t="0" r="0" b="0"/>
              <a:pathLst>
                <a:path w="1368192" h="1033292">
                  <a:moveTo>
                    <a:pt x="1344612" y="0"/>
                  </a:moveTo>
                  <a:lnTo>
                    <a:pt x="1356547" y="56966"/>
                  </a:lnTo>
                  <a:lnTo>
                    <a:pt x="1364364" y="111871"/>
                  </a:lnTo>
                  <a:lnTo>
                    <a:pt x="1368192" y="164752"/>
                  </a:lnTo>
                  <a:lnTo>
                    <a:pt x="1368163" y="215647"/>
                  </a:lnTo>
                  <a:lnTo>
                    <a:pt x="1364405" y="264594"/>
                  </a:lnTo>
                  <a:lnTo>
                    <a:pt x="1357050" y="311630"/>
                  </a:lnTo>
                  <a:lnTo>
                    <a:pt x="1346227" y="356793"/>
                  </a:lnTo>
                  <a:lnTo>
                    <a:pt x="1332066" y="400120"/>
                  </a:lnTo>
                  <a:lnTo>
                    <a:pt x="1314697" y="441650"/>
                  </a:lnTo>
                  <a:lnTo>
                    <a:pt x="1294251" y="481420"/>
                  </a:lnTo>
                  <a:lnTo>
                    <a:pt x="1270856" y="519467"/>
                  </a:lnTo>
                  <a:lnTo>
                    <a:pt x="1244644" y="555830"/>
                  </a:lnTo>
                  <a:lnTo>
                    <a:pt x="1215744" y="590545"/>
                  </a:lnTo>
                  <a:lnTo>
                    <a:pt x="1184286" y="623651"/>
                  </a:lnTo>
                  <a:lnTo>
                    <a:pt x="1150400" y="655186"/>
                  </a:lnTo>
                  <a:lnTo>
                    <a:pt x="1114216" y="685186"/>
                  </a:lnTo>
                  <a:lnTo>
                    <a:pt x="1075865" y="713690"/>
                  </a:lnTo>
                  <a:lnTo>
                    <a:pt x="1035476" y="740735"/>
                  </a:lnTo>
                  <a:lnTo>
                    <a:pt x="993180" y="766359"/>
                  </a:lnTo>
                  <a:lnTo>
                    <a:pt x="949105" y="790599"/>
                  </a:lnTo>
                  <a:lnTo>
                    <a:pt x="903383" y="813494"/>
                  </a:lnTo>
                  <a:lnTo>
                    <a:pt x="856144" y="835080"/>
                  </a:lnTo>
                  <a:lnTo>
                    <a:pt x="807516" y="855396"/>
                  </a:lnTo>
                  <a:lnTo>
                    <a:pt x="757631" y="874480"/>
                  </a:lnTo>
                  <a:lnTo>
                    <a:pt x="706619" y="892368"/>
                  </a:lnTo>
                  <a:lnTo>
                    <a:pt x="654609" y="909098"/>
                  </a:lnTo>
                  <a:lnTo>
                    <a:pt x="601731" y="924709"/>
                  </a:lnTo>
                  <a:lnTo>
                    <a:pt x="548116" y="939238"/>
                  </a:lnTo>
                  <a:lnTo>
                    <a:pt x="493893" y="952722"/>
                  </a:lnTo>
                  <a:lnTo>
                    <a:pt x="439192" y="965200"/>
                  </a:lnTo>
                  <a:lnTo>
                    <a:pt x="384145" y="976708"/>
                  </a:lnTo>
                  <a:lnTo>
                    <a:pt x="328879" y="987285"/>
                  </a:lnTo>
                  <a:lnTo>
                    <a:pt x="273526" y="996967"/>
                  </a:lnTo>
                  <a:lnTo>
                    <a:pt x="218216" y="1005794"/>
                  </a:lnTo>
                  <a:lnTo>
                    <a:pt x="163078" y="1013802"/>
                  </a:lnTo>
                  <a:lnTo>
                    <a:pt x="108243" y="1021030"/>
                  </a:lnTo>
                  <a:lnTo>
                    <a:pt x="53840" y="1027514"/>
                  </a:lnTo>
                  <a:lnTo>
                    <a:pt x="0" y="1033292"/>
                  </a:lnTo>
                </a:path>
              </a:pathLst>
            </a:custGeom>
            <a:noFill/>
            <a:ln w="18965">
              <a:solidFill>
                <a:srgbClr val="7C6F92"/>
              </a:solidFill>
              <a:prstDash val="dash"/>
            </a:ln>
          </p:spPr>
          <p:txBody>
            <a:bodyPr/>
            <a:p/>
          </p:txBody>
        </p:sp>
        <p:sp>
          <p:nvSpPr>
            <p:cNvPr id="301" name="maternal-M2-source-Madagascar-head">
              <a:extLst>
                <a:ext uri="{FF2B5EF4-FFF2-40B4-BE49-F238E27FC236}">
                  <a16:creationId xmlns:a16="http://schemas.microsoft.com/office/drawing/2014/main" id="{411A9095-C471-48B6-9C63-64E516783E7D}"/>
                </a:ext>
              </a:extLst>
            </p:cNvPr>
            <p:cNvSpPr>
              <a:spLocks/>
            </p:cNvSpPr>
            <p:nvPr/>
          </p:nvSpPr>
          <p:spPr>
            <a:xfrm>
              <a:off x="2863991" y="3616792"/>
              <a:ext cx="84719" cy="72734"/>
            </a:xfrm>
            <a:custGeom>
              <a:avLst/>
              <a:gdLst/>
              <a:ahLst/>
              <a:cxnLst/>
              <a:rect l="0" t="0" r="0" b="0"/>
              <a:pathLst>
                <a:path w="119136" h="102283">
                  <a:moveTo>
                    <a:pt x="0" y="63339"/>
                  </a:moveTo>
                  <a:lnTo>
                    <a:pt x="119136" y="102283"/>
                  </a:lnTo>
                  <a:lnTo>
                    <a:pt x="108158" y="0"/>
                  </a:lnTo>
                  <a:close/>
                </a:path>
              </a:pathLst>
            </a:custGeom>
            <a:solidFill>
              <a:srgbClr val="7C6F92"/>
            </a:solidFill>
            <a:ln w="0">
              <a:noFill/>
              <a:prstDash val="solid"/>
            </a:ln>
          </p:spPr>
          <p:txBody>
            <a:bodyPr/>
            <a:p/>
          </p:txBody>
        </p:sp>
        <p:sp>
          <p:nvSpPr>
            <p:cNvPr id="302" name="maternal-shared-link-label">
              <a:extLst>
                <a:ext uri="{FF2B5EF4-FFF2-40B4-BE49-F238E27FC236}">
                  <a16:creationId xmlns:a16="http://schemas.microsoft.com/office/drawing/2014/main" id="{17902915-F400-4C52-AB4C-473E7B029BA4}"/>
                </a:ext>
              </a:extLst>
            </p:cNvPr>
            <p:cNvSpPr>
              <a:spLocks/>
            </p:cNvSpPr>
            <p:nvPr/>
          </p:nvSpPr>
          <p:spPr>
            <a:xfrm>
              <a:off x="3048000" y="3217333"/>
              <a:ext cx="887349" cy="209931"/>
            </a:xfrm>
            <a:prstGeom prst="rect">
              <a:avLst/>
            </a:prstGeom>
            <a:noFill/>
            <a:ln w="0">
              <a:noFill/>
            </a:ln>
          </p:spPr>
          <p:txBody>
            <a:bodyPr wrap="none" lIns="0" tIns="0" rIns="0" bIns="0" anchor="t">
              <a:noAutofit/>
            </a:bodyPr>
            <a:lstStyle>
              <a:defPPr algn="l">
                <a:defRPr sz="1147" b="0">
                  <a:solidFill>
                    <a:srgbClr val="7C6F92"/>
                  </a:solidFill>
                  <a:latin typeface="Microsoft YaHei"/>
                  <a:ea typeface="Microsoft YaHei"/>
                  <a:cs typeface="Microsoft YaHei"/>
                </a:defRPr>
              </a:defPPr>
            </a:lstStyle>
            <a:p>
              <a:pPr algn="l">
                <a:lnSpc>
                  <a:spcPct val="100000"/>
                </a:lnSpc>
                <a:buNone/>
                <a:defRPr sz="1147" b="0">
                  <a:solidFill>
                    <a:srgbClr val="7C6F92"/>
                  </a:solidFill>
                  <a:latin typeface="Microsoft YaHei"/>
                  <a:ea typeface="Microsoft YaHei"/>
                  <a:cs typeface="Microsoft YaHei"/>
                </a:defRPr>
              </a:pPr>
              <a:r>
                <a:rPr sz="1147">
                  <a:solidFill>
                    <a:srgbClr val="7C6F92"/>
                  </a:solidFill>
                  <a:latin typeface="Microsoft YaHei"/>
                  <a:ea typeface="Microsoft YaHei"/>
                  <a:cs typeface="Microsoft YaHei"/>
                </a:rPr>
                <a:t>M1／M2</a:t>
              </a:r>
            </a:p>
          </p:txBody>
        </p:sp>
        <p:sp>
          <p:nvSpPr>
            <p:cNvPr id="303" name="maternal-M1-link-label">
              <a:extLst>
                <a:ext uri="{FF2B5EF4-FFF2-40B4-BE49-F238E27FC236}">
                  <a16:creationId xmlns:a16="http://schemas.microsoft.com/office/drawing/2014/main" id="{CB9E1BDA-CAC9-4C00-8DBB-07A0C2C53AA0}"/>
                </a:ext>
              </a:extLst>
            </p:cNvPr>
            <p:cNvSpPr>
              <a:spLocks/>
            </p:cNvSpPr>
            <p:nvPr/>
          </p:nvSpPr>
          <p:spPr>
            <a:xfrm>
              <a:off x="2316480" y="3793067"/>
              <a:ext cx="413195" cy="209931"/>
            </a:xfrm>
            <a:prstGeom prst="rect">
              <a:avLst/>
            </a:prstGeom>
            <a:noFill/>
            <a:ln w="0">
              <a:noFill/>
            </a:ln>
          </p:spPr>
          <p:txBody>
            <a:bodyPr wrap="none" lIns="0" tIns="0" rIns="0" bIns="0" anchor="t">
              <a:noAutofit/>
            </a:bodyPr>
            <a:lstStyle>
              <a:defPPr algn="l">
                <a:defRPr sz="1147" b="0">
                  <a:solidFill>
                    <a:srgbClr val="7C6F92"/>
                  </a:solidFill>
                  <a:latin typeface="Microsoft YaHei"/>
                  <a:ea typeface="Microsoft YaHei"/>
                  <a:cs typeface="Microsoft YaHei"/>
                </a:defRPr>
              </a:defPPr>
            </a:lstStyle>
            <a:p>
              <a:pPr algn="l">
                <a:lnSpc>
                  <a:spcPct val="100000"/>
                </a:lnSpc>
                <a:buNone/>
                <a:defRPr sz="1147" b="0">
                  <a:solidFill>
                    <a:srgbClr val="7C6F92"/>
                  </a:solidFill>
                  <a:latin typeface="Microsoft YaHei"/>
                  <a:ea typeface="Microsoft YaHei"/>
                  <a:cs typeface="Microsoft YaHei"/>
                </a:defRPr>
              </a:pPr>
              <a:r>
                <a:rPr sz="1147">
                  <a:solidFill>
                    <a:srgbClr val="7C6F92"/>
                  </a:solidFill>
                  <a:latin typeface="Microsoft YaHei"/>
                  <a:ea typeface="Microsoft YaHei"/>
                  <a:cs typeface="Microsoft YaHei"/>
                </a:rPr>
                <a:t>M1</a:t>
              </a:r>
            </a:p>
          </p:txBody>
        </p:sp>
        <p:sp>
          <p:nvSpPr>
            <p:cNvPr id="304" name="maternal-M2-link-label">
              <a:extLst>
                <a:ext uri="{FF2B5EF4-FFF2-40B4-BE49-F238E27FC236}">
                  <a16:creationId xmlns:a16="http://schemas.microsoft.com/office/drawing/2014/main" id="{B7C132C1-E6EA-49F1-B069-C46F120AEAE5}"/>
                </a:ext>
              </a:extLst>
            </p:cNvPr>
            <p:cNvSpPr>
              <a:spLocks/>
            </p:cNvSpPr>
            <p:nvPr/>
          </p:nvSpPr>
          <p:spPr>
            <a:xfrm>
              <a:off x="4145280" y="3373120"/>
              <a:ext cx="413195" cy="209931"/>
            </a:xfrm>
            <a:prstGeom prst="rect">
              <a:avLst/>
            </a:prstGeom>
            <a:noFill/>
            <a:ln w="0">
              <a:noFill/>
            </a:ln>
          </p:spPr>
          <p:txBody>
            <a:bodyPr wrap="none" lIns="0" tIns="0" rIns="0" bIns="0" anchor="t">
              <a:noAutofit/>
            </a:bodyPr>
            <a:lstStyle>
              <a:defPPr algn="l">
                <a:defRPr sz="1147" b="0">
                  <a:solidFill>
                    <a:srgbClr val="7C6F92"/>
                  </a:solidFill>
                  <a:latin typeface="Microsoft YaHei"/>
                  <a:ea typeface="Microsoft YaHei"/>
                  <a:cs typeface="Microsoft YaHei"/>
                </a:defRPr>
              </a:defPPr>
            </a:lstStyle>
            <a:p>
              <a:pPr algn="l">
                <a:lnSpc>
                  <a:spcPct val="100000"/>
                </a:lnSpc>
                <a:buNone/>
                <a:defRPr sz="1147" b="0">
                  <a:solidFill>
                    <a:srgbClr val="7C6F92"/>
                  </a:solidFill>
                  <a:latin typeface="Microsoft YaHei"/>
                  <a:ea typeface="Microsoft YaHei"/>
                  <a:cs typeface="Microsoft YaHei"/>
                </a:defRPr>
              </a:pPr>
              <a:r>
                <a:rPr sz="1147">
                  <a:solidFill>
                    <a:srgbClr val="7C6F92"/>
                  </a:solidFill>
                  <a:latin typeface="Microsoft YaHei"/>
                  <a:ea typeface="Microsoft YaHei"/>
                  <a:cs typeface="Microsoft YaHei"/>
                </a:rPr>
                <a:t>M2</a:t>
              </a:r>
            </a:p>
          </p:txBody>
        </p:sp>
        <p:sp>
          <p:nvSpPr>
            <p:cNvPr id="306" name="colonial-Atlantic-to-Florida">
              <a:extLst>
                <a:ext uri="{FF2B5EF4-FFF2-40B4-BE49-F238E27FC236}">
                  <a16:creationId xmlns:a16="http://schemas.microsoft.com/office/drawing/2014/main" id="{0242F54A-043E-4192-AD06-299E0D999F74}"/>
                </a:ext>
              </a:extLst>
            </p:cNvPr>
            <p:cNvSpPr>
              <a:spLocks/>
            </p:cNvSpPr>
            <p:nvPr/>
          </p:nvSpPr>
          <p:spPr>
            <a:xfrm>
              <a:off x="10186178" y="2255162"/>
              <a:ext cx="796307" cy="92226"/>
            </a:xfrm>
            <a:custGeom>
              <a:avLst/>
              <a:gdLst/>
              <a:ahLst/>
              <a:cxnLst/>
              <a:rect l="0" t="0" r="0" b="0"/>
              <a:pathLst>
                <a:path w="796307" h="92226">
                  <a:moveTo>
                    <a:pt x="796307" y="1345"/>
                  </a:moveTo>
                  <a:lnTo>
                    <a:pt x="784816" y="489"/>
                  </a:lnTo>
                  <a:lnTo>
                    <a:pt x="771791" y="48"/>
                  </a:lnTo>
                  <a:lnTo>
                    <a:pt x="757316" y="0"/>
                  </a:lnTo>
                  <a:lnTo>
                    <a:pt x="741476" y="327"/>
                  </a:lnTo>
                  <a:lnTo>
                    <a:pt x="724358" y="1008"/>
                  </a:lnTo>
                  <a:lnTo>
                    <a:pt x="706046" y="2023"/>
                  </a:lnTo>
                  <a:lnTo>
                    <a:pt x="686625" y="3354"/>
                  </a:lnTo>
                  <a:lnTo>
                    <a:pt x="666181" y="4979"/>
                  </a:lnTo>
                  <a:lnTo>
                    <a:pt x="644800" y="6879"/>
                  </a:lnTo>
                  <a:lnTo>
                    <a:pt x="622565" y="9034"/>
                  </a:lnTo>
                  <a:lnTo>
                    <a:pt x="599563" y="11424"/>
                  </a:lnTo>
                  <a:lnTo>
                    <a:pt x="575879" y="14029"/>
                  </a:lnTo>
                  <a:lnTo>
                    <a:pt x="551598" y="16830"/>
                  </a:lnTo>
                  <a:lnTo>
                    <a:pt x="526806" y="19806"/>
                  </a:lnTo>
                  <a:lnTo>
                    <a:pt x="501587" y="22938"/>
                  </a:lnTo>
                  <a:lnTo>
                    <a:pt x="476027" y="26206"/>
                  </a:lnTo>
                  <a:lnTo>
                    <a:pt x="450211" y="29590"/>
                  </a:lnTo>
                  <a:lnTo>
                    <a:pt x="424225" y="33070"/>
                  </a:lnTo>
                  <a:lnTo>
                    <a:pt x="398153" y="36626"/>
                  </a:lnTo>
                  <a:lnTo>
                    <a:pt x="372082" y="40238"/>
                  </a:lnTo>
                  <a:lnTo>
                    <a:pt x="346095" y="43887"/>
                  </a:lnTo>
                  <a:lnTo>
                    <a:pt x="320280" y="47552"/>
                  </a:lnTo>
                  <a:lnTo>
                    <a:pt x="294720" y="51214"/>
                  </a:lnTo>
                  <a:lnTo>
                    <a:pt x="269501" y="54852"/>
                  </a:lnTo>
                  <a:lnTo>
                    <a:pt x="244708" y="58448"/>
                  </a:lnTo>
                  <a:lnTo>
                    <a:pt x="220427" y="61980"/>
                  </a:lnTo>
                  <a:lnTo>
                    <a:pt x="196743" y="65430"/>
                  </a:lnTo>
                  <a:lnTo>
                    <a:pt x="173741" y="68777"/>
                  </a:lnTo>
                  <a:lnTo>
                    <a:pt x="151507" y="72002"/>
                  </a:lnTo>
                  <a:lnTo>
                    <a:pt x="130125" y="75084"/>
                  </a:lnTo>
                  <a:lnTo>
                    <a:pt x="109681" y="78003"/>
                  </a:lnTo>
                  <a:lnTo>
                    <a:pt x="90261" y="80741"/>
                  </a:lnTo>
                  <a:lnTo>
                    <a:pt x="71949" y="83276"/>
                  </a:lnTo>
                  <a:lnTo>
                    <a:pt x="54830" y="85590"/>
                  </a:lnTo>
                  <a:lnTo>
                    <a:pt x="38991" y="87661"/>
                  </a:lnTo>
                  <a:lnTo>
                    <a:pt x="24516" y="89471"/>
                  </a:lnTo>
                  <a:lnTo>
                    <a:pt x="11491" y="90999"/>
                  </a:lnTo>
                  <a:lnTo>
                    <a:pt x="0" y="92226"/>
                  </a:lnTo>
                </a:path>
              </a:pathLst>
            </a:custGeom>
            <a:noFill/>
            <a:ln w="18965">
              <a:solidFill>
                <a:srgbClr val="8B688E"/>
              </a:solidFill>
              <a:prstDash val="solid"/>
            </a:ln>
          </p:spPr>
          <p:txBody>
            <a:bodyPr/>
            <a:p/>
          </p:txBody>
        </p:sp>
        <p:sp>
          <p:nvSpPr>
            <p:cNvPr id="307" name="colonial-Atlantic-to-Florida-head">
              <a:extLst>
                <a:ext uri="{FF2B5EF4-FFF2-40B4-BE49-F238E27FC236}">
                  <a16:creationId xmlns:a16="http://schemas.microsoft.com/office/drawing/2014/main" id="{1F37676B-E333-43DF-9D2F-14D05E483AC1}"/>
                </a:ext>
              </a:extLst>
            </p:cNvPr>
            <p:cNvSpPr>
              <a:spLocks/>
            </p:cNvSpPr>
            <p:nvPr/>
          </p:nvSpPr>
          <p:spPr>
            <a:xfrm>
              <a:off x="10186178" y="2303093"/>
              <a:ext cx="83380" cy="71602"/>
            </a:xfrm>
            <a:custGeom>
              <a:avLst/>
              <a:gdLst/>
              <a:ahLst/>
              <a:cxnLst/>
              <a:rect l="0" t="0" r="0" b="0"/>
              <a:pathLst>
                <a:path w="83380" h="71602">
                  <a:moveTo>
                    <a:pt x="0" y="44295"/>
                  </a:moveTo>
                  <a:lnTo>
                    <a:pt x="83380" y="71602"/>
                  </a:lnTo>
                  <a:lnTo>
                    <a:pt x="75735" y="0"/>
                  </a:lnTo>
                  <a:close/>
                </a:path>
              </a:pathLst>
            </a:custGeom>
            <a:solidFill>
              <a:srgbClr val="8B688E"/>
            </a:solidFill>
            <a:ln w="0">
              <a:noFill/>
              <a:prstDash val="solid"/>
            </a:ln>
          </p:spPr>
          <p:txBody>
            <a:bodyPr/>
            <a:p/>
          </p:txBody>
        </p:sp>
        <p:sp>
          <p:nvSpPr>
            <p:cNvPr id="308" name="record-leader-added-2">
              <a:extLst>
                <a:ext uri="{FF2B5EF4-FFF2-40B4-BE49-F238E27FC236}">
                  <a16:creationId xmlns:a16="http://schemas.microsoft.com/office/drawing/2014/main" id="{B8F13E9F-A706-4707-A5AB-F1D1C4FE2592}"/>
                </a:ext>
              </a:extLst>
            </p:cNvPr>
            <p:cNvSpPr>
              <a:spLocks/>
            </p:cNvSpPr>
            <p:nvPr/>
          </p:nvSpPr>
          <p:spPr>
            <a:xfrm>
              <a:off x="3695700" y="2551509"/>
              <a:ext cx="20145" cy="96441"/>
            </a:xfrm>
            <a:custGeom>
              <a:avLst/>
              <a:gdLst/>
              <a:ahLst/>
              <a:cxnLst/>
              <a:rect l="0" t="0" r="0" b="0"/>
              <a:pathLst>
                <a:path w="20145" h="96441">
                  <a:moveTo>
                    <a:pt x="20145" y="0"/>
                  </a:moveTo>
                  <a:lnTo>
                    <a:pt x="0" y="96441"/>
                  </a:lnTo>
                </a:path>
              </a:pathLst>
            </a:custGeom>
            <a:noFill/>
            <a:ln w="10478">
              <a:solidFill>
                <a:srgbClr val="879993"/>
              </a:solidFill>
              <a:prstDash val="solid"/>
            </a:ln>
          </p:spPr>
          <p:txBody>
            <a:bodyPr/>
            <a:p/>
          </p:txBody>
        </p:sp>
        <p:sp>
          <p:nvSpPr>
            <p:cNvPr id="309" name="model-and-route-explanation">
              <a:extLst>
                <a:ext uri="{FF2B5EF4-FFF2-40B4-BE49-F238E27FC236}">
                  <a16:creationId xmlns:a16="http://schemas.microsoft.com/office/drawing/2014/main" id="{A5EFD3CF-DF68-4784-943D-3E1903FEAF4B}"/>
                </a:ext>
              </a:extLst>
            </p:cNvPr>
            <p:cNvSpPr>
              <a:spLocks/>
            </p:cNvSpPr>
            <p:nvPr/>
          </p:nvSpPr>
          <p:spPr>
            <a:xfrm>
              <a:off x="406432" y="5193030"/>
              <a:ext cx="11382375" cy="274320"/>
            </a:xfrm>
            <a:prstGeom prst="rect">
              <a:avLst/>
            </a:prstGeom>
            <a:noFill/>
            <a:ln w="0">
              <a:noFill/>
            </a:ln>
          </p:spPr>
          <p:txBody>
            <a:bodyPr wrap="none" lIns="0" tIns="0" rIns="0" bIns="0" anchor="t">
              <a:noAutofit/>
            </a:bodyPr>
            <a:lstStyle>
              <a:defPPr algn="l">
                <a:defRPr sz="923">
                  <a:solidFill>
                    <a:srgbClr val="627470"/>
                  </a:solidFill>
                  <a:latin typeface="Microsoft YaHei"/>
                  <a:ea typeface="Microsoft YaHei"/>
                  <a:cs typeface="Microsoft YaHei"/>
                </a:defRPr>
              </a:defPPr>
            </a:lstStyle>
            <a:p>
              <a:pPr algn="l">
                <a:lnSpc>
                  <a:spcPct val="108000"/>
                </a:lnSpc>
                <a:buNone/>
                <a:defRPr sz="923">
                  <a:solidFill>
                    <a:srgbClr val="627470"/>
                  </a:solidFill>
                  <a:latin typeface="Microsoft YaHei"/>
                  <a:ea typeface="Microsoft YaHei"/>
                  <a:cs typeface="Microsoft YaHei"/>
                </a:defRPr>
              </a:pPr>
              <a:r>
                <a:rPr sz="923">
                  <a:solidFill>
                    <a:srgbClr val="627470"/>
                  </a:solidFill>
                  <a:latin typeface="Microsoft YaHei"/>
                  <a:ea typeface="Microsoft YaHei"/>
                  <a:cs typeface="Microsoft YaHei"/>
                </a:rPr>
                <a:t>M1：南亚经东非传入马达加斯加的较早假说。M2：东非与马达加斯加分别接受外来种源。两者均基于母系资料。</a:t>
              </a:r>
            </a:p>
            <a:p>
              <a:pPr algn="l">
                <a:lnSpc>
                  <a:spcPct val="108000"/>
                </a:lnSpc>
                <a:buNone/>
                <a:defRPr sz="923">
                  <a:solidFill>
                    <a:srgbClr val="627470"/>
                  </a:solidFill>
                  <a:latin typeface="Microsoft YaHei"/>
                  <a:ea typeface="Microsoft YaHei"/>
                  <a:cs typeface="Microsoft YaHei"/>
                </a:defRPr>
              </a:pPr>
              <a:r>
                <a:rPr sz="923">
                  <a:solidFill>
                    <a:srgbClr val="627470"/>
                  </a:solidFill>
                  <a:latin typeface="Microsoft YaHei"/>
                  <a:ea typeface="Microsoft YaHei"/>
                  <a:cs typeface="Microsoft YaHei"/>
                </a:rPr>
                <a:t>M2源端示意西亚（含印度和北非）来源。箭头概括区域联系，不表示精确传播路径。两侧A相接，编号与表1对应。</a:t>
              </a:r>
            </a:p>
          </p:txBody>
        </p:sp>
      </p:grpSp>
    </p:spTree>
    <p:extLst>
      <p:ext uri="{BB962C8B-B14F-4D97-AF65-F5344CB8AC3E}">
        <p14:creationId xmlns:p14="http://schemas.microsoft.com/office/powerpoint/2010/main" val="138064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0" name="Fig2_2_editable_figure">
            <a:extLst>
              <a:ext uri="{FF2B5EF4-FFF2-40B4-BE49-F238E27FC236}">
                <a16:creationId xmlns:a16="http://schemas.microsoft.com/office/drawing/2014/main" id="{ED27B786-3DEE-4A9D-84AD-F93D3ABB769D}"/>
              </a:ext>
            </a:extLst>
          </p:cNvPr>
          <p:cNvGrpSpPr>
            <a:grpSpLocks noChangeAspect="1"/>
          </p:cNvGrpSpPr>
          <p:nvPr/>
        </p:nvGrpSpPr>
        <p:grpSpPr>
          <a:xfrm>
            <a:off x="203200" y="821267"/>
            <a:ext cx="11931650" cy="5331883"/>
            <a:chOff x="203200" y="135467"/>
            <a:chExt cx="11931650" cy="5331883"/>
          </a:xfrm>
        </p:grpSpPr>
        <p:sp>
          <p:nvSpPr>
            <p:cNvPr id="305" name="ancestry-key">
              <a:extLst>
                <a:ext uri="{FF2B5EF4-FFF2-40B4-BE49-F238E27FC236}">
                  <a16:creationId xmlns:a16="http://schemas.microsoft.com/office/drawing/2014/main" id="{ED08A9A4-B9C4-4945-80C2-F332E78A7858}"/>
                </a:ext>
              </a:extLst>
            </p:cNvPr>
            <p:cNvSpPr>
              <a:spLocks/>
            </p:cNvSpPr>
            <p:nvPr/>
          </p:nvSpPr>
          <p:spPr>
            <a:xfrm>
              <a:off x="406400" y="169333"/>
              <a:ext cx="196427" cy="149013"/>
            </a:xfrm>
            <a:prstGeom prst="rect">
              <a:avLst/>
            </a:prstGeom>
            <a:solidFill>
              <a:srgbClr val="F0C660"/>
            </a:solidFill>
            <a:ln w="8128">
              <a:solidFill>
                <a:srgbClr val="B88B34"/>
              </a:solidFill>
            </a:ln>
          </p:spPr>
          <p:txBody>
            <a:bodyPr/>
            <a:p/>
          </p:txBody>
        </p:sp>
        <p:sp>
          <p:nvSpPr>
            <p:cNvPr id="2" name="ancestry-key-label">
              <a:extLst>
                <a:ext uri="{FF2B5EF4-FFF2-40B4-BE49-F238E27FC236}">
                  <a16:creationId xmlns:a16="http://schemas.microsoft.com/office/drawing/2014/main" id="{94AA0A6F-2BD2-476D-8415-BEE4F3B79CFB}"/>
                </a:ext>
              </a:extLst>
            </p:cNvPr>
            <p:cNvSpPr>
              <a:spLocks/>
            </p:cNvSpPr>
            <p:nvPr/>
          </p:nvSpPr>
          <p:spPr>
            <a:xfrm>
              <a:off x="697653" y="135467"/>
              <a:ext cx="2607733" cy="298027"/>
            </a:xfrm>
            <a:prstGeom prst="rect">
              <a:avLst/>
            </a:prstGeom>
            <a:noFill/>
            <a:ln w="0">
              <a:noFill/>
            </a:ln>
          </p:spPr>
          <p:txBody>
            <a:bodyPr wrap="none" lIns="0" tIns="0" rIns="0" bIns="0" anchor="t">
              <a:noAutofit/>
            </a:bodyPr>
            <a:lstStyle>
              <a:defPPr algn="l">
                <a:defRPr sz="1388" b="0">
                  <a:solidFill>
                    <a:srgbClr val="293D3B"/>
                  </a:solidFill>
                  <a:latin typeface="Arial"/>
                  <a:ea typeface="Arial"/>
                  <a:cs typeface="Arial"/>
                </a:defRPr>
              </a:defPPr>
            </a:lstStyle>
            <a:p>
              <a:pPr algn="l">
                <a:defRPr sz="1388" b="0">
                  <a:solidFill>
                    <a:srgbClr val="293D3B"/>
                  </a:solidFill>
                  <a:latin typeface="Arial"/>
                  <a:ea typeface="Arial"/>
                  <a:cs typeface="Arial"/>
                </a:defRPr>
              </a:pPr>
              <a:r>
                <a:rPr sz="1388" i="1">
                  <a:solidFill>
                    <a:srgbClr val="293D3B"/>
                  </a:solidFill>
                  <a:latin typeface="Arial"/>
                  <a:ea typeface="Arial"/>
                  <a:cs typeface="Arial"/>
                </a:rPr>
                <a:t>spadiceus</a:t>
              </a:r>
              <a:r>
                <a:rPr sz="1388">
                  <a:solidFill>
                    <a:srgbClr val="293D3B"/>
                  </a:solidFill>
                  <a:latin typeface="Arial"/>
                  <a:ea typeface="Arial"/>
                  <a:cs typeface="Arial"/>
                </a:rPr>
                <a:t> range (schematic)</a:t>
              </a:r>
            </a:p>
          </p:txBody>
        </p:sp>
        <p:sp>
          <p:nvSpPr>
            <p:cNvPr id="3" name="legend-regional">
              <a:extLst>
                <a:ext uri="{FF2B5EF4-FFF2-40B4-BE49-F238E27FC236}">
                  <a16:creationId xmlns:a16="http://schemas.microsoft.com/office/drawing/2014/main" id="{14D0C60E-C0E2-4640-A9BA-ECEFDED0B76E}"/>
                </a:ext>
              </a:extLst>
            </p:cNvPr>
            <p:cNvSpPr>
              <a:spLocks/>
            </p:cNvSpPr>
            <p:nvPr/>
          </p:nvSpPr>
          <p:spPr>
            <a:xfrm>
              <a:off x="3522133" y="264160"/>
              <a:ext cx="372533" cy="68"/>
            </a:xfrm>
            <a:custGeom>
              <a:avLst/>
              <a:gdLst/>
              <a:ahLst/>
              <a:cxnLst/>
              <a:rect l="0" t="0" r="0" b="0"/>
              <a:pathLst>
                <a:path w="523875" h="95">
                  <a:moveTo>
                    <a:pt x="0" y="0"/>
                  </a:moveTo>
                  <a:lnTo>
                    <a:pt x="523875" y="0"/>
                  </a:lnTo>
                </a:path>
              </a:pathLst>
            </a:custGeom>
            <a:noFill/>
            <a:ln w="23707">
              <a:solidFill>
                <a:srgbClr val="4F788A"/>
              </a:solidFill>
              <a:prstDash val="solid"/>
            </a:ln>
          </p:spPr>
          <p:txBody>
            <a:bodyPr/>
            <a:p/>
          </p:txBody>
        </p:sp>
        <p:sp>
          <p:nvSpPr>
            <p:cNvPr id="4" name="legend-regional-head">
              <a:extLst>
                <a:ext uri="{FF2B5EF4-FFF2-40B4-BE49-F238E27FC236}">
                  <a16:creationId xmlns:a16="http://schemas.microsoft.com/office/drawing/2014/main" id="{7BF0F6C7-E6A3-4CCA-A846-E30BC9DF41A5}"/>
                </a:ext>
              </a:extLst>
            </p:cNvPr>
            <p:cNvSpPr>
              <a:spLocks/>
            </p:cNvSpPr>
            <p:nvPr/>
          </p:nvSpPr>
          <p:spPr>
            <a:xfrm>
              <a:off x="3813387" y="227584"/>
              <a:ext cx="81280" cy="73152"/>
            </a:xfrm>
            <a:custGeom>
              <a:avLst/>
              <a:gdLst/>
              <a:ahLst/>
              <a:cxnLst/>
              <a:rect l="0" t="0" r="0" b="0"/>
              <a:pathLst>
                <a:path w="114300" h="102870">
                  <a:moveTo>
                    <a:pt x="114300" y="51435"/>
                  </a:moveTo>
                  <a:lnTo>
                    <a:pt x="0" y="0"/>
                  </a:lnTo>
                  <a:lnTo>
                    <a:pt x="0" y="102870"/>
                  </a:lnTo>
                  <a:close/>
                </a:path>
              </a:pathLst>
            </a:custGeom>
            <a:solidFill>
              <a:srgbClr val="4F788A"/>
            </a:solidFill>
            <a:ln w="0">
              <a:noFill/>
              <a:prstDash val="solid"/>
            </a:ln>
          </p:spPr>
          <p:txBody>
            <a:bodyPr/>
            <a:p/>
          </p:txBody>
        </p:sp>
        <p:sp>
          <p:nvSpPr>
            <p:cNvPr id="5" name="legend-regional-label">
              <a:extLst>
                <a:ext uri="{FF2B5EF4-FFF2-40B4-BE49-F238E27FC236}">
                  <a16:creationId xmlns:a16="http://schemas.microsoft.com/office/drawing/2014/main" id="{0458BBFA-EB1D-4BDC-8D4F-7C3C6C81135D}"/>
                </a:ext>
              </a:extLst>
            </p:cNvPr>
            <p:cNvSpPr>
              <a:spLocks/>
            </p:cNvSpPr>
            <p:nvPr/>
          </p:nvSpPr>
          <p:spPr>
            <a:xfrm>
              <a:off x="3996267" y="135467"/>
              <a:ext cx="1998133" cy="298027"/>
            </a:xfrm>
            <a:prstGeom prst="rect">
              <a:avLst/>
            </a:prstGeom>
            <a:noFill/>
            <a:ln w="0">
              <a:noFill/>
            </a:ln>
          </p:spPr>
          <p:txBody>
            <a:bodyPr wrap="none" lIns="0" tIns="0" rIns="0" bIns="0" anchor="t">
              <a:noAutofit/>
            </a:bodyPr>
            <a:lstStyle>
              <a:defPPr algn="l">
                <a:defRPr sz="1440" b="0">
                  <a:solidFill>
                    <a:srgbClr val="293D3B"/>
                  </a:solidFill>
                  <a:latin typeface="Arial"/>
                  <a:ea typeface="Arial"/>
                  <a:cs typeface="Arial"/>
                </a:defRPr>
              </a:defPPr>
            </a:lstStyle>
            <a:p>
              <a:pPr algn="l">
                <a:lnSpc>
                  <a:spcPct val="100000"/>
                </a:lnSpc>
                <a:buNone/>
                <a:defRPr sz="1440" b="0">
                  <a:solidFill>
                    <a:srgbClr val="293D3B"/>
                  </a:solidFill>
                  <a:latin typeface="Arial"/>
                  <a:ea typeface="Arial"/>
                  <a:cs typeface="Arial"/>
                </a:defRPr>
              </a:pPr>
              <a:r>
                <a:rPr sz="1440">
                  <a:solidFill>
                    <a:srgbClr val="293D3B"/>
                  </a:solidFill>
                  <a:latin typeface="Arial"/>
                  <a:ea typeface="Arial"/>
                  <a:cs typeface="Arial"/>
                </a:rPr>
                <a:t>Regional link</a:t>
              </a:r>
            </a:p>
          </p:txBody>
        </p:sp>
        <p:sp>
          <p:nvSpPr>
            <p:cNvPr id="6" name="legend-hypothesis">
              <a:extLst>
                <a:ext uri="{FF2B5EF4-FFF2-40B4-BE49-F238E27FC236}">
                  <a16:creationId xmlns:a16="http://schemas.microsoft.com/office/drawing/2014/main" id="{E8BE144D-0E1C-4542-B9BF-8E932C4185C0}"/>
                </a:ext>
              </a:extLst>
            </p:cNvPr>
            <p:cNvSpPr>
              <a:spLocks/>
            </p:cNvSpPr>
            <p:nvPr/>
          </p:nvSpPr>
          <p:spPr>
            <a:xfrm>
              <a:off x="6204373" y="264160"/>
              <a:ext cx="379307" cy="68"/>
            </a:xfrm>
            <a:custGeom>
              <a:avLst/>
              <a:gdLst/>
              <a:ahLst/>
              <a:cxnLst/>
              <a:rect l="0" t="0" r="0" b="0"/>
              <a:pathLst>
                <a:path w="533400" h="95">
                  <a:moveTo>
                    <a:pt x="0" y="0"/>
                  </a:moveTo>
                  <a:lnTo>
                    <a:pt x="533400" y="0"/>
                  </a:lnTo>
                </a:path>
              </a:pathLst>
            </a:custGeom>
            <a:noFill/>
            <a:ln w="23707">
              <a:solidFill>
                <a:srgbClr val="627F79"/>
              </a:solidFill>
              <a:prstDash val="dash"/>
            </a:ln>
          </p:spPr>
          <p:txBody>
            <a:bodyPr/>
            <a:p/>
          </p:txBody>
        </p:sp>
        <p:sp>
          <p:nvSpPr>
            <p:cNvPr id="7" name="legend-hypothesis-head">
              <a:extLst>
                <a:ext uri="{FF2B5EF4-FFF2-40B4-BE49-F238E27FC236}">
                  <a16:creationId xmlns:a16="http://schemas.microsoft.com/office/drawing/2014/main" id="{FA3CE12B-893B-4CA5-AC0C-4E1E1A09AA29}"/>
                </a:ext>
              </a:extLst>
            </p:cNvPr>
            <p:cNvSpPr>
              <a:spLocks/>
            </p:cNvSpPr>
            <p:nvPr/>
          </p:nvSpPr>
          <p:spPr>
            <a:xfrm>
              <a:off x="6502400" y="227584"/>
              <a:ext cx="81280" cy="73152"/>
            </a:xfrm>
            <a:custGeom>
              <a:avLst/>
              <a:gdLst/>
              <a:ahLst/>
              <a:cxnLst/>
              <a:rect l="0" t="0" r="0" b="0"/>
              <a:pathLst>
                <a:path w="114300" h="102870">
                  <a:moveTo>
                    <a:pt x="114300" y="51435"/>
                  </a:moveTo>
                  <a:lnTo>
                    <a:pt x="0" y="0"/>
                  </a:lnTo>
                  <a:lnTo>
                    <a:pt x="0" y="102870"/>
                  </a:lnTo>
                  <a:close/>
                </a:path>
              </a:pathLst>
            </a:custGeom>
            <a:solidFill>
              <a:srgbClr val="627F79"/>
            </a:solidFill>
            <a:ln w="0">
              <a:noFill/>
              <a:prstDash val="solid"/>
            </a:ln>
          </p:spPr>
          <p:txBody>
            <a:bodyPr/>
            <a:p/>
          </p:txBody>
        </p:sp>
        <p:sp>
          <p:nvSpPr>
            <p:cNvPr id="8" name="legend-hypothesis-label">
              <a:extLst>
                <a:ext uri="{FF2B5EF4-FFF2-40B4-BE49-F238E27FC236}">
                  <a16:creationId xmlns:a16="http://schemas.microsoft.com/office/drawing/2014/main" id="{D88F302E-28EF-4C81-8C16-F3C6CEADCE31}"/>
                </a:ext>
              </a:extLst>
            </p:cNvPr>
            <p:cNvSpPr>
              <a:spLocks/>
            </p:cNvSpPr>
            <p:nvPr/>
          </p:nvSpPr>
          <p:spPr>
            <a:xfrm>
              <a:off x="6671733" y="135467"/>
              <a:ext cx="2743200" cy="298027"/>
            </a:xfrm>
            <a:prstGeom prst="rect">
              <a:avLst/>
            </a:prstGeom>
            <a:noFill/>
            <a:ln w="0">
              <a:noFill/>
            </a:ln>
          </p:spPr>
          <p:txBody>
            <a:bodyPr wrap="none" lIns="0" tIns="0" rIns="0" bIns="0" anchor="t">
              <a:noAutofit/>
            </a:bodyPr>
            <a:lstStyle>
              <a:defPPr algn="l">
                <a:defRPr sz="1440" b="0">
                  <a:solidFill>
                    <a:srgbClr val="293D3B"/>
                  </a:solidFill>
                  <a:latin typeface="Arial"/>
                  <a:ea typeface="Arial"/>
                  <a:cs typeface="Arial"/>
                </a:defRPr>
              </a:defPPr>
            </a:lstStyle>
            <a:p>
              <a:pPr algn="l">
                <a:lnSpc>
                  <a:spcPct val="100000"/>
                </a:lnSpc>
                <a:buNone/>
                <a:defRPr sz="1440" b="0">
                  <a:solidFill>
                    <a:srgbClr val="293D3B"/>
                  </a:solidFill>
                  <a:latin typeface="Arial"/>
                  <a:ea typeface="Arial"/>
                  <a:cs typeface="Arial"/>
                </a:defRPr>
              </a:pPr>
              <a:r>
                <a:rPr sz="1440">
                  <a:solidFill>
                    <a:srgbClr val="293D3B"/>
                  </a:solidFill>
                  <a:latin typeface="Arial"/>
                  <a:ea typeface="Arial"/>
                  <a:cs typeface="Arial"/>
                </a:rPr>
                <a:t>Proposed route / model</a:t>
              </a:r>
            </a:p>
          </p:txBody>
        </p:sp>
        <p:sp>
          <p:nvSpPr>
            <p:cNvPr id="9" name="legend-disputed">
              <a:extLst>
                <a:ext uri="{FF2B5EF4-FFF2-40B4-BE49-F238E27FC236}">
                  <a16:creationId xmlns:a16="http://schemas.microsoft.com/office/drawing/2014/main" id="{58C1812A-1678-43A9-AEEC-662E097DCDCE}"/>
                </a:ext>
              </a:extLst>
            </p:cNvPr>
            <p:cNvSpPr>
              <a:spLocks/>
            </p:cNvSpPr>
            <p:nvPr/>
          </p:nvSpPr>
          <p:spPr>
            <a:xfrm>
              <a:off x="9821333" y="264160"/>
              <a:ext cx="379307" cy="68"/>
            </a:xfrm>
            <a:custGeom>
              <a:avLst/>
              <a:gdLst/>
              <a:ahLst/>
              <a:cxnLst/>
              <a:rect l="0" t="0" r="0" b="0"/>
              <a:pathLst>
                <a:path w="533400" h="95">
                  <a:moveTo>
                    <a:pt x="0" y="0"/>
                  </a:moveTo>
                  <a:lnTo>
                    <a:pt x="533400" y="0"/>
                  </a:lnTo>
                </a:path>
              </a:pathLst>
            </a:custGeom>
            <a:noFill/>
            <a:ln w="24384">
              <a:solidFill>
                <a:srgbClr val="687573"/>
              </a:solidFill>
              <a:prstDash val="dot"/>
            </a:ln>
          </p:spPr>
          <p:txBody>
            <a:bodyPr/>
            <a:p/>
          </p:txBody>
        </p:sp>
        <p:sp>
          <p:nvSpPr>
            <p:cNvPr id="10" name="legend-disputed-head">
              <a:extLst>
                <a:ext uri="{FF2B5EF4-FFF2-40B4-BE49-F238E27FC236}">
                  <a16:creationId xmlns:a16="http://schemas.microsoft.com/office/drawing/2014/main" id="{099E4157-4BBB-4DF5-B875-8378BF73CDCA}"/>
                </a:ext>
              </a:extLst>
            </p:cNvPr>
            <p:cNvSpPr>
              <a:spLocks/>
            </p:cNvSpPr>
            <p:nvPr/>
          </p:nvSpPr>
          <p:spPr>
            <a:xfrm>
              <a:off x="10119360" y="227584"/>
              <a:ext cx="81280" cy="73152"/>
            </a:xfrm>
            <a:custGeom>
              <a:avLst/>
              <a:gdLst/>
              <a:ahLst/>
              <a:cxnLst/>
              <a:rect l="0" t="0" r="0" b="0"/>
              <a:pathLst>
                <a:path w="114300" h="102870">
                  <a:moveTo>
                    <a:pt x="114300" y="51435"/>
                  </a:moveTo>
                  <a:lnTo>
                    <a:pt x="0" y="0"/>
                  </a:lnTo>
                  <a:lnTo>
                    <a:pt x="0" y="102870"/>
                  </a:lnTo>
                  <a:close/>
                </a:path>
              </a:pathLst>
            </a:custGeom>
            <a:solidFill>
              <a:srgbClr val="687573"/>
            </a:solidFill>
            <a:ln w="0">
              <a:noFill/>
              <a:prstDash val="solid"/>
            </a:ln>
          </p:spPr>
          <p:txBody>
            <a:bodyPr/>
            <a:p/>
          </p:txBody>
        </p:sp>
        <p:sp>
          <p:nvSpPr>
            <p:cNvPr id="11" name="legend-disputed-label">
              <a:extLst>
                <a:ext uri="{FF2B5EF4-FFF2-40B4-BE49-F238E27FC236}">
                  <a16:creationId xmlns:a16="http://schemas.microsoft.com/office/drawing/2014/main" id="{E7F8D854-401B-42FC-BB7A-ED6A22904166}"/>
                </a:ext>
              </a:extLst>
            </p:cNvPr>
            <p:cNvSpPr>
              <a:spLocks/>
            </p:cNvSpPr>
            <p:nvPr/>
          </p:nvSpPr>
          <p:spPr>
            <a:xfrm>
              <a:off x="10295467" y="135467"/>
              <a:ext cx="1564640" cy="298027"/>
            </a:xfrm>
            <a:prstGeom prst="rect">
              <a:avLst/>
            </a:prstGeom>
            <a:noFill/>
            <a:ln w="0">
              <a:noFill/>
            </a:ln>
          </p:spPr>
          <p:txBody>
            <a:bodyPr wrap="none" lIns="0" tIns="0" rIns="0" bIns="0" anchor="t">
              <a:noAutofit/>
            </a:bodyPr>
            <a:lstStyle>
              <a:defPPr algn="l">
                <a:defRPr sz="1440" b="0">
                  <a:solidFill>
                    <a:srgbClr val="293D3B"/>
                  </a:solidFill>
                  <a:latin typeface="Arial"/>
                  <a:ea typeface="Arial"/>
                  <a:cs typeface="Arial"/>
                </a:defRPr>
              </a:defPPr>
            </a:lstStyle>
            <a:p>
              <a:pPr algn="l">
                <a:lnSpc>
                  <a:spcPct val="100000"/>
                </a:lnSpc>
                <a:buNone/>
                <a:defRPr sz="1440" b="0">
                  <a:solidFill>
                    <a:srgbClr val="293D3B"/>
                  </a:solidFill>
                  <a:latin typeface="Arial"/>
                  <a:ea typeface="Arial"/>
                  <a:cs typeface="Arial"/>
                </a:defRPr>
              </a:pPr>
              <a:r>
                <a:rPr sz="1440">
                  <a:solidFill>
                    <a:srgbClr val="293D3B"/>
                  </a:solidFill>
                  <a:latin typeface="Arial"/>
                  <a:ea typeface="Arial"/>
                  <a:cs typeface="Arial"/>
                </a:rPr>
                <a:t>Disputed link</a:t>
              </a:r>
            </a:p>
          </p:txBody>
        </p:sp>
        <p:sp>
          <p:nvSpPr>
            <p:cNvPr id="12" name="map-ocean">
              <a:extLst>
                <a:ext uri="{FF2B5EF4-FFF2-40B4-BE49-F238E27FC236}">
                  <a16:creationId xmlns:a16="http://schemas.microsoft.com/office/drawing/2014/main" id="{32FA22EF-44A0-482B-BE70-82C7F223AF63}"/>
                </a:ext>
              </a:extLst>
            </p:cNvPr>
            <p:cNvSpPr>
              <a:spLocks/>
            </p:cNvSpPr>
            <p:nvPr/>
          </p:nvSpPr>
          <p:spPr>
            <a:xfrm>
              <a:off x="406400" y="575733"/>
              <a:ext cx="11379200" cy="4572000"/>
            </a:xfrm>
            <a:prstGeom prst="rect">
              <a:avLst/>
            </a:prstGeom>
            <a:solidFill>
              <a:srgbClr val="FAFCF9"/>
            </a:solidFill>
            <a:ln w="0">
              <a:noFill/>
            </a:ln>
          </p:spPr>
          <p:txBody>
            <a:bodyPr/>
            <a:p/>
          </p:txBody>
        </p:sp>
        <p:sp>
          <p:nvSpPr>
            <p:cNvPr id="13" name="parallel--30">
              <a:extLst>
                <a:ext uri="{FF2B5EF4-FFF2-40B4-BE49-F238E27FC236}">
                  <a16:creationId xmlns:a16="http://schemas.microsoft.com/office/drawing/2014/main" id="{F159B18A-67EF-451B-8859-1F75096F5025}"/>
                </a:ext>
              </a:extLst>
            </p:cNvPr>
            <p:cNvSpPr>
              <a:spLocks/>
            </p:cNvSpPr>
            <p:nvPr/>
          </p:nvSpPr>
          <p:spPr>
            <a:xfrm>
              <a:off x="406400" y="4168019"/>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4" name="parallel-0">
              <a:extLst>
                <a:ext uri="{FF2B5EF4-FFF2-40B4-BE49-F238E27FC236}">
                  <a16:creationId xmlns:a16="http://schemas.microsoft.com/office/drawing/2014/main" id="{D95B0907-4349-4F17-AC6E-997C39DB8DF5}"/>
                </a:ext>
              </a:extLst>
            </p:cNvPr>
            <p:cNvSpPr>
              <a:spLocks/>
            </p:cNvSpPr>
            <p:nvPr/>
          </p:nvSpPr>
          <p:spPr>
            <a:xfrm>
              <a:off x="406400" y="3188305"/>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5" name="parallel-30">
              <a:extLst>
                <a:ext uri="{FF2B5EF4-FFF2-40B4-BE49-F238E27FC236}">
                  <a16:creationId xmlns:a16="http://schemas.microsoft.com/office/drawing/2014/main" id="{7AD2154A-01C1-4B39-A199-E02D79342C86}"/>
                </a:ext>
              </a:extLst>
            </p:cNvPr>
            <p:cNvSpPr>
              <a:spLocks/>
            </p:cNvSpPr>
            <p:nvPr/>
          </p:nvSpPr>
          <p:spPr>
            <a:xfrm>
              <a:off x="406400" y="2208590"/>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6" name="parallel-60">
              <a:extLst>
                <a:ext uri="{FF2B5EF4-FFF2-40B4-BE49-F238E27FC236}">
                  <a16:creationId xmlns:a16="http://schemas.microsoft.com/office/drawing/2014/main" id="{4A6A0B86-62B1-4833-9012-CDC5222BBCA0}"/>
                </a:ext>
              </a:extLst>
            </p:cNvPr>
            <p:cNvSpPr>
              <a:spLocks/>
            </p:cNvSpPr>
            <p:nvPr/>
          </p:nvSpPr>
          <p:spPr>
            <a:xfrm>
              <a:off x="406400" y="1228876"/>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7" name="land-1">
              <a:extLst>
                <a:ext uri="{FF2B5EF4-FFF2-40B4-BE49-F238E27FC236}">
                  <a16:creationId xmlns:a16="http://schemas.microsoft.com/office/drawing/2014/main" id="{F4535561-AFFB-40F9-B16F-72F8B9B05504}"/>
                </a:ext>
              </a:extLst>
            </p:cNvPr>
            <p:cNvSpPr>
              <a:spLocks/>
            </p:cNvSpPr>
            <p:nvPr/>
          </p:nvSpPr>
          <p:spPr>
            <a:xfrm>
              <a:off x="10373867" y="4903402"/>
              <a:ext cx="303841" cy="101026"/>
            </a:xfrm>
            <a:custGeom>
              <a:avLst/>
              <a:gdLst/>
              <a:ahLst/>
              <a:cxnLst/>
              <a:rect l="0" t="0" r="0" b="0"/>
              <a:pathLst>
                <a:path w="427277" h="142068">
                  <a:moveTo>
                    <a:pt x="307262" y="61157"/>
                  </a:moveTo>
                  <a:lnTo>
                    <a:pt x="365047" y="88712"/>
                  </a:lnTo>
                  <a:lnTo>
                    <a:pt x="427277" y="100193"/>
                  </a:lnTo>
                  <a:lnTo>
                    <a:pt x="407274" y="123155"/>
                  </a:lnTo>
                  <a:lnTo>
                    <a:pt x="365047" y="125451"/>
                  </a:lnTo>
                  <a:lnTo>
                    <a:pt x="342381" y="109231"/>
                  </a:lnTo>
                  <a:lnTo>
                    <a:pt x="327663" y="127804"/>
                  </a:lnTo>
                  <a:lnTo>
                    <a:pt x="289543" y="142068"/>
                  </a:lnTo>
                  <a:lnTo>
                    <a:pt x="241383" y="136889"/>
                  </a:lnTo>
                  <a:lnTo>
                    <a:pt x="209112" y="123083"/>
                  </a:lnTo>
                  <a:lnTo>
                    <a:pt x="162547" y="116442"/>
                  </a:lnTo>
                  <a:lnTo>
                    <a:pt x="106619" y="90785"/>
                  </a:lnTo>
                  <a:lnTo>
                    <a:pt x="61222" y="66095"/>
                  </a:lnTo>
                  <a:lnTo>
                    <a:pt x="0" y="14659"/>
                  </a:lnTo>
                  <a:lnTo>
                    <a:pt x="36646" y="24300"/>
                  </a:lnTo>
                  <a:lnTo>
                    <a:pt x="99050" y="54976"/>
                  </a:lnTo>
                  <a:lnTo>
                    <a:pt x="158011" y="71459"/>
                  </a:lnTo>
                  <a:lnTo>
                    <a:pt x="180945" y="50403"/>
                  </a:lnTo>
                  <a:lnTo>
                    <a:pt x="195360" y="18963"/>
                  </a:lnTo>
                  <a:lnTo>
                    <a:pt x="236335" y="0"/>
                  </a:lnTo>
                  <a:lnTo>
                    <a:pt x="267963" y="5417"/>
                  </a:lnTo>
                  <a:lnTo>
                    <a:pt x="267968" y="5422"/>
                  </a:lnTo>
                  <a:lnTo>
                    <a:pt x="285037" y="26714"/>
                  </a:lnTo>
                  <a:lnTo>
                    <a:pt x="307262" y="61157"/>
                  </a:lnTo>
                  <a:close/>
                </a:path>
              </a:pathLst>
            </a:custGeom>
            <a:solidFill>
              <a:srgbClr val="E6EBE2"/>
            </a:solidFill>
            <a:ln w="4403">
              <a:solidFill>
                <a:srgbClr val="B6C3B3"/>
              </a:solidFill>
              <a:prstDash val="solid"/>
            </a:ln>
          </p:spPr>
          <p:txBody>
            <a:bodyPr/>
            <a:p/>
          </p:txBody>
        </p:sp>
        <p:sp>
          <p:nvSpPr>
            <p:cNvPr id="18" name="land-2">
              <a:extLst>
                <a:ext uri="{FF2B5EF4-FFF2-40B4-BE49-F238E27FC236}">
                  <a16:creationId xmlns:a16="http://schemas.microsoft.com/office/drawing/2014/main" id="{100D9B7B-3149-4B67-874B-6A8243A23DC2}"/>
                </a:ext>
              </a:extLst>
            </p:cNvPr>
            <p:cNvSpPr>
              <a:spLocks/>
            </p:cNvSpPr>
            <p:nvPr/>
          </p:nvSpPr>
          <p:spPr>
            <a:xfrm>
              <a:off x="10799403" y="4857085"/>
              <a:ext cx="109051" cy="39189"/>
            </a:xfrm>
            <a:custGeom>
              <a:avLst/>
              <a:gdLst/>
              <a:ahLst/>
              <a:cxnLst/>
              <a:rect l="0" t="0" r="0" b="0"/>
              <a:pathLst>
                <a:path w="153352" h="55109">
                  <a:moveTo>
                    <a:pt x="117792" y="0"/>
                  </a:moveTo>
                  <a:lnTo>
                    <a:pt x="153352" y="20666"/>
                  </a:lnTo>
                  <a:lnTo>
                    <a:pt x="140017" y="36739"/>
                  </a:lnTo>
                  <a:lnTo>
                    <a:pt x="80010" y="50517"/>
                  </a:lnTo>
                  <a:lnTo>
                    <a:pt x="60007" y="34443"/>
                  </a:lnTo>
                  <a:lnTo>
                    <a:pt x="22225" y="55109"/>
                  </a:lnTo>
                  <a:lnTo>
                    <a:pt x="0" y="34443"/>
                  </a:lnTo>
                  <a:lnTo>
                    <a:pt x="53340" y="6889"/>
                  </a:lnTo>
                  <a:lnTo>
                    <a:pt x="91123" y="18370"/>
                  </a:lnTo>
                  <a:lnTo>
                    <a:pt x="117792" y="0"/>
                  </a:lnTo>
                  <a:close/>
                </a:path>
              </a:pathLst>
            </a:custGeom>
            <a:solidFill>
              <a:srgbClr val="E6EBE2"/>
            </a:solidFill>
            <a:ln w="4403">
              <a:solidFill>
                <a:srgbClr val="B6C3B3"/>
              </a:solidFill>
              <a:prstDash val="solid"/>
            </a:ln>
          </p:spPr>
          <p:txBody>
            <a:bodyPr/>
            <a:p/>
          </p:txBody>
        </p:sp>
        <p:sp>
          <p:nvSpPr>
            <p:cNvPr id="19" name="land-3">
              <a:extLst>
                <a:ext uri="{FF2B5EF4-FFF2-40B4-BE49-F238E27FC236}">
                  <a16:creationId xmlns:a16="http://schemas.microsoft.com/office/drawing/2014/main" id="{89DA5166-7913-4D74-A33A-36C821B71D4E}"/>
                </a:ext>
              </a:extLst>
            </p:cNvPr>
            <p:cNvSpPr>
              <a:spLocks/>
            </p:cNvSpPr>
            <p:nvPr/>
          </p:nvSpPr>
          <p:spPr>
            <a:xfrm>
              <a:off x="3526830" y="4776258"/>
              <a:ext cx="58160" cy="37556"/>
            </a:xfrm>
            <a:custGeom>
              <a:avLst/>
              <a:gdLst/>
              <a:ahLst/>
              <a:cxnLst/>
              <a:rect l="0" t="0" r="0" b="0"/>
              <a:pathLst>
                <a:path w="81788" h="52813">
                  <a:moveTo>
                    <a:pt x="69342" y="49828"/>
                  </a:moveTo>
                  <a:lnTo>
                    <a:pt x="1111" y="52813"/>
                  </a:lnTo>
                  <a:lnTo>
                    <a:pt x="0" y="28358"/>
                  </a:lnTo>
                  <a:lnTo>
                    <a:pt x="6556" y="9414"/>
                  </a:lnTo>
                  <a:lnTo>
                    <a:pt x="9557" y="0"/>
                  </a:lnTo>
                  <a:lnTo>
                    <a:pt x="38227" y="14466"/>
                  </a:lnTo>
                  <a:lnTo>
                    <a:pt x="80232" y="20207"/>
                  </a:lnTo>
                  <a:lnTo>
                    <a:pt x="81788" y="28932"/>
                  </a:lnTo>
                  <a:lnTo>
                    <a:pt x="69342" y="49828"/>
                  </a:lnTo>
                  <a:close/>
                </a:path>
              </a:pathLst>
            </a:custGeom>
            <a:solidFill>
              <a:srgbClr val="E6EBE2"/>
            </a:solidFill>
            <a:ln w="4403">
              <a:solidFill>
                <a:srgbClr val="B6C3B3"/>
              </a:solidFill>
              <a:prstDash val="solid"/>
            </a:ln>
          </p:spPr>
          <p:txBody>
            <a:bodyPr/>
            <a:p/>
          </p:txBody>
        </p:sp>
        <p:sp>
          <p:nvSpPr>
            <p:cNvPr id="20" name="land-4">
              <a:extLst>
                <a:ext uri="{FF2B5EF4-FFF2-40B4-BE49-F238E27FC236}">
                  <a16:creationId xmlns:a16="http://schemas.microsoft.com/office/drawing/2014/main" id="{800B1FAD-9C92-427E-B328-F351617FFEB2}"/>
                </a:ext>
              </a:extLst>
            </p:cNvPr>
            <p:cNvSpPr>
              <a:spLocks/>
            </p:cNvSpPr>
            <p:nvPr/>
          </p:nvSpPr>
          <p:spPr>
            <a:xfrm>
              <a:off x="5929044" y="4517580"/>
              <a:ext cx="115113" cy="95706"/>
            </a:xfrm>
            <a:custGeom>
              <a:avLst/>
              <a:gdLst/>
              <a:ahLst/>
              <a:cxnLst/>
              <a:rect l="0" t="0" r="0" b="0"/>
              <a:pathLst>
                <a:path w="161878" h="134586">
                  <a:moveTo>
                    <a:pt x="30222" y="4068"/>
                  </a:moveTo>
                  <a:lnTo>
                    <a:pt x="73167" y="19918"/>
                  </a:lnTo>
                  <a:lnTo>
                    <a:pt x="97368" y="13620"/>
                  </a:lnTo>
                  <a:lnTo>
                    <a:pt x="132069" y="4789"/>
                  </a:lnTo>
                  <a:lnTo>
                    <a:pt x="158731" y="7874"/>
                  </a:lnTo>
                  <a:lnTo>
                    <a:pt x="161878" y="62387"/>
                  </a:lnTo>
                  <a:lnTo>
                    <a:pt x="146651" y="78211"/>
                  </a:lnTo>
                  <a:lnTo>
                    <a:pt x="142061" y="115157"/>
                  </a:lnTo>
                  <a:lnTo>
                    <a:pt x="126527" y="102581"/>
                  </a:lnTo>
                  <a:lnTo>
                    <a:pt x="95668" y="134586"/>
                  </a:lnTo>
                  <a:lnTo>
                    <a:pt x="86467" y="132118"/>
                  </a:lnTo>
                  <a:lnTo>
                    <a:pt x="59132" y="130689"/>
                  </a:lnTo>
                  <a:lnTo>
                    <a:pt x="31731" y="91380"/>
                  </a:lnTo>
                  <a:lnTo>
                    <a:pt x="25648" y="61062"/>
                  </a:lnTo>
                  <a:lnTo>
                    <a:pt x="0" y="21060"/>
                  </a:lnTo>
                  <a:lnTo>
                    <a:pt x="1142" y="0"/>
                  </a:lnTo>
                  <a:lnTo>
                    <a:pt x="30222" y="4068"/>
                  </a:lnTo>
                  <a:close/>
                </a:path>
              </a:pathLst>
            </a:custGeom>
            <a:solidFill>
              <a:srgbClr val="E6EBE2"/>
            </a:solidFill>
            <a:ln w="4403">
              <a:solidFill>
                <a:srgbClr val="B6C3B3"/>
              </a:solidFill>
              <a:prstDash val="solid"/>
            </a:ln>
          </p:spPr>
          <p:txBody>
            <a:bodyPr/>
            <a:p/>
          </p:txBody>
        </p:sp>
        <p:sp>
          <p:nvSpPr>
            <p:cNvPr id="21" name="land-5">
              <a:extLst>
                <a:ext uri="{FF2B5EF4-FFF2-40B4-BE49-F238E27FC236}">
                  <a16:creationId xmlns:a16="http://schemas.microsoft.com/office/drawing/2014/main" id="{3AB8F1D3-3E31-40CF-BA35-9E377BA75740}"/>
                </a:ext>
              </a:extLst>
            </p:cNvPr>
            <p:cNvSpPr>
              <a:spLocks/>
            </p:cNvSpPr>
            <p:nvPr/>
          </p:nvSpPr>
          <p:spPr>
            <a:xfrm>
              <a:off x="6617836" y="4510722"/>
              <a:ext cx="244633" cy="200752"/>
            </a:xfrm>
            <a:custGeom>
              <a:avLst/>
              <a:gdLst/>
              <a:ahLst/>
              <a:cxnLst/>
              <a:rect l="0" t="0" r="0" b="0"/>
              <a:pathLst>
                <a:path w="344015" h="282308">
                  <a:moveTo>
                    <a:pt x="289424" y="19522"/>
                  </a:moveTo>
                  <a:lnTo>
                    <a:pt x="299508" y="38486"/>
                  </a:lnTo>
                  <a:lnTo>
                    <a:pt x="331120" y="19873"/>
                  </a:lnTo>
                  <a:lnTo>
                    <a:pt x="343974" y="39274"/>
                  </a:lnTo>
                  <a:lnTo>
                    <a:pt x="344015" y="58601"/>
                  </a:lnTo>
                  <a:lnTo>
                    <a:pt x="327477" y="79872"/>
                  </a:lnTo>
                  <a:lnTo>
                    <a:pt x="298419" y="113712"/>
                  </a:lnTo>
                  <a:lnTo>
                    <a:pt x="275683" y="132185"/>
                  </a:lnTo>
                  <a:lnTo>
                    <a:pt x="292080" y="154277"/>
                  </a:lnTo>
                  <a:lnTo>
                    <a:pt x="257785" y="154844"/>
                  </a:lnTo>
                  <a:lnTo>
                    <a:pt x="219751" y="172149"/>
                  </a:lnTo>
                  <a:lnTo>
                    <a:pt x="207848" y="202210"/>
                  </a:lnTo>
                  <a:lnTo>
                    <a:pt x="182581" y="248678"/>
                  </a:lnTo>
                  <a:lnTo>
                    <a:pt x="147675" y="269199"/>
                  </a:lnTo>
                  <a:lnTo>
                    <a:pt x="125491" y="282308"/>
                  </a:lnTo>
                  <a:lnTo>
                    <a:pt x="84553" y="281330"/>
                  </a:lnTo>
                  <a:lnTo>
                    <a:pt x="55767" y="266187"/>
                  </a:lnTo>
                  <a:lnTo>
                    <a:pt x="7456" y="262959"/>
                  </a:lnTo>
                  <a:lnTo>
                    <a:pt x="0" y="246095"/>
                  </a:lnTo>
                  <a:lnTo>
                    <a:pt x="23882" y="212031"/>
                  </a:lnTo>
                  <a:lnTo>
                    <a:pt x="79771" y="166705"/>
                  </a:lnTo>
                  <a:lnTo>
                    <a:pt x="108470" y="158064"/>
                  </a:lnTo>
                  <a:lnTo>
                    <a:pt x="140403" y="140590"/>
                  </a:lnTo>
                  <a:lnTo>
                    <a:pt x="178501" y="116543"/>
                  </a:lnTo>
                  <a:lnTo>
                    <a:pt x="205179" y="92711"/>
                  </a:lnTo>
                  <a:lnTo>
                    <a:pt x="224942" y="58483"/>
                  </a:lnTo>
                  <a:lnTo>
                    <a:pt x="241789" y="46863"/>
                  </a:lnTo>
                  <a:lnTo>
                    <a:pt x="248390" y="21223"/>
                  </a:lnTo>
                  <a:lnTo>
                    <a:pt x="279565" y="0"/>
                  </a:lnTo>
                  <a:lnTo>
                    <a:pt x="289424" y="19522"/>
                  </a:lnTo>
                  <a:close/>
                </a:path>
              </a:pathLst>
            </a:custGeom>
            <a:solidFill>
              <a:srgbClr val="E6EBE2"/>
            </a:solidFill>
            <a:ln w="4403">
              <a:solidFill>
                <a:srgbClr val="B6C3B3"/>
              </a:solidFill>
              <a:prstDash val="solid"/>
            </a:ln>
          </p:spPr>
          <p:txBody>
            <a:bodyPr/>
            <a:p/>
          </p:txBody>
        </p:sp>
        <p:sp>
          <p:nvSpPr>
            <p:cNvPr id="22" name="land-6">
              <a:extLst>
                <a:ext uri="{FF2B5EF4-FFF2-40B4-BE49-F238E27FC236}">
                  <a16:creationId xmlns:a16="http://schemas.microsoft.com/office/drawing/2014/main" id="{DE376BAD-1762-4DF2-ADA7-1752B500D23A}"/>
                </a:ext>
              </a:extLst>
            </p:cNvPr>
            <p:cNvSpPr>
              <a:spLocks/>
            </p:cNvSpPr>
            <p:nvPr/>
          </p:nvSpPr>
          <p:spPr>
            <a:xfrm>
              <a:off x="6811499" y="4313365"/>
              <a:ext cx="185895" cy="236361"/>
            </a:xfrm>
            <a:custGeom>
              <a:avLst/>
              <a:gdLst/>
              <a:ahLst/>
              <a:cxnLst/>
              <a:rect l="0" t="0" r="0" b="0"/>
              <a:pathLst>
                <a:path w="261414" h="332382">
                  <a:moveTo>
                    <a:pt x="87833" y="78334"/>
                  </a:moveTo>
                  <a:lnTo>
                    <a:pt x="120042" y="126679"/>
                  </a:lnTo>
                  <a:lnTo>
                    <a:pt x="120975" y="95317"/>
                  </a:lnTo>
                  <a:lnTo>
                    <a:pt x="141035" y="107843"/>
                  </a:lnTo>
                  <a:lnTo>
                    <a:pt x="147684" y="142581"/>
                  </a:lnTo>
                  <a:lnTo>
                    <a:pt x="183454" y="157547"/>
                  </a:lnTo>
                  <a:lnTo>
                    <a:pt x="213485" y="161221"/>
                  </a:lnTo>
                  <a:lnTo>
                    <a:pt x="238890" y="143704"/>
                  </a:lnTo>
                  <a:lnTo>
                    <a:pt x="261414" y="149010"/>
                  </a:lnTo>
                  <a:lnTo>
                    <a:pt x="250641" y="189765"/>
                  </a:lnTo>
                  <a:lnTo>
                    <a:pt x="237117" y="216563"/>
                  </a:lnTo>
                  <a:lnTo>
                    <a:pt x="203180" y="215619"/>
                  </a:lnTo>
                  <a:lnTo>
                    <a:pt x="191312" y="229578"/>
                  </a:lnTo>
                  <a:lnTo>
                    <a:pt x="195444" y="249335"/>
                  </a:lnTo>
                  <a:lnTo>
                    <a:pt x="188904" y="257878"/>
                  </a:lnTo>
                  <a:lnTo>
                    <a:pt x="172111" y="282624"/>
                  </a:lnTo>
                  <a:lnTo>
                    <a:pt x="150083" y="314073"/>
                  </a:lnTo>
                  <a:lnTo>
                    <a:pt x="115728" y="332382"/>
                  </a:lnTo>
                  <a:lnTo>
                    <a:pt x="108098" y="320331"/>
                  </a:lnTo>
                  <a:lnTo>
                    <a:pt x="89565" y="313715"/>
                  </a:lnTo>
                  <a:lnTo>
                    <a:pt x="115198" y="275938"/>
                  </a:lnTo>
                  <a:lnTo>
                    <a:pt x="100642" y="250666"/>
                  </a:lnTo>
                  <a:lnTo>
                    <a:pt x="52808" y="232293"/>
                  </a:lnTo>
                  <a:lnTo>
                    <a:pt x="54063" y="215657"/>
                  </a:lnTo>
                  <a:lnTo>
                    <a:pt x="86180" y="199633"/>
                  </a:lnTo>
                  <a:lnTo>
                    <a:pt x="93677" y="164277"/>
                  </a:lnTo>
                  <a:lnTo>
                    <a:pt x="91612" y="134579"/>
                  </a:lnTo>
                  <a:lnTo>
                    <a:pt x="73610" y="103808"/>
                  </a:lnTo>
                  <a:lnTo>
                    <a:pt x="74809" y="95713"/>
                  </a:lnTo>
                  <a:lnTo>
                    <a:pt x="53562" y="76754"/>
                  </a:lnTo>
                  <a:lnTo>
                    <a:pt x="18587" y="36118"/>
                  </a:lnTo>
                  <a:lnTo>
                    <a:pt x="0" y="3603"/>
                  </a:lnTo>
                  <a:lnTo>
                    <a:pt x="16493" y="0"/>
                  </a:lnTo>
                  <a:lnTo>
                    <a:pt x="40685" y="25512"/>
                  </a:lnTo>
                  <a:lnTo>
                    <a:pt x="75271" y="37421"/>
                  </a:lnTo>
                  <a:lnTo>
                    <a:pt x="87833" y="78334"/>
                  </a:lnTo>
                  <a:close/>
                </a:path>
              </a:pathLst>
            </a:custGeom>
            <a:solidFill>
              <a:srgbClr val="E6EBE2"/>
            </a:solidFill>
            <a:ln w="4403">
              <a:solidFill>
                <a:srgbClr val="B6C3B3"/>
              </a:solidFill>
              <a:prstDash val="solid"/>
            </a:ln>
          </p:spPr>
          <p:txBody>
            <a:bodyPr/>
            <a:p/>
          </p:txBody>
        </p:sp>
        <p:sp>
          <p:nvSpPr>
            <p:cNvPr id="23" name="land-7">
              <a:extLst>
                <a:ext uri="{FF2B5EF4-FFF2-40B4-BE49-F238E27FC236}">
                  <a16:creationId xmlns:a16="http://schemas.microsoft.com/office/drawing/2014/main" id="{F83673F9-862E-450A-9B13-488A7BE88842}"/>
                </a:ext>
              </a:extLst>
            </p:cNvPr>
            <p:cNvSpPr>
              <a:spLocks/>
            </p:cNvSpPr>
            <p:nvPr/>
          </p:nvSpPr>
          <p:spPr>
            <a:xfrm>
              <a:off x="6539460" y="3844898"/>
              <a:ext cx="97684" cy="74926"/>
            </a:xfrm>
            <a:custGeom>
              <a:avLst/>
              <a:gdLst/>
              <a:ahLst/>
              <a:cxnLst/>
              <a:rect l="0" t="0" r="0" b="0"/>
              <a:pathLst>
                <a:path w="137369" h="105365">
                  <a:moveTo>
                    <a:pt x="137369" y="94344"/>
                  </a:moveTo>
                  <a:lnTo>
                    <a:pt x="120479" y="105365"/>
                  </a:lnTo>
                  <a:lnTo>
                    <a:pt x="96018" y="92953"/>
                  </a:lnTo>
                  <a:lnTo>
                    <a:pt x="64220" y="72283"/>
                  </a:lnTo>
                  <a:lnTo>
                    <a:pt x="35569" y="47953"/>
                  </a:lnTo>
                  <a:lnTo>
                    <a:pt x="6151" y="15573"/>
                  </a:lnTo>
                  <a:lnTo>
                    <a:pt x="0" y="0"/>
                  </a:lnTo>
                  <a:lnTo>
                    <a:pt x="19130" y="660"/>
                  </a:lnTo>
                  <a:lnTo>
                    <a:pt x="44025" y="16273"/>
                  </a:lnTo>
                  <a:lnTo>
                    <a:pt x="63581" y="31889"/>
                  </a:lnTo>
                  <a:lnTo>
                    <a:pt x="77805" y="44747"/>
                  </a:lnTo>
                  <a:lnTo>
                    <a:pt x="114254" y="73220"/>
                  </a:lnTo>
                  <a:lnTo>
                    <a:pt x="137369" y="94344"/>
                  </a:lnTo>
                  <a:close/>
                </a:path>
              </a:pathLst>
            </a:custGeom>
            <a:solidFill>
              <a:srgbClr val="E6EBE2"/>
            </a:solidFill>
            <a:ln w="4403">
              <a:solidFill>
                <a:srgbClr val="B6C3B3"/>
              </a:solidFill>
              <a:prstDash val="solid"/>
            </a:ln>
          </p:spPr>
          <p:txBody>
            <a:bodyPr/>
            <a:p/>
          </p:txBody>
        </p:sp>
        <p:sp>
          <p:nvSpPr>
            <p:cNvPr id="24" name="land-8">
              <a:extLst>
                <a:ext uri="{FF2B5EF4-FFF2-40B4-BE49-F238E27FC236}">
                  <a16:creationId xmlns:a16="http://schemas.microsoft.com/office/drawing/2014/main" id="{D61CB54E-8F65-4735-A007-0F77BCEFC515}"/>
                </a:ext>
              </a:extLst>
            </p:cNvPr>
            <p:cNvSpPr>
              <a:spLocks/>
            </p:cNvSpPr>
            <p:nvPr/>
          </p:nvSpPr>
          <p:spPr>
            <a:xfrm>
              <a:off x="6958450" y="3754577"/>
              <a:ext cx="45296" cy="30961"/>
            </a:xfrm>
            <a:custGeom>
              <a:avLst/>
              <a:gdLst/>
              <a:ahLst/>
              <a:cxnLst/>
              <a:rect l="0" t="0" r="0" b="0"/>
              <a:pathLst>
                <a:path w="63698" h="43539">
                  <a:moveTo>
                    <a:pt x="48386" y="0"/>
                  </a:moveTo>
                  <a:lnTo>
                    <a:pt x="63698" y="13251"/>
                  </a:lnTo>
                  <a:lnTo>
                    <a:pt x="56348" y="37229"/>
                  </a:lnTo>
                  <a:lnTo>
                    <a:pt x="28787" y="43539"/>
                  </a:lnTo>
                  <a:lnTo>
                    <a:pt x="4286" y="37860"/>
                  </a:lnTo>
                  <a:lnTo>
                    <a:pt x="0" y="17668"/>
                  </a:lnTo>
                  <a:lnTo>
                    <a:pt x="17150" y="1893"/>
                  </a:lnTo>
                  <a:lnTo>
                    <a:pt x="37362" y="7572"/>
                  </a:lnTo>
                  <a:lnTo>
                    <a:pt x="48386" y="0"/>
                  </a:lnTo>
                  <a:close/>
                </a:path>
              </a:pathLst>
            </a:custGeom>
            <a:solidFill>
              <a:srgbClr val="E6EBE2"/>
            </a:solidFill>
            <a:ln w="4403">
              <a:solidFill>
                <a:srgbClr val="B6C3B3"/>
              </a:solidFill>
              <a:prstDash val="solid"/>
            </a:ln>
          </p:spPr>
          <p:txBody>
            <a:bodyPr/>
            <a:p/>
          </p:txBody>
        </p:sp>
        <p:sp>
          <p:nvSpPr>
            <p:cNvPr id="25" name="land-9">
              <a:extLst>
                <a:ext uri="{FF2B5EF4-FFF2-40B4-BE49-F238E27FC236}">
                  <a16:creationId xmlns:a16="http://schemas.microsoft.com/office/drawing/2014/main" id="{D9E03A2A-8E52-4621-BD7F-F92867D098DD}"/>
                </a:ext>
              </a:extLst>
            </p:cNvPr>
            <p:cNvSpPr>
              <a:spLocks/>
            </p:cNvSpPr>
            <p:nvPr/>
          </p:nvSpPr>
          <p:spPr>
            <a:xfrm>
              <a:off x="6999914" y="3713011"/>
              <a:ext cx="44352" cy="30858"/>
            </a:xfrm>
            <a:custGeom>
              <a:avLst/>
              <a:gdLst/>
              <a:ahLst/>
              <a:cxnLst/>
              <a:rect l="0" t="0" r="0" b="0"/>
              <a:pathLst>
                <a:path w="62371" h="43394">
                  <a:moveTo>
                    <a:pt x="34107" y="33718"/>
                  </a:moveTo>
                  <a:lnTo>
                    <a:pt x="5699" y="43394"/>
                  </a:lnTo>
                  <a:lnTo>
                    <a:pt x="0" y="26269"/>
                  </a:lnTo>
                  <a:lnTo>
                    <a:pt x="22215" y="16847"/>
                  </a:lnTo>
                  <a:lnTo>
                    <a:pt x="36301" y="14325"/>
                  </a:lnTo>
                  <a:lnTo>
                    <a:pt x="62371" y="0"/>
                  </a:lnTo>
                  <a:lnTo>
                    <a:pt x="62371" y="22415"/>
                  </a:lnTo>
                  <a:lnTo>
                    <a:pt x="34107" y="33718"/>
                  </a:lnTo>
                  <a:close/>
                </a:path>
              </a:pathLst>
            </a:custGeom>
            <a:solidFill>
              <a:srgbClr val="E6EBE2"/>
            </a:solidFill>
            <a:ln w="4403">
              <a:solidFill>
                <a:srgbClr val="B6C3B3"/>
              </a:solidFill>
              <a:prstDash val="solid"/>
            </a:ln>
          </p:spPr>
          <p:txBody>
            <a:bodyPr/>
            <a:p/>
          </p:txBody>
        </p:sp>
        <p:sp>
          <p:nvSpPr>
            <p:cNvPr id="26" name="land-10">
              <a:extLst>
                <a:ext uri="{FF2B5EF4-FFF2-40B4-BE49-F238E27FC236}">
                  <a16:creationId xmlns:a16="http://schemas.microsoft.com/office/drawing/2014/main" id="{AEE630CB-830B-473E-AEEE-D1756958ED53}"/>
                </a:ext>
              </a:extLst>
            </p:cNvPr>
            <p:cNvSpPr>
              <a:spLocks/>
            </p:cNvSpPr>
            <p:nvPr/>
          </p:nvSpPr>
          <p:spPr>
            <a:xfrm>
              <a:off x="6639041" y="3707287"/>
              <a:ext cx="21016" cy="23056"/>
            </a:xfrm>
            <a:custGeom>
              <a:avLst/>
              <a:gdLst/>
              <a:ahLst/>
              <a:cxnLst/>
              <a:rect l="0" t="0" r="0" b="0"/>
              <a:pathLst>
                <a:path w="29553" h="32423">
                  <a:moveTo>
                    <a:pt x="29553" y="26383"/>
                  </a:moveTo>
                  <a:lnTo>
                    <a:pt x="14898" y="32423"/>
                  </a:lnTo>
                  <a:lnTo>
                    <a:pt x="0" y="12315"/>
                  </a:lnTo>
                  <a:lnTo>
                    <a:pt x="1635" y="0"/>
                  </a:lnTo>
                  <a:lnTo>
                    <a:pt x="29553" y="26383"/>
                  </a:lnTo>
                  <a:close/>
                </a:path>
              </a:pathLst>
            </a:custGeom>
            <a:solidFill>
              <a:srgbClr val="E6EBE2"/>
            </a:solidFill>
            <a:ln w="4403">
              <a:solidFill>
                <a:srgbClr val="B6C3B3"/>
              </a:solidFill>
              <a:prstDash val="solid"/>
            </a:ln>
          </p:spPr>
          <p:txBody>
            <a:bodyPr/>
            <a:p/>
          </p:txBody>
        </p:sp>
        <p:sp>
          <p:nvSpPr>
            <p:cNvPr id="27" name="land-11">
              <a:extLst>
                <a:ext uri="{FF2B5EF4-FFF2-40B4-BE49-F238E27FC236}">
                  <a16:creationId xmlns:a16="http://schemas.microsoft.com/office/drawing/2014/main" id="{B935EDD2-E785-4C63-8D79-501563B0E7F4}"/>
                </a:ext>
              </a:extLst>
            </p:cNvPr>
            <p:cNvSpPr>
              <a:spLocks/>
            </p:cNvSpPr>
            <p:nvPr/>
          </p:nvSpPr>
          <p:spPr>
            <a:xfrm>
              <a:off x="6621629" y="3665964"/>
              <a:ext cx="20258" cy="36365"/>
            </a:xfrm>
            <a:custGeom>
              <a:avLst/>
              <a:gdLst/>
              <a:ahLst/>
              <a:cxnLst/>
              <a:rect l="0" t="0" r="0" b="0"/>
              <a:pathLst>
                <a:path w="28488" h="51138">
                  <a:moveTo>
                    <a:pt x="21273" y="14118"/>
                  </a:moveTo>
                  <a:lnTo>
                    <a:pt x="28488" y="51138"/>
                  </a:lnTo>
                  <a:lnTo>
                    <a:pt x="16539" y="45378"/>
                  </a:lnTo>
                  <a:lnTo>
                    <a:pt x="7291" y="47867"/>
                  </a:lnTo>
                  <a:lnTo>
                    <a:pt x="921" y="35187"/>
                  </a:lnTo>
                  <a:lnTo>
                    <a:pt x="0" y="0"/>
                  </a:lnTo>
                  <a:lnTo>
                    <a:pt x="21273" y="14118"/>
                  </a:lnTo>
                  <a:close/>
                </a:path>
              </a:pathLst>
            </a:custGeom>
            <a:solidFill>
              <a:srgbClr val="E6EBE2"/>
            </a:solidFill>
            <a:ln w="4403">
              <a:solidFill>
                <a:srgbClr val="B6C3B3"/>
              </a:solidFill>
              <a:prstDash val="solid"/>
            </a:ln>
          </p:spPr>
          <p:txBody>
            <a:bodyPr/>
            <a:p/>
          </p:txBody>
        </p:sp>
        <p:sp>
          <p:nvSpPr>
            <p:cNvPr id="28" name="land-12">
              <a:extLst>
                <a:ext uri="{FF2B5EF4-FFF2-40B4-BE49-F238E27FC236}">
                  <a16:creationId xmlns:a16="http://schemas.microsoft.com/office/drawing/2014/main" id="{138E763C-9426-447E-9653-6952838BBF4F}"/>
                </a:ext>
              </a:extLst>
            </p:cNvPr>
            <p:cNvSpPr>
              <a:spLocks/>
            </p:cNvSpPr>
            <p:nvPr/>
          </p:nvSpPr>
          <p:spPr>
            <a:xfrm>
              <a:off x="2721883" y="3581515"/>
              <a:ext cx="228290" cy="442859"/>
            </a:xfrm>
            <a:custGeom>
              <a:avLst/>
              <a:gdLst/>
              <a:ahLst/>
              <a:cxnLst/>
              <a:rect l="0" t="0" r="0" b="0"/>
              <a:pathLst>
                <a:path w="321033" h="622771">
                  <a:moveTo>
                    <a:pt x="302363" y="69584"/>
                  </a:moveTo>
                  <a:lnTo>
                    <a:pt x="309516" y="124832"/>
                  </a:lnTo>
                  <a:lnTo>
                    <a:pt x="321033" y="146312"/>
                  </a:lnTo>
                  <a:lnTo>
                    <a:pt x="316614" y="168335"/>
                  </a:lnTo>
                  <a:lnTo>
                    <a:pt x="308754" y="181846"/>
                  </a:lnTo>
                  <a:lnTo>
                    <a:pt x="293655" y="154934"/>
                  </a:lnTo>
                  <a:lnTo>
                    <a:pt x="285299" y="168525"/>
                  </a:lnTo>
                  <a:lnTo>
                    <a:pt x="293777" y="202547"/>
                  </a:lnTo>
                  <a:lnTo>
                    <a:pt x="289831" y="222019"/>
                  </a:lnTo>
                  <a:lnTo>
                    <a:pt x="277565" y="232628"/>
                  </a:lnTo>
                  <a:lnTo>
                    <a:pt x="274765" y="271527"/>
                  </a:lnTo>
                  <a:lnTo>
                    <a:pt x="257259" y="325061"/>
                  </a:lnTo>
                  <a:lnTo>
                    <a:pt x="235334" y="388349"/>
                  </a:lnTo>
                  <a:lnTo>
                    <a:pt x="207873" y="475358"/>
                  </a:lnTo>
                  <a:lnTo>
                    <a:pt x="190848" y="539213"/>
                  </a:lnTo>
                  <a:lnTo>
                    <a:pt x="170758" y="592470"/>
                  </a:lnTo>
                  <a:lnTo>
                    <a:pt x="134608" y="603347"/>
                  </a:lnTo>
                  <a:lnTo>
                    <a:pt x="95804" y="622771"/>
                  </a:lnTo>
                  <a:lnTo>
                    <a:pt x="70204" y="611045"/>
                  </a:lnTo>
                  <a:lnTo>
                    <a:pt x="34917" y="594616"/>
                  </a:lnTo>
                  <a:lnTo>
                    <a:pt x="22651" y="570383"/>
                  </a:lnTo>
                  <a:lnTo>
                    <a:pt x="19718" y="529668"/>
                  </a:lnTo>
                  <a:lnTo>
                    <a:pt x="4066" y="493057"/>
                  </a:lnTo>
                  <a:lnTo>
                    <a:pt x="0" y="460015"/>
                  </a:lnTo>
                  <a:lnTo>
                    <a:pt x="7961" y="426907"/>
                  </a:lnTo>
                  <a:lnTo>
                    <a:pt x="28426" y="418954"/>
                  </a:lnTo>
                  <a:lnTo>
                    <a:pt x="28545" y="403668"/>
                  </a:lnTo>
                  <a:lnTo>
                    <a:pt x="49790" y="368854"/>
                  </a:lnTo>
                  <a:lnTo>
                    <a:pt x="53794" y="339604"/>
                  </a:lnTo>
                  <a:lnTo>
                    <a:pt x="43483" y="317861"/>
                  </a:lnTo>
                  <a:lnTo>
                    <a:pt x="35062" y="288901"/>
                  </a:lnTo>
                  <a:lnTo>
                    <a:pt x="31510" y="246584"/>
                  </a:lnTo>
                  <a:lnTo>
                    <a:pt x="47041" y="220892"/>
                  </a:lnTo>
                  <a:lnTo>
                    <a:pt x="52999" y="191764"/>
                  </a:lnTo>
                  <a:lnTo>
                    <a:pt x="75154" y="190071"/>
                  </a:lnTo>
                  <a:lnTo>
                    <a:pt x="99948" y="180657"/>
                  </a:lnTo>
                  <a:lnTo>
                    <a:pt x="116406" y="172348"/>
                  </a:lnTo>
                  <a:lnTo>
                    <a:pt x="135931" y="171731"/>
                  </a:lnTo>
                  <a:lnTo>
                    <a:pt x="161264" y="145562"/>
                  </a:lnTo>
                  <a:lnTo>
                    <a:pt x="197844" y="117279"/>
                  </a:lnTo>
                  <a:lnTo>
                    <a:pt x="211183" y="94175"/>
                  </a:lnTo>
                  <a:lnTo>
                    <a:pt x="205131" y="74549"/>
                  </a:lnTo>
                  <a:lnTo>
                    <a:pt x="224012" y="80069"/>
                  </a:lnTo>
                  <a:lnTo>
                    <a:pt x="248514" y="48157"/>
                  </a:lnTo>
                  <a:lnTo>
                    <a:pt x="249334" y="20542"/>
                  </a:lnTo>
                  <a:lnTo>
                    <a:pt x="264054" y="0"/>
                  </a:lnTo>
                  <a:lnTo>
                    <a:pt x="279561" y="19714"/>
                  </a:lnTo>
                  <a:lnTo>
                    <a:pt x="291361" y="39253"/>
                  </a:lnTo>
                  <a:lnTo>
                    <a:pt x="302363" y="69584"/>
                  </a:lnTo>
                  <a:close/>
                </a:path>
              </a:pathLst>
            </a:custGeom>
            <a:solidFill>
              <a:srgbClr val="E6EBE2"/>
            </a:solidFill>
            <a:ln w="4403">
              <a:solidFill>
                <a:srgbClr val="B6C3B3"/>
              </a:solidFill>
              <a:prstDash val="solid"/>
            </a:ln>
          </p:spPr>
          <p:txBody>
            <a:bodyPr/>
            <a:p/>
          </p:txBody>
        </p:sp>
        <p:sp>
          <p:nvSpPr>
            <p:cNvPr id="29" name="land-13">
              <a:extLst>
                <a:ext uri="{FF2B5EF4-FFF2-40B4-BE49-F238E27FC236}">
                  <a16:creationId xmlns:a16="http://schemas.microsoft.com/office/drawing/2014/main" id="{61B3E34B-221E-4DB2-8596-5BCA5A442E54}"/>
                </a:ext>
              </a:extLst>
            </p:cNvPr>
            <p:cNvSpPr>
              <a:spLocks/>
            </p:cNvSpPr>
            <p:nvPr/>
          </p:nvSpPr>
          <p:spPr>
            <a:xfrm>
              <a:off x="4937185" y="3536697"/>
              <a:ext cx="1271642" cy="926404"/>
            </a:xfrm>
            <a:custGeom>
              <a:avLst/>
              <a:gdLst/>
              <a:ahLst/>
              <a:cxnLst/>
              <a:rect l="0" t="0" r="0" b="0"/>
              <a:pathLst>
                <a:path w="1788246" h="1302755">
                  <a:moveTo>
                    <a:pt x="1343406" y="142157"/>
                  </a:moveTo>
                  <a:lnTo>
                    <a:pt x="1359421" y="178191"/>
                  </a:lnTo>
                  <a:lnTo>
                    <a:pt x="1387941" y="160872"/>
                  </a:lnTo>
                  <a:lnTo>
                    <a:pt x="1402662" y="180311"/>
                  </a:lnTo>
                  <a:lnTo>
                    <a:pt x="1423990" y="198245"/>
                  </a:lnTo>
                  <a:lnTo>
                    <a:pt x="1419424" y="218600"/>
                  </a:lnTo>
                  <a:lnTo>
                    <a:pt x="1428903" y="257978"/>
                  </a:lnTo>
                  <a:lnTo>
                    <a:pt x="1435650" y="280905"/>
                  </a:lnTo>
                  <a:lnTo>
                    <a:pt x="1446845" y="286509"/>
                  </a:lnTo>
                  <a:lnTo>
                    <a:pt x="1458909" y="325761"/>
                  </a:lnTo>
                  <a:lnTo>
                    <a:pt x="1454614" y="349569"/>
                  </a:lnTo>
                  <a:lnTo>
                    <a:pt x="1469007" y="380715"/>
                  </a:lnTo>
                  <a:lnTo>
                    <a:pt x="1517173" y="404708"/>
                  </a:lnTo>
                  <a:lnTo>
                    <a:pt x="1548578" y="426532"/>
                  </a:lnTo>
                  <a:lnTo>
                    <a:pt x="1578396" y="446521"/>
                  </a:lnTo>
                  <a:lnTo>
                    <a:pt x="1572575" y="457647"/>
                  </a:lnTo>
                  <a:lnTo>
                    <a:pt x="1597998" y="486443"/>
                  </a:lnTo>
                  <a:lnTo>
                    <a:pt x="1615286" y="536133"/>
                  </a:lnTo>
                  <a:lnTo>
                    <a:pt x="1633023" y="526042"/>
                  </a:lnTo>
                  <a:lnTo>
                    <a:pt x="1651050" y="545944"/>
                  </a:lnTo>
                  <a:lnTo>
                    <a:pt x="1661910" y="538884"/>
                  </a:lnTo>
                  <a:lnTo>
                    <a:pt x="1669569" y="587555"/>
                  </a:lnTo>
                  <a:lnTo>
                    <a:pt x="1701111" y="615754"/>
                  </a:lnTo>
                  <a:lnTo>
                    <a:pt x="1721752" y="633280"/>
                  </a:lnTo>
                  <a:lnTo>
                    <a:pt x="1756497" y="670461"/>
                  </a:lnTo>
                  <a:lnTo>
                    <a:pt x="1768986" y="707368"/>
                  </a:lnTo>
                  <a:lnTo>
                    <a:pt x="1770132" y="733552"/>
                  </a:lnTo>
                  <a:lnTo>
                    <a:pt x="1767063" y="761978"/>
                  </a:lnTo>
                  <a:lnTo>
                    <a:pt x="1788246" y="801003"/>
                  </a:lnTo>
                  <a:lnTo>
                    <a:pt x="1785697" y="841646"/>
                  </a:lnTo>
                  <a:lnTo>
                    <a:pt x="1778006" y="862915"/>
                  </a:lnTo>
                  <a:lnTo>
                    <a:pt x="1766011" y="903881"/>
                  </a:lnTo>
                  <a:lnTo>
                    <a:pt x="1766916" y="930214"/>
                  </a:lnTo>
                  <a:lnTo>
                    <a:pt x="1758114" y="963132"/>
                  </a:lnTo>
                  <a:lnTo>
                    <a:pt x="1738486" y="1004903"/>
                  </a:lnTo>
                  <a:lnTo>
                    <a:pt x="1705554" y="1027467"/>
                  </a:lnTo>
                  <a:lnTo>
                    <a:pt x="1689323" y="1063044"/>
                  </a:lnTo>
                  <a:lnTo>
                    <a:pt x="1674503" y="1085746"/>
                  </a:lnTo>
                  <a:lnTo>
                    <a:pt x="1661327" y="1125383"/>
                  </a:lnTo>
                  <a:lnTo>
                    <a:pt x="1644173" y="1148272"/>
                  </a:lnTo>
                  <a:lnTo>
                    <a:pt x="1632927" y="1182639"/>
                  </a:lnTo>
                  <a:lnTo>
                    <a:pt x="1627189" y="1214273"/>
                  </a:lnTo>
                  <a:lnTo>
                    <a:pt x="1629463" y="1228795"/>
                  </a:lnTo>
                  <a:lnTo>
                    <a:pt x="1603975" y="1244750"/>
                  </a:lnTo>
                  <a:lnTo>
                    <a:pt x="1554224" y="1246420"/>
                  </a:lnTo>
                  <a:lnTo>
                    <a:pt x="1513202" y="1265256"/>
                  </a:lnTo>
                  <a:lnTo>
                    <a:pt x="1492772" y="1283044"/>
                  </a:lnTo>
                  <a:lnTo>
                    <a:pt x="1465915" y="1302755"/>
                  </a:lnTo>
                  <a:lnTo>
                    <a:pt x="1429099" y="1282457"/>
                  </a:lnTo>
                  <a:lnTo>
                    <a:pt x="1401865" y="1274360"/>
                  </a:lnTo>
                  <a:lnTo>
                    <a:pt x="1408765" y="1250422"/>
                  </a:lnTo>
                  <a:lnTo>
                    <a:pt x="1384472" y="1259108"/>
                  </a:lnTo>
                  <a:lnTo>
                    <a:pt x="1345547" y="1292363"/>
                  </a:lnTo>
                  <a:lnTo>
                    <a:pt x="1307118" y="1279909"/>
                  </a:lnTo>
                  <a:lnTo>
                    <a:pt x="1281910" y="1272642"/>
                  </a:lnTo>
                  <a:lnTo>
                    <a:pt x="1256496" y="1269357"/>
                  </a:lnTo>
                  <a:lnTo>
                    <a:pt x="1213468" y="1256077"/>
                  </a:lnTo>
                  <a:lnTo>
                    <a:pt x="1184735" y="1227770"/>
                  </a:lnTo>
                  <a:lnTo>
                    <a:pt x="1176486" y="1192898"/>
                  </a:lnTo>
                  <a:lnTo>
                    <a:pt x="1166154" y="1169695"/>
                  </a:lnTo>
                  <a:lnTo>
                    <a:pt x="1144314" y="1151068"/>
                  </a:lnTo>
                  <a:lnTo>
                    <a:pt x="1101551" y="1145536"/>
                  </a:lnTo>
                  <a:lnTo>
                    <a:pt x="1116162" y="1123261"/>
                  </a:lnTo>
                  <a:lnTo>
                    <a:pt x="1105410" y="1089161"/>
                  </a:lnTo>
                  <a:lnTo>
                    <a:pt x="1083701" y="1120945"/>
                  </a:lnTo>
                  <a:lnTo>
                    <a:pt x="1044151" y="1129382"/>
                  </a:lnTo>
                  <a:lnTo>
                    <a:pt x="1067396" y="1103977"/>
                  </a:lnTo>
                  <a:lnTo>
                    <a:pt x="1074131" y="1077475"/>
                  </a:lnTo>
                  <a:lnTo>
                    <a:pt x="1091299" y="1054982"/>
                  </a:lnTo>
                  <a:lnTo>
                    <a:pt x="1087753" y="1020977"/>
                  </a:lnTo>
                  <a:lnTo>
                    <a:pt x="1051593" y="1060139"/>
                  </a:lnTo>
                  <a:lnTo>
                    <a:pt x="1023822" y="1075845"/>
                  </a:lnTo>
                  <a:lnTo>
                    <a:pt x="1006797" y="1112371"/>
                  </a:lnTo>
                  <a:lnTo>
                    <a:pt x="972089" y="1093475"/>
                  </a:lnTo>
                  <a:lnTo>
                    <a:pt x="973467" y="1069103"/>
                  </a:lnTo>
                  <a:lnTo>
                    <a:pt x="945650" y="1035799"/>
                  </a:lnTo>
                  <a:lnTo>
                    <a:pt x="922202" y="1018591"/>
                  </a:lnTo>
                  <a:lnTo>
                    <a:pt x="930559" y="1007990"/>
                  </a:lnTo>
                  <a:lnTo>
                    <a:pt x="873524" y="980160"/>
                  </a:lnTo>
                  <a:lnTo>
                    <a:pt x="842289" y="978848"/>
                  </a:lnTo>
                  <a:lnTo>
                    <a:pt x="799539" y="956490"/>
                  </a:lnTo>
                  <a:lnTo>
                    <a:pt x="719950" y="960835"/>
                  </a:lnTo>
                  <a:lnTo>
                    <a:pt x="662393" y="977279"/>
                  </a:lnTo>
                  <a:lnTo>
                    <a:pt x="611806" y="992607"/>
                  </a:lnTo>
                  <a:lnTo>
                    <a:pt x="569394" y="989563"/>
                  </a:lnTo>
                  <a:lnTo>
                    <a:pt x="522273" y="1013112"/>
                  </a:lnTo>
                  <a:lnTo>
                    <a:pt x="483736" y="1023708"/>
                  </a:lnTo>
                  <a:lnTo>
                    <a:pt x="475170" y="1047789"/>
                  </a:lnTo>
                  <a:lnTo>
                    <a:pt x="458756" y="1066449"/>
                  </a:lnTo>
                  <a:lnTo>
                    <a:pt x="421034" y="1067565"/>
                  </a:lnTo>
                  <a:lnTo>
                    <a:pt x="393121" y="1071649"/>
                  </a:lnTo>
                  <a:lnTo>
                    <a:pt x="353833" y="1063274"/>
                  </a:lnTo>
                  <a:lnTo>
                    <a:pt x="321876" y="1068286"/>
                  </a:lnTo>
                  <a:lnTo>
                    <a:pt x="291358" y="1070394"/>
                  </a:lnTo>
                  <a:lnTo>
                    <a:pt x="264920" y="1094885"/>
                  </a:lnTo>
                  <a:lnTo>
                    <a:pt x="251960" y="1092808"/>
                  </a:lnTo>
                  <a:lnTo>
                    <a:pt x="229663" y="1105790"/>
                  </a:lnTo>
                  <a:lnTo>
                    <a:pt x="208294" y="1120390"/>
                  </a:lnTo>
                  <a:lnTo>
                    <a:pt x="175869" y="1118586"/>
                  </a:lnTo>
                  <a:lnTo>
                    <a:pt x="146070" y="1118569"/>
                  </a:lnTo>
                  <a:lnTo>
                    <a:pt x="98919" y="1089239"/>
                  </a:lnTo>
                  <a:lnTo>
                    <a:pt x="75025" y="1080518"/>
                  </a:lnTo>
                  <a:lnTo>
                    <a:pt x="75995" y="1054199"/>
                  </a:lnTo>
                  <a:lnTo>
                    <a:pt x="98064" y="1047946"/>
                  </a:lnTo>
                  <a:lnTo>
                    <a:pt x="105601" y="1037489"/>
                  </a:lnTo>
                  <a:lnTo>
                    <a:pt x="104032" y="1020993"/>
                  </a:lnTo>
                  <a:lnTo>
                    <a:pt x="109467" y="989062"/>
                  </a:lnTo>
                  <a:lnTo>
                    <a:pt x="104487" y="961846"/>
                  </a:lnTo>
                  <a:lnTo>
                    <a:pt x="80986" y="915424"/>
                  </a:lnTo>
                  <a:lnTo>
                    <a:pt x="73702" y="889207"/>
                  </a:lnTo>
                  <a:lnTo>
                    <a:pt x="75613" y="863048"/>
                  </a:lnTo>
                  <a:lnTo>
                    <a:pt x="57919" y="833157"/>
                  </a:lnTo>
                  <a:lnTo>
                    <a:pt x="56787" y="819663"/>
                  </a:lnTo>
                  <a:lnTo>
                    <a:pt x="37099" y="801371"/>
                  </a:lnTo>
                  <a:lnTo>
                    <a:pt x="31556" y="765398"/>
                  </a:lnTo>
                  <a:lnTo>
                    <a:pt x="6158" y="729043"/>
                  </a:lnTo>
                  <a:lnTo>
                    <a:pt x="0" y="709452"/>
                  </a:lnTo>
                  <a:lnTo>
                    <a:pt x="19532" y="729313"/>
                  </a:lnTo>
                  <a:lnTo>
                    <a:pt x="4534" y="686707"/>
                  </a:lnTo>
                  <a:lnTo>
                    <a:pt x="26579" y="700023"/>
                  </a:lnTo>
                  <a:lnTo>
                    <a:pt x="39734" y="717806"/>
                  </a:lnTo>
                  <a:lnTo>
                    <a:pt x="38992" y="694285"/>
                  </a:lnTo>
                  <a:lnTo>
                    <a:pt x="16993" y="658127"/>
                  </a:lnTo>
                  <a:lnTo>
                    <a:pt x="12730" y="643662"/>
                  </a:lnTo>
                  <a:lnTo>
                    <a:pt x="2426" y="629922"/>
                  </a:lnTo>
                  <a:lnTo>
                    <a:pt x="7249" y="603358"/>
                  </a:lnTo>
                  <a:lnTo>
                    <a:pt x="16359" y="592055"/>
                  </a:lnTo>
                  <a:lnTo>
                    <a:pt x="22423" y="569082"/>
                  </a:lnTo>
                  <a:lnTo>
                    <a:pt x="17673" y="542239"/>
                  </a:lnTo>
                  <a:lnTo>
                    <a:pt x="36040" y="509192"/>
                  </a:lnTo>
                  <a:lnTo>
                    <a:pt x="39398" y="544169"/>
                  </a:lnTo>
                  <a:lnTo>
                    <a:pt x="58177" y="512574"/>
                  </a:lnTo>
                  <a:lnTo>
                    <a:pt x="94288" y="497220"/>
                  </a:lnTo>
                  <a:lnTo>
                    <a:pt x="115944" y="477634"/>
                  </a:lnTo>
                  <a:lnTo>
                    <a:pt x="149915" y="460779"/>
                  </a:lnTo>
                  <a:lnTo>
                    <a:pt x="170126" y="457193"/>
                  </a:lnTo>
                  <a:lnTo>
                    <a:pt x="182360" y="462856"/>
                  </a:lnTo>
                  <a:lnTo>
                    <a:pt x="217387" y="445740"/>
                  </a:lnTo>
                  <a:lnTo>
                    <a:pt x="244348" y="440648"/>
                  </a:lnTo>
                  <a:lnTo>
                    <a:pt x="251092" y="430585"/>
                  </a:lnTo>
                  <a:lnTo>
                    <a:pt x="262857" y="426394"/>
                  </a:lnTo>
                  <a:lnTo>
                    <a:pt x="287426" y="427476"/>
                  </a:lnTo>
                  <a:lnTo>
                    <a:pt x="334143" y="414030"/>
                  </a:lnTo>
                  <a:lnTo>
                    <a:pt x="358307" y="393642"/>
                  </a:lnTo>
                  <a:lnTo>
                    <a:pt x="369654" y="369098"/>
                  </a:lnTo>
                  <a:lnTo>
                    <a:pt x="395726" y="345784"/>
                  </a:lnTo>
                  <a:lnTo>
                    <a:pt x="397724" y="327458"/>
                  </a:lnTo>
                  <a:lnTo>
                    <a:pt x="398886" y="302492"/>
                  </a:lnTo>
                  <a:lnTo>
                    <a:pt x="429992" y="263467"/>
                  </a:lnTo>
                  <a:lnTo>
                    <a:pt x="448715" y="303116"/>
                  </a:lnTo>
                  <a:lnTo>
                    <a:pt x="467631" y="293953"/>
                  </a:lnTo>
                  <a:lnTo>
                    <a:pt x="451803" y="272253"/>
                  </a:lnTo>
                  <a:lnTo>
                    <a:pt x="465752" y="249971"/>
                  </a:lnTo>
                  <a:lnTo>
                    <a:pt x="485364" y="259919"/>
                  </a:lnTo>
                  <a:lnTo>
                    <a:pt x="490762" y="224976"/>
                  </a:lnTo>
                  <a:lnTo>
                    <a:pt x="515051" y="202384"/>
                  </a:lnTo>
                  <a:lnTo>
                    <a:pt x="525769" y="184257"/>
                  </a:lnTo>
                  <a:lnTo>
                    <a:pt x="548119" y="176435"/>
                  </a:lnTo>
                  <a:lnTo>
                    <a:pt x="548817" y="163603"/>
                  </a:lnTo>
                  <a:lnTo>
                    <a:pt x="568346" y="168962"/>
                  </a:lnTo>
                  <a:lnTo>
                    <a:pt x="569132" y="157419"/>
                  </a:lnTo>
                  <a:lnTo>
                    <a:pt x="588680" y="150843"/>
                  </a:lnTo>
                  <a:lnTo>
                    <a:pt x="610161" y="144651"/>
                  </a:lnTo>
                  <a:lnTo>
                    <a:pt x="642999" y="165727"/>
                  </a:lnTo>
                  <a:lnTo>
                    <a:pt x="667672" y="192926"/>
                  </a:lnTo>
                  <a:lnTo>
                    <a:pt x="695491" y="193240"/>
                  </a:lnTo>
                  <a:lnTo>
                    <a:pt x="723758" y="197547"/>
                  </a:lnTo>
                  <a:lnTo>
                    <a:pt x="714340" y="172329"/>
                  </a:lnTo>
                  <a:lnTo>
                    <a:pt x="735634" y="135500"/>
                  </a:lnTo>
                  <a:lnTo>
                    <a:pt x="755673" y="123499"/>
                  </a:lnTo>
                  <a:lnTo>
                    <a:pt x="748740" y="112024"/>
                  </a:lnTo>
                  <a:lnTo>
                    <a:pt x="768045" y="85796"/>
                  </a:lnTo>
                  <a:lnTo>
                    <a:pt x="794968" y="69596"/>
                  </a:lnTo>
                  <a:lnTo>
                    <a:pt x="817708" y="75052"/>
                  </a:lnTo>
                  <a:lnTo>
                    <a:pt x="855056" y="66400"/>
                  </a:lnTo>
                  <a:lnTo>
                    <a:pt x="854252" y="42931"/>
                  </a:lnTo>
                  <a:lnTo>
                    <a:pt x="821691" y="27811"/>
                  </a:lnTo>
                  <a:lnTo>
                    <a:pt x="845362" y="21140"/>
                  </a:lnTo>
                  <a:lnTo>
                    <a:pt x="874803" y="32525"/>
                  </a:lnTo>
                  <a:lnTo>
                    <a:pt x="898419" y="51358"/>
                  </a:lnTo>
                  <a:lnTo>
                    <a:pt x="935855" y="63108"/>
                  </a:lnTo>
                  <a:lnTo>
                    <a:pt x="948549" y="58461"/>
                  </a:lnTo>
                  <a:lnTo>
                    <a:pt x="976101" y="72579"/>
                  </a:lnTo>
                  <a:lnTo>
                    <a:pt x="1002069" y="59430"/>
                  </a:lnTo>
                  <a:lnTo>
                    <a:pt x="1018769" y="63428"/>
                  </a:lnTo>
                  <a:lnTo>
                    <a:pt x="1029174" y="54605"/>
                  </a:lnTo>
                  <a:lnTo>
                    <a:pt x="1049583" y="77326"/>
                  </a:lnTo>
                  <a:lnTo>
                    <a:pt x="1037737" y="101907"/>
                  </a:lnTo>
                  <a:lnTo>
                    <a:pt x="1020859" y="120461"/>
                  </a:lnTo>
                  <a:lnTo>
                    <a:pt x="1005584" y="121989"/>
                  </a:lnTo>
                  <a:lnTo>
                    <a:pt x="1010734" y="140348"/>
                  </a:lnTo>
                  <a:lnTo>
                    <a:pt x="997675" y="163297"/>
                  </a:lnTo>
                  <a:lnTo>
                    <a:pt x="981888" y="185866"/>
                  </a:lnTo>
                  <a:lnTo>
                    <a:pt x="985067" y="198831"/>
                  </a:lnTo>
                  <a:lnTo>
                    <a:pt x="1020404" y="224205"/>
                  </a:lnTo>
                  <a:lnTo>
                    <a:pt x="1054639" y="238924"/>
                  </a:lnTo>
                  <a:lnTo>
                    <a:pt x="1077535" y="254736"/>
                  </a:lnTo>
                  <a:lnTo>
                    <a:pt x="1109662" y="281947"/>
                  </a:lnTo>
                  <a:lnTo>
                    <a:pt x="1122194" y="281902"/>
                  </a:lnTo>
                  <a:lnTo>
                    <a:pt x="1145458" y="293661"/>
                  </a:lnTo>
                  <a:lnTo>
                    <a:pt x="1152216" y="307848"/>
                  </a:lnTo>
                  <a:lnTo>
                    <a:pt x="1194651" y="323426"/>
                  </a:lnTo>
                  <a:lnTo>
                    <a:pt x="1223998" y="307732"/>
                  </a:lnTo>
                  <a:lnTo>
                    <a:pt x="1232694" y="283070"/>
                  </a:lnTo>
                  <a:lnTo>
                    <a:pt x="1241717" y="262717"/>
                  </a:lnTo>
                  <a:lnTo>
                    <a:pt x="1247235" y="237535"/>
                  </a:lnTo>
                  <a:lnTo>
                    <a:pt x="1260746" y="200998"/>
                  </a:lnTo>
                  <a:lnTo>
                    <a:pt x="1254576" y="178789"/>
                  </a:lnTo>
                  <a:lnTo>
                    <a:pt x="1257782" y="165428"/>
                  </a:lnTo>
                  <a:lnTo>
                    <a:pt x="1252642" y="139145"/>
                  </a:lnTo>
                  <a:lnTo>
                    <a:pt x="1258467" y="104546"/>
                  </a:lnTo>
                  <a:lnTo>
                    <a:pt x="1266991" y="95217"/>
                  </a:lnTo>
                  <a:lnTo>
                    <a:pt x="1260070" y="79882"/>
                  </a:lnTo>
                  <a:lnTo>
                    <a:pt x="1270811" y="55535"/>
                  </a:lnTo>
                  <a:lnTo>
                    <a:pt x="1279250" y="30303"/>
                  </a:lnTo>
                  <a:lnTo>
                    <a:pt x="1280371" y="17201"/>
                  </a:lnTo>
                  <a:lnTo>
                    <a:pt x="1296887" y="0"/>
                  </a:lnTo>
                  <a:lnTo>
                    <a:pt x="1309424" y="22465"/>
                  </a:lnTo>
                  <a:lnTo>
                    <a:pt x="1312511" y="51275"/>
                  </a:lnTo>
                  <a:lnTo>
                    <a:pt x="1323587" y="56829"/>
                  </a:lnTo>
                  <a:lnTo>
                    <a:pt x="1325485" y="76118"/>
                  </a:lnTo>
                  <a:lnTo>
                    <a:pt x="1341642" y="99480"/>
                  </a:lnTo>
                  <a:lnTo>
                    <a:pt x="1344977" y="125475"/>
                  </a:lnTo>
                  <a:lnTo>
                    <a:pt x="1343406" y="142157"/>
                  </a:lnTo>
                  <a:close/>
                </a:path>
              </a:pathLst>
            </a:custGeom>
            <a:solidFill>
              <a:srgbClr val="E6EBE2"/>
            </a:solidFill>
            <a:ln w="4403">
              <a:solidFill>
                <a:srgbClr val="B6C3B3"/>
              </a:solidFill>
              <a:prstDash val="solid"/>
            </a:ln>
          </p:spPr>
          <p:txBody>
            <a:bodyPr/>
            <a:p/>
          </p:txBody>
        </p:sp>
        <p:sp>
          <p:nvSpPr>
            <p:cNvPr id="30" name="land-14">
              <a:extLst>
                <a:ext uri="{FF2B5EF4-FFF2-40B4-BE49-F238E27FC236}">
                  <a16:creationId xmlns:a16="http://schemas.microsoft.com/office/drawing/2014/main" id="{F3EE4B88-5FD0-4524-A823-92631F9F822D}"/>
                </a:ext>
              </a:extLst>
            </p:cNvPr>
            <p:cNvSpPr>
              <a:spLocks/>
            </p:cNvSpPr>
            <p:nvPr/>
          </p:nvSpPr>
          <p:spPr>
            <a:xfrm>
              <a:off x="6453806" y="3521563"/>
              <a:ext cx="34101" cy="20300"/>
            </a:xfrm>
            <a:custGeom>
              <a:avLst/>
              <a:gdLst/>
              <a:ahLst/>
              <a:cxnLst/>
              <a:rect l="0" t="0" r="0" b="0"/>
              <a:pathLst>
                <a:path w="47955" h="28547">
                  <a:moveTo>
                    <a:pt x="35526" y="12765"/>
                  </a:moveTo>
                  <a:lnTo>
                    <a:pt x="47955" y="28547"/>
                  </a:lnTo>
                  <a:lnTo>
                    <a:pt x="16901" y="28255"/>
                  </a:lnTo>
                  <a:lnTo>
                    <a:pt x="0" y="0"/>
                  </a:lnTo>
                  <a:lnTo>
                    <a:pt x="26563" y="11111"/>
                  </a:lnTo>
                  <a:lnTo>
                    <a:pt x="35526" y="12765"/>
                  </a:lnTo>
                  <a:close/>
                </a:path>
              </a:pathLst>
            </a:custGeom>
            <a:solidFill>
              <a:srgbClr val="E6EBE2"/>
            </a:solidFill>
            <a:ln w="4403">
              <a:solidFill>
                <a:srgbClr val="B6C3B3"/>
              </a:solidFill>
              <a:prstDash val="solid"/>
            </a:ln>
          </p:spPr>
          <p:txBody>
            <a:bodyPr/>
            <a:p/>
          </p:txBody>
        </p:sp>
        <p:sp>
          <p:nvSpPr>
            <p:cNvPr id="31" name="land-15">
              <a:extLst>
                <a:ext uri="{FF2B5EF4-FFF2-40B4-BE49-F238E27FC236}">
                  <a16:creationId xmlns:a16="http://schemas.microsoft.com/office/drawing/2014/main" id="{C8C3E07D-91E0-4C88-AE54-CFF990C68021}"/>
                </a:ext>
              </a:extLst>
            </p:cNvPr>
            <p:cNvSpPr>
              <a:spLocks/>
            </p:cNvSpPr>
            <p:nvPr/>
          </p:nvSpPr>
          <p:spPr>
            <a:xfrm>
              <a:off x="5115107" y="3494019"/>
              <a:ext cx="57139" cy="29304"/>
            </a:xfrm>
            <a:custGeom>
              <a:avLst/>
              <a:gdLst/>
              <a:ahLst/>
              <a:cxnLst/>
              <a:rect l="0" t="0" r="0" b="0"/>
              <a:pathLst>
                <a:path w="80352" h="41208">
                  <a:moveTo>
                    <a:pt x="77690" y="40332"/>
                  </a:moveTo>
                  <a:lnTo>
                    <a:pt x="58994" y="41208"/>
                  </a:lnTo>
                  <a:lnTo>
                    <a:pt x="0" y="9030"/>
                  </a:lnTo>
                  <a:lnTo>
                    <a:pt x="41450" y="0"/>
                  </a:lnTo>
                  <a:lnTo>
                    <a:pt x="64806" y="13988"/>
                  </a:lnTo>
                  <a:lnTo>
                    <a:pt x="80352" y="27937"/>
                  </a:lnTo>
                  <a:lnTo>
                    <a:pt x="77690" y="40332"/>
                  </a:lnTo>
                  <a:close/>
                </a:path>
              </a:pathLst>
            </a:custGeom>
            <a:solidFill>
              <a:srgbClr val="E6EBE2"/>
            </a:solidFill>
            <a:ln w="4403">
              <a:solidFill>
                <a:srgbClr val="B6C3B3"/>
              </a:solidFill>
              <a:prstDash val="solid"/>
            </a:ln>
          </p:spPr>
          <p:txBody>
            <a:bodyPr/>
            <a:p/>
          </p:txBody>
        </p:sp>
        <p:sp>
          <p:nvSpPr>
            <p:cNvPr id="32" name="land-16">
              <a:extLst>
                <a:ext uri="{FF2B5EF4-FFF2-40B4-BE49-F238E27FC236}">
                  <a16:creationId xmlns:a16="http://schemas.microsoft.com/office/drawing/2014/main" id="{147282F8-BFBD-45F1-B7B0-1187F7954D56}"/>
                </a:ext>
              </a:extLst>
            </p:cNvPr>
            <p:cNvSpPr>
              <a:spLocks/>
            </p:cNvSpPr>
            <p:nvPr/>
          </p:nvSpPr>
          <p:spPr>
            <a:xfrm>
              <a:off x="6400710" y="3490153"/>
              <a:ext cx="38317" cy="21301"/>
            </a:xfrm>
            <a:custGeom>
              <a:avLst/>
              <a:gdLst/>
              <a:ahLst/>
              <a:cxnLst/>
              <a:rect l="0" t="0" r="0" b="0"/>
              <a:pathLst>
                <a:path w="53883" h="29954">
                  <a:moveTo>
                    <a:pt x="53883" y="28932"/>
                  </a:moveTo>
                  <a:lnTo>
                    <a:pt x="36564" y="29954"/>
                  </a:lnTo>
                  <a:lnTo>
                    <a:pt x="9310" y="25308"/>
                  </a:lnTo>
                  <a:lnTo>
                    <a:pt x="0" y="18233"/>
                  </a:lnTo>
                  <a:lnTo>
                    <a:pt x="2798" y="0"/>
                  </a:lnTo>
                  <a:lnTo>
                    <a:pt x="32135" y="7226"/>
                  </a:lnTo>
                  <a:lnTo>
                    <a:pt x="46606" y="16864"/>
                  </a:lnTo>
                  <a:lnTo>
                    <a:pt x="53883" y="28932"/>
                  </a:lnTo>
                  <a:close/>
                </a:path>
              </a:pathLst>
            </a:custGeom>
            <a:solidFill>
              <a:srgbClr val="E6EBE2"/>
            </a:solidFill>
            <a:ln w="4403">
              <a:solidFill>
                <a:srgbClr val="B6C3B3"/>
              </a:solidFill>
              <a:prstDash val="solid"/>
            </a:ln>
          </p:spPr>
          <p:txBody>
            <a:bodyPr/>
            <a:p/>
          </p:txBody>
        </p:sp>
        <p:sp>
          <p:nvSpPr>
            <p:cNvPr id="33" name="land-17">
              <a:extLst>
                <a:ext uri="{FF2B5EF4-FFF2-40B4-BE49-F238E27FC236}">
                  <a16:creationId xmlns:a16="http://schemas.microsoft.com/office/drawing/2014/main" id="{4A0E3FCA-6158-4BD2-A156-704D054A192C}"/>
                </a:ext>
              </a:extLst>
            </p:cNvPr>
            <p:cNvSpPr>
              <a:spLocks/>
            </p:cNvSpPr>
            <p:nvPr/>
          </p:nvSpPr>
          <p:spPr>
            <a:xfrm>
              <a:off x="6430422" y="3460012"/>
              <a:ext cx="34769" cy="47820"/>
            </a:xfrm>
            <a:custGeom>
              <a:avLst/>
              <a:gdLst/>
              <a:ahLst/>
              <a:cxnLst/>
              <a:rect l="0" t="0" r="0" b="0"/>
              <a:pathLst>
                <a:path w="48894" h="67247">
                  <a:moveTo>
                    <a:pt x="48894" y="58782"/>
                  </a:moveTo>
                  <a:lnTo>
                    <a:pt x="42201" y="67247"/>
                  </a:lnTo>
                  <a:lnTo>
                    <a:pt x="9257" y="27441"/>
                  </a:lnTo>
                  <a:lnTo>
                    <a:pt x="0" y="0"/>
                  </a:lnTo>
                  <a:lnTo>
                    <a:pt x="15114" y="0"/>
                  </a:lnTo>
                  <a:lnTo>
                    <a:pt x="31115" y="36739"/>
                  </a:lnTo>
                  <a:lnTo>
                    <a:pt x="48894" y="58782"/>
                  </a:lnTo>
                  <a:close/>
                </a:path>
              </a:pathLst>
            </a:custGeom>
            <a:solidFill>
              <a:srgbClr val="E6EBE2"/>
            </a:solidFill>
            <a:ln w="4403">
              <a:solidFill>
                <a:srgbClr val="B6C3B3"/>
              </a:solidFill>
              <a:prstDash val="solid"/>
            </a:ln>
          </p:spPr>
          <p:txBody>
            <a:bodyPr/>
            <a:p/>
          </p:txBody>
        </p:sp>
        <p:sp>
          <p:nvSpPr>
            <p:cNvPr id="34" name="land-18">
              <a:extLst>
                <a:ext uri="{FF2B5EF4-FFF2-40B4-BE49-F238E27FC236}">
                  <a16:creationId xmlns:a16="http://schemas.microsoft.com/office/drawing/2014/main" id="{F72A2264-10EE-4CFE-9099-A1F3C3BD85AC}"/>
                </a:ext>
              </a:extLst>
            </p:cNvPr>
            <p:cNvSpPr>
              <a:spLocks/>
            </p:cNvSpPr>
            <p:nvPr/>
          </p:nvSpPr>
          <p:spPr>
            <a:xfrm>
              <a:off x="5257100" y="3458489"/>
              <a:ext cx="122514" cy="68144"/>
            </a:xfrm>
            <a:custGeom>
              <a:avLst/>
              <a:gdLst/>
              <a:ahLst/>
              <a:cxnLst/>
              <a:rect l="0" t="0" r="0" b="0"/>
              <a:pathLst>
                <a:path w="172285" h="95827">
                  <a:moveTo>
                    <a:pt x="43381" y="85725"/>
                  </a:moveTo>
                  <a:lnTo>
                    <a:pt x="5334" y="95827"/>
                  </a:lnTo>
                  <a:lnTo>
                    <a:pt x="0" y="90317"/>
                  </a:lnTo>
                  <a:lnTo>
                    <a:pt x="4001" y="74703"/>
                  </a:lnTo>
                  <a:lnTo>
                    <a:pt x="23115" y="46690"/>
                  </a:lnTo>
                  <a:lnTo>
                    <a:pt x="67061" y="28447"/>
                  </a:lnTo>
                  <a:lnTo>
                    <a:pt x="72287" y="17614"/>
                  </a:lnTo>
                  <a:lnTo>
                    <a:pt x="110551" y="7290"/>
                  </a:lnTo>
                  <a:lnTo>
                    <a:pt x="141561" y="5736"/>
                  </a:lnTo>
                  <a:lnTo>
                    <a:pt x="155453" y="0"/>
                  </a:lnTo>
                  <a:lnTo>
                    <a:pt x="172285" y="5693"/>
                  </a:lnTo>
                  <a:lnTo>
                    <a:pt x="155931" y="18136"/>
                  </a:lnTo>
                  <a:lnTo>
                    <a:pt x="109609" y="38239"/>
                  </a:lnTo>
                  <a:lnTo>
                    <a:pt x="72388" y="51427"/>
                  </a:lnTo>
                  <a:lnTo>
                    <a:pt x="43381" y="85725"/>
                  </a:lnTo>
                  <a:close/>
                </a:path>
              </a:pathLst>
            </a:custGeom>
            <a:solidFill>
              <a:srgbClr val="E6EBE2"/>
            </a:solidFill>
            <a:ln w="4403">
              <a:solidFill>
                <a:srgbClr val="B6C3B3"/>
              </a:solidFill>
              <a:prstDash val="solid"/>
            </a:ln>
          </p:spPr>
          <p:txBody>
            <a:bodyPr/>
            <a:p/>
          </p:txBody>
        </p:sp>
        <p:sp>
          <p:nvSpPr>
            <p:cNvPr id="35" name="land-19">
              <a:extLst>
                <a:ext uri="{FF2B5EF4-FFF2-40B4-BE49-F238E27FC236}">
                  <a16:creationId xmlns:a16="http://schemas.microsoft.com/office/drawing/2014/main" id="{701099E0-4B03-41CB-A5F6-7FE444A81599}"/>
                </a:ext>
              </a:extLst>
            </p:cNvPr>
            <p:cNvSpPr>
              <a:spLocks/>
            </p:cNvSpPr>
            <p:nvPr/>
          </p:nvSpPr>
          <p:spPr>
            <a:xfrm>
              <a:off x="5044693" y="3452687"/>
              <a:ext cx="75430" cy="30868"/>
            </a:xfrm>
            <a:custGeom>
              <a:avLst/>
              <a:gdLst/>
              <a:ahLst/>
              <a:cxnLst/>
              <a:rect l="0" t="0" r="0" b="0"/>
              <a:pathLst>
                <a:path w="106074" h="43408">
                  <a:moveTo>
                    <a:pt x="51557" y="0"/>
                  </a:moveTo>
                  <a:lnTo>
                    <a:pt x="67585" y="12248"/>
                  </a:lnTo>
                  <a:lnTo>
                    <a:pt x="95048" y="8496"/>
                  </a:lnTo>
                  <a:lnTo>
                    <a:pt x="106074" y="28020"/>
                  </a:lnTo>
                  <a:lnTo>
                    <a:pt x="54685" y="37243"/>
                  </a:lnTo>
                  <a:lnTo>
                    <a:pt x="23896" y="43408"/>
                  </a:lnTo>
                  <a:lnTo>
                    <a:pt x="0" y="43043"/>
                  </a:lnTo>
                  <a:lnTo>
                    <a:pt x="15273" y="16601"/>
                  </a:lnTo>
                  <a:lnTo>
                    <a:pt x="39644" y="16240"/>
                  </a:lnTo>
                  <a:lnTo>
                    <a:pt x="51557" y="0"/>
                  </a:lnTo>
                  <a:close/>
                </a:path>
              </a:pathLst>
            </a:custGeom>
            <a:solidFill>
              <a:srgbClr val="E6EBE2"/>
            </a:solidFill>
            <a:ln w="4403">
              <a:solidFill>
                <a:srgbClr val="B6C3B3"/>
              </a:solidFill>
              <a:prstDash val="solid"/>
            </a:ln>
          </p:spPr>
          <p:txBody>
            <a:bodyPr/>
            <a:p/>
          </p:txBody>
        </p:sp>
        <p:sp>
          <p:nvSpPr>
            <p:cNvPr id="36" name="land-20">
              <a:extLst>
                <a:ext uri="{FF2B5EF4-FFF2-40B4-BE49-F238E27FC236}">
                  <a16:creationId xmlns:a16="http://schemas.microsoft.com/office/drawing/2014/main" id="{1D57AFCA-9C4A-4D89-BA40-C692C580FE71}"/>
                </a:ext>
              </a:extLst>
            </p:cNvPr>
            <p:cNvSpPr>
              <a:spLocks/>
            </p:cNvSpPr>
            <p:nvPr/>
          </p:nvSpPr>
          <p:spPr>
            <a:xfrm>
              <a:off x="5145234" y="3452639"/>
              <a:ext cx="94277" cy="27413"/>
            </a:xfrm>
            <a:custGeom>
              <a:avLst/>
              <a:gdLst/>
              <a:ahLst/>
              <a:cxnLst/>
              <a:rect l="0" t="0" r="0" b="0"/>
              <a:pathLst>
                <a:path w="132577" h="38550">
                  <a:moveTo>
                    <a:pt x="132577" y="0"/>
                  </a:moveTo>
                  <a:lnTo>
                    <a:pt x="126063" y="25514"/>
                  </a:lnTo>
                  <a:lnTo>
                    <a:pt x="59277" y="38550"/>
                  </a:lnTo>
                  <a:lnTo>
                    <a:pt x="154" y="32890"/>
                  </a:lnTo>
                  <a:lnTo>
                    <a:pt x="0" y="16102"/>
                  </a:lnTo>
                  <a:lnTo>
                    <a:pt x="35301" y="6555"/>
                  </a:lnTo>
                  <a:lnTo>
                    <a:pt x="63152" y="20322"/>
                  </a:lnTo>
                  <a:lnTo>
                    <a:pt x="92742" y="16826"/>
                  </a:lnTo>
                  <a:lnTo>
                    <a:pt x="132577" y="0"/>
                  </a:lnTo>
                  <a:close/>
                </a:path>
              </a:pathLst>
            </a:custGeom>
            <a:solidFill>
              <a:srgbClr val="E6EBE2"/>
            </a:solidFill>
            <a:ln w="4403">
              <a:solidFill>
                <a:srgbClr val="B6C3B3"/>
              </a:solidFill>
              <a:prstDash val="solid"/>
            </a:ln>
          </p:spPr>
          <p:txBody>
            <a:bodyPr/>
            <a:p/>
          </p:txBody>
        </p:sp>
        <p:sp>
          <p:nvSpPr>
            <p:cNvPr id="37" name="land-21">
              <a:extLst>
                <a:ext uri="{FF2B5EF4-FFF2-40B4-BE49-F238E27FC236}">
                  <a16:creationId xmlns:a16="http://schemas.microsoft.com/office/drawing/2014/main" id="{29DA1336-AFA6-4D67-BC12-125CD6D26E7D}"/>
                </a:ext>
              </a:extLst>
            </p:cNvPr>
            <p:cNvSpPr>
              <a:spLocks/>
            </p:cNvSpPr>
            <p:nvPr/>
          </p:nvSpPr>
          <p:spPr>
            <a:xfrm>
              <a:off x="6355545" y="3427356"/>
              <a:ext cx="53933" cy="39785"/>
            </a:xfrm>
            <a:custGeom>
              <a:avLst/>
              <a:gdLst/>
              <a:ahLst/>
              <a:cxnLst/>
              <a:rect l="0" t="0" r="0" b="0"/>
              <a:pathLst>
                <a:path w="75843" h="55948">
                  <a:moveTo>
                    <a:pt x="73959" y="46719"/>
                  </a:moveTo>
                  <a:lnTo>
                    <a:pt x="75843" y="55948"/>
                  </a:lnTo>
                  <a:lnTo>
                    <a:pt x="41006" y="36471"/>
                  </a:lnTo>
                  <a:lnTo>
                    <a:pt x="16667" y="19968"/>
                  </a:lnTo>
                  <a:lnTo>
                    <a:pt x="0" y="4678"/>
                  </a:lnTo>
                  <a:lnTo>
                    <a:pt x="6615" y="0"/>
                  </a:lnTo>
                  <a:lnTo>
                    <a:pt x="27063" y="11021"/>
                  </a:lnTo>
                  <a:lnTo>
                    <a:pt x="63513" y="32147"/>
                  </a:lnTo>
                  <a:lnTo>
                    <a:pt x="73959" y="46719"/>
                  </a:lnTo>
                  <a:close/>
                </a:path>
              </a:pathLst>
            </a:custGeom>
            <a:solidFill>
              <a:srgbClr val="E6EBE2"/>
            </a:solidFill>
            <a:ln w="4403">
              <a:solidFill>
                <a:srgbClr val="B6C3B3"/>
              </a:solidFill>
              <a:prstDash val="solid"/>
            </a:ln>
          </p:spPr>
          <p:txBody>
            <a:bodyPr/>
            <a:p/>
          </p:txBody>
        </p:sp>
        <p:sp>
          <p:nvSpPr>
            <p:cNvPr id="38" name="land-22">
              <a:extLst>
                <a:ext uri="{FF2B5EF4-FFF2-40B4-BE49-F238E27FC236}">
                  <a16:creationId xmlns:a16="http://schemas.microsoft.com/office/drawing/2014/main" id="{8A411108-AD38-48CD-8304-17B5BF20D1FC}"/>
                </a:ext>
              </a:extLst>
            </p:cNvPr>
            <p:cNvSpPr>
              <a:spLocks/>
            </p:cNvSpPr>
            <p:nvPr/>
          </p:nvSpPr>
          <p:spPr>
            <a:xfrm>
              <a:off x="6301185" y="3403820"/>
              <a:ext cx="33097" cy="26303"/>
            </a:xfrm>
            <a:custGeom>
              <a:avLst/>
              <a:gdLst/>
              <a:ahLst/>
              <a:cxnLst/>
              <a:rect l="0" t="0" r="0" b="0"/>
              <a:pathLst>
                <a:path w="46542" h="36989">
                  <a:moveTo>
                    <a:pt x="46542" y="34373"/>
                  </a:moveTo>
                  <a:lnTo>
                    <a:pt x="37696" y="36989"/>
                  </a:lnTo>
                  <a:lnTo>
                    <a:pt x="18254" y="26523"/>
                  </a:lnTo>
                  <a:lnTo>
                    <a:pt x="0" y="7651"/>
                  </a:lnTo>
                  <a:lnTo>
                    <a:pt x="2288" y="0"/>
                  </a:lnTo>
                  <a:lnTo>
                    <a:pt x="28832" y="19394"/>
                  </a:lnTo>
                  <a:lnTo>
                    <a:pt x="46542" y="34373"/>
                  </a:lnTo>
                  <a:close/>
                </a:path>
              </a:pathLst>
            </a:custGeom>
            <a:solidFill>
              <a:srgbClr val="E6EBE2"/>
            </a:solidFill>
            <a:ln w="4403">
              <a:solidFill>
                <a:srgbClr val="B6C3B3"/>
              </a:solidFill>
              <a:prstDash val="solid"/>
            </a:ln>
          </p:spPr>
          <p:txBody>
            <a:bodyPr/>
            <a:p/>
          </p:txBody>
        </p:sp>
        <p:sp>
          <p:nvSpPr>
            <p:cNvPr id="39" name="land-23">
              <a:extLst>
                <a:ext uri="{FF2B5EF4-FFF2-40B4-BE49-F238E27FC236}">
                  <a16:creationId xmlns:a16="http://schemas.microsoft.com/office/drawing/2014/main" id="{4A919FA3-2180-459F-962B-D55633AE60E4}"/>
                </a:ext>
              </a:extLst>
            </p:cNvPr>
            <p:cNvSpPr>
              <a:spLocks/>
            </p:cNvSpPr>
            <p:nvPr/>
          </p:nvSpPr>
          <p:spPr>
            <a:xfrm>
              <a:off x="4685153" y="3380849"/>
              <a:ext cx="326837" cy="93265"/>
            </a:xfrm>
            <a:custGeom>
              <a:avLst/>
              <a:gdLst/>
              <a:ahLst/>
              <a:cxnLst/>
              <a:rect l="0" t="0" r="0" b="0"/>
              <a:pathLst>
                <a:path w="459615" h="131155">
                  <a:moveTo>
                    <a:pt x="144818" y="40494"/>
                  </a:moveTo>
                  <a:lnTo>
                    <a:pt x="229973" y="45072"/>
                  </a:lnTo>
                  <a:lnTo>
                    <a:pt x="239767" y="26143"/>
                  </a:lnTo>
                  <a:lnTo>
                    <a:pt x="322232" y="48226"/>
                  </a:lnTo>
                  <a:lnTo>
                    <a:pt x="338410" y="77993"/>
                  </a:lnTo>
                  <a:lnTo>
                    <a:pt x="405093" y="86365"/>
                  </a:lnTo>
                  <a:lnTo>
                    <a:pt x="459615" y="113657"/>
                  </a:lnTo>
                  <a:lnTo>
                    <a:pt x="408897" y="131155"/>
                  </a:lnTo>
                  <a:lnTo>
                    <a:pt x="360012" y="112653"/>
                  </a:lnTo>
                  <a:lnTo>
                    <a:pt x="319782" y="113904"/>
                  </a:lnTo>
                  <a:lnTo>
                    <a:pt x="273660" y="110503"/>
                  </a:lnTo>
                  <a:lnTo>
                    <a:pt x="232059" y="102259"/>
                  </a:lnTo>
                  <a:lnTo>
                    <a:pt x="180564" y="84718"/>
                  </a:lnTo>
                  <a:lnTo>
                    <a:pt x="147937" y="80169"/>
                  </a:lnTo>
                  <a:lnTo>
                    <a:pt x="129451" y="85912"/>
                  </a:lnTo>
                  <a:lnTo>
                    <a:pt x="48389" y="67002"/>
                  </a:lnTo>
                  <a:lnTo>
                    <a:pt x="40678" y="47255"/>
                  </a:lnTo>
                  <a:lnTo>
                    <a:pt x="0" y="43880"/>
                  </a:lnTo>
                  <a:lnTo>
                    <a:pt x="30500" y="0"/>
                  </a:lnTo>
                  <a:lnTo>
                    <a:pt x="84434" y="2713"/>
                  </a:lnTo>
                  <a:lnTo>
                    <a:pt x="120309" y="20659"/>
                  </a:lnTo>
                  <a:lnTo>
                    <a:pt x="138744" y="24159"/>
                  </a:lnTo>
                  <a:lnTo>
                    <a:pt x="144818" y="40494"/>
                  </a:lnTo>
                  <a:close/>
                </a:path>
              </a:pathLst>
            </a:custGeom>
            <a:solidFill>
              <a:srgbClr val="E6EBE2"/>
            </a:solidFill>
            <a:ln w="4403">
              <a:solidFill>
                <a:srgbClr val="B6C3B3"/>
              </a:solidFill>
              <a:prstDash val="solid"/>
            </a:ln>
          </p:spPr>
          <p:txBody>
            <a:bodyPr/>
            <a:p/>
          </p:txBody>
        </p:sp>
        <p:sp>
          <p:nvSpPr>
            <p:cNvPr id="40" name="land-24">
              <a:extLst>
                <a:ext uri="{FF2B5EF4-FFF2-40B4-BE49-F238E27FC236}">
                  <a16:creationId xmlns:a16="http://schemas.microsoft.com/office/drawing/2014/main" id="{761EB213-8662-4DEA-8C7B-59FBAACB1A5D}"/>
                </a:ext>
              </a:extLst>
            </p:cNvPr>
            <p:cNvSpPr>
              <a:spLocks/>
            </p:cNvSpPr>
            <p:nvPr/>
          </p:nvSpPr>
          <p:spPr>
            <a:xfrm>
              <a:off x="5593823" y="3366124"/>
              <a:ext cx="19415" cy="47359"/>
            </a:xfrm>
            <a:custGeom>
              <a:avLst/>
              <a:gdLst/>
              <a:ahLst/>
              <a:cxnLst/>
              <a:rect l="0" t="0" r="0" b="0"/>
              <a:pathLst>
                <a:path w="27302" h="66599">
                  <a:moveTo>
                    <a:pt x="27197" y="35332"/>
                  </a:moveTo>
                  <a:lnTo>
                    <a:pt x="4328" y="66599"/>
                  </a:lnTo>
                  <a:lnTo>
                    <a:pt x="0" y="32029"/>
                  </a:lnTo>
                  <a:lnTo>
                    <a:pt x="7893" y="15523"/>
                  </a:lnTo>
                  <a:lnTo>
                    <a:pt x="17195" y="0"/>
                  </a:lnTo>
                  <a:lnTo>
                    <a:pt x="27302" y="13435"/>
                  </a:lnTo>
                  <a:lnTo>
                    <a:pt x="27197" y="35332"/>
                  </a:lnTo>
                  <a:close/>
                </a:path>
              </a:pathLst>
            </a:custGeom>
            <a:solidFill>
              <a:srgbClr val="E6EBE2"/>
            </a:solidFill>
            <a:ln w="4403">
              <a:solidFill>
                <a:srgbClr val="B6C3B3"/>
              </a:solidFill>
              <a:prstDash val="solid"/>
            </a:ln>
          </p:spPr>
          <p:txBody>
            <a:bodyPr/>
            <a:p/>
          </p:txBody>
        </p:sp>
        <p:sp>
          <p:nvSpPr>
            <p:cNvPr id="41" name="land-25">
              <a:extLst>
                <a:ext uri="{FF2B5EF4-FFF2-40B4-BE49-F238E27FC236}">
                  <a16:creationId xmlns:a16="http://schemas.microsoft.com/office/drawing/2014/main" id="{A875A709-CB01-40DE-8FC1-E910123A8F76}"/>
                </a:ext>
              </a:extLst>
            </p:cNvPr>
            <p:cNvSpPr>
              <a:spLocks/>
            </p:cNvSpPr>
            <p:nvPr/>
          </p:nvSpPr>
          <p:spPr>
            <a:xfrm>
              <a:off x="6238686" y="3352976"/>
              <a:ext cx="47598" cy="61316"/>
            </a:xfrm>
            <a:custGeom>
              <a:avLst/>
              <a:gdLst/>
              <a:ahLst/>
              <a:cxnLst/>
              <a:rect l="0" t="0" r="0" b="0"/>
              <a:pathLst>
                <a:path w="66935" h="86225">
                  <a:moveTo>
                    <a:pt x="60715" y="81633"/>
                  </a:moveTo>
                  <a:lnTo>
                    <a:pt x="48267" y="86225"/>
                  </a:lnTo>
                  <a:lnTo>
                    <a:pt x="29021" y="68588"/>
                  </a:lnTo>
                  <a:lnTo>
                    <a:pt x="9560" y="39421"/>
                  </a:lnTo>
                  <a:lnTo>
                    <a:pt x="0" y="4440"/>
                  </a:lnTo>
                  <a:lnTo>
                    <a:pt x="6151" y="0"/>
                  </a:lnTo>
                  <a:lnTo>
                    <a:pt x="10929" y="13665"/>
                  </a:lnTo>
                  <a:lnTo>
                    <a:pt x="24394" y="24081"/>
                  </a:lnTo>
                  <a:lnTo>
                    <a:pt x="45945" y="53190"/>
                  </a:lnTo>
                  <a:lnTo>
                    <a:pt x="66935" y="68775"/>
                  </a:lnTo>
                  <a:lnTo>
                    <a:pt x="60715" y="81633"/>
                  </a:lnTo>
                  <a:close/>
                </a:path>
              </a:pathLst>
            </a:custGeom>
            <a:solidFill>
              <a:srgbClr val="E6EBE2"/>
            </a:solidFill>
            <a:ln w="4403">
              <a:solidFill>
                <a:srgbClr val="B6C3B3"/>
              </a:solidFill>
              <a:prstDash val="solid"/>
            </a:ln>
          </p:spPr>
          <p:txBody>
            <a:bodyPr/>
            <a:p/>
          </p:txBody>
        </p:sp>
        <p:sp>
          <p:nvSpPr>
            <p:cNvPr id="42" name="land-26">
              <a:extLst>
                <a:ext uri="{FF2B5EF4-FFF2-40B4-BE49-F238E27FC236}">
                  <a16:creationId xmlns:a16="http://schemas.microsoft.com/office/drawing/2014/main" id="{6334CA0A-EAF5-4734-9566-CA2F51121DF6}"/>
                </a:ext>
              </a:extLst>
            </p:cNvPr>
            <p:cNvSpPr>
              <a:spLocks/>
            </p:cNvSpPr>
            <p:nvPr/>
          </p:nvSpPr>
          <p:spPr>
            <a:xfrm>
              <a:off x="6042863" y="3323792"/>
              <a:ext cx="127062" cy="70832"/>
            </a:xfrm>
            <a:custGeom>
              <a:avLst/>
              <a:gdLst/>
              <a:ahLst/>
              <a:cxnLst/>
              <a:rect l="0" t="0" r="0" b="0"/>
              <a:pathLst>
                <a:path w="178680" h="99608">
                  <a:moveTo>
                    <a:pt x="162859" y="61046"/>
                  </a:moveTo>
                  <a:lnTo>
                    <a:pt x="139581" y="64821"/>
                  </a:lnTo>
                  <a:lnTo>
                    <a:pt x="132570" y="77701"/>
                  </a:lnTo>
                  <a:lnTo>
                    <a:pt x="108258" y="88862"/>
                  </a:lnTo>
                  <a:lnTo>
                    <a:pt x="85444" y="99608"/>
                  </a:lnTo>
                  <a:lnTo>
                    <a:pt x="61831" y="99551"/>
                  </a:lnTo>
                  <a:lnTo>
                    <a:pt x="25387" y="86211"/>
                  </a:lnTo>
                  <a:lnTo>
                    <a:pt x="0" y="73403"/>
                  </a:lnTo>
                  <a:lnTo>
                    <a:pt x="3684" y="59195"/>
                  </a:lnTo>
                  <a:lnTo>
                    <a:pt x="43538" y="65899"/>
                  </a:lnTo>
                  <a:lnTo>
                    <a:pt x="67858" y="62306"/>
                  </a:lnTo>
                  <a:lnTo>
                    <a:pt x="74557" y="40290"/>
                  </a:lnTo>
                  <a:lnTo>
                    <a:pt x="80935" y="39153"/>
                  </a:lnTo>
                  <a:lnTo>
                    <a:pt x="85254" y="63533"/>
                  </a:lnTo>
                  <a:lnTo>
                    <a:pt x="110615" y="60025"/>
                  </a:lnTo>
                  <a:lnTo>
                    <a:pt x="123159" y="44312"/>
                  </a:lnTo>
                  <a:lnTo>
                    <a:pt x="147972" y="27935"/>
                  </a:lnTo>
                  <a:lnTo>
                    <a:pt x="143081" y="873"/>
                  </a:lnTo>
                  <a:lnTo>
                    <a:pt x="169704" y="0"/>
                  </a:lnTo>
                  <a:lnTo>
                    <a:pt x="178680" y="7540"/>
                  </a:lnTo>
                  <a:lnTo>
                    <a:pt x="177789" y="33014"/>
                  </a:lnTo>
                  <a:lnTo>
                    <a:pt x="162859" y="61046"/>
                  </a:lnTo>
                  <a:close/>
                </a:path>
              </a:pathLst>
            </a:custGeom>
            <a:solidFill>
              <a:srgbClr val="E6EBE2"/>
            </a:solidFill>
            <a:ln w="4403">
              <a:solidFill>
                <a:srgbClr val="B6C3B3"/>
              </a:solidFill>
              <a:prstDash val="solid"/>
            </a:ln>
          </p:spPr>
          <p:txBody>
            <a:bodyPr/>
            <a:p/>
          </p:txBody>
        </p:sp>
        <p:sp>
          <p:nvSpPr>
            <p:cNvPr id="43" name="land-27">
              <a:extLst>
                <a:ext uri="{FF2B5EF4-FFF2-40B4-BE49-F238E27FC236}">
                  <a16:creationId xmlns:a16="http://schemas.microsoft.com/office/drawing/2014/main" id="{1C3089C4-8DB2-4C98-AB86-080A5360CB71}"/>
                </a:ext>
              </a:extLst>
            </p:cNvPr>
            <p:cNvSpPr>
              <a:spLocks/>
            </p:cNvSpPr>
            <p:nvPr/>
          </p:nvSpPr>
          <p:spPr>
            <a:xfrm>
              <a:off x="5337040" y="3290499"/>
              <a:ext cx="39833" cy="21608"/>
            </a:xfrm>
            <a:custGeom>
              <a:avLst/>
              <a:gdLst/>
              <a:ahLst/>
              <a:cxnLst/>
              <a:rect l="0" t="0" r="0" b="0"/>
              <a:pathLst>
                <a:path w="56015" h="30386">
                  <a:moveTo>
                    <a:pt x="56015" y="15143"/>
                  </a:moveTo>
                  <a:lnTo>
                    <a:pt x="39378" y="30386"/>
                  </a:lnTo>
                  <a:lnTo>
                    <a:pt x="8657" y="21954"/>
                  </a:lnTo>
                  <a:lnTo>
                    <a:pt x="0" y="2202"/>
                  </a:lnTo>
                  <a:lnTo>
                    <a:pt x="44966" y="0"/>
                  </a:lnTo>
                  <a:lnTo>
                    <a:pt x="56015" y="15143"/>
                  </a:lnTo>
                  <a:close/>
                </a:path>
              </a:pathLst>
            </a:custGeom>
            <a:solidFill>
              <a:srgbClr val="E6EBE2"/>
            </a:solidFill>
            <a:ln w="4403">
              <a:solidFill>
                <a:srgbClr val="B6C3B3"/>
              </a:solidFill>
              <a:prstDash val="solid"/>
            </a:ln>
          </p:spPr>
          <p:txBody>
            <a:bodyPr/>
            <a:p/>
          </p:txBody>
        </p:sp>
        <p:sp>
          <p:nvSpPr>
            <p:cNvPr id="44" name="land-28">
              <a:extLst>
                <a:ext uri="{FF2B5EF4-FFF2-40B4-BE49-F238E27FC236}">
                  <a16:creationId xmlns:a16="http://schemas.microsoft.com/office/drawing/2014/main" id="{8B5878B5-D876-4475-8D4B-51E1C7CB5370}"/>
                </a:ext>
              </a:extLst>
            </p:cNvPr>
            <p:cNvSpPr>
              <a:spLocks/>
            </p:cNvSpPr>
            <p:nvPr/>
          </p:nvSpPr>
          <p:spPr>
            <a:xfrm>
              <a:off x="5397409" y="3279815"/>
              <a:ext cx="92802" cy="34496"/>
            </a:xfrm>
            <a:custGeom>
              <a:avLst/>
              <a:gdLst/>
              <a:ahLst/>
              <a:cxnLst/>
              <a:rect l="0" t="0" r="0" b="0"/>
              <a:pathLst>
                <a:path w="130503" h="48510">
                  <a:moveTo>
                    <a:pt x="114346" y="13392"/>
                  </a:moveTo>
                  <a:lnTo>
                    <a:pt x="130503" y="48510"/>
                  </a:lnTo>
                  <a:lnTo>
                    <a:pt x="92974" y="29582"/>
                  </a:lnTo>
                  <a:lnTo>
                    <a:pt x="55845" y="25740"/>
                  </a:lnTo>
                  <a:lnTo>
                    <a:pt x="30750" y="28773"/>
                  </a:lnTo>
                  <a:lnTo>
                    <a:pt x="0" y="27154"/>
                  </a:lnTo>
                  <a:lnTo>
                    <a:pt x="10534" y="1906"/>
                  </a:lnTo>
                  <a:lnTo>
                    <a:pt x="65435" y="0"/>
                  </a:lnTo>
                  <a:lnTo>
                    <a:pt x="114346" y="13392"/>
                  </a:lnTo>
                  <a:close/>
                </a:path>
              </a:pathLst>
            </a:custGeom>
            <a:solidFill>
              <a:srgbClr val="E6EBE2"/>
            </a:solidFill>
            <a:ln w="4403">
              <a:solidFill>
                <a:srgbClr val="B6C3B3"/>
              </a:solidFill>
              <a:prstDash val="solid"/>
            </a:ln>
          </p:spPr>
          <p:txBody>
            <a:bodyPr/>
            <a:p/>
          </p:txBody>
        </p:sp>
        <p:sp>
          <p:nvSpPr>
            <p:cNvPr id="45" name="land-29">
              <a:extLst>
                <a:ext uri="{FF2B5EF4-FFF2-40B4-BE49-F238E27FC236}">
                  <a16:creationId xmlns:a16="http://schemas.microsoft.com/office/drawing/2014/main" id="{934120E2-C8F4-4232-AD46-DFC1E53AE315}"/>
                </a:ext>
              </a:extLst>
            </p:cNvPr>
            <p:cNvSpPr>
              <a:spLocks/>
            </p:cNvSpPr>
            <p:nvPr/>
          </p:nvSpPr>
          <p:spPr>
            <a:xfrm>
              <a:off x="6116927" y="3269948"/>
              <a:ext cx="78326" cy="74015"/>
            </a:xfrm>
            <a:custGeom>
              <a:avLst/>
              <a:gdLst/>
              <a:ahLst/>
              <a:cxnLst/>
              <a:rect l="0" t="0" r="0" b="0"/>
              <a:pathLst>
                <a:path w="110147" h="104084">
                  <a:moveTo>
                    <a:pt x="110147" y="91847"/>
                  </a:moveTo>
                  <a:lnTo>
                    <a:pt x="96245" y="104084"/>
                  </a:lnTo>
                  <a:lnTo>
                    <a:pt x="87861" y="76975"/>
                  </a:lnTo>
                  <a:lnTo>
                    <a:pt x="77520" y="59230"/>
                  </a:lnTo>
                  <a:lnTo>
                    <a:pt x="57393" y="44182"/>
                  </a:lnTo>
                  <a:lnTo>
                    <a:pt x="32103" y="24589"/>
                  </a:lnTo>
                  <a:lnTo>
                    <a:pt x="0" y="11090"/>
                  </a:lnTo>
                  <a:lnTo>
                    <a:pt x="12353" y="0"/>
                  </a:lnTo>
                  <a:lnTo>
                    <a:pt x="36357" y="12858"/>
                  </a:lnTo>
                  <a:lnTo>
                    <a:pt x="51472" y="22961"/>
                  </a:lnTo>
                  <a:lnTo>
                    <a:pt x="70139" y="33984"/>
                  </a:lnTo>
                  <a:lnTo>
                    <a:pt x="87921" y="53271"/>
                  </a:lnTo>
                  <a:lnTo>
                    <a:pt x="104811" y="67968"/>
                  </a:lnTo>
                  <a:lnTo>
                    <a:pt x="110147" y="91847"/>
                  </a:lnTo>
                  <a:close/>
                </a:path>
              </a:pathLst>
            </a:custGeom>
            <a:solidFill>
              <a:srgbClr val="E6EBE2"/>
            </a:solidFill>
            <a:ln w="4403">
              <a:solidFill>
                <a:srgbClr val="B6C3B3"/>
              </a:solidFill>
              <a:prstDash val="solid"/>
            </a:ln>
          </p:spPr>
          <p:txBody>
            <a:bodyPr/>
            <a:p/>
          </p:txBody>
        </p:sp>
        <p:sp>
          <p:nvSpPr>
            <p:cNvPr id="46" name="land-30">
              <a:extLst>
                <a:ext uri="{FF2B5EF4-FFF2-40B4-BE49-F238E27FC236}">
                  <a16:creationId xmlns:a16="http://schemas.microsoft.com/office/drawing/2014/main" id="{9E618DDB-FA24-4725-B57B-649E3EF73A53}"/>
                </a:ext>
              </a:extLst>
            </p:cNvPr>
            <p:cNvSpPr>
              <a:spLocks/>
            </p:cNvSpPr>
            <p:nvPr/>
          </p:nvSpPr>
          <p:spPr>
            <a:xfrm>
              <a:off x="5480245" y="3200373"/>
              <a:ext cx="641094" cy="335811"/>
            </a:xfrm>
            <a:custGeom>
              <a:avLst/>
              <a:gdLst/>
              <a:ahLst/>
              <a:cxnLst/>
              <a:rect l="0" t="0" r="0" b="0"/>
              <a:pathLst>
                <a:path w="901538" h="472235">
                  <a:moveTo>
                    <a:pt x="161078" y="35928"/>
                  </a:moveTo>
                  <a:lnTo>
                    <a:pt x="173491" y="110202"/>
                  </a:lnTo>
                  <a:lnTo>
                    <a:pt x="219496" y="137690"/>
                  </a:lnTo>
                  <a:lnTo>
                    <a:pt x="256643" y="88978"/>
                  </a:lnTo>
                  <a:lnTo>
                    <a:pt x="307646" y="61262"/>
                  </a:lnTo>
                  <a:lnTo>
                    <a:pt x="347162" y="61224"/>
                  </a:lnTo>
                  <a:lnTo>
                    <a:pt x="385175" y="77233"/>
                  </a:lnTo>
                  <a:lnTo>
                    <a:pt x="418147" y="93663"/>
                  </a:lnTo>
                  <a:lnTo>
                    <a:pt x="465865" y="102439"/>
                  </a:lnTo>
                  <a:lnTo>
                    <a:pt x="542987" y="134081"/>
                  </a:lnTo>
                  <a:lnTo>
                    <a:pt x="625163" y="160361"/>
                  </a:lnTo>
                  <a:lnTo>
                    <a:pt x="655798" y="183889"/>
                  </a:lnTo>
                  <a:lnTo>
                    <a:pt x="680540" y="206978"/>
                  </a:lnTo>
                  <a:lnTo>
                    <a:pt x="687302" y="234033"/>
                  </a:lnTo>
                  <a:lnTo>
                    <a:pt x="761362" y="262416"/>
                  </a:lnTo>
                  <a:lnTo>
                    <a:pt x="772165" y="286772"/>
                  </a:lnTo>
                  <a:lnTo>
                    <a:pt x="731262" y="291715"/>
                  </a:lnTo>
                  <a:lnTo>
                    <a:pt x="741084" y="322318"/>
                  </a:lnTo>
                  <a:lnTo>
                    <a:pt x="780768" y="352448"/>
                  </a:lnTo>
                  <a:lnTo>
                    <a:pt x="809637" y="401153"/>
                  </a:lnTo>
                  <a:lnTo>
                    <a:pt x="835094" y="399627"/>
                  </a:lnTo>
                  <a:lnTo>
                    <a:pt x="833307" y="419970"/>
                  </a:lnTo>
                  <a:lnTo>
                    <a:pt x="867627" y="427773"/>
                  </a:lnTo>
                  <a:lnTo>
                    <a:pt x="854295" y="436435"/>
                  </a:lnTo>
                  <a:lnTo>
                    <a:pt x="901538" y="455758"/>
                  </a:lnTo>
                  <a:lnTo>
                    <a:pt x="896602" y="469031"/>
                  </a:lnTo>
                  <a:lnTo>
                    <a:pt x="867168" y="472235"/>
                  </a:lnTo>
                  <a:lnTo>
                    <a:pt x="856229" y="460331"/>
                  </a:lnTo>
                  <a:lnTo>
                    <a:pt x="818039" y="455172"/>
                  </a:lnTo>
                  <a:lnTo>
                    <a:pt x="773139" y="448261"/>
                  </a:lnTo>
                  <a:lnTo>
                    <a:pt x="738576" y="418961"/>
                  </a:lnTo>
                  <a:lnTo>
                    <a:pt x="713348" y="393708"/>
                  </a:lnTo>
                  <a:lnTo>
                    <a:pt x="690261" y="353518"/>
                  </a:lnTo>
                  <a:lnTo>
                    <a:pt x="632284" y="333436"/>
                  </a:lnTo>
                  <a:lnTo>
                    <a:pt x="594631" y="346534"/>
                  </a:lnTo>
                  <a:lnTo>
                    <a:pt x="567485" y="361696"/>
                  </a:lnTo>
                  <a:lnTo>
                    <a:pt x="573154" y="395569"/>
                  </a:lnTo>
                  <a:lnTo>
                    <a:pt x="538239" y="411355"/>
                  </a:lnTo>
                  <a:lnTo>
                    <a:pt x="513340" y="403676"/>
                  </a:lnTo>
                  <a:lnTo>
                    <a:pt x="467360" y="401760"/>
                  </a:lnTo>
                  <a:lnTo>
                    <a:pt x="427780" y="364069"/>
                  </a:lnTo>
                  <a:lnTo>
                    <a:pt x="382635" y="354833"/>
                  </a:lnTo>
                  <a:lnTo>
                    <a:pt x="371687" y="367916"/>
                  </a:lnTo>
                  <a:lnTo>
                    <a:pt x="315369" y="369328"/>
                  </a:lnTo>
                  <a:lnTo>
                    <a:pt x="334244" y="331955"/>
                  </a:lnTo>
                  <a:lnTo>
                    <a:pt x="362226" y="319204"/>
                  </a:lnTo>
                  <a:lnTo>
                    <a:pt x="350637" y="269267"/>
                  </a:lnTo>
                  <a:lnTo>
                    <a:pt x="329298" y="230715"/>
                  </a:lnTo>
                  <a:lnTo>
                    <a:pt x="243128" y="191825"/>
                  </a:lnTo>
                  <a:lnTo>
                    <a:pt x="206472" y="187985"/>
                  </a:lnTo>
                  <a:lnTo>
                    <a:pt x="139721" y="145548"/>
                  </a:lnTo>
                  <a:lnTo>
                    <a:pt x="126600" y="167866"/>
                  </a:lnTo>
                  <a:lnTo>
                    <a:pt x="109542" y="171914"/>
                  </a:lnTo>
                  <a:lnTo>
                    <a:pt x="99452" y="155074"/>
                  </a:lnTo>
                  <a:lnTo>
                    <a:pt x="99312" y="135120"/>
                  </a:lnTo>
                  <a:lnTo>
                    <a:pt x="65352" y="112561"/>
                  </a:lnTo>
                  <a:lnTo>
                    <a:pt x="113227" y="96022"/>
                  </a:lnTo>
                  <a:lnTo>
                    <a:pt x="144928" y="96914"/>
                  </a:lnTo>
                  <a:lnTo>
                    <a:pt x="141202" y="84730"/>
                  </a:lnTo>
                  <a:lnTo>
                    <a:pt x="76135" y="84638"/>
                  </a:lnTo>
                  <a:lnTo>
                    <a:pt x="58526" y="57296"/>
                  </a:lnTo>
                  <a:lnTo>
                    <a:pt x="18815" y="48817"/>
                  </a:lnTo>
                  <a:lnTo>
                    <a:pt x="0" y="26093"/>
                  </a:lnTo>
                  <a:lnTo>
                    <a:pt x="59918" y="14968"/>
                  </a:lnTo>
                  <a:lnTo>
                    <a:pt x="82702" y="0"/>
                  </a:lnTo>
                  <a:lnTo>
                    <a:pt x="154063" y="18860"/>
                  </a:lnTo>
                  <a:lnTo>
                    <a:pt x="161078" y="35928"/>
                  </a:lnTo>
                  <a:close/>
                </a:path>
              </a:pathLst>
            </a:custGeom>
            <a:solidFill>
              <a:srgbClr val="E6EBE2"/>
            </a:solidFill>
            <a:ln w="4403">
              <a:solidFill>
                <a:srgbClr val="B6C3B3"/>
              </a:solidFill>
              <a:prstDash val="solid"/>
            </a:ln>
          </p:spPr>
          <p:txBody>
            <a:bodyPr/>
            <a:p/>
          </p:txBody>
        </p:sp>
        <p:sp>
          <p:nvSpPr>
            <p:cNvPr id="47" name="land-31">
              <a:extLst>
                <a:ext uri="{FF2B5EF4-FFF2-40B4-BE49-F238E27FC236}">
                  <a16:creationId xmlns:a16="http://schemas.microsoft.com/office/drawing/2014/main" id="{F3EE1E4D-685A-4CB5-BAB7-16B73BD4628A}"/>
                </a:ext>
              </a:extLst>
            </p:cNvPr>
            <p:cNvSpPr>
              <a:spLocks/>
            </p:cNvSpPr>
            <p:nvPr/>
          </p:nvSpPr>
          <p:spPr>
            <a:xfrm>
              <a:off x="5108784" y="3134641"/>
              <a:ext cx="204596" cy="238941"/>
            </a:xfrm>
            <a:custGeom>
              <a:avLst/>
              <a:gdLst/>
              <a:ahLst/>
              <a:cxnLst/>
              <a:rect l="0" t="0" r="0" b="0"/>
              <a:pathLst>
                <a:path w="287713" h="336011">
                  <a:moveTo>
                    <a:pt x="287713" y="10261"/>
                  </a:moveTo>
                  <a:lnTo>
                    <a:pt x="251999" y="55815"/>
                  </a:lnTo>
                  <a:lnTo>
                    <a:pt x="218593" y="64646"/>
                  </a:lnTo>
                  <a:lnTo>
                    <a:pt x="175814" y="55666"/>
                  </a:lnTo>
                  <a:lnTo>
                    <a:pt x="101744" y="57958"/>
                  </a:lnTo>
                  <a:lnTo>
                    <a:pt x="62911" y="64570"/>
                  </a:lnTo>
                  <a:lnTo>
                    <a:pt x="56589" y="99330"/>
                  </a:lnTo>
                  <a:lnTo>
                    <a:pt x="96374" y="140168"/>
                  </a:lnTo>
                  <a:lnTo>
                    <a:pt x="120373" y="119367"/>
                  </a:lnTo>
                  <a:lnTo>
                    <a:pt x="203261" y="103739"/>
                  </a:lnTo>
                  <a:lnTo>
                    <a:pt x="199609" y="124889"/>
                  </a:lnTo>
                  <a:lnTo>
                    <a:pt x="180242" y="118218"/>
                  </a:lnTo>
                  <a:lnTo>
                    <a:pt x="160943" y="145126"/>
                  </a:lnTo>
                  <a:lnTo>
                    <a:pt x="121815" y="162927"/>
                  </a:lnTo>
                  <a:lnTo>
                    <a:pt x="163878" y="221782"/>
                  </a:lnTo>
                  <a:lnTo>
                    <a:pt x="155758" y="237554"/>
                  </a:lnTo>
                  <a:lnTo>
                    <a:pt x="195722" y="290560"/>
                  </a:lnTo>
                  <a:lnTo>
                    <a:pt x="195338" y="320728"/>
                  </a:lnTo>
                  <a:lnTo>
                    <a:pt x="171610" y="334229"/>
                  </a:lnTo>
                  <a:lnTo>
                    <a:pt x="154180" y="318079"/>
                  </a:lnTo>
                  <a:lnTo>
                    <a:pt x="175658" y="280478"/>
                  </a:lnTo>
                  <a:lnTo>
                    <a:pt x="132037" y="298258"/>
                  </a:lnTo>
                  <a:lnTo>
                    <a:pt x="120979" y="285547"/>
                  </a:lnTo>
                  <a:lnTo>
                    <a:pt x="126745" y="267817"/>
                  </a:lnTo>
                  <a:lnTo>
                    <a:pt x="94697" y="240889"/>
                  </a:lnTo>
                  <a:lnTo>
                    <a:pt x="97995" y="196137"/>
                  </a:lnTo>
                  <a:lnTo>
                    <a:pt x="68350" y="210096"/>
                  </a:lnTo>
                  <a:lnTo>
                    <a:pt x="72110" y="263643"/>
                  </a:lnTo>
                  <a:lnTo>
                    <a:pt x="73918" y="329345"/>
                  </a:lnTo>
                  <a:lnTo>
                    <a:pt x="45729" y="336011"/>
                  </a:lnTo>
                  <a:lnTo>
                    <a:pt x="26632" y="322531"/>
                  </a:lnTo>
                  <a:lnTo>
                    <a:pt x="39375" y="280260"/>
                  </a:lnTo>
                  <a:lnTo>
                    <a:pt x="32496" y="235943"/>
                  </a:lnTo>
                  <a:lnTo>
                    <a:pt x="13805" y="235604"/>
                  </a:lnTo>
                  <a:lnTo>
                    <a:pt x="0" y="204145"/>
                  </a:lnTo>
                  <a:lnTo>
                    <a:pt x="18367" y="174069"/>
                  </a:lnTo>
                  <a:lnTo>
                    <a:pt x="24698" y="137607"/>
                  </a:lnTo>
                  <a:lnTo>
                    <a:pt x="47038" y="68381"/>
                  </a:lnTo>
                  <a:lnTo>
                    <a:pt x="56360" y="49450"/>
                  </a:lnTo>
                  <a:lnTo>
                    <a:pt x="94146" y="15340"/>
                  </a:lnTo>
                  <a:lnTo>
                    <a:pt x="128863" y="28901"/>
                  </a:lnTo>
                  <a:lnTo>
                    <a:pt x="184903" y="35273"/>
                  </a:lnTo>
                  <a:lnTo>
                    <a:pt x="236019" y="33348"/>
                  </a:lnTo>
                  <a:lnTo>
                    <a:pt x="279956" y="0"/>
                  </a:lnTo>
                  <a:lnTo>
                    <a:pt x="287713" y="10261"/>
                  </a:lnTo>
                  <a:close/>
                </a:path>
              </a:pathLst>
            </a:custGeom>
            <a:solidFill>
              <a:srgbClr val="E6EBE2"/>
            </a:solidFill>
            <a:ln w="4403">
              <a:solidFill>
                <a:srgbClr val="B6C3B3"/>
              </a:solidFill>
              <a:prstDash val="solid"/>
            </a:ln>
          </p:spPr>
          <p:txBody>
            <a:bodyPr/>
            <a:p/>
          </p:txBody>
        </p:sp>
        <p:sp>
          <p:nvSpPr>
            <p:cNvPr id="48" name="land-32">
              <a:extLst>
                <a:ext uri="{FF2B5EF4-FFF2-40B4-BE49-F238E27FC236}">
                  <a16:creationId xmlns:a16="http://schemas.microsoft.com/office/drawing/2014/main" id="{B2F9898E-70F9-4594-9934-B470B35A37C5}"/>
                </a:ext>
              </a:extLst>
            </p:cNvPr>
            <p:cNvSpPr>
              <a:spLocks/>
            </p:cNvSpPr>
            <p:nvPr/>
          </p:nvSpPr>
          <p:spPr>
            <a:xfrm>
              <a:off x="5381623" y="3117289"/>
              <a:ext cx="40736" cy="100407"/>
            </a:xfrm>
            <a:custGeom>
              <a:avLst/>
              <a:gdLst/>
              <a:ahLst/>
              <a:cxnLst/>
              <a:rect l="0" t="0" r="0" b="0"/>
              <a:pathLst>
                <a:path w="57285" h="141198">
                  <a:moveTo>
                    <a:pt x="57285" y="47863"/>
                  </a:moveTo>
                  <a:lnTo>
                    <a:pt x="54961" y="87996"/>
                  </a:lnTo>
                  <a:lnTo>
                    <a:pt x="32034" y="83498"/>
                  </a:lnTo>
                  <a:lnTo>
                    <a:pt x="25272" y="111443"/>
                  </a:lnTo>
                  <a:lnTo>
                    <a:pt x="43584" y="135687"/>
                  </a:lnTo>
                  <a:lnTo>
                    <a:pt x="31138" y="141198"/>
                  </a:lnTo>
                  <a:lnTo>
                    <a:pt x="13201" y="112110"/>
                  </a:lnTo>
                  <a:lnTo>
                    <a:pt x="0" y="53404"/>
                  </a:lnTo>
                  <a:lnTo>
                    <a:pt x="8935" y="16712"/>
                  </a:lnTo>
                  <a:lnTo>
                    <a:pt x="23687" y="0"/>
                  </a:lnTo>
                  <a:lnTo>
                    <a:pt x="26877" y="25078"/>
                  </a:lnTo>
                  <a:lnTo>
                    <a:pt x="53121" y="29106"/>
                  </a:lnTo>
                  <a:lnTo>
                    <a:pt x="57285" y="47863"/>
                  </a:lnTo>
                  <a:close/>
                </a:path>
              </a:pathLst>
            </a:custGeom>
            <a:solidFill>
              <a:srgbClr val="E6EBE2"/>
            </a:solidFill>
            <a:ln w="4403">
              <a:solidFill>
                <a:srgbClr val="B6C3B3"/>
              </a:solidFill>
              <a:prstDash val="solid"/>
            </a:ln>
          </p:spPr>
          <p:txBody>
            <a:bodyPr/>
            <a:p/>
          </p:txBody>
        </p:sp>
        <p:sp>
          <p:nvSpPr>
            <p:cNvPr id="49" name="land-33">
              <a:extLst>
                <a:ext uri="{FF2B5EF4-FFF2-40B4-BE49-F238E27FC236}">
                  <a16:creationId xmlns:a16="http://schemas.microsoft.com/office/drawing/2014/main" id="{BCF5201E-70D4-4F98-B9FA-3655F8273A63}"/>
                </a:ext>
              </a:extLst>
            </p:cNvPr>
            <p:cNvSpPr>
              <a:spLocks/>
            </p:cNvSpPr>
            <p:nvPr/>
          </p:nvSpPr>
          <p:spPr>
            <a:xfrm>
              <a:off x="4366773" y="3009349"/>
              <a:ext cx="341868" cy="370760"/>
            </a:xfrm>
            <a:custGeom>
              <a:avLst/>
              <a:gdLst/>
              <a:ahLst/>
              <a:cxnLst/>
              <a:rect l="0" t="0" r="0" b="0"/>
              <a:pathLst>
                <a:path w="480752" h="521381">
                  <a:moveTo>
                    <a:pt x="467820" y="520420"/>
                  </a:moveTo>
                  <a:lnTo>
                    <a:pt x="418602" y="521381"/>
                  </a:lnTo>
                  <a:lnTo>
                    <a:pt x="381167" y="482990"/>
                  </a:lnTo>
                  <a:lnTo>
                    <a:pt x="324095" y="445468"/>
                  </a:lnTo>
                  <a:lnTo>
                    <a:pt x="305067" y="417632"/>
                  </a:lnTo>
                  <a:lnTo>
                    <a:pt x="271416" y="380233"/>
                  </a:lnTo>
                  <a:lnTo>
                    <a:pt x="249341" y="345812"/>
                  </a:lnTo>
                  <a:lnTo>
                    <a:pt x="215536" y="281523"/>
                  </a:lnTo>
                  <a:lnTo>
                    <a:pt x="176498" y="243245"/>
                  </a:lnTo>
                  <a:lnTo>
                    <a:pt x="163442" y="203762"/>
                  </a:lnTo>
                  <a:lnTo>
                    <a:pt x="147055" y="167913"/>
                  </a:lnTo>
                  <a:lnTo>
                    <a:pt x="106972" y="138996"/>
                  </a:lnTo>
                  <a:lnTo>
                    <a:pt x="83740" y="99703"/>
                  </a:lnTo>
                  <a:lnTo>
                    <a:pt x="50273" y="73982"/>
                  </a:lnTo>
                  <a:lnTo>
                    <a:pt x="3905" y="23377"/>
                  </a:lnTo>
                  <a:lnTo>
                    <a:pt x="0" y="0"/>
                  </a:lnTo>
                  <a:lnTo>
                    <a:pt x="28619" y="1851"/>
                  </a:lnTo>
                  <a:lnTo>
                    <a:pt x="97428" y="10723"/>
                  </a:lnTo>
                  <a:lnTo>
                    <a:pt x="136735" y="55635"/>
                  </a:lnTo>
                  <a:lnTo>
                    <a:pt x="171112" y="86772"/>
                  </a:lnTo>
                  <a:lnTo>
                    <a:pt x="195623" y="105878"/>
                  </a:lnTo>
                  <a:lnTo>
                    <a:pt x="237737" y="155244"/>
                  </a:lnTo>
                  <a:lnTo>
                    <a:pt x="282924" y="155964"/>
                  </a:lnTo>
                  <a:lnTo>
                    <a:pt x="320273" y="187422"/>
                  </a:lnTo>
                  <a:lnTo>
                    <a:pt x="345991" y="225876"/>
                  </a:lnTo>
                  <a:lnTo>
                    <a:pt x="379842" y="246855"/>
                  </a:lnTo>
                  <a:lnTo>
                    <a:pt x="362028" y="284351"/>
                  </a:lnTo>
                  <a:lnTo>
                    <a:pt x="387505" y="300299"/>
                  </a:lnTo>
                  <a:lnTo>
                    <a:pt x="403471" y="301476"/>
                  </a:lnTo>
                  <a:lnTo>
                    <a:pt x="411005" y="333510"/>
                  </a:lnTo>
                  <a:lnTo>
                    <a:pt x="426492" y="359138"/>
                  </a:lnTo>
                  <a:lnTo>
                    <a:pt x="459128" y="363198"/>
                  </a:lnTo>
                  <a:lnTo>
                    <a:pt x="480752" y="392265"/>
                  </a:lnTo>
                  <a:lnTo>
                    <a:pt x="469588" y="449383"/>
                  </a:lnTo>
                  <a:lnTo>
                    <a:pt x="467820" y="520420"/>
                  </a:lnTo>
                  <a:close/>
                </a:path>
              </a:pathLst>
            </a:custGeom>
            <a:solidFill>
              <a:srgbClr val="E6EBE2"/>
            </a:solidFill>
            <a:ln w="4403">
              <a:solidFill>
                <a:srgbClr val="B6C3B3"/>
              </a:solidFill>
              <a:prstDash val="solid"/>
            </a:ln>
          </p:spPr>
          <p:txBody>
            <a:bodyPr/>
            <a:p/>
          </p:txBody>
        </p:sp>
        <p:sp>
          <p:nvSpPr>
            <p:cNvPr id="50" name="land-34">
              <a:extLst>
                <a:ext uri="{FF2B5EF4-FFF2-40B4-BE49-F238E27FC236}">
                  <a16:creationId xmlns:a16="http://schemas.microsoft.com/office/drawing/2014/main" id="{E0BC8A86-2538-4628-9356-AB73E0637C82}"/>
                </a:ext>
              </a:extLst>
            </p:cNvPr>
            <p:cNvSpPr>
              <a:spLocks/>
            </p:cNvSpPr>
            <p:nvPr/>
          </p:nvSpPr>
          <p:spPr>
            <a:xfrm>
              <a:off x="4798539" y="2962054"/>
              <a:ext cx="323335" cy="360373"/>
            </a:xfrm>
            <a:custGeom>
              <a:avLst/>
              <a:gdLst/>
              <a:ahLst/>
              <a:cxnLst/>
              <a:rect l="0" t="0" r="0" b="0"/>
              <a:pathLst>
                <a:path w="454690" h="506774">
                  <a:moveTo>
                    <a:pt x="396626" y="234232"/>
                  </a:moveTo>
                  <a:lnTo>
                    <a:pt x="446460" y="276731"/>
                  </a:lnTo>
                  <a:lnTo>
                    <a:pt x="393791" y="282149"/>
                  </a:lnTo>
                  <a:lnTo>
                    <a:pt x="378967" y="313459"/>
                  </a:lnTo>
                  <a:lnTo>
                    <a:pt x="380891" y="355075"/>
                  </a:lnTo>
                  <a:lnTo>
                    <a:pt x="338148" y="386484"/>
                  </a:lnTo>
                  <a:lnTo>
                    <a:pt x="336982" y="432218"/>
                  </a:lnTo>
                  <a:lnTo>
                    <a:pt x="319837" y="502446"/>
                  </a:lnTo>
                  <a:lnTo>
                    <a:pt x="313292" y="486111"/>
                  </a:lnTo>
                  <a:lnTo>
                    <a:pt x="262795" y="506774"/>
                  </a:lnTo>
                  <a:lnTo>
                    <a:pt x="245186" y="478702"/>
                  </a:lnTo>
                  <a:lnTo>
                    <a:pt x="213494" y="476105"/>
                  </a:lnTo>
                  <a:lnTo>
                    <a:pt x="191328" y="461392"/>
                  </a:lnTo>
                  <a:lnTo>
                    <a:pt x="138483" y="477907"/>
                  </a:lnTo>
                  <a:lnTo>
                    <a:pt x="122266" y="455682"/>
                  </a:lnTo>
                  <a:lnTo>
                    <a:pt x="93149" y="458207"/>
                  </a:lnTo>
                  <a:lnTo>
                    <a:pt x="56504" y="452907"/>
                  </a:lnTo>
                  <a:lnTo>
                    <a:pt x="49707" y="391316"/>
                  </a:lnTo>
                  <a:lnTo>
                    <a:pt x="27527" y="378551"/>
                  </a:lnTo>
                  <a:lnTo>
                    <a:pt x="6188" y="339267"/>
                  </a:lnTo>
                  <a:lnTo>
                    <a:pt x="0" y="299089"/>
                  </a:lnTo>
                  <a:lnTo>
                    <a:pt x="5177" y="256538"/>
                  </a:lnTo>
                  <a:lnTo>
                    <a:pt x="31586" y="226019"/>
                  </a:lnTo>
                  <a:lnTo>
                    <a:pt x="64163" y="241757"/>
                  </a:lnTo>
                  <a:lnTo>
                    <a:pt x="98510" y="233176"/>
                  </a:lnTo>
                  <a:lnTo>
                    <a:pt x="107454" y="194293"/>
                  </a:lnTo>
                  <a:lnTo>
                    <a:pt x="126428" y="185632"/>
                  </a:lnTo>
                  <a:lnTo>
                    <a:pt x="179709" y="175690"/>
                  </a:lnTo>
                  <a:lnTo>
                    <a:pt x="211594" y="139359"/>
                  </a:lnTo>
                  <a:lnTo>
                    <a:pt x="233423" y="110318"/>
                  </a:lnTo>
                  <a:lnTo>
                    <a:pt x="251023" y="93136"/>
                  </a:lnTo>
                  <a:lnTo>
                    <a:pt x="288838" y="67983"/>
                  </a:lnTo>
                  <a:lnTo>
                    <a:pt x="323066" y="36044"/>
                  </a:lnTo>
                  <a:lnTo>
                    <a:pt x="345485" y="151"/>
                  </a:lnTo>
                  <a:lnTo>
                    <a:pt x="363466" y="0"/>
                  </a:lnTo>
                  <a:lnTo>
                    <a:pt x="386303" y="23232"/>
                  </a:lnTo>
                  <a:lnTo>
                    <a:pt x="388334" y="43195"/>
                  </a:lnTo>
                  <a:lnTo>
                    <a:pt x="417609" y="55998"/>
                  </a:lnTo>
                  <a:lnTo>
                    <a:pt x="454690" y="69815"/>
                  </a:lnTo>
                  <a:lnTo>
                    <a:pt x="451525" y="87803"/>
                  </a:lnTo>
                  <a:lnTo>
                    <a:pt x="421700" y="90082"/>
                  </a:lnTo>
                  <a:lnTo>
                    <a:pt x="429639" y="112507"/>
                  </a:lnTo>
                  <a:lnTo>
                    <a:pt x="396911" y="128151"/>
                  </a:lnTo>
                  <a:lnTo>
                    <a:pt x="371628" y="169626"/>
                  </a:lnTo>
                  <a:lnTo>
                    <a:pt x="404303" y="213105"/>
                  </a:lnTo>
                  <a:lnTo>
                    <a:pt x="396626" y="234232"/>
                  </a:lnTo>
                  <a:close/>
                </a:path>
              </a:pathLst>
            </a:custGeom>
            <a:solidFill>
              <a:srgbClr val="E6EBE2"/>
            </a:solidFill>
            <a:ln w="4403">
              <a:solidFill>
                <a:srgbClr val="B6C3B3"/>
              </a:solidFill>
              <a:prstDash val="solid"/>
            </a:ln>
          </p:spPr>
          <p:txBody>
            <a:bodyPr/>
            <a:p/>
          </p:txBody>
        </p:sp>
        <p:sp>
          <p:nvSpPr>
            <p:cNvPr id="51" name="land-35">
              <a:extLst>
                <a:ext uri="{FF2B5EF4-FFF2-40B4-BE49-F238E27FC236}">
                  <a16:creationId xmlns:a16="http://schemas.microsoft.com/office/drawing/2014/main" id="{24788BC6-80A2-4250-BEEC-17277C482557}"/>
                </a:ext>
              </a:extLst>
            </p:cNvPr>
            <p:cNvSpPr>
              <a:spLocks/>
            </p:cNvSpPr>
            <p:nvPr/>
          </p:nvSpPr>
          <p:spPr>
            <a:xfrm>
              <a:off x="5208420" y="2869560"/>
              <a:ext cx="145954" cy="136485"/>
            </a:xfrm>
            <a:custGeom>
              <a:avLst/>
              <a:gdLst/>
              <a:ahLst/>
              <a:cxnLst/>
              <a:rect l="0" t="0" r="0" b="0"/>
              <a:pathLst>
                <a:path w="205248" h="191932">
                  <a:moveTo>
                    <a:pt x="198109" y="61797"/>
                  </a:moveTo>
                  <a:lnTo>
                    <a:pt x="202629" y="92307"/>
                  </a:lnTo>
                  <a:lnTo>
                    <a:pt x="205248" y="118069"/>
                  </a:lnTo>
                  <a:lnTo>
                    <a:pt x="190106" y="160093"/>
                  </a:lnTo>
                  <a:lnTo>
                    <a:pt x="173866" y="113277"/>
                  </a:lnTo>
                  <a:lnTo>
                    <a:pt x="153082" y="136571"/>
                  </a:lnTo>
                  <a:lnTo>
                    <a:pt x="167276" y="170410"/>
                  </a:lnTo>
                  <a:lnTo>
                    <a:pt x="154534" y="191932"/>
                  </a:lnTo>
                  <a:lnTo>
                    <a:pt x="102229" y="165280"/>
                  </a:lnTo>
                  <a:lnTo>
                    <a:pt x="89735" y="132041"/>
                  </a:lnTo>
                  <a:lnTo>
                    <a:pt x="103290" y="110205"/>
                  </a:lnTo>
                  <a:lnTo>
                    <a:pt x="75133" y="88487"/>
                  </a:lnTo>
                  <a:lnTo>
                    <a:pt x="61170" y="107529"/>
                  </a:lnTo>
                  <a:lnTo>
                    <a:pt x="40253" y="105761"/>
                  </a:lnTo>
                  <a:lnTo>
                    <a:pt x="7360" y="131385"/>
                  </a:lnTo>
                  <a:lnTo>
                    <a:pt x="0" y="117943"/>
                  </a:lnTo>
                  <a:lnTo>
                    <a:pt x="17444" y="79236"/>
                  </a:lnTo>
                  <a:lnTo>
                    <a:pt x="45449" y="66319"/>
                  </a:lnTo>
                  <a:lnTo>
                    <a:pt x="69687" y="49016"/>
                  </a:lnTo>
                  <a:lnTo>
                    <a:pt x="85398" y="69805"/>
                  </a:lnTo>
                  <a:lnTo>
                    <a:pt x="119195" y="57230"/>
                  </a:lnTo>
                  <a:lnTo>
                    <a:pt x="126446" y="36736"/>
                  </a:lnTo>
                  <a:lnTo>
                    <a:pt x="157863" y="35515"/>
                  </a:lnTo>
                  <a:lnTo>
                    <a:pt x="155228" y="0"/>
                  </a:lnTo>
                  <a:lnTo>
                    <a:pt x="191259" y="21780"/>
                  </a:lnTo>
                  <a:lnTo>
                    <a:pt x="194989" y="44907"/>
                  </a:lnTo>
                  <a:lnTo>
                    <a:pt x="198109" y="61797"/>
                  </a:lnTo>
                  <a:close/>
                </a:path>
              </a:pathLst>
            </a:custGeom>
            <a:solidFill>
              <a:srgbClr val="E6EBE2"/>
            </a:solidFill>
            <a:ln w="4403">
              <a:solidFill>
                <a:srgbClr val="B6C3B3"/>
              </a:solidFill>
              <a:prstDash val="solid"/>
            </a:ln>
          </p:spPr>
          <p:txBody>
            <a:bodyPr/>
            <a:p/>
          </p:txBody>
        </p:sp>
        <p:sp>
          <p:nvSpPr>
            <p:cNvPr id="52" name="land-36">
              <a:extLst>
                <a:ext uri="{FF2B5EF4-FFF2-40B4-BE49-F238E27FC236}">
                  <a16:creationId xmlns:a16="http://schemas.microsoft.com/office/drawing/2014/main" id="{16C35889-3B05-4B66-B9DB-19D2AEE1ADE3}"/>
                </a:ext>
              </a:extLst>
            </p:cNvPr>
            <p:cNvSpPr>
              <a:spLocks/>
            </p:cNvSpPr>
            <p:nvPr/>
          </p:nvSpPr>
          <p:spPr>
            <a:xfrm>
              <a:off x="3873742" y="2867478"/>
              <a:ext cx="66151" cy="125916"/>
            </a:xfrm>
            <a:custGeom>
              <a:avLst/>
              <a:gdLst/>
              <a:ahLst/>
              <a:cxnLst/>
              <a:rect l="0" t="0" r="0" b="0"/>
              <a:pathLst>
                <a:path w="93025" h="177070">
                  <a:moveTo>
                    <a:pt x="67691" y="166564"/>
                  </a:moveTo>
                  <a:lnTo>
                    <a:pt x="29034" y="177070"/>
                  </a:lnTo>
                  <a:lnTo>
                    <a:pt x="7881" y="140556"/>
                  </a:lnTo>
                  <a:lnTo>
                    <a:pt x="0" y="74546"/>
                  </a:lnTo>
                  <a:lnTo>
                    <a:pt x="20120" y="0"/>
                  </a:lnTo>
                  <a:lnTo>
                    <a:pt x="50835" y="25518"/>
                  </a:lnTo>
                  <a:lnTo>
                    <a:pt x="71527" y="57858"/>
                  </a:lnTo>
                  <a:lnTo>
                    <a:pt x="93025" y="105672"/>
                  </a:lnTo>
                  <a:lnTo>
                    <a:pt x="86329" y="153492"/>
                  </a:lnTo>
                  <a:lnTo>
                    <a:pt x="67691" y="166564"/>
                  </a:lnTo>
                  <a:close/>
                </a:path>
              </a:pathLst>
            </a:custGeom>
            <a:solidFill>
              <a:srgbClr val="E6EBE2"/>
            </a:solidFill>
            <a:ln w="4403">
              <a:solidFill>
                <a:srgbClr val="B6C3B3"/>
              </a:solidFill>
              <a:prstDash val="solid"/>
            </a:ln>
          </p:spPr>
          <p:txBody>
            <a:bodyPr/>
            <a:p/>
          </p:txBody>
        </p:sp>
        <p:sp>
          <p:nvSpPr>
            <p:cNvPr id="53" name="land-37">
              <a:extLst>
                <a:ext uri="{FF2B5EF4-FFF2-40B4-BE49-F238E27FC236}">
                  <a16:creationId xmlns:a16="http://schemas.microsoft.com/office/drawing/2014/main" id="{5181BC36-28E8-4F49-B7BA-F7A8DEA021BB}"/>
                </a:ext>
              </a:extLst>
            </p:cNvPr>
            <p:cNvSpPr>
              <a:spLocks/>
            </p:cNvSpPr>
            <p:nvPr/>
          </p:nvSpPr>
          <p:spPr>
            <a:xfrm>
              <a:off x="10775696" y="2832668"/>
              <a:ext cx="33347" cy="29065"/>
            </a:xfrm>
            <a:custGeom>
              <a:avLst/>
              <a:gdLst/>
              <a:ahLst/>
              <a:cxnLst/>
              <a:rect l="0" t="0" r="0" b="0"/>
              <a:pathLst>
                <a:path w="46895" h="40872">
                  <a:moveTo>
                    <a:pt x="45117" y="35821"/>
                  </a:moveTo>
                  <a:lnTo>
                    <a:pt x="8001" y="40872"/>
                  </a:lnTo>
                  <a:lnTo>
                    <a:pt x="0" y="36739"/>
                  </a:lnTo>
                  <a:lnTo>
                    <a:pt x="12890" y="24110"/>
                  </a:lnTo>
                  <a:lnTo>
                    <a:pt x="12001" y="5970"/>
                  </a:lnTo>
                  <a:lnTo>
                    <a:pt x="37560" y="0"/>
                  </a:lnTo>
                  <a:lnTo>
                    <a:pt x="46895" y="1607"/>
                  </a:lnTo>
                  <a:lnTo>
                    <a:pt x="45117" y="35821"/>
                  </a:lnTo>
                  <a:close/>
                </a:path>
              </a:pathLst>
            </a:custGeom>
            <a:solidFill>
              <a:srgbClr val="E6EBE2"/>
            </a:solidFill>
            <a:ln w="4403">
              <a:solidFill>
                <a:srgbClr val="B6C3B3"/>
              </a:solidFill>
              <a:prstDash val="solid"/>
            </a:ln>
          </p:spPr>
          <p:txBody>
            <a:bodyPr/>
            <a:p/>
          </p:txBody>
        </p:sp>
        <p:sp>
          <p:nvSpPr>
            <p:cNvPr id="54" name="land-38">
              <a:extLst>
                <a:ext uri="{FF2B5EF4-FFF2-40B4-BE49-F238E27FC236}">
                  <a16:creationId xmlns:a16="http://schemas.microsoft.com/office/drawing/2014/main" id="{6E97DB71-4C2B-4244-B17A-3D0FD5705629}"/>
                </a:ext>
              </a:extLst>
            </p:cNvPr>
            <p:cNvSpPr>
              <a:spLocks/>
            </p:cNvSpPr>
            <p:nvPr/>
          </p:nvSpPr>
          <p:spPr>
            <a:xfrm>
              <a:off x="5222964" y="2821476"/>
              <a:ext cx="53668" cy="72190"/>
            </a:xfrm>
            <a:custGeom>
              <a:avLst/>
              <a:gdLst/>
              <a:ahLst/>
              <a:cxnLst/>
              <a:rect l="0" t="0" r="0" b="0"/>
              <a:pathLst>
                <a:path w="75471" h="101517">
                  <a:moveTo>
                    <a:pt x="71226" y="43809"/>
                  </a:moveTo>
                  <a:lnTo>
                    <a:pt x="55257" y="58904"/>
                  </a:lnTo>
                  <a:lnTo>
                    <a:pt x="41333" y="87920"/>
                  </a:lnTo>
                  <a:lnTo>
                    <a:pt x="27374" y="101517"/>
                  </a:lnTo>
                  <a:lnTo>
                    <a:pt x="0" y="69775"/>
                  </a:lnTo>
                  <a:lnTo>
                    <a:pt x="9158" y="57482"/>
                  </a:lnTo>
                  <a:lnTo>
                    <a:pt x="20315" y="44618"/>
                  </a:lnTo>
                  <a:lnTo>
                    <a:pt x="25219" y="16113"/>
                  </a:lnTo>
                  <a:lnTo>
                    <a:pt x="49730" y="13415"/>
                  </a:lnTo>
                  <a:lnTo>
                    <a:pt x="42571" y="44332"/>
                  </a:lnTo>
                  <a:lnTo>
                    <a:pt x="75471" y="0"/>
                  </a:lnTo>
                  <a:lnTo>
                    <a:pt x="71226" y="43809"/>
                  </a:lnTo>
                  <a:close/>
                </a:path>
              </a:pathLst>
            </a:custGeom>
            <a:solidFill>
              <a:srgbClr val="E6EBE2"/>
            </a:solidFill>
            <a:ln w="4403">
              <a:solidFill>
                <a:srgbClr val="B6C3B3"/>
              </a:solidFill>
              <a:prstDash val="solid"/>
            </a:ln>
          </p:spPr>
          <p:txBody>
            <a:bodyPr/>
            <a:p/>
          </p:txBody>
        </p:sp>
        <p:sp>
          <p:nvSpPr>
            <p:cNvPr id="55" name="land-39">
              <a:extLst>
                <a:ext uri="{FF2B5EF4-FFF2-40B4-BE49-F238E27FC236}">
                  <a16:creationId xmlns:a16="http://schemas.microsoft.com/office/drawing/2014/main" id="{4FB26504-F347-4FF8-8072-10DBB83B3202}"/>
                </a:ext>
              </a:extLst>
            </p:cNvPr>
            <p:cNvSpPr>
              <a:spLocks/>
            </p:cNvSpPr>
            <p:nvPr/>
          </p:nvSpPr>
          <p:spPr>
            <a:xfrm>
              <a:off x="5058415" y="2817004"/>
              <a:ext cx="79509" cy="98042"/>
            </a:xfrm>
            <a:custGeom>
              <a:avLst/>
              <a:gdLst/>
              <a:ahLst/>
              <a:cxnLst/>
              <a:rect l="0" t="0" r="0" b="0"/>
              <a:pathLst>
                <a:path w="111810" h="137872">
                  <a:moveTo>
                    <a:pt x="59132" y="94295"/>
                  </a:moveTo>
                  <a:lnTo>
                    <a:pt x="0" y="137872"/>
                  </a:lnTo>
                  <a:lnTo>
                    <a:pt x="21789" y="105753"/>
                  </a:lnTo>
                  <a:lnTo>
                    <a:pt x="53902" y="77390"/>
                  </a:lnTo>
                  <a:lnTo>
                    <a:pt x="80591" y="45620"/>
                  </a:lnTo>
                  <a:lnTo>
                    <a:pt x="103889" y="0"/>
                  </a:lnTo>
                  <a:lnTo>
                    <a:pt x="111810" y="37445"/>
                  </a:lnTo>
                  <a:lnTo>
                    <a:pt x="82463" y="62733"/>
                  </a:lnTo>
                  <a:lnTo>
                    <a:pt x="59132" y="94295"/>
                  </a:lnTo>
                  <a:close/>
                </a:path>
              </a:pathLst>
            </a:custGeom>
            <a:solidFill>
              <a:srgbClr val="E6EBE2"/>
            </a:solidFill>
            <a:ln w="4403">
              <a:solidFill>
                <a:srgbClr val="B6C3B3"/>
              </a:solidFill>
              <a:prstDash val="solid"/>
            </a:ln>
          </p:spPr>
          <p:txBody>
            <a:bodyPr/>
            <a:p/>
          </p:txBody>
        </p:sp>
        <p:sp>
          <p:nvSpPr>
            <p:cNvPr id="56" name="land-40">
              <a:extLst>
                <a:ext uri="{FF2B5EF4-FFF2-40B4-BE49-F238E27FC236}">
                  <a16:creationId xmlns:a16="http://schemas.microsoft.com/office/drawing/2014/main" id="{C0B3E5AC-5CEF-47E8-B419-605BFF8455B1}"/>
                </a:ext>
              </a:extLst>
            </p:cNvPr>
            <p:cNvSpPr>
              <a:spLocks/>
            </p:cNvSpPr>
            <p:nvPr/>
          </p:nvSpPr>
          <p:spPr>
            <a:xfrm>
              <a:off x="5207270" y="2799954"/>
              <a:ext cx="39090" cy="47377"/>
            </a:xfrm>
            <a:custGeom>
              <a:avLst/>
              <a:gdLst/>
              <a:ahLst/>
              <a:cxnLst/>
              <a:rect l="0" t="0" r="0" b="0"/>
              <a:pathLst>
                <a:path w="54970" h="66624">
                  <a:moveTo>
                    <a:pt x="0" y="0"/>
                  </a:moveTo>
                  <a:lnTo>
                    <a:pt x="26682" y="14217"/>
                  </a:lnTo>
                  <a:lnTo>
                    <a:pt x="54970" y="14149"/>
                  </a:lnTo>
                  <a:lnTo>
                    <a:pt x="54109" y="33333"/>
                  </a:lnTo>
                  <a:lnTo>
                    <a:pt x="33523" y="52833"/>
                  </a:lnTo>
                  <a:lnTo>
                    <a:pt x="5292" y="66624"/>
                  </a:lnTo>
                  <a:lnTo>
                    <a:pt x="3726" y="45284"/>
                  </a:lnTo>
                  <a:lnTo>
                    <a:pt x="6882" y="21856"/>
                  </a:lnTo>
                  <a:lnTo>
                    <a:pt x="0" y="0"/>
                  </a:lnTo>
                  <a:close/>
                </a:path>
              </a:pathLst>
            </a:custGeom>
            <a:solidFill>
              <a:srgbClr val="E6EBE2"/>
            </a:solidFill>
            <a:ln w="4403">
              <a:solidFill>
                <a:srgbClr val="B6C3B3"/>
              </a:solidFill>
              <a:prstDash val="solid"/>
            </a:ln>
          </p:spPr>
          <p:txBody>
            <a:bodyPr/>
            <a:p/>
          </p:txBody>
        </p:sp>
        <p:sp>
          <p:nvSpPr>
            <p:cNvPr id="57" name="land-41">
              <a:extLst>
                <a:ext uri="{FF2B5EF4-FFF2-40B4-BE49-F238E27FC236}">
                  <a16:creationId xmlns:a16="http://schemas.microsoft.com/office/drawing/2014/main" id="{89467AF2-CB69-4D29-A3F4-07ABEEE135B3}"/>
                </a:ext>
              </a:extLst>
            </p:cNvPr>
            <p:cNvSpPr>
              <a:spLocks/>
            </p:cNvSpPr>
            <p:nvPr/>
          </p:nvSpPr>
          <p:spPr>
            <a:xfrm>
              <a:off x="5282601" y="2778204"/>
              <a:ext cx="47941" cy="79131"/>
            </a:xfrm>
            <a:custGeom>
              <a:avLst/>
              <a:gdLst/>
              <a:ahLst/>
              <a:cxnLst/>
              <a:rect l="0" t="0" r="0" b="0"/>
              <a:pathLst>
                <a:path w="67417" h="111278">
                  <a:moveTo>
                    <a:pt x="54931" y="18143"/>
                  </a:moveTo>
                  <a:lnTo>
                    <a:pt x="67417" y="69421"/>
                  </a:lnTo>
                  <a:lnTo>
                    <a:pt x="33121" y="57235"/>
                  </a:lnTo>
                  <a:lnTo>
                    <a:pt x="34049" y="72649"/>
                  </a:lnTo>
                  <a:lnTo>
                    <a:pt x="44925" y="100989"/>
                  </a:lnTo>
                  <a:lnTo>
                    <a:pt x="23783" y="111278"/>
                  </a:lnTo>
                  <a:lnTo>
                    <a:pt x="21932" y="78979"/>
                  </a:lnTo>
                  <a:lnTo>
                    <a:pt x="8549" y="76594"/>
                  </a:lnTo>
                  <a:lnTo>
                    <a:pt x="1590" y="48789"/>
                  </a:lnTo>
                  <a:lnTo>
                    <a:pt x="27748" y="52454"/>
                  </a:lnTo>
                  <a:lnTo>
                    <a:pt x="27169" y="35066"/>
                  </a:lnTo>
                  <a:lnTo>
                    <a:pt x="0" y="0"/>
                  </a:lnTo>
                  <a:lnTo>
                    <a:pt x="42688" y="1012"/>
                  </a:lnTo>
                  <a:lnTo>
                    <a:pt x="54931" y="18143"/>
                  </a:lnTo>
                  <a:close/>
                </a:path>
              </a:pathLst>
            </a:custGeom>
            <a:solidFill>
              <a:srgbClr val="E6EBE2"/>
            </a:solidFill>
            <a:ln w="4403">
              <a:solidFill>
                <a:srgbClr val="B6C3B3"/>
              </a:solidFill>
              <a:prstDash val="solid"/>
            </a:ln>
          </p:spPr>
          <p:txBody>
            <a:bodyPr/>
            <a:p/>
          </p:txBody>
        </p:sp>
        <p:sp>
          <p:nvSpPr>
            <p:cNvPr id="58" name="land-42">
              <a:extLst>
                <a:ext uri="{FF2B5EF4-FFF2-40B4-BE49-F238E27FC236}">
                  <a16:creationId xmlns:a16="http://schemas.microsoft.com/office/drawing/2014/main" id="{37862040-F13E-4018-9313-BE4E84D3366C}"/>
                </a:ext>
              </a:extLst>
            </p:cNvPr>
            <p:cNvSpPr>
              <a:spLocks/>
            </p:cNvSpPr>
            <p:nvPr/>
          </p:nvSpPr>
          <p:spPr>
            <a:xfrm>
              <a:off x="5157957" y="2748530"/>
              <a:ext cx="38056" cy="41176"/>
            </a:xfrm>
            <a:custGeom>
              <a:avLst/>
              <a:gdLst/>
              <a:ahLst/>
              <a:cxnLst/>
              <a:rect l="0" t="0" r="0" b="0"/>
              <a:pathLst>
                <a:path w="53516" h="57904">
                  <a:moveTo>
                    <a:pt x="53516" y="18224"/>
                  </a:moveTo>
                  <a:lnTo>
                    <a:pt x="41728" y="57904"/>
                  </a:lnTo>
                  <a:lnTo>
                    <a:pt x="22690" y="34990"/>
                  </a:lnTo>
                  <a:lnTo>
                    <a:pt x="0" y="0"/>
                  </a:lnTo>
                  <a:lnTo>
                    <a:pt x="38080" y="1686"/>
                  </a:lnTo>
                  <a:lnTo>
                    <a:pt x="53516" y="18224"/>
                  </a:lnTo>
                  <a:close/>
                </a:path>
              </a:pathLst>
            </a:custGeom>
            <a:solidFill>
              <a:srgbClr val="E6EBE2"/>
            </a:solidFill>
            <a:ln w="4403">
              <a:solidFill>
                <a:srgbClr val="B6C3B3"/>
              </a:solidFill>
              <a:prstDash val="solid"/>
            </a:ln>
          </p:spPr>
          <p:txBody>
            <a:bodyPr/>
            <a:p/>
          </p:txBody>
        </p:sp>
        <p:sp>
          <p:nvSpPr>
            <p:cNvPr id="59" name="land-43">
              <a:extLst>
                <a:ext uri="{FF2B5EF4-FFF2-40B4-BE49-F238E27FC236}">
                  <a16:creationId xmlns:a16="http://schemas.microsoft.com/office/drawing/2014/main" id="{8F054A41-B36D-45A8-8FCD-D4689D3E00CD}"/>
                </a:ext>
              </a:extLst>
            </p:cNvPr>
            <p:cNvSpPr>
              <a:spLocks/>
            </p:cNvSpPr>
            <p:nvPr/>
          </p:nvSpPr>
          <p:spPr>
            <a:xfrm>
              <a:off x="5144060" y="2583977"/>
              <a:ext cx="135840" cy="194916"/>
            </a:xfrm>
            <a:custGeom>
              <a:avLst/>
              <a:gdLst/>
              <a:ahLst/>
              <a:cxnLst/>
              <a:rect l="0" t="0" r="0" b="0"/>
              <a:pathLst>
                <a:path w="191025" h="274100">
                  <a:moveTo>
                    <a:pt x="63898" y="53"/>
                  </a:moveTo>
                  <a:lnTo>
                    <a:pt x="91293" y="13165"/>
                  </a:lnTo>
                  <a:lnTo>
                    <a:pt x="105001" y="1207"/>
                  </a:lnTo>
                  <a:lnTo>
                    <a:pt x="109044" y="12875"/>
                  </a:lnTo>
                  <a:lnTo>
                    <a:pt x="101813" y="31915"/>
                  </a:lnTo>
                  <a:lnTo>
                    <a:pt x="116987" y="64832"/>
                  </a:lnTo>
                  <a:lnTo>
                    <a:pt x="105282" y="102998"/>
                  </a:lnTo>
                  <a:lnTo>
                    <a:pt x="79077" y="118218"/>
                  </a:lnTo>
                  <a:lnTo>
                    <a:pt x="72067" y="155242"/>
                  </a:lnTo>
                  <a:lnTo>
                    <a:pt x="82013" y="191818"/>
                  </a:lnTo>
                  <a:lnTo>
                    <a:pt x="105576" y="196878"/>
                  </a:lnTo>
                  <a:lnTo>
                    <a:pt x="125238" y="191443"/>
                  </a:lnTo>
                  <a:lnTo>
                    <a:pt x="180757" y="216904"/>
                  </a:lnTo>
                  <a:lnTo>
                    <a:pt x="176526" y="241903"/>
                  </a:lnTo>
                  <a:lnTo>
                    <a:pt x="191025" y="252936"/>
                  </a:lnTo>
                  <a:lnTo>
                    <a:pt x="186408" y="274100"/>
                  </a:lnTo>
                  <a:lnTo>
                    <a:pt x="151764" y="251559"/>
                  </a:lnTo>
                  <a:lnTo>
                    <a:pt x="135345" y="227430"/>
                  </a:lnTo>
                  <a:lnTo>
                    <a:pt x="123908" y="244288"/>
                  </a:lnTo>
                  <a:lnTo>
                    <a:pt x="95606" y="216796"/>
                  </a:lnTo>
                  <a:lnTo>
                    <a:pt x="55234" y="223583"/>
                  </a:lnTo>
                  <a:lnTo>
                    <a:pt x="33109" y="213436"/>
                  </a:lnTo>
                  <a:lnTo>
                    <a:pt x="35365" y="194452"/>
                  </a:lnTo>
                  <a:lnTo>
                    <a:pt x="49253" y="182770"/>
                  </a:lnTo>
                  <a:lnTo>
                    <a:pt x="35985" y="172149"/>
                  </a:lnTo>
                  <a:lnTo>
                    <a:pt x="30243" y="188700"/>
                  </a:lnTo>
                  <a:lnTo>
                    <a:pt x="8297" y="162312"/>
                  </a:lnTo>
                  <a:lnTo>
                    <a:pt x="1652" y="142313"/>
                  </a:lnTo>
                  <a:lnTo>
                    <a:pt x="0" y="98348"/>
                  </a:lnTo>
                  <a:lnTo>
                    <a:pt x="17901" y="113460"/>
                  </a:lnTo>
                  <a:lnTo>
                    <a:pt x="22504" y="41614"/>
                  </a:lnTo>
                  <a:lnTo>
                    <a:pt x="36987" y="0"/>
                  </a:lnTo>
                  <a:lnTo>
                    <a:pt x="63898" y="53"/>
                  </a:lnTo>
                  <a:close/>
                </a:path>
              </a:pathLst>
            </a:custGeom>
            <a:solidFill>
              <a:srgbClr val="E6EBE2"/>
            </a:solidFill>
            <a:ln w="4403">
              <a:solidFill>
                <a:srgbClr val="B6C3B3"/>
              </a:solidFill>
              <a:prstDash val="solid"/>
            </a:ln>
          </p:spPr>
          <p:txBody>
            <a:bodyPr/>
            <a:p/>
          </p:txBody>
        </p:sp>
        <p:sp>
          <p:nvSpPr>
            <p:cNvPr id="60" name="land-44">
              <a:extLst>
                <a:ext uri="{FF2B5EF4-FFF2-40B4-BE49-F238E27FC236}">
                  <a16:creationId xmlns:a16="http://schemas.microsoft.com/office/drawing/2014/main" id="{0764738C-D211-4B71-9CD4-83FA872BAF63}"/>
                </a:ext>
              </a:extLst>
            </p:cNvPr>
            <p:cNvSpPr>
              <a:spLocks/>
            </p:cNvSpPr>
            <p:nvPr/>
          </p:nvSpPr>
          <p:spPr>
            <a:xfrm>
              <a:off x="10608408" y="2583475"/>
              <a:ext cx="52200" cy="18747"/>
            </a:xfrm>
            <a:custGeom>
              <a:avLst/>
              <a:gdLst/>
              <a:ahLst/>
              <a:cxnLst/>
              <a:rect l="0" t="0" r="0" b="0"/>
              <a:pathLst>
                <a:path w="73406" h="26363">
                  <a:moveTo>
                    <a:pt x="73406" y="13436"/>
                  </a:moveTo>
                  <a:lnTo>
                    <a:pt x="62019" y="25015"/>
                  </a:lnTo>
                  <a:lnTo>
                    <a:pt x="28559" y="24743"/>
                  </a:lnTo>
                  <a:lnTo>
                    <a:pt x="2590" y="26363"/>
                  </a:lnTo>
                  <a:lnTo>
                    <a:pt x="0" y="6711"/>
                  </a:lnTo>
                  <a:lnTo>
                    <a:pt x="6301" y="0"/>
                  </a:lnTo>
                  <a:lnTo>
                    <a:pt x="42672" y="268"/>
                  </a:lnTo>
                  <a:lnTo>
                    <a:pt x="65392" y="4313"/>
                  </a:lnTo>
                  <a:lnTo>
                    <a:pt x="73406" y="13436"/>
                  </a:lnTo>
                  <a:close/>
                </a:path>
              </a:pathLst>
            </a:custGeom>
            <a:solidFill>
              <a:srgbClr val="E6EBE2"/>
            </a:solidFill>
            <a:ln w="4403">
              <a:solidFill>
                <a:srgbClr val="B6C3B3"/>
              </a:solidFill>
              <a:prstDash val="solid"/>
            </a:ln>
          </p:spPr>
          <p:txBody>
            <a:bodyPr/>
            <a:p/>
          </p:txBody>
        </p:sp>
        <p:sp>
          <p:nvSpPr>
            <p:cNvPr id="61" name="land-45">
              <a:extLst>
                <a:ext uri="{FF2B5EF4-FFF2-40B4-BE49-F238E27FC236}">
                  <a16:creationId xmlns:a16="http://schemas.microsoft.com/office/drawing/2014/main" id="{71F8BF0F-A347-4C9F-8868-847A5973305D}"/>
                </a:ext>
              </a:extLst>
            </p:cNvPr>
            <p:cNvSpPr>
              <a:spLocks/>
            </p:cNvSpPr>
            <p:nvPr/>
          </p:nvSpPr>
          <p:spPr>
            <a:xfrm>
              <a:off x="10257698" y="2583357"/>
              <a:ext cx="67582" cy="26880"/>
            </a:xfrm>
            <a:custGeom>
              <a:avLst/>
              <a:gdLst/>
              <a:ahLst/>
              <a:cxnLst/>
              <a:rect l="0" t="0" r="0" b="0"/>
              <a:pathLst>
                <a:path w="95037" h="37800">
                  <a:moveTo>
                    <a:pt x="63793" y="30125"/>
                  </a:moveTo>
                  <a:lnTo>
                    <a:pt x="50290" y="37800"/>
                  </a:lnTo>
                  <a:lnTo>
                    <a:pt x="25412" y="30430"/>
                  </a:lnTo>
                  <a:lnTo>
                    <a:pt x="0" y="13697"/>
                  </a:lnTo>
                  <a:lnTo>
                    <a:pt x="5334" y="3200"/>
                  </a:lnTo>
                  <a:lnTo>
                    <a:pt x="24019" y="0"/>
                  </a:lnTo>
                  <a:lnTo>
                    <a:pt x="34143" y="1547"/>
                  </a:lnTo>
                  <a:lnTo>
                    <a:pt x="64057" y="5665"/>
                  </a:lnTo>
                  <a:lnTo>
                    <a:pt x="87671" y="16694"/>
                  </a:lnTo>
                  <a:lnTo>
                    <a:pt x="95037" y="29270"/>
                  </a:lnTo>
                  <a:lnTo>
                    <a:pt x="63793" y="30125"/>
                  </a:lnTo>
                  <a:close/>
                </a:path>
              </a:pathLst>
            </a:custGeom>
            <a:solidFill>
              <a:srgbClr val="E6EBE2"/>
            </a:solidFill>
            <a:ln w="4403">
              <a:solidFill>
                <a:srgbClr val="B6C3B3"/>
              </a:solidFill>
              <a:prstDash val="solid"/>
            </a:ln>
          </p:spPr>
          <p:txBody>
            <a:bodyPr/>
            <a:p/>
          </p:txBody>
        </p:sp>
        <p:sp>
          <p:nvSpPr>
            <p:cNvPr id="62" name="land-46">
              <a:extLst>
                <a:ext uri="{FF2B5EF4-FFF2-40B4-BE49-F238E27FC236}">
                  <a16:creationId xmlns:a16="http://schemas.microsoft.com/office/drawing/2014/main" id="{FEEFEBEB-8736-4AC9-9253-9D0C886242CC}"/>
                </a:ext>
              </a:extLst>
            </p:cNvPr>
            <p:cNvSpPr>
              <a:spLocks/>
            </p:cNvSpPr>
            <p:nvPr/>
          </p:nvSpPr>
          <p:spPr>
            <a:xfrm>
              <a:off x="10380331" y="2537915"/>
              <a:ext cx="194081" cy="75671"/>
            </a:xfrm>
            <a:custGeom>
              <a:avLst/>
              <a:gdLst/>
              <a:ahLst/>
              <a:cxnLst/>
              <a:rect l="0" t="0" r="0" b="0"/>
              <a:pathLst>
                <a:path w="272927" h="106412">
                  <a:moveTo>
                    <a:pt x="83493" y="2029"/>
                  </a:moveTo>
                  <a:lnTo>
                    <a:pt x="122045" y="9241"/>
                  </a:lnTo>
                  <a:lnTo>
                    <a:pt x="127604" y="1413"/>
                  </a:lnTo>
                  <a:lnTo>
                    <a:pt x="162302" y="1626"/>
                  </a:lnTo>
                  <a:lnTo>
                    <a:pt x="188631" y="13447"/>
                  </a:lnTo>
                  <a:lnTo>
                    <a:pt x="200346" y="12293"/>
                  </a:lnTo>
                  <a:lnTo>
                    <a:pt x="208416" y="28584"/>
                  </a:lnTo>
                  <a:lnTo>
                    <a:pt x="232736" y="27668"/>
                  </a:lnTo>
                  <a:lnTo>
                    <a:pt x="231304" y="41354"/>
                  </a:lnTo>
                  <a:lnTo>
                    <a:pt x="251081" y="43013"/>
                  </a:lnTo>
                  <a:lnTo>
                    <a:pt x="272927" y="59861"/>
                  </a:lnTo>
                  <a:lnTo>
                    <a:pt x="256420" y="78555"/>
                  </a:lnTo>
                  <a:lnTo>
                    <a:pt x="235278" y="68566"/>
                  </a:lnTo>
                  <a:lnTo>
                    <a:pt x="214873" y="70492"/>
                  </a:lnTo>
                  <a:lnTo>
                    <a:pt x="200252" y="68306"/>
                  </a:lnTo>
                  <a:lnTo>
                    <a:pt x="192237" y="76683"/>
                  </a:lnTo>
                  <a:lnTo>
                    <a:pt x="175173" y="79513"/>
                  </a:lnTo>
                  <a:lnTo>
                    <a:pt x="168409" y="68372"/>
                  </a:lnTo>
                  <a:lnTo>
                    <a:pt x="153712" y="74964"/>
                  </a:lnTo>
                  <a:lnTo>
                    <a:pt x="135920" y="106412"/>
                  </a:lnTo>
                  <a:lnTo>
                    <a:pt x="124477" y="99109"/>
                  </a:lnTo>
                  <a:lnTo>
                    <a:pt x="122225" y="85910"/>
                  </a:lnTo>
                  <a:lnTo>
                    <a:pt x="92703" y="78104"/>
                  </a:lnTo>
                  <a:lnTo>
                    <a:pt x="71726" y="81289"/>
                  </a:lnTo>
                  <a:lnTo>
                    <a:pt x="44605" y="77969"/>
                  </a:lnTo>
                  <a:lnTo>
                    <a:pt x="23807" y="86553"/>
                  </a:lnTo>
                  <a:lnTo>
                    <a:pt x="0" y="72245"/>
                  </a:lnTo>
                  <a:lnTo>
                    <a:pt x="3916" y="57441"/>
                  </a:lnTo>
                  <a:lnTo>
                    <a:pt x="44827" y="63818"/>
                  </a:lnTo>
                  <a:lnTo>
                    <a:pt x="78370" y="67503"/>
                  </a:lnTo>
                  <a:lnTo>
                    <a:pt x="94374" y="57279"/>
                  </a:lnTo>
                  <a:lnTo>
                    <a:pt x="74071" y="37385"/>
                  </a:lnTo>
                  <a:lnTo>
                    <a:pt x="74406" y="19843"/>
                  </a:lnTo>
                  <a:lnTo>
                    <a:pt x="46362" y="12681"/>
                  </a:lnTo>
                  <a:lnTo>
                    <a:pt x="56373" y="0"/>
                  </a:lnTo>
                  <a:lnTo>
                    <a:pt x="83493" y="2029"/>
                  </a:lnTo>
                  <a:close/>
                </a:path>
              </a:pathLst>
            </a:custGeom>
            <a:solidFill>
              <a:srgbClr val="E6EBE2"/>
            </a:solidFill>
            <a:ln w="4403">
              <a:solidFill>
                <a:srgbClr val="B6C3B3"/>
              </a:solidFill>
              <a:prstDash val="solid"/>
            </a:ln>
          </p:spPr>
          <p:txBody>
            <a:bodyPr/>
            <a:p/>
          </p:txBody>
        </p:sp>
        <p:sp>
          <p:nvSpPr>
            <p:cNvPr id="63" name="land-47">
              <a:extLst>
                <a:ext uri="{FF2B5EF4-FFF2-40B4-BE49-F238E27FC236}">
                  <a16:creationId xmlns:a16="http://schemas.microsoft.com/office/drawing/2014/main" id="{0AE85FC7-9BF7-4C1A-BE21-E1A6666B7DDE}"/>
                </a:ext>
              </a:extLst>
            </p:cNvPr>
            <p:cNvSpPr>
              <a:spLocks/>
            </p:cNvSpPr>
            <p:nvPr/>
          </p:nvSpPr>
          <p:spPr>
            <a:xfrm>
              <a:off x="4788221" y="2531855"/>
              <a:ext cx="75350" cy="62165"/>
            </a:xfrm>
            <a:custGeom>
              <a:avLst/>
              <a:gdLst/>
              <a:ahLst/>
              <a:cxnLst/>
              <a:rect l="0" t="0" r="0" b="0"/>
              <a:pathLst>
                <a:path w="105961" h="87419">
                  <a:moveTo>
                    <a:pt x="76142" y="65344"/>
                  </a:moveTo>
                  <a:lnTo>
                    <a:pt x="37738" y="87419"/>
                  </a:lnTo>
                  <a:lnTo>
                    <a:pt x="1289" y="73183"/>
                  </a:lnTo>
                  <a:lnTo>
                    <a:pt x="0" y="33679"/>
                  </a:lnTo>
                  <a:lnTo>
                    <a:pt x="21907" y="12869"/>
                  </a:lnTo>
                  <a:lnTo>
                    <a:pt x="70470" y="0"/>
                  </a:lnTo>
                  <a:lnTo>
                    <a:pt x="96027" y="1089"/>
                  </a:lnTo>
                  <a:lnTo>
                    <a:pt x="105961" y="18614"/>
                  </a:lnTo>
                  <a:lnTo>
                    <a:pt x="86430" y="38823"/>
                  </a:lnTo>
                  <a:lnTo>
                    <a:pt x="76142" y="65344"/>
                  </a:lnTo>
                  <a:close/>
                </a:path>
              </a:pathLst>
            </a:custGeom>
            <a:solidFill>
              <a:srgbClr val="E6EBE2"/>
            </a:solidFill>
            <a:ln w="4403">
              <a:solidFill>
                <a:srgbClr val="B6C3B3"/>
              </a:solidFill>
              <a:prstDash val="solid"/>
            </a:ln>
          </p:spPr>
          <p:txBody>
            <a:bodyPr/>
            <a:p/>
          </p:txBody>
        </p:sp>
        <p:sp>
          <p:nvSpPr>
            <p:cNvPr id="64" name="land-48">
              <a:extLst>
                <a:ext uri="{FF2B5EF4-FFF2-40B4-BE49-F238E27FC236}">
                  <a16:creationId xmlns:a16="http://schemas.microsoft.com/office/drawing/2014/main" id="{8E928713-DF4B-41E5-8B1B-0DE1D9E7A71E}"/>
                </a:ext>
              </a:extLst>
            </p:cNvPr>
            <p:cNvSpPr>
              <a:spLocks/>
            </p:cNvSpPr>
            <p:nvPr/>
          </p:nvSpPr>
          <p:spPr>
            <a:xfrm>
              <a:off x="7800558" y="2526436"/>
              <a:ext cx="40019" cy="44120"/>
            </a:xfrm>
            <a:custGeom>
              <a:avLst/>
              <a:gdLst/>
              <a:ahLst/>
              <a:cxnLst/>
              <a:rect l="0" t="0" r="0" b="0"/>
              <a:pathLst>
                <a:path w="56276" h="62044">
                  <a:moveTo>
                    <a:pt x="23619" y="54362"/>
                  </a:moveTo>
                  <a:lnTo>
                    <a:pt x="17127" y="62044"/>
                  </a:lnTo>
                  <a:lnTo>
                    <a:pt x="6082" y="55468"/>
                  </a:lnTo>
                  <a:lnTo>
                    <a:pt x="7352" y="42633"/>
                  </a:lnTo>
                  <a:lnTo>
                    <a:pt x="0" y="25914"/>
                  </a:lnTo>
                  <a:lnTo>
                    <a:pt x="2213" y="20803"/>
                  </a:lnTo>
                  <a:lnTo>
                    <a:pt x="9930" y="13314"/>
                  </a:lnTo>
                  <a:lnTo>
                    <a:pt x="6863" y="4283"/>
                  </a:lnTo>
                  <a:lnTo>
                    <a:pt x="9441" y="0"/>
                  </a:lnTo>
                  <a:lnTo>
                    <a:pt x="12820" y="850"/>
                  </a:lnTo>
                  <a:lnTo>
                    <a:pt x="29841" y="8609"/>
                  </a:lnTo>
                  <a:lnTo>
                    <a:pt x="37736" y="12592"/>
                  </a:lnTo>
                  <a:lnTo>
                    <a:pt x="44948" y="18742"/>
                  </a:lnTo>
                  <a:lnTo>
                    <a:pt x="56276" y="34833"/>
                  </a:lnTo>
                  <a:lnTo>
                    <a:pt x="55207" y="37379"/>
                  </a:lnTo>
                  <a:lnTo>
                    <a:pt x="37840" y="47187"/>
                  </a:lnTo>
                  <a:lnTo>
                    <a:pt x="23619" y="54362"/>
                  </a:lnTo>
                  <a:close/>
                </a:path>
              </a:pathLst>
            </a:custGeom>
            <a:solidFill>
              <a:srgbClr val="E6EBE2"/>
            </a:solidFill>
            <a:ln w="4403">
              <a:solidFill>
                <a:srgbClr val="B6C3B3"/>
              </a:solidFill>
              <a:prstDash val="solid"/>
            </a:ln>
          </p:spPr>
          <p:txBody>
            <a:bodyPr/>
            <a:p/>
          </p:txBody>
        </p:sp>
        <p:sp>
          <p:nvSpPr>
            <p:cNvPr id="65" name="land-49">
              <a:extLst>
                <a:ext uri="{FF2B5EF4-FFF2-40B4-BE49-F238E27FC236}">
                  <a16:creationId xmlns:a16="http://schemas.microsoft.com/office/drawing/2014/main" id="{EAA76EFA-FA32-444E-850B-D7150D58B40B}"/>
                </a:ext>
              </a:extLst>
            </p:cNvPr>
            <p:cNvSpPr>
              <a:spLocks/>
            </p:cNvSpPr>
            <p:nvPr/>
          </p:nvSpPr>
          <p:spPr>
            <a:xfrm>
              <a:off x="7780420" y="2502097"/>
              <a:ext cx="22597" cy="14372"/>
            </a:xfrm>
            <a:custGeom>
              <a:avLst/>
              <a:gdLst/>
              <a:ahLst/>
              <a:cxnLst/>
              <a:rect l="0" t="0" r="0" b="0"/>
              <a:pathLst>
                <a:path w="31777" h="20210">
                  <a:moveTo>
                    <a:pt x="28061" y="16924"/>
                  </a:moveTo>
                  <a:lnTo>
                    <a:pt x="13162" y="20210"/>
                  </a:lnTo>
                  <a:lnTo>
                    <a:pt x="5504" y="10539"/>
                  </a:lnTo>
                  <a:lnTo>
                    <a:pt x="395" y="6805"/>
                  </a:lnTo>
                  <a:lnTo>
                    <a:pt x="0" y="3937"/>
                  </a:lnTo>
                  <a:lnTo>
                    <a:pt x="4355" y="0"/>
                  </a:lnTo>
                  <a:lnTo>
                    <a:pt x="20155" y="4365"/>
                  </a:lnTo>
                  <a:lnTo>
                    <a:pt x="31777" y="11410"/>
                  </a:lnTo>
                  <a:lnTo>
                    <a:pt x="28061" y="16924"/>
                  </a:lnTo>
                  <a:close/>
                </a:path>
              </a:pathLst>
            </a:custGeom>
            <a:solidFill>
              <a:srgbClr val="E6EBE2"/>
            </a:solidFill>
            <a:ln w="4403">
              <a:solidFill>
                <a:srgbClr val="B6C3B3"/>
              </a:solidFill>
              <a:prstDash val="solid"/>
            </a:ln>
          </p:spPr>
          <p:txBody>
            <a:bodyPr/>
            <a:p/>
          </p:txBody>
        </p:sp>
        <p:sp>
          <p:nvSpPr>
            <p:cNvPr id="66" name="land-50">
              <a:extLst>
                <a:ext uri="{FF2B5EF4-FFF2-40B4-BE49-F238E27FC236}">
                  <a16:creationId xmlns:a16="http://schemas.microsoft.com/office/drawing/2014/main" id="{36400BD5-9A94-485A-8ECB-DD5EAC787C16}"/>
                </a:ext>
              </a:extLst>
            </p:cNvPr>
            <p:cNvSpPr>
              <a:spLocks/>
            </p:cNvSpPr>
            <p:nvPr/>
          </p:nvSpPr>
          <p:spPr>
            <a:xfrm>
              <a:off x="7730412" y="2479091"/>
              <a:ext cx="20224" cy="14779"/>
            </a:xfrm>
            <a:custGeom>
              <a:avLst/>
              <a:gdLst/>
              <a:ahLst/>
              <a:cxnLst/>
              <a:rect l="0" t="0" r="0" b="0"/>
              <a:pathLst>
                <a:path w="28440" h="20782">
                  <a:moveTo>
                    <a:pt x="28440" y="18130"/>
                  </a:moveTo>
                  <a:lnTo>
                    <a:pt x="26031" y="20782"/>
                  </a:lnTo>
                  <a:lnTo>
                    <a:pt x="22850" y="20191"/>
                  </a:lnTo>
                  <a:lnTo>
                    <a:pt x="7378" y="18577"/>
                  </a:lnTo>
                  <a:lnTo>
                    <a:pt x="1727" y="8164"/>
                  </a:lnTo>
                  <a:lnTo>
                    <a:pt x="0" y="6330"/>
                  </a:lnTo>
                  <a:lnTo>
                    <a:pt x="11888" y="0"/>
                  </a:lnTo>
                  <a:lnTo>
                    <a:pt x="15604" y="2950"/>
                  </a:lnTo>
                  <a:lnTo>
                    <a:pt x="28440" y="18130"/>
                  </a:lnTo>
                  <a:close/>
                </a:path>
              </a:pathLst>
            </a:custGeom>
            <a:solidFill>
              <a:srgbClr val="E6EBE2"/>
            </a:solidFill>
            <a:ln w="4403">
              <a:solidFill>
                <a:srgbClr val="B6C3B3"/>
              </a:solidFill>
              <a:prstDash val="solid"/>
            </a:ln>
          </p:spPr>
          <p:txBody>
            <a:bodyPr/>
            <a:p/>
          </p:txBody>
        </p:sp>
        <p:sp>
          <p:nvSpPr>
            <p:cNvPr id="67" name="land-51">
              <a:extLst>
                <a:ext uri="{FF2B5EF4-FFF2-40B4-BE49-F238E27FC236}">
                  <a16:creationId xmlns:a16="http://schemas.microsoft.com/office/drawing/2014/main" id="{C8B5B787-564A-4672-A2D0-5E8D278496D7}"/>
                </a:ext>
              </a:extLst>
            </p:cNvPr>
            <p:cNvSpPr>
              <a:spLocks/>
            </p:cNvSpPr>
            <p:nvPr/>
          </p:nvSpPr>
          <p:spPr>
            <a:xfrm>
              <a:off x="7682750" y="2462135"/>
              <a:ext cx="14394" cy="11534"/>
            </a:xfrm>
            <a:custGeom>
              <a:avLst/>
              <a:gdLst/>
              <a:ahLst/>
              <a:cxnLst/>
              <a:rect l="0" t="0" r="0" b="0"/>
              <a:pathLst>
                <a:path w="20242" h="16220">
                  <a:moveTo>
                    <a:pt x="20242" y="11673"/>
                  </a:moveTo>
                  <a:lnTo>
                    <a:pt x="14970" y="16220"/>
                  </a:lnTo>
                  <a:lnTo>
                    <a:pt x="0" y="7846"/>
                  </a:lnTo>
                  <a:lnTo>
                    <a:pt x="2300" y="4500"/>
                  </a:lnTo>
                  <a:lnTo>
                    <a:pt x="9082" y="0"/>
                  </a:lnTo>
                  <a:lnTo>
                    <a:pt x="19328" y="975"/>
                  </a:lnTo>
                  <a:lnTo>
                    <a:pt x="20242" y="11673"/>
                  </a:lnTo>
                  <a:close/>
                </a:path>
              </a:pathLst>
            </a:custGeom>
            <a:solidFill>
              <a:srgbClr val="E6EBE2"/>
            </a:solidFill>
            <a:ln w="4403">
              <a:solidFill>
                <a:srgbClr val="B6C3B3"/>
              </a:solidFill>
              <a:prstDash val="solid"/>
            </a:ln>
          </p:spPr>
          <p:txBody>
            <a:bodyPr/>
            <a:p/>
          </p:txBody>
        </p:sp>
        <p:sp>
          <p:nvSpPr>
            <p:cNvPr id="68" name="land-52">
              <a:extLst>
                <a:ext uri="{FF2B5EF4-FFF2-40B4-BE49-F238E27FC236}">
                  <a16:creationId xmlns:a16="http://schemas.microsoft.com/office/drawing/2014/main" id="{44B3DD1A-398E-488E-9ADB-C39F6266CAEF}"/>
                </a:ext>
              </a:extLst>
            </p:cNvPr>
            <p:cNvSpPr>
              <a:spLocks/>
            </p:cNvSpPr>
            <p:nvPr/>
          </p:nvSpPr>
          <p:spPr>
            <a:xfrm>
              <a:off x="10047904" y="2431031"/>
              <a:ext cx="341278" cy="108851"/>
            </a:xfrm>
            <a:custGeom>
              <a:avLst/>
              <a:gdLst/>
              <a:ahLst/>
              <a:cxnLst/>
              <a:rect l="0" t="0" r="0" b="0"/>
              <a:pathLst>
                <a:path w="479922" h="153071">
                  <a:moveTo>
                    <a:pt x="235380" y="19440"/>
                  </a:moveTo>
                  <a:lnTo>
                    <a:pt x="253073" y="36253"/>
                  </a:lnTo>
                  <a:lnTo>
                    <a:pt x="294591" y="31065"/>
                  </a:lnTo>
                  <a:lnTo>
                    <a:pt x="310333" y="41856"/>
                  </a:lnTo>
                  <a:lnTo>
                    <a:pt x="347976" y="70299"/>
                  </a:lnTo>
                  <a:lnTo>
                    <a:pt x="375651" y="91012"/>
                  </a:lnTo>
                  <a:lnTo>
                    <a:pt x="390284" y="90381"/>
                  </a:lnTo>
                  <a:lnTo>
                    <a:pt x="416794" y="99747"/>
                  </a:lnTo>
                  <a:lnTo>
                    <a:pt x="413556" y="112676"/>
                  </a:lnTo>
                  <a:lnTo>
                    <a:pt x="446323" y="114567"/>
                  </a:lnTo>
                  <a:lnTo>
                    <a:pt x="479922" y="133363"/>
                  </a:lnTo>
                  <a:lnTo>
                    <a:pt x="474649" y="144121"/>
                  </a:lnTo>
                  <a:lnTo>
                    <a:pt x="445092" y="149950"/>
                  </a:lnTo>
                  <a:lnTo>
                    <a:pt x="415173" y="152231"/>
                  </a:lnTo>
                  <a:lnTo>
                    <a:pt x="384548" y="148598"/>
                  </a:lnTo>
                  <a:lnTo>
                    <a:pt x="320904" y="153071"/>
                  </a:lnTo>
                  <a:lnTo>
                    <a:pt x="350702" y="127451"/>
                  </a:lnTo>
                  <a:lnTo>
                    <a:pt x="332586" y="115522"/>
                  </a:lnTo>
                  <a:lnTo>
                    <a:pt x="303932" y="112453"/>
                  </a:lnTo>
                  <a:lnTo>
                    <a:pt x="288573" y="99196"/>
                  </a:lnTo>
                  <a:lnTo>
                    <a:pt x="278037" y="73042"/>
                  </a:lnTo>
                  <a:lnTo>
                    <a:pt x="252917" y="74830"/>
                  </a:lnTo>
                  <a:lnTo>
                    <a:pt x="211468" y="62516"/>
                  </a:lnTo>
                  <a:lnTo>
                    <a:pt x="198130" y="52883"/>
                  </a:lnTo>
                  <a:lnTo>
                    <a:pt x="140194" y="45766"/>
                  </a:lnTo>
                  <a:lnTo>
                    <a:pt x="124679" y="36808"/>
                  </a:lnTo>
                  <a:lnTo>
                    <a:pt x="141347" y="25334"/>
                  </a:lnTo>
                  <a:lnTo>
                    <a:pt x="97746" y="22983"/>
                  </a:lnTo>
                  <a:lnTo>
                    <a:pt x="65806" y="46847"/>
                  </a:lnTo>
                  <a:lnTo>
                    <a:pt x="47389" y="47488"/>
                  </a:lnTo>
                  <a:lnTo>
                    <a:pt x="41017" y="58693"/>
                  </a:lnTo>
                  <a:lnTo>
                    <a:pt x="19019" y="63714"/>
                  </a:lnTo>
                  <a:lnTo>
                    <a:pt x="0" y="59361"/>
                  </a:lnTo>
                  <a:lnTo>
                    <a:pt x="23463" y="45174"/>
                  </a:lnTo>
                  <a:lnTo>
                    <a:pt x="33095" y="28604"/>
                  </a:lnTo>
                  <a:lnTo>
                    <a:pt x="53192" y="18392"/>
                  </a:lnTo>
                  <a:lnTo>
                    <a:pt x="75892" y="9441"/>
                  </a:lnTo>
                  <a:lnTo>
                    <a:pt x="109546" y="5045"/>
                  </a:lnTo>
                  <a:lnTo>
                    <a:pt x="120315" y="0"/>
                  </a:lnTo>
                  <a:lnTo>
                    <a:pt x="158707" y="3276"/>
                  </a:lnTo>
                  <a:lnTo>
                    <a:pt x="193631" y="3795"/>
                  </a:lnTo>
                  <a:lnTo>
                    <a:pt x="235380" y="19440"/>
                  </a:lnTo>
                  <a:close/>
                </a:path>
              </a:pathLst>
            </a:custGeom>
            <a:solidFill>
              <a:srgbClr val="E6EBE2"/>
            </a:solidFill>
            <a:ln w="4403">
              <a:solidFill>
                <a:srgbClr val="B6C3B3"/>
              </a:solidFill>
              <a:prstDash val="solid"/>
            </a:ln>
          </p:spPr>
          <p:txBody>
            <a:bodyPr/>
            <a:p/>
          </p:txBody>
        </p:sp>
        <p:sp>
          <p:nvSpPr>
            <p:cNvPr id="69" name="land-53">
              <a:extLst>
                <a:ext uri="{FF2B5EF4-FFF2-40B4-BE49-F238E27FC236}">
                  <a16:creationId xmlns:a16="http://schemas.microsoft.com/office/drawing/2014/main" id="{3A566984-E8B8-43FB-88A7-61960BCA34F7}"/>
                </a:ext>
              </a:extLst>
            </p:cNvPr>
            <p:cNvSpPr>
              <a:spLocks/>
            </p:cNvSpPr>
            <p:nvPr/>
          </p:nvSpPr>
          <p:spPr>
            <a:xfrm>
              <a:off x="10255462" y="2365008"/>
              <a:ext cx="27620" cy="48996"/>
            </a:xfrm>
            <a:custGeom>
              <a:avLst/>
              <a:gdLst/>
              <a:ahLst/>
              <a:cxnLst/>
              <a:rect l="0" t="0" r="0" b="0"/>
              <a:pathLst>
                <a:path w="38841" h="68900">
                  <a:moveTo>
                    <a:pt x="38841" y="66615"/>
                  </a:moveTo>
                  <a:lnTo>
                    <a:pt x="27936" y="68900"/>
                  </a:lnTo>
                  <a:lnTo>
                    <a:pt x="16643" y="42441"/>
                  </a:lnTo>
                  <a:lnTo>
                    <a:pt x="0" y="29146"/>
                  </a:lnTo>
                  <a:lnTo>
                    <a:pt x="9673" y="0"/>
                  </a:lnTo>
                  <a:lnTo>
                    <a:pt x="23046" y="1851"/>
                  </a:lnTo>
                  <a:lnTo>
                    <a:pt x="38604" y="39968"/>
                  </a:lnTo>
                  <a:lnTo>
                    <a:pt x="38841" y="66615"/>
                  </a:lnTo>
                  <a:close/>
                </a:path>
              </a:pathLst>
            </a:custGeom>
            <a:solidFill>
              <a:srgbClr val="E6EBE2"/>
            </a:solidFill>
            <a:ln w="4403">
              <a:solidFill>
                <a:srgbClr val="B6C3B3"/>
              </a:solidFill>
              <a:prstDash val="solid"/>
            </a:ln>
          </p:spPr>
          <p:txBody>
            <a:bodyPr/>
            <a:p/>
          </p:txBody>
        </p:sp>
        <p:sp>
          <p:nvSpPr>
            <p:cNvPr id="70" name="land-54">
              <a:extLst>
                <a:ext uri="{FF2B5EF4-FFF2-40B4-BE49-F238E27FC236}">
                  <a16:creationId xmlns:a16="http://schemas.microsoft.com/office/drawing/2014/main" id="{4B92D514-157A-4197-B047-E444DB3C06F4}"/>
                </a:ext>
              </a:extLst>
            </p:cNvPr>
            <p:cNvSpPr>
              <a:spLocks/>
            </p:cNvSpPr>
            <p:nvPr/>
          </p:nvSpPr>
          <p:spPr>
            <a:xfrm>
              <a:off x="5151090" y="2362227"/>
              <a:ext cx="58320" cy="108581"/>
            </a:xfrm>
            <a:custGeom>
              <a:avLst/>
              <a:gdLst/>
              <a:ahLst/>
              <a:cxnLst/>
              <a:rect l="0" t="0" r="0" b="0"/>
              <a:pathLst>
                <a:path w="82013" h="152693">
                  <a:moveTo>
                    <a:pt x="47537" y="115022"/>
                  </a:moveTo>
                  <a:lnTo>
                    <a:pt x="28488" y="152693"/>
                  </a:lnTo>
                  <a:lnTo>
                    <a:pt x="5063" y="113919"/>
                  </a:lnTo>
                  <a:lnTo>
                    <a:pt x="0" y="79871"/>
                  </a:lnTo>
                  <a:lnTo>
                    <a:pt x="26158" y="34765"/>
                  </a:lnTo>
                  <a:lnTo>
                    <a:pt x="61735" y="0"/>
                  </a:lnTo>
                  <a:lnTo>
                    <a:pt x="82013" y="13679"/>
                  </a:lnTo>
                  <a:lnTo>
                    <a:pt x="74304" y="41386"/>
                  </a:lnTo>
                  <a:lnTo>
                    <a:pt x="47537" y="115022"/>
                  </a:lnTo>
                  <a:close/>
                </a:path>
              </a:pathLst>
            </a:custGeom>
            <a:solidFill>
              <a:srgbClr val="E6EBE2"/>
            </a:solidFill>
            <a:ln w="4403">
              <a:solidFill>
                <a:srgbClr val="B6C3B3"/>
              </a:solidFill>
              <a:prstDash val="solid"/>
            </a:ln>
          </p:spPr>
          <p:txBody>
            <a:bodyPr/>
            <a:p/>
          </p:txBody>
        </p:sp>
        <p:sp>
          <p:nvSpPr>
            <p:cNvPr id="71" name="land-55">
              <a:extLst>
                <a:ext uri="{FF2B5EF4-FFF2-40B4-BE49-F238E27FC236}">
                  <a16:creationId xmlns:a16="http://schemas.microsoft.com/office/drawing/2014/main" id="{B05B9A84-072A-4CF9-AC52-454EA6B53359}"/>
                </a:ext>
              </a:extLst>
            </p:cNvPr>
            <p:cNvSpPr>
              <a:spLocks/>
            </p:cNvSpPr>
            <p:nvPr/>
          </p:nvSpPr>
          <p:spPr>
            <a:xfrm>
              <a:off x="10237397" y="2310807"/>
              <a:ext cx="36666" cy="14696"/>
            </a:xfrm>
            <a:custGeom>
              <a:avLst/>
              <a:gdLst/>
              <a:ahLst/>
              <a:cxnLst/>
              <a:rect l="0" t="0" r="0" b="0"/>
              <a:pathLst>
                <a:path w="51562" h="20666">
                  <a:moveTo>
                    <a:pt x="51562" y="13318"/>
                  </a:moveTo>
                  <a:lnTo>
                    <a:pt x="3112" y="20666"/>
                  </a:lnTo>
                  <a:lnTo>
                    <a:pt x="0" y="3674"/>
                  </a:lnTo>
                  <a:lnTo>
                    <a:pt x="20892" y="0"/>
                  </a:lnTo>
                  <a:lnTo>
                    <a:pt x="50229" y="1378"/>
                  </a:lnTo>
                  <a:lnTo>
                    <a:pt x="51562" y="13318"/>
                  </a:lnTo>
                  <a:close/>
                </a:path>
              </a:pathLst>
            </a:custGeom>
            <a:solidFill>
              <a:srgbClr val="E6EBE2"/>
            </a:solidFill>
            <a:ln w="4403">
              <a:solidFill>
                <a:srgbClr val="B6C3B3"/>
              </a:solidFill>
              <a:prstDash val="solid"/>
            </a:ln>
          </p:spPr>
          <p:txBody>
            <a:bodyPr/>
            <a:p/>
          </p:txBody>
        </p:sp>
        <p:sp>
          <p:nvSpPr>
            <p:cNvPr id="72" name="land-56">
              <a:extLst>
                <a:ext uri="{FF2B5EF4-FFF2-40B4-BE49-F238E27FC236}">
                  <a16:creationId xmlns:a16="http://schemas.microsoft.com/office/drawing/2014/main" id="{8733B6EE-8B1D-42EE-9698-0DBBB8A8482F}"/>
                </a:ext>
              </a:extLst>
            </p:cNvPr>
            <p:cNvSpPr>
              <a:spLocks/>
            </p:cNvSpPr>
            <p:nvPr/>
          </p:nvSpPr>
          <p:spPr>
            <a:xfrm>
              <a:off x="10275011" y="2305256"/>
              <a:ext cx="24971" cy="37909"/>
            </a:xfrm>
            <a:custGeom>
              <a:avLst/>
              <a:gdLst/>
              <a:ahLst/>
              <a:cxnLst/>
              <a:rect l="0" t="0" r="0" b="0"/>
              <a:pathLst>
                <a:path w="35116" h="53310">
                  <a:moveTo>
                    <a:pt x="35116" y="20666"/>
                  </a:moveTo>
                  <a:lnTo>
                    <a:pt x="27446" y="53310"/>
                  </a:lnTo>
                  <a:lnTo>
                    <a:pt x="19273" y="47424"/>
                  </a:lnTo>
                  <a:lnTo>
                    <a:pt x="20002" y="23421"/>
                  </a:lnTo>
                  <a:lnTo>
                    <a:pt x="88" y="5274"/>
                  </a:lnTo>
                  <a:lnTo>
                    <a:pt x="0" y="0"/>
                  </a:lnTo>
                  <a:lnTo>
                    <a:pt x="35116" y="20666"/>
                  </a:lnTo>
                  <a:close/>
                </a:path>
              </a:pathLst>
            </a:custGeom>
            <a:solidFill>
              <a:srgbClr val="E6EBE2"/>
            </a:solidFill>
            <a:ln w="4403">
              <a:solidFill>
                <a:srgbClr val="B6C3B3"/>
              </a:solidFill>
              <a:prstDash val="solid"/>
            </a:ln>
          </p:spPr>
          <p:txBody>
            <a:bodyPr/>
            <a:p/>
          </p:txBody>
        </p:sp>
        <p:sp>
          <p:nvSpPr>
            <p:cNvPr id="73" name="land-57">
              <a:extLst>
                <a:ext uri="{FF2B5EF4-FFF2-40B4-BE49-F238E27FC236}">
                  <a16:creationId xmlns:a16="http://schemas.microsoft.com/office/drawing/2014/main" id="{4D085E9A-6E22-4286-B61C-BAD704E5F648}"/>
                </a:ext>
              </a:extLst>
            </p:cNvPr>
            <p:cNvSpPr>
              <a:spLocks/>
            </p:cNvSpPr>
            <p:nvPr/>
          </p:nvSpPr>
          <p:spPr>
            <a:xfrm>
              <a:off x="5538518" y="2066044"/>
              <a:ext cx="75965" cy="54223"/>
            </a:xfrm>
            <a:custGeom>
              <a:avLst/>
              <a:gdLst/>
              <a:ahLst/>
              <a:cxnLst/>
              <a:rect l="0" t="0" r="0" b="0"/>
              <a:pathLst>
                <a:path w="106825" h="76251">
                  <a:moveTo>
                    <a:pt x="101138" y="9906"/>
                  </a:moveTo>
                  <a:lnTo>
                    <a:pt x="106825" y="25653"/>
                  </a:lnTo>
                  <a:lnTo>
                    <a:pt x="81801" y="53444"/>
                  </a:lnTo>
                  <a:lnTo>
                    <a:pt x="63556" y="38712"/>
                  </a:lnTo>
                  <a:lnTo>
                    <a:pt x="40767" y="49385"/>
                  </a:lnTo>
                  <a:lnTo>
                    <a:pt x="28970" y="76251"/>
                  </a:lnTo>
                  <a:lnTo>
                    <a:pt x="0" y="63171"/>
                  </a:lnTo>
                  <a:lnTo>
                    <a:pt x="358" y="41391"/>
                  </a:lnTo>
                  <a:lnTo>
                    <a:pt x="24948" y="13990"/>
                  </a:lnTo>
                  <a:lnTo>
                    <a:pt x="50222" y="19302"/>
                  </a:lnTo>
                  <a:lnTo>
                    <a:pt x="68497" y="0"/>
                  </a:lnTo>
                  <a:lnTo>
                    <a:pt x="101138" y="9906"/>
                  </a:lnTo>
                  <a:close/>
                </a:path>
              </a:pathLst>
            </a:custGeom>
            <a:solidFill>
              <a:srgbClr val="E6EBE2"/>
            </a:solidFill>
            <a:ln w="4403">
              <a:solidFill>
                <a:srgbClr val="B6C3B3"/>
              </a:solidFill>
              <a:prstDash val="solid"/>
            </a:ln>
          </p:spPr>
          <p:txBody>
            <a:bodyPr/>
            <a:p/>
          </p:txBody>
        </p:sp>
        <p:sp>
          <p:nvSpPr>
            <p:cNvPr id="74" name="land-58">
              <a:extLst>
                <a:ext uri="{FF2B5EF4-FFF2-40B4-BE49-F238E27FC236}">
                  <a16:creationId xmlns:a16="http://schemas.microsoft.com/office/drawing/2014/main" id="{8386D43F-5893-4984-BEB1-357905E4003C}"/>
                </a:ext>
              </a:extLst>
            </p:cNvPr>
            <p:cNvSpPr>
              <a:spLocks/>
            </p:cNvSpPr>
            <p:nvPr/>
          </p:nvSpPr>
          <p:spPr>
            <a:xfrm>
              <a:off x="2374264" y="2023372"/>
              <a:ext cx="73327" cy="35914"/>
            </a:xfrm>
            <a:custGeom>
              <a:avLst/>
              <a:gdLst/>
              <a:ahLst/>
              <a:cxnLst/>
              <a:rect l="0" t="0" r="0" b="0"/>
              <a:pathLst>
                <a:path w="103115" h="50504">
                  <a:moveTo>
                    <a:pt x="103115" y="0"/>
                  </a:moveTo>
                  <a:lnTo>
                    <a:pt x="73082" y="19556"/>
                  </a:lnTo>
                  <a:lnTo>
                    <a:pt x="76318" y="28156"/>
                  </a:lnTo>
                  <a:lnTo>
                    <a:pt x="77708" y="31848"/>
                  </a:lnTo>
                  <a:lnTo>
                    <a:pt x="32144" y="50504"/>
                  </a:lnTo>
                  <a:lnTo>
                    <a:pt x="10385" y="44544"/>
                  </a:lnTo>
                  <a:lnTo>
                    <a:pt x="0" y="26102"/>
                  </a:lnTo>
                  <a:lnTo>
                    <a:pt x="21119" y="24412"/>
                  </a:lnTo>
                  <a:lnTo>
                    <a:pt x="24261" y="24160"/>
                  </a:lnTo>
                  <a:lnTo>
                    <a:pt x="30684" y="13083"/>
                  </a:lnTo>
                  <a:lnTo>
                    <a:pt x="62699" y="13703"/>
                  </a:lnTo>
                  <a:lnTo>
                    <a:pt x="103115" y="0"/>
                  </a:lnTo>
                  <a:close/>
                </a:path>
              </a:pathLst>
            </a:custGeom>
            <a:solidFill>
              <a:srgbClr val="E6EBE2"/>
            </a:solidFill>
            <a:ln w="4403">
              <a:solidFill>
                <a:srgbClr val="B6C3B3"/>
              </a:solidFill>
              <a:prstDash val="solid"/>
            </a:ln>
          </p:spPr>
          <p:txBody>
            <a:bodyPr/>
            <a:p/>
          </p:txBody>
        </p:sp>
        <p:sp>
          <p:nvSpPr>
            <p:cNvPr id="75" name="land-59">
              <a:extLst>
                <a:ext uri="{FF2B5EF4-FFF2-40B4-BE49-F238E27FC236}">
                  <a16:creationId xmlns:a16="http://schemas.microsoft.com/office/drawing/2014/main" id="{CBE34E5E-BA97-469A-A107-0D96882C8334}"/>
                </a:ext>
              </a:extLst>
            </p:cNvPr>
            <p:cNvSpPr>
              <a:spLocks/>
            </p:cNvSpPr>
            <p:nvPr/>
          </p:nvSpPr>
          <p:spPr>
            <a:xfrm>
              <a:off x="2097949" y="2022281"/>
              <a:ext cx="87715" cy="25636"/>
            </a:xfrm>
            <a:custGeom>
              <a:avLst/>
              <a:gdLst/>
              <a:ahLst/>
              <a:cxnLst/>
              <a:rect l="0" t="0" r="0" b="0"/>
              <a:pathLst>
                <a:path w="123350" h="36051">
                  <a:moveTo>
                    <a:pt x="8223" y="0"/>
                  </a:moveTo>
                  <a:lnTo>
                    <a:pt x="32523" y="15476"/>
                  </a:lnTo>
                  <a:lnTo>
                    <a:pt x="67121" y="12859"/>
                  </a:lnTo>
                  <a:lnTo>
                    <a:pt x="100201" y="16119"/>
                  </a:lnTo>
                  <a:lnTo>
                    <a:pt x="99126" y="24110"/>
                  </a:lnTo>
                  <a:lnTo>
                    <a:pt x="123350" y="18600"/>
                  </a:lnTo>
                  <a:lnTo>
                    <a:pt x="117793" y="32147"/>
                  </a:lnTo>
                  <a:lnTo>
                    <a:pt x="53785" y="36051"/>
                  </a:lnTo>
                  <a:lnTo>
                    <a:pt x="54230" y="28474"/>
                  </a:lnTo>
                  <a:lnTo>
                    <a:pt x="0" y="19518"/>
                  </a:lnTo>
                  <a:lnTo>
                    <a:pt x="8223" y="0"/>
                  </a:lnTo>
                  <a:close/>
                </a:path>
              </a:pathLst>
            </a:custGeom>
            <a:solidFill>
              <a:srgbClr val="E6EBE2"/>
            </a:solidFill>
            <a:ln w="4403">
              <a:solidFill>
                <a:srgbClr val="B6C3B3"/>
              </a:solidFill>
              <a:prstDash val="solid"/>
            </a:ln>
          </p:spPr>
          <p:txBody>
            <a:bodyPr/>
            <a:p/>
          </p:txBody>
        </p:sp>
        <p:sp>
          <p:nvSpPr>
            <p:cNvPr id="76" name="land-60">
              <a:extLst>
                <a:ext uri="{FF2B5EF4-FFF2-40B4-BE49-F238E27FC236}">
                  <a16:creationId xmlns:a16="http://schemas.microsoft.com/office/drawing/2014/main" id="{6200E012-EEA0-4EA5-B58F-5D50E5CC59DF}"/>
                </a:ext>
              </a:extLst>
            </p:cNvPr>
            <p:cNvSpPr>
              <a:spLocks/>
            </p:cNvSpPr>
            <p:nvPr/>
          </p:nvSpPr>
          <p:spPr>
            <a:xfrm>
              <a:off x="1747597" y="1939784"/>
              <a:ext cx="97652" cy="52616"/>
            </a:xfrm>
            <a:custGeom>
              <a:avLst/>
              <a:gdLst/>
              <a:ahLst/>
              <a:cxnLst/>
              <a:rect l="0" t="0" r="0" b="0"/>
              <a:pathLst>
                <a:path w="137323" h="73991">
                  <a:moveTo>
                    <a:pt x="137323" y="0"/>
                  </a:moveTo>
                  <a:lnTo>
                    <a:pt x="121315" y="36147"/>
                  </a:lnTo>
                  <a:lnTo>
                    <a:pt x="127967" y="50376"/>
                  </a:lnTo>
                  <a:lnTo>
                    <a:pt x="118636" y="73991"/>
                  </a:lnTo>
                  <a:lnTo>
                    <a:pt x="84643" y="56694"/>
                  </a:lnTo>
                  <a:lnTo>
                    <a:pt x="62040" y="51739"/>
                  </a:lnTo>
                  <a:lnTo>
                    <a:pt x="0" y="28391"/>
                  </a:lnTo>
                  <a:lnTo>
                    <a:pt x="6220" y="4812"/>
                  </a:lnTo>
                  <a:lnTo>
                    <a:pt x="58236" y="9010"/>
                  </a:lnTo>
                  <a:lnTo>
                    <a:pt x="103579" y="4008"/>
                  </a:lnTo>
                  <a:lnTo>
                    <a:pt x="137323" y="0"/>
                  </a:lnTo>
                  <a:close/>
                </a:path>
              </a:pathLst>
            </a:custGeom>
            <a:solidFill>
              <a:srgbClr val="E6EBE2"/>
            </a:solidFill>
            <a:ln w="4403">
              <a:solidFill>
                <a:srgbClr val="B6C3B3"/>
              </a:solidFill>
              <a:prstDash val="solid"/>
            </a:ln>
          </p:spPr>
          <p:txBody>
            <a:bodyPr/>
            <a:p/>
          </p:txBody>
        </p:sp>
        <p:sp>
          <p:nvSpPr>
            <p:cNvPr id="77" name="land-61">
              <a:extLst>
                <a:ext uri="{FF2B5EF4-FFF2-40B4-BE49-F238E27FC236}">
                  <a16:creationId xmlns:a16="http://schemas.microsoft.com/office/drawing/2014/main" id="{BC32E910-5825-459D-AA26-FF85D511B786}"/>
                </a:ext>
              </a:extLst>
            </p:cNvPr>
            <p:cNvSpPr>
              <a:spLocks/>
            </p:cNvSpPr>
            <p:nvPr/>
          </p:nvSpPr>
          <p:spPr>
            <a:xfrm>
              <a:off x="1612595" y="1842504"/>
              <a:ext cx="52154" cy="75222"/>
            </a:xfrm>
            <a:custGeom>
              <a:avLst/>
              <a:gdLst/>
              <a:ahLst/>
              <a:cxnLst/>
              <a:rect l="0" t="0" r="0" b="0"/>
              <a:pathLst>
                <a:path w="73341" h="105780">
                  <a:moveTo>
                    <a:pt x="46673" y="0"/>
                  </a:moveTo>
                  <a:lnTo>
                    <a:pt x="73341" y="32605"/>
                  </a:lnTo>
                  <a:lnTo>
                    <a:pt x="67098" y="93346"/>
                  </a:lnTo>
                  <a:lnTo>
                    <a:pt x="46887" y="90448"/>
                  </a:lnTo>
                  <a:lnTo>
                    <a:pt x="28756" y="105780"/>
                  </a:lnTo>
                  <a:lnTo>
                    <a:pt x="11926" y="93600"/>
                  </a:lnTo>
                  <a:lnTo>
                    <a:pt x="10146" y="38194"/>
                  </a:lnTo>
                  <a:lnTo>
                    <a:pt x="0" y="11940"/>
                  </a:lnTo>
                  <a:lnTo>
                    <a:pt x="24447" y="14237"/>
                  </a:lnTo>
                  <a:lnTo>
                    <a:pt x="46673" y="0"/>
                  </a:lnTo>
                  <a:close/>
                </a:path>
              </a:pathLst>
            </a:custGeom>
            <a:solidFill>
              <a:srgbClr val="E6EBE2"/>
            </a:solidFill>
            <a:ln w="4403">
              <a:solidFill>
                <a:srgbClr val="B6C3B3"/>
              </a:solidFill>
              <a:prstDash val="solid"/>
            </a:ln>
          </p:spPr>
          <p:txBody>
            <a:bodyPr/>
            <a:p/>
          </p:txBody>
        </p:sp>
        <p:sp>
          <p:nvSpPr>
            <p:cNvPr id="78" name="land-62">
              <a:extLst>
                <a:ext uri="{FF2B5EF4-FFF2-40B4-BE49-F238E27FC236}">
                  <a16:creationId xmlns:a16="http://schemas.microsoft.com/office/drawing/2014/main" id="{EE6ABB3B-4EE4-4E6A-B736-CFD282E6D80F}"/>
                </a:ext>
              </a:extLst>
            </p:cNvPr>
            <p:cNvSpPr>
              <a:spLocks/>
            </p:cNvSpPr>
            <p:nvPr/>
          </p:nvSpPr>
          <p:spPr>
            <a:xfrm>
              <a:off x="5445124" y="1836999"/>
              <a:ext cx="395294" cy="337968"/>
            </a:xfrm>
            <a:custGeom>
              <a:avLst/>
              <a:gdLst/>
              <a:ahLst/>
              <a:cxnLst/>
              <a:rect l="0" t="0" r="0" b="0"/>
              <a:pathLst>
                <a:path w="555883" h="475268">
                  <a:moveTo>
                    <a:pt x="514194" y="194557"/>
                  </a:moveTo>
                  <a:lnTo>
                    <a:pt x="497454" y="231208"/>
                  </a:lnTo>
                  <a:lnTo>
                    <a:pt x="505201" y="254221"/>
                  </a:lnTo>
                  <a:lnTo>
                    <a:pt x="482052" y="286587"/>
                  </a:lnTo>
                  <a:lnTo>
                    <a:pt x="425256" y="308195"/>
                  </a:lnTo>
                  <a:lnTo>
                    <a:pt x="347116" y="311011"/>
                  </a:lnTo>
                  <a:lnTo>
                    <a:pt x="283792" y="363432"/>
                  </a:lnTo>
                  <a:lnTo>
                    <a:pt x="253922" y="345785"/>
                  </a:lnTo>
                  <a:lnTo>
                    <a:pt x="252075" y="311458"/>
                  </a:lnTo>
                  <a:lnTo>
                    <a:pt x="174771" y="321589"/>
                  </a:lnTo>
                  <a:lnTo>
                    <a:pt x="122162" y="343220"/>
                  </a:lnTo>
                  <a:lnTo>
                    <a:pt x="70128" y="344100"/>
                  </a:lnTo>
                  <a:lnTo>
                    <a:pt x="115195" y="377890"/>
                  </a:lnTo>
                  <a:lnTo>
                    <a:pt x="85536" y="455944"/>
                  </a:lnTo>
                  <a:lnTo>
                    <a:pt x="56801" y="475268"/>
                  </a:lnTo>
                  <a:lnTo>
                    <a:pt x="35291" y="457419"/>
                  </a:lnTo>
                  <a:lnTo>
                    <a:pt x="46193" y="416030"/>
                  </a:lnTo>
                  <a:lnTo>
                    <a:pt x="18057" y="402674"/>
                  </a:lnTo>
                  <a:lnTo>
                    <a:pt x="0" y="371182"/>
                  </a:lnTo>
                  <a:lnTo>
                    <a:pt x="42026" y="357033"/>
                  </a:lnTo>
                  <a:lnTo>
                    <a:pt x="65341" y="328165"/>
                  </a:lnTo>
                  <a:lnTo>
                    <a:pt x="110048" y="304424"/>
                  </a:lnTo>
                  <a:lnTo>
                    <a:pt x="142649" y="273026"/>
                  </a:lnTo>
                  <a:lnTo>
                    <a:pt x="231133" y="259331"/>
                  </a:lnTo>
                  <a:lnTo>
                    <a:pt x="278660" y="268722"/>
                  </a:lnTo>
                  <a:lnTo>
                    <a:pt x="325168" y="187075"/>
                  </a:lnTo>
                  <a:lnTo>
                    <a:pt x="354807" y="209008"/>
                  </a:lnTo>
                  <a:lnTo>
                    <a:pt x="420014" y="163080"/>
                  </a:lnTo>
                  <a:lnTo>
                    <a:pt x="445298" y="145239"/>
                  </a:lnTo>
                  <a:lnTo>
                    <a:pt x="473229" y="89081"/>
                  </a:lnTo>
                  <a:lnTo>
                    <a:pt x="465610" y="37440"/>
                  </a:lnTo>
                  <a:lnTo>
                    <a:pt x="484386" y="8430"/>
                  </a:lnTo>
                  <a:lnTo>
                    <a:pt x="531645" y="0"/>
                  </a:lnTo>
                  <a:lnTo>
                    <a:pt x="555883" y="63694"/>
                  </a:lnTo>
                  <a:lnTo>
                    <a:pt x="554564" y="100927"/>
                  </a:lnTo>
                  <a:lnTo>
                    <a:pt x="513443" y="147167"/>
                  </a:lnTo>
                  <a:lnTo>
                    <a:pt x="514194" y="194557"/>
                  </a:lnTo>
                  <a:close/>
                </a:path>
              </a:pathLst>
            </a:custGeom>
            <a:solidFill>
              <a:srgbClr val="E6EBE2"/>
            </a:solidFill>
            <a:ln w="4403">
              <a:solidFill>
                <a:srgbClr val="B6C3B3"/>
              </a:solidFill>
              <a:prstDash val="solid"/>
            </a:ln>
          </p:spPr>
          <p:txBody>
            <a:bodyPr/>
            <a:p/>
          </p:txBody>
        </p:sp>
        <p:sp>
          <p:nvSpPr>
            <p:cNvPr id="79" name="land-63">
              <a:extLst>
                <a:ext uri="{FF2B5EF4-FFF2-40B4-BE49-F238E27FC236}">
                  <a16:creationId xmlns:a16="http://schemas.microsoft.com/office/drawing/2014/main" id="{3B8E383E-FEC4-4BD0-B0C2-3F3927665E16}"/>
                </a:ext>
              </a:extLst>
            </p:cNvPr>
            <p:cNvSpPr>
              <a:spLocks/>
            </p:cNvSpPr>
            <p:nvPr/>
          </p:nvSpPr>
          <p:spPr>
            <a:xfrm>
              <a:off x="1624740" y="1783722"/>
              <a:ext cx="32108" cy="53230"/>
            </a:xfrm>
            <a:custGeom>
              <a:avLst/>
              <a:gdLst/>
              <a:ahLst/>
              <a:cxnLst/>
              <a:rect l="0" t="0" r="0" b="0"/>
              <a:pathLst>
                <a:path w="45152" h="74855">
                  <a:moveTo>
                    <a:pt x="45152" y="39380"/>
                  </a:moveTo>
                  <a:lnTo>
                    <a:pt x="30472" y="74855"/>
                  </a:lnTo>
                  <a:lnTo>
                    <a:pt x="10291" y="65505"/>
                  </a:lnTo>
                  <a:lnTo>
                    <a:pt x="0" y="34602"/>
                  </a:lnTo>
                  <a:lnTo>
                    <a:pt x="8970" y="17537"/>
                  </a:lnTo>
                  <a:lnTo>
                    <a:pt x="37595" y="0"/>
                  </a:lnTo>
                  <a:lnTo>
                    <a:pt x="45152" y="39380"/>
                  </a:lnTo>
                  <a:close/>
                </a:path>
              </a:pathLst>
            </a:custGeom>
            <a:solidFill>
              <a:srgbClr val="E6EBE2"/>
            </a:solidFill>
            <a:ln w="4403">
              <a:solidFill>
                <a:srgbClr val="B6C3B3"/>
              </a:solidFill>
              <a:prstDash val="solid"/>
            </a:ln>
          </p:spPr>
          <p:txBody>
            <a:bodyPr/>
            <a:p/>
          </p:txBody>
        </p:sp>
        <p:sp>
          <p:nvSpPr>
            <p:cNvPr id="80" name="land-64">
              <a:extLst>
                <a:ext uri="{FF2B5EF4-FFF2-40B4-BE49-F238E27FC236}">
                  <a16:creationId xmlns:a16="http://schemas.microsoft.com/office/drawing/2014/main" id="{1F449B11-9504-48E0-8BEE-91854C1502DD}"/>
                </a:ext>
              </a:extLst>
            </p:cNvPr>
            <p:cNvSpPr>
              <a:spLocks/>
            </p:cNvSpPr>
            <p:nvPr/>
          </p:nvSpPr>
          <p:spPr>
            <a:xfrm>
              <a:off x="5774144" y="1700723"/>
              <a:ext cx="180980" cy="130038"/>
            </a:xfrm>
            <a:custGeom>
              <a:avLst/>
              <a:gdLst/>
              <a:ahLst/>
              <a:cxnLst/>
              <a:rect l="0" t="0" r="0" b="0"/>
              <a:pathLst>
                <a:path w="254503" h="182866">
                  <a:moveTo>
                    <a:pt x="181917" y="63255"/>
                  </a:moveTo>
                  <a:lnTo>
                    <a:pt x="213177" y="73047"/>
                  </a:lnTo>
                  <a:lnTo>
                    <a:pt x="244621" y="53582"/>
                  </a:lnTo>
                  <a:lnTo>
                    <a:pt x="254503" y="105138"/>
                  </a:lnTo>
                  <a:lnTo>
                    <a:pt x="188562" y="117709"/>
                  </a:lnTo>
                  <a:lnTo>
                    <a:pt x="149632" y="163318"/>
                  </a:lnTo>
                  <a:lnTo>
                    <a:pt x="79741" y="131926"/>
                  </a:lnTo>
                  <a:lnTo>
                    <a:pt x="55551" y="182176"/>
                  </a:lnTo>
                  <a:lnTo>
                    <a:pt x="6115" y="182866"/>
                  </a:lnTo>
                  <a:lnTo>
                    <a:pt x="0" y="137209"/>
                  </a:lnTo>
                  <a:lnTo>
                    <a:pt x="21982" y="101869"/>
                  </a:lnTo>
                  <a:lnTo>
                    <a:pt x="69476" y="99318"/>
                  </a:lnTo>
                  <a:lnTo>
                    <a:pt x="82428" y="35791"/>
                  </a:lnTo>
                  <a:lnTo>
                    <a:pt x="95572" y="0"/>
                  </a:lnTo>
                  <a:lnTo>
                    <a:pt x="147811" y="47813"/>
                  </a:lnTo>
                  <a:lnTo>
                    <a:pt x="181917" y="63255"/>
                  </a:lnTo>
                  <a:close/>
                </a:path>
              </a:pathLst>
            </a:custGeom>
            <a:solidFill>
              <a:srgbClr val="E6EBE2"/>
            </a:solidFill>
            <a:ln w="4403">
              <a:solidFill>
                <a:srgbClr val="B6C3B3"/>
              </a:solidFill>
              <a:prstDash val="solid"/>
            </a:ln>
          </p:spPr>
          <p:txBody>
            <a:bodyPr/>
            <a:p/>
          </p:txBody>
        </p:sp>
        <p:sp>
          <p:nvSpPr>
            <p:cNvPr id="81" name="land-65">
              <a:extLst>
                <a:ext uri="{FF2B5EF4-FFF2-40B4-BE49-F238E27FC236}">
                  <a16:creationId xmlns:a16="http://schemas.microsoft.com/office/drawing/2014/main" id="{4344CDFC-D9FC-47CD-A317-868250B40D18}"/>
                </a:ext>
              </a:extLst>
            </p:cNvPr>
            <p:cNvSpPr>
              <a:spLocks/>
            </p:cNvSpPr>
            <p:nvPr/>
          </p:nvSpPr>
          <p:spPr>
            <a:xfrm>
              <a:off x="10698488" y="1652243"/>
              <a:ext cx="75246" cy="34872"/>
            </a:xfrm>
            <a:custGeom>
              <a:avLst/>
              <a:gdLst/>
              <a:ahLst/>
              <a:cxnLst/>
              <a:rect l="0" t="0" r="0" b="0"/>
              <a:pathLst>
                <a:path w="105815" h="49039">
                  <a:moveTo>
                    <a:pt x="32364" y="22319"/>
                  </a:moveTo>
                  <a:lnTo>
                    <a:pt x="64600" y="28479"/>
                  </a:lnTo>
                  <a:lnTo>
                    <a:pt x="105815" y="27227"/>
                  </a:lnTo>
                  <a:lnTo>
                    <a:pt x="83953" y="46044"/>
                  </a:lnTo>
                  <a:lnTo>
                    <a:pt x="67488" y="49039"/>
                  </a:lnTo>
                  <a:lnTo>
                    <a:pt x="11104" y="29546"/>
                  </a:lnTo>
                  <a:lnTo>
                    <a:pt x="0" y="14169"/>
                  </a:lnTo>
                  <a:lnTo>
                    <a:pt x="16791" y="0"/>
                  </a:lnTo>
                  <a:lnTo>
                    <a:pt x="32364" y="22319"/>
                  </a:lnTo>
                  <a:close/>
                </a:path>
              </a:pathLst>
            </a:custGeom>
            <a:solidFill>
              <a:srgbClr val="E6EBE2"/>
            </a:solidFill>
            <a:ln w="4403">
              <a:solidFill>
                <a:srgbClr val="B6C3B3"/>
              </a:solidFill>
              <a:prstDash val="solid"/>
            </a:ln>
          </p:spPr>
          <p:txBody>
            <a:bodyPr/>
            <a:p/>
          </p:txBody>
        </p:sp>
        <p:sp>
          <p:nvSpPr>
            <p:cNvPr id="82" name="land-66">
              <a:extLst>
                <a:ext uri="{FF2B5EF4-FFF2-40B4-BE49-F238E27FC236}">
                  <a16:creationId xmlns:a16="http://schemas.microsoft.com/office/drawing/2014/main" id="{58D3EDA2-6CAB-454E-B00E-27B93F0B4E50}"/>
                </a:ext>
              </a:extLst>
            </p:cNvPr>
            <p:cNvSpPr>
              <a:spLocks/>
            </p:cNvSpPr>
            <p:nvPr/>
          </p:nvSpPr>
          <p:spPr>
            <a:xfrm>
              <a:off x="10694489" y="1556846"/>
              <a:ext cx="85749" cy="28412"/>
            </a:xfrm>
            <a:custGeom>
              <a:avLst/>
              <a:gdLst/>
              <a:ahLst/>
              <a:cxnLst/>
              <a:rect l="0" t="0" r="0" b="0"/>
              <a:pathLst>
                <a:path w="120585" h="39954">
                  <a:moveTo>
                    <a:pt x="120585" y="39133"/>
                  </a:moveTo>
                  <a:lnTo>
                    <a:pt x="98943" y="39954"/>
                  </a:lnTo>
                  <a:lnTo>
                    <a:pt x="41332" y="25556"/>
                  </a:lnTo>
                  <a:lnTo>
                    <a:pt x="0" y="3864"/>
                  </a:lnTo>
                  <a:lnTo>
                    <a:pt x="15375" y="0"/>
                  </a:lnTo>
                  <a:lnTo>
                    <a:pt x="73824" y="11516"/>
                  </a:lnTo>
                  <a:lnTo>
                    <a:pt x="119283" y="30706"/>
                  </a:lnTo>
                  <a:lnTo>
                    <a:pt x="120585" y="39133"/>
                  </a:lnTo>
                  <a:close/>
                </a:path>
              </a:pathLst>
            </a:custGeom>
            <a:solidFill>
              <a:srgbClr val="E6EBE2"/>
            </a:solidFill>
            <a:ln w="4403">
              <a:solidFill>
                <a:srgbClr val="B6C3B3"/>
              </a:solidFill>
              <a:prstDash val="solid"/>
            </a:ln>
          </p:spPr>
          <p:txBody>
            <a:bodyPr/>
            <a:p/>
          </p:txBody>
        </p:sp>
        <p:sp>
          <p:nvSpPr>
            <p:cNvPr id="83" name="land-67">
              <a:extLst>
                <a:ext uri="{FF2B5EF4-FFF2-40B4-BE49-F238E27FC236}">
                  <a16:creationId xmlns:a16="http://schemas.microsoft.com/office/drawing/2014/main" id="{42F65A6A-E2A3-48E6-9B94-1E9ED2C45B0C}"/>
                </a:ext>
              </a:extLst>
            </p:cNvPr>
            <p:cNvSpPr>
              <a:spLocks/>
            </p:cNvSpPr>
            <p:nvPr/>
          </p:nvSpPr>
          <p:spPr>
            <a:xfrm>
              <a:off x="8673876" y="1530280"/>
              <a:ext cx="155977" cy="78371"/>
            </a:xfrm>
            <a:custGeom>
              <a:avLst/>
              <a:gdLst/>
              <a:ahLst/>
              <a:cxnLst/>
              <a:rect l="0" t="0" r="0" b="0"/>
              <a:pathLst>
                <a:path w="219342" h="110209">
                  <a:moveTo>
                    <a:pt x="219342" y="103818"/>
                  </a:moveTo>
                  <a:lnTo>
                    <a:pt x="196989" y="110209"/>
                  </a:lnTo>
                  <a:lnTo>
                    <a:pt x="123996" y="89352"/>
                  </a:lnTo>
                  <a:lnTo>
                    <a:pt x="110662" y="73049"/>
                  </a:lnTo>
                  <a:lnTo>
                    <a:pt x="70879" y="56976"/>
                  </a:lnTo>
                  <a:lnTo>
                    <a:pt x="62879" y="43887"/>
                  </a:lnTo>
                  <a:lnTo>
                    <a:pt x="17124" y="35623"/>
                  </a:lnTo>
                  <a:lnTo>
                    <a:pt x="0" y="10632"/>
                  </a:lnTo>
                  <a:lnTo>
                    <a:pt x="3830" y="0"/>
                  </a:lnTo>
                  <a:lnTo>
                    <a:pt x="50495" y="10015"/>
                  </a:lnTo>
                  <a:lnTo>
                    <a:pt x="77769" y="16980"/>
                  </a:lnTo>
                  <a:lnTo>
                    <a:pt x="119552" y="21843"/>
                  </a:lnTo>
                  <a:lnTo>
                    <a:pt x="134665" y="37687"/>
                  </a:lnTo>
                  <a:lnTo>
                    <a:pt x="156634" y="59489"/>
                  </a:lnTo>
                  <a:lnTo>
                    <a:pt x="201006" y="78446"/>
                  </a:lnTo>
                  <a:lnTo>
                    <a:pt x="219342" y="103818"/>
                  </a:lnTo>
                  <a:close/>
                </a:path>
              </a:pathLst>
            </a:custGeom>
            <a:solidFill>
              <a:srgbClr val="E6EBE2"/>
            </a:solidFill>
            <a:ln w="4403">
              <a:solidFill>
                <a:srgbClr val="B6C3B3"/>
              </a:solidFill>
              <a:prstDash val="solid"/>
            </a:ln>
          </p:spPr>
          <p:txBody>
            <a:bodyPr/>
            <a:p/>
          </p:txBody>
        </p:sp>
        <p:sp>
          <p:nvSpPr>
            <p:cNvPr id="84" name="land-68">
              <a:extLst>
                <a:ext uri="{FF2B5EF4-FFF2-40B4-BE49-F238E27FC236}">
                  <a16:creationId xmlns:a16="http://schemas.microsoft.com/office/drawing/2014/main" id="{C4ECB25F-2B3C-4269-89B6-4BBECED8484C}"/>
                </a:ext>
              </a:extLst>
            </p:cNvPr>
            <p:cNvSpPr>
              <a:spLocks/>
            </p:cNvSpPr>
            <p:nvPr/>
          </p:nvSpPr>
          <p:spPr>
            <a:xfrm>
              <a:off x="10855682" y="1502148"/>
              <a:ext cx="214036" cy="163736"/>
            </a:xfrm>
            <a:custGeom>
              <a:avLst/>
              <a:gdLst/>
              <a:ahLst/>
              <a:cxnLst/>
              <a:rect l="0" t="0" r="0" b="0"/>
              <a:pathLst>
                <a:path w="300989" h="230254">
                  <a:moveTo>
                    <a:pt x="146039" y="43402"/>
                  </a:moveTo>
                  <a:lnTo>
                    <a:pt x="116620" y="83572"/>
                  </a:lnTo>
                  <a:lnTo>
                    <a:pt x="145635" y="68058"/>
                  </a:lnTo>
                  <a:lnTo>
                    <a:pt x="175489" y="77900"/>
                  </a:lnTo>
                  <a:lnTo>
                    <a:pt x="159891" y="93913"/>
                  </a:lnTo>
                  <a:lnTo>
                    <a:pt x="199329" y="106502"/>
                  </a:lnTo>
                  <a:lnTo>
                    <a:pt x="219837" y="95311"/>
                  </a:lnTo>
                  <a:lnTo>
                    <a:pt x="264164" y="109435"/>
                  </a:lnTo>
                  <a:lnTo>
                    <a:pt x="250408" y="143068"/>
                  </a:lnTo>
                  <a:lnTo>
                    <a:pt x="281518" y="135214"/>
                  </a:lnTo>
                  <a:lnTo>
                    <a:pt x="287185" y="159583"/>
                  </a:lnTo>
                  <a:lnTo>
                    <a:pt x="300989" y="188130"/>
                  </a:lnTo>
                  <a:lnTo>
                    <a:pt x="282272" y="228546"/>
                  </a:lnTo>
                  <a:lnTo>
                    <a:pt x="262168" y="230254"/>
                  </a:lnTo>
                  <a:lnTo>
                    <a:pt x="232943" y="221585"/>
                  </a:lnTo>
                  <a:lnTo>
                    <a:pt x="242591" y="184013"/>
                  </a:lnTo>
                  <a:lnTo>
                    <a:pt x="230207" y="178177"/>
                  </a:lnTo>
                  <a:lnTo>
                    <a:pt x="178632" y="218006"/>
                  </a:lnTo>
                  <a:lnTo>
                    <a:pt x="152108" y="216412"/>
                  </a:lnTo>
                  <a:lnTo>
                    <a:pt x="183502" y="194834"/>
                  </a:lnTo>
                  <a:lnTo>
                    <a:pt x="140848" y="183676"/>
                  </a:lnTo>
                  <a:lnTo>
                    <a:pt x="93090" y="186419"/>
                  </a:lnTo>
                  <a:lnTo>
                    <a:pt x="6822" y="185017"/>
                  </a:lnTo>
                  <a:lnTo>
                    <a:pt x="0" y="171418"/>
                  </a:lnTo>
                  <a:lnTo>
                    <a:pt x="27688" y="155250"/>
                  </a:lnTo>
                  <a:lnTo>
                    <a:pt x="8351" y="142774"/>
                  </a:lnTo>
                  <a:lnTo>
                    <a:pt x="45681" y="115109"/>
                  </a:lnTo>
                  <a:lnTo>
                    <a:pt x="91603" y="41966"/>
                  </a:lnTo>
                  <a:lnTo>
                    <a:pt x="119164" y="15828"/>
                  </a:lnTo>
                  <a:lnTo>
                    <a:pt x="157732" y="0"/>
                  </a:lnTo>
                  <a:lnTo>
                    <a:pt x="178357" y="2012"/>
                  </a:lnTo>
                  <a:lnTo>
                    <a:pt x="169767" y="14467"/>
                  </a:lnTo>
                  <a:lnTo>
                    <a:pt x="146039" y="43402"/>
                  </a:lnTo>
                  <a:close/>
                </a:path>
              </a:pathLst>
            </a:custGeom>
            <a:solidFill>
              <a:srgbClr val="E6EBE2"/>
            </a:solidFill>
            <a:ln w="4403">
              <a:solidFill>
                <a:srgbClr val="B6C3B3"/>
              </a:solidFill>
              <a:prstDash val="solid"/>
            </a:ln>
          </p:spPr>
          <p:txBody>
            <a:bodyPr/>
            <a:p/>
          </p:txBody>
        </p:sp>
        <p:sp>
          <p:nvSpPr>
            <p:cNvPr id="85" name="land-69">
              <a:extLst>
                <a:ext uri="{FF2B5EF4-FFF2-40B4-BE49-F238E27FC236}">
                  <a16:creationId xmlns:a16="http://schemas.microsoft.com/office/drawing/2014/main" id="{ED7CD5E5-5739-4F4D-BCE9-7C9477312E9B}"/>
                </a:ext>
              </a:extLst>
            </p:cNvPr>
            <p:cNvSpPr>
              <a:spLocks/>
            </p:cNvSpPr>
            <p:nvPr/>
          </p:nvSpPr>
          <p:spPr>
            <a:xfrm>
              <a:off x="8522309" y="1419268"/>
              <a:ext cx="65134" cy="64973"/>
            </a:xfrm>
            <a:custGeom>
              <a:avLst/>
              <a:gdLst/>
              <a:ahLst/>
              <a:cxnLst/>
              <a:rect l="0" t="0" r="0" b="0"/>
              <a:pathLst>
                <a:path w="91595" h="91368">
                  <a:moveTo>
                    <a:pt x="23543" y="5969"/>
                  </a:moveTo>
                  <a:lnTo>
                    <a:pt x="23543" y="5969"/>
                  </a:lnTo>
                  <a:lnTo>
                    <a:pt x="23543" y="5969"/>
                  </a:lnTo>
                  <a:lnTo>
                    <a:pt x="23543" y="5969"/>
                  </a:lnTo>
                  <a:lnTo>
                    <a:pt x="66216" y="2295"/>
                  </a:lnTo>
                  <a:lnTo>
                    <a:pt x="52904" y="54436"/>
                  </a:lnTo>
                  <a:lnTo>
                    <a:pt x="91595" y="91368"/>
                  </a:lnTo>
                  <a:lnTo>
                    <a:pt x="73869" y="91279"/>
                  </a:lnTo>
                  <a:lnTo>
                    <a:pt x="47083" y="70276"/>
                  </a:lnTo>
                  <a:lnTo>
                    <a:pt x="30656" y="49137"/>
                  </a:lnTo>
                  <a:lnTo>
                    <a:pt x="8226" y="34834"/>
                  </a:lnTo>
                  <a:lnTo>
                    <a:pt x="0" y="14645"/>
                  </a:lnTo>
                  <a:lnTo>
                    <a:pt x="2652" y="0"/>
                  </a:lnTo>
                  <a:lnTo>
                    <a:pt x="23543" y="5969"/>
                  </a:lnTo>
                  <a:close/>
                </a:path>
              </a:pathLst>
            </a:custGeom>
            <a:solidFill>
              <a:srgbClr val="E6EBE2"/>
            </a:solidFill>
            <a:ln w="4403">
              <a:solidFill>
                <a:srgbClr val="B6C3B3"/>
              </a:solidFill>
              <a:prstDash val="solid"/>
            </a:ln>
          </p:spPr>
          <p:txBody>
            <a:bodyPr/>
            <a:p/>
          </p:txBody>
        </p:sp>
        <p:sp>
          <p:nvSpPr>
            <p:cNvPr id="86" name="land-70">
              <a:extLst>
                <a:ext uri="{FF2B5EF4-FFF2-40B4-BE49-F238E27FC236}">
                  <a16:creationId xmlns:a16="http://schemas.microsoft.com/office/drawing/2014/main" id="{71E73933-AA97-45BB-9604-CD509CB7F0BD}"/>
                </a:ext>
              </a:extLst>
            </p:cNvPr>
            <p:cNvSpPr>
              <a:spLocks/>
            </p:cNvSpPr>
            <p:nvPr/>
          </p:nvSpPr>
          <p:spPr>
            <a:xfrm>
              <a:off x="5830298" y="1412870"/>
              <a:ext cx="96725" cy="274291"/>
            </a:xfrm>
            <a:custGeom>
              <a:avLst/>
              <a:gdLst/>
              <a:ahLst/>
              <a:cxnLst/>
              <a:rect l="0" t="0" r="0" b="0"/>
              <a:pathLst>
                <a:path w="136020" h="385722">
                  <a:moveTo>
                    <a:pt x="91297" y="166166"/>
                  </a:moveTo>
                  <a:lnTo>
                    <a:pt x="136020" y="247508"/>
                  </a:lnTo>
                  <a:lnTo>
                    <a:pt x="70224" y="232345"/>
                  </a:lnTo>
                  <a:lnTo>
                    <a:pt x="42876" y="298704"/>
                  </a:lnTo>
                  <a:lnTo>
                    <a:pt x="86207" y="345770"/>
                  </a:lnTo>
                  <a:lnTo>
                    <a:pt x="84953" y="377862"/>
                  </a:lnTo>
                  <a:lnTo>
                    <a:pt x="51279" y="350177"/>
                  </a:lnTo>
                  <a:lnTo>
                    <a:pt x="22134" y="385722"/>
                  </a:lnTo>
                  <a:lnTo>
                    <a:pt x="13906" y="347184"/>
                  </a:lnTo>
                  <a:lnTo>
                    <a:pt x="18863" y="302445"/>
                  </a:lnTo>
                  <a:lnTo>
                    <a:pt x="13796" y="252890"/>
                  </a:lnTo>
                  <a:lnTo>
                    <a:pt x="24080" y="218172"/>
                  </a:lnTo>
                  <a:lnTo>
                    <a:pt x="26044" y="156764"/>
                  </a:lnTo>
                  <a:lnTo>
                    <a:pt x="0" y="111616"/>
                  </a:lnTo>
                  <a:lnTo>
                    <a:pt x="3932" y="48859"/>
                  </a:lnTo>
                  <a:lnTo>
                    <a:pt x="45022" y="27726"/>
                  </a:lnTo>
                  <a:lnTo>
                    <a:pt x="27367" y="6448"/>
                  </a:lnTo>
                  <a:lnTo>
                    <a:pt x="47149" y="0"/>
                  </a:lnTo>
                  <a:lnTo>
                    <a:pt x="58698" y="30370"/>
                  </a:lnTo>
                  <a:lnTo>
                    <a:pt x="74088" y="74632"/>
                  </a:lnTo>
                  <a:lnTo>
                    <a:pt x="72951" y="119826"/>
                  </a:lnTo>
                  <a:lnTo>
                    <a:pt x="91297" y="166166"/>
                  </a:lnTo>
                  <a:close/>
                </a:path>
              </a:pathLst>
            </a:custGeom>
            <a:solidFill>
              <a:srgbClr val="E6EBE2"/>
            </a:solidFill>
            <a:ln w="4403">
              <a:solidFill>
                <a:srgbClr val="B6C3B3"/>
              </a:solidFill>
              <a:prstDash val="solid"/>
            </a:ln>
          </p:spPr>
          <p:txBody>
            <a:bodyPr/>
            <a:p/>
          </p:txBody>
        </p:sp>
        <p:sp>
          <p:nvSpPr>
            <p:cNvPr id="87" name="land-71">
              <a:extLst>
                <a:ext uri="{FF2B5EF4-FFF2-40B4-BE49-F238E27FC236}">
                  <a16:creationId xmlns:a16="http://schemas.microsoft.com/office/drawing/2014/main" id="{980E9FED-32C6-4AA6-85DA-A0C05938D155}"/>
                </a:ext>
              </a:extLst>
            </p:cNvPr>
            <p:cNvSpPr>
              <a:spLocks/>
            </p:cNvSpPr>
            <p:nvPr/>
          </p:nvSpPr>
          <p:spPr>
            <a:xfrm>
              <a:off x="1039302" y="1386517"/>
              <a:ext cx="136397" cy="114416"/>
            </a:xfrm>
            <a:custGeom>
              <a:avLst/>
              <a:gdLst/>
              <a:ahLst/>
              <a:cxnLst/>
              <a:rect l="0" t="0" r="0" b="0"/>
              <a:pathLst>
                <a:path w="191808" h="160898">
                  <a:moveTo>
                    <a:pt x="141717" y="133765"/>
                  </a:moveTo>
                  <a:lnTo>
                    <a:pt x="62918" y="160898"/>
                  </a:lnTo>
                  <a:lnTo>
                    <a:pt x="0" y="153956"/>
                  </a:lnTo>
                  <a:lnTo>
                    <a:pt x="36040" y="106003"/>
                  </a:lnTo>
                  <a:lnTo>
                    <a:pt x="12827" y="59311"/>
                  </a:lnTo>
                  <a:lnTo>
                    <a:pt x="73302" y="23345"/>
                  </a:lnTo>
                  <a:lnTo>
                    <a:pt x="106899" y="1894"/>
                  </a:lnTo>
                  <a:lnTo>
                    <a:pt x="144162" y="0"/>
                  </a:lnTo>
                  <a:lnTo>
                    <a:pt x="191808" y="28393"/>
                  </a:lnTo>
                  <a:lnTo>
                    <a:pt x="167985" y="59945"/>
                  </a:lnTo>
                  <a:lnTo>
                    <a:pt x="175315" y="92753"/>
                  </a:lnTo>
                  <a:lnTo>
                    <a:pt x="141717" y="133765"/>
                  </a:lnTo>
                  <a:close/>
                </a:path>
              </a:pathLst>
            </a:custGeom>
            <a:solidFill>
              <a:srgbClr val="E6EBE2"/>
            </a:solidFill>
            <a:ln w="4403">
              <a:solidFill>
                <a:srgbClr val="B6C3B3"/>
              </a:solidFill>
              <a:prstDash val="solid"/>
            </a:ln>
          </p:spPr>
          <p:txBody>
            <a:bodyPr/>
            <a:p/>
          </p:txBody>
        </p:sp>
        <p:sp>
          <p:nvSpPr>
            <p:cNvPr id="88" name="land-72">
              <a:extLst>
                <a:ext uri="{FF2B5EF4-FFF2-40B4-BE49-F238E27FC236}">
                  <a16:creationId xmlns:a16="http://schemas.microsoft.com/office/drawing/2014/main" id="{10F1CC20-C675-420F-8582-B11DC16EA39A}"/>
                </a:ext>
              </a:extLst>
            </p:cNvPr>
            <p:cNvSpPr>
              <a:spLocks/>
            </p:cNvSpPr>
            <p:nvPr/>
          </p:nvSpPr>
          <p:spPr>
            <a:xfrm>
              <a:off x="1699327" y="1355867"/>
              <a:ext cx="56456" cy="42826"/>
            </a:xfrm>
            <a:custGeom>
              <a:avLst/>
              <a:gdLst/>
              <a:ahLst/>
              <a:cxnLst/>
              <a:rect l="0" t="0" r="0" b="0"/>
              <a:pathLst>
                <a:path w="79392" h="60225">
                  <a:moveTo>
                    <a:pt x="79392" y="23027"/>
                  </a:moveTo>
                  <a:lnTo>
                    <a:pt x="52721" y="60225"/>
                  </a:lnTo>
                  <a:lnTo>
                    <a:pt x="6207" y="34284"/>
                  </a:lnTo>
                  <a:lnTo>
                    <a:pt x="0" y="15222"/>
                  </a:lnTo>
                  <a:lnTo>
                    <a:pt x="65208" y="0"/>
                  </a:lnTo>
                  <a:lnTo>
                    <a:pt x="79392" y="23027"/>
                  </a:lnTo>
                  <a:close/>
                </a:path>
              </a:pathLst>
            </a:custGeom>
            <a:solidFill>
              <a:srgbClr val="E6EBE2"/>
            </a:solidFill>
            <a:ln w="4403">
              <a:solidFill>
                <a:srgbClr val="B6C3B3"/>
              </a:solidFill>
              <a:prstDash val="solid"/>
            </a:ln>
          </p:spPr>
          <p:txBody>
            <a:bodyPr/>
            <a:p/>
          </p:txBody>
        </p:sp>
        <p:sp>
          <p:nvSpPr>
            <p:cNvPr id="89" name="land-73">
              <a:extLst>
                <a:ext uri="{FF2B5EF4-FFF2-40B4-BE49-F238E27FC236}">
                  <a16:creationId xmlns:a16="http://schemas.microsoft.com/office/drawing/2014/main" id="{D73EA1CD-FD10-41D3-918B-15F57F39C7BD}"/>
                </a:ext>
              </a:extLst>
            </p:cNvPr>
            <p:cNvSpPr>
              <a:spLocks/>
            </p:cNvSpPr>
            <p:nvPr/>
          </p:nvSpPr>
          <p:spPr>
            <a:xfrm>
              <a:off x="7844888" y="1295204"/>
              <a:ext cx="79966" cy="40308"/>
            </a:xfrm>
            <a:custGeom>
              <a:avLst/>
              <a:gdLst/>
              <a:ahLst/>
              <a:cxnLst/>
              <a:rect l="0" t="0" r="0" b="0"/>
              <a:pathLst>
                <a:path w="112452" h="56684">
                  <a:moveTo>
                    <a:pt x="73995" y="39179"/>
                  </a:moveTo>
                  <a:lnTo>
                    <a:pt x="29599" y="56684"/>
                  </a:lnTo>
                  <a:lnTo>
                    <a:pt x="6872" y="44832"/>
                  </a:lnTo>
                  <a:lnTo>
                    <a:pt x="0" y="23319"/>
                  </a:lnTo>
                  <a:lnTo>
                    <a:pt x="40370" y="6999"/>
                  </a:lnTo>
                  <a:lnTo>
                    <a:pt x="64109" y="0"/>
                  </a:lnTo>
                  <a:lnTo>
                    <a:pt x="93621" y="3102"/>
                  </a:lnTo>
                  <a:lnTo>
                    <a:pt x="112452" y="17355"/>
                  </a:lnTo>
                  <a:lnTo>
                    <a:pt x="73995" y="39179"/>
                  </a:lnTo>
                  <a:close/>
                </a:path>
              </a:pathLst>
            </a:custGeom>
            <a:solidFill>
              <a:srgbClr val="E6EBE2"/>
            </a:solidFill>
            <a:ln w="4403">
              <a:solidFill>
                <a:srgbClr val="B6C3B3"/>
              </a:solidFill>
              <a:prstDash val="solid"/>
            </a:ln>
          </p:spPr>
          <p:txBody>
            <a:bodyPr/>
            <a:p/>
          </p:txBody>
        </p:sp>
        <p:sp>
          <p:nvSpPr>
            <p:cNvPr id="90" name="land-74">
              <a:extLst>
                <a:ext uri="{FF2B5EF4-FFF2-40B4-BE49-F238E27FC236}">
                  <a16:creationId xmlns:a16="http://schemas.microsoft.com/office/drawing/2014/main" id="{248B5130-2B70-47BA-92E7-E4C6FFA09B61}"/>
                </a:ext>
              </a:extLst>
            </p:cNvPr>
            <p:cNvSpPr>
              <a:spLocks/>
            </p:cNvSpPr>
            <p:nvPr/>
          </p:nvSpPr>
          <p:spPr>
            <a:xfrm>
              <a:off x="1160273" y="1273453"/>
              <a:ext cx="247545" cy="283301"/>
            </a:xfrm>
            <a:custGeom>
              <a:avLst/>
              <a:gdLst/>
              <a:ahLst/>
              <a:cxnLst/>
              <a:rect l="0" t="0" r="0" b="0"/>
              <a:pathLst>
                <a:path w="348111" h="398392">
                  <a:moveTo>
                    <a:pt x="139794" y="0"/>
                  </a:moveTo>
                  <a:lnTo>
                    <a:pt x="92285" y="49689"/>
                  </a:lnTo>
                  <a:lnTo>
                    <a:pt x="137572" y="43397"/>
                  </a:lnTo>
                  <a:lnTo>
                    <a:pt x="186277" y="43637"/>
                  </a:lnTo>
                  <a:lnTo>
                    <a:pt x="174688" y="81055"/>
                  </a:lnTo>
                  <a:lnTo>
                    <a:pt x="134727" y="122214"/>
                  </a:lnTo>
                  <a:lnTo>
                    <a:pt x="180688" y="125143"/>
                  </a:lnTo>
                  <a:lnTo>
                    <a:pt x="223805" y="184156"/>
                  </a:lnTo>
                  <a:lnTo>
                    <a:pt x="254232" y="191532"/>
                  </a:lnTo>
                  <a:lnTo>
                    <a:pt x="281589" y="243856"/>
                  </a:lnTo>
                  <a:lnTo>
                    <a:pt x="294257" y="261997"/>
                  </a:lnTo>
                  <a:lnTo>
                    <a:pt x="348111" y="270745"/>
                  </a:lnTo>
                  <a:lnTo>
                    <a:pt x="342708" y="300114"/>
                  </a:lnTo>
                  <a:lnTo>
                    <a:pt x="320064" y="313581"/>
                  </a:lnTo>
                  <a:lnTo>
                    <a:pt x="337813" y="337339"/>
                  </a:lnTo>
                  <a:lnTo>
                    <a:pt x="297829" y="361389"/>
                  </a:lnTo>
                  <a:lnTo>
                    <a:pt x="238362" y="360964"/>
                  </a:lnTo>
                  <a:lnTo>
                    <a:pt x="162686" y="373592"/>
                  </a:lnTo>
                  <a:lnTo>
                    <a:pt x="141960" y="364551"/>
                  </a:lnTo>
                  <a:lnTo>
                    <a:pt x="112571" y="386068"/>
                  </a:lnTo>
                  <a:lnTo>
                    <a:pt x="71452" y="380856"/>
                  </a:lnTo>
                  <a:lnTo>
                    <a:pt x="40225" y="398392"/>
                  </a:lnTo>
                  <a:lnTo>
                    <a:pt x="16598" y="389222"/>
                  </a:lnTo>
                  <a:lnTo>
                    <a:pt x="81788" y="340986"/>
                  </a:lnTo>
                  <a:lnTo>
                    <a:pt x="121577" y="331066"/>
                  </a:lnTo>
                  <a:lnTo>
                    <a:pt x="51812" y="323376"/>
                  </a:lnTo>
                  <a:lnTo>
                    <a:pt x="39235" y="305101"/>
                  </a:lnTo>
                  <a:lnTo>
                    <a:pt x="85683" y="290867"/>
                  </a:lnTo>
                  <a:lnTo>
                    <a:pt x="61340" y="266130"/>
                  </a:lnTo>
                  <a:lnTo>
                    <a:pt x="69786" y="236050"/>
                  </a:lnTo>
                  <a:lnTo>
                    <a:pt x="135924" y="240209"/>
                  </a:lnTo>
                  <a:lnTo>
                    <a:pt x="142461" y="213547"/>
                  </a:lnTo>
                  <a:lnTo>
                    <a:pt x="112013" y="184614"/>
                  </a:lnTo>
                  <a:lnTo>
                    <a:pt x="58043" y="176534"/>
                  </a:lnTo>
                  <a:lnTo>
                    <a:pt x="47448" y="164105"/>
                  </a:lnTo>
                  <a:lnTo>
                    <a:pt x="63602" y="143583"/>
                  </a:lnTo>
                  <a:lnTo>
                    <a:pt x="48984" y="130930"/>
                  </a:lnTo>
                  <a:lnTo>
                    <a:pt x="25051" y="152645"/>
                  </a:lnTo>
                  <a:lnTo>
                    <a:pt x="22446" y="108380"/>
                  </a:lnTo>
                  <a:lnTo>
                    <a:pt x="0" y="84959"/>
                  </a:lnTo>
                  <a:lnTo>
                    <a:pt x="16142" y="37481"/>
                  </a:lnTo>
                  <a:lnTo>
                    <a:pt x="50672" y="229"/>
                  </a:lnTo>
                  <a:lnTo>
                    <a:pt x="86166" y="3865"/>
                  </a:lnTo>
                  <a:lnTo>
                    <a:pt x="139794" y="0"/>
                  </a:lnTo>
                  <a:close/>
                </a:path>
              </a:pathLst>
            </a:custGeom>
            <a:solidFill>
              <a:srgbClr val="E6EBE2"/>
            </a:solidFill>
            <a:ln w="4403">
              <a:solidFill>
                <a:srgbClr val="B6C3B3"/>
              </a:solidFill>
              <a:prstDash val="solid"/>
            </a:ln>
          </p:spPr>
          <p:txBody>
            <a:bodyPr/>
            <a:p/>
          </p:txBody>
        </p:sp>
        <p:sp>
          <p:nvSpPr>
            <p:cNvPr id="91" name="land-75">
              <a:extLst>
                <a:ext uri="{FF2B5EF4-FFF2-40B4-BE49-F238E27FC236}">
                  <a16:creationId xmlns:a16="http://schemas.microsoft.com/office/drawing/2014/main" id="{7F961421-5B0F-4F8E-981C-2C204C324C33}"/>
                </a:ext>
              </a:extLst>
            </p:cNvPr>
            <p:cNvSpPr>
              <a:spLocks/>
            </p:cNvSpPr>
            <p:nvPr/>
          </p:nvSpPr>
          <p:spPr>
            <a:xfrm>
              <a:off x="7440791" y="1216330"/>
              <a:ext cx="59302" cy="20565"/>
            </a:xfrm>
            <a:custGeom>
              <a:avLst/>
              <a:gdLst/>
              <a:ahLst/>
              <a:cxnLst/>
              <a:rect l="0" t="0" r="0" b="0"/>
              <a:pathLst>
                <a:path w="83393" h="28920">
                  <a:moveTo>
                    <a:pt x="83393" y="21776"/>
                  </a:moveTo>
                  <a:lnTo>
                    <a:pt x="56118" y="28920"/>
                  </a:lnTo>
                  <a:lnTo>
                    <a:pt x="26978" y="20334"/>
                  </a:lnTo>
                  <a:lnTo>
                    <a:pt x="0" y="7858"/>
                  </a:lnTo>
                  <a:lnTo>
                    <a:pt x="43894" y="0"/>
                  </a:lnTo>
                  <a:lnTo>
                    <a:pt x="79159" y="4159"/>
                  </a:lnTo>
                  <a:lnTo>
                    <a:pt x="83393" y="21776"/>
                  </a:lnTo>
                  <a:close/>
                </a:path>
              </a:pathLst>
            </a:custGeom>
            <a:solidFill>
              <a:srgbClr val="E6EBE2"/>
            </a:solidFill>
            <a:ln w="4403">
              <a:solidFill>
                <a:srgbClr val="B6C3B3"/>
              </a:solidFill>
              <a:prstDash val="solid"/>
            </a:ln>
          </p:spPr>
          <p:txBody>
            <a:bodyPr/>
            <a:p/>
          </p:txBody>
        </p:sp>
        <p:sp>
          <p:nvSpPr>
            <p:cNvPr id="92" name="land-76">
              <a:extLst>
                <a:ext uri="{FF2B5EF4-FFF2-40B4-BE49-F238E27FC236}">
                  <a16:creationId xmlns:a16="http://schemas.microsoft.com/office/drawing/2014/main" id="{D7625A0B-77C4-488C-A813-66FB3E8AAB34}"/>
                </a:ext>
              </a:extLst>
            </p:cNvPr>
            <p:cNvSpPr>
              <a:spLocks/>
            </p:cNvSpPr>
            <p:nvPr/>
          </p:nvSpPr>
          <p:spPr>
            <a:xfrm>
              <a:off x="10193708" y="1150969"/>
              <a:ext cx="34654" cy="24575"/>
            </a:xfrm>
            <a:custGeom>
              <a:avLst/>
              <a:gdLst/>
              <a:ahLst/>
              <a:cxnLst/>
              <a:rect l="0" t="0" r="0" b="0"/>
              <a:pathLst>
                <a:path w="48732" h="34559">
                  <a:moveTo>
                    <a:pt x="48732" y="10421"/>
                  </a:moveTo>
                  <a:lnTo>
                    <a:pt x="31321" y="34559"/>
                  </a:lnTo>
                  <a:lnTo>
                    <a:pt x="11672" y="30654"/>
                  </a:lnTo>
                  <a:lnTo>
                    <a:pt x="0" y="16951"/>
                  </a:lnTo>
                  <a:lnTo>
                    <a:pt x="2078" y="13779"/>
                  </a:lnTo>
                  <a:lnTo>
                    <a:pt x="19236" y="0"/>
                  </a:lnTo>
                  <a:lnTo>
                    <a:pt x="37433" y="1005"/>
                  </a:lnTo>
                  <a:lnTo>
                    <a:pt x="48732" y="10421"/>
                  </a:lnTo>
                  <a:close/>
                </a:path>
              </a:pathLst>
            </a:custGeom>
            <a:solidFill>
              <a:srgbClr val="E6EBE2"/>
            </a:solidFill>
            <a:ln w="4403">
              <a:solidFill>
                <a:srgbClr val="B6C3B3"/>
              </a:solidFill>
              <a:prstDash val="solid"/>
            </a:ln>
          </p:spPr>
          <p:txBody>
            <a:bodyPr/>
            <a:p/>
          </p:txBody>
        </p:sp>
        <p:sp>
          <p:nvSpPr>
            <p:cNvPr id="93" name="land-77">
              <a:extLst>
                <a:ext uri="{FF2B5EF4-FFF2-40B4-BE49-F238E27FC236}">
                  <a16:creationId xmlns:a16="http://schemas.microsoft.com/office/drawing/2014/main" id="{B25C473C-FC30-4423-ADBA-822AD23DDA6A}"/>
                </a:ext>
              </a:extLst>
            </p:cNvPr>
            <p:cNvSpPr>
              <a:spLocks/>
            </p:cNvSpPr>
            <p:nvPr/>
          </p:nvSpPr>
          <p:spPr>
            <a:xfrm>
              <a:off x="10078920" y="1133710"/>
              <a:ext cx="66906" cy="24652"/>
            </a:xfrm>
            <a:custGeom>
              <a:avLst/>
              <a:gdLst/>
              <a:ahLst/>
              <a:cxnLst/>
              <a:rect l="0" t="0" r="0" b="0"/>
              <a:pathLst>
                <a:path w="94086" h="34667">
                  <a:moveTo>
                    <a:pt x="93141" y="9336"/>
                  </a:moveTo>
                  <a:lnTo>
                    <a:pt x="41121" y="34667"/>
                  </a:lnTo>
                  <a:lnTo>
                    <a:pt x="9737" y="33606"/>
                  </a:lnTo>
                  <a:lnTo>
                    <a:pt x="0" y="21184"/>
                  </a:lnTo>
                  <a:lnTo>
                    <a:pt x="33035" y="0"/>
                  </a:lnTo>
                  <a:lnTo>
                    <a:pt x="94086" y="437"/>
                  </a:lnTo>
                  <a:lnTo>
                    <a:pt x="93141" y="9336"/>
                  </a:lnTo>
                  <a:close/>
                </a:path>
              </a:pathLst>
            </a:custGeom>
            <a:solidFill>
              <a:srgbClr val="E6EBE2"/>
            </a:solidFill>
            <a:ln w="4403">
              <a:solidFill>
                <a:srgbClr val="B6C3B3"/>
              </a:solidFill>
              <a:prstDash val="solid"/>
            </a:ln>
          </p:spPr>
          <p:txBody>
            <a:bodyPr/>
            <a:p/>
          </p:txBody>
        </p:sp>
        <p:sp>
          <p:nvSpPr>
            <p:cNvPr id="94" name="land-78">
              <a:extLst>
                <a:ext uri="{FF2B5EF4-FFF2-40B4-BE49-F238E27FC236}">
                  <a16:creationId xmlns:a16="http://schemas.microsoft.com/office/drawing/2014/main" id="{A5C8842C-2FC6-44B5-B0A3-A9C2E981CB8B}"/>
                </a:ext>
              </a:extLst>
            </p:cNvPr>
            <p:cNvSpPr>
              <a:spLocks/>
            </p:cNvSpPr>
            <p:nvPr/>
          </p:nvSpPr>
          <p:spPr>
            <a:xfrm>
              <a:off x="7303741" y="1105350"/>
              <a:ext cx="98040" cy="26308"/>
            </a:xfrm>
            <a:custGeom>
              <a:avLst/>
              <a:gdLst/>
              <a:ahLst/>
              <a:cxnLst/>
              <a:rect l="0" t="0" r="0" b="0"/>
              <a:pathLst>
                <a:path w="137869" h="36996">
                  <a:moveTo>
                    <a:pt x="2643" y="0"/>
                  </a:moveTo>
                  <a:lnTo>
                    <a:pt x="30078" y="8740"/>
                  </a:lnTo>
                  <a:lnTo>
                    <a:pt x="57785" y="4020"/>
                  </a:lnTo>
                  <a:lnTo>
                    <a:pt x="93728" y="16138"/>
                  </a:lnTo>
                  <a:lnTo>
                    <a:pt x="137869" y="22274"/>
                  </a:lnTo>
                  <a:lnTo>
                    <a:pt x="134202" y="27275"/>
                  </a:lnTo>
                  <a:lnTo>
                    <a:pt x="100531" y="36996"/>
                  </a:lnTo>
                  <a:lnTo>
                    <a:pt x="66700" y="27007"/>
                  </a:lnTo>
                  <a:lnTo>
                    <a:pt x="49772" y="18677"/>
                  </a:lnTo>
                  <a:lnTo>
                    <a:pt x="10581" y="21342"/>
                  </a:lnTo>
                  <a:lnTo>
                    <a:pt x="0" y="17298"/>
                  </a:lnTo>
                  <a:lnTo>
                    <a:pt x="2643" y="0"/>
                  </a:lnTo>
                  <a:close/>
                </a:path>
              </a:pathLst>
            </a:custGeom>
            <a:solidFill>
              <a:srgbClr val="E6EBE2"/>
            </a:solidFill>
            <a:ln w="4403">
              <a:solidFill>
                <a:srgbClr val="B6C3B3"/>
              </a:solidFill>
              <a:prstDash val="solid"/>
            </a:ln>
          </p:spPr>
          <p:txBody>
            <a:bodyPr/>
            <a:p/>
          </p:txBody>
        </p:sp>
        <p:sp>
          <p:nvSpPr>
            <p:cNvPr id="95" name="land-79">
              <a:extLst>
                <a:ext uri="{FF2B5EF4-FFF2-40B4-BE49-F238E27FC236}">
                  <a16:creationId xmlns:a16="http://schemas.microsoft.com/office/drawing/2014/main" id="{F107FD31-825E-44C0-879F-9D89E76E0FF9}"/>
                </a:ext>
              </a:extLst>
            </p:cNvPr>
            <p:cNvSpPr>
              <a:spLocks/>
            </p:cNvSpPr>
            <p:nvPr/>
          </p:nvSpPr>
          <p:spPr>
            <a:xfrm>
              <a:off x="9976877" y="1041464"/>
              <a:ext cx="225009" cy="87730"/>
            </a:xfrm>
            <a:custGeom>
              <a:avLst/>
              <a:gdLst/>
              <a:ahLst/>
              <a:cxnLst/>
              <a:rect l="0" t="0" r="0" b="0"/>
              <a:pathLst>
                <a:path w="316419" h="123370">
                  <a:moveTo>
                    <a:pt x="91597" y="3742"/>
                  </a:moveTo>
                  <a:lnTo>
                    <a:pt x="99844" y="23938"/>
                  </a:lnTo>
                  <a:lnTo>
                    <a:pt x="122592" y="16854"/>
                  </a:lnTo>
                  <a:lnTo>
                    <a:pt x="148434" y="28894"/>
                  </a:lnTo>
                  <a:lnTo>
                    <a:pt x="197109" y="44642"/>
                  </a:lnTo>
                  <a:lnTo>
                    <a:pt x="248030" y="58950"/>
                  </a:lnTo>
                  <a:lnTo>
                    <a:pt x="251967" y="80788"/>
                  </a:lnTo>
                  <a:lnTo>
                    <a:pt x="284685" y="77212"/>
                  </a:lnTo>
                  <a:lnTo>
                    <a:pt x="316419" y="92436"/>
                  </a:lnTo>
                  <a:lnTo>
                    <a:pt x="276966" y="106890"/>
                  </a:lnTo>
                  <a:lnTo>
                    <a:pt x="207795" y="95846"/>
                  </a:lnTo>
                  <a:lnTo>
                    <a:pt x="182831" y="75173"/>
                  </a:lnTo>
                  <a:lnTo>
                    <a:pt x="138754" y="99612"/>
                  </a:lnTo>
                  <a:lnTo>
                    <a:pt x="75502" y="123370"/>
                  </a:lnTo>
                  <a:lnTo>
                    <a:pt x="60239" y="96511"/>
                  </a:lnTo>
                  <a:lnTo>
                    <a:pt x="0" y="100920"/>
                  </a:lnTo>
                  <a:lnTo>
                    <a:pt x="38637" y="78206"/>
                  </a:lnTo>
                  <a:lnTo>
                    <a:pt x="44321" y="42060"/>
                  </a:lnTo>
                  <a:lnTo>
                    <a:pt x="59480" y="0"/>
                  </a:lnTo>
                  <a:lnTo>
                    <a:pt x="91597" y="3742"/>
                  </a:lnTo>
                  <a:close/>
                </a:path>
              </a:pathLst>
            </a:custGeom>
            <a:solidFill>
              <a:srgbClr val="E6EBE2"/>
            </a:solidFill>
            <a:ln w="4403">
              <a:solidFill>
                <a:srgbClr val="B6C3B3"/>
              </a:solidFill>
              <a:prstDash val="solid"/>
            </a:ln>
          </p:spPr>
          <p:txBody>
            <a:bodyPr/>
            <a:p/>
          </p:txBody>
        </p:sp>
        <p:sp>
          <p:nvSpPr>
            <p:cNvPr id="96" name="land-80">
              <a:extLst>
                <a:ext uri="{FF2B5EF4-FFF2-40B4-BE49-F238E27FC236}">
                  <a16:creationId xmlns:a16="http://schemas.microsoft.com/office/drawing/2014/main" id="{7082349F-8EE6-4E4C-AD3E-E620E160B4BF}"/>
                </a:ext>
              </a:extLst>
            </p:cNvPr>
            <p:cNvSpPr>
              <a:spLocks/>
            </p:cNvSpPr>
            <p:nvPr/>
          </p:nvSpPr>
          <p:spPr>
            <a:xfrm>
              <a:off x="585743" y="1015730"/>
              <a:ext cx="338735" cy="98964"/>
            </a:xfrm>
            <a:custGeom>
              <a:avLst/>
              <a:gdLst/>
              <a:ahLst/>
              <a:cxnLst/>
              <a:rect l="0" t="0" r="0" b="0"/>
              <a:pathLst>
                <a:path w="476346" h="139169">
                  <a:moveTo>
                    <a:pt x="436387" y="3256"/>
                  </a:moveTo>
                  <a:lnTo>
                    <a:pt x="426122" y="32976"/>
                  </a:lnTo>
                  <a:lnTo>
                    <a:pt x="476346" y="64299"/>
                  </a:lnTo>
                  <a:lnTo>
                    <a:pt x="418557" y="99321"/>
                  </a:lnTo>
                  <a:lnTo>
                    <a:pt x="290336" y="130794"/>
                  </a:lnTo>
                  <a:lnTo>
                    <a:pt x="252029" y="139169"/>
                  </a:lnTo>
                  <a:lnTo>
                    <a:pt x="193510" y="132406"/>
                  </a:lnTo>
                  <a:lnTo>
                    <a:pt x="69485" y="117869"/>
                  </a:lnTo>
                  <a:lnTo>
                    <a:pt x="113245" y="97574"/>
                  </a:lnTo>
                  <a:lnTo>
                    <a:pt x="16497" y="75116"/>
                  </a:lnTo>
                  <a:lnTo>
                    <a:pt x="95202" y="66214"/>
                  </a:lnTo>
                  <a:lnTo>
                    <a:pt x="93290" y="52730"/>
                  </a:lnTo>
                  <a:lnTo>
                    <a:pt x="0" y="42048"/>
                  </a:lnTo>
                  <a:lnTo>
                    <a:pt x="30033" y="12137"/>
                  </a:lnTo>
                  <a:lnTo>
                    <a:pt x="97402" y="5342"/>
                  </a:lnTo>
                  <a:lnTo>
                    <a:pt x="166683" y="36495"/>
                  </a:lnTo>
                  <a:lnTo>
                    <a:pt x="234222" y="11490"/>
                  </a:lnTo>
                  <a:lnTo>
                    <a:pt x="290150" y="24475"/>
                  </a:lnTo>
                  <a:lnTo>
                    <a:pt x="362639" y="0"/>
                  </a:lnTo>
                  <a:lnTo>
                    <a:pt x="436387" y="3256"/>
                  </a:lnTo>
                  <a:close/>
                </a:path>
              </a:pathLst>
            </a:custGeom>
            <a:solidFill>
              <a:srgbClr val="E6EBE2"/>
            </a:solidFill>
            <a:ln w="4403">
              <a:solidFill>
                <a:srgbClr val="B6C3B3"/>
              </a:solidFill>
              <a:prstDash val="solid"/>
            </a:ln>
          </p:spPr>
          <p:txBody>
            <a:bodyPr/>
            <a:p/>
          </p:txBody>
        </p:sp>
        <p:sp>
          <p:nvSpPr>
            <p:cNvPr id="97" name="land-81">
              <a:extLst>
                <a:ext uri="{FF2B5EF4-FFF2-40B4-BE49-F238E27FC236}">
                  <a16:creationId xmlns:a16="http://schemas.microsoft.com/office/drawing/2014/main" id="{52CB9500-86C1-4D21-9427-010822319960}"/>
                </a:ext>
              </a:extLst>
            </p:cNvPr>
            <p:cNvSpPr>
              <a:spLocks/>
            </p:cNvSpPr>
            <p:nvPr/>
          </p:nvSpPr>
          <p:spPr>
            <a:xfrm>
              <a:off x="10292510" y="958240"/>
              <a:ext cx="67424" cy="38812"/>
            </a:xfrm>
            <a:custGeom>
              <a:avLst/>
              <a:gdLst/>
              <a:ahLst/>
              <a:cxnLst/>
              <a:rect l="0" t="0" r="0" b="0"/>
              <a:pathLst>
                <a:path w="94815" h="54580">
                  <a:moveTo>
                    <a:pt x="60920" y="52278"/>
                  </a:moveTo>
                  <a:lnTo>
                    <a:pt x="11092" y="54580"/>
                  </a:lnTo>
                  <a:lnTo>
                    <a:pt x="0" y="32106"/>
                  </a:lnTo>
                  <a:lnTo>
                    <a:pt x="18880" y="6367"/>
                  </a:lnTo>
                  <a:lnTo>
                    <a:pt x="59616" y="0"/>
                  </a:lnTo>
                  <a:lnTo>
                    <a:pt x="94318" y="12714"/>
                  </a:lnTo>
                  <a:lnTo>
                    <a:pt x="94815" y="32385"/>
                  </a:lnTo>
                  <a:lnTo>
                    <a:pt x="89808" y="38712"/>
                  </a:lnTo>
                  <a:lnTo>
                    <a:pt x="60920" y="52278"/>
                  </a:lnTo>
                  <a:close/>
                </a:path>
              </a:pathLst>
            </a:custGeom>
            <a:solidFill>
              <a:srgbClr val="E6EBE2"/>
            </a:solidFill>
            <a:ln w="4403">
              <a:solidFill>
                <a:srgbClr val="B6C3B3"/>
              </a:solidFill>
              <a:prstDash val="solid"/>
            </a:ln>
          </p:spPr>
          <p:txBody>
            <a:bodyPr/>
            <a:p/>
          </p:txBody>
        </p:sp>
        <p:sp>
          <p:nvSpPr>
            <p:cNvPr id="98" name="land-82">
              <a:extLst>
                <a:ext uri="{FF2B5EF4-FFF2-40B4-BE49-F238E27FC236}">
                  <a16:creationId xmlns:a16="http://schemas.microsoft.com/office/drawing/2014/main" id="{A10ECEEF-797A-46BF-B004-9011F6135E1D}"/>
                </a:ext>
              </a:extLst>
            </p:cNvPr>
            <p:cNvSpPr>
              <a:spLocks/>
            </p:cNvSpPr>
            <p:nvPr/>
          </p:nvSpPr>
          <p:spPr>
            <a:xfrm>
              <a:off x="7044267" y="936149"/>
              <a:ext cx="319263" cy="153846"/>
            </a:xfrm>
            <a:custGeom>
              <a:avLst/>
              <a:gdLst/>
              <a:ahLst/>
              <a:cxnLst/>
              <a:rect l="0" t="0" r="0" b="0"/>
              <a:pathLst>
                <a:path w="448964" h="216346">
                  <a:moveTo>
                    <a:pt x="221617" y="109267"/>
                  </a:moveTo>
                  <a:lnTo>
                    <a:pt x="251595" y="120692"/>
                  </a:lnTo>
                  <a:lnTo>
                    <a:pt x="241283" y="87322"/>
                  </a:lnTo>
                  <a:lnTo>
                    <a:pt x="361943" y="94170"/>
                  </a:lnTo>
                  <a:lnTo>
                    <a:pt x="448964" y="137148"/>
                  </a:lnTo>
                  <a:lnTo>
                    <a:pt x="404892" y="157164"/>
                  </a:lnTo>
                  <a:lnTo>
                    <a:pt x="332030" y="161916"/>
                  </a:lnTo>
                  <a:lnTo>
                    <a:pt x="330930" y="206789"/>
                  </a:lnTo>
                  <a:lnTo>
                    <a:pt x="313136" y="216346"/>
                  </a:lnTo>
                  <a:lnTo>
                    <a:pt x="271508" y="214972"/>
                  </a:lnTo>
                  <a:lnTo>
                    <a:pt x="237633" y="198961"/>
                  </a:lnTo>
                  <a:lnTo>
                    <a:pt x="178532" y="185568"/>
                  </a:lnTo>
                  <a:lnTo>
                    <a:pt x="168592" y="165647"/>
                  </a:lnTo>
                  <a:lnTo>
                    <a:pt x="123453" y="158135"/>
                  </a:lnTo>
                  <a:lnTo>
                    <a:pt x="72901" y="164092"/>
                  </a:lnTo>
                  <a:lnTo>
                    <a:pt x="48747" y="148022"/>
                  </a:lnTo>
                  <a:lnTo>
                    <a:pt x="58402" y="130954"/>
                  </a:lnTo>
                  <a:lnTo>
                    <a:pt x="5166" y="141863"/>
                  </a:lnTo>
                  <a:lnTo>
                    <a:pt x="25217" y="163468"/>
                  </a:lnTo>
                  <a:lnTo>
                    <a:pt x="0" y="182958"/>
                  </a:lnTo>
                  <a:lnTo>
                    <a:pt x="0" y="0"/>
                  </a:lnTo>
                  <a:lnTo>
                    <a:pt x="108903" y="35069"/>
                  </a:lnTo>
                  <a:lnTo>
                    <a:pt x="225439" y="80723"/>
                  </a:lnTo>
                  <a:lnTo>
                    <a:pt x="221617" y="109267"/>
                  </a:lnTo>
                  <a:close/>
                </a:path>
              </a:pathLst>
            </a:custGeom>
            <a:solidFill>
              <a:srgbClr val="E6EBE2"/>
            </a:solidFill>
            <a:ln w="4403">
              <a:solidFill>
                <a:srgbClr val="B6C3B3"/>
              </a:solidFill>
              <a:prstDash val="solid"/>
            </a:ln>
          </p:spPr>
          <p:txBody>
            <a:bodyPr/>
            <a:p/>
          </p:txBody>
        </p:sp>
        <p:sp>
          <p:nvSpPr>
            <p:cNvPr id="99" name="land-83">
              <a:extLst>
                <a:ext uri="{FF2B5EF4-FFF2-40B4-BE49-F238E27FC236}">
                  <a16:creationId xmlns:a16="http://schemas.microsoft.com/office/drawing/2014/main" id="{4C666F7F-37DE-48DE-9CBB-49AE5189BD09}"/>
                </a:ext>
              </a:extLst>
            </p:cNvPr>
            <p:cNvSpPr>
              <a:spLocks/>
            </p:cNvSpPr>
            <p:nvPr/>
          </p:nvSpPr>
          <p:spPr>
            <a:xfrm>
              <a:off x="9579382" y="897617"/>
              <a:ext cx="131168" cy="45279"/>
            </a:xfrm>
            <a:custGeom>
              <a:avLst/>
              <a:gdLst/>
              <a:ahLst/>
              <a:cxnLst/>
              <a:rect l="0" t="0" r="0" b="0"/>
              <a:pathLst>
                <a:path w="184455" h="63674">
                  <a:moveTo>
                    <a:pt x="184455" y="47570"/>
                  </a:moveTo>
                  <a:lnTo>
                    <a:pt x="156814" y="63674"/>
                  </a:lnTo>
                  <a:lnTo>
                    <a:pt x="96901" y="49759"/>
                  </a:lnTo>
                  <a:lnTo>
                    <a:pt x="60701" y="54780"/>
                  </a:lnTo>
                  <a:lnTo>
                    <a:pt x="0" y="34145"/>
                  </a:lnTo>
                  <a:lnTo>
                    <a:pt x="39116" y="19909"/>
                  </a:lnTo>
                  <a:lnTo>
                    <a:pt x="70193" y="0"/>
                  </a:lnTo>
                  <a:lnTo>
                    <a:pt x="117348" y="13020"/>
                  </a:lnTo>
                  <a:lnTo>
                    <a:pt x="144018" y="21286"/>
                  </a:lnTo>
                  <a:lnTo>
                    <a:pt x="157353" y="30012"/>
                  </a:lnTo>
                  <a:lnTo>
                    <a:pt x="184455" y="47570"/>
                  </a:lnTo>
                  <a:close/>
                </a:path>
              </a:pathLst>
            </a:custGeom>
            <a:solidFill>
              <a:srgbClr val="E6EBE2"/>
            </a:solidFill>
            <a:ln w="4403">
              <a:solidFill>
                <a:srgbClr val="B6C3B3"/>
              </a:solidFill>
              <a:prstDash val="solid"/>
            </a:ln>
          </p:spPr>
          <p:txBody>
            <a:bodyPr/>
            <a:p/>
          </p:txBody>
        </p:sp>
        <p:sp>
          <p:nvSpPr>
            <p:cNvPr id="100" name="land-84">
              <a:extLst>
                <a:ext uri="{FF2B5EF4-FFF2-40B4-BE49-F238E27FC236}">
                  <a16:creationId xmlns:a16="http://schemas.microsoft.com/office/drawing/2014/main" id="{74A4A9DC-CC88-4B0D-ACF1-C36F30A4B924}"/>
                </a:ext>
              </a:extLst>
            </p:cNvPr>
            <p:cNvSpPr>
              <a:spLocks/>
            </p:cNvSpPr>
            <p:nvPr/>
          </p:nvSpPr>
          <p:spPr>
            <a:xfrm>
              <a:off x="7003975" y="852806"/>
              <a:ext cx="40292" cy="23989"/>
            </a:xfrm>
            <a:custGeom>
              <a:avLst/>
              <a:gdLst/>
              <a:ahLst/>
              <a:cxnLst/>
              <a:rect l="0" t="0" r="0" b="0"/>
              <a:pathLst>
                <a:path w="56660" h="33735">
                  <a:moveTo>
                    <a:pt x="56660" y="31390"/>
                  </a:moveTo>
                  <a:lnTo>
                    <a:pt x="7918" y="33735"/>
                  </a:lnTo>
                  <a:lnTo>
                    <a:pt x="0" y="19146"/>
                  </a:lnTo>
                  <a:lnTo>
                    <a:pt x="56660" y="0"/>
                  </a:lnTo>
                  <a:lnTo>
                    <a:pt x="56660" y="31390"/>
                  </a:lnTo>
                  <a:close/>
                </a:path>
              </a:pathLst>
            </a:custGeom>
            <a:solidFill>
              <a:srgbClr val="E6EBE2"/>
            </a:solidFill>
            <a:ln w="4403">
              <a:solidFill>
                <a:srgbClr val="B6C3B3"/>
              </a:solidFill>
              <a:prstDash val="solid"/>
            </a:ln>
          </p:spPr>
          <p:txBody>
            <a:bodyPr/>
            <a:p/>
          </p:txBody>
        </p:sp>
        <p:sp>
          <p:nvSpPr>
            <p:cNvPr id="101" name="land-85">
              <a:extLst>
                <a:ext uri="{FF2B5EF4-FFF2-40B4-BE49-F238E27FC236}">
                  <a16:creationId xmlns:a16="http://schemas.microsoft.com/office/drawing/2014/main" id="{336FDA92-29F7-4B2B-9E1B-27FAB21AEEF4}"/>
                </a:ext>
              </a:extLst>
            </p:cNvPr>
            <p:cNvSpPr>
              <a:spLocks/>
            </p:cNvSpPr>
            <p:nvPr/>
          </p:nvSpPr>
          <p:spPr>
            <a:xfrm>
              <a:off x="7044267" y="851437"/>
              <a:ext cx="76558" cy="23690"/>
            </a:xfrm>
            <a:custGeom>
              <a:avLst/>
              <a:gdLst/>
              <a:ahLst/>
              <a:cxnLst/>
              <a:rect l="0" t="0" r="0" b="0"/>
              <a:pathLst>
                <a:path w="107660" h="33314">
                  <a:moveTo>
                    <a:pt x="58061" y="30521"/>
                  </a:moveTo>
                  <a:lnTo>
                    <a:pt x="0" y="33314"/>
                  </a:lnTo>
                  <a:lnTo>
                    <a:pt x="0" y="1924"/>
                  </a:lnTo>
                  <a:lnTo>
                    <a:pt x="5695" y="0"/>
                  </a:lnTo>
                  <a:lnTo>
                    <a:pt x="43369" y="96"/>
                  </a:lnTo>
                  <a:lnTo>
                    <a:pt x="107660" y="13233"/>
                  </a:lnTo>
                  <a:lnTo>
                    <a:pt x="103854" y="19511"/>
                  </a:lnTo>
                  <a:lnTo>
                    <a:pt x="58061" y="30521"/>
                  </a:lnTo>
                  <a:close/>
                </a:path>
              </a:pathLst>
            </a:custGeom>
            <a:solidFill>
              <a:srgbClr val="E6EBE2"/>
            </a:solidFill>
            <a:ln w="4403">
              <a:solidFill>
                <a:srgbClr val="B6C3B3"/>
              </a:solidFill>
              <a:prstDash val="solid"/>
            </a:ln>
          </p:spPr>
          <p:txBody>
            <a:bodyPr/>
            <a:p/>
          </p:txBody>
        </p:sp>
        <p:sp>
          <p:nvSpPr>
            <p:cNvPr id="102" name="land-86">
              <a:extLst>
                <a:ext uri="{FF2B5EF4-FFF2-40B4-BE49-F238E27FC236}">
                  <a16:creationId xmlns:a16="http://schemas.microsoft.com/office/drawing/2014/main" id="{08A4CC16-1051-4438-8CF9-180F66A244A2}"/>
                </a:ext>
              </a:extLst>
            </p:cNvPr>
            <p:cNvSpPr>
              <a:spLocks/>
            </p:cNvSpPr>
            <p:nvPr/>
          </p:nvSpPr>
          <p:spPr>
            <a:xfrm>
              <a:off x="7420081" y="839588"/>
              <a:ext cx="4216009" cy="4107513"/>
            </a:xfrm>
            <a:custGeom>
              <a:avLst/>
              <a:gdLst/>
              <a:ahLst/>
              <a:cxnLst/>
              <a:rect l="0" t="0" r="0" b="0"/>
              <a:pathLst>
                <a:path w="5928763" h="5776190">
                  <a:moveTo>
                    <a:pt x="3447691" y="111264"/>
                  </a:moveTo>
                  <a:lnTo>
                    <a:pt x="3447496" y="158226"/>
                  </a:lnTo>
                  <a:lnTo>
                    <a:pt x="3506900" y="122238"/>
                  </a:lnTo>
                  <a:lnTo>
                    <a:pt x="3560040" y="151796"/>
                  </a:lnTo>
                  <a:lnTo>
                    <a:pt x="3546797" y="185855"/>
                  </a:lnTo>
                  <a:lnTo>
                    <a:pt x="3589799" y="216842"/>
                  </a:lnTo>
                  <a:lnTo>
                    <a:pt x="3636205" y="183649"/>
                  </a:lnTo>
                  <a:lnTo>
                    <a:pt x="3668631" y="144017"/>
                  </a:lnTo>
                  <a:lnTo>
                    <a:pt x="3671062" y="93611"/>
                  </a:lnTo>
                  <a:lnTo>
                    <a:pt x="3734231" y="97129"/>
                  </a:lnTo>
                  <a:lnTo>
                    <a:pt x="3799941" y="103887"/>
                  </a:lnTo>
                  <a:lnTo>
                    <a:pt x="3859597" y="126675"/>
                  </a:lnTo>
                  <a:lnTo>
                    <a:pt x="3862272" y="149472"/>
                  </a:lnTo>
                  <a:lnTo>
                    <a:pt x="3829198" y="173959"/>
                  </a:lnTo>
                  <a:lnTo>
                    <a:pt x="3860536" y="198538"/>
                  </a:lnTo>
                  <a:lnTo>
                    <a:pt x="3854882" y="220875"/>
                  </a:lnTo>
                  <a:lnTo>
                    <a:pt x="3767848" y="252986"/>
                  </a:lnTo>
                  <a:lnTo>
                    <a:pt x="3706021" y="260075"/>
                  </a:lnTo>
                  <a:lnTo>
                    <a:pt x="3660060" y="246253"/>
                  </a:lnTo>
                  <a:lnTo>
                    <a:pt x="3646805" y="269308"/>
                  </a:lnTo>
                  <a:lnTo>
                    <a:pt x="3603966" y="308031"/>
                  </a:lnTo>
                  <a:lnTo>
                    <a:pt x="3590995" y="328117"/>
                  </a:lnTo>
                  <a:lnTo>
                    <a:pt x="3539445" y="359189"/>
                  </a:lnTo>
                  <a:lnTo>
                    <a:pt x="3475814" y="362238"/>
                  </a:lnTo>
                  <a:lnTo>
                    <a:pt x="3440719" y="381638"/>
                  </a:lnTo>
                  <a:lnTo>
                    <a:pt x="3437783" y="411487"/>
                  </a:lnTo>
                  <a:lnTo>
                    <a:pt x="3386070" y="417238"/>
                  </a:lnTo>
                  <a:lnTo>
                    <a:pt x="3331683" y="454454"/>
                  </a:lnTo>
                  <a:lnTo>
                    <a:pt x="3283475" y="506166"/>
                  </a:lnTo>
                  <a:lnTo>
                    <a:pt x="3266239" y="542372"/>
                  </a:lnTo>
                  <a:lnTo>
                    <a:pt x="3263784" y="595707"/>
                  </a:lnTo>
                  <a:lnTo>
                    <a:pt x="3329103" y="603368"/>
                  </a:lnTo>
                  <a:lnTo>
                    <a:pt x="3349125" y="646371"/>
                  </a:lnTo>
                  <a:lnTo>
                    <a:pt x="3369909" y="681209"/>
                  </a:lnTo>
                  <a:lnTo>
                    <a:pt x="3432108" y="672133"/>
                  </a:lnTo>
                  <a:lnTo>
                    <a:pt x="3514705" y="692021"/>
                  </a:lnTo>
                  <a:lnTo>
                    <a:pt x="3559142" y="709472"/>
                  </a:lnTo>
                  <a:lnTo>
                    <a:pt x="3590949" y="731175"/>
                  </a:lnTo>
                  <a:lnTo>
                    <a:pt x="3646644" y="743814"/>
                  </a:lnTo>
                  <a:lnTo>
                    <a:pt x="3693737" y="763158"/>
                  </a:lnTo>
                  <a:lnTo>
                    <a:pt x="3767138" y="765812"/>
                  </a:lnTo>
                  <a:lnTo>
                    <a:pt x="3815483" y="770246"/>
                  </a:lnTo>
                  <a:lnTo>
                    <a:pt x="3808221" y="810018"/>
                  </a:lnTo>
                  <a:lnTo>
                    <a:pt x="3822054" y="856180"/>
                  </a:lnTo>
                  <a:lnTo>
                    <a:pt x="3854250" y="907579"/>
                  </a:lnTo>
                  <a:lnTo>
                    <a:pt x="3920382" y="951179"/>
                  </a:lnTo>
                  <a:lnTo>
                    <a:pt x="3954604" y="936236"/>
                  </a:lnTo>
                  <a:lnTo>
                    <a:pt x="3978655" y="889017"/>
                  </a:lnTo>
                  <a:lnTo>
                    <a:pt x="3955440" y="816484"/>
                  </a:lnTo>
                  <a:lnTo>
                    <a:pt x="3924085" y="792317"/>
                  </a:lnTo>
                  <a:lnTo>
                    <a:pt x="3995245" y="770790"/>
                  </a:lnTo>
                  <a:lnTo>
                    <a:pt x="4045612" y="738595"/>
                  </a:lnTo>
                  <a:lnTo>
                    <a:pt x="4070246" y="706596"/>
                  </a:lnTo>
                  <a:lnTo>
                    <a:pt x="4066613" y="675901"/>
                  </a:lnTo>
                  <a:lnTo>
                    <a:pt x="4036428" y="636891"/>
                  </a:lnTo>
                  <a:lnTo>
                    <a:pt x="3982434" y="602331"/>
                  </a:lnTo>
                  <a:lnTo>
                    <a:pt x="4034896" y="554201"/>
                  </a:lnTo>
                  <a:lnTo>
                    <a:pt x="4015514" y="512632"/>
                  </a:lnTo>
                  <a:lnTo>
                    <a:pt x="4000663" y="440907"/>
                  </a:lnTo>
                  <a:lnTo>
                    <a:pt x="4031610" y="430309"/>
                  </a:lnTo>
                  <a:lnTo>
                    <a:pt x="4107813" y="442799"/>
                  </a:lnTo>
                  <a:lnTo>
                    <a:pt x="4153509" y="447272"/>
                  </a:lnTo>
                  <a:lnTo>
                    <a:pt x="4190327" y="435203"/>
                  </a:lnTo>
                  <a:lnTo>
                    <a:pt x="4231727" y="450762"/>
                  </a:lnTo>
                  <a:lnTo>
                    <a:pt x="4286468" y="477388"/>
                  </a:lnTo>
                  <a:lnTo>
                    <a:pt x="4299949" y="495217"/>
                  </a:lnTo>
                  <a:lnTo>
                    <a:pt x="4379218" y="498687"/>
                  </a:lnTo>
                  <a:lnTo>
                    <a:pt x="4377888" y="537273"/>
                  </a:lnTo>
                  <a:lnTo>
                    <a:pt x="4392663" y="595323"/>
                  </a:lnTo>
                  <a:lnTo>
                    <a:pt x="4433264" y="602496"/>
                  </a:lnTo>
                  <a:lnTo>
                    <a:pt x="4465478" y="629545"/>
                  </a:lnTo>
                  <a:lnTo>
                    <a:pt x="4529841" y="604049"/>
                  </a:lnTo>
                  <a:lnTo>
                    <a:pt x="4572362" y="553374"/>
                  </a:lnTo>
                  <a:lnTo>
                    <a:pt x="4601774" y="532021"/>
                  </a:lnTo>
                  <a:lnTo>
                    <a:pt x="4636392" y="573031"/>
                  </a:lnTo>
                  <a:lnTo>
                    <a:pt x="4694280" y="631611"/>
                  </a:lnTo>
                  <a:lnTo>
                    <a:pt x="4743437" y="686701"/>
                  </a:lnTo>
                  <a:lnTo>
                    <a:pt x="4725564" y="715543"/>
                  </a:lnTo>
                  <a:lnTo>
                    <a:pt x="4784685" y="741443"/>
                  </a:lnTo>
                  <a:lnTo>
                    <a:pt x="4824643" y="767684"/>
                  </a:lnTo>
                  <a:lnTo>
                    <a:pt x="4895517" y="779561"/>
                  </a:lnTo>
                  <a:lnTo>
                    <a:pt x="4924050" y="794209"/>
                  </a:lnTo>
                  <a:lnTo>
                    <a:pt x="4941666" y="833072"/>
                  </a:lnTo>
                  <a:lnTo>
                    <a:pt x="4976284" y="839169"/>
                  </a:lnTo>
                  <a:lnTo>
                    <a:pt x="4994144" y="856483"/>
                  </a:lnTo>
                  <a:lnTo>
                    <a:pt x="4997388" y="908091"/>
                  </a:lnTo>
                  <a:lnTo>
                    <a:pt x="4965123" y="925361"/>
                  </a:lnTo>
                  <a:lnTo>
                    <a:pt x="4933220" y="941481"/>
                  </a:lnTo>
                  <a:lnTo>
                    <a:pt x="4859972" y="957802"/>
                  </a:lnTo>
                  <a:lnTo>
                    <a:pt x="4804040" y="995522"/>
                  </a:lnTo>
                  <a:lnTo>
                    <a:pt x="4728898" y="1002981"/>
                  </a:lnTo>
                  <a:lnTo>
                    <a:pt x="4633823" y="993311"/>
                  </a:lnTo>
                  <a:lnTo>
                    <a:pt x="4567113" y="992980"/>
                  </a:lnTo>
                  <a:lnTo>
                    <a:pt x="4521076" y="996167"/>
                  </a:lnTo>
                  <a:lnTo>
                    <a:pt x="4483856" y="1029113"/>
                  </a:lnTo>
                  <a:lnTo>
                    <a:pt x="4427192" y="1049457"/>
                  </a:lnTo>
                  <a:lnTo>
                    <a:pt x="4363072" y="1110243"/>
                  </a:lnTo>
                  <a:lnTo>
                    <a:pt x="4311916" y="1152638"/>
                  </a:lnTo>
                  <a:lnTo>
                    <a:pt x="4349667" y="1145089"/>
                  </a:lnTo>
                  <a:lnTo>
                    <a:pt x="4421017" y="1084744"/>
                  </a:lnTo>
                  <a:lnTo>
                    <a:pt x="4514255" y="1046489"/>
                  </a:lnTo>
                  <a:lnTo>
                    <a:pt x="4580762" y="1041906"/>
                  </a:lnTo>
                  <a:lnTo>
                    <a:pt x="4620109" y="1064428"/>
                  </a:lnTo>
                  <a:lnTo>
                    <a:pt x="4578128" y="1095269"/>
                  </a:lnTo>
                  <a:lnTo>
                    <a:pt x="4592216" y="1144767"/>
                  </a:lnTo>
                  <a:lnTo>
                    <a:pt x="4606725" y="1179420"/>
                  </a:lnTo>
                  <a:lnTo>
                    <a:pt x="4664458" y="1202357"/>
                  </a:lnTo>
                  <a:lnTo>
                    <a:pt x="4737916" y="1195706"/>
                  </a:lnTo>
                  <a:lnTo>
                    <a:pt x="4782480" y="1144089"/>
                  </a:lnTo>
                  <a:lnTo>
                    <a:pt x="4785570" y="1177391"/>
                  </a:lnTo>
                  <a:lnTo>
                    <a:pt x="4814276" y="1194027"/>
                  </a:lnTo>
                  <a:lnTo>
                    <a:pt x="4759292" y="1224114"/>
                  </a:lnTo>
                  <a:lnTo>
                    <a:pt x="4660839" y="1251440"/>
                  </a:lnTo>
                  <a:lnTo>
                    <a:pt x="4616750" y="1270030"/>
                  </a:lnTo>
                  <a:lnTo>
                    <a:pt x="4567077" y="1303105"/>
                  </a:lnTo>
                  <a:lnTo>
                    <a:pt x="4533325" y="1299733"/>
                  </a:lnTo>
                  <a:lnTo>
                    <a:pt x="4531624" y="1260864"/>
                  </a:lnTo>
                  <a:lnTo>
                    <a:pt x="4608798" y="1222884"/>
                  </a:lnTo>
                  <a:lnTo>
                    <a:pt x="4537655" y="1224392"/>
                  </a:lnTo>
                  <a:lnTo>
                    <a:pt x="4488254" y="1229983"/>
                  </a:lnTo>
                  <a:lnTo>
                    <a:pt x="4495934" y="1245038"/>
                  </a:lnTo>
                  <a:lnTo>
                    <a:pt x="4448467" y="1267283"/>
                  </a:lnTo>
                  <a:lnTo>
                    <a:pt x="4402794" y="1283136"/>
                  </a:lnTo>
                  <a:lnTo>
                    <a:pt x="4355850" y="1296731"/>
                  </a:lnTo>
                  <a:lnTo>
                    <a:pt x="4330340" y="1326765"/>
                  </a:lnTo>
                  <a:lnTo>
                    <a:pt x="4324789" y="1334333"/>
                  </a:lnTo>
                  <a:lnTo>
                    <a:pt x="4324339" y="1358683"/>
                  </a:lnTo>
                  <a:lnTo>
                    <a:pt x="4339008" y="1383021"/>
                  </a:lnTo>
                  <a:lnTo>
                    <a:pt x="4357454" y="1384170"/>
                  </a:lnTo>
                  <a:lnTo>
                    <a:pt x="4352787" y="1367408"/>
                  </a:lnTo>
                  <a:lnTo>
                    <a:pt x="4366127" y="1377611"/>
                  </a:lnTo>
                  <a:lnTo>
                    <a:pt x="4362565" y="1390737"/>
                  </a:lnTo>
                  <a:lnTo>
                    <a:pt x="4332562" y="1398177"/>
                  </a:lnTo>
                  <a:lnTo>
                    <a:pt x="4311213" y="1397285"/>
                  </a:lnTo>
                  <a:lnTo>
                    <a:pt x="4278334" y="1405293"/>
                  </a:lnTo>
                  <a:lnTo>
                    <a:pt x="4258999" y="1407592"/>
                  </a:lnTo>
                  <a:lnTo>
                    <a:pt x="4233154" y="1409859"/>
                  </a:lnTo>
                  <a:lnTo>
                    <a:pt x="4196100" y="1423160"/>
                  </a:lnTo>
                  <a:lnTo>
                    <a:pt x="4261389" y="1414507"/>
                  </a:lnTo>
                  <a:lnTo>
                    <a:pt x="4274555" y="1423204"/>
                  </a:lnTo>
                  <a:lnTo>
                    <a:pt x="4212329" y="1436981"/>
                  </a:lnTo>
                  <a:lnTo>
                    <a:pt x="4184011" y="1437074"/>
                  </a:lnTo>
                  <a:lnTo>
                    <a:pt x="4185332" y="1431445"/>
                  </a:lnTo>
                  <a:lnTo>
                    <a:pt x="4171800" y="1444174"/>
                  </a:lnTo>
                  <a:lnTo>
                    <a:pt x="4184882" y="1446279"/>
                  </a:lnTo>
                  <a:lnTo>
                    <a:pt x="4175280" y="1479270"/>
                  </a:lnTo>
                  <a:lnTo>
                    <a:pt x="4142939" y="1514621"/>
                  </a:lnTo>
                  <a:lnTo>
                    <a:pt x="4139631" y="1502820"/>
                  </a:lnTo>
                  <a:lnTo>
                    <a:pt x="4129870" y="1500432"/>
                  </a:lnTo>
                  <a:lnTo>
                    <a:pt x="4115288" y="1488951"/>
                  </a:lnTo>
                  <a:lnTo>
                    <a:pt x="4124536" y="1513676"/>
                  </a:lnTo>
                  <a:lnTo>
                    <a:pt x="4135049" y="1521886"/>
                  </a:lnTo>
                  <a:lnTo>
                    <a:pt x="4136240" y="1539209"/>
                  </a:lnTo>
                  <a:lnTo>
                    <a:pt x="4121986" y="1557055"/>
                  </a:lnTo>
                  <a:lnTo>
                    <a:pt x="4096969" y="1593730"/>
                  </a:lnTo>
                  <a:lnTo>
                    <a:pt x="4092924" y="1591902"/>
                  </a:lnTo>
                  <a:lnTo>
                    <a:pt x="4106668" y="1560657"/>
                  </a:lnTo>
                  <a:lnTo>
                    <a:pt x="4083963" y="1543105"/>
                  </a:lnTo>
                  <a:lnTo>
                    <a:pt x="4078754" y="1504951"/>
                  </a:lnTo>
                  <a:lnTo>
                    <a:pt x="4070186" y="1524807"/>
                  </a:lnTo>
                  <a:lnTo>
                    <a:pt x="4079674" y="1553941"/>
                  </a:lnTo>
                  <a:lnTo>
                    <a:pt x="4051638" y="1547071"/>
                  </a:lnTo>
                  <a:lnTo>
                    <a:pt x="4080906" y="1561529"/>
                  </a:lnTo>
                  <a:lnTo>
                    <a:pt x="4082810" y="1605230"/>
                  </a:lnTo>
                  <a:lnTo>
                    <a:pt x="4095564" y="1608409"/>
                  </a:lnTo>
                  <a:lnTo>
                    <a:pt x="4100179" y="1624296"/>
                  </a:lnTo>
                  <a:lnTo>
                    <a:pt x="4106424" y="1670248"/>
                  </a:lnTo>
                  <a:lnTo>
                    <a:pt x="4078171" y="1704335"/>
                  </a:lnTo>
                  <a:lnTo>
                    <a:pt x="4032188" y="1717947"/>
                  </a:lnTo>
                  <a:lnTo>
                    <a:pt x="4002972" y="1744886"/>
                  </a:lnTo>
                  <a:lnTo>
                    <a:pt x="3980771" y="1747832"/>
                  </a:lnTo>
                  <a:lnTo>
                    <a:pt x="3958267" y="1764698"/>
                  </a:lnTo>
                  <a:lnTo>
                    <a:pt x="3951915" y="1780109"/>
                  </a:lnTo>
                  <a:lnTo>
                    <a:pt x="3903119" y="1809924"/>
                  </a:lnTo>
                  <a:lnTo>
                    <a:pt x="3878062" y="1831782"/>
                  </a:lnTo>
                  <a:lnTo>
                    <a:pt x="3857112" y="1859007"/>
                  </a:lnTo>
                  <a:lnTo>
                    <a:pt x="3850262" y="1891631"/>
                  </a:lnTo>
                  <a:lnTo>
                    <a:pt x="3858116" y="1923529"/>
                  </a:lnTo>
                  <a:lnTo>
                    <a:pt x="3872950" y="1962813"/>
                  </a:lnTo>
                  <a:lnTo>
                    <a:pt x="3892704" y="1995327"/>
                  </a:lnTo>
                  <a:lnTo>
                    <a:pt x="3892951" y="2015167"/>
                  </a:lnTo>
                  <a:lnTo>
                    <a:pt x="3913998" y="2068438"/>
                  </a:lnTo>
                  <a:lnTo>
                    <a:pt x="3912598" y="2099411"/>
                  </a:lnTo>
                  <a:lnTo>
                    <a:pt x="3910667" y="2117266"/>
                  </a:lnTo>
                  <a:lnTo>
                    <a:pt x="3899576" y="2145307"/>
                  </a:lnTo>
                  <a:lnTo>
                    <a:pt x="3886285" y="2151103"/>
                  </a:lnTo>
                  <a:lnTo>
                    <a:pt x="3864410" y="2145536"/>
                  </a:lnTo>
                  <a:lnTo>
                    <a:pt x="3857391" y="2125386"/>
                  </a:lnTo>
                  <a:lnTo>
                    <a:pt x="3840500" y="2114821"/>
                  </a:lnTo>
                  <a:lnTo>
                    <a:pt x="3816943" y="2075327"/>
                  </a:lnTo>
                  <a:lnTo>
                    <a:pt x="3796270" y="2040195"/>
                  </a:lnTo>
                  <a:lnTo>
                    <a:pt x="3789593" y="2022230"/>
                  </a:lnTo>
                  <a:lnTo>
                    <a:pt x="3798717" y="1991745"/>
                  </a:lnTo>
                  <a:lnTo>
                    <a:pt x="3786272" y="1966487"/>
                  </a:lnTo>
                  <a:lnTo>
                    <a:pt x="3751619" y="1928067"/>
                  </a:lnTo>
                  <a:lnTo>
                    <a:pt x="3734267" y="1921023"/>
                  </a:lnTo>
                  <a:lnTo>
                    <a:pt x="3689423" y="1941863"/>
                  </a:lnTo>
                  <a:lnTo>
                    <a:pt x="3681469" y="1939576"/>
                  </a:lnTo>
                  <a:lnTo>
                    <a:pt x="3659900" y="1918147"/>
                  </a:lnTo>
                  <a:lnTo>
                    <a:pt x="3632030" y="1906787"/>
                  </a:lnTo>
                  <a:lnTo>
                    <a:pt x="3581790" y="1912555"/>
                  </a:lnTo>
                  <a:lnTo>
                    <a:pt x="3542340" y="1907485"/>
                  </a:lnTo>
                  <a:lnTo>
                    <a:pt x="3508438" y="1910644"/>
                  </a:lnTo>
                  <a:lnTo>
                    <a:pt x="3489572" y="1917062"/>
                  </a:lnTo>
                  <a:lnTo>
                    <a:pt x="3498072" y="1930015"/>
                  </a:lnTo>
                  <a:lnTo>
                    <a:pt x="3497347" y="1948641"/>
                  </a:lnTo>
                  <a:lnTo>
                    <a:pt x="3506789" y="1957717"/>
                  </a:lnTo>
                  <a:lnTo>
                    <a:pt x="3498316" y="1963749"/>
                  </a:lnTo>
                  <a:lnTo>
                    <a:pt x="3481821" y="1956980"/>
                  </a:lnTo>
                  <a:lnTo>
                    <a:pt x="3465139" y="1965689"/>
                  </a:lnTo>
                  <a:lnTo>
                    <a:pt x="3432886" y="1964256"/>
                  </a:lnTo>
                  <a:lnTo>
                    <a:pt x="3399703" y="1939988"/>
                  </a:lnTo>
                  <a:lnTo>
                    <a:pt x="3360926" y="1945720"/>
                  </a:lnTo>
                  <a:lnTo>
                    <a:pt x="3328598" y="1935086"/>
                  </a:lnTo>
                  <a:lnTo>
                    <a:pt x="3300950" y="1938309"/>
                  </a:lnTo>
                  <a:lnTo>
                    <a:pt x="3263540" y="1949036"/>
                  </a:lnTo>
                  <a:lnTo>
                    <a:pt x="3223078" y="1983084"/>
                  </a:lnTo>
                  <a:lnTo>
                    <a:pt x="3178908" y="2002887"/>
                  </a:lnTo>
                  <a:lnTo>
                    <a:pt x="3154637" y="2024812"/>
                  </a:lnTo>
                  <a:lnTo>
                    <a:pt x="3144414" y="2045476"/>
                  </a:lnTo>
                  <a:lnTo>
                    <a:pt x="3143969" y="2077163"/>
                  </a:lnTo>
                  <a:lnTo>
                    <a:pt x="3146191" y="2099209"/>
                  </a:lnTo>
                  <a:lnTo>
                    <a:pt x="3154629" y="2114849"/>
                  </a:lnTo>
                  <a:lnTo>
                    <a:pt x="3154699" y="2114922"/>
                  </a:lnTo>
                  <a:lnTo>
                    <a:pt x="3154558" y="2115015"/>
                  </a:lnTo>
                  <a:lnTo>
                    <a:pt x="3137388" y="2155142"/>
                  </a:lnTo>
                  <a:lnTo>
                    <a:pt x="3129618" y="2188201"/>
                  </a:lnTo>
                  <a:lnTo>
                    <a:pt x="3126367" y="2249721"/>
                  </a:lnTo>
                  <a:lnTo>
                    <a:pt x="3122084" y="2272150"/>
                  </a:lnTo>
                  <a:lnTo>
                    <a:pt x="3129791" y="2297206"/>
                  </a:lnTo>
                  <a:lnTo>
                    <a:pt x="3143571" y="2319599"/>
                  </a:lnTo>
                  <a:lnTo>
                    <a:pt x="3152448" y="2355217"/>
                  </a:lnTo>
                  <a:lnTo>
                    <a:pt x="3181952" y="2389410"/>
                  </a:lnTo>
                  <a:lnTo>
                    <a:pt x="3192326" y="2415607"/>
                  </a:lnTo>
                  <a:lnTo>
                    <a:pt x="3209716" y="2438219"/>
                  </a:lnTo>
                  <a:lnTo>
                    <a:pt x="3256918" y="2450409"/>
                  </a:lnTo>
                  <a:lnTo>
                    <a:pt x="3275287" y="2469623"/>
                  </a:lnTo>
                  <a:lnTo>
                    <a:pt x="3314276" y="2456783"/>
                  </a:lnTo>
                  <a:lnTo>
                    <a:pt x="3348170" y="2452144"/>
                  </a:lnTo>
                  <a:lnTo>
                    <a:pt x="3381453" y="2443886"/>
                  </a:lnTo>
                  <a:lnTo>
                    <a:pt x="3409430" y="2436015"/>
                  </a:lnTo>
                  <a:lnTo>
                    <a:pt x="3437705" y="2417277"/>
                  </a:lnTo>
                  <a:lnTo>
                    <a:pt x="3448296" y="2390487"/>
                  </a:lnTo>
                  <a:lnTo>
                    <a:pt x="3451942" y="2351909"/>
                  </a:lnTo>
                  <a:lnTo>
                    <a:pt x="3459626" y="2338483"/>
                  </a:lnTo>
                  <a:lnTo>
                    <a:pt x="3489732" y="2326458"/>
                  </a:lnTo>
                  <a:lnTo>
                    <a:pt x="3536735" y="2315804"/>
                  </a:lnTo>
                  <a:lnTo>
                    <a:pt x="3576095" y="2317402"/>
                  </a:lnTo>
                  <a:lnTo>
                    <a:pt x="3603055" y="2313517"/>
                  </a:lnTo>
                  <a:lnTo>
                    <a:pt x="3613717" y="2323254"/>
                  </a:lnTo>
                  <a:lnTo>
                    <a:pt x="3612211" y="2345370"/>
                  </a:lnTo>
                  <a:lnTo>
                    <a:pt x="3588323" y="2372668"/>
                  </a:lnTo>
                  <a:lnTo>
                    <a:pt x="3577758" y="2400636"/>
                  </a:lnTo>
                  <a:lnTo>
                    <a:pt x="3585949" y="2408627"/>
                  </a:lnTo>
                  <a:lnTo>
                    <a:pt x="3579291" y="2428484"/>
                  </a:lnTo>
                  <a:lnTo>
                    <a:pt x="3568146" y="2464314"/>
                  </a:lnTo>
                  <a:lnTo>
                    <a:pt x="3556884" y="2452519"/>
                  </a:lnTo>
                  <a:lnTo>
                    <a:pt x="3547576" y="2453282"/>
                  </a:lnTo>
                  <a:lnTo>
                    <a:pt x="3547739" y="2460026"/>
                  </a:lnTo>
                  <a:lnTo>
                    <a:pt x="3556163" y="2460236"/>
                  </a:lnTo>
                  <a:lnTo>
                    <a:pt x="3555425" y="2472726"/>
                  </a:lnTo>
                  <a:lnTo>
                    <a:pt x="3548230" y="2492585"/>
                  </a:lnTo>
                  <a:lnTo>
                    <a:pt x="3552115" y="2499694"/>
                  </a:lnTo>
                  <a:lnTo>
                    <a:pt x="3547459" y="2516125"/>
                  </a:lnTo>
                  <a:lnTo>
                    <a:pt x="3550265" y="2520517"/>
                  </a:lnTo>
                  <a:lnTo>
                    <a:pt x="3545113" y="2543717"/>
                  </a:lnTo>
                  <a:lnTo>
                    <a:pt x="3536382" y="2555905"/>
                  </a:lnTo>
                  <a:lnTo>
                    <a:pt x="3528354" y="2557365"/>
                  </a:lnTo>
                  <a:lnTo>
                    <a:pt x="3519545" y="2573272"/>
                  </a:lnTo>
                  <a:lnTo>
                    <a:pt x="3534035" y="2581577"/>
                  </a:lnTo>
                  <a:lnTo>
                    <a:pt x="3537872" y="2574732"/>
                  </a:lnTo>
                  <a:lnTo>
                    <a:pt x="3550910" y="2580602"/>
                  </a:lnTo>
                  <a:lnTo>
                    <a:pt x="3555528" y="2582393"/>
                  </a:lnTo>
                  <a:lnTo>
                    <a:pt x="3565276" y="2574320"/>
                  </a:lnTo>
                  <a:lnTo>
                    <a:pt x="3577997" y="2573659"/>
                  </a:lnTo>
                  <a:lnTo>
                    <a:pt x="3582118" y="2577406"/>
                  </a:lnTo>
                  <a:lnTo>
                    <a:pt x="3589017" y="2575128"/>
                  </a:lnTo>
                  <a:lnTo>
                    <a:pt x="3609663" y="2579270"/>
                  </a:lnTo>
                  <a:lnTo>
                    <a:pt x="3630212" y="2578068"/>
                  </a:lnTo>
                  <a:lnTo>
                    <a:pt x="3644512" y="2572989"/>
                  </a:lnTo>
                  <a:lnTo>
                    <a:pt x="3649726" y="2567845"/>
                  </a:lnTo>
                  <a:lnTo>
                    <a:pt x="3663888" y="2570225"/>
                  </a:lnTo>
                  <a:lnTo>
                    <a:pt x="3674526" y="2573348"/>
                  </a:lnTo>
                  <a:lnTo>
                    <a:pt x="3686154" y="2572263"/>
                  </a:lnTo>
                  <a:lnTo>
                    <a:pt x="3694985" y="2568285"/>
                  </a:lnTo>
                  <a:lnTo>
                    <a:pt x="3715286" y="2574651"/>
                  </a:lnTo>
                  <a:lnTo>
                    <a:pt x="3722343" y="2575671"/>
                  </a:lnTo>
                  <a:lnTo>
                    <a:pt x="3735911" y="2584249"/>
                  </a:lnTo>
                  <a:lnTo>
                    <a:pt x="3748757" y="2594547"/>
                  </a:lnTo>
                  <a:lnTo>
                    <a:pt x="3764918" y="2601582"/>
                  </a:lnTo>
                  <a:lnTo>
                    <a:pt x="3776617" y="2614210"/>
                  </a:lnTo>
                  <a:lnTo>
                    <a:pt x="3772794" y="2618619"/>
                  </a:lnTo>
                  <a:lnTo>
                    <a:pt x="3770529" y="2628869"/>
                  </a:lnTo>
                  <a:lnTo>
                    <a:pt x="3775065" y="2645676"/>
                  </a:lnTo>
                  <a:lnTo>
                    <a:pt x="3764826" y="2661319"/>
                  </a:lnTo>
                  <a:lnTo>
                    <a:pt x="3760057" y="2679799"/>
                  </a:lnTo>
                  <a:lnTo>
                    <a:pt x="3758616" y="2700034"/>
                  </a:lnTo>
                  <a:lnTo>
                    <a:pt x="3761003" y="2711871"/>
                  </a:lnTo>
                  <a:lnTo>
                    <a:pt x="3762121" y="2732546"/>
                  </a:lnTo>
                  <a:lnTo>
                    <a:pt x="3755330" y="2737056"/>
                  </a:lnTo>
                  <a:lnTo>
                    <a:pt x="3751174" y="2756702"/>
                  </a:lnTo>
                  <a:lnTo>
                    <a:pt x="3754229" y="2768828"/>
                  </a:lnTo>
                  <a:lnTo>
                    <a:pt x="3745138" y="2780575"/>
                  </a:lnTo>
                  <a:lnTo>
                    <a:pt x="3747205" y="2792984"/>
                  </a:lnTo>
                  <a:lnTo>
                    <a:pt x="3754020" y="2800524"/>
                  </a:lnTo>
                  <a:lnTo>
                    <a:pt x="3765279" y="2825479"/>
                  </a:lnTo>
                  <a:lnTo>
                    <a:pt x="3782463" y="2843959"/>
                  </a:lnTo>
                  <a:lnTo>
                    <a:pt x="3803332" y="2863560"/>
                  </a:lnTo>
                  <a:lnTo>
                    <a:pt x="3819295" y="2880036"/>
                  </a:lnTo>
                  <a:lnTo>
                    <a:pt x="3818384" y="2889763"/>
                  </a:lnTo>
                  <a:lnTo>
                    <a:pt x="3836119" y="2891831"/>
                  </a:lnTo>
                  <a:lnTo>
                    <a:pt x="3840318" y="2888092"/>
                  </a:lnTo>
                  <a:lnTo>
                    <a:pt x="3852538" y="2899380"/>
                  </a:lnTo>
                  <a:lnTo>
                    <a:pt x="3874402" y="2896064"/>
                  </a:lnTo>
                  <a:lnTo>
                    <a:pt x="3893312" y="2884465"/>
                  </a:lnTo>
                  <a:lnTo>
                    <a:pt x="3920306" y="2875207"/>
                  </a:lnTo>
                  <a:lnTo>
                    <a:pt x="3935477" y="2861475"/>
                  </a:lnTo>
                  <a:lnTo>
                    <a:pt x="3960019" y="2864174"/>
                  </a:lnTo>
                  <a:lnTo>
                    <a:pt x="3958364" y="2868684"/>
                  </a:lnTo>
                  <a:lnTo>
                    <a:pt x="3983145" y="2870257"/>
                  </a:lnTo>
                  <a:lnTo>
                    <a:pt x="4002925" y="2878192"/>
                  </a:lnTo>
                  <a:lnTo>
                    <a:pt x="4017435" y="2892005"/>
                  </a:lnTo>
                  <a:lnTo>
                    <a:pt x="4034158" y="2904700"/>
                  </a:lnTo>
                  <a:lnTo>
                    <a:pt x="4057123" y="2906160"/>
                  </a:lnTo>
                  <a:lnTo>
                    <a:pt x="4090474" y="2874094"/>
                  </a:lnTo>
                  <a:lnTo>
                    <a:pt x="4108774" y="2869208"/>
                  </a:lnTo>
                  <a:lnTo>
                    <a:pt x="4109216" y="2854016"/>
                  </a:lnTo>
                  <a:lnTo>
                    <a:pt x="4117406" y="2815212"/>
                  </a:lnTo>
                  <a:lnTo>
                    <a:pt x="4142898" y="2793901"/>
                  </a:lnTo>
                  <a:lnTo>
                    <a:pt x="4170912" y="2793029"/>
                  </a:lnTo>
                  <a:lnTo>
                    <a:pt x="4174445" y="2783459"/>
                  </a:lnTo>
                  <a:lnTo>
                    <a:pt x="4209228" y="2787288"/>
                  </a:lnTo>
                  <a:lnTo>
                    <a:pt x="4244205" y="2764096"/>
                  </a:lnTo>
                  <a:lnTo>
                    <a:pt x="4261522" y="2753829"/>
                  </a:lnTo>
                  <a:lnTo>
                    <a:pt x="4283041" y="2731711"/>
                  </a:lnTo>
                  <a:lnTo>
                    <a:pt x="4298790" y="2734522"/>
                  </a:lnTo>
                  <a:lnTo>
                    <a:pt x="4310454" y="2746600"/>
                  </a:lnTo>
                  <a:lnTo>
                    <a:pt x="4301821" y="2762067"/>
                  </a:lnTo>
                  <a:lnTo>
                    <a:pt x="4300559" y="2772915"/>
                  </a:lnTo>
                  <a:lnTo>
                    <a:pt x="4274465" y="2778280"/>
                  </a:lnTo>
                  <a:lnTo>
                    <a:pt x="4288966" y="2799120"/>
                  </a:lnTo>
                  <a:lnTo>
                    <a:pt x="4288424" y="2823139"/>
                  </a:lnTo>
                  <a:lnTo>
                    <a:pt x="4268817" y="2849809"/>
                  </a:lnTo>
                  <a:lnTo>
                    <a:pt x="4285640" y="2886245"/>
                  </a:lnTo>
                  <a:lnTo>
                    <a:pt x="4304800" y="2883260"/>
                  </a:lnTo>
                  <a:lnTo>
                    <a:pt x="4314784" y="2850067"/>
                  </a:lnTo>
                  <a:lnTo>
                    <a:pt x="4300999" y="2833910"/>
                  </a:lnTo>
                  <a:lnTo>
                    <a:pt x="4298755" y="2799137"/>
                  </a:lnTo>
                  <a:lnTo>
                    <a:pt x="4354111" y="2780474"/>
                  </a:lnTo>
                  <a:lnTo>
                    <a:pt x="4347950" y="2758824"/>
                  </a:lnTo>
                  <a:lnTo>
                    <a:pt x="4363536" y="2744341"/>
                  </a:lnTo>
                  <a:lnTo>
                    <a:pt x="4379489" y="2776606"/>
                  </a:lnTo>
                  <a:lnTo>
                    <a:pt x="4410661" y="2777352"/>
                  </a:lnTo>
                  <a:lnTo>
                    <a:pt x="4439541" y="2802968"/>
                  </a:lnTo>
                  <a:lnTo>
                    <a:pt x="4441283" y="2818169"/>
                  </a:lnTo>
                  <a:lnTo>
                    <a:pt x="4481194" y="2818572"/>
                  </a:lnTo>
                  <a:lnTo>
                    <a:pt x="4528686" y="2813852"/>
                  </a:lnTo>
                  <a:lnTo>
                    <a:pt x="4554136" y="2834415"/>
                  </a:lnTo>
                  <a:lnTo>
                    <a:pt x="4588133" y="2840094"/>
                  </a:lnTo>
                  <a:lnTo>
                    <a:pt x="4613068" y="2825745"/>
                  </a:lnTo>
                  <a:lnTo>
                    <a:pt x="4613576" y="2814183"/>
                  </a:lnTo>
                  <a:lnTo>
                    <a:pt x="4668636" y="2811416"/>
                  </a:lnTo>
                  <a:lnTo>
                    <a:pt x="4721904" y="2810775"/>
                  </a:lnTo>
                  <a:lnTo>
                    <a:pt x="4684157" y="2824341"/>
                  </a:lnTo>
                  <a:lnTo>
                    <a:pt x="4699342" y="2846016"/>
                  </a:lnTo>
                  <a:lnTo>
                    <a:pt x="4734894" y="2849470"/>
                  </a:lnTo>
                  <a:lnTo>
                    <a:pt x="4768595" y="2872056"/>
                  </a:lnTo>
                  <a:lnTo>
                    <a:pt x="4775676" y="2908840"/>
                  </a:lnTo>
                  <a:lnTo>
                    <a:pt x="4798839" y="2907803"/>
                  </a:lnTo>
                  <a:lnTo>
                    <a:pt x="4816254" y="2918631"/>
                  </a:lnTo>
                  <a:lnTo>
                    <a:pt x="4845441" y="2935521"/>
                  </a:lnTo>
                  <a:lnTo>
                    <a:pt x="4872945" y="2965446"/>
                  </a:lnTo>
                  <a:lnTo>
                    <a:pt x="4874190" y="2989089"/>
                  </a:lnTo>
                  <a:lnTo>
                    <a:pt x="4890938" y="2990182"/>
                  </a:lnTo>
                  <a:lnTo>
                    <a:pt x="4914761" y="3012584"/>
                  </a:lnTo>
                  <a:lnTo>
                    <a:pt x="4932309" y="3028575"/>
                  </a:lnTo>
                  <a:lnTo>
                    <a:pt x="4985565" y="3037769"/>
                  </a:lnTo>
                  <a:lnTo>
                    <a:pt x="4990343" y="3029491"/>
                  </a:lnTo>
                  <a:lnTo>
                    <a:pt x="5026285" y="3026176"/>
                  </a:lnTo>
                  <a:lnTo>
                    <a:pt x="5074077" y="3038520"/>
                  </a:lnTo>
                  <a:lnTo>
                    <a:pt x="5089172" y="3043574"/>
                  </a:lnTo>
                  <a:lnTo>
                    <a:pt x="5121902" y="3054438"/>
                  </a:lnTo>
                  <a:lnTo>
                    <a:pt x="5168965" y="3093198"/>
                  </a:lnTo>
                  <a:lnTo>
                    <a:pt x="5176322" y="3112009"/>
                  </a:lnTo>
                  <a:lnTo>
                    <a:pt x="5191466" y="3109842"/>
                  </a:lnTo>
                  <a:lnTo>
                    <a:pt x="5202462" y="3135237"/>
                  </a:lnTo>
                  <a:lnTo>
                    <a:pt x="5227395" y="3215559"/>
                  </a:lnTo>
                  <a:lnTo>
                    <a:pt x="5251166" y="3223136"/>
                  </a:lnTo>
                  <a:lnTo>
                    <a:pt x="5252363" y="3254832"/>
                  </a:lnTo>
                  <a:lnTo>
                    <a:pt x="5218928" y="3292639"/>
                  </a:lnTo>
                  <a:lnTo>
                    <a:pt x="5232756" y="3306482"/>
                  </a:lnTo>
                  <a:lnTo>
                    <a:pt x="5311330" y="3313695"/>
                  </a:lnTo>
                  <a:lnTo>
                    <a:pt x="5312933" y="3359728"/>
                  </a:lnTo>
                  <a:lnTo>
                    <a:pt x="5346694" y="3329593"/>
                  </a:lnTo>
                  <a:lnTo>
                    <a:pt x="5402626" y="3346097"/>
                  </a:lnTo>
                  <a:lnTo>
                    <a:pt x="5476452" y="3374144"/>
                  </a:lnTo>
                  <a:lnTo>
                    <a:pt x="5498148" y="3401055"/>
                  </a:lnTo>
                  <a:lnTo>
                    <a:pt x="5490858" y="3426478"/>
                  </a:lnTo>
                  <a:lnTo>
                    <a:pt x="5542549" y="3412326"/>
                  </a:lnTo>
                  <a:lnTo>
                    <a:pt x="5629054" y="3436614"/>
                  </a:lnTo>
                  <a:lnTo>
                    <a:pt x="5695463" y="3434823"/>
                  </a:lnTo>
                  <a:lnTo>
                    <a:pt x="5761172" y="3472831"/>
                  </a:lnTo>
                  <a:lnTo>
                    <a:pt x="5817939" y="3524280"/>
                  </a:lnTo>
                  <a:lnTo>
                    <a:pt x="5852180" y="3537527"/>
                  </a:lnTo>
                  <a:lnTo>
                    <a:pt x="5890189" y="3539368"/>
                  </a:lnTo>
                  <a:lnTo>
                    <a:pt x="5906296" y="3553854"/>
                  </a:lnTo>
                  <a:lnTo>
                    <a:pt x="5921384" y="3612330"/>
                  </a:lnTo>
                  <a:lnTo>
                    <a:pt x="5928763" y="3640113"/>
                  </a:lnTo>
                  <a:lnTo>
                    <a:pt x="5911063" y="3716035"/>
                  </a:lnTo>
                  <a:lnTo>
                    <a:pt x="5888450" y="3746019"/>
                  </a:lnTo>
                  <a:lnTo>
                    <a:pt x="5825793" y="3809918"/>
                  </a:lnTo>
                  <a:lnTo>
                    <a:pt x="5797475" y="3861835"/>
                  </a:lnTo>
                  <a:lnTo>
                    <a:pt x="5764569" y="3901646"/>
                  </a:lnTo>
                  <a:lnTo>
                    <a:pt x="5753456" y="3902546"/>
                  </a:lnTo>
                  <a:lnTo>
                    <a:pt x="5741041" y="3936333"/>
                  </a:lnTo>
                  <a:lnTo>
                    <a:pt x="5744191" y="4022376"/>
                  </a:lnTo>
                  <a:lnTo>
                    <a:pt x="5731804" y="4093163"/>
                  </a:lnTo>
                  <a:lnTo>
                    <a:pt x="5727080" y="4123440"/>
                  </a:lnTo>
                  <a:lnTo>
                    <a:pt x="5713024" y="4141559"/>
                  </a:lnTo>
                  <a:lnTo>
                    <a:pt x="5705143" y="4202956"/>
                  </a:lnTo>
                  <a:lnTo>
                    <a:pt x="5660074" y="4262903"/>
                  </a:lnTo>
                  <a:lnTo>
                    <a:pt x="5652519" y="4310335"/>
                  </a:lnTo>
                  <a:lnTo>
                    <a:pt x="5616541" y="4330233"/>
                  </a:lnTo>
                  <a:lnTo>
                    <a:pt x="5606131" y="4357764"/>
                  </a:lnTo>
                  <a:lnTo>
                    <a:pt x="5557840" y="4357655"/>
                  </a:lnTo>
                  <a:lnTo>
                    <a:pt x="5487915" y="4375303"/>
                  </a:lnTo>
                  <a:lnTo>
                    <a:pt x="5456609" y="4395731"/>
                  </a:lnTo>
                  <a:lnTo>
                    <a:pt x="5406825" y="4409149"/>
                  </a:lnTo>
                  <a:lnTo>
                    <a:pt x="5354513" y="4445714"/>
                  </a:lnTo>
                  <a:lnTo>
                    <a:pt x="5316886" y="4491262"/>
                  </a:lnTo>
                  <a:lnTo>
                    <a:pt x="5310419" y="4525554"/>
                  </a:lnTo>
                  <a:lnTo>
                    <a:pt x="5317811" y="4550912"/>
                  </a:lnTo>
                  <a:lnTo>
                    <a:pt x="5309507" y="4597305"/>
                  </a:lnTo>
                  <a:lnTo>
                    <a:pt x="5299420" y="4619715"/>
                  </a:lnTo>
                  <a:lnTo>
                    <a:pt x="5268356" y="4644992"/>
                  </a:lnTo>
                  <a:lnTo>
                    <a:pt x="5219033" y="4725813"/>
                  </a:lnTo>
                  <a:lnTo>
                    <a:pt x="5179950" y="4762246"/>
                  </a:lnTo>
                  <a:lnTo>
                    <a:pt x="5149727" y="4783720"/>
                  </a:lnTo>
                  <a:lnTo>
                    <a:pt x="5129458" y="4827407"/>
                  </a:lnTo>
                  <a:lnTo>
                    <a:pt x="5100054" y="4853663"/>
                  </a:lnTo>
                  <a:lnTo>
                    <a:pt x="5080816" y="4882525"/>
                  </a:lnTo>
                  <a:lnTo>
                    <a:pt x="5030615" y="4908049"/>
                  </a:lnTo>
                  <a:lnTo>
                    <a:pt x="4997801" y="4898869"/>
                  </a:lnTo>
                  <a:lnTo>
                    <a:pt x="4973744" y="4903789"/>
                  </a:lnTo>
                  <a:lnTo>
                    <a:pt x="4932651" y="4884073"/>
                  </a:lnTo>
                  <a:lnTo>
                    <a:pt x="4902509" y="4885544"/>
                  </a:lnTo>
                  <a:lnTo>
                    <a:pt x="4875430" y="4860146"/>
                  </a:lnTo>
                  <a:lnTo>
                    <a:pt x="4872389" y="4884120"/>
                  </a:lnTo>
                  <a:lnTo>
                    <a:pt x="4928825" y="4923454"/>
                  </a:lnTo>
                  <a:lnTo>
                    <a:pt x="4922756" y="4955114"/>
                  </a:lnTo>
                  <a:lnTo>
                    <a:pt x="4950529" y="4975122"/>
                  </a:lnTo>
                  <a:lnTo>
                    <a:pt x="4948275" y="4997551"/>
                  </a:lnTo>
                  <a:lnTo>
                    <a:pt x="4905564" y="5056445"/>
                  </a:lnTo>
                  <a:lnTo>
                    <a:pt x="4839657" y="5081075"/>
                  </a:lnTo>
                  <a:lnTo>
                    <a:pt x="4750507" y="5090636"/>
                  </a:lnTo>
                  <a:lnTo>
                    <a:pt x="4701681" y="5086011"/>
                  </a:lnTo>
                  <a:lnTo>
                    <a:pt x="4711019" y="5113399"/>
                  </a:lnTo>
                  <a:lnTo>
                    <a:pt x="4701920" y="5147775"/>
                  </a:lnTo>
                  <a:lnTo>
                    <a:pt x="4710121" y="5170933"/>
                  </a:lnTo>
                  <a:lnTo>
                    <a:pt x="4683460" y="5187089"/>
                  </a:lnTo>
                  <a:lnTo>
                    <a:pt x="4637911" y="5193432"/>
                  </a:lnTo>
                  <a:lnTo>
                    <a:pt x="4595168" y="5176707"/>
                  </a:lnTo>
                  <a:lnTo>
                    <a:pt x="4578016" y="5188723"/>
                  </a:lnTo>
                  <a:lnTo>
                    <a:pt x="4584213" y="5234359"/>
                  </a:lnTo>
                  <a:lnTo>
                    <a:pt x="4614224" y="5248183"/>
                  </a:lnTo>
                  <a:lnTo>
                    <a:pt x="4638560" y="5233703"/>
                  </a:lnTo>
                  <a:lnTo>
                    <a:pt x="4651802" y="5257556"/>
                  </a:lnTo>
                  <a:lnTo>
                    <a:pt x="4610874" y="5271809"/>
                  </a:lnTo>
                  <a:lnTo>
                    <a:pt x="4575178" y="5300366"/>
                  </a:lnTo>
                  <a:lnTo>
                    <a:pt x="4568646" y="5346565"/>
                  </a:lnTo>
                  <a:lnTo>
                    <a:pt x="4558138" y="5371158"/>
                  </a:lnTo>
                  <a:lnTo>
                    <a:pt x="4516146" y="5371287"/>
                  </a:lnTo>
                  <a:lnTo>
                    <a:pt x="4481300" y="5394813"/>
                  </a:lnTo>
                  <a:lnTo>
                    <a:pt x="4468557" y="5429248"/>
                  </a:lnTo>
                  <a:lnTo>
                    <a:pt x="4512275" y="5462872"/>
                  </a:lnTo>
                  <a:lnTo>
                    <a:pt x="4554769" y="5472158"/>
                  </a:lnTo>
                  <a:lnTo>
                    <a:pt x="4539473" y="5513362"/>
                  </a:lnTo>
                  <a:lnTo>
                    <a:pt x="4486973" y="5539265"/>
                  </a:lnTo>
                  <a:lnTo>
                    <a:pt x="4458085" y="5593104"/>
                  </a:lnTo>
                  <a:lnTo>
                    <a:pt x="4417520" y="5611223"/>
                  </a:lnTo>
                  <a:lnTo>
                    <a:pt x="4399305" y="5632727"/>
                  </a:lnTo>
                  <a:lnTo>
                    <a:pt x="4413662" y="5680426"/>
                  </a:lnTo>
                  <a:lnTo>
                    <a:pt x="4443242" y="5707009"/>
                  </a:lnTo>
                  <a:lnTo>
                    <a:pt x="4424509" y="5704686"/>
                  </a:lnTo>
                  <a:lnTo>
                    <a:pt x="4384956" y="5704341"/>
                  </a:lnTo>
                  <a:lnTo>
                    <a:pt x="4363558" y="5715640"/>
                  </a:lnTo>
                  <a:lnTo>
                    <a:pt x="4323446" y="5732231"/>
                  </a:lnTo>
                  <a:lnTo>
                    <a:pt x="4316281" y="5775125"/>
                  </a:lnTo>
                  <a:lnTo>
                    <a:pt x="4297456" y="5776190"/>
                  </a:lnTo>
                  <a:lnTo>
                    <a:pt x="4247311" y="5761264"/>
                  </a:lnTo>
                  <a:lnTo>
                    <a:pt x="4196426" y="5729287"/>
                  </a:lnTo>
                  <a:lnTo>
                    <a:pt x="4141126" y="5703001"/>
                  </a:lnTo>
                  <a:lnTo>
                    <a:pt x="4127203" y="5673912"/>
                  </a:lnTo>
                  <a:lnTo>
                    <a:pt x="4139800" y="5647006"/>
                  </a:lnTo>
                  <a:lnTo>
                    <a:pt x="4117439" y="5616462"/>
                  </a:lnTo>
                  <a:lnTo>
                    <a:pt x="4111736" y="5538180"/>
                  </a:lnTo>
                  <a:lnTo>
                    <a:pt x="4130641" y="5494010"/>
                  </a:lnTo>
                  <a:lnTo>
                    <a:pt x="4177584" y="5458525"/>
                  </a:lnTo>
                  <a:lnTo>
                    <a:pt x="4110117" y="5445132"/>
                  </a:lnTo>
                  <a:lnTo>
                    <a:pt x="4152448" y="5404553"/>
                  </a:lnTo>
                  <a:lnTo>
                    <a:pt x="4167578" y="5328276"/>
                  </a:lnTo>
                  <a:lnTo>
                    <a:pt x="4216979" y="5344435"/>
                  </a:lnTo>
                  <a:lnTo>
                    <a:pt x="4240208" y="5249299"/>
                  </a:lnTo>
                  <a:lnTo>
                    <a:pt x="4210373" y="5237092"/>
                  </a:lnTo>
                  <a:lnTo>
                    <a:pt x="4196488" y="5294418"/>
                  </a:lnTo>
                  <a:lnTo>
                    <a:pt x="4168457" y="5287952"/>
                  </a:lnTo>
                  <a:lnTo>
                    <a:pt x="4182416" y="5222272"/>
                  </a:lnTo>
                  <a:lnTo>
                    <a:pt x="4197562" y="5137193"/>
                  </a:lnTo>
                  <a:lnTo>
                    <a:pt x="4217989" y="5105800"/>
                  </a:lnTo>
                  <a:lnTo>
                    <a:pt x="4205191" y="5060991"/>
                  </a:lnTo>
                  <a:lnTo>
                    <a:pt x="4201523" y="5009254"/>
                  </a:lnTo>
                  <a:lnTo>
                    <a:pt x="4220251" y="5007760"/>
                  </a:lnTo>
                  <a:lnTo>
                    <a:pt x="4247525" y="4933593"/>
                  </a:lnTo>
                  <a:lnTo>
                    <a:pt x="4278258" y="4860129"/>
                  </a:lnTo>
                  <a:lnTo>
                    <a:pt x="4297070" y="4791692"/>
                  </a:lnTo>
                  <a:lnTo>
                    <a:pt x="4286837" y="4722884"/>
                  </a:lnTo>
                  <a:lnTo>
                    <a:pt x="4300114" y="4685002"/>
                  </a:lnTo>
                  <a:lnTo>
                    <a:pt x="4294789" y="4628317"/>
                  </a:lnTo>
                  <a:lnTo>
                    <a:pt x="4320779" y="4572243"/>
                  </a:lnTo>
                  <a:lnTo>
                    <a:pt x="4328785" y="4483403"/>
                  </a:lnTo>
                  <a:lnTo>
                    <a:pt x="4343053" y="4388020"/>
                  </a:lnTo>
                  <a:lnTo>
                    <a:pt x="4356957" y="4285352"/>
                  </a:lnTo>
                  <a:lnTo>
                    <a:pt x="4353702" y="4210179"/>
                  </a:lnTo>
                  <a:lnTo>
                    <a:pt x="4344453" y="4145494"/>
                  </a:lnTo>
                  <a:lnTo>
                    <a:pt x="4299884" y="4119129"/>
                  </a:lnTo>
                  <a:lnTo>
                    <a:pt x="4296026" y="4100282"/>
                  </a:lnTo>
                  <a:lnTo>
                    <a:pt x="4207902" y="4054173"/>
                  </a:lnTo>
                  <a:lnTo>
                    <a:pt x="4128191" y="4003946"/>
                  </a:lnTo>
                  <a:lnTo>
                    <a:pt x="4093901" y="3975639"/>
                  </a:lnTo>
                  <a:lnTo>
                    <a:pt x="4075490" y="3937701"/>
                  </a:lnTo>
                  <a:lnTo>
                    <a:pt x="4082788" y="3924465"/>
                  </a:lnTo>
                  <a:lnTo>
                    <a:pt x="4045140" y="3864201"/>
                  </a:lnTo>
                  <a:lnTo>
                    <a:pt x="4001317" y="3779469"/>
                  </a:lnTo>
                  <a:lnTo>
                    <a:pt x="3959319" y="3688030"/>
                  </a:lnTo>
                  <a:lnTo>
                    <a:pt x="3941139" y="3667098"/>
                  </a:lnTo>
                  <a:lnTo>
                    <a:pt x="3927156" y="3633274"/>
                  </a:lnTo>
                  <a:lnTo>
                    <a:pt x="3892620" y="3603305"/>
                  </a:lnTo>
                  <a:lnTo>
                    <a:pt x="3860948" y="3584710"/>
                  </a:lnTo>
                  <a:lnTo>
                    <a:pt x="3875338" y="3564214"/>
                  </a:lnTo>
                  <a:lnTo>
                    <a:pt x="3853797" y="3520412"/>
                  </a:lnTo>
                  <a:lnTo>
                    <a:pt x="3867633" y="3488250"/>
                  </a:lnTo>
                  <a:lnTo>
                    <a:pt x="3903065" y="3459245"/>
                  </a:lnTo>
                  <a:lnTo>
                    <a:pt x="3926725" y="3424925"/>
                  </a:lnTo>
                  <a:lnTo>
                    <a:pt x="3917110" y="3404867"/>
                  </a:lnTo>
                  <a:lnTo>
                    <a:pt x="3900121" y="3426198"/>
                  </a:lnTo>
                  <a:lnTo>
                    <a:pt x="3873496" y="3406070"/>
                  </a:lnTo>
                  <a:lnTo>
                    <a:pt x="3882516" y="3393126"/>
                  </a:lnTo>
                  <a:lnTo>
                    <a:pt x="3875012" y="3351442"/>
                  </a:lnTo>
                  <a:lnTo>
                    <a:pt x="3890582" y="3344522"/>
                  </a:lnTo>
                  <a:lnTo>
                    <a:pt x="3898762" y="3315912"/>
                  </a:lnTo>
                  <a:lnTo>
                    <a:pt x="3915585" y="3286329"/>
                  </a:lnTo>
                  <a:lnTo>
                    <a:pt x="3912484" y="3267591"/>
                  </a:lnTo>
                  <a:lnTo>
                    <a:pt x="3936834" y="3257744"/>
                  </a:lnTo>
                  <a:lnTo>
                    <a:pt x="3967393" y="3239466"/>
                  </a:lnTo>
                  <a:lnTo>
                    <a:pt x="3961365" y="3225213"/>
                  </a:lnTo>
                  <a:lnTo>
                    <a:pt x="3977949" y="3221759"/>
                  </a:lnTo>
                  <a:lnTo>
                    <a:pt x="3975980" y="3198761"/>
                  </a:lnTo>
                  <a:lnTo>
                    <a:pt x="3986403" y="3182117"/>
                  </a:lnTo>
                  <a:lnTo>
                    <a:pt x="4008455" y="3179039"/>
                  </a:lnTo>
                  <a:lnTo>
                    <a:pt x="4027174" y="3150182"/>
                  </a:lnTo>
                  <a:lnTo>
                    <a:pt x="4044185" y="3126091"/>
                  </a:lnTo>
                  <a:lnTo>
                    <a:pt x="4027801" y="3115159"/>
                  </a:lnTo>
                  <a:lnTo>
                    <a:pt x="4036187" y="3088506"/>
                  </a:lnTo>
                  <a:lnTo>
                    <a:pt x="4026160" y="3046494"/>
                  </a:lnTo>
                  <a:lnTo>
                    <a:pt x="4035690" y="3034444"/>
                  </a:lnTo>
                  <a:lnTo>
                    <a:pt x="4028672" y="2995601"/>
                  </a:lnTo>
                  <a:lnTo>
                    <a:pt x="4010674" y="2971133"/>
                  </a:lnTo>
                  <a:lnTo>
                    <a:pt x="3995858" y="2957886"/>
                  </a:lnTo>
                  <a:lnTo>
                    <a:pt x="3986338" y="2933097"/>
                  </a:lnTo>
                  <a:lnTo>
                    <a:pt x="3997320" y="2920828"/>
                  </a:lnTo>
                  <a:lnTo>
                    <a:pt x="3986053" y="2917686"/>
                  </a:lnTo>
                  <a:lnTo>
                    <a:pt x="3977760" y="2902513"/>
                  </a:lnTo>
                  <a:lnTo>
                    <a:pt x="3955613" y="2889746"/>
                  </a:lnTo>
                  <a:lnTo>
                    <a:pt x="3936166" y="2892667"/>
                  </a:lnTo>
                  <a:lnTo>
                    <a:pt x="3927156" y="2908649"/>
                  </a:lnTo>
                  <a:lnTo>
                    <a:pt x="3909199" y="2920183"/>
                  </a:lnTo>
                  <a:lnTo>
                    <a:pt x="3899503" y="2921781"/>
                  </a:lnTo>
                  <a:lnTo>
                    <a:pt x="3895143" y="2931345"/>
                  </a:lnTo>
                  <a:lnTo>
                    <a:pt x="3916351" y="2956272"/>
                  </a:lnTo>
                  <a:lnTo>
                    <a:pt x="3904215" y="2962141"/>
                  </a:lnTo>
                  <a:lnTo>
                    <a:pt x="3897793" y="2968947"/>
                  </a:lnTo>
                  <a:lnTo>
                    <a:pt x="3877109" y="2971287"/>
                  </a:lnTo>
                  <a:lnTo>
                    <a:pt x="3869415" y="2943855"/>
                  </a:lnTo>
                  <a:lnTo>
                    <a:pt x="3863629" y="2951661"/>
                  </a:lnTo>
                  <a:lnTo>
                    <a:pt x="3848970" y="2948959"/>
                  </a:lnTo>
                  <a:lnTo>
                    <a:pt x="3839998" y="2930490"/>
                  </a:lnTo>
                  <a:lnTo>
                    <a:pt x="3821769" y="2927432"/>
                  </a:lnTo>
                  <a:lnTo>
                    <a:pt x="3810236" y="2922059"/>
                  </a:lnTo>
                  <a:lnTo>
                    <a:pt x="3791161" y="2922132"/>
                  </a:lnTo>
                  <a:lnTo>
                    <a:pt x="3789788" y="2932096"/>
                  </a:lnTo>
                  <a:lnTo>
                    <a:pt x="3784685" y="2925153"/>
                  </a:lnTo>
                  <a:lnTo>
                    <a:pt x="3760561" y="2914967"/>
                  </a:lnTo>
                  <a:lnTo>
                    <a:pt x="3751535" y="2905322"/>
                  </a:lnTo>
                  <a:lnTo>
                    <a:pt x="3756654" y="2897350"/>
                  </a:lnTo>
                  <a:lnTo>
                    <a:pt x="3755040" y="2887201"/>
                  </a:lnTo>
                  <a:lnTo>
                    <a:pt x="3742715" y="2876207"/>
                  </a:lnTo>
                  <a:lnTo>
                    <a:pt x="3725224" y="2867179"/>
                  </a:lnTo>
                  <a:lnTo>
                    <a:pt x="3709926" y="2861301"/>
                  </a:lnTo>
                  <a:lnTo>
                    <a:pt x="3707001" y="2847864"/>
                  </a:lnTo>
                  <a:lnTo>
                    <a:pt x="3695346" y="2839659"/>
                  </a:lnTo>
                  <a:lnTo>
                    <a:pt x="3698200" y="2853007"/>
                  </a:lnTo>
                  <a:lnTo>
                    <a:pt x="3689331" y="2863981"/>
                  </a:lnTo>
                  <a:lnTo>
                    <a:pt x="3679171" y="2851244"/>
                  </a:lnTo>
                  <a:lnTo>
                    <a:pt x="3664892" y="2846706"/>
                  </a:lnTo>
                  <a:lnTo>
                    <a:pt x="3658815" y="2837448"/>
                  </a:lnTo>
                  <a:lnTo>
                    <a:pt x="3659070" y="2823469"/>
                  </a:lnTo>
                  <a:lnTo>
                    <a:pt x="3664955" y="2809003"/>
                  </a:lnTo>
                  <a:lnTo>
                    <a:pt x="3652402" y="2802525"/>
                  </a:lnTo>
                  <a:lnTo>
                    <a:pt x="3662589" y="2793654"/>
                  </a:lnTo>
                  <a:lnTo>
                    <a:pt x="3647214" y="2779188"/>
                  </a:lnTo>
                  <a:lnTo>
                    <a:pt x="3626435" y="2760663"/>
                  </a:lnTo>
                  <a:lnTo>
                    <a:pt x="3616655" y="2745176"/>
                  </a:lnTo>
                  <a:lnTo>
                    <a:pt x="3597916" y="2730747"/>
                  </a:lnTo>
                  <a:lnTo>
                    <a:pt x="3575645" y="2710007"/>
                  </a:lnTo>
                  <a:lnTo>
                    <a:pt x="3580580" y="2702899"/>
                  </a:lnTo>
                  <a:lnTo>
                    <a:pt x="3587919" y="2709814"/>
                  </a:lnTo>
                  <a:lnTo>
                    <a:pt x="3591288" y="2706574"/>
                  </a:lnTo>
                  <a:lnTo>
                    <a:pt x="3583608" y="2692208"/>
                  </a:lnTo>
                  <a:lnTo>
                    <a:pt x="3570108" y="2688211"/>
                  </a:lnTo>
                  <a:lnTo>
                    <a:pt x="3565173" y="2699022"/>
                  </a:lnTo>
                  <a:lnTo>
                    <a:pt x="3539429" y="2698344"/>
                  </a:lnTo>
                  <a:lnTo>
                    <a:pt x="3523430" y="2693943"/>
                  </a:lnTo>
                  <a:lnTo>
                    <a:pt x="3505050" y="2684806"/>
                  </a:lnTo>
                  <a:lnTo>
                    <a:pt x="3480350" y="2681958"/>
                  </a:lnTo>
                  <a:lnTo>
                    <a:pt x="3467762" y="2672094"/>
                  </a:lnTo>
                  <a:lnTo>
                    <a:pt x="3444959" y="2664083"/>
                  </a:lnTo>
                  <a:lnTo>
                    <a:pt x="3417229" y="2663256"/>
                  </a:lnTo>
                  <a:lnTo>
                    <a:pt x="3396904" y="2654147"/>
                  </a:lnTo>
                  <a:lnTo>
                    <a:pt x="3372988" y="2635198"/>
                  </a:lnTo>
                  <a:lnTo>
                    <a:pt x="3322686" y="2585756"/>
                  </a:lnTo>
                  <a:lnTo>
                    <a:pt x="3299759" y="2570839"/>
                  </a:lnTo>
                  <a:lnTo>
                    <a:pt x="3263469" y="2558862"/>
                  </a:lnTo>
                  <a:lnTo>
                    <a:pt x="3238640" y="2562206"/>
                  </a:lnTo>
                  <a:lnTo>
                    <a:pt x="3202937" y="2579483"/>
                  </a:lnTo>
                  <a:lnTo>
                    <a:pt x="3180535" y="2584010"/>
                  </a:lnTo>
                  <a:lnTo>
                    <a:pt x="3149143" y="2571904"/>
                  </a:lnTo>
                  <a:lnTo>
                    <a:pt x="3115833" y="2563170"/>
                  </a:lnTo>
                  <a:lnTo>
                    <a:pt x="3074286" y="2542100"/>
                  </a:lnTo>
                  <a:lnTo>
                    <a:pt x="3040962" y="2535662"/>
                  </a:lnTo>
                  <a:lnTo>
                    <a:pt x="2990638" y="2514317"/>
                  </a:lnTo>
                  <a:lnTo>
                    <a:pt x="2953453" y="2492364"/>
                  </a:lnTo>
                  <a:lnTo>
                    <a:pt x="2942232" y="2480104"/>
                  </a:lnTo>
                  <a:lnTo>
                    <a:pt x="2917360" y="2477357"/>
                  </a:lnTo>
                  <a:lnTo>
                    <a:pt x="2871892" y="2462826"/>
                  </a:lnTo>
                  <a:lnTo>
                    <a:pt x="2853379" y="2441865"/>
                  </a:lnTo>
                  <a:lnTo>
                    <a:pt x="2805616" y="2415800"/>
                  </a:lnTo>
                  <a:lnTo>
                    <a:pt x="2783348" y="2386840"/>
                  </a:lnTo>
                  <a:lnTo>
                    <a:pt x="2772751" y="2364466"/>
                  </a:lnTo>
                  <a:lnTo>
                    <a:pt x="2787583" y="2359984"/>
                  </a:lnTo>
                  <a:lnTo>
                    <a:pt x="2783008" y="2346886"/>
                  </a:lnTo>
                  <a:lnTo>
                    <a:pt x="2793228" y="2334973"/>
                  </a:lnTo>
                  <a:lnTo>
                    <a:pt x="2793445" y="2319092"/>
                  </a:lnTo>
                  <a:lnTo>
                    <a:pt x="2778453" y="2298465"/>
                  </a:lnTo>
                  <a:lnTo>
                    <a:pt x="2774438" y="2280195"/>
                  </a:lnTo>
                  <a:lnTo>
                    <a:pt x="2759535" y="2257022"/>
                  </a:lnTo>
                  <a:lnTo>
                    <a:pt x="2720365" y="2211365"/>
                  </a:lnTo>
                  <a:lnTo>
                    <a:pt x="2675671" y="2175498"/>
                  </a:lnTo>
                  <a:lnTo>
                    <a:pt x="2654045" y="2146868"/>
                  </a:lnTo>
                  <a:lnTo>
                    <a:pt x="2615895" y="2128113"/>
                  </a:lnTo>
                  <a:lnTo>
                    <a:pt x="2607721" y="2116898"/>
                  </a:lnTo>
                  <a:lnTo>
                    <a:pt x="2614498" y="2088518"/>
                  </a:lnTo>
                  <a:lnTo>
                    <a:pt x="2591839" y="2077808"/>
                  </a:lnTo>
                  <a:lnTo>
                    <a:pt x="2565598" y="2055488"/>
                  </a:lnTo>
                  <a:lnTo>
                    <a:pt x="2554519" y="2023441"/>
                  </a:lnTo>
                  <a:lnTo>
                    <a:pt x="2530609" y="2019705"/>
                  </a:lnTo>
                  <a:lnTo>
                    <a:pt x="2504797" y="1995512"/>
                  </a:lnTo>
                  <a:lnTo>
                    <a:pt x="2483967" y="1973173"/>
                  </a:lnTo>
                  <a:lnTo>
                    <a:pt x="2482030" y="1958827"/>
                  </a:lnTo>
                  <a:lnTo>
                    <a:pt x="2458128" y="1924190"/>
                  </a:lnTo>
                  <a:lnTo>
                    <a:pt x="2442379" y="1889021"/>
                  </a:lnTo>
                  <a:lnTo>
                    <a:pt x="2443052" y="1871379"/>
                  </a:lnTo>
                  <a:lnTo>
                    <a:pt x="2410905" y="1853166"/>
                  </a:lnTo>
                  <a:lnTo>
                    <a:pt x="2396068" y="1855167"/>
                  </a:lnTo>
                  <a:lnTo>
                    <a:pt x="2370698" y="1842511"/>
                  </a:lnTo>
                  <a:lnTo>
                    <a:pt x="2363574" y="1861165"/>
                  </a:lnTo>
                  <a:lnTo>
                    <a:pt x="2370932" y="1883200"/>
                  </a:lnTo>
                  <a:lnTo>
                    <a:pt x="2375256" y="1917687"/>
                  </a:lnTo>
                  <a:lnTo>
                    <a:pt x="2390498" y="1936619"/>
                  </a:lnTo>
                  <a:lnTo>
                    <a:pt x="2423488" y="1968250"/>
                  </a:lnTo>
                  <a:lnTo>
                    <a:pt x="2430813" y="1979062"/>
                  </a:lnTo>
                  <a:lnTo>
                    <a:pt x="2437574" y="1982341"/>
                  </a:lnTo>
                  <a:lnTo>
                    <a:pt x="2443437" y="1998119"/>
                  </a:lnTo>
                  <a:lnTo>
                    <a:pt x="2451337" y="1997477"/>
                  </a:lnTo>
                  <a:lnTo>
                    <a:pt x="2460258" y="2027099"/>
                  </a:lnTo>
                  <a:lnTo>
                    <a:pt x="2473758" y="2038782"/>
                  </a:lnTo>
                  <a:lnTo>
                    <a:pt x="2483226" y="2055039"/>
                  </a:lnTo>
                  <a:lnTo>
                    <a:pt x="2511156" y="2078413"/>
                  </a:lnTo>
                  <a:lnTo>
                    <a:pt x="2525910" y="2121131"/>
                  </a:lnTo>
                  <a:lnTo>
                    <a:pt x="2539103" y="2141248"/>
                  </a:lnTo>
                  <a:lnTo>
                    <a:pt x="2551450" y="2162766"/>
                  </a:lnTo>
                  <a:lnTo>
                    <a:pt x="2553895" y="2186987"/>
                  </a:lnTo>
                  <a:lnTo>
                    <a:pt x="2575330" y="2188503"/>
                  </a:lnTo>
                  <a:lnTo>
                    <a:pt x="2593155" y="2209372"/>
                  </a:lnTo>
                  <a:lnTo>
                    <a:pt x="2609275" y="2229881"/>
                  </a:lnTo>
                  <a:lnTo>
                    <a:pt x="2608195" y="2238099"/>
                  </a:lnTo>
                  <a:lnTo>
                    <a:pt x="2589492" y="2254973"/>
                  </a:lnTo>
                  <a:lnTo>
                    <a:pt x="2581619" y="2254752"/>
                  </a:lnTo>
                  <a:lnTo>
                    <a:pt x="2569899" y="2226831"/>
                  </a:lnTo>
                  <a:lnTo>
                    <a:pt x="2540804" y="2200654"/>
                  </a:lnTo>
                  <a:lnTo>
                    <a:pt x="2508753" y="2178455"/>
                  </a:lnTo>
                  <a:lnTo>
                    <a:pt x="2486020" y="2166789"/>
                  </a:lnTo>
                  <a:lnTo>
                    <a:pt x="2487488" y="2133184"/>
                  </a:lnTo>
                  <a:lnTo>
                    <a:pt x="2480744" y="2108302"/>
                  </a:lnTo>
                  <a:lnTo>
                    <a:pt x="2459560" y="2094065"/>
                  </a:lnTo>
                  <a:lnTo>
                    <a:pt x="2429009" y="2073573"/>
                  </a:lnTo>
                  <a:lnTo>
                    <a:pt x="2423138" y="2079487"/>
                  </a:lnTo>
                  <a:lnTo>
                    <a:pt x="2411928" y="2067521"/>
                  </a:lnTo>
                  <a:lnTo>
                    <a:pt x="2384510" y="2056407"/>
                  </a:lnTo>
                  <a:lnTo>
                    <a:pt x="2358311" y="2029742"/>
                  </a:lnTo>
                  <a:lnTo>
                    <a:pt x="2361553" y="2026272"/>
                  </a:lnTo>
                  <a:lnTo>
                    <a:pt x="2379860" y="2028879"/>
                  </a:lnTo>
                  <a:lnTo>
                    <a:pt x="2396353" y="2011722"/>
                  </a:lnTo>
                  <a:lnTo>
                    <a:pt x="2398010" y="1991011"/>
                  </a:lnTo>
                  <a:lnTo>
                    <a:pt x="2363791" y="1958249"/>
                  </a:lnTo>
                  <a:lnTo>
                    <a:pt x="2337705" y="1945538"/>
                  </a:lnTo>
                  <a:lnTo>
                    <a:pt x="2321316" y="1916852"/>
                  </a:lnTo>
                  <a:lnTo>
                    <a:pt x="2304829" y="1886745"/>
                  </a:lnTo>
                  <a:lnTo>
                    <a:pt x="2284240" y="1850043"/>
                  </a:lnTo>
                  <a:lnTo>
                    <a:pt x="2266185" y="1808730"/>
                  </a:lnTo>
                  <a:lnTo>
                    <a:pt x="2258708" y="1785260"/>
                  </a:lnTo>
                  <a:lnTo>
                    <a:pt x="2229904" y="1758856"/>
                  </a:lnTo>
                  <a:lnTo>
                    <a:pt x="2209160" y="1753362"/>
                  </a:lnTo>
                  <a:lnTo>
                    <a:pt x="2204301" y="1740183"/>
                  </a:lnTo>
                  <a:lnTo>
                    <a:pt x="2179360" y="1737876"/>
                  </a:lnTo>
                  <a:lnTo>
                    <a:pt x="2163457" y="1725459"/>
                  </a:lnTo>
                  <a:lnTo>
                    <a:pt x="2122162" y="1720932"/>
                  </a:lnTo>
                  <a:lnTo>
                    <a:pt x="2110827" y="1713518"/>
                  </a:lnTo>
                  <a:lnTo>
                    <a:pt x="2105425" y="1688333"/>
                  </a:lnTo>
                  <a:lnTo>
                    <a:pt x="2062297" y="1642190"/>
                  </a:lnTo>
                  <a:lnTo>
                    <a:pt x="2025275" y="1578347"/>
                  </a:lnTo>
                  <a:lnTo>
                    <a:pt x="2026851" y="1567710"/>
                  </a:lnTo>
                  <a:lnTo>
                    <a:pt x="2007241" y="1552545"/>
                  </a:lnTo>
                  <a:lnTo>
                    <a:pt x="1972840" y="1514060"/>
                  </a:lnTo>
                  <a:lnTo>
                    <a:pt x="1966706" y="1476615"/>
                  </a:lnTo>
                  <a:lnTo>
                    <a:pt x="1943019" y="1451531"/>
                  </a:lnTo>
                  <a:lnTo>
                    <a:pt x="1952764" y="1413470"/>
                  </a:lnTo>
                  <a:lnTo>
                    <a:pt x="1951212" y="1374085"/>
                  </a:lnTo>
                  <a:lnTo>
                    <a:pt x="1937029" y="1338888"/>
                  </a:lnTo>
                  <a:lnTo>
                    <a:pt x="1954395" y="1295610"/>
                  </a:lnTo>
                  <a:lnTo>
                    <a:pt x="1965203" y="1212257"/>
                  </a:lnTo>
                  <a:lnTo>
                    <a:pt x="1957173" y="1150665"/>
                  </a:lnTo>
                  <a:lnTo>
                    <a:pt x="1943122" y="1111372"/>
                  </a:lnTo>
                  <a:lnTo>
                    <a:pt x="1930165" y="1090053"/>
                  </a:lnTo>
                  <a:lnTo>
                    <a:pt x="1935547" y="1081089"/>
                  </a:lnTo>
                  <a:lnTo>
                    <a:pt x="1999827" y="1096685"/>
                  </a:lnTo>
                  <a:lnTo>
                    <a:pt x="2023506" y="1140036"/>
                  </a:lnTo>
                  <a:lnTo>
                    <a:pt x="2034496" y="1127913"/>
                  </a:lnTo>
                  <a:lnTo>
                    <a:pt x="2027386" y="1090255"/>
                  </a:lnTo>
                  <a:lnTo>
                    <a:pt x="2012271" y="1052597"/>
                  </a:lnTo>
                  <a:lnTo>
                    <a:pt x="2006308" y="1052479"/>
                  </a:lnTo>
                  <a:lnTo>
                    <a:pt x="1920251" y="1007382"/>
                  </a:lnTo>
                  <a:lnTo>
                    <a:pt x="1888498" y="987542"/>
                  </a:lnTo>
                  <a:lnTo>
                    <a:pt x="1807998" y="968529"/>
                  </a:lnTo>
                  <a:lnTo>
                    <a:pt x="1783236" y="927878"/>
                  </a:lnTo>
                  <a:lnTo>
                    <a:pt x="1789566" y="899688"/>
                  </a:lnTo>
                  <a:lnTo>
                    <a:pt x="1732695" y="880135"/>
                  </a:lnTo>
                  <a:lnTo>
                    <a:pt x="1724895" y="843110"/>
                  </a:lnTo>
                  <a:lnTo>
                    <a:pt x="1671124" y="809768"/>
                  </a:lnTo>
                  <a:lnTo>
                    <a:pt x="1670182" y="786120"/>
                  </a:lnTo>
                  <a:lnTo>
                    <a:pt x="1645746" y="768842"/>
                  </a:lnTo>
                  <a:lnTo>
                    <a:pt x="1606567" y="754191"/>
                  </a:lnTo>
                  <a:lnTo>
                    <a:pt x="1593998" y="714136"/>
                  </a:lnTo>
                  <a:lnTo>
                    <a:pt x="1536694" y="676994"/>
                  </a:lnTo>
                  <a:lnTo>
                    <a:pt x="1512743" y="633632"/>
                  </a:lnTo>
                  <a:lnTo>
                    <a:pt x="1470062" y="630666"/>
                  </a:lnTo>
                  <a:lnTo>
                    <a:pt x="1399396" y="629536"/>
                  </a:lnTo>
                  <a:lnTo>
                    <a:pt x="1347301" y="616318"/>
                  </a:lnTo>
                  <a:lnTo>
                    <a:pt x="1255387" y="568658"/>
                  </a:lnTo>
                  <a:lnTo>
                    <a:pt x="1212831" y="559952"/>
                  </a:lnTo>
                  <a:lnTo>
                    <a:pt x="1135078" y="543558"/>
                  </a:lnTo>
                  <a:lnTo>
                    <a:pt x="1073542" y="547468"/>
                  </a:lnTo>
                  <a:lnTo>
                    <a:pt x="986123" y="526373"/>
                  </a:lnTo>
                  <a:lnTo>
                    <a:pt x="933276" y="506808"/>
                  </a:lnTo>
                  <a:lnTo>
                    <a:pt x="883940" y="516526"/>
                  </a:lnTo>
                  <a:lnTo>
                    <a:pt x="893110" y="548435"/>
                  </a:lnTo>
                  <a:lnTo>
                    <a:pt x="868538" y="551372"/>
                  </a:lnTo>
                  <a:lnTo>
                    <a:pt x="817111" y="560953"/>
                  </a:lnTo>
                  <a:lnTo>
                    <a:pt x="777975" y="576448"/>
                  </a:lnTo>
                  <a:lnTo>
                    <a:pt x="728721" y="586202"/>
                  </a:lnTo>
                  <a:lnTo>
                    <a:pt x="722361" y="559142"/>
                  </a:lnTo>
                  <a:lnTo>
                    <a:pt x="742348" y="514101"/>
                  </a:lnTo>
                  <a:lnTo>
                    <a:pt x="789590" y="499966"/>
                  </a:lnTo>
                  <a:lnTo>
                    <a:pt x="777403" y="488448"/>
                  </a:lnTo>
                  <a:lnTo>
                    <a:pt x="720742" y="514037"/>
                  </a:lnTo>
                  <a:lnTo>
                    <a:pt x="690405" y="544603"/>
                  </a:lnTo>
                  <a:lnTo>
                    <a:pt x="626361" y="577275"/>
                  </a:lnTo>
                  <a:lnTo>
                    <a:pt x="658882" y="599575"/>
                  </a:lnTo>
                  <a:lnTo>
                    <a:pt x="616877" y="632558"/>
                  </a:lnTo>
                  <a:lnTo>
                    <a:pt x="569092" y="651781"/>
                  </a:lnTo>
                  <a:lnTo>
                    <a:pt x="524607" y="665787"/>
                  </a:lnTo>
                  <a:lnTo>
                    <a:pt x="513592" y="686123"/>
                  </a:lnTo>
                  <a:lnTo>
                    <a:pt x="444202" y="709839"/>
                  </a:lnTo>
                  <a:lnTo>
                    <a:pt x="430151" y="731405"/>
                  </a:lnTo>
                  <a:lnTo>
                    <a:pt x="378145" y="751032"/>
                  </a:lnTo>
                  <a:lnTo>
                    <a:pt x="347635" y="747497"/>
                  </a:lnTo>
                  <a:lnTo>
                    <a:pt x="306147" y="760310"/>
                  </a:lnTo>
                  <a:lnTo>
                    <a:pt x="261041" y="775942"/>
                  </a:lnTo>
                  <a:lnTo>
                    <a:pt x="224076" y="791300"/>
                  </a:lnTo>
                  <a:lnTo>
                    <a:pt x="147791" y="804415"/>
                  </a:lnTo>
                  <a:lnTo>
                    <a:pt x="140830" y="796698"/>
                  </a:lnTo>
                  <a:lnTo>
                    <a:pt x="189452" y="775244"/>
                  </a:lnTo>
                  <a:lnTo>
                    <a:pt x="232939" y="761072"/>
                  </a:lnTo>
                  <a:lnTo>
                    <a:pt x="280314" y="735952"/>
                  </a:lnTo>
                  <a:lnTo>
                    <a:pt x="335459" y="730761"/>
                  </a:lnTo>
                  <a:lnTo>
                    <a:pt x="357377" y="711933"/>
                  </a:lnTo>
                  <a:lnTo>
                    <a:pt x="418990" y="684441"/>
                  </a:lnTo>
                  <a:lnTo>
                    <a:pt x="428914" y="675247"/>
                  </a:lnTo>
                  <a:lnTo>
                    <a:pt x="461733" y="659027"/>
                  </a:lnTo>
                  <a:lnTo>
                    <a:pt x="469400" y="624208"/>
                  </a:lnTo>
                  <a:lnTo>
                    <a:pt x="492008" y="597086"/>
                  </a:lnTo>
                  <a:lnTo>
                    <a:pt x="440756" y="611000"/>
                  </a:lnTo>
                  <a:lnTo>
                    <a:pt x="426420" y="603101"/>
                  </a:lnTo>
                  <a:lnTo>
                    <a:pt x="402356" y="619799"/>
                  </a:lnTo>
                  <a:lnTo>
                    <a:pt x="373330" y="596506"/>
                  </a:lnTo>
                  <a:lnTo>
                    <a:pt x="361346" y="612985"/>
                  </a:lnTo>
                  <a:lnTo>
                    <a:pt x="344718" y="590096"/>
                  </a:lnTo>
                  <a:lnTo>
                    <a:pt x="300282" y="608475"/>
                  </a:lnTo>
                  <a:lnTo>
                    <a:pt x="272997" y="608438"/>
                  </a:lnTo>
                  <a:lnTo>
                    <a:pt x="269166" y="581104"/>
                  </a:lnTo>
                  <a:lnTo>
                    <a:pt x="277208" y="564258"/>
                  </a:lnTo>
                  <a:lnTo>
                    <a:pt x="248585" y="547911"/>
                  </a:lnTo>
                  <a:lnTo>
                    <a:pt x="190787" y="556709"/>
                  </a:lnTo>
                  <a:lnTo>
                    <a:pt x="153277" y="535152"/>
                  </a:lnTo>
                  <a:lnTo>
                    <a:pt x="122864" y="524130"/>
                  </a:lnTo>
                  <a:lnTo>
                    <a:pt x="122669" y="498118"/>
                  </a:lnTo>
                  <a:lnTo>
                    <a:pt x="88414" y="478545"/>
                  </a:lnTo>
                  <a:lnTo>
                    <a:pt x="105618" y="452141"/>
                  </a:lnTo>
                  <a:lnTo>
                    <a:pt x="141853" y="426513"/>
                  </a:lnTo>
                  <a:lnTo>
                    <a:pt x="157707" y="402938"/>
                  </a:lnTo>
                  <a:lnTo>
                    <a:pt x="193677" y="399585"/>
                  </a:lnTo>
                  <a:lnTo>
                    <a:pt x="224174" y="406932"/>
                  </a:lnTo>
                  <a:lnTo>
                    <a:pt x="260031" y="384780"/>
                  </a:lnTo>
                  <a:lnTo>
                    <a:pt x="292305" y="388729"/>
                  </a:lnTo>
                  <a:lnTo>
                    <a:pt x="326172" y="374482"/>
                  </a:lnTo>
                  <a:lnTo>
                    <a:pt x="317914" y="353504"/>
                  </a:lnTo>
                  <a:lnTo>
                    <a:pt x="293035" y="345238"/>
                  </a:lnTo>
                  <a:lnTo>
                    <a:pt x="325941" y="327520"/>
                  </a:lnTo>
                  <a:lnTo>
                    <a:pt x="298640" y="328045"/>
                  </a:lnTo>
                  <a:lnTo>
                    <a:pt x="251475" y="338046"/>
                  </a:lnTo>
                  <a:lnTo>
                    <a:pt x="237926" y="348187"/>
                  </a:lnTo>
                  <a:lnTo>
                    <a:pt x="202874" y="338065"/>
                  </a:lnTo>
                  <a:lnTo>
                    <a:pt x="140002" y="343209"/>
                  </a:lnTo>
                  <a:lnTo>
                    <a:pt x="74906" y="332204"/>
                  </a:lnTo>
                  <a:lnTo>
                    <a:pt x="56252" y="313733"/>
                  </a:lnTo>
                  <a:lnTo>
                    <a:pt x="0" y="287042"/>
                  </a:lnTo>
                  <a:lnTo>
                    <a:pt x="62464" y="267836"/>
                  </a:lnTo>
                  <a:lnTo>
                    <a:pt x="161611" y="245407"/>
                  </a:lnTo>
                  <a:lnTo>
                    <a:pt x="198156" y="245407"/>
                  </a:lnTo>
                  <a:lnTo>
                    <a:pt x="192111" y="268344"/>
                  </a:lnTo>
                  <a:lnTo>
                    <a:pt x="285933" y="266561"/>
                  </a:lnTo>
                  <a:lnTo>
                    <a:pt x="249844" y="238116"/>
                  </a:lnTo>
                  <a:lnTo>
                    <a:pt x="195169" y="220617"/>
                  </a:lnTo>
                  <a:lnTo>
                    <a:pt x="163557" y="197666"/>
                  </a:lnTo>
                  <a:lnTo>
                    <a:pt x="120916" y="178074"/>
                  </a:lnTo>
                  <a:lnTo>
                    <a:pt x="59833" y="163563"/>
                  </a:lnTo>
                  <a:lnTo>
                    <a:pt x="84711" y="139488"/>
                  </a:lnTo>
                  <a:lnTo>
                    <a:pt x="163562" y="137999"/>
                  </a:lnTo>
                  <a:lnTo>
                    <a:pt x="219667" y="117078"/>
                  </a:lnTo>
                  <a:lnTo>
                    <a:pt x="230251" y="94713"/>
                  </a:lnTo>
                  <a:lnTo>
                    <a:pt x="275661" y="72889"/>
                  </a:lnTo>
                  <a:lnTo>
                    <a:pt x="318958" y="67636"/>
                  </a:lnTo>
                  <a:lnTo>
                    <a:pt x="403219" y="47244"/>
                  </a:lnTo>
                  <a:lnTo>
                    <a:pt x="444090" y="50322"/>
                  </a:lnTo>
                  <a:lnTo>
                    <a:pt x="512494" y="25835"/>
                  </a:lnTo>
                  <a:lnTo>
                    <a:pt x="579746" y="35480"/>
                  </a:lnTo>
                  <a:lnTo>
                    <a:pt x="611912" y="56211"/>
                  </a:lnTo>
                  <a:lnTo>
                    <a:pt x="631655" y="47320"/>
                  </a:lnTo>
                  <a:lnTo>
                    <a:pt x="706775" y="50075"/>
                  </a:lnTo>
                  <a:lnTo>
                    <a:pt x="704108" y="60637"/>
                  </a:lnTo>
                  <a:lnTo>
                    <a:pt x="772118" y="68443"/>
                  </a:lnTo>
                  <a:lnTo>
                    <a:pt x="817458" y="63852"/>
                  </a:lnTo>
                  <a:lnTo>
                    <a:pt x="911100" y="78363"/>
                  </a:lnTo>
                  <a:lnTo>
                    <a:pt x="996590" y="82680"/>
                  </a:lnTo>
                  <a:lnTo>
                    <a:pt x="1030817" y="88650"/>
                  </a:lnTo>
                  <a:lnTo>
                    <a:pt x="1089961" y="81191"/>
                  </a:lnTo>
                  <a:lnTo>
                    <a:pt x="1157387" y="94996"/>
                  </a:lnTo>
                  <a:lnTo>
                    <a:pt x="1205687" y="101418"/>
                  </a:lnTo>
                  <a:lnTo>
                    <a:pt x="1288605" y="112484"/>
                  </a:lnTo>
                  <a:lnTo>
                    <a:pt x="1358574" y="134574"/>
                  </a:lnTo>
                  <a:lnTo>
                    <a:pt x="1404926" y="138801"/>
                  </a:lnTo>
                  <a:lnTo>
                    <a:pt x="1443949" y="119648"/>
                  </a:lnTo>
                  <a:lnTo>
                    <a:pt x="1497781" y="105303"/>
                  </a:lnTo>
                  <a:lnTo>
                    <a:pt x="1563808" y="110914"/>
                  </a:lnTo>
                  <a:lnTo>
                    <a:pt x="1630390" y="90744"/>
                  </a:lnTo>
                  <a:lnTo>
                    <a:pt x="1703137" y="79299"/>
                  </a:lnTo>
                  <a:lnTo>
                    <a:pt x="1733672" y="98332"/>
                  </a:lnTo>
                  <a:lnTo>
                    <a:pt x="1766841" y="87605"/>
                  </a:lnTo>
                  <a:lnTo>
                    <a:pt x="1776768" y="65974"/>
                  </a:lnTo>
                  <a:lnTo>
                    <a:pt x="1807488" y="70868"/>
                  </a:lnTo>
                  <a:lnTo>
                    <a:pt x="1882644" y="112044"/>
                  </a:lnTo>
                  <a:lnTo>
                    <a:pt x="1941828" y="80917"/>
                  </a:lnTo>
                  <a:lnTo>
                    <a:pt x="1947837" y="115763"/>
                  </a:lnTo>
                  <a:lnTo>
                    <a:pt x="2002445" y="108232"/>
                  </a:lnTo>
                  <a:lnTo>
                    <a:pt x="2019233" y="94831"/>
                  </a:lnTo>
                  <a:lnTo>
                    <a:pt x="2073067" y="97477"/>
                  </a:lnTo>
                  <a:lnTo>
                    <a:pt x="2141053" y="116764"/>
                  </a:lnTo>
                  <a:lnTo>
                    <a:pt x="2245075" y="133601"/>
                  </a:lnTo>
                  <a:lnTo>
                    <a:pt x="2306248" y="141399"/>
                  </a:lnTo>
                  <a:lnTo>
                    <a:pt x="2349786" y="138442"/>
                  </a:lnTo>
                  <a:lnTo>
                    <a:pt x="2409749" y="161724"/>
                  </a:lnTo>
                  <a:lnTo>
                    <a:pt x="2347212" y="184512"/>
                  </a:lnTo>
                  <a:lnTo>
                    <a:pt x="2427560" y="194359"/>
                  </a:lnTo>
                  <a:lnTo>
                    <a:pt x="2547543" y="188949"/>
                  </a:lnTo>
                  <a:lnTo>
                    <a:pt x="2585406" y="180913"/>
                  </a:lnTo>
                  <a:lnTo>
                    <a:pt x="2632786" y="208447"/>
                  </a:lnTo>
                  <a:lnTo>
                    <a:pt x="2681138" y="185210"/>
                  </a:lnTo>
                  <a:lnTo>
                    <a:pt x="2635773" y="165729"/>
                  </a:lnTo>
                  <a:lnTo>
                    <a:pt x="2664480" y="150013"/>
                  </a:lnTo>
                  <a:lnTo>
                    <a:pt x="2718583" y="147894"/>
                  </a:lnTo>
                  <a:lnTo>
                    <a:pt x="2754142" y="143300"/>
                  </a:lnTo>
                  <a:lnTo>
                    <a:pt x="2790024" y="154268"/>
                  </a:lnTo>
                  <a:lnTo>
                    <a:pt x="2834691" y="179212"/>
                  </a:lnTo>
                  <a:lnTo>
                    <a:pt x="2884334" y="175548"/>
                  </a:lnTo>
                  <a:lnTo>
                    <a:pt x="2962868" y="196259"/>
                  </a:lnTo>
                  <a:lnTo>
                    <a:pt x="3031868" y="188966"/>
                  </a:lnTo>
                  <a:lnTo>
                    <a:pt x="3096711" y="190070"/>
                  </a:lnTo>
                  <a:lnTo>
                    <a:pt x="3091581" y="161494"/>
                  </a:lnTo>
                  <a:lnTo>
                    <a:pt x="3131102" y="153469"/>
                  </a:lnTo>
                  <a:lnTo>
                    <a:pt x="3199982" y="169045"/>
                  </a:lnTo>
                  <a:lnTo>
                    <a:pt x="3199719" y="212489"/>
                  </a:lnTo>
                  <a:lnTo>
                    <a:pt x="3228008" y="175879"/>
                  </a:lnTo>
                  <a:lnTo>
                    <a:pt x="3263762" y="177109"/>
                  </a:lnTo>
                  <a:lnTo>
                    <a:pt x="3283863" y="130947"/>
                  </a:lnTo>
                  <a:lnTo>
                    <a:pt x="3236244" y="102628"/>
                  </a:lnTo>
                  <a:lnTo>
                    <a:pt x="3184361" y="84067"/>
                  </a:lnTo>
                  <a:lnTo>
                    <a:pt x="3187926" y="33322"/>
                  </a:lnTo>
                  <a:lnTo>
                    <a:pt x="3240479" y="0"/>
                  </a:lnTo>
                  <a:lnTo>
                    <a:pt x="3299105" y="7366"/>
                  </a:lnTo>
                  <a:lnTo>
                    <a:pt x="3344078" y="27635"/>
                  </a:lnTo>
                  <a:lnTo>
                    <a:pt x="3404465" y="79411"/>
                  </a:lnTo>
                  <a:lnTo>
                    <a:pt x="3365023" y="101970"/>
                  </a:lnTo>
                  <a:lnTo>
                    <a:pt x="3447691" y="111264"/>
                  </a:lnTo>
                  <a:close/>
                </a:path>
              </a:pathLst>
            </a:custGeom>
            <a:solidFill>
              <a:srgbClr val="E6EBE2"/>
            </a:solidFill>
            <a:ln w="4403">
              <a:solidFill>
                <a:srgbClr val="B6C3B3"/>
              </a:solidFill>
              <a:prstDash val="solid"/>
            </a:ln>
          </p:spPr>
          <p:txBody>
            <a:bodyPr/>
            <a:p/>
          </p:txBody>
        </p:sp>
        <p:sp>
          <p:nvSpPr>
            <p:cNvPr id="103" name="land-87">
              <a:extLst>
                <a:ext uri="{FF2B5EF4-FFF2-40B4-BE49-F238E27FC236}">
                  <a16:creationId xmlns:a16="http://schemas.microsoft.com/office/drawing/2014/main" id="{20742076-E20B-4C4F-B683-BEE5E6EC5FF9}"/>
                </a:ext>
              </a:extLst>
            </p:cNvPr>
            <p:cNvSpPr>
              <a:spLocks/>
            </p:cNvSpPr>
            <p:nvPr/>
          </p:nvSpPr>
          <p:spPr>
            <a:xfrm>
              <a:off x="8959702" y="794060"/>
              <a:ext cx="582274" cy="156070"/>
            </a:xfrm>
            <a:custGeom>
              <a:avLst/>
              <a:gdLst/>
              <a:ahLst/>
              <a:cxnLst/>
              <a:rect l="0" t="0" r="0" b="0"/>
              <a:pathLst>
                <a:path w="818823" h="219474">
                  <a:moveTo>
                    <a:pt x="232688" y="8870"/>
                  </a:moveTo>
                  <a:lnTo>
                    <a:pt x="210500" y="30393"/>
                  </a:lnTo>
                  <a:lnTo>
                    <a:pt x="309415" y="16495"/>
                  </a:lnTo>
                  <a:lnTo>
                    <a:pt x="371229" y="39687"/>
                  </a:lnTo>
                  <a:lnTo>
                    <a:pt x="421459" y="16232"/>
                  </a:lnTo>
                  <a:lnTo>
                    <a:pt x="462078" y="31285"/>
                  </a:lnTo>
                  <a:lnTo>
                    <a:pt x="498446" y="76404"/>
                  </a:lnTo>
                  <a:lnTo>
                    <a:pt x="520776" y="57364"/>
                  </a:lnTo>
                  <a:lnTo>
                    <a:pt x="489199" y="10336"/>
                  </a:lnTo>
                  <a:lnTo>
                    <a:pt x="528312" y="3610"/>
                  </a:lnTo>
                  <a:lnTo>
                    <a:pt x="572489" y="10957"/>
                  </a:lnTo>
                  <a:lnTo>
                    <a:pt x="622279" y="29483"/>
                  </a:lnTo>
                  <a:lnTo>
                    <a:pt x="650177" y="74222"/>
                  </a:lnTo>
                  <a:lnTo>
                    <a:pt x="663960" y="106618"/>
                  </a:lnTo>
                  <a:lnTo>
                    <a:pt x="738609" y="129360"/>
                  </a:lnTo>
                  <a:lnTo>
                    <a:pt x="818823" y="151103"/>
                  </a:lnTo>
                  <a:lnTo>
                    <a:pt x="814000" y="171302"/>
                  </a:lnTo>
                  <a:lnTo>
                    <a:pt x="741018" y="174997"/>
                  </a:lnTo>
                  <a:lnTo>
                    <a:pt x="769372" y="192650"/>
                  </a:lnTo>
                  <a:lnTo>
                    <a:pt x="754394" y="209495"/>
                  </a:lnTo>
                  <a:lnTo>
                    <a:pt x="673950" y="202277"/>
                  </a:lnTo>
                  <a:lnTo>
                    <a:pt x="597496" y="189877"/>
                  </a:lnTo>
                  <a:lnTo>
                    <a:pt x="545822" y="192669"/>
                  </a:lnTo>
                  <a:lnTo>
                    <a:pt x="462368" y="208247"/>
                  </a:lnTo>
                  <a:lnTo>
                    <a:pt x="330494" y="216309"/>
                  </a:lnTo>
                  <a:lnTo>
                    <a:pt x="270647" y="219474"/>
                  </a:lnTo>
                  <a:lnTo>
                    <a:pt x="246565" y="197802"/>
                  </a:lnTo>
                  <a:lnTo>
                    <a:pt x="185889" y="185285"/>
                  </a:lnTo>
                  <a:lnTo>
                    <a:pt x="146421" y="190419"/>
                  </a:lnTo>
                  <a:lnTo>
                    <a:pt x="91655" y="154057"/>
                  </a:lnTo>
                  <a:lnTo>
                    <a:pt x="121227" y="149163"/>
                  </a:lnTo>
                  <a:lnTo>
                    <a:pt x="189840" y="141322"/>
                  </a:lnTo>
                  <a:lnTo>
                    <a:pt x="252502" y="143385"/>
                  </a:lnTo>
                  <a:lnTo>
                    <a:pt x="310523" y="135394"/>
                  </a:lnTo>
                  <a:lnTo>
                    <a:pt x="224561" y="124665"/>
                  </a:lnTo>
                  <a:lnTo>
                    <a:pt x="129578" y="128318"/>
                  </a:lnTo>
                  <a:lnTo>
                    <a:pt x="66550" y="127395"/>
                  </a:lnTo>
                  <a:lnTo>
                    <a:pt x="43099" y="110465"/>
                  </a:lnTo>
                  <a:lnTo>
                    <a:pt x="146191" y="92097"/>
                  </a:lnTo>
                  <a:lnTo>
                    <a:pt x="77623" y="92739"/>
                  </a:lnTo>
                  <a:lnTo>
                    <a:pt x="0" y="80643"/>
                  </a:lnTo>
                  <a:lnTo>
                    <a:pt x="37308" y="46234"/>
                  </a:lnTo>
                  <a:lnTo>
                    <a:pt x="68256" y="27952"/>
                  </a:lnTo>
                  <a:lnTo>
                    <a:pt x="187263" y="0"/>
                  </a:lnTo>
                  <a:lnTo>
                    <a:pt x="232688" y="8870"/>
                  </a:lnTo>
                  <a:close/>
                </a:path>
              </a:pathLst>
            </a:custGeom>
            <a:solidFill>
              <a:srgbClr val="E6EBE2"/>
            </a:solidFill>
            <a:ln w="4403">
              <a:solidFill>
                <a:srgbClr val="B6C3B3"/>
              </a:solidFill>
              <a:prstDash val="solid"/>
            </a:ln>
          </p:spPr>
          <p:txBody>
            <a:bodyPr/>
            <a:p/>
          </p:txBody>
        </p:sp>
        <p:sp>
          <p:nvSpPr>
            <p:cNvPr id="104" name="land-88">
              <a:extLst>
                <a:ext uri="{FF2B5EF4-FFF2-40B4-BE49-F238E27FC236}">
                  <a16:creationId xmlns:a16="http://schemas.microsoft.com/office/drawing/2014/main" id="{F1529062-6EB8-4D8A-B987-A37159934B9A}"/>
                </a:ext>
              </a:extLst>
            </p:cNvPr>
            <p:cNvSpPr>
              <a:spLocks/>
            </p:cNvSpPr>
            <p:nvPr/>
          </p:nvSpPr>
          <p:spPr>
            <a:xfrm>
              <a:off x="9353612" y="783433"/>
              <a:ext cx="77126" cy="28738"/>
            </a:xfrm>
            <a:custGeom>
              <a:avLst/>
              <a:gdLst/>
              <a:ahLst/>
              <a:cxnLst/>
              <a:rect l="0" t="0" r="0" b="0"/>
              <a:pathLst>
                <a:path w="108458" h="40413">
                  <a:moveTo>
                    <a:pt x="108458" y="10103"/>
                  </a:moveTo>
                  <a:lnTo>
                    <a:pt x="69342" y="40413"/>
                  </a:lnTo>
                  <a:lnTo>
                    <a:pt x="0" y="8266"/>
                  </a:lnTo>
                  <a:lnTo>
                    <a:pt x="15113" y="1837"/>
                  </a:lnTo>
                  <a:lnTo>
                    <a:pt x="74676" y="0"/>
                  </a:lnTo>
                  <a:lnTo>
                    <a:pt x="108458" y="10103"/>
                  </a:lnTo>
                  <a:close/>
                </a:path>
              </a:pathLst>
            </a:custGeom>
            <a:solidFill>
              <a:srgbClr val="E6EBE2"/>
            </a:solidFill>
            <a:ln w="4403">
              <a:solidFill>
                <a:srgbClr val="B6C3B3"/>
              </a:solidFill>
              <a:prstDash val="solid"/>
            </a:ln>
          </p:spPr>
          <p:txBody>
            <a:bodyPr/>
            <a:p/>
          </p:txBody>
        </p:sp>
        <p:sp>
          <p:nvSpPr>
            <p:cNvPr id="105" name="land-89">
              <a:extLst>
                <a:ext uri="{FF2B5EF4-FFF2-40B4-BE49-F238E27FC236}">
                  <a16:creationId xmlns:a16="http://schemas.microsoft.com/office/drawing/2014/main" id="{37F5677E-CF19-49E6-AA49-EBBE0138E8FB}"/>
                </a:ext>
              </a:extLst>
            </p:cNvPr>
            <p:cNvSpPr>
              <a:spLocks/>
            </p:cNvSpPr>
            <p:nvPr/>
          </p:nvSpPr>
          <p:spPr>
            <a:xfrm>
              <a:off x="10177463" y="779523"/>
              <a:ext cx="146181" cy="33229"/>
            </a:xfrm>
            <a:custGeom>
              <a:avLst/>
              <a:gdLst/>
              <a:ahLst/>
              <a:cxnLst/>
              <a:rect l="0" t="0" r="0" b="0"/>
              <a:pathLst>
                <a:path w="205568" h="46729">
                  <a:moveTo>
                    <a:pt x="201630" y="30174"/>
                  </a:moveTo>
                  <a:lnTo>
                    <a:pt x="205568" y="42863"/>
                  </a:lnTo>
                  <a:lnTo>
                    <a:pt x="158316" y="41523"/>
                  </a:lnTo>
                  <a:lnTo>
                    <a:pt x="110433" y="40554"/>
                  </a:lnTo>
                  <a:lnTo>
                    <a:pt x="61779" y="46729"/>
                  </a:lnTo>
                  <a:lnTo>
                    <a:pt x="48907" y="43941"/>
                  </a:lnTo>
                  <a:lnTo>
                    <a:pt x="0" y="19588"/>
                  </a:lnTo>
                  <a:lnTo>
                    <a:pt x="1876" y="3056"/>
                  </a:lnTo>
                  <a:lnTo>
                    <a:pt x="23249" y="0"/>
                  </a:lnTo>
                  <a:lnTo>
                    <a:pt x="124978" y="4950"/>
                  </a:lnTo>
                  <a:lnTo>
                    <a:pt x="201630" y="30174"/>
                  </a:lnTo>
                  <a:close/>
                </a:path>
              </a:pathLst>
            </a:custGeom>
            <a:solidFill>
              <a:srgbClr val="E6EBE2"/>
            </a:solidFill>
            <a:ln w="4403">
              <a:solidFill>
                <a:srgbClr val="B6C3B3"/>
              </a:solidFill>
              <a:prstDash val="solid"/>
            </a:ln>
          </p:spPr>
          <p:txBody>
            <a:bodyPr/>
            <a:p/>
          </p:txBody>
        </p:sp>
        <p:sp>
          <p:nvSpPr>
            <p:cNvPr id="106" name="land-90">
              <a:extLst>
                <a:ext uri="{FF2B5EF4-FFF2-40B4-BE49-F238E27FC236}">
                  <a16:creationId xmlns:a16="http://schemas.microsoft.com/office/drawing/2014/main" id="{D4B6841A-76F4-4CDB-82C2-DAF1B4EE9EE6}"/>
                </a:ext>
              </a:extLst>
            </p:cNvPr>
            <p:cNvSpPr>
              <a:spLocks/>
            </p:cNvSpPr>
            <p:nvPr/>
          </p:nvSpPr>
          <p:spPr>
            <a:xfrm>
              <a:off x="9882582" y="778083"/>
              <a:ext cx="896212" cy="387736"/>
            </a:xfrm>
            <a:custGeom>
              <a:avLst/>
              <a:gdLst/>
              <a:ahLst/>
              <a:cxnLst/>
              <a:rect l="0" t="0" r="0" b="0"/>
              <a:pathLst>
                <a:path w="1260299" h="545253">
                  <a:moveTo>
                    <a:pt x="161931" y="29684"/>
                  </a:moveTo>
                  <a:lnTo>
                    <a:pt x="196949" y="58309"/>
                  </a:lnTo>
                  <a:lnTo>
                    <a:pt x="238032" y="21288"/>
                  </a:lnTo>
                  <a:lnTo>
                    <a:pt x="350691" y="2428"/>
                  </a:lnTo>
                  <a:lnTo>
                    <a:pt x="426945" y="49932"/>
                  </a:lnTo>
                  <a:lnTo>
                    <a:pt x="420329" y="79996"/>
                  </a:lnTo>
                  <a:lnTo>
                    <a:pt x="508264" y="66665"/>
                  </a:lnTo>
                  <a:lnTo>
                    <a:pt x="550315" y="48413"/>
                  </a:lnTo>
                  <a:lnTo>
                    <a:pt x="648940" y="71648"/>
                  </a:lnTo>
                  <a:lnTo>
                    <a:pt x="710157" y="93532"/>
                  </a:lnTo>
                  <a:lnTo>
                    <a:pt x="715913" y="113569"/>
                  </a:lnTo>
                  <a:lnTo>
                    <a:pt x="798452" y="103186"/>
                  </a:lnTo>
                  <a:lnTo>
                    <a:pt x="844779" y="132436"/>
                  </a:lnTo>
                  <a:lnTo>
                    <a:pt x="952079" y="150576"/>
                  </a:lnTo>
                  <a:lnTo>
                    <a:pt x="990799" y="169087"/>
                  </a:lnTo>
                  <a:lnTo>
                    <a:pt x="1032846" y="212065"/>
                  </a:lnTo>
                  <a:lnTo>
                    <a:pt x="951232" y="233461"/>
                  </a:lnTo>
                  <a:lnTo>
                    <a:pt x="1055923" y="263451"/>
                  </a:lnTo>
                  <a:lnTo>
                    <a:pt x="1126490" y="273537"/>
                  </a:lnTo>
                  <a:lnTo>
                    <a:pt x="1190381" y="315744"/>
                  </a:lnTo>
                  <a:lnTo>
                    <a:pt x="1260299" y="318791"/>
                  </a:lnTo>
                  <a:lnTo>
                    <a:pt x="1246466" y="351024"/>
                  </a:lnTo>
                  <a:lnTo>
                    <a:pt x="1168445" y="404369"/>
                  </a:lnTo>
                  <a:lnTo>
                    <a:pt x="1113753" y="384742"/>
                  </a:lnTo>
                  <a:lnTo>
                    <a:pt x="1043861" y="340563"/>
                  </a:lnTo>
                  <a:lnTo>
                    <a:pt x="986352" y="346318"/>
                  </a:lnTo>
                  <a:lnTo>
                    <a:pt x="980739" y="372629"/>
                  </a:lnTo>
                  <a:lnTo>
                    <a:pt x="1027485" y="399327"/>
                  </a:lnTo>
                  <a:lnTo>
                    <a:pt x="1087828" y="420454"/>
                  </a:lnTo>
                  <a:lnTo>
                    <a:pt x="1106138" y="432655"/>
                  </a:lnTo>
                  <a:lnTo>
                    <a:pt x="1135064" y="478111"/>
                  </a:lnTo>
                  <a:lnTo>
                    <a:pt x="1119756" y="511118"/>
                  </a:lnTo>
                  <a:lnTo>
                    <a:pt x="1063694" y="498677"/>
                  </a:lnTo>
                  <a:lnTo>
                    <a:pt x="952207" y="461911"/>
                  </a:lnTo>
                  <a:lnTo>
                    <a:pt x="1015037" y="501484"/>
                  </a:lnTo>
                  <a:lnTo>
                    <a:pt x="1061327" y="529218"/>
                  </a:lnTo>
                  <a:lnTo>
                    <a:pt x="1068560" y="545253"/>
                  </a:lnTo>
                  <a:lnTo>
                    <a:pt x="948020" y="526918"/>
                  </a:lnTo>
                  <a:lnTo>
                    <a:pt x="852628" y="500256"/>
                  </a:lnTo>
                  <a:lnTo>
                    <a:pt x="798757" y="477885"/>
                  </a:lnTo>
                  <a:lnTo>
                    <a:pt x="814274" y="464928"/>
                  </a:lnTo>
                  <a:lnTo>
                    <a:pt x="747954" y="441324"/>
                  </a:lnTo>
                  <a:lnTo>
                    <a:pt x="683229" y="419046"/>
                  </a:lnTo>
                  <a:lnTo>
                    <a:pt x="683937" y="432363"/>
                  </a:lnTo>
                  <a:lnTo>
                    <a:pt x="555411" y="439690"/>
                  </a:lnTo>
                  <a:lnTo>
                    <a:pt x="517807" y="423921"/>
                  </a:lnTo>
                  <a:lnTo>
                    <a:pt x="547085" y="390108"/>
                  </a:lnTo>
                  <a:lnTo>
                    <a:pt x="630607" y="389292"/>
                  </a:lnTo>
                  <a:lnTo>
                    <a:pt x="722106" y="383423"/>
                  </a:lnTo>
                  <a:lnTo>
                    <a:pt x="707256" y="367028"/>
                  </a:lnTo>
                  <a:lnTo>
                    <a:pt x="722768" y="344120"/>
                  </a:lnTo>
                  <a:lnTo>
                    <a:pt x="780275" y="299390"/>
                  </a:lnTo>
                  <a:lnTo>
                    <a:pt x="768056" y="279076"/>
                  </a:lnTo>
                  <a:lnTo>
                    <a:pt x="750918" y="263346"/>
                  </a:lnTo>
                  <a:lnTo>
                    <a:pt x="682834" y="241064"/>
                  </a:lnTo>
                  <a:lnTo>
                    <a:pt x="592788" y="225445"/>
                  </a:lnTo>
                  <a:lnTo>
                    <a:pt x="621256" y="213825"/>
                  </a:lnTo>
                  <a:lnTo>
                    <a:pt x="574196" y="185271"/>
                  </a:lnTo>
                  <a:lnTo>
                    <a:pt x="535024" y="182655"/>
                  </a:lnTo>
                  <a:lnTo>
                    <a:pt x="499970" y="167023"/>
                  </a:lnTo>
                  <a:lnTo>
                    <a:pt x="476180" y="180574"/>
                  </a:lnTo>
                  <a:lnTo>
                    <a:pt x="395591" y="186481"/>
                  </a:lnTo>
                  <a:lnTo>
                    <a:pt x="233827" y="176219"/>
                  </a:lnTo>
                  <a:lnTo>
                    <a:pt x="139802" y="162747"/>
                  </a:lnTo>
                  <a:lnTo>
                    <a:pt x="67717" y="155824"/>
                  </a:lnTo>
                  <a:lnTo>
                    <a:pt x="30748" y="139691"/>
                  </a:lnTo>
                  <a:lnTo>
                    <a:pt x="77229" y="118743"/>
                  </a:lnTo>
                  <a:lnTo>
                    <a:pt x="14091" y="118542"/>
                  </a:lnTo>
                  <a:lnTo>
                    <a:pt x="0" y="72043"/>
                  </a:lnTo>
                  <a:lnTo>
                    <a:pt x="34164" y="30969"/>
                  </a:lnTo>
                  <a:lnTo>
                    <a:pt x="79873" y="12212"/>
                  </a:lnTo>
                  <a:lnTo>
                    <a:pt x="194647" y="0"/>
                  </a:lnTo>
                  <a:lnTo>
                    <a:pt x="161931" y="29684"/>
                  </a:lnTo>
                  <a:close/>
                </a:path>
              </a:pathLst>
            </a:custGeom>
            <a:solidFill>
              <a:srgbClr val="E6EBE2"/>
            </a:solidFill>
            <a:ln w="4403">
              <a:solidFill>
                <a:srgbClr val="B6C3B3"/>
              </a:solidFill>
              <a:prstDash val="solid"/>
            </a:ln>
          </p:spPr>
          <p:txBody>
            <a:bodyPr/>
            <a:p/>
          </p:txBody>
        </p:sp>
        <p:sp>
          <p:nvSpPr>
            <p:cNvPr id="107" name="land-91">
              <a:extLst>
                <a:ext uri="{FF2B5EF4-FFF2-40B4-BE49-F238E27FC236}">
                  <a16:creationId xmlns:a16="http://schemas.microsoft.com/office/drawing/2014/main" id="{9DE046AF-EE42-494A-B5A8-92B710ADC9EF}"/>
                </a:ext>
              </a:extLst>
            </p:cNvPr>
            <p:cNvSpPr>
              <a:spLocks/>
            </p:cNvSpPr>
            <p:nvPr/>
          </p:nvSpPr>
          <p:spPr>
            <a:xfrm>
              <a:off x="9493956" y="776774"/>
              <a:ext cx="188389" cy="83963"/>
            </a:xfrm>
            <a:custGeom>
              <a:avLst/>
              <a:gdLst/>
              <a:ahLst/>
              <a:cxnLst/>
              <a:rect l="0" t="0" r="0" b="0"/>
              <a:pathLst>
                <a:path w="264922" h="118073">
                  <a:moveTo>
                    <a:pt x="95282" y="0"/>
                  </a:moveTo>
                  <a:lnTo>
                    <a:pt x="148291" y="9667"/>
                  </a:lnTo>
                  <a:lnTo>
                    <a:pt x="227584" y="3853"/>
                  </a:lnTo>
                  <a:lnTo>
                    <a:pt x="239141" y="17171"/>
                  </a:lnTo>
                  <a:lnTo>
                    <a:pt x="197643" y="39190"/>
                  </a:lnTo>
                  <a:lnTo>
                    <a:pt x="264922" y="58962"/>
                  </a:lnTo>
                  <a:lnTo>
                    <a:pt x="256921" y="100293"/>
                  </a:lnTo>
                  <a:lnTo>
                    <a:pt x="184038" y="118073"/>
                  </a:lnTo>
                  <a:lnTo>
                    <a:pt x="141224" y="114236"/>
                  </a:lnTo>
                  <a:lnTo>
                    <a:pt x="110466" y="96699"/>
                  </a:lnTo>
                  <a:lnTo>
                    <a:pt x="0" y="61258"/>
                  </a:lnTo>
                  <a:lnTo>
                    <a:pt x="889" y="46562"/>
                  </a:lnTo>
                  <a:lnTo>
                    <a:pt x="91640" y="52262"/>
                  </a:lnTo>
                  <a:lnTo>
                    <a:pt x="42672" y="22222"/>
                  </a:lnTo>
                  <a:lnTo>
                    <a:pt x="95282" y="0"/>
                  </a:lnTo>
                  <a:close/>
                </a:path>
              </a:pathLst>
            </a:custGeom>
            <a:solidFill>
              <a:srgbClr val="E6EBE2"/>
            </a:solidFill>
            <a:ln w="4403">
              <a:solidFill>
                <a:srgbClr val="B6C3B3"/>
              </a:solidFill>
              <a:prstDash val="solid"/>
            </a:ln>
          </p:spPr>
          <p:txBody>
            <a:bodyPr/>
            <a:p/>
          </p:txBody>
        </p:sp>
        <p:sp>
          <p:nvSpPr>
            <p:cNvPr id="108" name="land-92">
              <a:extLst>
                <a:ext uri="{FF2B5EF4-FFF2-40B4-BE49-F238E27FC236}">
                  <a16:creationId xmlns:a16="http://schemas.microsoft.com/office/drawing/2014/main" id="{A6277E51-4A81-41AC-BFB1-06061878EE28}"/>
                </a:ext>
              </a:extLst>
            </p:cNvPr>
            <p:cNvSpPr>
              <a:spLocks/>
            </p:cNvSpPr>
            <p:nvPr/>
          </p:nvSpPr>
          <p:spPr>
            <a:xfrm>
              <a:off x="5775584" y="776327"/>
              <a:ext cx="118240" cy="21297"/>
            </a:xfrm>
            <a:custGeom>
              <a:avLst/>
              <a:gdLst/>
              <a:ahLst/>
              <a:cxnLst/>
              <a:rect l="0" t="0" r="0" b="0"/>
              <a:pathLst>
                <a:path w="166275" h="29949">
                  <a:moveTo>
                    <a:pt x="166275" y="29627"/>
                  </a:moveTo>
                  <a:lnTo>
                    <a:pt x="98879" y="29949"/>
                  </a:lnTo>
                  <a:lnTo>
                    <a:pt x="7780" y="24829"/>
                  </a:lnTo>
                  <a:lnTo>
                    <a:pt x="0" y="22399"/>
                  </a:lnTo>
                  <a:lnTo>
                    <a:pt x="42165" y="4249"/>
                  </a:lnTo>
                  <a:lnTo>
                    <a:pt x="97743" y="0"/>
                  </a:lnTo>
                  <a:lnTo>
                    <a:pt x="160896" y="17558"/>
                  </a:lnTo>
                  <a:lnTo>
                    <a:pt x="166275" y="29627"/>
                  </a:lnTo>
                  <a:close/>
                </a:path>
              </a:pathLst>
            </a:custGeom>
            <a:solidFill>
              <a:srgbClr val="E6EBE2"/>
            </a:solidFill>
            <a:ln w="4403">
              <a:solidFill>
                <a:srgbClr val="B6C3B3"/>
              </a:solidFill>
              <a:prstDash val="solid"/>
            </a:ln>
          </p:spPr>
          <p:txBody>
            <a:bodyPr/>
            <a:p/>
          </p:txBody>
        </p:sp>
        <p:sp>
          <p:nvSpPr>
            <p:cNvPr id="109" name="land-93">
              <a:extLst>
                <a:ext uri="{FF2B5EF4-FFF2-40B4-BE49-F238E27FC236}">
                  <a16:creationId xmlns:a16="http://schemas.microsoft.com/office/drawing/2014/main" id="{AB58B457-9668-4D9E-BDEE-7F3405233ADA}"/>
                </a:ext>
              </a:extLst>
            </p:cNvPr>
            <p:cNvSpPr>
              <a:spLocks/>
            </p:cNvSpPr>
            <p:nvPr/>
          </p:nvSpPr>
          <p:spPr>
            <a:xfrm>
              <a:off x="9698347" y="767271"/>
              <a:ext cx="174606" cy="68917"/>
            </a:xfrm>
            <a:custGeom>
              <a:avLst/>
              <a:gdLst/>
              <a:ahLst/>
              <a:cxnLst/>
              <a:rect l="0" t="0" r="0" b="0"/>
              <a:pathLst>
                <a:path w="245540" h="96914">
                  <a:moveTo>
                    <a:pt x="126125" y="62591"/>
                  </a:moveTo>
                  <a:lnTo>
                    <a:pt x="78441" y="96914"/>
                  </a:lnTo>
                  <a:lnTo>
                    <a:pt x="27732" y="95202"/>
                  </a:lnTo>
                  <a:lnTo>
                    <a:pt x="0" y="54862"/>
                  </a:lnTo>
                  <a:lnTo>
                    <a:pt x="688" y="32031"/>
                  </a:lnTo>
                  <a:lnTo>
                    <a:pt x="23912" y="12514"/>
                  </a:lnTo>
                  <a:lnTo>
                    <a:pt x="68012" y="0"/>
                  </a:lnTo>
                  <a:lnTo>
                    <a:pt x="160630" y="1602"/>
                  </a:lnTo>
                  <a:lnTo>
                    <a:pt x="245540" y="12775"/>
                  </a:lnTo>
                  <a:lnTo>
                    <a:pt x="179124" y="53670"/>
                  </a:lnTo>
                  <a:lnTo>
                    <a:pt x="126125" y="62591"/>
                  </a:lnTo>
                  <a:close/>
                </a:path>
              </a:pathLst>
            </a:custGeom>
            <a:solidFill>
              <a:srgbClr val="E6EBE2"/>
            </a:solidFill>
            <a:ln w="4403">
              <a:solidFill>
                <a:srgbClr val="B6C3B3"/>
              </a:solidFill>
              <a:prstDash val="solid"/>
            </a:ln>
          </p:spPr>
          <p:txBody>
            <a:bodyPr/>
            <a:p/>
          </p:txBody>
        </p:sp>
        <p:sp>
          <p:nvSpPr>
            <p:cNvPr id="110" name="land-94">
              <a:extLst>
                <a:ext uri="{FF2B5EF4-FFF2-40B4-BE49-F238E27FC236}">
                  <a16:creationId xmlns:a16="http://schemas.microsoft.com/office/drawing/2014/main" id="{5535E5EB-8E7C-492D-A41C-3DEA748939DC}"/>
                </a:ext>
              </a:extLst>
            </p:cNvPr>
            <p:cNvSpPr>
              <a:spLocks/>
            </p:cNvSpPr>
            <p:nvPr/>
          </p:nvSpPr>
          <p:spPr>
            <a:xfrm>
              <a:off x="8753392" y="757015"/>
              <a:ext cx="329306" cy="115844"/>
            </a:xfrm>
            <a:custGeom>
              <a:avLst/>
              <a:gdLst/>
              <a:ahLst/>
              <a:cxnLst/>
              <a:rect l="0" t="0" r="0" b="0"/>
              <a:pathLst>
                <a:path w="463087" h="162906">
                  <a:moveTo>
                    <a:pt x="243095" y="140019"/>
                  </a:moveTo>
                  <a:lnTo>
                    <a:pt x="126094" y="162906"/>
                  </a:lnTo>
                  <a:lnTo>
                    <a:pt x="102633" y="142775"/>
                  </a:lnTo>
                  <a:lnTo>
                    <a:pt x="0" y="118496"/>
                  </a:lnTo>
                  <a:lnTo>
                    <a:pt x="14946" y="103532"/>
                  </a:lnTo>
                  <a:lnTo>
                    <a:pt x="49858" y="65505"/>
                  </a:lnTo>
                  <a:lnTo>
                    <a:pt x="88409" y="35312"/>
                  </a:lnTo>
                  <a:lnTo>
                    <a:pt x="44948" y="7172"/>
                  </a:lnTo>
                  <a:lnTo>
                    <a:pt x="195184" y="0"/>
                  </a:lnTo>
                  <a:lnTo>
                    <a:pt x="258663" y="9533"/>
                  </a:lnTo>
                  <a:lnTo>
                    <a:pt x="372194" y="12085"/>
                  </a:lnTo>
                  <a:lnTo>
                    <a:pt x="415365" y="25390"/>
                  </a:lnTo>
                  <a:lnTo>
                    <a:pt x="463087" y="44718"/>
                  </a:lnTo>
                  <a:lnTo>
                    <a:pt x="407207" y="56303"/>
                  </a:lnTo>
                  <a:lnTo>
                    <a:pt x="298213" y="88584"/>
                  </a:lnTo>
                  <a:lnTo>
                    <a:pt x="243095" y="120731"/>
                  </a:lnTo>
                  <a:lnTo>
                    <a:pt x="243095" y="140019"/>
                  </a:lnTo>
                  <a:close/>
                </a:path>
              </a:pathLst>
            </a:custGeom>
            <a:solidFill>
              <a:srgbClr val="E6EBE2"/>
            </a:solidFill>
            <a:ln w="4403">
              <a:solidFill>
                <a:srgbClr val="B6C3B3"/>
              </a:solidFill>
              <a:prstDash val="solid"/>
            </a:ln>
          </p:spPr>
          <p:txBody>
            <a:bodyPr/>
            <a:p/>
          </p:txBody>
        </p:sp>
        <p:sp>
          <p:nvSpPr>
            <p:cNvPr id="111" name="land-95">
              <a:extLst>
                <a:ext uri="{FF2B5EF4-FFF2-40B4-BE49-F238E27FC236}">
                  <a16:creationId xmlns:a16="http://schemas.microsoft.com/office/drawing/2014/main" id="{9073D247-95FF-437B-AEA0-E296C913414A}"/>
                </a:ext>
              </a:extLst>
            </p:cNvPr>
            <p:cNvSpPr>
              <a:spLocks/>
            </p:cNvSpPr>
            <p:nvPr/>
          </p:nvSpPr>
          <p:spPr>
            <a:xfrm>
              <a:off x="5973332" y="722794"/>
              <a:ext cx="145795" cy="26384"/>
            </a:xfrm>
            <a:custGeom>
              <a:avLst/>
              <a:gdLst/>
              <a:ahLst/>
              <a:cxnLst/>
              <a:rect l="0" t="0" r="0" b="0"/>
              <a:pathLst>
                <a:path w="205025" h="37102">
                  <a:moveTo>
                    <a:pt x="205025" y="18956"/>
                  </a:moveTo>
                  <a:lnTo>
                    <a:pt x="153652" y="37102"/>
                  </a:lnTo>
                  <a:lnTo>
                    <a:pt x="82600" y="32995"/>
                  </a:lnTo>
                  <a:lnTo>
                    <a:pt x="0" y="14872"/>
                  </a:lnTo>
                  <a:lnTo>
                    <a:pt x="10637" y="0"/>
                  </a:lnTo>
                  <a:lnTo>
                    <a:pt x="93480" y="6933"/>
                  </a:lnTo>
                  <a:lnTo>
                    <a:pt x="205025" y="18956"/>
                  </a:lnTo>
                  <a:close/>
                </a:path>
              </a:pathLst>
            </a:custGeom>
            <a:solidFill>
              <a:srgbClr val="E6EBE2"/>
            </a:solidFill>
            <a:ln w="4403">
              <a:solidFill>
                <a:srgbClr val="B6C3B3"/>
              </a:solidFill>
              <a:prstDash val="solid"/>
            </a:ln>
          </p:spPr>
          <p:txBody>
            <a:bodyPr/>
            <a:p/>
          </p:txBody>
        </p:sp>
        <p:sp>
          <p:nvSpPr>
            <p:cNvPr id="112" name="land-96">
              <a:extLst>
                <a:ext uri="{FF2B5EF4-FFF2-40B4-BE49-F238E27FC236}">
                  <a16:creationId xmlns:a16="http://schemas.microsoft.com/office/drawing/2014/main" id="{15A77D13-7A3A-4679-81CA-6AA014FCDF10}"/>
                </a:ext>
              </a:extLst>
            </p:cNvPr>
            <p:cNvSpPr>
              <a:spLocks/>
            </p:cNvSpPr>
            <p:nvPr/>
          </p:nvSpPr>
          <p:spPr>
            <a:xfrm>
              <a:off x="9673465" y="717883"/>
              <a:ext cx="101407" cy="34449"/>
            </a:xfrm>
            <a:custGeom>
              <a:avLst/>
              <a:gdLst/>
              <a:ahLst/>
              <a:cxnLst/>
              <a:rect l="0" t="0" r="0" b="0"/>
              <a:pathLst>
                <a:path w="142603" h="48444">
                  <a:moveTo>
                    <a:pt x="142603" y="30642"/>
                  </a:moveTo>
                  <a:lnTo>
                    <a:pt x="118416" y="48444"/>
                  </a:lnTo>
                  <a:lnTo>
                    <a:pt x="53885" y="45022"/>
                  </a:lnTo>
                  <a:lnTo>
                    <a:pt x="0" y="33047"/>
                  </a:lnTo>
                  <a:lnTo>
                    <a:pt x="23663" y="12371"/>
                  </a:lnTo>
                  <a:lnTo>
                    <a:pt x="87571" y="0"/>
                  </a:lnTo>
                  <a:lnTo>
                    <a:pt x="126380" y="16107"/>
                  </a:lnTo>
                  <a:lnTo>
                    <a:pt x="142603" y="30642"/>
                  </a:lnTo>
                  <a:close/>
                </a:path>
              </a:pathLst>
            </a:custGeom>
            <a:solidFill>
              <a:srgbClr val="E6EBE2"/>
            </a:solidFill>
            <a:ln w="4403">
              <a:solidFill>
                <a:srgbClr val="B6C3B3"/>
              </a:solidFill>
              <a:prstDash val="solid"/>
            </a:ln>
          </p:spPr>
          <p:txBody>
            <a:bodyPr/>
            <a:p/>
          </p:txBody>
        </p:sp>
        <p:sp>
          <p:nvSpPr>
            <p:cNvPr id="113" name="land-97">
              <a:extLst>
                <a:ext uri="{FF2B5EF4-FFF2-40B4-BE49-F238E27FC236}">
                  <a16:creationId xmlns:a16="http://schemas.microsoft.com/office/drawing/2014/main" id="{60029DB7-76A5-4FA8-AB73-EAB621724F6A}"/>
                </a:ext>
              </a:extLst>
            </p:cNvPr>
            <p:cNvSpPr>
              <a:spLocks/>
            </p:cNvSpPr>
            <p:nvPr/>
          </p:nvSpPr>
          <p:spPr>
            <a:xfrm>
              <a:off x="5684275" y="701896"/>
              <a:ext cx="256408" cy="49811"/>
            </a:xfrm>
            <a:custGeom>
              <a:avLst/>
              <a:gdLst/>
              <a:ahLst/>
              <a:cxnLst/>
              <a:rect l="0" t="0" r="0" b="0"/>
              <a:pathLst>
                <a:path w="360574" h="70047">
                  <a:moveTo>
                    <a:pt x="360574" y="26367"/>
                  </a:moveTo>
                  <a:lnTo>
                    <a:pt x="325623" y="60471"/>
                  </a:lnTo>
                  <a:lnTo>
                    <a:pt x="161772" y="59200"/>
                  </a:lnTo>
                  <a:lnTo>
                    <a:pt x="88058" y="70047"/>
                  </a:lnTo>
                  <a:lnTo>
                    <a:pt x="0" y="40188"/>
                  </a:lnTo>
                  <a:lnTo>
                    <a:pt x="23886" y="8615"/>
                  </a:lnTo>
                  <a:lnTo>
                    <a:pt x="82530" y="0"/>
                  </a:lnTo>
                  <a:lnTo>
                    <a:pt x="199902" y="2015"/>
                  </a:lnTo>
                  <a:lnTo>
                    <a:pt x="360574" y="26367"/>
                  </a:lnTo>
                  <a:close/>
                </a:path>
              </a:pathLst>
            </a:custGeom>
            <a:solidFill>
              <a:srgbClr val="E6EBE2"/>
            </a:solidFill>
            <a:ln w="4403">
              <a:solidFill>
                <a:srgbClr val="B6C3B3"/>
              </a:solidFill>
              <a:prstDash val="solid"/>
            </a:ln>
          </p:spPr>
          <p:txBody>
            <a:bodyPr/>
            <a:p/>
          </p:txBody>
        </p:sp>
        <p:sp>
          <p:nvSpPr>
            <p:cNvPr id="114" name="land-98">
              <a:extLst>
                <a:ext uri="{FF2B5EF4-FFF2-40B4-BE49-F238E27FC236}">
                  <a16:creationId xmlns:a16="http://schemas.microsoft.com/office/drawing/2014/main" id="{C23AFD37-6F84-418F-B8D4-15F458A927DE}"/>
                </a:ext>
              </a:extLst>
            </p:cNvPr>
            <p:cNvSpPr>
              <a:spLocks/>
            </p:cNvSpPr>
            <p:nvPr/>
          </p:nvSpPr>
          <p:spPr>
            <a:xfrm>
              <a:off x="9491885" y="682849"/>
              <a:ext cx="153654" cy="59520"/>
            </a:xfrm>
            <a:custGeom>
              <a:avLst/>
              <a:gdLst/>
              <a:ahLst/>
              <a:cxnLst/>
              <a:rect l="0" t="0" r="0" b="0"/>
              <a:pathLst>
                <a:path w="216076" h="83699">
                  <a:moveTo>
                    <a:pt x="180712" y="0"/>
                  </a:moveTo>
                  <a:lnTo>
                    <a:pt x="214691" y="21283"/>
                  </a:lnTo>
                  <a:lnTo>
                    <a:pt x="216076" y="44848"/>
                  </a:lnTo>
                  <a:lnTo>
                    <a:pt x="195825" y="78989"/>
                  </a:lnTo>
                  <a:lnTo>
                    <a:pt x="122539" y="83699"/>
                  </a:lnTo>
                  <a:lnTo>
                    <a:pt x="74759" y="76355"/>
                  </a:lnTo>
                  <a:lnTo>
                    <a:pt x="75681" y="49564"/>
                  </a:lnTo>
                  <a:lnTo>
                    <a:pt x="2819" y="53097"/>
                  </a:lnTo>
                  <a:lnTo>
                    <a:pt x="0" y="17607"/>
                  </a:lnTo>
                  <a:lnTo>
                    <a:pt x="47819" y="19042"/>
                  </a:lnTo>
                  <a:lnTo>
                    <a:pt x="114771" y="3383"/>
                  </a:lnTo>
                  <a:lnTo>
                    <a:pt x="177290" y="6035"/>
                  </a:lnTo>
                  <a:lnTo>
                    <a:pt x="180712" y="0"/>
                  </a:lnTo>
                  <a:close/>
                </a:path>
              </a:pathLst>
            </a:custGeom>
            <a:solidFill>
              <a:srgbClr val="E6EBE2"/>
            </a:solidFill>
            <a:ln w="4403">
              <a:solidFill>
                <a:srgbClr val="B6C3B3"/>
              </a:solidFill>
              <a:prstDash val="solid"/>
            </a:ln>
          </p:spPr>
          <p:txBody>
            <a:bodyPr/>
            <a:p/>
          </p:txBody>
        </p:sp>
        <p:sp>
          <p:nvSpPr>
            <p:cNvPr id="115" name="land-99">
              <a:extLst>
                <a:ext uri="{FF2B5EF4-FFF2-40B4-BE49-F238E27FC236}">
                  <a16:creationId xmlns:a16="http://schemas.microsoft.com/office/drawing/2014/main" id="{244F7841-99F7-4D55-BC51-4AD3D9F2C7B3}"/>
                </a:ext>
              </a:extLst>
            </p:cNvPr>
            <p:cNvSpPr>
              <a:spLocks/>
            </p:cNvSpPr>
            <p:nvPr/>
          </p:nvSpPr>
          <p:spPr>
            <a:xfrm>
              <a:off x="9013172" y="680427"/>
              <a:ext cx="379478" cy="78374"/>
            </a:xfrm>
            <a:custGeom>
              <a:avLst/>
              <a:gdLst/>
              <a:ahLst/>
              <a:cxnLst/>
              <a:rect l="0" t="0" r="0" b="0"/>
              <a:pathLst>
                <a:path w="533641" h="110213">
                  <a:moveTo>
                    <a:pt x="422230" y="27210"/>
                  </a:moveTo>
                  <a:lnTo>
                    <a:pt x="439654" y="43566"/>
                  </a:lnTo>
                  <a:lnTo>
                    <a:pt x="479236" y="35883"/>
                  </a:lnTo>
                  <a:lnTo>
                    <a:pt x="525817" y="37877"/>
                  </a:lnTo>
                  <a:lnTo>
                    <a:pt x="533641" y="60375"/>
                  </a:lnTo>
                  <a:lnTo>
                    <a:pt x="506594" y="82154"/>
                  </a:lnTo>
                  <a:lnTo>
                    <a:pt x="356062" y="89284"/>
                  </a:lnTo>
                  <a:lnTo>
                    <a:pt x="243912" y="109171"/>
                  </a:lnTo>
                  <a:lnTo>
                    <a:pt x="176315" y="110213"/>
                  </a:lnTo>
                  <a:lnTo>
                    <a:pt x="170646" y="95241"/>
                  </a:lnTo>
                  <a:lnTo>
                    <a:pt x="262975" y="74933"/>
                  </a:lnTo>
                  <a:lnTo>
                    <a:pt x="62150" y="80401"/>
                  </a:lnTo>
                  <a:lnTo>
                    <a:pt x="0" y="72191"/>
                  </a:lnTo>
                  <a:lnTo>
                    <a:pt x="60647" y="27331"/>
                  </a:lnTo>
                  <a:lnTo>
                    <a:pt x="102481" y="14480"/>
                  </a:lnTo>
                  <a:lnTo>
                    <a:pt x="227577" y="29981"/>
                  </a:lnTo>
                  <a:lnTo>
                    <a:pt x="306535" y="57175"/>
                  </a:lnTo>
                  <a:lnTo>
                    <a:pt x="384195" y="60664"/>
                  </a:lnTo>
                  <a:lnTo>
                    <a:pt x="320624" y="16732"/>
                  </a:lnTo>
                  <a:lnTo>
                    <a:pt x="361347" y="0"/>
                  </a:lnTo>
                  <a:lnTo>
                    <a:pt x="407242" y="5320"/>
                  </a:lnTo>
                  <a:lnTo>
                    <a:pt x="422230" y="27210"/>
                  </a:lnTo>
                  <a:close/>
                </a:path>
              </a:pathLst>
            </a:custGeom>
            <a:solidFill>
              <a:srgbClr val="E6EBE2"/>
            </a:solidFill>
            <a:ln w="4403">
              <a:solidFill>
                <a:srgbClr val="B6C3B3"/>
              </a:solidFill>
              <a:prstDash val="solid"/>
            </a:ln>
          </p:spPr>
          <p:txBody>
            <a:bodyPr/>
            <a:p/>
          </p:txBody>
        </p:sp>
        <p:sp>
          <p:nvSpPr>
            <p:cNvPr id="116" name="land-100">
              <a:extLst>
                <a:ext uri="{FF2B5EF4-FFF2-40B4-BE49-F238E27FC236}">
                  <a16:creationId xmlns:a16="http://schemas.microsoft.com/office/drawing/2014/main" id="{5FCFA7A4-8043-4BBF-9EC4-88FD11E52191}"/>
                </a:ext>
              </a:extLst>
            </p:cNvPr>
            <p:cNvSpPr>
              <a:spLocks/>
            </p:cNvSpPr>
            <p:nvPr/>
          </p:nvSpPr>
          <p:spPr>
            <a:xfrm>
              <a:off x="2981126" y="675674"/>
              <a:ext cx="549883" cy="205967"/>
            </a:xfrm>
            <a:custGeom>
              <a:avLst/>
              <a:gdLst/>
              <a:ahLst/>
              <a:cxnLst/>
              <a:rect l="0" t="0" r="0" b="0"/>
              <a:pathLst>
                <a:path w="773273" h="289641">
                  <a:moveTo>
                    <a:pt x="270253" y="285613"/>
                  </a:moveTo>
                  <a:lnTo>
                    <a:pt x="243996" y="289641"/>
                  </a:lnTo>
                  <a:lnTo>
                    <a:pt x="98751" y="283675"/>
                  </a:lnTo>
                  <a:lnTo>
                    <a:pt x="86956" y="263285"/>
                  </a:lnTo>
                  <a:lnTo>
                    <a:pt x="6496" y="250972"/>
                  </a:lnTo>
                  <a:lnTo>
                    <a:pt x="0" y="226168"/>
                  </a:lnTo>
                  <a:lnTo>
                    <a:pt x="45451" y="216314"/>
                  </a:lnTo>
                  <a:lnTo>
                    <a:pt x="43935" y="191272"/>
                  </a:lnTo>
                  <a:lnTo>
                    <a:pt x="132099" y="152107"/>
                  </a:lnTo>
                  <a:lnTo>
                    <a:pt x="91235" y="146493"/>
                  </a:lnTo>
                  <a:lnTo>
                    <a:pt x="197656" y="106186"/>
                  </a:lnTo>
                  <a:lnTo>
                    <a:pt x="185631" y="85340"/>
                  </a:lnTo>
                  <a:lnTo>
                    <a:pt x="285053" y="61093"/>
                  </a:lnTo>
                  <a:lnTo>
                    <a:pt x="431800" y="31587"/>
                  </a:lnTo>
                  <a:lnTo>
                    <a:pt x="579744" y="22992"/>
                  </a:lnTo>
                  <a:lnTo>
                    <a:pt x="655870" y="5966"/>
                  </a:lnTo>
                  <a:lnTo>
                    <a:pt x="742373" y="0"/>
                  </a:lnTo>
                  <a:lnTo>
                    <a:pt x="773273" y="18135"/>
                  </a:lnTo>
                  <a:lnTo>
                    <a:pt x="743418" y="32425"/>
                  </a:lnTo>
                  <a:lnTo>
                    <a:pt x="585921" y="55198"/>
                  </a:lnTo>
                  <a:lnTo>
                    <a:pt x="450179" y="77098"/>
                  </a:lnTo>
                  <a:lnTo>
                    <a:pt x="312098" y="120810"/>
                  </a:lnTo>
                  <a:lnTo>
                    <a:pt x="245854" y="165632"/>
                  </a:lnTo>
                  <a:lnTo>
                    <a:pt x="176181" y="209801"/>
                  </a:lnTo>
                  <a:lnTo>
                    <a:pt x="185227" y="247949"/>
                  </a:lnTo>
                  <a:lnTo>
                    <a:pt x="270253" y="285613"/>
                  </a:lnTo>
                  <a:close/>
                </a:path>
              </a:pathLst>
            </a:custGeom>
            <a:solidFill>
              <a:srgbClr val="E6EBE2"/>
            </a:solidFill>
            <a:ln w="4403">
              <a:solidFill>
                <a:srgbClr val="B6C3B3"/>
              </a:solidFill>
              <a:prstDash val="solid"/>
            </a:ln>
          </p:spPr>
          <p:txBody>
            <a:bodyPr/>
            <a:p/>
          </p:txBody>
        </p:sp>
        <p:sp>
          <p:nvSpPr>
            <p:cNvPr id="117" name="land-101">
              <a:extLst>
                <a:ext uri="{FF2B5EF4-FFF2-40B4-BE49-F238E27FC236}">
                  <a16:creationId xmlns:a16="http://schemas.microsoft.com/office/drawing/2014/main" id="{4EADC6A6-A996-460D-9410-6574B8AE06D2}"/>
                </a:ext>
              </a:extLst>
            </p:cNvPr>
            <p:cNvSpPr>
              <a:spLocks/>
            </p:cNvSpPr>
            <p:nvPr/>
          </p:nvSpPr>
          <p:spPr>
            <a:xfrm>
              <a:off x="9663968" y="668434"/>
              <a:ext cx="546437" cy="90430"/>
            </a:xfrm>
            <a:custGeom>
              <a:avLst/>
              <a:gdLst/>
              <a:ahLst/>
              <a:cxnLst/>
              <a:rect l="0" t="0" r="0" b="0"/>
              <a:pathLst>
                <a:path w="768427" h="127168">
                  <a:moveTo>
                    <a:pt x="108338" y="2917"/>
                  </a:moveTo>
                  <a:lnTo>
                    <a:pt x="157685" y="17685"/>
                  </a:lnTo>
                  <a:lnTo>
                    <a:pt x="245202" y="17583"/>
                  </a:lnTo>
                  <a:lnTo>
                    <a:pt x="283570" y="32688"/>
                  </a:lnTo>
                  <a:lnTo>
                    <a:pt x="273444" y="49937"/>
                  </a:lnTo>
                  <a:lnTo>
                    <a:pt x="324447" y="60327"/>
                  </a:lnTo>
                  <a:lnTo>
                    <a:pt x="352679" y="71239"/>
                  </a:lnTo>
                  <a:lnTo>
                    <a:pt x="412634" y="73258"/>
                  </a:lnTo>
                  <a:lnTo>
                    <a:pt x="477490" y="77105"/>
                  </a:lnTo>
                  <a:lnTo>
                    <a:pt x="548146" y="67150"/>
                  </a:lnTo>
                  <a:lnTo>
                    <a:pt x="638655" y="63241"/>
                  </a:lnTo>
                  <a:lnTo>
                    <a:pt x="710882" y="66471"/>
                  </a:lnTo>
                  <a:lnTo>
                    <a:pt x="758489" y="83790"/>
                  </a:lnTo>
                  <a:lnTo>
                    <a:pt x="768427" y="102790"/>
                  </a:lnTo>
                  <a:lnTo>
                    <a:pt x="740697" y="114998"/>
                  </a:lnTo>
                  <a:lnTo>
                    <a:pt x="674419" y="124864"/>
                  </a:lnTo>
                  <a:lnTo>
                    <a:pt x="617521" y="119281"/>
                  </a:lnTo>
                  <a:lnTo>
                    <a:pt x="490014" y="126354"/>
                  </a:lnTo>
                  <a:lnTo>
                    <a:pt x="398762" y="127168"/>
                  </a:lnTo>
                  <a:lnTo>
                    <a:pt x="327003" y="121508"/>
                  </a:lnTo>
                  <a:lnTo>
                    <a:pt x="208868" y="106711"/>
                  </a:lnTo>
                  <a:lnTo>
                    <a:pt x="193495" y="81495"/>
                  </a:lnTo>
                  <a:lnTo>
                    <a:pt x="188089" y="58725"/>
                  </a:lnTo>
                  <a:lnTo>
                    <a:pt x="143465" y="38675"/>
                  </a:lnTo>
                  <a:lnTo>
                    <a:pt x="51514" y="33066"/>
                  </a:lnTo>
                  <a:lnTo>
                    <a:pt x="0" y="18843"/>
                  </a:lnTo>
                  <a:lnTo>
                    <a:pt x="16725" y="0"/>
                  </a:lnTo>
                  <a:lnTo>
                    <a:pt x="108338" y="2917"/>
                  </a:lnTo>
                  <a:close/>
                </a:path>
              </a:pathLst>
            </a:custGeom>
            <a:solidFill>
              <a:srgbClr val="E6EBE2"/>
            </a:solidFill>
            <a:ln w="4403">
              <a:solidFill>
                <a:srgbClr val="B6C3B3"/>
              </a:solidFill>
              <a:prstDash val="solid"/>
            </a:ln>
          </p:spPr>
          <p:txBody>
            <a:bodyPr/>
            <a:p/>
          </p:txBody>
        </p:sp>
        <p:sp>
          <p:nvSpPr>
            <p:cNvPr id="118" name="land-102">
              <a:extLst>
                <a:ext uri="{FF2B5EF4-FFF2-40B4-BE49-F238E27FC236}">
                  <a16:creationId xmlns:a16="http://schemas.microsoft.com/office/drawing/2014/main" id="{019DA5FB-D605-48E6-BB4C-BC47F86E04C9}"/>
                </a:ext>
              </a:extLst>
            </p:cNvPr>
            <p:cNvSpPr>
              <a:spLocks/>
            </p:cNvSpPr>
            <p:nvPr/>
          </p:nvSpPr>
          <p:spPr>
            <a:xfrm>
              <a:off x="8850559" y="652632"/>
              <a:ext cx="210399" cy="56995"/>
            </a:xfrm>
            <a:custGeom>
              <a:avLst/>
              <a:gdLst/>
              <a:ahLst/>
              <a:cxnLst/>
              <a:rect l="0" t="0" r="0" b="0"/>
              <a:pathLst>
                <a:path w="295874" h="80150">
                  <a:moveTo>
                    <a:pt x="295874" y="0"/>
                  </a:moveTo>
                  <a:lnTo>
                    <a:pt x="289775" y="35285"/>
                  </a:lnTo>
                  <a:lnTo>
                    <a:pt x="255537" y="51217"/>
                  </a:lnTo>
                  <a:lnTo>
                    <a:pt x="214005" y="53461"/>
                  </a:lnTo>
                  <a:lnTo>
                    <a:pt x="131377" y="73115"/>
                  </a:lnTo>
                  <a:lnTo>
                    <a:pt x="60227" y="80150"/>
                  </a:lnTo>
                  <a:lnTo>
                    <a:pt x="0" y="70206"/>
                  </a:lnTo>
                  <a:lnTo>
                    <a:pt x="0" y="70206"/>
                  </a:lnTo>
                  <a:lnTo>
                    <a:pt x="75449" y="35857"/>
                  </a:lnTo>
                  <a:lnTo>
                    <a:pt x="166731" y="6111"/>
                  </a:lnTo>
                  <a:lnTo>
                    <a:pt x="234909" y="6749"/>
                  </a:lnTo>
                  <a:lnTo>
                    <a:pt x="295874" y="0"/>
                  </a:lnTo>
                  <a:close/>
                </a:path>
              </a:pathLst>
            </a:custGeom>
            <a:solidFill>
              <a:srgbClr val="E6EBE2"/>
            </a:solidFill>
            <a:ln w="4403">
              <a:solidFill>
                <a:srgbClr val="B6C3B3"/>
              </a:solidFill>
              <a:prstDash val="solid"/>
            </a:ln>
          </p:spPr>
          <p:txBody>
            <a:bodyPr/>
            <a:p/>
          </p:txBody>
        </p:sp>
        <p:sp>
          <p:nvSpPr>
            <p:cNvPr id="119" name="land-103">
              <a:extLst>
                <a:ext uri="{FF2B5EF4-FFF2-40B4-BE49-F238E27FC236}">
                  <a16:creationId xmlns:a16="http://schemas.microsoft.com/office/drawing/2014/main" id="{8C467A85-4E3C-44AB-A1E0-2019DFDD27C6}"/>
                </a:ext>
              </a:extLst>
            </p:cNvPr>
            <p:cNvSpPr>
              <a:spLocks/>
            </p:cNvSpPr>
            <p:nvPr/>
          </p:nvSpPr>
          <p:spPr>
            <a:xfrm>
              <a:off x="797560" y="650914"/>
              <a:ext cx="6246707" cy="3674483"/>
            </a:xfrm>
            <a:custGeom>
              <a:avLst/>
              <a:gdLst/>
              <a:ahLst/>
              <a:cxnLst/>
              <a:rect l="0" t="0" r="0" b="0"/>
              <a:pathLst>
                <a:path w="8784431" h="5167241">
                  <a:moveTo>
                    <a:pt x="5538260" y="33229"/>
                  </a:moveTo>
                  <a:lnTo>
                    <a:pt x="5550254" y="55925"/>
                  </a:lnTo>
                  <a:lnTo>
                    <a:pt x="5590873" y="44755"/>
                  </a:lnTo>
                  <a:lnTo>
                    <a:pt x="5720816" y="45364"/>
                  </a:lnTo>
                  <a:lnTo>
                    <a:pt x="5821016" y="67765"/>
                  </a:lnTo>
                  <a:lnTo>
                    <a:pt x="5856700" y="84967"/>
                  </a:lnTo>
                  <a:lnTo>
                    <a:pt x="5845642" y="108840"/>
                  </a:lnTo>
                  <a:lnTo>
                    <a:pt x="5796471" y="122432"/>
                  </a:lnTo>
                  <a:lnTo>
                    <a:pt x="5679657" y="147930"/>
                  </a:lnTo>
                  <a:lnTo>
                    <a:pt x="5646265" y="161550"/>
                  </a:lnTo>
                  <a:lnTo>
                    <a:pt x="5701383" y="167980"/>
                  </a:lnTo>
                  <a:lnTo>
                    <a:pt x="5767135" y="179570"/>
                  </a:lnTo>
                  <a:lnTo>
                    <a:pt x="5807147" y="170881"/>
                  </a:lnTo>
                  <a:lnTo>
                    <a:pt x="5829827" y="200357"/>
                  </a:lnTo>
                  <a:lnTo>
                    <a:pt x="5849348" y="188425"/>
                  </a:lnTo>
                  <a:lnTo>
                    <a:pt x="5920423" y="181168"/>
                  </a:lnTo>
                  <a:lnTo>
                    <a:pt x="6063038" y="188756"/>
                  </a:lnTo>
                  <a:lnTo>
                    <a:pt x="6073874" y="210229"/>
                  </a:lnTo>
                  <a:lnTo>
                    <a:pt x="6259702" y="217063"/>
                  </a:lnTo>
                  <a:lnTo>
                    <a:pt x="6262244" y="181987"/>
                  </a:lnTo>
                  <a:lnTo>
                    <a:pt x="6356578" y="190023"/>
                  </a:lnTo>
                  <a:lnTo>
                    <a:pt x="6427537" y="189776"/>
                  </a:lnTo>
                  <a:lnTo>
                    <a:pt x="6499315" y="213969"/>
                  </a:lnTo>
                  <a:lnTo>
                    <a:pt x="6519779" y="243361"/>
                  </a:lnTo>
                  <a:lnTo>
                    <a:pt x="6493482" y="262584"/>
                  </a:lnTo>
                  <a:lnTo>
                    <a:pt x="6549313" y="298725"/>
                  </a:lnTo>
                  <a:lnTo>
                    <a:pt x="6619214" y="317371"/>
                  </a:lnTo>
                  <a:lnTo>
                    <a:pt x="6662098" y="269187"/>
                  </a:lnTo>
                  <a:lnTo>
                    <a:pt x="6733407" y="289845"/>
                  </a:lnTo>
                  <a:lnTo>
                    <a:pt x="6809165" y="277501"/>
                  </a:lnTo>
                  <a:lnTo>
                    <a:pt x="6895203" y="291625"/>
                  </a:lnTo>
                  <a:lnTo>
                    <a:pt x="6927938" y="278748"/>
                  </a:lnTo>
                  <a:lnTo>
                    <a:pt x="7000647" y="285187"/>
                  </a:lnTo>
                  <a:lnTo>
                    <a:pt x="6968555" y="242551"/>
                  </a:lnTo>
                  <a:lnTo>
                    <a:pt x="7027237" y="222658"/>
                  </a:lnTo>
                  <a:lnTo>
                    <a:pt x="7428712" y="252482"/>
                  </a:lnTo>
                  <a:lnTo>
                    <a:pt x="7466547" y="279741"/>
                  </a:lnTo>
                  <a:lnTo>
                    <a:pt x="7582898" y="314837"/>
                  </a:lnTo>
                  <a:lnTo>
                    <a:pt x="7762388" y="306148"/>
                  </a:lnTo>
                  <a:lnTo>
                    <a:pt x="7850889" y="313716"/>
                  </a:lnTo>
                  <a:lnTo>
                    <a:pt x="7887889" y="332700"/>
                  </a:lnTo>
                  <a:lnTo>
                    <a:pt x="7882482" y="366280"/>
                  </a:lnTo>
                  <a:lnTo>
                    <a:pt x="7937244" y="379359"/>
                  </a:lnTo>
                  <a:lnTo>
                    <a:pt x="7996738" y="369955"/>
                  </a:lnTo>
                  <a:lnTo>
                    <a:pt x="8075564" y="368752"/>
                  </a:lnTo>
                  <a:lnTo>
                    <a:pt x="8159486" y="377761"/>
                  </a:lnTo>
                  <a:lnTo>
                    <a:pt x="8243728" y="372682"/>
                  </a:lnTo>
                  <a:lnTo>
                    <a:pt x="8321160" y="413499"/>
                  </a:lnTo>
                  <a:lnTo>
                    <a:pt x="8376242" y="398814"/>
                  </a:lnTo>
                  <a:lnTo>
                    <a:pt x="8340300" y="369459"/>
                  </a:lnTo>
                  <a:lnTo>
                    <a:pt x="8360089" y="349059"/>
                  </a:lnTo>
                  <a:lnTo>
                    <a:pt x="8501904" y="361899"/>
                  </a:lnTo>
                  <a:lnTo>
                    <a:pt x="8594368" y="359152"/>
                  </a:lnTo>
                  <a:lnTo>
                    <a:pt x="8722206" y="381069"/>
                  </a:lnTo>
                  <a:lnTo>
                    <a:pt x="8784431" y="401108"/>
                  </a:lnTo>
                  <a:lnTo>
                    <a:pt x="8784431" y="584076"/>
                  </a:lnTo>
                  <a:lnTo>
                    <a:pt x="8784117" y="584319"/>
                  </a:lnTo>
                  <a:lnTo>
                    <a:pt x="8726970" y="604497"/>
                  </a:lnTo>
                  <a:lnTo>
                    <a:pt x="8669364" y="601128"/>
                  </a:lnTo>
                  <a:lnTo>
                    <a:pt x="8709449" y="625576"/>
                  </a:lnTo>
                  <a:lnTo>
                    <a:pt x="8735906" y="663411"/>
                  </a:lnTo>
                  <a:lnTo>
                    <a:pt x="8756449" y="675780"/>
                  </a:lnTo>
                  <a:lnTo>
                    <a:pt x="8761607" y="694776"/>
                  </a:lnTo>
                  <a:lnTo>
                    <a:pt x="8750128" y="706946"/>
                  </a:lnTo>
                  <a:lnTo>
                    <a:pt x="8667275" y="696943"/>
                  </a:lnTo>
                  <a:lnTo>
                    <a:pt x="8543036" y="731506"/>
                  </a:lnTo>
                  <a:lnTo>
                    <a:pt x="8503512" y="736860"/>
                  </a:lnTo>
                  <a:lnTo>
                    <a:pt x="8435503" y="769128"/>
                  </a:lnTo>
                  <a:lnTo>
                    <a:pt x="8370979" y="797315"/>
                  </a:lnTo>
                  <a:lnTo>
                    <a:pt x="8354639" y="818183"/>
                  </a:lnTo>
                  <a:lnTo>
                    <a:pt x="8291059" y="786422"/>
                  </a:lnTo>
                  <a:lnTo>
                    <a:pt x="8175249" y="822463"/>
                  </a:lnTo>
                  <a:lnTo>
                    <a:pt x="8155023" y="805407"/>
                  </a:lnTo>
                  <a:lnTo>
                    <a:pt x="8112209" y="825081"/>
                  </a:lnTo>
                  <a:lnTo>
                    <a:pt x="8052753" y="818788"/>
                  </a:lnTo>
                  <a:lnTo>
                    <a:pt x="8038431" y="848988"/>
                  </a:lnTo>
                  <a:lnTo>
                    <a:pt x="7985099" y="893435"/>
                  </a:lnTo>
                  <a:lnTo>
                    <a:pt x="7986692" y="911996"/>
                  </a:lnTo>
                  <a:lnTo>
                    <a:pt x="8037311" y="922283"/>
                  </a:lnTo>
                  <a:lnTo>
                    <a:pt x="8031356" y="989140"/>
                  </a:lnTo>
                  <a:lnTo>
                    <a:pt x="7990096" y="990838"/>
                  </a:lnTo>
                  <a:lnTo>
                    <a:pt x="7971062" y="1029259"/>
                  </a:lnTo>
                  <a:lnTo>
                    <a:pt x="7989554" y="1049026"/>
                  </a:lnTo>
                  <a:lnTo>
                    <a:pt x="7911829" y="1072484"/>
                  </a:lnTo>
                  <a:lnTo>
                    <a:pt x="7896397" y="1124919"/>
                  </a:lnTo>
                  <a:lnTo>
                    <a:pt x="7830129" y="1136126"/>
                  </a:lnTo>
                  <a:lnTo>
                    <a:pt x="7816814" y="1182784"/>
                  </a:lnTo>
                  <a:lnTo>
                    <a:pt x="7752743" y="1225566"/>
                  </a:lnTo>
                  <a:lnTo>
                    <a:pt x="7736305" y="1193926"/>
                  </a:lnTo>
                  <a:lnTo>
                    <a:pt x="7717270" y="1126932"/>
                  </a:lnTo>
                  <a:lnTo>
                    <a:pt x="7692460" y="1024878"/>
                  </a:lnTo>
                  <a:lnTo>
                    <a:pt x="7713830" y="961191"/>
                  </a:lnTo>
                  <a:lnTo>
                    <a:pt x="7751338" y="933784"/>
                  </a:lnTo>
                  <a:lnTo>
                    <a:pt x="7753657" y="912318"/>
                  </a:lnTo>
                  <a:lnTo>
                    <a:pt x="7822725" y="902048"/>
                  </a:lnTo>
                  <a:lnTo>
                    <a:pt x="7902130" y="844223"/>
                  </a:lnTo>
                  <a:lnTo>
                    <a:pt x="7978645" y="797004"/>
                  </a:lnTo>
                  <a:lnTo>
                    <a:pt x="8058548" y="760363"/>
                  </a:lnTo>
                  <a:lnTo>
                    <a:pt x="8094287" y="695620"/>
                  </a:lnTo>
                  <a:lnTo>
                    <a:pt x="8040271" y="699496"/>
                  </a:lnTo>
                  <a:lnTo>
                    <a:pt x="8013575" y="737328"/>
                  </a:lnTo>
                  <a:lnTo>
                    <a:pt x="7900833" y="787762"/>
                  </a:lnTo>
                  <a:lnTo>
                    <a:pt x="7864419" y="731285"/>
                  </a:lnTo>
                  <a:lnTo>
                    <a:pt x="7749666" y="746881"/>
                  </a:lnTo>
                  <a:lnTo>
                    <a:pt x="7638425" y="823859"/>
                  </a:lnTo>
                  <a:lnTo>
                    <a:pt x="7675132" y="852021"/>
                  </a:lnTo>
                  <a:lnTo>
                    <a:pt x="7575920" y="864015"/>
                  </a:lnTo>
                  <a:lnTo>
                    <a:pt x="7507191" y="868746"/>
                  </a:lnTo>
                  <a:lnTo>
                    <a:pt x="7510409" y="835533"/>
                  </a:lnTo>
                  <a:lnTo>
                    <a:pt x="7441316" y="828571"/>
                  </a:lnTo>
                  <a:lnTo>
                    <a:pt x="7386253" y="851129"/>
                  </a:lnTo>
                  <a:lnTo>
                    <a:pt x="7250342" y="843230"/>
                  </a:lnTo>
                  <a:lnTo>
                    <a:pt x="7104127" y="856842"/>
                  </a:lnTo>
                  <a:lnTo>
                    <a:pt x="6960136" y="946487"/>
                  </a:lnTo>
                  <a:lnTo>
                    <a:pt x="6789794" y="1054794"/>
                  </a:lnTo>
                  <a:lnTo>
                    <a:pt x="6859823" y="1060579"/>
                  </a:lnTo>
                  <a:lnTo>
                    <a:pt x="6881681" y="1089347"/>
                  </a:lnTo>
                  <a:lnTo>
                    <a:pt x="6924851" y="1099549"/>
                  </a:lnTo>
                  <a:lnTo>
                    <a:pt x="6953300" y="1076607"/>
                  </a:lnTo>
                  <a:lnTo>
                    <a:pt x="7002052" y="1079592"/>
                  </a:lnTo>
                  <a:lnTo>
                    <a:pt x="7066229" y="1130108"/>
                  </a:lnTo>
                  <a:lnTo>
                    <a:pt x="7067740" y="1169181"/>
                  </a:lnTo>
                  <a:lnTo>
                    <a:pt x="7032989" y="1215069"/>
                  </a:lnTo>
                  <a:lnTo>
                    <a:pt x="7029240" y="1269912"/>
                  </a:lnTo>
                  <a:lnTo>
                    <a:pt x="7009190" y="1343333"/>
                  </a:lnTo>
                  <a:lnTo>
                    <a:pt x="6942187" y="1409787"/>
                  </a:lnTo>
                  <a:lnTo>
                    <a:pt x="6927298" y="1441556"/>
                  </a:lnTo>
                  <a:lnTo>
                    <a:pt x="6866961" y="1495031"/>
                  </a:lnTo>
                  <a:lnTo>
                    <a:pt x="6807087" y="1548047"/>
                  </a:lnTo>
                  <a:lnTo>
                    <a:pt x="6778381" y="1575177"/>
                  </a:lnTo>
                  <a:lnTo>
                    <a:pt x="6719148" y="1602125"/>
                  </a:lnTo>
                  <a:lnTo>
                    <a:pt x="6691117" y="1602722"/>
                  </a:lnTo>
                  <a:lnTo>
                    <a:pt x="6663192" y="1580404"/>
                  </a:lnTo>
                  <a:lnTo>
                    <a:pt x="6603533" y="1614012"/>
                  </a:lnTo>
                  <a:lnTo>
                    <a:pt x="6596606" y="1629286"/>
                  </a:lnTo>
                  <a:lnTo>
                    <a:pt x="6579715" y="1626530"/>
                  </a:lnTo>
                  <a:lnTo>
                    <a:pt x="6560415" y="1642090"/>
                  </a:lnTo>
                  <a:lnTo>
                    <a:pt x="6547151" y="1657713"/>
                  </a:lnTo>
                  <a:lnTo>
                    <a:pt x="6548833" y="1690696"/>
                  </a:lnTo>
                  <a:lnTo>
                    <a:pt x="6525843" y="1700843"/>
                  </a:lnTo>
                  <a:lnTo>
                    <a:pt x="6517948" y="1708946"/>
                  </a:lnTo>
                  <a:lnTo>
                    <a:pt x="6501190" y="1722521"/>
                  </a:lnTo>
                  <a:lnTo>
                    <a:pt x="6471588" y="1730070"/>
                  </a:lnTo>
                  <a:lnTo>
                    <a:pt x="6452296" y="1742406"/>
                  </a:lnTo>
                  <a:lnTo>
                    <a:pt x="6450898" y="1762290"/>
                  </a:lnTo>
                  <a:lnTo>
                    <a:pt x="6445717" y="1767361"/>
                  </a:lnTo>
                  <a:lnTo>
                    <a:pt x="6463400" y="1774828"/>
                  </a:lnTo>
                  <a:lnTo>
                    <a:pt x="6488574" y="1794970"/>
                  </a:lnTo>
                  <a:lnTo>
                    <a:pt x="6526944" y="1849152"/>
                  </a:lnTo>
                  <a:lnTo>
                    <a:pt x="6537951" y="1878919"/>
                  </a:lnTo>
                  <a:lnTo>
                    <a:pt x="6538298" y="1931834"/>
                  </a:lnTo>
                  <a:lnTo>
                    <a:pt x="6521548" y="1957072"/>
                  </a:lnTo>
                  <a:lnTo>
                    <a:pt x="6481295" y="1965890"/>
                  </a:lnTo>
                  <a:lnTo>
                    <a:pt x="6445760" y="1984939"/>
                  </a:lnTo>
                  <a:lnTo>
                    <a:pt x="6405721" y="1988872"/>
                  </a:lnTo>
                  <a:lnTo>
                    <a:pt x="6400751" y="1963861"/>
                  </a:lnTo>
                  <a:lnTo>
                    <a:pt x="6408993" y="1929418"/>
                  </a:lnTo>
                  <a:lnTo>
                    <a:pt x="6389354" y="1881619"/>
                  </a:lnTo>
                  <a:lnTo>
                    <a:pt x="6422371" y="1873885"/>
                  </a:lnTo>
                  <a:lnTo>
                    <a:pt x="6391896" y="1834585"/>
                  </a:lnTo>
                  <a:lnTo>
                    <a:pt x="6370311" y="1825839"/>
                  </a:lnTo>
                  <a:lnTo>
                    <a:pt x="6364950" y="1834475"/>
                  </a:lnTo>
                  <a:lnTo>
                    <a:pt x="6351920" y="1838285"/>
                  </a:lnTo>
                  <a:lnTo>
                    <a:pt x="6350354" y="1829643"/>
                  </a:lnTo>
                  <a:lnTo>
                    <a:pt x="6338840" y="1825436"/>
                  </a:lnTo>
                  <a:lnTo>
                    <a:pt x="6326892" y="1818117"/>
                  </a:lnTo>
                  <a:lnTo>
                    <a:pt x="6339063" y="1797899"/>
                  </a:lnTo>
                  <a:lnTo>
                    <a:pt x="6349546" y="1792509"/>
                  </a:lnTo>
                  <a:lnTo>
                    <a:pt x="6345587" y="1784114"/>
                  </a:lnTo>
                  <a:lnTo>
                    <a:pt x="6356871" y="1759352"/>
                  </a:lnTo>
                  <a:lnTo>
                    <a:pt x="6353954" y="1751838"/>
                  </a:lnTo>
                  <a:lnTo>
                    <a:pt x="6328013" y="1746843"/>
                  </a:lnTo>
                  <a:lnTo>
                    <a:pt x="6307041" y="1734524"/>
                  </a:lnTo>
                  <a:lnTo>
                    <a:pt x="6244899" y="1747871"/>
                  </a:lnTo>
                  <a:lnTo>
                    <a:pt x="6212178" y="1769337"/>
                  </a:lnTo>
                  <a:lnTo>
                    <a:pt x="6164312" y="1781872"/>
                  </a:lnTo>
                  <a:lnTo>
                    <a:pt x="6187934" y="1760591"/>
                  </a:lnTo>
                  <a:lnTo>
                    <a:pt x="6178634" y="1742708"/>
                  </a:lnTo>
                  <a:lnTo>
                    <a:pt x="6213830" y="1711839"/>
                  </a:lnTo>
                  <a:lnTo>
                    <a:pt x="6190352" y="1687775"/>
                  </a:lnTo>
                  <a:lnTo>
                    <a:pt x="6151599" y="1703985"/>
                  </a:lnTo>
                  <a:lnTo>
                    <a:pt x="6101416" y="1735922"/>
                  </a:lnTo>
                  <a:lnTo>
                    <a:pt x="6074026" y="1765578"/>
                  </a:lnTo>
                  <a:lnTo>
                    <a:pt x="6030430" y="1767784"/>
                  </a:lnTo>
                  <a:lnTo>
                    <a:pt x="6007760" y="1789213"/>
                  </a:lnTo>
                  <a:lnTo>
                    <a:pt x="6031185" y="1820264"/>
                  </a:lnTo>
                  <a:lnTo>
                    <a:pt x="6067572" y="1827807"/>
                  </a:lnTo>
                  <a:lnTo>
                    <a:pt x="6069056" y="1848417"/>
                  </a:lnTo>
                  <a:lnTo>
                    <a:pt x="6104224" y="1861827"/>
                  </a:lnTo>
                  <a:lnTo>
                    <a:pt x="6154035" y="1829037"/>
                  </a:lnTo>
                  <a:lnTo>
                    <a:pt x="6193499" y="1846920"/>
                  </a:lnTo>
                  <a:lnTo>
                    <a:pt x="6222240" y="1848140"/>
                  </a:lnTo>
                  <a:lnTo>
                    <a:pt x="6229449" y="1872195"/>
                  </a:lnTo>
                  <a:lnTo>
                    <a:pt x="6166518" y="1885027"/>
                  </a:lnTo>
                  <a:lnTo>
                    <a:pt x="6145750" y="1909817"/>
                  </a:lnTo>
                  <a:lnTo>
                    <a:pt x="6102526" y="1932852"/>
                  </a:lnTo>
                  <a:lnTo>
                    <a:pt x="6079707" y="1964999"/>
                  </a:lnTo>
                  <a:lnTo>
                    <a:pt x="6127543" y="1990231"/>
                  </a:lnTo>
                  <a:lnTo>
                    <a:pt x="6145012" y="2035410"/>
                  </a:lnTo>
                  <a:lnTo>
                    <a:pt x="6172066" y="2077494"/>
                  </a:lnTo>
                  <a:lnTo>
                    <a:pt x="6202245" y="2112764"/>
                  </a:lnTo>
                  <a:lnTo>
                    <a:pt x="6201527" y="2146888"/>
                  </a:lnTo>
                  <a:lnTo>
                    <a:pt x="6173629" y="2159422"/>
                  </a:lnTo>
                  <a:lnTo>
                    <a:pt x="6184261" y="2183921"/>
                  </a:lnTo>
                  <a:lnTo>
                    <a:pt x="6210425" y="2198174"/>
                  </a:lnTo>
                  <a:lnTo>
                    <a:pt x="6203597" y="2235574"/>
                  </a:lnTo>
                  <a:lnTo>
                    <a:pt x="6192308" y="2271974"/>
                  </a:lnTo>
                  <a:lnTo>
                    <a:pt x="6167467" y="2276100"/>
                  </a:lnTo>
                  <a:lnTo>
                    <a:pt x="6135012" y="2325808"/>
                  </a:lnTo>
                  <a:lnTo>
                    <a:pt x="6099007" y="2386077"/>
                  </a:lnTo>
                  <a:lnTo>
                    <a:pt x="6057731" y="2440884"/>
                  </a:lnTo>
                  <a:lnTo>
                    <a:pt x="5996602" y="2483271"/>
                  </a:lnTo>
                  <a:lnTo>
                    <a:pt x="5934772" y="2521921"/>
                  </a:lnTo>
                  <a:lnTo>
                    <a:pt x="5884687" y="2527194"/>
                  </a:lnTo>
                  <a:lnTo>
                    <a:pt x="5857511" y="2547594"/>
                  </a:lnTo>
                  <a:lnTo>
                    <a:pt x="5842147" y="2532696"/>
                  </a:lnTo>
                  <a:lnTo>
                    <a:pt x="5816998" y="2555509"/>
                  </a:lnTo>
                  <a:lnTo>
                    <a:pt x="5754883" y="2578519"/>
                  </a:lnTo>
                  <a:lnTo>
                    <a:pt x="5707848" y="2585555"/>
                  </a:lnTo>
                  <a:lnTo>
                    <a:pt x="5692671" y="2634058"/>
                  </a:lnTo>
                  <a:lnTo>
                    <a:pt x="5668037" y="2636751"/>
                  </a:lnTo>
                  <a:lnTo>
                    <a:pt x="5656382" y="2603418"/>
                  </a:lnTo>
                  <a:lnTo>
                    <a:pt x="5666908" y="2585656"/>
                  </a:lnTo>
                  <a:lnTo>
                    <a:pt x="5607274" y="2570951"/>
                  </a:lnTo>
                  <a:lnTo>
                    <a:pt x="5586267" y="2578427"/>
                  </a:lnTo>
                  <a:lnTo>
                    <a:pt x="5526917" y="2617719"/>
                  </a:lnTo>
                  <a:lnTo>
                    <a:pt x="5489873" y="2661109"/>
                  </a:lnTo>
                  <a:lnTo>
                    <a:pt x="5480112" y="2692971"/>
                  </a:lnTo>
                  <a:lnTo>
                    <a:pt x="5514106" y="2741384"/>
                  </a:lnTo>
                  <a:lnTo>
                    <a:pt x="5555667" y="2801387"/>
                  </a:lnTo>
                  <a:lnTo>
                    <a:pt x="5596009" y="2829759"/>
                  </a:lnTo>
                  <a:lnTo>
                    <a:pt x="5623017" y="2866638"/>
                  </a:lnTo>
                  <a:lnTo>
                    <a:pt x="5643387" y="2951625"/>
                  </a:lnTo>
                  <a:lnTo>
                    <a:pt x="5637374" y="3032415"/>
                  </a:lnTo>
                  <a:lnTo>
                    <a:pt x="5600304" y="3062659"/>
                  </a:lnTo>
                  <a:lnTo>
                    <a:pt x="5549400" y="3092225"/>
                  </a:lnTo>
                  <a:lnTo>
                    <a:pt x="5513138" y="3130508"/>
                  </a:lnTo>
                  <a:lnTo>
                    <a:pt x="5457719" y="3173273"/>
                  </a:lnTo>
                  <a:lnTo>
                    <a:pt x="5441582" y="3143817"/>
                  </a:lnTo>
                  <a:lnTo>
                    <a:pt x="5454073" y="3112706"/>
                  </a:lnTo>
                  <a:lnTo>
                    <a:pt x="5421099" y="3086614"/>
                  </a:lnTo>
                  <a:lnTo>
                    <a:pt x="5383887" y="3079909"/>
                  </a:lnTo>
                  <a:lnTo>
                    <a:pt x="5365813" y="3055982"/>
                  </a:lnTo>
                  <a:lnTo>
                    <a:pt x="5343338" y="3008542"/>
                  </a:lnTo>
                  <a:lnTo>
                    <a:pt x="5303422" y="2987455"/>
                  </a:lnTo>
                  <a:lnTo>
                    <a:pt x="5265410" y="2988318"/>
                  </a:lnTo>
                  <a:lnTo>
                    <a:pt x="5271926" y="2952238"/>
                  </a:lnTo>
                  <a:lnTo>
                    <a:pt x="5232783" y="2952505"/>
                  </a:lnTo>
                  <a:lnTo>
                    <a:pt x="5229261" y="3003012"/>
                  </a:lnTo>
                  <a:lnTo>
                    <a:pt x="5205268" y="3070090"/>
                  </a:lnTo>
                  <a:lnTo>
                    <a:pt x="5190813" y="3110660"/>
                  </a:lnTo>
                  <a:lnTo>
                    <a:pt x="5193870" y="3143898"/>
                  </a:lnTo>
                  <a:lnTo>
                    <a:pt x="5222826" y="3145342"/>
                  </a:lnTo>
                  <a:lnTo>
                    <a:pt x="5240865" y="3187252"/>
                  </a:lnTo>
                  <a:lnTo>
                    <a:pt x="5248847" y="3227004"/>
                  </a:lnTo>
                  <a:lnTo>
                    <a:pt x="5273649" y="3253310"/>
                  </a:lnTo>
                  <a:lnTo>
                    <a:pt x="5300578" y="3258644"/>
                  </a:lnTo>
                  <a:lnTo>
                    <a:pt x="5323612" y="3282480"/>
                  </a:lnTo>
                  <a:lnTo>
                    <a:pt x="5333835" y="3286769"/>
                  </a:lnTo>
                  <a:lnTo>
                    <a:pt x="5360080" y="3314499"/>
                  </a:lnTo>
                  <a:lnTo>
                    <a:pt x="5378729" y="3345239"/>
                  </a:lnTo>
                  <a:lnTo>
                    <a:pt x="5381282" y="3376165"/>
                  </a:lnTo>
                  <a:lnTo>
                    <a:pt x="5376543" y="3397061"/>
                  </a:lnTo>
                  <a:lnTo>
                    <a:pt x="5380873" y="3412850"/>
                  </a:lnTo>
                  <a:lnTo>
                    <a:pt x="5384117" y="3440028"/>
                  </a:lnTo>
                  <a:lnTo>
                    <a:pt x="5399772" y="3452683"/>
                  </a:lnTo>
                  <a:lnTo>
                    <a:pt x="5417252" y="3493290"/>
                  </a:lnTo>
                  <a:lnTo>
                    <a:pt x="5416405" y="3508822"/>
                  </a:lnTo>
                  <a:lnTo>
                    <a:pt x="5384883" y="3511888"/>
                  </a:lnTo>
                  <a:lnTo>
                    <a:pt x="5342834" y="3477868"/>
                  </a:lnTo>
                  <a:lnTo>
                    <a:pt x="5290247" y="3441413"/>
                  </a:lnTo>
                  <a:lnTo>
                    <a:pt x="5285046" y="3418019"/>
                  </a:lnTo>
                  <a:lnTo>
                    <a:pt x="5259346" y="3387307"/>
                  </a:lnTo>
                  <a:lnTo>
                    <a:pt x="5253212" y="3349273"/>
                  </a:lnTo>
                  <a:lnTo>
                    <a:pt x="5237175" y="3324234"/>
                  </a:lnTo>
                  <a:lnTo>
                    <a:pt x="5242045" y="3290791"/>
                  </a:lnTo>
                  <a:lnTo>
                    <a:pt x="5232248" y="3271330"/>
                  </a:lnTo>
                  <a:lnTo>
                    <a:pt x="5214682" y="3253702"/>
                  </a:lnTo>
                  <a:lnTo>
                    <a:pt x="5207083" y="3230962"/>
                  </a:lnTo>
                  <a:lnTo>
                    <a:pt x="5183460" y="3205034"/>
                  </a:lnTo>
                  <a:lnTo>
                    <a:pt x="5161930" y="3183255"/>
                  </a:lnTo>
                  <a:lnTo>
                    <a:pt x="5154632" y="3210250"/>
                  </a:lnTo>
                  <a:lnTo>
                    <a:pt x="5146203" y="3184735"/>
                  </a:lnTo>
                  <a:lnTo>
                    <a:pt x="5151056" y="3156088"/>
                  </a:lnTo>
                  <a:lnTo>
                    <a:pt x="5164136" y="3112037"/>
                  </a:lnTo>
                  <a:lnTo>
                    <a:pt x="5159857" y="3077952"/>
                  </a:lnTo>
                  <a:lnTo>
                    <a:pt x="5173514" y="3042775"/>
                  </a:lnTo>
                  <a:lnTo>
                    <a:pt x="5158568" y="3015597"/>
                  </a:lnTo>
                  <a:lnTo>
                    <a:pt x="5162188" y="2965567"/>
                  </a:lnTo>
                  <a:lnTo>
                    <a:pt x="5144141" y="2941778"/>
                  </a:lnTo>
                  <a:lnTo>
                    <a:pt x="5129650" y="2886817"/>
                  </a:lnTo>
                  <a:lnTo>
                    <a:pt x="5121623" y="2828795"/>
                  </a:lnTo>
                  <a:lnTo>
                    <a:pt x="5102401" y="2790770"/>
                  </a:lnTo>
                  <a:lnTo>
                    <a:pt x="5073119" y="2813796"/>
                  </a:lnTo>
                  <a:lnTo>
                    <a:pt x="5022598" y="2846532"/>
                  </a:lnTo>
                  <a:lnTo>
                    <a:pt x="4997668" y="2842443"/>
                  </a:lnTo>
                  <a:lnTo>
                    <a:pt x="4970128" y="2831671"/>
                  </a:lnTo>
                  <a:lnTo>
                    <a:pt x="4985446" y="2774762"/>
                  </a:lnTo>
                  <a:lnTo>
                    <a:pt x="4976173" y="2731767"/>
                  </a:lnTo>
                  <a:lnTo>
                    <a:pt x="4941332" y="2678816"/>
                  </a:lnTo>
                  <a:lnTo>
                    <a:pt x="4946766" y="2662256"/>
                  </a:lnTo>
                  <a:lnTo>
                    <a:pt x="4920762" y="2656369"/>
                  </a:lnTo>
                  <a:lnTo>
                    <a:pt x="4889212" y="2618913"/>
                  </a:lnTo>
                  <a:lnTo>
                    <a:pt x="4876516" y="2594967"/>
                  </a:lnTo>
                  <a:lnTo>
                    <a:pt x="4873957" y="2571573"/>
                  </a:lnTo>
                  <a:lnTo>
                    <a:pt x="4865493" y="2549475"/>
                  </a:lnTo>
                  <a:lnTo>
                    <a:pt x="4846922" y="2522740"/>
                  </a:lnTo>
                  <a:lnTo>
                    <a:pt x="4805983" y="2520901"/>
                  </a:lnTo>
                  <a:lnTo>
                    <a:pt x="4810028" y="2539832"/>
                  </a:lnTo>
                  <a:lnTo>
                    <a:pt x="4796061" y="2565384"/>
                  </a:lnTo>
                  <a:lnTo>
                    <a:pt x="4777151" y="2556078"/>
                  </a:lnTo>
                  <a:lnTo>
                    <a:pt x="4770689" y="2564437"/>
                  </a:lnTo>
                  <a:lnTo>
                    <a:pt x="4758101" y="2559422"/>
                  </a:lnTo>
                  <a:lnTo>
                    <a:pt x="4740908" y="2555316"/>
                  </a:lnTo>
                  <a:lnTo>
                    <a:pt x="4734544" y="2572081"/>
                  </a:lnTo>
                  <a:lnTo>
                    <a:pt x="4704299" y="2571501"/>
                  </a:lnTo>
                  <a:lnTo>
                    <a:pt x="4649501" y="2581045"/>
                  </a:lnTo>
                  <a:lnTo>
                    <a:pt x="4652052" y="2615589"/>
                  </a:lnTo>
                  <a:lnTo>
                    <a:pt x="4628326" y="2642758"/>
                  </a:lnTo>
                  <a:lnTo>
                    <a:pt x="4564362" y="2673664"/>
                  </a:lnTo>
                  <a:lnTo>
                    <a:pt x="4514613" y="2727697"/>
                  </a:lnTo>
                  <a:lnTo>
                    <a:pt x="4481194" y="2756666"/>
                  </a:lnTo>
                  <a:lnTo>
                    <a:pt x="4436904" y="2786728"/>
                  </a:lnTo>
                  <a:lnTo>
                    <a:pt x="4436834" y="2807854"/>
                  </a:lnTo>
                  <a:lnTo>
                    <a:pt x="4414671" y="2819169"/>
                  </a:lnTo>
                  <a:lnTo>
                    <a:pt x="4374641" y="2835620"/>
                  </a:lnTo>
                  <a:lnTo>
                    <a:pt x="4353873" y="2838045"/>
                  </a:lnTo>
                  <a:lnTo>
                    <a:pt x="4340546" y="2873076"/>
                  </a:lnTo>
                  <a:lnTo>
                    <a:pt x="4349800" y="2932805"/>
                  </a:lnTo>
                  <a:lnTo>
                    <a:pt x="4352158" y="2970903"/>
                  </a:lnTo>
                  <a:lnTo>
                    <a:pt x="4333319" y="3014532"/>
                  </a:lnTo>
                  <a:lnTo>
                    <a:pt x="4333123" y="3092556"/>
                  </a:lnTo>
                  <a:lnTo>
                    <a:pt x="4310117" y="3094779"/>
                  </a:lnTo>
                  <a:lnTo>
                    <a:pt x="4289892" y="3129810"/>
                  </a:lnTo>
                  <a:lnTo>
                    <a:pt x="4303413" y="3144938"/>
                  </a:lnTo>
                  <a:lnTo>
                    <a:pt x="4262892" y="3157961"/>
                  </a:lnTo>
                  <a:lnTo>
                    <a:pt x="4247921" y="3189197"/>
                  </a:lnTo>
                  <a:lnTo>
                    <a:pt x="4230081" y="3202396"/>
                  </a:lnTo>
                  <a:lnTo>
                    <a:pt x="4187994" y="3159514"/>
                  </a:lnTo>
                  <a:lnTo>
                    <a:pt x="4167415" y="3095202"/>
                  </a:lnTo>
                  <a:lnTo>
                    <a:pt x="4150364" y="3048883"/>
                  </a:lnTo>
                  <a:lnTo>
                    <a:pt x="4134789" y="3027159"/>
                  </a:lnTo>
                  <a:lnTo>
                    <a:pt x="4111177" y="2983046"/>
                  </a:lnTo>
                  <a:lnTo>
                    <a:pt x="4100144" y="2925604"/>
                  </a:lnTo>
                  <a:lnTo>
                    <a:pt x="4092463" y="2896919"/>
                  </a:lnTo>
                  <a:lnTo>
                    <a:pt x="4052031" y="2833846"/>
                  </a:lnTo>
                  <a:lnTo>
                    <a:pt x="4033610" y="2744846"/>
                  </a:lnTo>
                  <a:lnTo>
                    <a:pt x="4020321" y="2686081"/>
                  </a:lnTo>
                  <a:lnTo>
                    <a:pt x="4020481" y="2630459"/>
                  </a:lnTo>
                  <a:lnTo>
                    <a:pt x="4011865" y="2587447"/>
                  </a:lnTo>
                  <a:lnTo>
                    <a:pt x="3947173" y="2614936"/>
                  </a:lnTo>
                  <a:lnTo>
                    <a:pt x="3915846" y="2609433"/>
                  </a:lnTo>
                  <a:lnTo>
                    <a:pt x="3857777" y="2553774"/>
                  </a:lnTo>
                  <a:lnTo>
                    <a:pt x="3879147" y="2537178"/>
                  </a:lnTo>
                  <a:lnTo>
                    <a:pt x="3866024" y="2519146"/>
                  </a:lnTo>
                  <a:lnTo>
                    <a:pt x="3813885" y="2480168"/>
                  </a:lnTo>
                  <a:lnTo>
                    <a:pt x="3781305" y="2468558"/>
                  </a:lnTo>
                  <a:lnTo>
                    <a:pt x="3768049" y="2435547"/>
                  </a:lnTo>
                  <a:lnTo>
                    <a:pt x="3733708" y="2400572"/>
                  </a:lnTo>
                  <a:lnTo>
                    <a:pt x="3651813" y="2409213"/>
                  </a:lnTo>
                  <a:lnTo>
                    <a:pt x="3579590" y="2410068"/>
                  </a:lnTo>
                  <a:lnTo>
                    <a:pt x="3516995" y="2416507"/>
                  </a:lnTo>
                  <a:lnTo>
                    <a:pt x="3433366" y="2402646"/>
                  </a:lnTo>
                  <a:lnTo>
                    <a:pt x="3384907" y="2392084"/>
                  </a:lnTo>
                  <a:lnTo>
                    <a:pt x="3334740" y="2386122"/>
                  </a:lnTo>
                  <a:lnTo>
                    <a:pt x="3315787" y="2329810"/>
                  </a:lnTo>
                  <a:lnTo>
                    <a:pt x="3294506" y="2321673"/>
                  </a:lnTo>
                  <a:lnTo>
                    <a:pt x="3260349" y="2329875"/>
                  </a:lnTo>
                  <a:lnTo>
                    <a:pt x="3215517" y="2352102"/>
                  </a:lnTo>
                  <a:lnTo>
                    <a:pt x="3161200" y="2336865"/>
                  </a:lnTo>
                  <a:lnTo>
                    <a:pt x="3116332" y="2301579"/>
                  </a:lnTo>
                  <a:lnTo>
                    <a:pt x="3073534" y="2288497"/>
                  </a:lnTo>
                  <a:lnTo>
                    <a:pt x="3043851" y="2244925"/>
                  </a:lnTo>
                  <a:lnTo>
                    <a:pt x="3011048" y="2183691"/>
                  </a:lnTo>
                  <a:lnTo>
                    <a:pt x="2987125" y="2191138"/>
                  </a:lnTo>
                  <a:lnTo>
                    <a:pt x="2958871" y="2175921"/>
                  </a:lnTo>
                  <a:lnTo>
                    <a:pt x="2942284" y="2193840"/>
                  </a:lnTo>
                  <a:lnTo>
                    <a:pt x="2915897" y="2191590"/>
                  </a:lnTo>
                  <a:lnTo>
                    <a:pt x="2925178" y="2211861"/>
                  </a:lnTo>
                  <a:lnTo>
                    <a:pt x="2921204" y="2222341"/>
                  </a:lnTo>
                  <a:lnTo>
                    <a:pt x="2935526" y="2256975"/>
                  </a:lnTo>
                  <a:lnTo>
                    <a:pt x="2952933" y="2296581"/>
                  </a:lnTo>
                  <a:lnTo>
                    <a:pt x="2974802" y="2307070"/>
                  </a:lnTo>
                  <a:lnTo>
                    <a:pt x="2982412" y="2323198"/>
                  </a:lnTo>
                  <a:lnTo>
                    <a:pt x="3012711" y="2342505"/>
                  </a:lnTo>
                  <a:lnTo>
                    <a:pt x="3015402" y="2361453"/>
                  </a:lnTo>
                  <a:lnTo>
                    <a:pt x="3010967" y="2376746"/>
                  </a:lnTo>
                  <a:lnTo>
                    <a:pt x="3016596" y="2392177"/>
                  </a:lnTo>
                  <a:lnTo>
                    <a:pt x="3029380" y="2405045"/>
                  </a:lnTo>
                  <a:lnTo>
                    <a:pt x="3035300" y="2420109"/>
                  </a:lnTo>
                  <a:lnTo>
                    <a:pt x="3041941" y="2431360"/>
                  </a:lnTo>
                  <a:lnTo>
                    <a:pt x="3038997" y="2397945"/>
                  </a:lnTo>
                  <a:lnTo>
                    <a:pt x="3050981" y="2373854"/>
                  </a:lnTo>
                  <a:lnTo>
                    <a:pt x="3063116" y="2368912"/>
                  </a:lnTo>
                  <a:lnTo>
                    <a:pt x="3076567" y="2383314"/>
                  </a:lnTo>
                  <a:lnTo>
                    <a:pt x="3077349" y="2410197"/>
                  </a:lnTo>
                  <a:lnTo>
                    <a:pt x="3067704" y="2437210"/>
                  </a:lnTo>
                  <a:lnTo>
                    <a:pt x="3076141" y="2454753"/>
                  </a:lnTo>
                  <a:lnTo>
                    <a:pt x="3084052" y="2452519"/>
                  </a:lnTo>
                  <a:lnTo>
                    <a:pt x="3085697" y="2465113"/>
                  </a:lnTo>
                  <a:lnTo>
                    <a:pt x="3120483" y="2457876"/>
                  </a:lnTo>
                  <a:lnTo>
                    <a:pt x="3157244" y="2459078"/>
                  </a:lnTo>
                  <a:lnTo>
                    <a:pt x="3184092" y="2460429"/>
                  </a:lnTo>
                  <a:lnTo>
                    <a:pt x="3214540" y="2429384"/>
                  </a:lnTo>
                  <a:lnTo>
                    <a:pt x="3247699" y="2399938"/>
                  </a:lnTo>
                  <a:lnTo>
                    <a:pt x="3275784" y="2371631"/>
                  </a:lnTo>
                  <a:lnTo>
                    <a:pt x="3288728" y="2355999"/>
                  </a:lnTo>
                  <a:lnTo>
                    <a:pt x="3294221" y="2359984"/>
                  </a:lnTo>
                  <a:lnTo>
                    <a:pt x="3290032" y="2378949"/>
                  </a:lnTo>
                  <a:lnTo>
                    <a:pt x="3284238" y="2387280"/>
                  </a:lnTo>
                  <a:lnTo>
                    <a:pt x="3290274" y="2423562"/>
                  </a:lnTo>
                  <a:lnTo>
                    <a:pt x="3310204" y="2454927"/>
                  </a:lnTo>
                  <a:lnTo>
                    <a:pt x="3335017" y="2471597"/>
                  </a:lnTo>
                  <a:lnTo>
                    <a:pt x="3367625" y="2477603"/>
                  </a:lnTo>
                  <a:lnTo>
                    <a:pt x="3393949" y="2485973"/>
                  </a:lnTo>
                  <a:lnTo>
                    <a:pt x="3414004" y="2512296"/>
                  </a:lnTo>
                  <a:lnTo>
                    <a:pt x="3425987" y="2527553"/>
                  </a:lnTo>
                  <a:lnTo>
                    <a:pt x="3441902" y="2533366"/>
                  </a:lnTo>
                  <a:lnTo>
                    <a:pt x="3441820" y="2543616"/>
                  </a:lnTo>
                  <a:lnTo>
                    <a:pt x="3425642" y="2570988"/>
                  </a:lnTo>
                  <a:lnTo>
                    <a:pt x="3418537" y="2583873"/>
                  </a:lnTo>
                  <a:lnTo>
                    <a:pt x="3399806" y="2598561"/>
                  </a:lnTo>
                  <a:lnTo>
                    <a:pt x="3383227" y="2630018"/>
                  </a:lnTo>
                  <a:lnTo>
                    <a:pt x="3363056" y="2627611"/>
                  </a:lnTo>
                  <a:lnTo>
                    <a:pt x="3353818" y="2638559"/>
                  </a:lnTo>
                  <a:lnTo>
                    <a:pt x="3346680" y="2661844"/>
                  </a:lnTo>
                  <a:lnTo>
                    <a:pt x="3352139" y="2692539"/>
                  </a:lnTo>
                  <a:lnTo>
                    <a:pt x="3347953" y="2698187"/>
                  </a:lnTo>
                  <a:lnTo>
                    <a:pt x="3327497" y="2698030"/>
                  </a:lnTo>
                  <a:lnTo>
                    <a:pt x="3299732" y="2715198"/>
                  </a:lnTo>
                  <a:lnTo>
                    <a:pt x="3295404" y="2737572"/>
                  </a:lnTo>
                  <a:lnTo>
                    <a:pt x="3285233" y="2747262"/>
                  </a:lnTo>
                  <a:lnTo>
                    <a:pt x="3257585" y="2746886"/>
                  </a:lnTo>
                  <a:lnTo>
                    <a:pt x="3240186" y="2758457"/>
                  </a:lnTo>
                  <a:lnTo>
                    <a:pt x="3240401" y="2777013"/>
                  </a:lnTo>
                  <a:lnTo>
                    <a:pt x="3218895" y="2789761"/>
                  </a:lnTo>
                  <a:lnTo>
                    <a:pt x="3194369" y="2785424"/>
                  </a:lnTo>
                  <a:lnTo>
                    <a:pt x="3164640" y="2800919"/>
                  </a:lnTo>
                  <a:lnTo>
                    <a:pt x="3144113" y="2803518"/>
                  </a:lnTo>
                  <a:lnTo>
                    <a:pt x="3111959" y="2815854"/>
                  </a:lnTo>
                  <a:lnTo>
                    <a:pt x="3103353" y="2836245"/>
                  </a:lnTo>
                  <a:lnTo>
                    <a:pt x="3102311" y="2851906"/>
                  </a:lnTo>
                  <a:lnTo>
                    <a:pt x="3058048" y="2871294"/>
                  </a:lnTo>
                  <a:lnTo>
                    <a:pt x="2987027" y="2892723"/>
                  </a:lnTo>
                  <a:lnTo>
                    <a:pt x="2947227" y="2925117"/>
                  </a:lnTo>
                  <a:lnTo>
                    <a:pt x="2927658" y="2927651"/>
                  </a:lnTo>
                  <a:lnTo>
                    <a:pt x="2914316" y="2924932"/>
                  </a:lnTo>
                  <a:lnTo>
                    <a:pt x="2888338" y="2943992"/>
                  </a:lnTo>
                  <a:lnTo>
                    <a:pt x="2860006" y="2952835"/>
                  </a:lnTo>
                  <a:lnTo>
                    <a:pt x="2822694" y="2955215"/>
                  </a:lnTo>
                  <a:lnTo>
                    <a:pt x="2811468" y="2957825"/>
                  </a:lnTo>
                  <a:lnTo>
                    <a:pt x="2801750" y="2969956"/>
                  </a:lnTo>
                  <a:lnTo>
                    <a:pt x="2790095" y="2973308"/>
                  </a:lnTo>
                  <a:lnTo>
                    <a:pt x="2783223" y="2984983"/>
                  </a:lnTo>
                  <a:lnTo>
                    <a:pt x="2761220" y="2983974"/>
                  </a:lnTo>
                  <a:lnTo>
                    <a:pt x="2747015" y="2990210"/>
                  </a:lnTo>
                  <a:lnTo>
                    <a:pt x="2716255" y="2987867"/>
                  </a:lnTo>
                  <a:lnTo>
                    <a:pt x="2704689" y="2961048"/>
                  </a:lnTo>
                  <a:lnTo>
                    <a:pt x="2705962" y="2935936"/>
                  </a:lnTo>
                  <a:lnTo>
                    <a:pt x="2698696" y="2922389"/>
                  </a:lnTo>
                  <a:lnTo>
                    <a:pt x="2689993" y="2888423"/>
                  </a:lnTo>
                  <a:lnTo>
                    <a:pt x="2677220" y="2869548"/>
                  </a:lnTo>
                  <a:lnTo>
                    <a:pt x="2686119" y="2867308"/>
                  </a:lnTo>
                  <a:lnTo>
                    <a:pt x="2681558" y="2846330"/>
                  </a:lnTo>
                  <a:lnTo>
                    <a:pt x="2686946" y="2837476"/>
                  </a:lnTo>
                  <a:lnTo>
                    <a:pt x="2684979" y="2817443"/>
                  </a:lnTo>
                  <a:lnTo>
                    <a:pt x="2679211" y="2797842"/>
                  </a:lnTo>
                  <a:lnTo>
                    <a:pt x="2665804" y="2784009"/>
                  </a:lnTo>
                  <a:lnTo>
                    <a:pt x="2662372" y="2765697"/>
                  </a:lnTo>
                  <a:lnTo>
                    <a:pt x="2639420" y="2749235"/>
                  </a:lnTo>
                  <a:lnTo>
                    <a:pt x="2615727" y="2710725"/>
                  </a:lnTo>
                  <a:lnTo>
                    <a:pt x="2603182" y="2673305"/>
                  </a:lnTo>
                  <a:lnTo>
                    <a:pt x="2572441" y="2641701"/>
                  </a:lnTo>
                  <a:lnTo>
                    <a:pt x="2552617" y="2634158"/>
                  </a:lnTo>
                  <a:lnTo>
                    <a:pt x="2523183" y="2590395"/>
                  </a:lnTo>
                  <a:lnTo>
                    <a:pt x="2518034" y="2558478"/>
                  </a:lnTo>
                  <a:lnTo>
                    <a:pt x="2519928" y="2531252"/>
                  </a:lnTo>
                  <a:lnTo>
                    <a:pt x="2494442" y="2480333"/>
                  </a:lnTo>
                  <a:lnTo>
                    <a:pt x="2473595" y="2462414"/>
                  </a:lnTo>
                  <a:lnTo>
                    <a:pt x="2449582" y="2452915"/>
                  </a:lnTo>
                  <a:lnTo>
                    <a:pt x="2434967" y="2426600"/>
                  </a:lnTo>
                  <a:lnTo>
                    <a:pt x="2437392" y="2416224"/>
                  </a:lnTo>
                  <a:lnTo>
                    <a:pt x="2425045" y="2392407"/>
                  </a:lnTo>
                  <a:lnTo>
                    <a:pt x="2412066" y="2382156"/>
                  </a:lnTo>
                  <a:lnTo>
                    <a:pt x="2394703" y="2347996"/>
                  </a:lnTo>
                  <a:lnTo>
                    <a:pt x="2367643" y="2310963"/>
                  </a:lnTo>
                  <a:lnTo>
                    <a:pt x="2344974" y="2279415"/>
                  </a:lnTo>
                  <a:lnTo>
                    <a:pt x="2322838" y="2279645"/>
                  </a:lnTo>
                  <a:lnTo>
                    <a:pt x="2329754" y="2254432"/>
                  </a:lnTo>
                  <a:lnTo>
                    <a:pt x="2331726" y="2238357"/>
                  </a:lnTo>
                  <a:lnTo>
                    <a:pt x="2337231" y="2220026"/>
                  </a:lnTo>
                  <a:lnTo>
                    <a:pt x="2335747" y="2213386"/>
                  </a:lnTo>
                  <a:lnTo>
                    <a:pt x="2323256" y="2231838"/>
                  </a:lnTo>
                  <a:lnTo>
                    <a:pt x="2313698" y="2266527"/>
                  </a:lnTo>
                  <a:lnTo>
                    <a:pt x="2301598" y="2290445"/>
                  </a:lnTo>
                  <a:lnTo>
                    <a:pt x="2291242" y="2298465"/>
                  </a:lnTo>
                  <a:lnTo>
                    <a:pt x="2276421" y="2283640"/>
                  </a:lnTo>
                  <a:lnTo>
                    <a:pt x="2256367" y="2263147"/>
                  </a:lnTo>
                  <a:lnTo>
                    <a:pt x="2224646" y="2197322"/>
                  </a:lnTo>
                  <a:lnTo>
                    <a:pt x="2220077" y="2201481"/>
                  </a:lnTo>
                  <a:lnTo>
                    <a:pt x="2238499" y="2249939"/>
                  </a:lnTo>
                  <a:lnTo>
                    <a:pt x="2265789" y="2296113"/>
                  </a:lnTo>
                  <a:lnTo>
                    <a:pt x="2299384" y="2367645"/>
                  </a:lnTo>
                  <a:lnTo>
                    <a:pt x="2315795" y="2392608"/>
                  </a:lnTo>
                  <a:lnTo>
                    <a:pt x="2330074" y="2418547"/>
                  </a:lnTo>
                  <a:lnTo>
                    <a:pt x="2369963" y="2469393"/>
                  </a:lnTo>
                  <a:lnTo>
                    <a:pt x="2361127" y="2477393"/>
                  </a:lnTo>
                  <a:lnTo>
                    <a:pt x="2362567" y="2507245"/>
                  </a:lnTo>
                  <a:lnTo>
                    <a:pt x="2414332" y="2548466"/>
                  </a:lnTo>
                  <a:lnTo>
                    <a:pt x="2422137" y="2557870"/>
                  </a:lnTo>
                  <a:lnTo>
                    <a:pt x="2436470" y="2602930"/>
                  </a:lnTo>
                  <a:lnTo>
                    <a:pt x="2426725" y="2611261"/>
                  </a:lnTo>
                  <a:lnTo>
                    <a:pt x="2433179" y="2658536"/>
                  </a:lnTo>
                  <a:lnTo>
                    <a:pt x="2449501" y="2713371"/>
                  </a:lnTo>
                  <a:lnTo>
                    <a:pt x="2466427" y="2724675"/>
                  </a:lnTo>
                  <a:lnTo>
                    <a:pt x="2490760" y="2741650"/>
                  </a:lnTo>
                  <a:lnTo>
                    <a:pt x="2516569" y="2794812"/>
                  </a:lnTo>
                  <a:lnTo>
                    <a:pt x="2528810" y="2836968"/>
                  </a:lnTo>
                  <a:lnTo>
                    <a:pt x="2553176" y="2859333"/>
                  </a:lnTo>
                  <a:lnTo>
                    <a:pt x="2613852" y="2902715"/>
                  </a:lnTo>
                  <a:lnTo>
                    <a:pt x="2638549" y="2928892"/>
                  </a:lnTo>
                  <a:lnTo>
                    <a:pt x="2662640" y="2955389"/>
                  </a:lnTo>
                  <a:lnTo>
                    <a:pt x="2676544" y="2971170"/>
                  </a:lnTo>
                  <a:lnTo>
                    <a:pt x="2698395" y="2984983"/>
                  </a:lnTo>
                  <a:lnTo>
                    <a:pt x="2708911" y="2999202"/>
                  </a:lnTo>
                  <a:lnTo>
                    <a:pt x="2707516" y="3018268"/>
                  </a:lnTo>
                  <a:lnTo>
                    <a:pt x="2682152" y="3029253"/>
                  </a:lnTo>
                  <a:lnTo>
                    <a:pt x="2701241" y="3041819"/>
                  </a:lnTo>
                  <a:lnTo>
                    <a:pt x="2715704" y="3050287"/>
                  </a:lnTo>
                  <a:lnTo>
                    <a:pt x="2724415" y="3069271"/>
                  </a:lnTo>
                  <a:lnTo>
                    <a:pt x="2744473" y="3088497"/>
                  </a:lnTo>
                  <a:lnTo>
                    <a:pt x="2766538" y="3088651"/>
                  </a:lnTo>
                  <a:lnTo>
                    <a:pt x="2808435" y="3076904"/>
                  </a:lnTo>
                  <a:lnTo>
                    <a:pt x="2856824" y="3071466"/>
                  </a:lnTo>
                  <a:lnTo>
                    <a:pt x="2895948" y="3057193"/>
                  </a:lnTo>
                  <a:lnTo>
                    <a:pt x="2917997" y="3054172"/>
                  </a:lnTo>
                  <a:lnTo>
                    <a:pt x="2933874" y="3045796"/>
                  </a:lnTo>
                  <a:lnTo>
                    <a:pt x="2959183" y="3044179"/>
                  </a:lnTo>
                  <a:lnTo>
                    <a:pt x="2973389" y="3043271"/>
                  </a:lnTo>
                  <a:lnTo>
                    <a:pt x="2993872" y="3036454"/>
                  </a:lnTo>
                  <a:lnTo>
                    <a:pt x="3017440" y="3031826"/>
                  </a:lnTo>
                  <a:lnTo>
                    <a:pt x="3038474" y="3016110"/>
                  </a:lnTo>
                  <a:lnTo>
                    <a:pt x="3055330" y="3015981"/>
                  </a:lnTo>
                  <a:lnTo>
                    <a:pt x="3056334" y="3028676"/>
                  </a:lnTo>
                  <a:lnTo>
                    <a:pt x="3052226" y="3055394"/>
                  </a:lnTo>
                  <a:lnTo>
                    <a:pt x="3052394" y="3079530"/>
                  </a:lnTo>
                  <a:lnTo>
                    <a:pt x="3043015" y="3096118"/>
                  </a:lnTo>
                  <a:lnTo>
                    <a:pt x="3030489" y="3145762"/>
                  </a:lnTo>
                  <a:lnTo>
                    <a:pt x="3009084" y="3197060"/>
                  </a:lnTo>
                  <a:lnTo>
                    <a:pt x="2981604" y="3255706"/>
                  </a:lnTo>
                  <a:lnTo>
                    <a:pt x="2943456" y="3323012"/>
                  </a:lnTo>
                  <a:lnTo>
                    <a:pt x="2905515" y="3374430"/>
                  </a:lnTo>
                  <a:lnTo>
                    <a:pt x="2853240" y="3437079"/>
                  </a:lnTo>
                  <a:lnTo>
                    <a:pt x="2808755" y="3474250"/>
                  </a:lnTo>
                  <a:lnTo>
                    <a:pt x="2742267" y="3519851"/>
                  </a:lnTo>
                  <a:lnTo>
                    <a:pt x="2700831" y="3554782"/>
                  </a:lnTo>
                  <a:lnTo>
                    <a:pt x="2652184" y="3610419"/>
                  </a:lnTo>
                  <a:lnTo>
                    <a:pt x="2641934" y="3634631"/>
                  </a:lnTo>
                  <a:lnTo>
                    <a:pt x="2631888" y="3645506"/>
                  </a:lnTo>
                  <a:lnTo>
                    <a:pt x="2600765" y="3663843"/>
                  </a:lnTo>
                  <a:lnTo>
                    <a:pt x="2589785" y="3683007"/>
                  </a:lnTo>
                  <a:lnTo>
                    <a:pt x="2573127" y="3686374"/>
                  </a:lnTo>
                  <a:lnTo>
                    <a:pt x="2566822" y="3718731"/>
                  </a:lnTo>
                  <a:lnTo>
                    <a:pt x="2552546" y="3737256"/>
                  </a:lnTo>
                  <a:lnTo>
                    <a:pt x="2543870" y="3767815"/>
                  </a:lnTo>
                  <a:lnTo>
                    <a:pt x="2525972" y="3782979"/>
                  </a:lnTo>
                  <a:lnTo>
                    <a:pt x="2505446" y="3839565"/>
                  </a:lnTo>
                  <a:lnTo>
                    <a:pt x="2508077" y="3865591"/>
                  </a:lnTo>
                  <a:lnTo>
                    <a:pt x="2536545" y="3882328"/>
                  </a:lnTo>
                  <a:lnTo>
                    <a:pt x="2537877" y="3894266"/>
                  </a:lnTo>
                  <a:lnTo>
                    <a:pt x="2525636" y="3922001"/>
                  </a:lnTo>
                  <a:lnTo>
                    <a:pt x="2528186" y="3935957"/>
                  </a:lnTo>
                  <a:lnTo>
                    <a:pt x="2525272" y="3957893"/>
                  </a:lnTo>
                  <a:lnTo>
                    <a:pt x="2540802" y="3986680"/>
                  </a:lnTo>
                  <a:lnTo>
                    <a:pt x="2559196" y="4031965"/>
                  </a:lnTo>
                  <a:lnTo>
                    <a:pt x="2575509" y="4042008"/>
                  </a:lnTo>
                  <a:lnTo>
                    <a:pt x="2582701" y="4062596"/>
                  </a:lnTo>
                  <a:lnTo>
                    <a:pt x="2580870" y="4108352"/>
                  </a:lnTo>
                  <a:lnTo>
                    <a:pt x="2586364" y="4148645"/>
                  </a:lnTo>
                  <a:lnTo>
                    <a:pt x="2588087" y="4220415"/>
                  </a:lnTo>
                  <a:lnTo>
                    <a:pt x="2595903" y="4242909"/>
                  </a:lnTo>
                  <a:lnTo>
                    <a:pt x="2582647" y="4275727"/>
                  </a:lnTo>
                  <a:lnTo>
                    <a:pt x="2565400" y="4307616"/>
                  </a:lnTo>
                  <a:lnTo>
                    <a:pt x="2537104" y="4336097"/>
                  </a:lnTo>
                  <a:lnTo>
                    <a:pt x="2496460" y="4353554"/>
                  </a:lnTo>
                  <a:lnTo>
                    <a:pt x="2446353" y="4375841"/>
                  </a:lnTo>
                  <a:lnTo>
                    <a:pt x="2396136" y="4425131"/>
                  </a:lnTo>
                  <a:lnTo>
                    <a:pt x="2379030" y="4433521"/>
                  </a:lnTo>
                  <a:lnTo>
                    <a:pt x="2348004" y="4466150"/>
                  </a:lnTo>
                  <a:lnTo>
                    <a:pt x="2329691" y="4476768"/>
                  </a:lnTo>
                  <a:lnTo>
                    <a:pt x="2325931" y="4509512"/>
                  </a:lnTo>
                  <a:lnTo>
                    <a:pt x="2347008" y="4544289"/>
                  </a:lnTo>
                  <a:lnTo>
                    <a:pt x="2355782" y="4571226"/>
                  </a:lnTo>
                  <a:lnTo>
                    <a:pt x="2356336" y="4584966"/>
                  </a:lnTo>
                  <a:lnTo>
                    <a:pt x="2364193" y="4582670"/>
                  </a:lnTo>
                  <a:lnTo>
                    <a:pt x="2362912" y="4627712"/>
                  </a:lnTo>
                  <a:lnTo>
                    <a:pt x="2355712" y="4649042"/>
                  </a:lnTo>
                  <a:lnTo>
                    <a:pt x="2366184" y="4656905"/>
                  </a:lnTo>
                  <a:lnTo>
                    <a:pt x="2359570" y="4676015"/>
                  </a:lnTo>
                  <a:lnTo>
                    <a:pt x="2340991" y="4692348"/>
                  </a:lnTo>
                  <a:lnTo>
                    <a:pt x="2304327" y="4707871"/>
                  </a:lnTo>
                  <a:lnTo>
                    <a:pt x="2250873" y="4732725"/>
                  </a:lnTo>
                  <a:lnTo>
                    <a:pt x="2231377" y="4749709"/>
                  </a:lnTo>
                  <a:lnTo>
                    <a:pt x="2235181" y="4769052"/>
                  </a:lnTo>
                  <a:lnTo>
                    <a:pt x="2246551" y="4772147"/>
                  </a:lnTo>
                  <a:lnTo>
                    <a:pt x="2242728" y="4796317"/>
                  </a:lnTo>
                  <a:lnTo>
                    <a:pt x="2231627" y="4829745"/>
                  </a:lnTo>
                  <a:lnTo>
                    <a:pt x="2226380" y="4867905"/>
                  </a:lnTo>
                  <a:lnTo>
                    <a:pt x="2214876" y="4888633"/>
                  </a:lnTo>
                  <a:lnTo>
                    <a:pt x="2184545" y="4911825"/>
                  </a:lnTo>
                  <a:lnTo>
                    <a:pt x="2175858" y="4918465"/>
                  </a:lnTo>
                  <a:lnTo>
                    <a:pt x="2157011" y="4941792"/>
                  </a:lnTo>
                  <a:lnTo>
                    <a:pt x="2144620" y="4965387"/>
                  </a:lnTo>
                  <a:lnTo>
                    <a:pt x="2119408" y="4998291"/>
                  </a:lnTo>
                  <a:lnTo>
                    <a:pt x="2069169" y="5045676"/>
                  </a:lnTo>
                  <a:lnTo>
                    <a:pt x="2037798" y="5073226"/>
                  </a:lnTo>
                  <a:lnTo>
                    <a:pt x="2004238" y="5094125"/>
                  </a:lnTo>
                  <a:lnTo>
                    <a:pt x="1957778" y="5111941"/>
                  </a:lnTo>
                  <a:lnTo>
                    <a:pt x="1935119" y="5114332"/>
                  </a:lnTo>
                  <a:lnTo>
                    <a:pt x="1929383" y="5127080"/>
                  </a:lnTo>
                  <a:lnTo>
                    <a:pt x="1902367" y="5120297"/>
                  </a:lnTo>
                  <a:lnTo>
                    <a:pt x="1880365" y="5129037"/>
                  </a:lnTo>
                  <a:lnTo>
                    <a:pt x="1832190" y="5120188"/>
                  </a:lnTo>
                  <a:lnTo>
                    <a:pt x="1805260" y="5125785"/>
                  </a:lnTo>
                  <a:lnTo>
                    <a:pt x="1786858" y="5123383"/>
                  </a:lnTo>
                  <a:lnTo>
                    <a:pt x="1741014" y="5141510"/>
                  </a:lnTo>
                  <a:lnTo>
                    <a:pt x="1703061" y="5148784"/>
                  </a:lnTo>
                  <a:lnTo>
                    <a:pt x="1675600" y="5166140"/>
                  </a:lnTo>
                  <a:lnTo>
                    <a:pt x="1655385" y="5167241"/>
                  </a:lnTo>
                  <a:lnTo>
                    <a:pt x="1636573" y="5150869"/>
                  </a:lnTo>
                  <a:lnTo>
                    <a:pt x="1621549" y="5150028"/>
                  </a:lnTo>
                  <a:lnTo>
                    <a:pt x="1602408" y="5129524"/>
                  </a:lnTo>
                  <a:lnTo>
                    <a:pt x="1600311" y="5135893"/>
                  </a:lnTo>
                  <a:lnTo>
                    <a:pt x="1594400" y="5123548"/>
                  </a:lnTo>
                  <a:lnTo>
                    <a:pt x="1594649" y="5096623"/>
                  </a:lnTo>
                  <a:lnTo>
                    <a:pt x="1580211" y="5065846"/>
                  </a:lnTo>
                  <a:lnTo>
                    <a:pt x="1594552" y="5057482"/>
                  </a:lnTo>
                  <a:lnTo>
                    <a:pt x="1593385" y="5022237"/>
                  </a:lnTo>
                  <a:lnTo>
                    <a:pt x="1564280" y="4979256"/>
                  </a:lnTo>
                  <a:lnTo>
                    <a:pt x="1541949" y="4940354"/>
                  </a:lnTo>
                  <a:lnTo>
                    <a:pt x="1541878" y="4940233"/>
                  </a:lnTo>
                  <a:lnTo>
                    <a:pt x="1509971" y="4880566"/>
                  </a:lnTo>
                  <a:lnTo>
                    <a:pt x="1476937" y="4845871"/>
                  </a:lnTo>
                  <a:lnTo>
                    <a:pt x="1459538" y="4812330"/>
                  </a:lnTo>
                  <a:lnTo>
                    <a:pt x="1449723" y="4767620"/>
                  </a:lnTo>
                  <a:lnTo>
                    <a:pt x="1438770" y="4734351"/>
                  </a:lnTo>
                  <a:lnTo>
                    <a:pt x="1423870" y="4663635"/>
                  </a:lnTo>
                  <a:lnTo>
                    <a:pt x="1422875" y="4608693"/>
                  </a:lnTo>
                  <a:lnTo>
                    <a:pt x="1417186" y="4583643"/>
                  </a:lnTo>
                  <a:lnTo>
                    <a:pt x="1399896" y="4564712"/>
                  </a:lnTo>
                  <a:lnTo>
                    <a:pt x="1376949" y="4526770"/>
                  </a:lnTo>
                  <a:lnTo>
                    <a:pt x="1353587" y="4471675"/>
                  </a:lnTo>
                  <a:lnTo>
                    <a:pt x="1343888" y="4442843"/>
                  </a:lnTo>
                  <a:lnTo>
                    <a:pt x="1307716" y="4398012"/>
                  </a:lnTo>
                  <a:lnTo>
                    <a:pt x="1305022" y="4362779"/>
                  </a:lnTo>
                  <a:lnTo>
                    <a:pt x="1300833" y="4333903"/>
                  </a:lnTo>
                  <a:lnTo>
                    <a:pt x="1306994" y="4293523"/>
                  </a:lnTo>
                  <a:lnTo>
                    <a:pt x="1322331" y="4251478"/>
                  </a:lnTo>
                  <a:lnTo>
                    <a:pt x="1324642" y="4231767"/>
                  </a:lnTo>
                  <a:lnTo>
                    <a:pt x="1339062" y="4190373"/>
                  </a:lnTo>
                  <a:lnTo>
                    <a:pt x="1349659" y="4171551"/>
                  </a:lnTo>
                  <a:lnTo>
                    <a:pt x="1375191" y="4141503"/>
                  </a:lnTo>
                  <a:lnTo>
                    <a:pt x="1389450" y="4121066"/>
                  </a:lnTo>
                  <a:lnTo>
                    <a:pt x="1394117" y="4087047"/>
                  </a:lnTo>
                  <a:lnTo>
                    <a:pt x="1391797" y="4061021"/>
                  </a:lnTo>
                  <a:lnTo>
                    <a:pt x="1378498" y="4044604"/>
                  </a:lnTo>
                  <a:lnTo>
                    <a:pt x="1366664" y="4016742"/>
                  </a:lnTo>
                  <a:lnTo>
                    <a:pt x="1355747" y="3989186"/>
                  </a:lnTo>
                  <a:lnTo>
                    <a:pt x="1358129" y="3979645"/>
                  </a:lnTo>
                  <a:lnTo>
                    <a:pt x="1371794" y="3961436"/>
                  </a:lnTo>
                  <a:lnTo>
                    <a:pt x="1358308" y="3917068"/>
                  </a:lnTo>
                  <a:lnTo>
                    <a:pt x="1349203" y="3886328"/>
                  </a:lnTo>
                  <a:lnTo>
                    <a:pt x="1326943" y="3857269"/>
                  </a:lnTo>
                  <a:lnTo>
                    <a:pt x="1331167" y="3848347"/>
                  </a:lnTo>
                  <a:lnTo>
                    <a:pt x="1324935" y="3834102"/>
                  </a:lnTo>
                  <a:lnTo>
                    <a:pt x="1313057" y="3799567"/>
                  </a:lnTo>
                  <a:lnTo>
                    <a:pt x="1276546" y="3750929"/>
                  </a:lnTo>
                  <a:lnTo>
                    <a:pt x="1230878" y="3704576"/>
                  </a:lnTo>
                  <a:lnTo>
                    <a:pt x="1201496" y="3666680"/>
                  </a:lnTo>
                  <a:lnTo>
                    <a:pt x="1174507" y="3619242"/>
                  </a:lnTo>
                  <a:lnTo>
                    <a:pt x="1175928" y="3603980"/>
                  </a:lnTo>
                  <a:lnTo>
                    <a:pt x="1185638" y="3589298"/>
                  </a:lnTo>
                  <a:lnTo>
                    <a:pt x="1196430" y="3555867"/>
                  </a:lnTo>
                  <a:lnTo>
                    <a:pt x="1205392" y="3521819"/>
                  </a:lnTo>
                  <a:lnTo>
                    <a:pt x="1197071" y="3514893"/>
                  </a:lnTo>
                  <a:lnTo>
                    <a:pt x="1212342" y="3463321"/>
                  </a:lnTo>
                  <a:lnTo>
                    <a:pt x="1218832" y="3427058"/>
                  </a:lnTo>
                  <a:lnTo>
                    <a:pt x="1201460" y="3396702"/>
                  </a:lnTo>
                  <a:lnTo>
                    <a:pt x="1181175" y="3388913"/>
                  </a:lnTo>
                  <a:lnTo>
                    <a:pt x="1172141" y="3368330"/>
                  </a:lnTo>
                  <a:lnTo>
                    <a:pt x="1160762" y="3361743"/>
                  </a:lnTo>
                  <a:lnTo>
                    <a:pt x="1161270" y="3349051"/>
                  </a:lnTo>
                  <a:lnTo>
                    <a:pt x="1115121" y="3365583"/>
                  </a:lnTo>
                  <a:lnTo>
                    <a:pt x="1098257" y="3363167"/>
                  </a:lnTo>
                  <a:lnTo>
                    <a:pt x="1081163" y="3373454"/>
                  </a:lnTo>
                  <a:lnTo>
                    <a:pt x="1045611" y="3372454"/>
                  </a:lnTo>
                  <a:lnTo>
                    <a:pt x="1021813" y="3343723"/>
                  </a:lnTo>
                  <a:lnTo>
                    <a:pt x="1007179" y="3310485"/>
                  </a:lnTo>
                  <a:lnTo>
                    <a:pt x="975708" y="3280230"/>
                  </a:lnTo>
                  <a:lnTo>
                    <a:pt x="942308" y="3280799"/>
                  </a:lnTo>
                  <a:lnTo>
                    <a:pt x="903078" y="3280771"/>
                  </a:lnTo>
                  <a:lnTo>
                    <a:pt x="866344" y="3286127"/>
                  </a:lnTo>
                  <a:lnTo>
                    <a:pt x="830554" y="3295926"/>
                  </a:lnTo>
                  <a:lnTo>
                    <a:pt x="760867" y="3322810"/>
                  </a:lnTo>
                  <a:lnTo>
                    <a:pt x="736154" y="3338563"/>
                  </a:lnTo>
                  <a:lnTo>
                    <a:pt x="696099" y="3351880"/>
                  </a:lnTo>
                  <a:lnTo>
                    <a:pt x="656479" y="3338837"/>
                  </a:lnTo>
                  <a:lnTo>
                    <a:pt x="636253" y="3339305"/>
                  </a:lnTo>
                  <a:lnTo>
                    <a:pt x="605241" y="3330325"/>
                  </a:lnTo>
                  <a:lnTo>
                    <a:pt x="576743" y="3330857"/>
                  </a:lnTo>
                  <a:lnTo>
                    <a:pt x="524092" y="3338874"/>
                  </a:lnTo>
                  <a:lnTo>
                    <a:pt x="493231" y="3352129"/>
                  </a:lnTo>
                  <a:lnTo>
                    <a:pt x="449215" y="3368972"/>
                  </a:lnTo>
                  <a:lnTo>
                    <a:pt x="440629" y="3367761"/>
                  </a:lnTo>
                  <a:lnTo>
                    <a:pt x="428982" y="3368165"/>
                  </a:lnTo>
                  <a:lnTo>
                    <a:pt x="383167" y="3346276"/>
                  </a:lnTo>
                  <a:lnTo>
                    <a:pt x="342781" y="3311320"/>
                  </a:lnTo>
                  <a:lnTo>
                    <a:pt x="304910" y="3286200"/>
                  </a:lnTo>
                  <a:lnTo>
                    <a:pt x="274977" y="3256570"/>
                  </a:lnTo>
                  <a:lnTo>
                    <a:pt x="263002" y="3253161"/>
                  </a:lnTo>
                  <a:lnTo>
                    <a:pt x="231002" y="3234664"/>
                  </a:lnTo>
                  <a:lnTo>
                    <a:pt x="207849" y="3210057"/>
                  </a:lnTo>
                  <a:lnTo>
                    <a:pt x="200068" y="3193287"/>
                  </a:lnTo>
                  <a:lnTo>
                    <a:pt x="194623" y="3159340"/>
                  </a:lnTo>
                  <a:lnTo>
                    <a:pt x="175125" y="3132162"/>
                  </a:lnTo>
                  <a:lnTo>
                    <a:pt x="157843" y="3114186"/>
                  </a:lnTo>
                  <a:lnTo>
                    <a:pt x="146459" y="3108244"/>
                  </a:lnTo>
                  <a:lnTo>
                    <a:pt x="135363" y="3099115"/>
                  </a:lnTo>
                  <a:lnTo>
                    <a:pt x="130320" y="3078824"/>
                  </a:lnTo>
                  <a:lnTo>
                    <a:pt x="123816" y="3068702"/>
                  </a:lnTo>
                  <a:lnTo>
                    <a:pt x="110889" y="3061179"/>
                  </a:lnTo>
                  <a:lnTo>
                    <a:pt x="87158" y="3041984"/>
                  </a:lnTo>
                  <a:lnTo>
                    <a:pt x="68444" y="3038943"/>
                  </a:lnTo>
                  <a:lnTo>
                    <a:pt x="58243" y="3026002"/>
                  </a:lnTo>
                  <a:lnTo>
                    <a:pt x="58501" y="3019014"/>
                  </a:lnTo>
                  <a:lnTo>
                    <a:pt x="44949" y="3009268"/>
                  </a:lnTo>
                  <a:lnTo>
                    <a:pt x="42120" y="2999441"/>
                  </a:lnTo>
                  <a:lnTo>
                    <a:pt x="34827" y="2964235"/>
                  </a:lnTo>
                  <a:lnTo>
                    <a:pt x="40508" y="2943863"/>
                  </a:lnTo>
                  <a:lnTo>
                    <a:pt x="22176" y="2908117"/>
                  </a:lnTo>
                  <a:lnTo>
                    <a:pt x="0" y="2891758"/>
                  </a:lnTo>
                  <a:lnTo>
                    <a:pt x="19550" y="2883041"/>
                  </a:lnTo>
                  <a:lnTo>
                    <a:pt x="41086" y="2850801"/>
                  </a:lnTo>
                  <a:lnTo>
                    <a:pt x="51650" y="2827217"/>
                  </a:lnTo>
                  <a:lnTo>
                    <a:pt x="47798" y="2802472"/>
                  </a:lnTo>
                  <a:lnTo>
                    <a:pt x="60207" y="2779821"/>
                  </a:lnTo>
                  <a:lnTo>
                    <a:pt x="65728" y="2736588"/>
                  </a:lnTo>
                  <a:lnTo>
                    <a:pt x="60812" y="2691208"/>
                  </a:lnTo>
                  <a:lnTo>
                    <a:pt x="55446" y="2668375"/>
                  </a:lnTo>
                  <a:lnTo>
                    <a:pt x="59884" y="2645474"/>
                  </a:lnTo>
                  <a:lnTo>
                    <a:pt x="48392" y="2623644"/>
                  </a:lnTo>
                  <a:lnTo>
                    <a:pt x="24962" y="2603805"/>
                  </a:lnTo>
                  <a:lnTo>
                    <a:pt x="26875" y="2584405"/>
                  </a:lnTo>
                  <a:lnTo>
                    <a:pt x="28972" y="2563125"/>
                  </a:lnTo>
                  <a:lnTo>
                    <a:pt x="46045" y="2550604"/>
                  </a:lnTo>
                  <a:lnTo>
                    <a:pt x="60590" y="2526678"/>
                  </a:lnTo>
                  <a:lnTo>
                    <a:pt x="57722" y="2511130"/>
                  </a:lnTo>
                  <a:lnTo>
                    <a:pt x="73004" y="2478725"/>
                  </a:lnTo>
                  <a:lnTo>
                    <a:pt x="97744" y="2449534"/>
                  </a:lnTo>
                  <a:lnTo>
                    <a:pt x="112712" y="2442132"/>
                  </a:lnTo>
                  <a:lnTo>
                    <a:pt x="124478" y="2415349"/>
                  </a:lnTo>
                  <a:lnTo>
                    <a:pt x="125531" y="2390882"/>
                  </a:lnTo>
                  <a:lnTo>
                    <a:pt x="141579" y="2362490"/>
                  </a:lnTo>
                  <a:lnTo>
                    <a:pt x="171186" y="2345757"/>
                  </a:lnTo>
                  <a:lnTo>
                    <a:pt x="199363" y="2298860"/>
                  </a:lnTo>
                  <a:lnTo>
                    <a:pt x="222527" y="2280570"/>
                  </a:lnTo>
                  <a:lnTo>
                    <a:pt x="263859" y="2275502"/>
                  </a:lnTo>
                  <a:lnTo>
                    <a:pt x="298887" y="2244109"/>
                  </a:lnTo>
                  <a:lnTo>
                    <a:pt x="321169" y="2231874"/>
                  </a:lnTo>
                  <a:lnTo>
                    <a:pt x="358275" y="2193526"/>
                  </a:lnTo>
                  <a:lnTo>
                    <a:pt x="347168" y="2136399"/>
                  </a:lnTo>
                  <a:lnTo>
                    <a:pt x="364054" y="2096885"/>
                  </a:lnTo>
                  <a:lnTo>
                    <a:pt x="370014" y="2072701"/>
                  </a:lnTo>
                  <a:lnTo>
                    <a:pt x="398609" y="2041675"/>
                  </a:lnTo>
                  <a:lnTo>
                    <a:pt x="443203" y="2020697"/>
                  </a:lnTo>
                  <a:lnTo>
                    <a:pt x="476172" y="2001713"/>
                  </a:lnTo>
                  <a:lnTo>
                    <a:pt x="505871" y="1954163"/>
                  </a:lnTo>
                  <a:lnTo>
                    <a:pt x="519843" y="1925956"/>
                  </a:lnTo>
                  <a:lnTo>
                    <a:pt x="552567" y="1926175"/>
                  </a:lnTo>
                  <a:lnTo>
                    <a:pt x="579361" y="1945675"/>
                  </a:lnTo>
                  <a:lnTo>
                    <a:pt x="621630" y="1942497"/>
                  </a:lnTo>
                  <a:lnTo>
                    <a:pt x="667670" y="1952638"/>
                  </a:lnTo>
                  <a:lnTo>
                    <a:pt x="686978" y="1953123"/>
                  </a:lnTo>
                  <a:lnTo>
                    <a:pt x="729708" y="1928030"/>
                  </a:lnTo>
                  <a:lnTo>
                    <a:pt x="777769" y="1920050"/>
                  </a:lnTo>
                  <a:lnTo>
                    <a:pt x="805830" y="1901099"/>
                  </a:lnTo>
                  <a:lnTo>
                    <a:pt x="848636" y="1887121"/>
                  </a:lnTo>
                  <a:lnTo>
                    <a:pt x="923968" y="1878939"/>
                  </a:lnTo>
                  <a:lnTo>
                    <a:pt x="997488" y="1875208"/>
                  </a:lnTo>
                  <a:lnTo>
                    <a:pt x="1019911" y="1882033"/>
                  </a:lnTo>
                  <a:lnTo>
                    <a:pt x="1061773" y="1863929"/>
                  </a:lnTo>
                  <a:lnTo>
                    <a:pt x="1109272" y="1863570"/>
                  </a:lnTo>
                  <a:lnTo>
                    <a:pt x="1127346" y="1874264"/>
                  </a:lnTo>
                  <a:lnTo>
                    <a:pt x="1157748" y="1871472"/>
                  </a:lnTo>
                  <a:lnTo>
                    <a:pt x="1206154" y="1852936"/>
                  </a:lnTo>
                  <a:lnTo>
                    <a:pt x="1237269" y="1858446"/>
                  </a:lnTo>
                  <a:lnTo>
                    <a:pt x="1235964" y="1881683"/>
                  </a:lnTo>
                  <a:lnTo>
                    <a:pt x="1273667" y="1864784"/>
                  </a:lnTo>
                  <a:lnTo>
                    <a:pt x="1276831" y="1873602"/>
                  </a:lnTo>
                  <a:lnTo>
                    <a:pt x="1254606" y="1896104"/>
                  </a:lnTo>
                  <a:lnTo>
                    <a:pt x="1254304" y="1917348"/>
                  </a:lnTo>
                  <a:lnTo>
                    <a:pt x="1269693" y="1928756"/>
                  </a:lnTo>
                  <a:lnTo>
                    <a:pt x="1263843" y="1968508"/>
                  </a:lnTo>
                  <a:lnTo>
                    <a:pt x="1234586" y="1991599"/>
                  </a:lnTo>
                  <a:lnTo>
                    <a:pt x="1243032" y="2016619"/>
                  </a:lnTo>
                  <a:lnTo>
                    <a:pt x="1266019" y="2017409"/>
                  </a:lnTo>
                  <a:lnTo>
                    <a:pt x="1277205" y="2039242"/>
                  </a:lnTo>
                  <a:lnTo>
                    <a:pt x="1294112" y="2046415"/>
                  </a:lnTo>
                  <a:lnTo>
                    <a:pt x="1346316" y="2062221"/>
                  </a:lnTo>
                  <a:lnTo>
                    <a:pt x="1364985" y="2058271"/>
                  </a:lnTo>
                  <a:lnTo>
                    <a:pt x="1402118" y="2065932"/>
                  </a:lnTo>
                  <a:lnTo>
                    <a:pt x="1461104" y="2086461"/>
                  </a:lnTo>
                  <a:lnTo>
                    <a:pt x="1481915" y="2127278"/>
                  </a:lnTo>
                  <a:lnTo>
                    <a:pt x="1521821" y="2136186"/>
                  </a:lnTo>
                  <a:lnTo>
                    <a:pt x="1584470" y="2155420"/>
                  </a:lnTo>
                  <a:lnTo>
                    <a:pt x="1631826" y="2178245"/>
                  </a:lnTo>
                  <a:lnTo>
                    <a:pt x="1653500" y="2166332"/>
                  </a:lnTo>
                  <a:lnTo>
                    <a:pt x="1674800" y="2145206"/>
                  </a:lnTo>
                  <a:lnTo>
                    <a:pt x="1664444" y="2110028"/>
                  </a:lnTo>
                  <a:lnTo>
                    <a:pt x="1678392" y="2087691"/>
                  </a:lnTo>
                  <a:lnTo>
                    <a:pt x="1710413" y="2066170"/>
                  </a:lnTo>
                  <a:lnTo>
                    <a:pt x="1741022" y="2059905"/>
                  </a:lnTo>
                  <a:lnTo>
                    <a:pt x="1801153" y="2069312"/>
                  </a:lnTo>
                  <a:lnTo>
                    <a:pt x="1816310" y="2089838"/>
                  </a:lnTo>
                  <a:lnTo>
                    <a:pt x="1832857" y="2090032"/>
                  </a:lnTo>
                  <a:lnTo>
                    <a:pt x="1847008" y="2097866"/>
                  </a:lnTo>
                  <a:lnTo>
                    <a:pt x="1891173" y="2103251"/>
                  </a:lnTo>
                  <a:lnTo>
                    <a:pt x="1902012" y="2118415"/>
                  </a:lnTo>
                  <a:lnTo>
                    <a:pt x="1961147" y="2117661"/>
                  </a:lnTo>
                  <a:lnTo>
                    <a:pt x="2003926" y="2129803"/>
                  </a:lnTo>
                  <a:lnTo>
                    <a:pt x="2048056" y="2143370"/>
                  </a:lnTo>
                  <a:lnTo>
                    <a:pt x="2068637" y="2150523"/>
                  </a:lnTo>
                  <a:lnTo>
                    <a:pt x="2102862" y="2135976"/>
                  </a:lnTo>
                  <a:lnTo>
                    <a:pt x="2121158" y="2122813"/>
                  </a:lnTo>
                  <a:lnTo>
                    <a:pt x="2160356" y="2119029"/>
                  </a:lnTo>
                  <a:lnTo>
                    <a:pt x="2191968" y="2124825"/>
                  </a:lnTo>
                  <a:lnTo>
                    <a:pt x="2204076" y="2147602"/>
                  </a:lnTo>
                  <a:lnTo>
                    <a:pt x="2214388" y="2132604"/>
                  </a:lnTo>
                  <a:lnTo>
                    <a:pt x="2250010" y="2143451"/>
                  </a:lnTo>
                  <a:lnTo>
                    <a:pt x="2284663" y="2146049"/>
                  </a:lnTo>
                  <a:lnTo>
                    <a:pt x="2306533" y="2134479"/>
                  </a:lnTo>
                  <a:lnTo>
                    <a:pt x="2319469" y="2119351"/>
                  </a:lnTo>
                  <a:lnTo>
                    <a:pt x="2316427" y="2116750"/>
                  </a:lnTo>
                  <a:lnTo>
                    <a:pt x="2328188" y="2095287"/>
                  </a:lnTo>
                  <a:lnTo>
                    <a:pt x="2337203" y="2060631"/>
                  </a:lnTo>
                  <a:lnTo>
                    <a:pt x="2343560" y="2049005"/>
                  </a:lnTo>
                  <a:lnTo>
                    <a:pt x="2344786" y="2048536"/>
                  </a:lnTo>
                  <a:lnTo>
                    <a:pt x="2360619" y="2011125"/>
                  </a:lnTo>
                  <a:lnTo>
                    <a:pt x="2382728" y="1978767"/>
                  </a:lnTo>
                  <a:lnTo>
                    <a:pt x="2383563" y="1977170"/>
                  </a:lnTo>
                  <a:lnTo>
                    <a:pt x="2379413" y="1942029"/>
                  </a:lnTo>
                  <a:lnTo>
                    <a:pt x="2390294" y="1923136"/>
                  </a:lnTo>
                  <a:lnTo>
                    <a:pt x="2373946" y="1902305"/>
                  </a:lnTo>
                  <a:lnTo>
                    <a:pt x="2390783" y="1885055"/>
                  </a:lnTo>
                  <a:lnTo>
                    <a:pt x="2363677" y="1888968"/>
                  </a:lnTo>
                  <a:lnTo>
                    <a:pt x="2326490" y="1878406"/>
                  </a:lnTo>
                  <a:lnTo>
                    <a:pt x="2295928" y="1904830"/>
                  </a:lnTo>
                  <a:lnTo>
                    <a:pt x="2228469" y="1910002"/>
                  </a:lnTo>
                  <a:lnTo>
                    <a:pt x="2192483" y="1885349"/>
                  </a:lnTo>
                  <a:lnTo>
                    <a:pt x="2144566" y="1883805"/>
                  </a:lnTo>
                  <a:lnTo>
                    <a:pt x="2134316" y="1902854"/>
                  </a:lnTo>
                  <a:lnTo>
                    <a:pt x="2103599" y="1908311"/>
                  </a:lnTo>
                  <a:lnTo>
                    <a:pt x="2060609" y="1883853"/>
                  </a:lnTo>
                  <a:lnTo>
                    <a:pt x="2012087" y="1884679"/>
                  </a:lnTo>
                  <a:lnTo>
                    <a:pt x="1985754" y="1839002"/>
                  </a:lnTo>
                  <a:lnTo>
                    <a:pt x="1953280" y="1813531"/>
                  </a:lnTo>
                  <a:lnTo>
                    <a:pt x="1974900" y="1777813"/>
                  </a:lnTo>
                  <a:lnTo>
                    <a:pt x="1946728" y="1755871"/>
                  </a:lnTo>
                  <a:lnTo>
                    <a:pt x="1996031" y="1711948"/>
                  </a:lnTo>
                  <a:lnTo>
                    <a:pt x="2064486" y="1710112"/>
                  </a:lnTo>
                  <a:lnTo>
                    <a:pt x="2083154" y="1675210"/>
                  </a:lnTo>
                  <a:lnTo>
                    <a:pt x="2167865" y="1681289"/>
                  </a:lnTo>
                  <a:lnTo>
                    <a:pt x="2221304" y="1651502"/>
                  </a:lnTo>
                  <a:lnTo>
                    <a:pt x="2273098" y="1638516"/>
                  </a:lnTo>
                  <a:lnTo>
                    <a:pt x="2346637" y="1637543"/>
                  </a:lnTo>
                  <a:lnTo>
                    <a:pt x="2424218" y="1669909"/>
                  </a:lnTo>
                  <a:lnTo>
                    <a:pt x="2487987" y="1687672"/>
                  </a:lnTo>
                  <a:lnTo>
                    <a:pt x="2539771" y="1680591"/>
                  </a:lnTo>
                  <a:lnTo>
                    <a:pt x="2578032" y="1684689"/>
                  </a:lnTo>
                  <a:lnTo>
                    <a:pt x="2630510" y="1660715"/>
                  </a:lnTo>
                  <a:lnTo>
                    <a:pt x="2637143" y="1641089"/>
                  </a:lnTo>
                  <a:lnTo>
                    <a:pt x="2626039" y="1609768"/>
                  </a:lnTo>
                  <a:lnTo>
                    <a:pt x="2600347" y="1592841"/>
                  </a:lnTo>
                  <a:lnTo>
                    <a:pt x="2575721" y="1587557"/>
                  </a:lnTo>
                  <a:lnTo>
                    <a:pt x="2559434" y="1573486"/>
                  </a:lnTo>
                  <a:lnTo>
                    <a:pt x="2502762" y="1534682"/>
                  </a:lnTo>
                  <a:lnTo>
                    <a:pt x="2452045" y="1517360"/>
                  </a:lnTo>
                  <a:lnTo>
                    <a:pt x="2413656" y="1490384"/>
                  </a:lnTo>
                  <a:lnTo>
                    <a:pt x="2446009" y="1483045"/>
                  </a:lnTo>
                  <a:lnTo>
                    <a:pt x="2482892" y="1444633"/>
                  </a:lnTo>
                  <a:lnTo>
                    <a:pt x="2458027" y="1426456"/>
                  </a:lnTo>
                  <a:lnTo>
                    <a:pt x="2523547" y="1407721"/>
                  </a:lnTo>
                  <a:lnTo>
                    <a:pt x="2522372" y="1397672"/>
                  </a:lnTo>
                  <a:lnTo>
                    <a:pt x="2482474" y="1405075"/>
                  </a:lnTo>
                  <a:lnTo>
                    <a:pt x="2446977" y="1408749"/>
                  </a:lnTo>
                  <a:lnTo>
                    <a:pt x="2417408" y="1423608"/>
                  </a:lnTo>
                  <a:lnTo>
                    <a:pt x="2375796" y="1426035"/>
                  </a:lnTo>
                  <a:lnTo>
                    <a:pt x="2337505" y="1443145"/>
                  </a:lnTo>
                  <a:lnTo>
                    <a:pt x="2340109" y="1471710"/>
                  </a:lnTo>
                  <a:lnTo>
                    <a:pt x="2361854" y="1482788"/>
                  </a:lnTo>
                  <a:lnTo>
                    <a:pt x="2407194" y="1480032"/>
                  </a:lnTo>
                  <a:lnTo>
                    <a:pt x="2398509" y="1496418"/>
                  </a:lnTo>
                  <a:lnTo>
                    <a:pt x="2349854" y="1504370"/>
                  </a:lnTo>
                  <a:lnTo>
                    <a:pt x="2289509" y="1530943"/>
                  </a:lnTo>
                  <a:lnTo>
                    <a:pt x="2264793" y="1521603"/>
                  </a:lnTo>
                  <a:lnTo>
                    <a:pt x="2274590" y="1500017"/>
                  </a:lnTo>
                  <a:lnTo>
                    <a:pt x="2226024" y="1486580"/>
                  </a:lnTo>
                  <a:lnTo>
                    <a:pt x="2233876" y="1477773"/>
                  </a:lnTo>
                  <a:lnTo>
                    <a:pt x="2276421" y="1462508"/>
                  </a:lnTo>
                  <a:lnTo>
                    <a:pt x="2263559" y="1451991"/>
                  </a:lnTo>
                  <a:lnTo>
                    <a:pt x="2194456" y="1440381"/>
                  </a:lnTo>
                  <a:lnTo>
                    <a:pt x="2191398" y="1423261"/>
                  </a:lnTo>
                  <a:lnTo>
                    <a:pt x="2150220" y="1428917"/>
                  </a:lnTo>
                  <a:lnTo>
                    <a:pt x="2133719" y="1454205"/>
                  </a:lnTo>
                  <a:lnTo>
                    <a:pt x="2099297" y="1488152"/>
                  </a:lnTo>
                  <a:lnTo>
                    <a:pt x="2100330" y="1499989"/>
                  </a:lnTo>
                  <a:lnTo>
                    <a:pt x="2078781" y="1509873"/>
                  </a:lnTo>
                  <a:lnTo>
                    <a:pt x="2065276" y="1505576"/>
                  </a:lnTo>
                  <a:lnTo>
                    <a:pt x="2052839" y="1560977"/>
                  </a:lnTo>
                  <a:lnTo>
                    <a:pt x="2029770" y="1580001"/>
                  </a:lnTo>
                  <a:lnTo>
                    <a:pt x="2013536" y="1612854"/>
                  </a:lnTo>
                  <a:lnTo>
                    <a:pt x="2027885" y="1639048"/>
                  </a:lnTo>
                  <a:lnTo>
                    <a:pt x="2033164" y="1656710"/>
                  </a:lnTo>
                  <a:lnTo>
                    <a:pt x="2071971" y="1671543"/>
                  </a:lnTo>
                  <a:lnTo>
                    <a:pt x="2063881" y="1682797"/>
                  </a:lnTo>
                  <a:lnTo>
                    <a:pt x="2011099" y="1685323"/>
                  </a:lnTo>
                  <a:lnTo>
                    <a:pt x="1992138" y="1699523"/>
                  </a:lnTo>
                  <a:lnTo>
                    <a:pt x="1955048" y="1724256"/>
                  </a:lnTo>
                  <a:lnTo>
                    <a:pt x="1941055" y="1702875"/>
                  </a:lnTo>
                  <a:lnTo>
                    <a:pt x="1941660" y="1693395"/>
                  </a:lnTo>
                  <a:lnTo>
                    <a:pt x="1914581" y="1692092"/>
                  </a:lnTo>
                  <a:lnTo>
                    <a:pt x="1891388" y="1687747"/>
                  </a:lnTo>
                  <a:lnTo>
                    <a:pt x="1837559" y="1699688"/>
                  </a:lnTo>
                  <a:lnTo>
                    <a:pt x="1868370" y="1725495"/>
                  </a:lnTo>
                  <a:lnTo>
                    <a:pt x="1845790" y="1732982"/>
                  </a:lnTo>
                  <a:lnTo>
                    <a:pt x="1821031" y="1733027"/>
                  </a:lnTo>
                  <a:lnTo>
                    <a:pt x="1797517" y="1709378"/>
                  </a:lnTo>
                  <a:lnTo>
                    <a:pt x="1789169" y="1719460"/>
                  </a:lnTo>
                  <a:lnTo>
                    <a:pt x="1799099" y="1746888"/>
                  </a:lnTo>
                  <a:lnTo>
                    <a:pt x="1821343" y="1768434"/>
                  </a:lnTo>
                  <a:lnTo>
                    <a:pt x="1804585" y="1778502"/>
                  </a:lnTo>
                  <a:lnTo>
                    <a:pt x="1829344" y="1799665"/>
                  </a:lnTo>
                  <a:lnTo>
                    <a:pt x="1851346" y="1812982"/>
                  </a:lnTo>
                  <a:lnTo>
                    <a:pt x="1852014" y="1838929"/>
                  </a:lnTo>
                  <a:lnTo>
                    <a:pt x="1810898" y="1826759"/>
                  </a:lnTo>
                  <a:lnTo>
                    <a:pt x="1824010" y="1850180"/>
                  </a:lnTo>
                  <a:lnTo>
                    <a:pt x="1795784" y="1855001"/>
                  </a:lnTo>
                  <a:lnTo>
                    <a:pt x="1812640" y="1895535"/>
                  </a:lnTo>
                  <a:lnTo>
                    <a:pt x="1783117" y="1896104"/>
                  </a:lnTo>
                  <a:lnTo>
                    <a:pt x="1746667" y="1876128"/>
                  </a:lnTo>
                  <a:lnTo>
                    <a:pt x="1729999" y="1839389"/>
                  </a:lnTo>
                  <a:lnTo>
                    <a:pt x="1722220" y="1808839"/>
                  </a:lnTo>
                  <a:lnTo>
                    <a:pt x="1704884" y="1787724"/>
                  </a:lnTo>
                  <a:lnTo>
                    <a:pt x="1682109" y="1761539"/>
                  </a:lnTo>
                  <a:lnTo>
                    <a:pt x="1679103" y="1748457"/>
                  </a:lnTo>
                  <a:lnTo>
                    <a:pt x="1671547" y="1745242"/>
                  </a:lnTo>
                  <a:lnTo>
                    <a:pt x="1670657" y="1735140"/>
                  </a:lnTo>
                  <a:lnTo>
                    <a:pt x="1646034" y="1719718"/>
                  </a:lnTo>
                  <a:lnTo>
                    <a:pt x="1642165" y="1697841"/>
                  </a:lnTo>
                  <a:lnTo>
                    <a:pt x="1645925" y="1666512"/>
                  </a:lnTo>
                  <a:lnTo>
                    <a:pt x="1651989" y="1652248"/>
                  </a:lnTo>
                  <a:lnTo>
                    <a:pt x="1644512" y="1645010"/>
                  </a:lnTo>
                  <a:lnTo>
                    <a:pt x="1635203" y="1641456"/>
                  </a:lnTo>
                  <a:lnTo>
                    <a:pt x="1622740" y="1626466"/>
                  </a:lnTo>
                  <a:lnTo>
                    <a:pt x="1603537" y="1617345"/>
                  </a:lnTo>
                  <a:lnTo>
                    <a:pt x="1561746" y="1600353"/>
                  </a:lnTo>
                  <a:lnTo>
                    <a:pt x="1535975" y="1583821"/>
                  </a:lnTo>
                  <a:lnTo>
                    <a:pt x="1495320" y="1570171"/>
                  </a:lnTo>
                  <a:lnTo>
                    <a:pt x="1457938" y="1536372"/>
                  </a:lnTo>
                  <a:lnTo>
                    <a:pt x="1466907" y="1532947"/>
                  </a:lnTo>
                  <a:lnTo>
                    <a:pt x="1446638" y="1513629"/>
                  </a:lnTo>
                  <a:lnTo>
                    <a:pt x="1445811" y="1498125"/>
                  </a:lnTo>
                  <a:lnTo>
                    <a:pt x="1417232" y="1490880"/>
                  </a:lnTo>
                  <a:lnTo>
                    <a:pt x="1403610" y="1510708"/>
                  </a:lnTo>
                  <a:lnTo>
                    <a:pt x="1390490" y="1495325"/>
                  </a:lnTo>
                  <a:lnTo>
                    <a:pt x="1391485" y="1479387"/>
                  </a:lnTo>
                  <a:lnTo>
                    <a:pt x="1393067" y="1478645"/>
                  </a:lnTo>
                  <a:lnTo>
                    <a:pt x="1402961" y="1474474"/>
                  </a:lnTo>
                  <a:lnTo>
                    <a:pt x="1367581" y="1467789"/>
                  </a:lnTo>
                  <a:lnTo>
                    <a:pt x="1331441" y="1484082"/>
                  </a:lnTo>
                  <a:lnTo>
                    <a:pt x="1333896" y="1506879"/>
                  </a:lnTo>
                  <a:lnTo>
                    <a:pt x="1328454" y="1519966"/>
                  </a:lnTo>
                  <a:lnTo>
                    <a:pt x="1343025" y="1543343"/>
                  </a:lnTo>
                  <a:lnTo>
                    <a:pt x="1384703" y="1566479"/>
                  </a:lnTo>
                  <a:lnTo>
                    <a:pt x="1407061" y="1604440"/>
                  </a:lnTo>
                  <a:lnTo>
                    <a:pt x="1456524" y="1641456"/>
                  </a:lnTo>
                  <a:lnTo>
                    <a:pt x="1491357" y="1641170"/>
                  </a:lnTo>
                  <a:lnTo>
                    <a:pt x="1502184" y="1651320"/>
                  </a:lnTo>
                  <a:lnTo>
                    <a:pt x="1489710" y="1660469"/>
                  </a:lnTo>
                  <a:lnTo>
                    <a:pt x="1529529" y="1677065"/>
                  </a:lnTo>
                  <a:lnTo>
                    <a:pt x="1562164" y="1690962"/>
                  </a:lnTo>
                  <a:lnTo>
                    <a:pt x="1600276" y="1714905"/>
                  </a:lnTo>
                  <a:lnTo>
                    <a:pt x="1604880" y="1723485"/>
                  </a:lnTo>
                  <a:lnTo>
                    <a:pt x="1596578" y="1739925"/>
                  </a:lnTo>
                  <a:lnTo>
                    <a:pt x="1571909" y="1718488"/>
                  </a:lnTo>
                  <a:lnTo>
                    <a:pt x="1533289" y="1710928"/>
                  </a:lnTo>
                  <a:lnTo>
                    <a:pt x="1514577" y="1740634"/>
                  </a:lnTo>
                  <a:lnTo>
                    <a:pt x="1546705" y="1757662"/>
                  </a:lnTo>
                  <a:lnTo>
                    <a:pt x="1541433" y="1781625"/>
                  </a:lnTo>
                  <a:lnTo>
                    <a:pt x="1522860" y="1784344"/>
                  </a:lnTo>
                  <a:lnTo>
                    <a:pt x="1499124" y="1823737"/>
                  </a:lnTo>
                  <a:lnTo>
                    <a:pt x="1480589" y="1827274"/>
                  </a:lnTo>
                  <a:lnTo>
                    <a:pt x="1480768" y="1813229"/>
                  </a:lnTo>
                  <a:lnTo>
                    <a:pt x="1489835" y="1788604"/>
                  </a:lnTo>
                  <a:lnTo>
                    <a:pt x="1499490" y="1778797"/>
                  </a:lnTo>
                  <a:lnTo>
                    <a:pt x="1482135" y="1752177"/>
                  </a:lnTo>
                  <a:lnTo>
                    <a:pt x="1468570" y="1729024"/>
                  </a:lnTo>
                  <a:lnTo>
                    <a:pt x="1450113" y="1723292"/>
                  </a:lnTo>
                  <a:lnTo>
                    <a:pt x="1436993" y="1703472"/>
                  </a:lnTo>
                  <a:lnTo>
                    <a:pt x="1408431" y="1695122"/>
                  </a:lnTo>
                  <a:lnTo>
                    <a:pt x="1389201" y="1676670"/>
                  </a:lnTo>
                  <a:lnTo>
                    <a:pt x="1356308" y="1673693"/>
                  </a:lnTo>
                  <a:lnTo>
                    <a:pt x="1321574" y="1652962"/>
                  </a:lnTo>
                  <a:lnTo>
                    <a:pt x="1280911" y="1623066"/>
                  </a:lnTo>
                  <a:lnTo>
                    <a:pt x="1250693" y="1596614"/>
                  </a:lnTo>
                  <a:lnTo>
                    <a:pt x="1236824" y="1551214"/>
                  </a:lnTo>
                  <a:lnTo>
                    <a:pt x="1214708" y="1545877"/>
                  </a:lnTo>
                  <a:lnTo>
                    <a:pt x="1178544" y="1530724"/>
                  </a:lnTo>
                  <a:lnTo>
                    <a:pt x="1158087" y="1536922"/>
                  </a:lnTo>
                  <a:lnTo>
                    <a:pt x="1132403" y="1558233"/>
                  </a:lnTo>
                  <a:lnTo>
                    <a:pt x="1113930" y="1561602"/>
                  </a:lnTo>
                  <a:lnTo>
                    <a:pt x="1073659" y="1587549"/>
                  </a:lnTo>
                  <a:lnTo>
                    <a:pt x="985985" y="1575112"/>
                  </a:lnTo>
                  <a:lnTo>
                    <a:pt x="921250" y="1590010"/>
                  </a:lnTo>
                  <a:lnTo>
                    <a:pt x="916163" y="1617667"/>
                  </a:lnTo>
                  <a:lnTo>
                    <a:pt x="918537" y="1644349"/>
                  </a:lnTo>
                  <a:lnTo>
                    <a:pt x="876417" y="1674935"/>
                  </a:lnTo>
                  <a:lnTo>
                    <a:pt x="819457" y="1684642"/>
                  </a:lnTo>
                  <a:lnTo>
                    <a:pt x="815494" y="1700092"/>
                  </a:lnTo>
                  <a:lnTo>
                    <a:pt x="788174" y="1725543"/>
                  </a:lnTo>
                  <a:lnTo>
                    <a:pt x="771044" y="1762923"/>
                  </a:lnTo>
                  <a:lnTo>
                    <a:pt x="788380" y="1789173"/>
                  </a:lnTo>
                  <a:lnTo>
                    <a:pt x="762669" y="1809658"/>
                  </a:lnTo>
                  <a:lnTo>
                    <a:pt x="753054" y="1839518"/>
                  </a:lnTo>
                  <a:lnTo>
                    <a:pt x="719499" y="1848664"/>
                  </a:lnTo>
                  <a:lnTo>
                    <a:pt x="688023" y="1883982"/>
                  </a:lnTo>
                  <a:lnTo>
                    <a:pt x="631603" y="1884679"/>
                  </a:lnTo>
                  <a:lnTo>
                    <a:pt x="589234" y="1883805"/>
                  </a:lnTo>
                  <a:lnTo>
                    <a:pt x="561396" y="1900026"/>
                  </a:lnTo>
                  <a:lnTo>
                    <a:pt x="544420" y="1917376"/>
                  </a:lnTo>
                  <a:lnTo>
                    <a:pt x="522670" y="1913564"/>
                  </a:lnTo>
                  <a:lnTo>
                    <a:pt x="506210" y="1898053"/>
                  </a:lnTo>
                  <a:lnTo>
                    <a:pt x="493608" y="1871637"/>
                  </a:lnTo>
                  <a:lnTo>
                    <a:pt x="452115" y="1864518"/>
                  </a:lnTo>
                  <a:lnTo>
                    <a:pt x="434250" y="1876439"/>
                  </a:lnTo>
                  <a:lnTo>
                    <a:pt x="410815" y="1869983"/>
                  </a:lnTo>
                  <a:lnTo>
                    <a:pt x="387879" y="1875034"/>
                  </a:lnTo>
                  <a:lnTo>
                    <a:pt x="394667" y="1839095"/>
                  </a:lnTo>
                  <a:lnTo>
                    <a:pt x="390492" y="1810860"/>
                  </a:lnTo>
                  <a:lnTo>
                    <a:pt x="370603" y="1806625"/>
                  </a:lnTo>
                  <a:lnTo>
                    <a:pt x="359979" y="1789221"/>
                  </a:lnTo>
                  <a:lnTo>
                    <a:pt x="363517" y="1759159"/>
                  </a:lnTo>
                  <a:lnTo>
                    <a:pt x="381235" y="1742487"/>
                  </a:lnTo>
                  <a:lnTo>
                    <a:pt x="384390" y="1723925"/>
                  </a:lnTo>
                  <a:lnTo>
                    <a:pt x="393664" y="1696308"/>
                  </a:lnTo>
                  <a:lnTo>
                    <a:pt x="392681" y="1676852"/>
                  </a:lnTo>
                  <a:lnTo>
                    <a:pt x="383791" y="1660357"/>
                  </a:lnTo>
                  <a:lnTo>
                    <a:pt x="381835" y="1644873"/>
                  </a:lnTo>
                  <a:lnTo>
                    <a:pt x="384076" y="1612165"/>
                  </a:lnTo>
                  <a:lnTo>
                    <a:pt x="365918" y="1592244"/>
                  </a:lnTo>
                  <a:lnTo>
                    <a:pt x="428800" y="1559096"/>
                  </a:lnTo>
                  <a:lnTo>
                    <a:pt x="483193" y="1567390"/>
                  </a:lnTo>
                  <a:lnTo>
                    <a:pt x="542877" y="1567096"/>
                  </a:lnTo>
                  <a:lnTo>
                    <a:pt x="590173" y="1574938"/>
                  </a:lnTo>
                  <a:lnTo>
                    <a:pt x="627078" y="1572533"/>
                  </a:lnTo>
                  <a:lnTo>
                    <a:pt x="698918" y="1574047"/>
                  </a:lnTo>
                  <a:lnTo>
                    <a:pt x="721903" y="1546502"/>
                  </a:lnTo>
                  <a:lnTo>
                    <a:pt x="730367" y="1455013"/>
                  </a:lnTo>
                  <a:lnTo>
                    <a:pt x="684499" y="1406810"/>
                  </a:lnTo>
                  <a:lnTo>
                    <a:pt x="651717" y="1383581"/>
                  </a:lnTo>
                  <a:lnTo>
                    <a:pt x="583781" y="1365911"/>
                  </a:lnTo>
                  <a:lnTo>
                    <a:pt x="579304" y="1332433"/>
                  </a:lnTo>
                  <a:lnTo>
                    <a:pt x="636934" y="1322440"/>
                  </a:lnTo>
                  <a:lnTo>
                    <a:pt x="711577" y="1334252"/>
                  </a:lnTo>
                  <a:lnTo>
                    <a:pt x="697491" y="1282265"/>
                  </a:lnTo>
                  <a:lnTo>
                    <a:pt x="739453" y="1301967"/>
                  </a:lnTo>
                  <a:lnTo>
                    <a:pt x="842936" y="1266153"/>
                  </a:lnTo>
                  <a:lnTo>
                    <a:pt x="856289" y="1228523"/>
                  </a:lnTo>
                  <a:lnTo>
                    <a:pt x="895156" y="1219256"/>
                  </a:lnTo>
                  <a:lnTo>
                    <a:pt x="930789" y="1210192"/>
                  </a:lnTo>
                  <a:lnTo>
                    <a:pt x="953689" y="1197581"/>
                  </a:lnTo>
                  <a:lnTo>
                    <a:pt x="992618" y="1130007"/>
                  </a:lnTo>
                  <a:lnTo>
                    <a:pt x="1053433" y="1110784"/>
                  </a:lnTo>
                  <a:lnTo>
                    <a:pt x="1090371" y="1112079"/>
                  </a:lnTo>
                  <a:lnTo>
                    <a:pt x="1099050" y="1102361"/>
                  </a:lnTo>
                  <a:lnTo>
                    <a:pt x="1136199" y="1099863"/>
                  </a:lnTo>
                  <a:lnTo>
                    <a:pt x="1144441" y="1109985"/>
                  </a:lnTo>
                  <a:lnTo>
                    <a:pt x="1174623" y="1087345"/>
                  </a:lnTo>
                  <a:lnTo>
                    <a:pt x="1164460" y="1070132"/>
                  </a:lnTo>
                  <a:lnTo>
                    <a:pt x="1162426" y="1044084"/>
                  </a:lnTo>
                  <a:lnTo>
                    <a:pt x="1144379" y="1018605"/>
                  </a:lnTo>
                  <a:lnTo>
                    <a:pt x="1143036" y="971652"/>
                  </a:lnTo>
                  <a:lnTo>
                    <a:pt x="1150442" y="959252"/>
                  </a:lnTo>
                  <a:lnTo>
                    <a:pt x="1163191" y="945475"/>
                  </a:lnTo>
                  <a:lnTo>
                    <a:pt x="1202350" y="942627"/>
                  </a:lnTo>
                  <a:lnTo>
                    <a:pt x="1217961" y="929963"/>
                  </a:lnTo>
                  <a:lnTo>
                    <a:pt x="1253716" y="917002"/>
                  </a:lnTo>
                  <a:lnTo>
                    <a:pt x="1252205" y="940617"/>
                  </a:lnTo>
                  <a:lnTo>
                    <a:pt x="1239049" y="955580"/>
                  </a:lnTo>
                  <a:lnTo>
                    <a:pt x="1244383" y="968437"/>
                  </a:lnTo>
                  <a:lnTo>
                    <a:pt x="1268483" y="975391"/>
                  </a:lnTo>
                  <a:lnTo>
                    <a:pt x="1257620" y="992714"/>
                  </a:lnTo>
                  <a:lnTo>
                    <a:pt x="1244383" y="987724"/>
                  </a:lnTo>
                  <a:lnTo>
                    <a:pt x="1212378" y="1020791"/>
                  </a:lnTo>
                  <a:lnTo>
                    <a:pt x="1224459" y="1043156"/>
                  </a:lnTo>
                  <a:lnTo>
                    <a:pt x="1225251" y="1060902"/>
                  </a:lnTo>
                  <a:lnTo>
                    <a:pt x="1270162" y="1071601"/>
                  </a:lnTo>
                  <a:lnTo>
                    <a:pt x="1269693" y="1087903"/>
                  </a:lnTo>
                  <a:lnTo>
                    <a:pt x="1314889" y="1079281"/>
                  </a:lnTo>
                  <a:lnTo>
                    <a:pt x="1339878" y="1066696"/>
                  </a:lnTo>
                  <a:lnTo>
                    <a:pt x="1390064" y="1084837"/>
                  </a:lnTo>
                  <a:lnTo>
                    <a:pt x="1411051" y="1099460"/>
                  </a:lnTo>
                  <a:lnTo>
                    <a:pt x="1441421" y="1085975"/>
                  </a:lnTo>
                  <a:lnTo>
                    <a:pt x="1510790" y="1064731"/>
                  </a:lnTo>
                  <a:lnTo>
                    <a:pt x="1566770" y="1049191"/>
                  </a:lnTo>
                  <a:lnTo>
                    <a:pt x="1611131" y="1056952"/>
                  </a:lnTo>
                  <a:lnTo>
                    <a:pt x="1614481" y="1068156"/>
                  </a:lnTo>
                  <a:lnTo>
                    <a:pt x="1657350" y="1068736"/>
                  </a:lnTo>
                  <a:lnTo>
                    <a:pt x="1667475" y="1048529"/>
                  </a:lnTo>
                  <a:lnTo>
                    <a:pt x="1728816" y="1033632"/>
                  </a:lnTo>
                  <a:lnTo>
                    <a:pt x="1719366" y="995026"/>
                  </a:lnTo>
                  <a:lnTo>
                    <a:pt x="1720905" y="960457"/>
                  </a:lnTo>
                  <a:lnTo>
                    <a:pt x="1742747" y="931614"/>
                  </a:lnTo>
                  <a:lnTo>
                    <a:pt x="1784644" y="915929"/>
                  </a:lnTo>
                  <a:lnTo>
                    <a:pt x="1819938" y="950243"/>
                  </a:lnTo>
                  <a:lnTo>
                    <a:pt x="1855598" y="949351"/>
                  </a:lnTo>
                  <a:lnTo>
                    <a:pt x="1864141" y="914090"/>
                  </a:lnTo>
                  <a:lnTo>
                    <a:pt x="1869304" y="886996"/>
                  </a:lnTo>
                  <a:lnTo>
                    <a:pt x="1852955" y="892782"/>
                  </a:lnTo>
                  <a:lnTo>
                    <a:pt x="1824748" y="876471"/>
                  </a:lnTo>
                  <a:lnTo>
                    <a:pt x="1820890" y="850081"/>
                  </a:lnTo>
                  <a:lnTo>
                    <a:pt x="1877093" y="837288"/>
                  </a:lnTo>
                  <a:lnTo>
                    <a:pt x="1933100" y="830620"/>
                  </a:lnTo>
                  <a:lnTo>
                    <a:pt x="1981327" y="838205"/>
                  </a:lnTo>
                  <a:lnTo>
                    <a:pt x="2027190" y="836845"/>
                  </a:lnTo>
                  <a:lnTo>
                    <a:pt x="2077712" y="811470"/>
                  </a:lnTo>
                  <a:lnTo>
                    <a:pt x="2031148" y="789637"/>
                  </a:lnTo>
                  <a:lnTo>
                    <a:pt x="1950480" y="793292"/>
                  </a:lnTo>
                  <a:lnTo>
                    <a:pt x="1872310" y="810127"/>
                  </a:lnTo>
                  <a:lnTo>
                    <a:pt x="1799989" y="819809"/>
                  </a:lnTo>
                  <a:lnTo>
                    <a:pt x="1774261" y="794761"/>
                  </a:lnTo>
                  <a:lnTo>
                    <a:pt x="1731209" y="779681"/>
                  </a:lnTo>
                  <a:lnTo>
                    <a:pt x="1741103" y="734444"/>
                  </a:lnTo>
                  <a:lnTo>
                    <a:pt x="1719518" y="693013"/>
                  </a:lnTo>
                  <a:lnTo>
                    <a:pt x="1740710" y="666267"/>
                  </a:lnTo>
                  <a:lnTo>
                    <a:pt x="1781009" y="637427"/>
                  </a:lnTo>
                  <a:lnTo>
                    <a:pt x="1882703" y="587626"/>
                  </a:lnTo>
                  <a:lnTo>
                    <a:pt x="1912376" y="578018"/>
                  </a:lnTo>
                  <a:lnTo>
                    <a:pt x="1907755" y="558593"/>
                  </a:lnTo>
                  <a:lnTo>
                    <a:pt x="1845942" y="536898"/>
                  </a:lnTo>
                  <a:lnTo>
                    <a:pt x="1769478" y="549895"/>
                  </a:lnTo>
                  <a:lnTo>
                    <a:pt x="1726371" y="581939"/>
                  </a:lnTo>
                  <a:lnTo>
                    <a:pt x="1733314" y="610064"/>
                  </a:lnTo>
                  <a:lnTo>
                    <a:pt x="1662605" y="646988"/>
                  </a:lnTo>
                  <a:lnTo>
                    <a:pt x="1576770" y="686490"/>
                  </a:lnTo>
                  <a:lnTo>
                    <a:pt x="1544401" y="751161"/>
                  </a:lnTo>
                  <a:lnTo>
                    <a:pt x="1576041" y="783518"/>
                  </a:lnTo>
                  <a:lnTo>
                    <a:pt x="1618545" y="808998"/>
                  </a:lnTo>
                  <a:lnTo>
                    <a:pt x="1577723" y="860800"/>
                  </a:lnTo>
                  <a:lnTo>
                    <a:pt x="1531493" y="871546"/>
                  </a:lnTo>
                  <a:lnTo>
                    <a:pt x="1514531" y="948645"/>
                  </a:lnTo>
                  <a:lnTo>
                    <a:pt x="1489292" y="991665"/>
                  </a:lnTo>
                  <a:lnTo>
                    <a:pt x="1435365" y="987228"/>
                  </a:lnTo>
                  <a:lnTo>
                    <a:pt x="1410208" y="1023647"/>
                  </a:lnTo>
                  <a:lnTo>
                    <a:pt x="1358742" y="1025761"/>
                  </a:lnTo>
                  <a:lnTo>
                    <a:pt x="1344618" y="982351"/>
                  </a:lnTo>
                  <a:lnTo>
                    <a:pt x="1307412" y="930238"/>
                  </a:lnTo>
                  <a:lnTo>
                    <a:pt x="1273594" y="865293"/>
                  </a:lnTo>
                  <a:lnTo>
                    <a:pt x="1243786" y="837103"/>
                  </a:lnTo>
                  <a:lnTo>
                    <a:pt x="1156015" y="890220"/>
                  </a:lnTo>
                  <a:lnTo>
                    <a:pt x="1096754" y="900983"/>
                  </a:lnTo>
                  <a:lnTo>
                    <a:pt x="1035280" y="877601"/>
                  </a:lnTo>
                  <a:lnTo>
                    <a:pt x="1019385" y="828220"/>
                  </a:lnTo>
                  <a:lnTo>
                    <a:pt x="1005331" y="722237"/>
                  </a:lnTo>
                  <a:lnTo>
                    <a:pt x="1046260" y="692690"/>
                  </a:lnTo>
                  <a:lnTo>
                    <a:pt x="1163636" y="654133"/>
                  </a:lnTo>
                  <a:lnTo>
                    <a:pt x="1251388" y="606740"/>
                  </a:lnTo>
                  <a:lnTo>
                    <a:pt x="1332757" y="542739"/>
                  </a:lnTo>
                  <a:lnTo>
                    <a:pt x="1439571" y="454058"/>
                  </a:lnTo>
                  <a:lnTo>
                    <a:pt x="1514008" y="419498"/>
                  </a:lnTo>
                  <a:lnTo>
                    <a:pt x="1636164" y="361899"/>
                  </a:lnTo>
                  <a:lnTo>
                    <a:pt x="1733705" y="341793"/>
                  </a:lnTo>
                  <a:lnTo>
                    <a:pt x="1806834" y="344237"/>
                  </a:lnTo>
                  <a:lnTo>
                    <a:pt x="1874532" y="306192"/>
                  </a:lnTo>
                  <a:lnTo>
                    <a:pt x="1955583" y="308222"/>
                  </a:lnTo>
                  <a:lnTo>
                    <a:pt x="2035389" y="299076"/>
                  </a:lnTo>
                  <a:lnTo>
                    <a:pt x="2174428" y="332672"/>
                  </a:lnTo>
                  <a:lnTo>
                    <a:pt x="2117175" y="344963"/>
                  </a:lnTo>
                  <a:lnTo>
                    <a:pt x="2165874" y="373812"/>
                  </a:lnTo>
                  <a:lnTo>
                    <a:pt x="2211729" y="357840"/>
                  </a:lnTo>
                  <a:lnTo>
                    <a:pt x="2284753" y="385595"/>
                  </a:lnTo>
                  <a:lnTo>
                    <a:pt x="2406483" y="396527"/>
                  </a:lnTo>
                  <a:lnTo>
                    <a:pt x="2574432" y="448466"/>
                  </a:lnTo>
                  <a:lnTo>
                    <a:pt x="2608543" y="470290"/>
                  </a:lnTo>
                  <a:lnTo>
                    <a:pt x="2611486" y="500857"/>
                  </a:lnTo>
                  <a:lnTo>
                    <a:pt x="2562139" y="524985"/>
                  </a:lnTo>
                  <a:lnTo>
                    <a:pt x="2489550" y="537237"/>
                  </a:lnTo>
                  <a:lnTo>
                    <a:pt x="2291118" y="502326"/>
                  </a:lnTo>
                  <a:lnTo>
                    <a:pt x="2258483" y="508167"/>
                  </a:lnTo>
                  <a:lnTo>
                    <a:pt x="2330953" y="541803"/>
                  </a:lnTo>
                  <a:lnTo>
                    <a:pt x="2336688" y="610028"/>
                  </a:lnTo>
                  <a:lnTo>
                    <a:pt x="2393914" y="624034"/>
                  </a:lnTo>
                  <a:lnTo>
                    <a:pt x="2428654" y="635955"/>
                  </a:lnTo>
                  <a:lnTo>
                    <a:pt x="2434397" y="613691"/>
                  </a:lnTo>
                  <a:lnTo>
                    <a:pt x="2406643" y="593229"/>
                  </a:lnTo>
                  <a:lnTo>
                    <a:pt x="2435908" y="576557"/>
                  </a:lnTo>
                  <a:lnTo>
                    <a:pt x="2543363" y="605142"/>
                  </a:lnTo>
                  <a:lnTo>
                    <a:pt x="2580799" y="593953"/>
                  </a:lnTo>
                  <a:lnTo>
                    <a:pt x="2550883" y="560320"/>
                  </a:lnTo>
                  <a:lnTo>
                    <a:pt x="2654469" y="515340"/>
                  </a:lnTo>
                  <a:lnTo>
                    <a:pt x="2695497" y="517986"/>
                  </a:lnTo>
                  <a:lnTo>
                    <a:pt x="2737004" y="534042"/>
                  </a:lnTo>
                  <a:lnTo>
                    <a:pt x="2762891" y="502483"/>
                  </a:lnTo>
                  <a:lnTo>
                    <a:pt x="2725829" y="475103"/>
                  </a:lnTo>
                  <a:lnTo>
                    <a:pt x="2747585" y="447640"/>
                  </a:lnTo>
                  <a:lnTo>
                    <a:pt x="2714912" y="419147"/>
                  </a:lnTo>
                  <a:lnTo>
                    <a:pt x="2839249" y="433880"/>
                  </a:lnTo>
                  <a:lnTo>
                    <a:pt x="2864638" y="459608"/>
                  </a:lnTo>
                  <a:lnTo>
                    <a:pt x="2808364" y="465273"/>
                  </a:lnTo>
                  <a:lnTo>
                    <a:pt x="2808665" y="490828"/>
                  </a:lnTo>
                  <a:lnTo>
                    <a:pt x="2843650" y="506550"/>
                  </a:lnTo>
                  <a:lnTo>
                    <a:pt x="2912332" y="496594"/>
                  </a:lnTo>
                  <a:lnTo>
                    <a:pt x="2923195" y="467294"/>
                  </a:lnTo>
                  <a:lnTo>
                    <a:pt x="3016053" y="445425"/>
                  </a:lnTo>
                  <a:lnTo>
                    <a:pt x="3171175" y="405987"/>
                  </a:lnTo>
                  <a:lnTo>
                    <a:pt x="3204697" y="408246"/>
                  </a:lnTo>
                  <a:lnTo>
                    <a:pt x="3160880" y="436122"/>
                  </a:lnTo>
                  <a:lnTo>
                    <a:pt x="3216016" y="440907"/>
                  </a:lnTo>
                  <a:lnTo>
                    <a:pt x="3247859" y="425218"/>
                  </a:lnTo>
                  <a:lnTo>
                    <a:pt x="3331175" y="423951"/>
                  </a:lnTo>
                  <a:lnTo>
                    <a:pt x="3397186" y="404911"/>
                  </a:lnTo>
                  <a:lnTo>
                    <a:pt x="3447832" y="432576"/>
                  </a:lnTo>
                  <a:lnTo>
                    <a:pt x="3498343" y="402167"/>
                  </a:lnTo>
                  <a:lnTo>
                    <a:pt x="3451769" y="375558"/>
                  </a:lnTo>
                  <a:lnTo>
                    <a:pt x="3474884" y="360402"/>
                  </a:lnTo>
                  <a:lnTo>
                    <a:pt x="3606188" y="374299"/>
                  </a:lnTo>
                  <a:lnTo>
                    <a:pt x="3667708" y="388654"/>
                  </a:lnTo>
                  <a:lnTo>
                    <a:pt x="3828793" y="441128"/>
                  </a:lnTo>
                  <a:lnTo>
                    <a:pt x="3858514" y="417090"/>
                  </a:lnTo>
                  <a:lnTo>
                    <a:pt x="3813343" y="392816"/>
                  </a:lnTo>
                  <a:lnTo>
                    <a:pt x="3812046" y="383070"/>
                  </a:lnTo>
                  <a:lnTo>
                    <a:pt x="3758475" y="378560"/>
                  </a:lnTo>
                  <a:lnTo>
                    <a:pt x="3773133" y="356792"/>
                  </a:lnTo>
                  <a:lnTo>
                    <a:pt x="3749354" y="320961"/>
                  </a:lnTo>
                  <a:lnTo>
                    <a:pt x="3748011" y="306257"/>
                  </a:lnTo>
                  <a:lnTo>
                    <a:pt x="3830039" y="264677"/>
                  </a:lnTo>
                  <a:lnTo>
                    <a:pt x="3859206" y="222933"/>
                  </a:lnTo>
                  <a:lnTo>
                    <a:pt x="3892270" y="213904"/>
                  </a:lnTo>
                  <a:lnTo>
                    <a:pt x="4009947" y="226019"/>
                  </a:lnTo>
                  <a:lnTo>
                    <a:pt x="4019217" y="251562"/>
                  </a:lnTo>
                  <a:lnTo>
                    <a:pt x="3977079" y="288806"/>
                  </a:lnTo>
                  <a:lnTo>
                    <a:pt x="4004727" y="303448"/>
                  </a:lnTo>
                  <a:lnTo>
                    <a:pt x="4019030" y="335557"/>
                  </a:lnTo>
                  <a:lnTo>
                    <a:pt x="4008932" y="398484"/>
                  </a:lnTo>
                  <a:lnTo>
                    <a:pt x="4057970" y="426634"/>
                  </a:lnTo>
                  <a:lnTo>
                    <a:pt x="4038892" y="457285"/>
                  </a:lnTo>
                  <a:lnTo>
                    <a:pt x="3951831" y="522513"/>
                  </a:lnTo>
                  <a:lnTo>
                    <a:pt x="4002638" y="529282"/>
                  </a:lnTo>
                  <a:lnTo>
                    <a:pt x="4020310" y="512750"/>
                  </a:lnTo>
                  <a:lnTo>
                    <a:pt x="4069223" y="500958"/>
                  </a:lnTo>
                  <a:lnTo>
                    <a:pt x="4081022" y="478234"/>
                  </a:lnTo>
                  <a:lnTo>
                    <a:pt x="4119498" y="456365"/>
                  </a:lnTo>
                  <a:lnTo>
                    <a:pt x="4093592" y="430253"/>
                  </a:lnTo>
                  <a:lnTo>
                    <a:pt x="4114333" y="399933"/>
                  </a:lnTo>
                  <a:lnTo>
                    <a:pt x="4065721" y="396160"/>
                  </a:lnTo>
                  <a:lnTo>
                    <a:pt x="4055037" y="370616"/>
                  </a:lnTo>
                  <a:lnTo>
                    <a:pt x="4090507" y="324499"/>
                  </a:lnTo>
                  <a:lnTo>
                    <a:pt x="4032774" y="287062"/>
                  </a:lnTo>
                  <a:lnTo>
                    <a:pt x="4112333" y="256100"/>
                  </a:lnTo>
                  <a:lnTo>
                    <a:pt x="4102037" y="223448"/>
                  </a:lnTo>
                  <a:lnTo>
                    <a:pt x="4124208" y="222400"/>
                  </a:lnTo>
                  <a:lnTo>
                    <a:pt x="4147562" y="247871"/>
                  </a:lnTo>
                  <a:lnTo>
                    <a:pt x="4130033" y="292178"/>
                  </a:lnTo>
                  <a:lnTo>
                    <a:pt x="4177595" y="300573"/>
                  </a:lnTo>
                  <a:lnTo>
                    <a:pt x="4157323" y="267452"/>
                  </a:lnTo>
                  <a:lnTo>
                    <a:pt x="4231716" y="249396"/>
                  </a:lnTo>
                  <a:lnTo>
                    <a:pt x="4323967" y="246968"/>
                  </a:lnTo>
                  <a:lnTo>
                    <a:pt x="4406112" y="273145"/>
                  </a:lnTo>
                  <a:lnTo>
                    <a:pt x="4366578" y="234901"/>
                  </a:lnTo>
                  <a:lnTo>
                    <a:pt x="4362150" y="185972"/>
                  </a:lnTo>
                  <a:lnTo>
                    <a:pt x="4439449" y="176706"/>
                  </a:lnTo>
                  <a:lnTo>
                    <a:pt x="4546358" y="178735"/>
                  </a:lnTo>
                  <a:lnTo>
                    <a:pt x="4642684" y="172720"/>
                  </a:lnTo>
                  <a:lnTo>
                    <a:pt x="4606563" y="148710"/>
                  </a:lnTo>
                  <a:lnTo>
                    <a:pt x="4657999" y="118547"/>
                  </a:lnTo>
                  <a:lnTo>
                    <a:pt x="4709063" y="117288"/>
                  </a:lnTo>
                  <a:lnTo>
                    <a:pt x="4795491" y="94503"/>
                  </a:lnTo>
                  <a:lnTo>
                    <a:pt x="4912867" y="88384"/>
                  </a:lnTo>
                  <a:lnTo>
                    <a:pt x="4927697" y="75801"/>
                  </a:lnTo>
                  <a:lnTo>
                    <a:pt x="5044413" y="71541"/>
                  </a:lnTo>
                  <a:lnTo>
                    <a:pt x="5080781" y="81853"/>
                  </a:lnTo>
                  <a:lnTo>
                    <a:pt x="5180536" y="57450"/>
                  </a:lnTo>
                  <a:lnTo>
                    <a:pt x="5262200" y="58212"/>
                  </a:lnTo>
                  <a:lnTo>
                    <a:pt x="5274449" y="38393"/>
                  </a:lnTo>
                  <a:lnTo>
                    <a:pt x="5316927" y="18847"/>
                  </a:lnTo>
                  <a:lnTo>
                    <a:pt x="5421864" y="0"/>
                  </a:lnTo>
                  <a:lnTo>
                    <a:pt x="5498097" y="14878"/>
                  </a:lnTo>
                  <a:lnTo>
                    <a:pt x="5437572" y="26194"/>
                  </a:lnTo>
                  <a:lnTo>
                    <a:pt x="5538260" y="33229"/>
                  </a:lnTo>
                  <a:close/>
                </a:path>
              </a:pathLst>
            </a:custGeom>
            <a:solidFill>
              <a:srgbClr val="E6EBE2"/>
            </a:solidFill>
            <a:ln w="4403">
              <a:solidFill>
                <a:srgbClr val="B6C3B3"/>
              </a:solidFill>
              <a:prstDash val="solid"/>
            </a:ln>
          </p:spPr>
          <p:txBody>
            <a:bodyPr/>
            <a:p/>
          </p:txBody>
        </p:sp>
        <p:sp>
          <p:nvSpPr>
            <p:cNvPr id="120" name="land-104">
              <a:extLst>
                <a:ext uri="{FF2B5EF4-FFF2-40B4-BE49-F238E27FC236}">
                  <a16:creationId xmlns:a16="http://schemas.microsoft.com/office/drawing/2014/main" id="{46A5B211-A770-4325-BA91-5B6859AC4D94}"/>
                </a:ext>
              </a:extLst>
            </p:cNvPr>
            <p:cNvSpPr>
              <a:spLocks/>
            </p:cNvSpPr>
            <p:nvPr/>
          </p:nvSpPr>
          <p:spPr>
            <a:xfrm>
              <a:off x="9685622" y="646448"/>
              <a:ext cx="85839" cy="11211"/>
            </a:xfrm>
            <a:custGeom>
              <a:avLst/>
              <a:gdLst/>
              <a:ahLst/>
              <a:cxnLst/>
              <a:rect l="0" t="0" r="0" b="0"/>
              <a:pathLst>
                <a:path w="120711" h="15765">
                  <a:moveTo>
                    <a:pt x="115406" y="14449"/>
                  </a:moveTo>
                  <a:lnTo>
                    <a:pt x="95154" y="15765"/>
                  </a:lnTo>
                  <a:lnTo>
                    <a:pt x="11853" y="12837"/>
                  </a:lnTo>
                  <a:lnTo>
                    <a:pt x="0" y="0"/>
                  </a:lnTo>
                  <a:lnTo>
                    <a:pt x="89510" y="672"/>
                  </a:lnTo>
                  <a:lnTo>
                    <a:pt x="120711" y="9199"/>
                  </a:lnTo>
                  <a:lnTo>
                    <a:pt x="115406" y="14449"/>
                  </a:lnTo>
                  <a:close/>
                </a:path>
              </a:pathLst>
            </a:custGeom>
            <a:solidFill>
              <a:srgbClr val="E6EBE2"/>
            </a:solidFill>
            <a:ln w="4403">
              <a:solidFill>
                <a:srgbClr val="B6C3B3"/>
              </a:solidFill>
              <a:prstDash val="solid"/>
            </a:ln>
          </p:spPr>
          <p:txBody>
            <a:bodyPr/>
            <a:p/>
          </p:txBody>
        </p:sp>
        <p:sp>
          <p:nvSpPr>
            <p:cNvPr id="121" name="land-105">
              <a:extLst>
                <a:ext uri="{FF2B5EF4-FFF2-40B4-BE49-F238E27FC236}">
                  <a16:creationId xmlns:a16="http://schemas.microsoft.com/office/drawing/2014/main" id="{C061630C-680A-4AFF-BA6D-2E3FF57B2760}"/>
                </a:ext>
              </a:extLst>
            </p:cNvPr>
            <p:cNvSpPr>
              <a:spLocks/>
            </p:cNvSpPr>
            <p:nvPr/>
          </p:nvSpPr>
          <p:spPr>
            <a:xfrm>
              <a:off x="9145174" y="636053"/>
              <a:ext cx="116315" cy="24288"/>
            </a:xfrm>
            <a:custGeom>
              <a:avLst/>
              <a:gdLst/>
              <a:ahLst/>
              <a:cxnLst/>
              <a:rect l="0" t="0" r="0" b="0"/>
              <a:pathLst>
                <a:path w="163568" h="34155">
                  <a:moveTo>
                    <a:pt x="148789" y="20939"/>
                  </a:moveTo>
                  <a:lnTo>
                    <a:pt x="65923" y="34155"/>
                  </a:lnTo>
                  <a:lnTo>
                    <a:pt x="0" y="19323"/>
                  </a:lnTo>
                  <a:lnTo>
                    <a:pt x="35991" y="4680"/>
                  </a:lnTo>
                  <a:lnTo>
                    <a:pt x="100894" y="0"/>
                  </a:lnTo>
                  <a:lnTo>
                    <a:pt x="163568" y="7193"/>
                  </a:lnTo>
                  <a:lnTo>
                    <a:pt x="148789" y="20939"/>
                  </a:lnTo>
                  <a:close/>
                </a:path>
              </a:pathLst>
            </a:custGeom>
            <a:solidFill>
              <a:srgbClr val="E6EBE2"/>
            </a:solidFill>
            <a:ln w="4403">
              <a:solidFill>
                <a:srgbClr val="B6C3B3"/>
              </a:solidFill>
              <a:prstDash val="solid"/>
            </a:ln>
          </p:spPr>
          <p:txBody>
            <a:bodyPr/>
            <a:p/>
          </p:txBody>
        </p:sp>
        <p:sp>
          <p:nvSpPr>
            <p:cNvPr id="122" name="land-106">
              <a:extLst>
                <a:ext uri="{FF2B5EF4-FFF2-40B4-BE49-F238E27FC236}">
                  <a16:creationId xmlns:a16="http://schemas.microsoft.com/office/drawing/2014/main" id="{F9C479F7-DA2A-44F2-BE2B-277EBC0D6401}"/>
                </a:ext>
              </a:extLst>
            </p:cNvPr>
            <p:cNvSpPr>
              <a:spLocks/>
            </p:cNvSpPr>
            <p:nvPr/>
          </p:nvSpPr>
          <p:spPr>
            <a:xfrm>
              <a:off x="2009793" y="626191"/>
              <a:ext cx="126376" cy="32984"/>
            </a:xfrm>
            <a:custGeom>
              <a:avLst/>
              <a:gdLst/>
              <a:ahLst/>
              <a:cxnLst/>
              <a:rect l="0" t="0" r="0" b="0"/>
              <a:pathLst>
                <a:path w="177716" h="46384">
                  <a:moveTo>
                    <a:pt x="177716" y="27605"/>
                  </a:moveTo>
                  <a:lnTo>
                    <a:pt x="78424" y="46384"/>
                  </a:lnTo>
                  <a:lnTo>
                    <a:pt x="0" y="35724"/>
                  </a:lnTo>
                  <a:lnTo>
                    <a:pt x="30675" y="23876"/>
                  </a:lnTo>
                  <a:lnTo>
                    <a:pt x="3818" y="9199"/>
                  </a:lnTo>
                  <a:lnTo>
                    <a:pt x="95934" y="0"/>
                  </a:lnTo>
                  <a:lnTo>
                    <a:pt x="113584" y="17240"/>
                  </a:lnTo>
                  <a:lnTo>
                    <a:pt x="177716" y="27605"/>
                  </a:lnTo>
                  <a:close/>
                </a:path>
              </a:pathLst>
            </a:custGeom>
            <a:solidFill>
              <a:srgbClr val="E6EBE2"/>
            </a:solidFill>
            <a:ln w="4403">
              <a:solidFill>
                <a:srgbClr val="B6C3B3"/>
              </a:solidFill>
              <a:prstDash val="solid"/>
            </a:ln>
          </p:spPr>
          <p:txBody>
            <a:bodyPr/>
            <a:p/>
          </p:txBody>
        </p:sp>
        <p:sp>
          <p:nvSpPr>
            <p:cNvPr id="123" name="land-107">
              <a:extLst>
                <a:ext uri="{FF2B5EF4-FFF2-40B4-BE49-F238E27FC236}">
                  <a16:creationId xmlns:a16="http://schemas.microsoft.com/office/drawing/2014/main" id="{A926C687-C01E-4A9F-9204-C691DEC9865A}"/>
                </a:ext>
              </a:extLst>
            </p:cNvPr>
            <p:cNvSpPr>
              <a:spLocks/>
            </p:cNvSpPr>
            <p:nvPr/>
          </p:nvSpPr>
          <p:spPr>
            <a:xfrm>
              <a:off x="9176536" y="613289"/>
              <a:ext cx="91000" cy="14470"/>
            </a:xfrm>
            <a:custGeom>
              <a:avLst/>
              <a:gdLst/>
              <a:ahLst/>
              <a:cxnLst/>
              <a:rect l="0" t="0" r="0" b="0"/>
              <a:pathLst>
                <a:path w="127969" h="20348">
                  <a:moveTo>
                    <a:pt x="127969" y="11390"/>
                  </a:moveTo>
                  <a:lnTo>
                    <a:pt x="73822" y="20348"/>
                  </a:lnTo>
                  <a:lnTo>
                    <a:pt x="0" y="20303"/>
                  </a:lnTo>
                  <a:lnTo>
                    <a:pt x="720" y="13751"/>
                  </a:lnTo>
                  <a:lnTo>
                    <a:pt x="46321" y="0"/>
                  </a:lnTo>
                  <a:lnTo>
                    <a:pt x="70161" y="2092"/>
                  </a:lnTo>
                  <a:lnTo>
                    <a:pt x="127969" y="11390"/>
                  </a:lnTo>
                  <a:close/>
                </a:path>
              </a:pathLst>
            </a:custGeom>
            <a:solidFill>
              <a:srgbClr val="E6EBE2"/>
            </a:solidFill>
            <a:ln w="4403">
              <a:solidFill>
                <a:srgbClr val="B6C3B3"/>
              </a:solidFill>
              <a:prstDash val="solid"/>
            </a:ln>
          </p:spPr>
          <p:txBody>
            <a:bodyPr/>
            <a:p/>
          </p:txBody>
        </p:sp>
        <p:sp>
          <p:nvSpPr>
            <p:cNvPr id="124" name="land-108">
              <a:extLst>
                <a:ext uri="{FF2B5EF4-FFF2-40B4-BE49-F238E27FC236}">
                  <a16:creationId xmlns:a16="http://schemas.microsoft.com/office/drawing/2014/main" id="{F9D56B48-67D0-4444-8DD5-A467977BC983}"/>
                </a:ext>
              </a:extLst>
            </p:cNvPr>
            <p:cNvSpPr>
              <a:spLocks/>
            </p:cNvSpPr>
            <p:nvPr/>
          </p:nvSpPr>
          <p:spPr>
            <a:xfrm>
              <a:off x="9616219" y="612573"/>
              <a:ext cx="97125" cy="33354"/>
            </a:xfrm>
            <a:custGeom>
              <a:avLst/>
              <a:gdLst/>
              <a:ahLst/>
              <a:cxnLst/>
              <a:rect l="0" t="0" r="0" b="0"/>
              <a:pathLst>
                <a:path w="136582" h="46904">
                  <a:moveTo>
                    <a:pt x="124535" y="37428"/>
                  </a:moveTo>
                  <a:lnTo>
                    <a:pt x="58769" y="46904"/>
                  </a:lnTo>
                  <a:lnTo>
                    <a:pt x="22567" y="36237"/>
                  </a:lnTo>
                  <a:lnTo>
                    <a:pt x="3517" y="19005"/>
                  </a:lnTo>
                  <a:lnTo>
                    <a:pt x="0" y="0"/>
                  </a:lnTo>
                  <a:lnTo>
                    <a:pt x="57552" y="1834"/>
                  </a:lnTo>
                  <a:lnTo>
                    <a:pt x="83459" y="4873"/>
                  </a:lnTo>
                  <a:lnTo>
                    <a:pt x="136582" y="20832"/>
                  </a:lnTo>
                  <a:lnTo>
                    <a:pt x="124535" y="37428"/>
                  </a:lnTo>
                  <a:close/>
                </a:path>
              </a:pathLst>
            </a:custGeom>
            <a:solidFill>
              <a:srgbClr val="E6EBE2"/>
            </a:solidFill>
            <a:ln w="4403">
              <a:solidFill>
                <a:srgbClr val="B6C3B3"/>
              </a:solidFill>
              <a:prstDash val="solid"/>
            </a:ln>
          </p:spPr>
          <p:txBody>
            <a:bodyPr/>
            <a:p/>
          </p:txBody>
        </p:sp>
        <p:sp>
          <p:nvSpPr>
            <p:cNvPr id="125" name="land-109">
              <a:extLst>
                <a:ext uri="{FF2B5EF4-FFF2-40B4-BE49-F238E27FC236}">
                  <a16:creationId xmlns:a16="http://schemas.microsoft.com/office/drawing/2014/main" id="{20AFD4A3-F4CC-4918-B395-287338100A26}"/>
                </a:ext>
              </a:extLst>
            </p:cNvPr>
            <p:cNvSpPr>
              <a:spLocks/>
            </p:cNvSpPr>
            <p:nvPr/>
          </p:nvSpPr>
          <p:spPr>
            <a:xfrm>
              <a:off x="9399373" y="598541"/>
              <a:ext cx="184006" cy="45526"/>
            </a:xfrm>
            <a:custGeom>
              <a:avLst/>
              <a:gdLst/>
              <a:ahLst/>
              <a:cxnLst/>
              <a:rect l="0" t="0" r="0" b="0"/>
              <a:pathLst>
                <a:path w="258759" h="64020">
                  <a:moveTo>
                    <a:pt x="241457" y="44861"/>
                  </a:moveTo>
                  <a:lnTo>
                    <a:pt x="258759" y="64020"/>
                  </a:lnTo>
                  <a:lnTo>
                    <a:pt x="186172" y="58903"/>
                  </a:lnTo>
                  <a:lnTo>
                    <a:pt x="113013" y="44012"/>
                  </a:lnTo>
                  <a:lnTo>
                    <a:pt x="14053" y="42308"/>
                  </a:lnTo>
                  <a:lnTo>
                    <a:pt x="56979" y="28665"/>
                  </a:lnTo>
                  <a:lnTo>
                    <a:pt x="3232" y="17601"/>
                  </a:lnTo>
                  <a:lnTo>
                    <a:pt x="0" y="0"/>
                  </a:lnTo>
                  <a:lnTo>
                    <a:pt x="87256" y="6257"/>
                  </a:lnTo>
                  <a:lnTo>
                    <a:pt x="207454" y="23014"/>
                  </a:lnTo>
                  <a:lnTo>
                    <a:pt x="241457" y="44861"/>
                  </a:lnTo>
                  <a:close/>
                </a:path>
              </a:pathLst>
            </a:custGeom>
            <a:solidFill>
              <a:srgbClr val="E6EBE2"/>
            </a:solidFill>
            <a:ln w="4403">
              <a:solidFill>
                <a:srgbClr val="B6C3B3"/>
              </a:solidFill>
              <a:prstDash val="solid"/>
            </a:ln>
          </p:spPr>
          <p:txBody>
            <a:bodyPr/>
            <a:p/>
          </p:txBody>
        </p:sp>
        <p:sp>
          <p:nvSpPr>
            <p:cNvPr id="126" name="land-110">
              <a:extLst>
                <a:ext uri="{FF2B5EF4-FFF2-40B4-BE49-F238E27FC236}">
                  <a16:creationId xmlns:a16="http://schemas.microsoft.com/office/drawing/2014/main" id="{0CDDED6E-99D3-4CAF-A19C-277D36B64603}"/>
                </a:ext>
              </a:extLst>
            </p:cNvPr>
            <p:cNvSpPr>
              <a:spLocks/>
            </p:cNvSpPr>
            <p:nvPr/>
          </p:nvSpPr>
          <p:spPr>
            <a:xfrm>
              <a:off x="4497796" y="597078"/>
              <a:ext cx="187576" cy="46550"/>
            </a:xfrm>
            <a:custGeom>
              <a:avLst/>
              <a:gdLst/>
              <a:ahLst/>
              <a:cxnLst/>
              <a:rect l="0" t="0" r="0" b="0"/>
              <a:pathLst>
                <a:path w="263779" h="65461">
                  <a:moveTo>
                    <a:pt x="250579" y="47739"/>
                  </a:moveTo>
                  <a:lnTo>
                    <a:pt x="0" y="65461"/>
                  </a:lnTo>
                  <a:lnTo>
                    <a:pt x="81199" y="5163"/>
                  </a:lnTo>
                  <a:lnTo>
                    <a:pt x="117713" y="0"/>
                  </a:lnTo>
                  <a:lnTo>
                    <a:pt x="151116" y="2991"/>
                  </a:lnTo>
                  <a:lnTo>
                    <a:pt x="263779" y="29073"/>
                  </a:lnTo>
                  <a:lnTo>
                    <a:pt x="250579" y="47739"/>
                  </a:lnTo>
                  <a:close/>
                </a:path>
              </a:pathLst>
            </a:custGeom>
            <a:solidFill>
              <a:srgbClr val="E6EBE2"/>
            </a:solidFill>
            <a:ln w="4403">
              <a:solidFill>
                <a:srgbClr val="B6C3B3"/>
              </a:solidFill>
              <a:prstDash val="solid"/>
            </a:ln>
          </p:spPr>
          <p:txBody>
            <a:bodyPr/>
            <a:p/>
          </p:txBody>
        </p:sp>
        <p:sp>
          <p:nvSpPr>
            <p:cNvPr id="127" name="land-111">
              <a:extLst>
                <a:ext uri="{FF2B5EF4-FFF2-40B4-BE49-F238E27FC236}">
                  <a16:creationId xmlns:a16="http://schemas.microsoft.com/office/drawing/2014/main" id="{9BC5A713-84D2-4636-87E2-AD77D41D947F}"/>
                </a:ext>
              </a:extLst>
            </p:cNvPr>
            <p:cNvSpPr>
              <a:spLocks/>
            </p:cNvSpPr>
            <p:nvPr/>
          </p:nvSpPr>
          <p:spPr>
            <a:xfrm>
              <a:off x="1684807" y="575733"/>
              <a:ext cx="350837" cy="105468"/>
            </a:xfrm>
            <a:custGeom>
              <a:avLst/>
              <a:gdLst/>
              <a:ahLst/>
              <a:cxnLst/>
              <a:rect l="0" t="0" r="0" b="0"/>
              <a:pathLst>
                <a:path w="493364" h="148314">
                  <a:moveTo>
                    <a:pt x="347034" y="13697"/>
                  </a:moveTo>
                  <a:lnTo>
                    <a:pt x="493364" y="47940"/>
                  </a:lnTo>
                  <a:lnTo>
                    <a:pt x="381507" y="66011"/>
                  </a:lnTo>
                  <a:lnTo>
                    <a:pt x="356809" y="99807"/>
                  </a:lnTo>
                  <a:lnTo>
                    <a:pt x="317812" y="108475"/>
                  </a:lnTo>
                  <a:lnTo>
                    <a:pt x="296645" y="146525"/>
                  </a:lnTo>
                  <a:lnTo>
                    <a:pt x="243080" y="148314"/>
                  </a:lnTo>
                  <a:lnTo>
                    <a:pt x="147488" y="120305"/>
                  </a:lnTo>
                  <a:lnTo>
                    <a:pt x="187803" y="103988"/>
                  </a:lnTo>
                  <a:lnTo>
                    <a:pt x="121174" y="90703"/>
                  </a:lnTo>
                  <a:lnTo>
                    <a:pt x="34572" y="51926"/>
                  </a:lnTo>
                  <a:lnTo>
                    <a:pt x="0" y="15964"/>
                  </a:lnTo>
                  <a:lnTo>
                    <a:pt x="117641" y="0"/>
                  </a:lnTo>
                  <a:lnTo>
                    <a:pt x="121909" y="0"/>
                  </a:lnTo>
                  <a:lnTo>
                    <a:pt x="145529" y="15596"/>
                  </a:lnTo>
                  <a:lnTo>
                    <a:pt x="208839" y="14957"/>
                  </a:lnTo>
                  <a:lnTo>
                    <a:pt x="224924" y="0"/>
                  </a:lnTo>
                  <a:lnTo>
                    <a:pt x="299150" y="0"/>
                  </a:lnTo>
                  <a:lnTo>
                    <a:pt x="347034" y="13697"/>
                  </a:lnTo>
                  <a:close/>
                </a:path>
              </a:pathLst>
            </a:custGeom>
            <a:solidFill>
              <a:srgbClr val="E6EBE2"/>
            </a:solidFill>
            <a:ln w="4403">
              <a:solidFill>
                <a:srgbClr val="B6C3B3"/>
              </a:solidFill>
              <a:prstDash val="solid"/>
            </a:ln>
          </p:spPr>
          <p:txBody>
            <a:bodyPr/>
            <a:p/>
          </p:txBody>
        </p:sp>
        <p:sp>
          <p:nvSpPr>
            <p:cNvPr id="128" name="land-112">
              <a:extLst>
                <a:ext uri="{FF2B5EF4-FFF2-40B4-BE49-F238E27FC236}">
                  <a16:creationId xmlns:a16="http://schemas.microsoft.com/office/drawing/2014/main" id="{B7490F23-BC35-42A2-91FC-258AFAA4A564}"/>
                </a:ext>
              </a:extLst>
            </p:cNvPr>
            <p:cNvSpPr>
              <a:spLocks/>
            </p:cNvSpPr>
            <p:nvPr/>
          </p:nvSpPr>
          <p:spPr>
            <a:xfrm>
              <a:off x="1927680" y="575733"/>
              <a:ext cx="288399" cy="19594"/>
            </a:xfrm>
            <a:custGeom>
              <a:avLst/>
              <a:gdLst/>
              <a:ahLst/>
              <a:cxnLst/>
              <a:rect l="0" t="0" r="0" b="0"/>
              <a:pathLst>
                <a:path w="405561" h="27554">
                  <a:moveTo>
                    <a:pt x="405561" y="0"/>
                  </a:moveTo>
                  <a:lnTo>
                    <a:pt x="346551" y="22143"/>
                  </a:lnTo>
                  <a:lnTo>
                    <a:pt x="217638" y="27554"/>
                  </a:lnTo>
                  <a:lnTo>
                    <a:pt x="86542" y="19893"/>
                  </a:lnTo>
                  <a:lnTo>
                    <a:pt x="78634" y="7239"/>
                  </a:lnTo>
                  <a:lnTo>
                    <a:pt x="14848" y="6435"/>
                  </a:lnTo>
                  <a:lnTo>
                    <a:pt x="0" y="0"/>
                  </a:lnTo>
                  <a:close/>
                </a:path>
              </a:pathLst>
            </a:custGeom>
            <a:solidFill>
              <a:srgbClr val="E6EBE2"/>
            </a:solidFill>
            <a:ln w="4403">
              <a:solidFill>
                <a:srgbClr val="B6C3B3"/>
              </a:solidFill>
              <a:prstDash val="solid"/>
            </a:ln>
          </p:spPr>
          <p:txBody>
            <a:bodyPr/>
            <a:p/>
          </p:txBody>
        </p:sp>
        <p:sp>
          <p:nvSpPr>
            <p:cNvPr id="129" name="land-113">
              <a:extLst>
                <a:ext uri="{FF2B5EF4-FFF2-40B4-BE49-F238E27FC236}">
                  <a16:creationId xmlns:a16="http://schemas.microsoft.com/office/drawing/2014/main" id="{3C3CBAC9-9A97-4C62-A9D6-09C9AE46AE4F}"/>
                </a:ext>
              </a:extLst>
            </p:cNvPr>
            <p:cNvSpPr>
              <a:spLocks/>
            </p:cNvSpPr>
            <p:nvPr/>
          </p:nvSpPr>
          <p:spPr>
            <a:xfrm>
              <a:off x="4284787" y="575733"/>
              <a:ext cx="236669" cy="40619"/>
            </a:xfrm>
            <a:custGeom>
              <a:avLst/>
              <a:gdLst/>
              <a:ahLst/>
              <a:cxnLst/>
              <a:rect l="0" t="0" r="0" b="0"/>
              <a:pathLst>
                <a:path w="332815" h="57120">
                  <a:moveTo>
                    <a:pt x="321841" y="51392"/>
                  </a:moveTo>
                  <a:lnTo>
                    <a:pt x="224859" y="57120"/>
                  </a:lnTo>
                  <a:lnTo>
                    <a:pt x="101050" y="43869"/>
                  </a:lnTo>
                  <a:lnTo>
                    <a:pt x="27276" y="26337"/>
                  </a:lnTo>
                  <a:lnTo>
                    <a:pt x="0" y="0"/>
                  </a:lnTo>
                  <a:lnTo>
                    <a:pt x="309538" y="0"/>
                  </a:lnTo>
                  <a:lnTo>
                    <a:pt x="332815" y="10097"/>
                  </a:lnTo>
                  <a:lnTo>
                    <a:pt x="321841" y="51392"/>
                  </a:lnTo>
                  <a:close/>
                </a:path>
              </a:pathLst>
            </a:custGeom>
            <a:solidFill>
              <a:srgbClr val="E6EBE2"/>
            </a:solidFill>
            <a:ln w="4403">
              <a:solidFill>
                <a:srgbClr val="B6C3B3"/>
              </a:solidFill>
              <a:prstDash val="solid"/>
            </a:ln>
          </p:spPr>
          <p:txBody>
            <a:bodyPr/>
            <a:p/>
          </p:txBody>
        </p:sp>
        <p:sp>
          <p:nvSpPr>
            <p:cNvPr id="130" name="land-114">
              <a:extLst>
                <a:ext uri="{FF2B5EF4-FFF2-40B4-BE49-F238E27FC236}">
                  <a16:creationId xmlns:a16="http://schemas.microsoft.com/office/drawing/2014/main" id="{82712F76-A8D2-43D1-88E4-8DD313E9BD33}"/>
                </a:ext>
              </a:extLst>
            </p:cNvPr>
            <p:cNvSpPr>
              <a:spLocks/>
            </p:cNvSpPr>
            <p:nvPr/>
          </p:nvSpPr>
          <p:spPr>
            <a:xfrm>
              <a:off x="9683959" y="575733"/>
              <a:ext cx="337412" cy="58282"/>
            </a:xfrm>
            <a:custGeom>
              <a:avLst/>
              <a:gdLst/>
              <a:ahLst/>
              <a:cxnLst/>
              <a:rect l="0" t="0" r="0" b="0"/>
              <a:pathLst>
                <a:path w="474485" h="81959">
                  <a:moveTo>
                    <a:pt x="420894" y="15614"/>
                  </a:moveTo>
                  <a:lnTo>
                    <a:pt x="474485" y="30452"/>
                  </a:lnTo>
                  <a:lnTo>
                    <a:pt x="413446" y="44119"/>
                  </a:lnTo>
                  <a:lnTo>
                    <a:pt x="331312" y="78657"/>
                  </a:lnTo>
                  <a:lnTo>
                    <a:pt x="252679" y="81959"/>
                  </a:lnTo>
                  <a:lnTo>
                    <a:pt x="160564" y="76081"/>
                  </a:lnTo>
                  <a:lnTo>
                    <a:pt x="112804" y="57360"/>
                  </a:lnTo>
                  <a:lnTo>
                    <a:pt x="113490" y="40701"/>
                  </a:lnTo>
                  <a:lnTo>
                    <a:pt x="148627" y="28468"/>
                  </a:lnTo>
                  <a:lnTo>
                    <a:pt x="67339" y="28818"/>
                  </a:lnTo>
                  <a:lnTo>
                    <a:pt x="18349" y="13547"/>
                  </a:lnTo>
                  <a:lnTo>
                    <a:pt x="0" y="0"/>
                  </a:lnTo>
                  <a:lnTo>
                    <a:pt x="402804" y="0"/>
                  </a:lnTo>
                  <a:lnTo>
                    <a:pt x="420894" y="15614"/>
                  </a:lnTo>
                  <a:close/>
                </a:path>
              </a:pathLst>
            </a:custGeom>
            <a:solidFill>
              <a:srgbClr val="E6EBE2"/>
            </a:solidFill>
            <a:ln w="4403">
              <a:solidFill>
                <a:srgbClr val="B6C3B3"/>
              </a:solidFill>
              <a:prstDash val="solid"/>
            </a:ln>
          </p:spPr>
          <p:txBody>
            <a:bodyPr/>
            <a:p/>
          </p:txBody>
        </p:sp>
        <p:sp>
          <p:nvSpPr>
            <p:cNvPr id="131" name="land-115">
              <a:extLst>
                <a:ext uri="{FF2B5EF4-FFF2-40B4-BE49-F238E27FC236}">
                  <a16:creationId xmlns:a16="http://schemas.microsoft.com/office/drawing/2014/main" id="{283AAECA-9DE7-449A-A3CB-49754BD7829B}"/>
                </a:ext>
              </a:extLst>
            </p:cNvPr>
            <p:cNvSpPr>
              <a:spLocks/>
            </p:cNvSpPr>
            <p:nvPr/>
          </p:nvSpPr>
          <p:spPr>
            <a:xfrm>
              <a:off x="9901201" y="575733"/>
              <a:ext cx="595981" cy="124812"/>
            </a:xfrm>
            <a:custGeom>
              <a:avLst/>
              <a:gdLst/>
              <a:ahLst/>
              <a:cxnLst/>
              <a:rect l="0" t="0" r="0" b="0"/>
              <a:pathLst>
                <a:path w="838099" h="175516">
                  <a:moveTo>
                    <a:pt x="838099" y="0"/>
                  </a:moveTo>
                  <a:lnTo>
                    <a:pt x="819485" y="9185"/>
                  </a:lnTo>
                  <a:lnTo>
                    <a:pt x="727793" y="16801"/>
                  </a:lnTo>
                  <a:lnTo>
                    <a:pt x="699470" y="26169"/>
                  </a:lnTo>
                  <a:lnTo>
                    <a:pt x="564887" y="31086"/>
                  </a:lnTo>
                  <a:lnTo>
                    <a:pt x="626161" y="36847"/>
                  </a:lnTo>
                  <a:lnTo>
                    <a:pt x="595436" y="45048"/>
                  </a:lnTo>
                  <a:lnTo>
                    <a:pt x="632197" y="67701"/>
                  </a:lnTo>
                  <a:lnTo>
                    <a:pt x="589965" y="83446"/>
                  </a:lnTo>
                  <a:lnTo>
                    <a:pt x="521291" y="96445"/>
                  </a:lnTo>
                  <a:lnTo>
                    <a:pt x="500214" y="114416"/>
                  </a:lnTo>
                  <a:lnTo>
                    <a:pt x="438125" y="128143"/>
                  </a:lnTo>
                  <a:lnTo>
                    <a:pt x="444342" y="138536"/>
                  </a:lnTo>
                  <a:lnTo>
                    <a:pt x="520297" y="136760"/>
                  </a:lnTo>
                  <a:lnTo>
                    <a:pt x="521265" y="147970"/>
                  </a:lnTo>
                  <a:lnTo>
                    <a:pt x="402488" y="175516"/>
                  </a:lnTo>
                  <a:lnTo>
                    <a:pt x="286334" y="162846"/>
                  </a:lnTo>
                  <a:lnTo>
                    <a:pt x="155764" y="169965"/>
                  </a:lnTo>
                  <a:lnTo>
                    <a:pt x="89616" y="164408"/>
                  </a:lnTo>
                  <a:lnTo>
                    <a:pt x="5575" y="162002"/>
                  </a:lnTo>
                  <a:lnTo>
                    <a:pt x="0" y="139971"/>
                  </a:lnTo>
                  <a:lnTo>
                    <a:pt x="82175" y="129583"/>
                  </a:lnTo>
                  <a:lnTo>
                    <a:pt x="60279" y="96441"/>
                  </a:lnTo>
                  <a:lnTo>
                    <a:pt x="87393" y="93216"/>
                  </a:lnTo>
                  <a:lnTo>
                    <a:pt x="206237" y="113032"/>
                  </a:lnTo>
                  <a:lnTo>
                    <a:pt x="145623" y="83582"/>
                  </a:lnTo>
                  <a:lnTo>
                    <a:pt x="73528" y="74773"/>
                  </a:lnTo>
                  <a:lnTo>
                    <a:pt x="109530" y="57007"/>
                  </a:lnTo>
                  <a:lnTo>
                    <a:pt x="188353" y="46066"/>
                  </a:lnTo>
                  <a:lnTo>
                    <a:pt x="200965" y="30061"/>
                  </a:lnTo>
                  <a:lnTo>
                    <a:pt x="138184" y="12113"/>
                  </a:lnTo>
                  <a:lnTo>
                    <a:pt x="128526" y="0"/>
                  </a:lnTo>
                  <a:close/>
                </a:path>
              </a:pathLst>
            </a:custGeom>
            <a:solidFill>
              <a:srgbClr val="E6EBE2"/>
            </a:solidFill>
            <a:ln w="4403">
              <a:solidFill>
                <a:srgbClr val="B6C3B3"/>
              </a:solidFill>
              <a:prstDash val="solid"/>
            </a:ln>
          </p:spPr>
          <p:txBody>
            <a:bodyPr/>
            <a:p/>
          </p:txBody>
        </p:sp>
        <p:sp>
          <p:nvSpPr>
            <p:cNvPr id="132" name="land-116">
              <a:extLst>
                <a:ext uri="{FF2B5EF4-FFF2-40B4-BE49-F238E27FC236}">
                  <a16:creationId xmlns:a16="http://schemas.microsoft.com/office/drawing/2014/main" id="{162EA570-5A25-4EE7-ABC1-E8BC69AEB6C1}"/>
                </a:ext>
              </a:extLst>
            </p:cNvPr>
            <p:cNvSpPr>
              <a:spLocks/>
            </p:cNvSpPr>
            <p:nvPr/>
          </p:nvSpPr>
          <p:spPr>
            <a:xfrm>
              <a:off x="406400" y="575733"/>
              <a:ext cx="381283" cy="385206"/>
            </a:xfrm>
            <a:custGeom>
              <a:avLst/>
              <a:gdLst/>
              <a:ahLst/>
              <a:cxnLst/>
              <a:rect l="0" t="0" r="0" b="0"/>
              <a:pathLst>
                <a:path w="536179" h="541695">
                  <a:moveTo>
                    <a:pt x="536179" y="0"/>
                  </a:moveTo>
                  <a:lnTo>
                    <a:pt x="493395" y="27554"/>
                  </a:lnTo>
                  <a:lnTo>
                    <a:pt x="457613" y="57346"/>
                  </a:lnTo>
                  <a:lnTo>
                    <a:pt x="459012" y="108446"/>
                  </a:lnTo>
                  <a:lnTo>
                    <a:pt x="512382" y="138431"/>
                  </a:lnTo>
                  <a:lnTo>
                    <a:pt x="442943" y="140328"/>
                  </a:lnTo>
                  <a:lnTo>
                    <a:pt x="369849" y="154858"/>
                  </a:lnTo>
                  <a:lnTo>
                    <a:pt x="451876" y="179192"/>
                  </a:lnTo>
                  <a:lnTo>
                    <a:pt x="462326" y="218214"/>
                  </a:lnTo>
                  <a:lnTo>
                    <a:pt x="414799" y="222463"/>
                  </a:lnTo>
                  <a:lnTo>
                    <a:pt x="472379" y="261969"/>
                  </a:lnTo>
                  <a:lnTo>
                    <a:pt x="373637" y="265266"/>
                  </a:lnTo>
                  <a:lnTo>
                    <a:pt x="425185" y="283943"/>
                  </a:lnTo>
                  <a:lnTo>
                    <a:pt x="410614" y="300143"/>
                  </a:lnTo>
                  <a:lnTo>
                    <a:pt x="347945" y="307253"/>
                  </a:lnTo>
                  <a:lnTo>
                    <a:pt x="285994" y="307387"/>
                  </a:lnTo>
                  <a:lnTo>
                    <a:pt x="341682" y="338494"/>
                  </a:lnTo>
                  <a:lnTo>
                    <a:pt x="342285" y="358939"/>
                  </a:lnTo>
                  <a:lnTo>
                    <a:pt x="254328" y="339936"/>
                  </a:lnTo>
                  <a:lnTo>
                    <a:pt x="231453" y="352229"/>
                  </a:lnTo>
                  <a:lnTo>
                    <a:pt x="291460" y="363712"/>
                  </a:lnTo>
                  <a:lnTo>
                    <a:pt x="349697" y="391779"/>
                  </a:lnTo>
                  <a:lnTo>
                    <a:pt x="366554" y="428762"/>
                  </a:lnTo>
                  <a:lnTo>
                    <a:pt x="287323" y="437611"/>
                  </a:lnTo>
                  <a:lnTo>
                    <a:pt x="253053" y="419908"/>
                  </a:lnTo>
                  <a:lnTo>
                    <a:pt x="198095" y="393526"/>
                  </a:lnTo>
                  <a:lnTo>
                    <a:pt x="213300" y="424694"/>
                  </a:lnTo>
                  <a:lnTo>
                    <a:pt x="161675" y="448841"/>
                  </a:lnTo>
                  <a:lnTo>
                    <a:pt x="278816" y="450791"/>
                  </a:lnTo>
                  <a:lnTo>
                    <a:pt x="340086" y="453296"/>
                  </a:lnTo>
                  <a:lnTo>
                    <a:pt x="220949" y="493280"/>
                  </a:lnTo>
                  <a:lnTo>
                    <a:pt x="100129" y="529484"/>
                  </a:lnTo>
                  <a:lnTo>
                    <a:pt x="0" y="541695"/>
                  </a:lnTo>
                  <a:lnTo>
                    <a:pt x="0" y="0"/>
                  </a:lnTo>
                  <a:close/>
                </a:path>
              </a:pathLst>
            </a:custGeom>
            <a:solidFill>
              <a:srgbClr val="E6EBE2"/>
            </a:solidFill>
            <a:ln w="4403">
              <a:solidFill>
                <a:srgbClr val="B6C3B3"/>
              </a:solidFill>
              <a:prstDash val="solid"/>
            </a:ln>
          </p:spPr>
          <p:txBody>
            <a:bodyPr/>
            <a:p/>
          </p:txBody>
        </p:sp>
        <p:sp>
          <p:nvSpPr>
            <p:cNvPr id="133" name="land-117">
              <a:extLst>
                <a:ext uri="{FF2B5EF4-FFF2-40B4-BE49-F238E27FC236}">
                  <a16:creationId xmlns:a16="http://schemas.microsoft.com/office/drawing/2014/main" id="{17189056-D331-41C8-9925-7127202FE10C}"/>
                </a:ext>
              </a:extLst>
            </p:cNvPr>
            <p:cNvSpPr>
              <a:spLocks/>
            </p:cNvSpPr>
            <p:nvPr/>
          </p:nvSpPr>
          <p:spPr>
            <a:xfrm>
              <a:off x="10417030" y="575733"/>
              <a:ext cx="1368570" cy="651942"/>
            </a:xfrm>
            <a:custGeom>
              <a:avLst/>
              <a:gdLst/>
              <a:ahLst/>
              <a:cxnLst/>
              <a:rect l="0" t="0" r="0" b="0"/>
              <a:pathLst>
                <a:path w="1924552" h="916794">
                  <a:moveTo>
                    <a:pt x="1924552" y="0"/>
                  </a:moveTo>
                  <a:lnTo>
                    <a:pt x="1924552" y="541695"/>
                  </a:lnTo>
                  <a:lnTo>
                    <a:pt x="1894605" y="545347"/>
                  </a:lnTo>
                  <a:lnTo>
                    <a:pt x="1845580" y="545543"/>
                  </a:lnTo>
                  <a:lnTo>
                    <a:pt x="1799600" y="563238"/>
                  </a:lnTo>
                  <a:lnTo>
                    <a:pt x="1737775" y="611721"/>
                  </a:lnTo>
                  <a:lnTo>
                    <a:pt x="1642168" y="643906"/>
                  </a:lnTo>
                  <a:lnTo>
                    <a:pt x="1611456" y="645799"/>
                  </a:lnTo>
                  <a:lnTo>
                    <a:pt x="1552281" y="657076"/>
                  </a:lnTo>
                  <a:lnTo>
                    <a:pt x="1488398" y="667806"/>
                  </a:lnTo>
                  <a:lnTo>
                    <a:pt x="1450315" y="696211"/>
                  </a:lnTo>
                  <a:lnTo>
                    <a:pt x="1449701" y="728401"/>
                  </a:lnTo>
                  <a:lnTo>
                    <a:pt x="1427214" y="758553"/>
                  </a:lnTo>
                  <a:lnTo>
                    <a:pt x="1354730" y="795299"/>
                  </a:lnTo>
                  <a:lnTo>
                    <a:pt x="1372631" y="831184"/>
                  </a:lnTo>
                  <a:lnTo>
                    <a:pt x="1352650" y="869158"/>
                  </a:lnTo>
                  <a:lnTo>
                    <a:pt x="1329882" y="913994"/>
                  </a:lnTo>
                  <a:lnTo>
                    <a:pt x="1267247" y="916794"/>
                  </a:lnTo>
                  <a:lnTo>
                    <a:pt x="1201633" y="879296"/>
                  </a:lnTo>
                  <a:lnTo>
                    <a:pt x="1112764" y="879060"/>
                  </a:lnTo>
                  <a:lnTo>
                    <a:pt x="1069641" y="853876"/>
                  </a:lnTo>
                  <a:lnTo>
                    <a:pt x="1039979" y="809028"/>
                  </a:lnTo>
                  <a:lnTo>
                    <a:pt x="962954" y="751920"/>
                  </a:lnTo>
                  <a:lnTo>
                    <a:pt x="940422" y="722000"/>
                  </a:lnTo>
                  <a:lnTo>
                    <a:pt x="934357" y="680747"/>
                  </a:lnTo>
                  <a:lnTo>
                    <a:pt x="872791" y="638365"/>
                  </a:lnTo>
                  <a:lnTo>
                    <a:pt x="888795" y="604522"/>
                  </a:lnTo>
                  <a:lnTo>
                    <a:pt x="859125" y="588334"/>
                  </a:lnTo>
                  <a:lnTo>
                    <a:pt x="903073" y="534667"/>
                  </a:lnTo>
                  <a:lnTo>
                    <a:pt x="969972" y="517584"/>
                  </a:lnTo>
                  <a:lnTo>
                    <a:pt x="987527" y="498377"/>
                  </a:lnTo>
                  <a:lnTo>
                    <a:pt x="996826" y="462497"/>
                  </a:lnTo>
                  <a:lnTo>
                    <a:pt x="946048" y="478762"/>
                  </a:lnTo>
                  <a:lnTo>
                    <a:pt x="921852" y="485594"/>
                  </a:lnTo>
                  <a:lnTo>
                    <a:pt x="881920" y="492140"/>
                  </a:lnTo>
                  <a:lnTo>
                    <a:pt x="827376" y="477150"/>
                  </a:lnTo>
                  <a:lnTo>
                    <a:pt x="824414" y="445954"/>
                  </a:lnTo>
                  <a:lnTo>
                    <a:pt x="841801" y="421523"/>
                  </a:lnTo>
                  <a:lnTo>
                    <a:pt x="883030" y="420860"/>
                  </a:lnTo>
                  <a:lnTo>
                    <a:pt x="973760" y="433074"/>
                  </a:lnTo>
                  <a:lnTo>
                    <a:pt x="897340" y="403909"/>
                  </a:lnTo>
                  <a:lnTo>
                    <a:pt x="857564" y="388188"/>
                  </a:lnTo>
                  <a:lnTo>
                    <a:pt x="813302" y="394647"/>
                  </a:lnTo>
                  <a:lnTo>
                    <a:pt x="776200" y="383262"/>
                  </a:lnTo>
                  <a:lnTo>
                    <a:pt x="825828" y="340470"/>
                  </a:lnTo>
                  <a:lnTo>
                    <a:pt x="798796" y="323370"/>
                  </a:lnTo>
                  <a:lnTo>
                    <a:pt x="763516" y="291629"/>
                  </a:lnTo>
                  <a:lnTo>
                    <a:pt x="710016" y="242927"/>
                  </a:lnTo>
                  <a:lnTo>
                    <a:pt x="653424" y="225092"/>
                  </a:lnTo>
                  <a:lnTo>
                    <a:pt x="653941" y="205865"/>
                  </a:lnTo>
                  <a:lnTo>
                    <a:pt x="534662" y="178995"/>
                  </a:lnTo>
                  <a:lnTo>
                    <a:pt x="440293" y="175651"/>
                  </a:lnTo>
                  <a:lnTo>
                    <a:pt x="321495" y="177503"/>
                  </a:lnTo>
                  <a:lnTo>
                    <a:pt x="213032" y="180876"/>
                  </a:lnTo>
                  <a:lnTo>
                    <a:pt x="161449" y="166257"/>
                  </a:lnTo>
                  <a:lnTo>
                    <a:pt x="84207" y="137379"/>
                  </a:lnTo>
                  <a:lnTo>
                    <a:pt x="200927" y="122933"/>
                  </a:lnTo>
                  <a:lnTo>
                    <a:pt x="290393" y="120507"/>
                  </a:lnTo>
                  <a:lnTo>
                    <a:pt x="100193" y="108567"/>
                  </a:lnTo>
                  <a:lnTo>
                    <a:pt x="0" y="89819"/>
                  </a:lnTo>
                  <a:lnTo>
                    <a:pt x="6117" y="71976"/>
                  </a:lnTo>
                  <a:lnTo>
                    <a:pt x="174402" y="49879"/>
                  </a:lnTo>
                  <a:lnTo>
                    <a:pt x="337211" y="27813"/>
                  </a:lnTo>
                  <a:lnTo>
                    <a:pt x="354404" y="11107"/>
                  </a:lnTo>
                  <a:lnTo>
                    <a:pt x="273593" y="0"/>
                  </a:lnTo>
                  <a:close/>
                </a:path>
              </a:pathLst>
            </a:custGeom>
            <a:solidFill>
              <a:srgbClr val="E6EBE2"/>
            </a:solidFill>
            <a:ln w="4403">
              <a:solidFill>
                <a:srgbClr val="B6C3B3"/>
              </a:solidFill>
              <a:prstDash val="solid"/>
            </a:ln>
          </p:spPr>
          <p:txBody>
            <a:bodyPr/>
            <a:p/>
          </p:txBody>
        </p:sp>
        <p:sp>
          <p:nvSpPr>
            <p:cNvPr id="134" name="map-top">
              <a:extLst>
                <a:ext uri="{FF2B5EF4-FFF2-40B4-BE49-F238E27FC236}">
                  <a16:creationId xmlns:a16="http://schemas.microsoft.com/office/drawing/2014/main" id="{1D646F03-1173-40A2-93B2-246722C634B8}"/>
                </a:ext>
              </a:extLst>
            </p:cNvPr>
            <p:cNvSpPr>
              <a:spLocks/>
            </p:cNvSpPr>
            <p:nvPr/>
          </p:nvSpPr>
          <p:spPr>
            <a:xfrm>
              <a:off x="406400" y="575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txBody>
            <a:bodyPr/>
            <a:p/>
          </p:txBody>
        </p:sp>
        <p:sp>
          <p:nvSpPr>
            <p:cNvPr id="135" name="map-bottom">
              <a:extLst>
                <a:ext uri="{FF2B5EF4-FFF2-40B4-BE49-F238E27FC236}">
                  <a16:creationId xmlns:a16="http://schemas.microsoft.com/office/drawing/2014/main" id="{6FFC45A9-42D0-4B6E-9321-5EAF99B1B139}"/>
                </a:ext>
              </a:extLst>
            </p:cNvPr>
            <p:cNvSpPr>
              <a:spLocks/>
            </p:cNvSpPr>
            <p:nvPr/>
          </p:nvSpPr>
          <p:spPr>
            <a:xfrm>
              <a:off x="406400" y="5147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txBody>
            <a:bodyPr/>
            <a:p/>
          </p:txBody>
        </p:sp>
        <p:sp>
          <p:nvSpPr>
            <p:cNvPr id="136" name="spadiceus-reference-shading">
              <a:extLst>
                <a:ext uri="{FF2B5EF4-FFF2-40B4-BE49-F238E27FC236}">
                  <a16:creationId xmlns:a16="http://schemas.microsoft.com/office/drawing/2014/main" id="{8EEF48AD-C6B5-4DC5-AA09-87FDD76190B2}"/>
                </a:ext>
              </a:extLst>
            </p:cNvPr>
            <p:cNvSpPr>
              <a:spLocks/>
            </p:cNvSpPr>
            <p:nvPr/>
          </p:nvSpPr>
          <p:spPr>
            <a:xfrm>
              <a:off x="4325902" y="2241248"/>
              <a:ext cx="442524" cy="457200"/>
            </a:xfrm>
            <a:custGeom>
              <a:avLst/>
              <a:gdLst/>
              <a:ahLst/>
              <a:cxnLst/>
              <a:rect l="0" t="0" r="0" b="0"/>
              <a:pathLst>
                <a:path w="622300" h="642938">
                  <a:moveTo>
                    <a:pt x="177800" y="0"/>
                  </a:moveTo>
                  <a:lnTo>
                    <a:pt x="533400" y="91848"/>
                  </a:lnTo>
                  <a:lnTo>
                    <a:pt x="622300" y="413317"/>
                  </a:lnTo>
                  <a:lnTo>
                    <a:pt x="355600" y="642938"/>
                  </a:lnTo>
                  <a:lnTo>
                    <a:pt x="0" y="505165"/>
                  </a:lnTo>
                  <a:lnTo>
                    <a:pt x="44450" y="183696"/>
                  </a:lnTo>
                  <a:close/>
                </a:path>
              </a:pathLst>
            </a:custGeom>
            <a:solidFill>
              <a:srgbClr val="F0C660"/>
            </a:solidFill>
            <a:ln w="8805">
              <a:solidFill>
                <a:srgbClr val="A57A2B"/>
              </a:solidFill>
              <a:prstDash val="dash"/>
            </a:ln>
          </p:spPr>
          <p:txBody>
            <a:bodyPr/>
            <a:p/>
          </p:txBody>
        </p:sp>
        <p:sp>
          <p:nvSpPr>
            <p:cNvPr id="137" name="regional-SEA-SouthAsia">
              <a:extLst>
                <a:ext uri="{FF2B5EF4-FFF2-40B4-BE49-F238E27FC236}">
                  <a16:creationId xmlns:a16="http://schemas.microsoft.com/office/drawing/2014/main" id="{42818414-FB42-4697-9B93-469BDF0ECAB3}"/>
                </a:ext>
              </a:extLst>
            </p:cNvPr>
            <p:cNvSpPr>
              <a:spLocks/>
            </p:cNvSpPr>
            <p:nvPr/>
          </p:nvSpPr>
          <p:spPr>
            <a:xfrm>
              <a:off x="3693724" y="2404533"/>
              <a:ext cx="727004" cy="228600"/>
            </a:xfrm>
            <a:custGeom>
              <a:avLst/>
              <a:gdLst/>
              <a:ahLst/>
              <a:cxnLst/>
              <a:rect l="0" t="0" r="0" b="0"/>
              <a:pathLst>
                <a:path w="1022350" h="321469">
                  <a:moveTo>
                    <a:pt x="1022350" y="321469"/>
                  </a:moveTo>
                  <a:lnTo>
                    <a:pt x="994097" y="307435"/>
                  </a:lnTo>
                  <a:lnTo>
                    <a:pt x="965509" y="294305"/>
                  </a:lnTo>
                  <a:lnTo>
                    <a:pt x="936620" y="282029"/>
                  </a:lnTo>
                  <a:lnTo>
                    <a:pt x="907463" y="270557"/>
                  </a:lnTo>
                  <a:lnTo>
                    <a:pt x="878073" y="259837"/>
                  </a:lnTo>
                  <a:lnTo>
                    <a:pt x="848484" y="249821"/>
                  </a:lnTo>
                  <a:lnTo>
                    <a:pt x="818729" y="240457"/>
                  </a:lnTo>
                  <a:lnTo>
                    <a:pt x="788843" y="231696"/>
                  </a:lnTo>
                  <a:lnTo>
                    <a:pt x="758860" y="223488"/>
                  </a:lnTo>
                  <a:lnTo>
                    <a:pt x="728814" y="215781"/>
                  </a:lnTo>
                  <a:lnTo>
                    <a:pt x="698739" y="208527"/>
                  </a:lnTo>
                  <a:lnTo>
                    <a:pt x="668668" y="201674"/>
                  </a:lnTo>
                  <a:lnTo>
                    <a:pt x="638637" y="195172"/>
                  </a:lnTo>
                  <a:lnTo>
                    <a:pt x="608678" y="188972"/>
                  </a:lnTo>
                  <a:lnTo>
                    <a:pt x="578826" y="183024"/>
                  </a:lnTo>
                  <a:lnTo>
                    <a:pt x="549115" y="177275"/>
                  </a:lnTo>
                  <a:lnTo>
                    <a:pt x="519579" y="171678"/>
                  </a:lnTo>
                  <a:lnTo>
                    <a:pt x="490253" y="166181"/>
                  </a:lnTo>
                  <a:lnTo>
                    <a:pt x="461169" y="160734"/>
                  </a:lnTo>
                  <a:lnTo>
                    <a:pt x="432362" y="155288"/>
                  </a:lnTo>
                  <a:lnTo>
                    <a:pt x="403866" y="149791"/>
                  </a:lnTo>
                  <a:lnTo>
                    <a:pt x="375716" y="144193"/>
                  </a:lnTo>
                  <a:lnTo>
                    <a:pt x="347944" y="138445"/>
                  </a:lnTo>
                  <a:lnTo>
                    <a:pt x="320586" y="132496"/>
                  </a:lnTo>
                  <a:lnTo>
                    <a:pt x="293674" y="126296"/>
                  </a:lnTo>
                  <a:lnTo>
                    <a:pt x="267244" y="119795"/>
                  </a:lnTo>
                  <a:lnTo>
                    <a:pt x="241330" y="112942"/>
                  </a:lnTo>
                  <a:lnTo>
                    <a:pt x="215964" y="105688"/>
                  </a:lnTo>
                  <a:lnTo>
                    <a:pt x="191181" y="97981"/>
                  </a:lnTo>
                  <a:lnTo>
                    <a:pt x="167016" y="89773"/>
                  </a:lnTo>
                  <a:lnTo>
                    <a:pt x="143503" y="81012"/>
                  </a:lnTo>
                  <a:lnTo>
                    <a:pt x="120674" y="71648"/>
                  </a:lnTo>
                  <a:lnTo>
                    <a:pt x="98565" y="61632"/>
                  </a:lnTo>
                  <a:lnTo>
                    <a:pt x="77209" y="50912"/>
                  </a:lnTo>
                  <a:lnTo>
                    <a:pt x="56641" y="39440"/>
                  </a:lnTo>
                  <a:lnTo>
                    <a:pt x="36894" y="27163"/>
                  </a:lnTo>
                  <a:lnTo>
                    <a:pt x="18002" y="14034"/>
                  </a:lnTo>
                  <a:lnTo>
                    <a:pt x="0" y="0"/>
                  </a:lnTo>
                </a:path>
              </a:pathLst>
            </a:custGeom>
            <a:noFill/>
            <a:ln w="18965">
              <a:solidFill>
                <a:srgbClr val="4F788A"/>
              </a:solidFill>
              <a:prstDash val="solid"/>
            </a:ln>
          </p:spPr>
          <p:txBody>
            <a:bodyPr/>
            <a:p/>
          </p:txBody>
        </p:sp>
        <p:sp>
          <p:nvSpPr>
            <p:cNvPr id="138" name="regional-SEA-SouthAsia-head">
              <a:extLst>
                <a:ext uri="{FF2B5EF4-FFF2-40B4-BE49-F238E27FC236}">
                  <a16:creationId xmlns:a16="http://schemas.microsoft.com/office/drawing/2014/main" id="{57EB87AB-B737-422F-B56D-0709B2408ED4}"/>
                </a:ext>
              </a:extLst>
            </p:cNvPr>
            <p:cNvSpPr>
              <a:spLocks/>
            </p:cNvSpPr>
            <p:nvPr/>
          </p:nvSpPr>
          <p:spPr>
            <a:xfrm>
              <a:off x="3693724" y="2404533"/>
              <a:ext cx="86591" cy="78819"/>
            </a:xfrm>
            <a:custGeom>
              <a:avLst/>
              <a:gdLst/>
              <a:ahLst/>
              <a:cxnLst/>
              <a:rect l="0" t="0" r="0" b="0"/>
              <a:pathLst>
                <a:path w="121768" h="110839">
                  <a:moveTo>
                    <a:pt x="0" y="0"/>
                  </a:moveTo>
                  <a:lnTo>
                    <a:pt x="58522" y="110839"/>
                  </a:lnTo>
                  <a:lnTo>
                    <a:pt x="121768" y="29708"/>
                  </a:lnTo>
                  <a:close/>
                </a:path>
              </a:pathLst>
            </a:custGeom>
            <a:solidFill>
              <a:srgbClr val="4F788A"/>
            </a:solidFill>
            <a:ln w="0">
              <a:noFill/>
              <a:prstDash val="solid"/>
            </a:ln>
          </p:spPr>
          <p:txBody>
            <a:bodyPr/>
            <a:p/>
          </p:txBody>
        </p:sp>
        <p:sp>
          <p:nvSpPr>
            <p:cNvPr id="139" name="regional-SouthAsia-WestAsia">
              <a:extLst>
                <a:ext uri="{FF2B5EF4-FFF2-40B4-BE49-F238E27FC236}">
                  <a16:creationId xmlns:a16="http://schemas.microsoft.com/office/drawing/2014/main" id="{652A80DF-3268-4E89-A8A2-D15DFC601AFD}"/>
                </a:ext>
              </a:extLst>
            </p:cNvPr>
            <p:cNvSpPr>
              <a:spLocks/>
            </p:cNvSpPr>
            <p:nvPr/>
          </p:nvSpPr>
          <p:spPr>
            <a:xfrm>
              <a:off x="2777067" y="2077962"/>
              <a:ext cx="790222" cy="261257"/>
            </a:xfrm>
            <a:custGeom>
              <a:avLst/>
              <a:gdLst/>
              <a:ahLst/>
              <a:cxnLst/>
              <a:rect l="0" t="0" r="0" b="0"/>
              <a:pathLst>
                <a:path w="1111250" h="367393">
                  <a:moveTo>
                    <a:pt x="1111250" y="367393"/>
                  </a:moveTo>
                  <a:lnTo>
                    <a:pt x="1086592" y="349549"/>
                  </a:lnTo>
                  <a:lnTo>
                    <a:pt x="1061745" y="332269"/>
                  </a:lnTo>
                  <a:lnTo>
                    <a:pt x="1036704" y="315540"/>
                  </a:lnTo>
                  <a:lnTo>
                    <a:pt x="1011463" y="299354"/>
                  </a:lnTo>
                  <a:lnTo>
                    <a:pt x="986018" y="283700"/>
                  </a:lnTo>
                  <a:lnTo>
                    <a:pt x="960364" y="268568"/>
                  </a:lnTo>
                  <a:lnTo>
                    <a:pt x="934496" y="253948"/>
                  </a:lnTo>
                  <a:lnTo>
                    <a:pt x="908409" y="239831"/>
                  </a:lnTo>
                  <a:lnTo>
                    <a:pt x="882099" y="226206"/>
                  </a:lnTo>
                  <a:lnTo>
                    <a:pt x="855560" y="213063"/>
                  </a:lnTo>
                  <a:lnTo>
                    <a:pt x="828789" y="200392"/>
                  </a:lnTo>
                  <a:lnTo>
                    <a:pt x="801778" y="188182"/>
                  </a:lnTo>
                  <a:lnTo>
                    <a:pt x="774525" y="176425"/>
                  </a:lnTo>
                  <a:lnTo>
                    <a:pt x="747024" y="165110"/>
                  </a:lnTo>
                  <a:lnTo>
                    <a:pt x="719271" y="154226"/>
                  </a:lnTo>
                  <a:lnTo>
                    <a:pt x="691259" y="143765"/>
                  </a:lnTo>
                  <a:lnTo>
                    <a:pt x="662986" y="133715"/>
                  </a:lnTo>
                  <a:lnTo>
                    <a:pt x="634445" y="124067"/>
                  </a:lnTo>
                  <a:lnTo>
                    <a:pt x="605631" y="114810"/>
                  </a:lnTo>
                  <a:lnTo>
                    <a:pt x="576541" y="105935"/>
                  </a:lnTo>
                  <a:lnTo>
                    <a:pt x="547169" y="97432"/>
                  </a:lnTo>
                  <a:lnTo>
                    <a:pt x="517510" y="89291"/>
                  </a:lnTo>
                  <a:lnTo>
                    <a:pt x="487559" y="81500"/>
                  </a:lnTo>
                  <a:lnTo>
                    <a:pt x="457312" y="74052"/>
                  </a:lnTo>
                  <a:lnTo>
                    <a:pt x="426764" y="66934"/>
                  </a:lnTo>
                  <a:lnTo>
                    <a:pt x="395909" y="60139"/>
                  </a:lnTo>
                  <a:lnTo>
                    <a:pt x="364743" y="53654"/>
                  </a:lnTo>
                  <a:lnTo>
                    <a:pt x="333262" y="47471"/>
                  </a:lnTo>
                  <a:lnTo>
                    <a:pt x="301459" y="41579"/>
                  </a:lnTo>
                  <a:lnTo>
                    <a:pt x="269331" y="35968"/>
                  </a:lnTo>
                  <a:lnTo>
                    <a:pt x="236873" y="30628"/>
                  </a:lnTo>
                  <a:lnTo>
                    <a:pt x="204079" y="25550"/>
                  </a:lnTo>
                  <a:lnTo>
                    <a:pt x="170944" y="20722"/>
                  </a:lnTo>
                  <a:lnTo>
                    <a:pt x="137465" y="16136"/>
                  </a:lnTo>
                  <a:lnTo>
                    <a:pt x="103636" y="11781"/>
                  </a:lnTo>
                  <a:lnTo>
                    <a:pt x="69452" y="7646"/>
                  </a:lnTo>
                  <a:lnTo>
                    <a:pt x="34908" y="3723"/>
                  </a:lnTo>
                  <a:lnTo>
                    <a:pt x="0" y="0"/>
                  </a:lnTo>
                </a:path>
              </a:pathLst>
            </a:custGeom>
            <a:noFill/>
            <a:ln w="18965">
              <a:solidFill>
                <a:srgbClr val="4F788A"/>
              </a:solidFill>
              <a:prstDash val="solid"/>
            </a:ln>
          </p:spPr>
          <p:txBody>
            <a:bodyPr/>
            <a:p/>
          </p:txBody>
        </p:sp>
        <p:sp>
          <p:nvSpPr>
            <p:cNvPr id="140" name="regional-SouthAsia-WestAsia-head">
              <a:extLst>
                <a:ext uri="{FF2B5EF4-FFF2-40B4-BE49-F238E27FC236}">
                  <a16:creationId xmlns:a16="http://schemas.microsoft.com/office/drawing/2014/main" id="{5B00D1B9-65C7-42D4-AF24-05A657BD6C82}"/>
                </a:ext>
              </a:extLst>
            </p:cNvPr>
            <p:cNvSpPr>
              <a:spLocks/>
            </p:cNvSpPr>
            <p:nvPr/>
          </p:nvSpPr>
          <p:spPr>
            <a:xfrm>
              <a:off x="2777067" y="2050211"/>
              <a:ext cx="84700" cy="72740"/>
            </a:xfrm>
            <a:custGeom>
              <a:avLst/>
              <a:gdLst/>
              <a:ahLst/>
              <a:cxnLst/>
              <a:rect l="0" t="0" r="0" b="0"/>
              <a:pathLst>
                <a:path w="119110" h="102290">
                  <a:moveTo>
                    <a:pt x="0" y="39025"/>
                  </a:moveTo>
                  <a:lnTo>
                    <a:pt x="108201" y="102290"/>
                  </a:lnTo>
                  <a:lnTo>
                    <a:pt x="119110" y="0"/>
                  </a:lnTo>
                  <a:close/>
                </a:path>
              </a:pathLst>
            </a:custGeom>
            <a:solidFill>
              <a:srgbClr val="4F788A"/>
            </a:solidFill>
            <a:ln w="0">
              <a:noFill/>
              <a:prstDash val="solid"/>
            </a:ln>
          </p:spPr>
          <p:txBody>
            <a:bodyPr/>
            <a:p/>
          </p:txBody>
        </p:sp>
        <p:sp>
          <p:nvSpPr>
            <p:cNvPr id="141" name="regional-WestAsia-Mediterranean">
              <a:extLst>
                <a:ext uri="{FF2B5EF4-FFF2-40B4-BE49-F238E27FC236}">
                  <a16:creationId xmlns:a16="http://schemas.microsoft.com/office/drawing/2014/main" id="{1391477A-BF97-44DD-A464-9455EE4A565E}"/>
                </a:ext>
              </a:extLst>
            </p:cNvPr>
            <p:cNvSpPr>
              <a:spLocks/>
            </p:cNvSpPr>
            <p:nvPr/>
          </p:nvSpPr>
          <p:spPr>
            <a:xfrm>
              <a:off x="1923627" y="1947333"/>
              <a:ext cx="758613" cy="130629"/>
            </a:xfrm>
            <a:custGeom>
              <a:avLst/>
              <a:gdLst/>
              <a:ahLst/>
              <a:cxnLst/>
              <a:rect l="0" t="0" r="0" b="0"/>
              <a:pathLst>
                <a:path w="1066800" h="183696">
                  <a:moveTo>
                    <a:pt x="1066800" y="183696"/>
                  </a:moveTo>
                  <a:lnTo>
                    <a:pt x="1048977" y="173288"/>
                  </a:lnTo>
                  <a:lnTo>
                    <a:pt x="1030600" y="163784"/>
                  </a:lnTo>
                  <a:lnTo>
                    <a:pt x="1011668" y="155134"/>
                  </a:lnTo>
                  <a:lnTo>
                    <a:pt x="992183" y="147287"/>
                  </a:lnTo>
                  <a:lnTo>
                    <a:pt x="972144" y="140193"/>
                  </a:lnTo>
                  <a:lnTo>
                    <a:pt x="951550" y="133802"/>
                  </a:lnTo>
                  <a:lnTo>
                    <a:pt x="930403" y="128064"/>
                  </a:lnTo>
                  <a:lnTo>
                    <a:pt x="908701" y="122929"/>
                  </a:lnTo>
                  <a:lnTo>
                    <a:pt x="886445" y="118345"/>
                  </a:lnTo>
                  <a:lnTo>
                    <a:pt x="863635" y="114265"/>
                  </a:lnTo>
                  <a:lnTo>
                    <a:pt x="840271" y="110636"/>
                  </a:lnTo>
                  <a:lnTo>
                    <a:pt x="816353" y="107408"/>
                  </a:lnTo>
                  <a:lnTo>
                    <a:pt x="791881" y="104533"/>
                  </a:lnTo>
                  <a:lnTo>
                    <a:pt x="766855" y="101958"/>
                  </a:lnTo>
                  <a:lnTo>
                    <a:pt x="741275" y="99635"/>
                  </a:lnTo>
                  <a:lnTo>
                    <a:pt x="715140" y="97513"/>
                  </a:lnTo>
                  <a:lnTo>
                    <a:pt x="688452" y="95541"/>
                  </a:lnTo>
                  <a:lnTo>
                    <a:pt x="661209" y="93669"/>
                  </a:lnTo>
                  <a:lnTo>
                    <a:pt x="633413" y="91848"/>
                  </a:lnTo>
                  <a:lnTo>
                    <a:pt x="605062" y="90027"/>
                  </a:lnTo>
                  <a:lnTo>
                    <a:pt x="576157" y="88156"/>
                  </a:lnTo>
                  <a:lnTo>
                    <a:pt x="546698" y="86184"/>
                  </a:lnTo>
                  <a:lnTo>
                    <a:pt x="516685" y="84061"/>
                  </a:lnTo>
                  <a:lnTo>
                    <a:pt x="486118" y="81738"/>
                  </a:lnTo>
                  <a:lnTo>
                    <a:pt x="454997" y="79164"/>
                  </a:lnTo>
                  <a:lnTo>
                    <a:pt x="423322" y="76288"/>
                  </a:lnTo>
                  <a:lnTo>
                    <a:pt x="391092" y="73061"/>
                  </a:lnTo>
                  <a:lnTo>
                    <a:pt x="358309" y="69432"/>
                  </a:lnTo>
                  <a:lnTo>
                    <a:pt x="324971" y="65351"/>
                  </a:lnTo>
                  <a:lnTo>
                    <a:pt x="291080" y="60768"/>
                  </a:lnTo>
                  <a:lnTo>
                    <a:pt x="256634" y="55633"/>
                  </a:lnTo>
                  <a:lnTo>
                    <a:pt x="221634" y="49895"/>
                  </a:lnTo>
                  <a:lnTo>
                    <a:pt x="186081" y="43504"/>
                  </a:lnTo>
                  <a:lnTo>
                    <a:pt x="149973" y="36410"/>
                  </a:lnTo>
                  <a:lnTo>
                    <a:pt x="113311" y="28563"/>
                  </a:lnTo>
                  <a:lnTo>
                    <a:pt x="76094" y="19912"/>
                  </a:lnTo>
                  <a:lnTo>
                    <a:pt x="38324" y="10408"/>
                  </a:lnTo>
                  <a:lnTo>
                    <a:pt x="0" y="0"/>
                  </a:lnTo>
                </a:path>
              </a:pathLst>
            </a:custGeom>
            <a:noFill/>
            <a:ln w="18965">
              <a:solidFill>
                <a:srgbClr val="4F788A"/>
              </a:solidFill>
              <a:prstDash val="solid"/>
            </a:ln>
          </p:spPr>
          <p:txBody>
            <a:bodyPr/>
            <a:p/>
          </p:txBody>
        </p:sp>
        <p:sp>
          <p:nvSpPr>
            <p:cNvPr id="142" name="regional-WestAsia-Mediterranean-head">
              <a:extLst>
                <a:ext uri="{FF2B5EF4-FFF2-40B4-BE49-F238E27FC236}">
                  <a16:creationId xmlns:a16="http://schemas.microsoft.com/office/drawing/2014/main" id="{D1A269E4-C5E7-4643-8CC0-F35186B4E099}"/>
                </a:ext>
              </a:extLst>
            </p:cNvPr>
            <p:cNvSpPr>
              <a:spLocks/>
            </p:cNvSpPr>
            <p:nvPr/>
          </p:nvSpPr>
          <p:spPr>
            <a:xfrm>
              <a:off x="1923627" y="1933338"/>
              <a:ext cx="88025" cy="70595"/>
            </a:xfrm>
            <a:custGeom>
              <a:avLst/>
              <a:gdLst/>
              <a:ahLst/>
              <a:cxnLst/>
              <a:rect l="0" t="0" r="0" b="0"/>
              <a:pathLst>
                <a:path w="123785" h="99274">
                  <a:moveTo>
                    <a:pt x="0" y="19681"/>
                  </a:moveTo>
                  <a:lnTo>
                    <a:pt x="96824" y="99274"/>
                  </a:lnTo>
                  <a:lnTo>
                    <a:pt x="123785" y="0"/>
                  </a:lnTo>
                  <a:close/>
                </a:path>
              </a:pathLst>
            </a:custGeom>
            <a:solidFill>
              <a:srgbClr val="4F788A"/>
            </a:solidFill>
            <a:ln w="0">
              <a:noFill/>
              <a:prstDash val="solid"/>
            </a:ln>
          </p:spPr>
          <p:txBody>
            <a:bodyPr/>
            <a:p/>
          </p:txBody>
        </p:sp>
        <p:sp>
          <p:nvSpPr>
            <p:cNvPr id="143" name="regional-Mediterranean-continental-Europe">
              <a:extLst>
                <a:ext uri="{FF2B5EF4-FFF2-40B4-BE49-F238E27FC236}">
                  <a16:creationId xmlns:a16="http://schemas.microsoft.com/office/drawing/2014/main" id="{7AF023F8-CBC5-446D-8067-265F3F2FB5AB}"/>
                </a:ext>
              </a:extLst>
            </p:cNvPr>
            <p:cNvSpPr>
              <a:spLocks/>
            </p:cNvSpPr>
            <p:nvPr/>
          </p:nvSpPr>
          <p:spPr>
            <a:xfrm>
              <a:off x="1689680" y="1588105"/>
              <a:ext cx="202338" cy="326571"/>
            </a:xfrm>
            <a:custGeom>
              <a:avLst/>
              <a:gdLst/>
              <a:ahLst/>
              <a:cxnLst/>
              <a:rect l="0" t="0" r="0" b="0"/>
              <a:pathLst>
                <a:path w="284538" h="459241">
                  <a:moveTo>
                    <a:pt x="284538" y="459241"/>
                  </a:moveTo>
                  <a:lnTo>
                    <a:pt x="277160" y="444833"/>
                  </a:lnTo>
                  <a:lnTo>
                    <a:pt x="269101" y="430611"/>
                  </a:lnTo>
                  <a:lnTo>
                    <a:pt x="260420" y="416570"/>
                  </a:lnTo>
                  <a:lnTo>
                    <a:pt x="251176" y="402705"/>
                  </a:lnTo>
                  <a:lnTo>
                    <a:pt x="241426" y="389010"/>
                  </a:lnTo>
                  <a:lnTo>
                    <a:pt x="231229" y="375481"/>
                  </a:lnTo>
                  <a:lnTo>
                    <a:pt x="220643" y="362113"/>
                  </a:lnTo>
                  <a:lnTo>
                    <a:pt x="209726" y="348900"/>
                  </a:lnTo>
                  <a:lnTo>
                    <a:pt x="198538" y="335838"/>
                  </a:lnTo>
                  <a:lnTo>
                    <a:pt x="187135" y="322922"/>
                  </a:lnTo>
                  <a:lnTo>
                    <a:pt x="175577" y="310146"/>
                  </a:lnTo>
                  <a:lnTo>
                    <a:pt x="163922" y="297506"/>
                  </a:lnTo>
                  <a:lnTo>
                    <a:pt x="152228" y="284996"/>
                  </a:lnTo>
                  <a:lnTo>
                    <a:pt x="140553" y="272612"/>
                  </a:lnTo>
                  <a:lnTo>
                    <a:pt x="128956" y="260348"/>
                  </a:lnTo>
                  <a:lnTo>
                    <a:pt x="117495" y="248200"/>
                  </a:lnTo>
                  <a:lnTo>
                    <a:pt x="106229" y="236163"/>
                  </a:lnTo>
                  <a:lnTo>
                    <a:pt x="95215" y="224231"/>
                  </a:lnTo>
                  <a:lnTo>
                    <a:pt x="84513" y="212399"/>
                  </a:lnTo>
                  <a:lnTo>
                    <a:pt x="74179" y="200663"/>
                  </a:lnTo>
                  <a:lnTo>
                    <a:pt x="64274" y="189017"/>
                  </a:lnTo>
                  <a:lnTo>
                    <a:pt x="54855" y="177456"/>
                  </a:lnTo>
                  <a:lnTo>
                    <a:pt x="45979" y="165976"/>
                  </a:lnTo>
                  <a:lnTo>
                    <a:pt x="37707" y="154571"/>
                  </a:lnTo>
                  <a:lnTo>
                    <a:pt x="30096" y="143237"/>
                  </a:lnTo>
                  <a:lnTo>
                    <a:pt x="23204" y="131967"/>
                  </a:lnTo>
                  <a:lnTo>
                    <a:pt x="17089" y="120758"/>
                  </a:lnTo>
                  <a:lnTo>
                    <a:pt x="11811" y="109605"/>
                  </a:lnTo>
                  <a:lnTo>
                    <a:pt x="7427" y="98501"/>
                  </a:lnTo>
                  <a:lnTo>
                    <a:pt x="3995" y="87443"/>
                  </a:lnTo>
                  <a:lnTo>
                    <a:pt x="1575" y="76424"/>
                  </a:lnTo>
                  <a:lnTo>
                    <a:pt x="224" y="65441"/>
                  </a:lnTo>
                  <a:lnTo>
                    <a:pt x="0" y="54488"/>
                  </a:lnTo>
                  <a:lnTo>
                    <a:pt x="962" y="43561"/>
                  </a:lnTo>
                  <a:lnTo>
                    <a:pt x="3169" y="32653"/>
                  </a:lnTo>
                  <a:lnTo>
                    <a:pt x="6678" y="21760"/>
                  </a:lnTo>
                  <a:lnTo>
                    <a:pt x="11548" y="10878"/>
                  </a:lnTo>
                  <a:lnTo>
                    <a:pt x="17838" y="0"/>
                  </a:lnTo>
                </a:path>
              </a:pathLst>
            </a:custGeom>
            <a:noFill/>
            <a:ln w="18965">
              <a:solidFill>
                <a:srgbClr val="4F788A"/>
              </a:solidFill>
              <a:prstDash val="solid"/>
            </a:ln>
          </p:spPr>
          <p:txBody>
            <a:bodyPr/>
            <a:p/>
          </p:txBody>
        </p:sp>
        <p:sp>
          <p:nvSpPr>
            <p:cNvPr id="144" name="regional-Mediterranean-continental-Europe-head">
              <a:extLst>
                <a:ext uri="{FF2B5EF4-FFF2-40B4-BE49-F238E27FC236}">
                  <a16:creationId xmlns:a16="http://schemas.microsoft.com/office/drawing/2014/main" id="{2634E55E-E34F-4C64-B9D8-B1FE869E39AB}"/>
                </a:ext>
              </a:extLst>
            </p:cNvPr>
            <p:cNvSpPr>
              <a:spLocks/>
            </p:cNvSpPr>
            <p:nvPr/>
          </p:nvSpPr>
          <p:spPr>
            <a:xfrm>
              <a:off x="1630016" y="1588105"/>
              <a:ext cx="72349" cy="88673"/>
            </a:xfrm>
            <a:custGeom>
              <a:avLst/>
              <a:gdLst/>
              <a:ahLst/>
              <a:cxnLst/>
              <a:rect l="0" t="0" r="0" b="0"/>
              <a:pathLst>
                <a:path w="101740" h="124696">
                  <a:moveTo>
                    <a:pt x="101740" y="0"/>
                  </a:moveTo>
                  <a:lnTo>
                    <a:pt x="0" y="73205"/>
                  </a:lnTo>
                  <a:lnTo>
                    <a:pt x="89055" y="124696"/>
                  </a:lnTo>
                  <a:close/>
                </a:path>
              </a:pathLst>
            </a:custGeom>
            <a:solidFill>
              <a:srgbClr val="4F788A"/>
            </a:solidFill>
            <a:ln w="0">
              <a:noFill/>
              <a:prstDash val="solid"/>
            </a:ln>
          </p:spPr>
          <p:txBody>
            <a:bodyPr/>
            <a:p/>
          </p:txBody>
        </p:sp>
        <p:sp>
          <p:nvSpPr>
            <p:cNvPr id="145" name="regional-mainland-EastAsia">
              <a:extLst>
                <a:ext uri="{FF2B5EF4-FFF2-40B4-BE49-F238E27FC236}">
                  <a16:creationId xmlns:a16="http://schemas.microsoft.com/office/drawing/2014/main" id="{0496DAEB-88EB-4F70-9E53-13CD0F3ABFB0}"/>
                </a:ext>
              </a:extLst>
            </p:cNvPr>
            <p:cNvSpPr>
              <a:spLocks/>
            </p:cNvSpPr>
            <p:nvPr/>
          </p:nvSpPr>
          <p:spPr>
            <a:xfrm>
              <a:off x="4641991" y="2045305"/>
              <a:ext cx="316089" cy="359229"/>
            </a:xfrm>
            <a:custGeom>
              <a:avLst/>
              <a:gdLst/>
              <a:ahLst/>
              <a:cxnLst/>
              <a:rect l="0" t="0" r="0" b="0"/>
              <a:pathLst>
                <a:path w="444500" h="505165">
                  <a:moveTo>
                    <a:pt x="0" y="505165"/>
                  </a:moveTo>
                  <a:lnTo>
                    <a:pt x="14125" y="487319"/>
                  </a:lnTo>
                  <a:lnTo>
                    <a:pt x="28411" y="470021"/>
                  </a:lnTo>
                  <a:lnTo>
                    <a:pt x="42832" y="453244"/>
                  </a:lnTo>
                  <a:lnTo>
                    <a:pt x="57366" y="436965"/>
                  </a:lnTo>
                  <a:lnTo>
                    <a:pt x="71987" y="421158"/>
                  </a:lnTo>
                  <a:lnTo>
                    <a:pt x="86671" y="405798"/>
                  </a:lnTo>
                  <a:lnTo>
                    <a:pt x="101394" y="390860"/>
                  </a:lnTo>
                  <a:lnTo>
                    <a:pt x="116131" y="376318"/>
                  </a:lnTo>
                  <a:lnTo>
                    <a:pt x="130859" y="362148"/>
                  </a:lnTo>
                  <a:lnTo>
                    <a:pt x="145553" y="348324"/>
                  </a:lnTo>
                  <a:lnTo>
                    <a:pt x="160188" y="334822"/>
                  </a:lnTo>
                  <a:lnTo>
                    <a:pt x="174741" y="321616"/>
                  </a:lnTo>
                  <a:lnTo>
                    <a:pt x="189187" y="308681"/>
                  </a:lnTo>
                  <a:lnTo>
                    <a:pt x="203502" y="295993"/>
                  </a:lnTo>
                  <a:lnTo>
                    <a:pt x="217661" y="283525"/>
                  </a:lnTo>
                  <a:lnTo>
                    <a:pt x="231640" y="271253"/>
                  </a:lnTo>
                  <a:lnTo>
                    <a:pt x="245415" y="259152"/>
                  </a:lnTo>
                  <a:lnTo>
                    <a:pt x="258962" y="247196"/>
                  </a:lnTo>
                  <a:lnTo>
                    <a:pt x="272256" y="235361"/>
                  </a:lnTo>
                  <a:lnTo>
                    <a:pt x="285273" y="223621"/>
                  </a:lnTo>
                  <a:lnTo>
                    <a:pt x="297989" y="211952"/>
                  </a:lnTo>
                  <a:lnTo>
                    <a:pt x="310379" y="200328"/>
                  </a:lnTo>
                  <a:lnTo>
                    <a:pt x="322419" y="188724"/>
                  </a:lnTo>
                  <a:lnTo>
                    <a:pt x="334085" y="177115"/>
                  </a:lnTo>
                  <a:lnTo>
                    <a:pt x="345352" y="165476"/>
                  </a:lnTo>
                  <a:lnTo>
                    <a:pt x="356196" y="153781"/>
                  </a:lnTo>
                  <a:lnTo>
                    <a:pt x="366593" y="142006"/>
                  </a:lnTo>
                  <a:lnTo>
                    <a:pt x="376519" y="130126"/>
                  </a:lnTo>
                  <a:lnTo>
                    <a:pt x="385949" y="118115"/>
                  </a:lnTo>
                  <a:lnTo>
                    <a:pt x="394859" y="105949"/>
                  </a:lnTo>
                  <a:lnTo>
                    <a:pt x="403225" y="93602"/>
                  </a:lnTo>
                  <a:lnTo>
                    <a:pt x="411022" y="81048"/>
                  </a:lnTo>
                  <a:lnTo>
                    <a:pt x="418225" y="68264"/>
                  </a:lnTo>
                  <a:lnTo>
                    <a:pt x="424812" y="55224"/>
                  </a:lnTo>
                  <a:lnTo>
                    <a:pt x="430757" y="41903"/>
                  </a:lnTo>
                  <a:lnTo>
                    <a:pt x="436036" y="28275"/>
                  </a:lnTo>
                  <a:lnTo>
                    <a:pt x="440625" y="14316"/>
                  </a:lnTo>
                  <a:lnTo>
                    <a:pt x="444500" y="0"/>
                  </a:lnTo>
                </a:path>
              </a:pathLst>
            </a:custGeom>
            <a:noFill/>
            <a:ln w="18965">
              <a:solidFill>
                <a:srgbClr val="4F788A"/>
              </a:solidFill>
              <a:prstDash val="solid"/>
            </a:ln>
          </p:spPr>
          <p:txBody>
            <a:bodyPr/>
            <a:p/>
          </p:txBody>
        </p:sp>
        <p:sp>
          <p:nvSpPr>
            <p:cNvPr id="146" name="regional-mainland-EastAsia-head">
              <a:extLst>
                <a:ext uri="{FF2B5EF4-FFF2-40B4-BE49-F238E27FC236}">
                  <a16:creationId xmlns:a16="http://schemas.microsoft.com/office/drawing/2014/main" id="{7B7E41F8-EA61-4D3B-A21E-0B218AE9EADE}"/>
                </a:ext>
              </a:extLst>
            </p:cNvPr>
            <p:cNvSpPr>
              <a:spLocks/>
            </p:cNvSpPr>
            <p:nvPr/>
          </p:nvSpPr>
          <p:spPr>
            <a:xfrm>
              <a:off x="4901540" y="2045305"/>
              <a:ext cx="70612" cy="88013"/>
            </a:xfrm>
            <a:custGeom>
              <a:avLst/>
              <a:gdLst/>
              <a:ahLst/>
              <a:cxnLst/>
              <a:rect l="0" t="0" r="0" b="0"/>
              <a:pathLst>
                <a:path w="99297" h="123768">
                  <a:moveTo>
                    <a:pt x="79510" y="0"/>
                  </a:moveTo>
                  <a:lnTo>
                    <a:pt x="0" y="96893"/>
                  </a:lnTo>
                  <a:lnTo>
                    <a:pt x="99297" y="123768"/>
                  </a:lnTo>
                  <a:close/>
                </a:path>
              </a:pathLst>
            </a:custGeom>
            <a:solidFill>
              <a:srgbClr val="4F788A"/>
            </a:solidFill>
            <a:ln w="0">
              <a:noFill/>
              <a:prstDash val="solid"/>
            </a:ln>
          </p:spPr>
          <p:txBody>
            <a:bodyPr/>
            <a:p/>
          </p:txBody>
        </p:sp>
        <p:sp>
          <p:nvSpPr>
            <p:cNvPr id="147" name="proposed-EastAsia-Japan">
              <a:extLst>
                <a:ext uri="{FF2B5EF4-FFF2-40B4-BE49-F238E27FC236}">
                  <a16:creationId xmlns:a16="http://schemas.microsoft.com/office/drawing/2014/main" id="{3753ABB1-8AD0-47A7-B499-D451183AC986}"/>
                </a:ext>
              </a:extLst>
            </p:cNvPr>
            <p:cNvSpPr>
              <a:spLocks/>
            </p:cNvSpPr>
            <p:nvPr/>
          </p:nvSpPr>
          <p:spPr>
            <a:xfrm>
              <a:off x="5052907" y="2059347"/>
              <a:ext cx="593299" cy="41169"/>
            </a:xfrm>
            <a:custGeom>
              <a:avLst/>
              <a:gdLst/>
              <a:ahLst/>
              <a:cxnLst/>
              <a:rect l="0" t="0" r="0" b="0"/>
              <a:pathLst>
                <a:path w="834327" h="57894">
                  <a:moveTo>
                    <a:pt x="0" y="26177"/>
                  </a:moveTo>
                  <a:lnTo>
                    <a:pt x="21146" y="29706"/>
                  </a:lnTo>
                  <a:lnTo>
                    <a:pt x="42465" y="33042"/>
                  </a:lnTo>
                  <a:lnTo>
                    <a:pt x="63948" y="36182"/>
                  </a:lnTo>
                  <a:lnTo>
                    <a:pt x="85583" y="39122"/>
                  </a:lnTo>
                  <a:lnTo>
                    <a:pt x="107359" y="41860"/>
                  </a:lnTo>
                  <a:lnTo>
                    <a:pt x="129266" y="44392"/>
                  </a:lnTo>
                  <a:lnTo>
                    <a:pt x="151292" y="46717"/>
                  </a:lnTo>
                  <a:lnTo>
                    <a:pt x="173427" y="48831"/>
                  </a:lnTo>
                  <a:lnTo>
                    <a:pt x="195661" y="50731"/>
                  </a:lnTo>
                  <a:lnTo>
                    <a:pt x="217981" y="52415"/>
                  </a:lnTo>
                  <a:lnTo>
                    <a:pt x="240378" y="53879"/>
                  </a:lnTo>
                  <a:lnTo>
                    <a:pt x="262840" y="55120"/>
                  </a:lnTo>
                  <a:lnTo>
                    <a:pt x="285356" y="56137"/>
                  </a:lnTo>
                  <a:lnTo>
                    <a:pt x="307917" y="56926"/>
                  </a:lnTo>
                  <a:lnTo>
                    <a:pt x="330510" y="57483"/>
                  </a:lnTo>
                  <a:lnTo>
                    <a:pt x="353126" y="57807"/>
                  </a:lnTo>
                  <a:lnTo>
                    <a:pt x="375753" y="57894"/>
                  </a:lnTo>
                  <a:lnTo>
                    <a:pt x="398380" y="57742"/>
                  </a:lnTo>
                  <a:lnTo>
                    <a:pt x="420997" y="57348"/>
                  </a:lnTo>
                  <a:lnTo>
                    <a:pt x="443593" y="56708"/>
                  </a:lnTo>
                  <a:lnTo>
                    <a:pt x="466156" y="55820"/>
                  </a:lnTo>
                  <a:lnTo>
                    <a:pt x="488677" y="54681"/>
                  </a:lnTo>
                  <a:lnTo>
                    <a:pt x="511144" y="53289"/>
                  </a:lnTo>
                  <a:lnTo>
                    <a:pt x="533546" y="51640"/>
                  </a:lnTo>
                  <a:lnTo>
                    <a:pt x="555873" y="49731"/>
                  </a:lnTo>
                  <a:lnTo>
                    <a:pt x="578114" y="47560"/>
                  </a:lnTo>
                  <a:lnTo>
                    <a:pt x="600257" y="45124"/>
                  </a:lnTo>
                  <a:lnTo>
                    <a:pt x="622293" y="42419"/>
                  </a:lnTo>
                  <a:lnTo>
                    <a:pt x="644210" y="39444"/>
                  </a:lnTo>
                  <a:lnTo>
                    <a:pt x="665997" y="36195"/>
                  </a:lnTo>
                  <a:lnTo>
                    <a:pt x="687643" y="32669"/>
                  </a:lnTo>
                  <a:lnTo>
                    <a:pt x="709139" y="28863"/>
                  </a:lnTo>
                  <a:lnTo>
                    <a:pt x="730472" y="24776"/>
                  </a:lnTo>
                  <a:lnTo>
                    <a:pt x="751632" y="20403"/>
                  </a:lnTo>
                  <a:lnTo>
                    <a:pt x="772609" y="15741"/>
                  </a:lnTo>
                  <a:lnTo>
                    <a:pt x="793390" y="10789"/>
                  </a:lnTo>
                  <a:lnTo>
                    <a:pt x="813967" y="5543"/>
                  </a:lnTo>
                  <a:lnTo>
                    <a:pt x="834327" y="0"/>
                  </a:lnTo>
                </a:path>
              </a:pathLst>
            </a:custGeom>
            <a:noFill/>
            <a:ln w="18965">
              <a:solidFill>
                <a:srgbClr val="627F79"/>
              </a:solidFill>
              <a:prstDash val="dash"/>
            </a:ln>
          </p:spPr>
          <p:txBody>
            <a:bodyPr/>
            <a:p/>
          </p:txBody>
        </p:sp>
        <p:sp>
          <p:nvSpPr>
            <p:cNvPr id="148" name="proposed-EastAsia-Japan-head">
              <a:extLst>
                <a:ext uri="{FF2B5EF4-FFF2-40B4-BE49-F238E27FC236}">
                  <a16:creationId xmlns:a16="http://schemas.microsoft.com/office/drawing/2014/main" id="{35E26C7D-3236-4362-AAC7-8443FC8A3B2A}"/>
                </a:ext>
              </a:extLst>
            </p:cNvPr>
            <p:cNvSpPr>
              <a:spLocks/>
            </p:cNvSpPr>
            <p:nvPr/>
          </p:nvSpPr>
          <p:spPr>
            <a:xfrm>
              <a:off x="5558172" y="2045407"/>
              <a:ext cx="88034" cy="70583"/>
            </a:xfrm>
            <a:custGeom>
              <a:avLst/>
              <a:gdLst/>
              <a:ahLst/>
              <a:cxnLst/>
              <a:rect l="0" t="0" r="0" b="0"/>
              <a:pathLst>
                <a:path w="123797" h="99257">
                  <a:moveTo>
                    <a:pt x="123797" y="19604"/>
                  </a:moveTo>
                  <a:lnTo>
                    <a:pt x="0" y="0"/>
                  </a:lnTo>
                  <a:lnTo>
                    <a:pt x="27022" y="99257"/>
                  </a:lnTo>
                  <a:close/>
                </a:path>
              </a:pathLst>
            </a:custGeom>
            <a:solidFill>
              <a:srgbClr val="627F79"/>
            </a:solidFill>
            <a:ln w="0">
              <a:noFill/>
              <a:prstDash val="solid"/>
            </a:ln>
          </p:spPr>
          <p:txBody>
            <a:bodyPr/>
            <a:p/>
          </p:txBody>
        </p:sp>
        <p:sp>
          <p:nvSpPr>
            <p:cNvPr id="149" name="regional-islandSEAsia-SWPacific">
              <a:extLst>
                <a:ext uri="{FF2B5EF4-FFF2-40B4-BE49-F238E27FC236}">
                  <a16:creationId xmlns:a16="http://schemas.microsoft.com/office/drawing/2014/main" id="{B8CF89D0-F9FA-4DE3-9FC7-DEE6817610BC}"/>
                </a:ext>
              </a:extLst>
            </p:cNvPr>
            <p:cNvSpPr>
              <a:spLocks/>
            </p:cNvSpPr>
            <p:nvPr/>
          </p:nvSpPr>
          <p:spPr>
            <a:xfrm>
              <a:off x="5147733" y="3286276"/>
              <a:ext cx="1485618" cy="359229"/>
            </a:xfrm>
            <a:custGeom>
              <a:avLst/>
              <a:gdLst/>
              <a:ahLst/>
              <a:cxnLst/>
              <a:rect l="0" t="0" r="0" b="0"/>
              <a:pathLst>
                <a:path w="2089150" h="505165">
                  <a:moveTo>
                    <a:pt x="0" y="0"/>
                  </a:moveTo>
                  <a:lnTo>
                    <a:pt x="45716" y="567"/>
                  </a:lnTo>
                  <a:lnTo>
                    <a:pt x="91641" y="2243"/>
                  </a:lnTo>
                  <a:lnTo>
                    <a:pt x="137800" y="4994"/>
                  </a:lnTo>
                  <a:lnTo>
                    <a:pt x="184216" y="8784"/>
                  </a:lnTo>
                  <a:lnTo>
                    <a:pt x="230914" y="13579"/>
                  </a:lnTo>
                  <a:lnTo>
                    <a:pt x="277918" y="19343"/>
                  </a:lnTo>
                  <a:lnTo>
                    <a:pt x="325252" y="26041"/>
                  </a:lnTo>
                  <a:lnTo>
                    <a:pt x="372942" y="33638"/>
                  </a:lnTo>
                  <a:lnTo>
                    <a:pt x="421010" y="42098"/>
                  </a:lnTo>
                  <a:lnTo>
                    <a:pt x="469482" y="51388"/>
                  </a:lnTo>
                  <a:lnTo>
                    <a:pt x="518382" y="61470"/>
                  </a:lnTo>
                  <a:lnTo>
                    <a:pt x="567734" y="72311"/>
                  </a:lnTo>
                  <a:lnTo>
                    <a:pt x="617562" y="83875"/>
                  </a:lnTo>
                  <a:lnTo>
                    <a:pt x="667891" y="96127"/>
                  </a:lnTo>
                  <a:lnTo>
                    <a:pt x="718744" y="109031"/>
                  </a:lnTo>
                  <a:lnTo>
                    <a:pt x="770147" y="122554"/>
                  </a:lnTo>
                  <a:lnTo>
                    <a:pt x="822123" y="136658"/>
                  </a:lnTo>
                  <a:lnTo>
                    <a:pt x="874697" y="151311"/>
                  </a:lnTo>
                  <a:lnTo>
                    <a:pt x="927894" y="166475"/>
                  </a:lnTo>
                  <a:lnTo>
                    <a:pt x="981736" y="182116"/>
                  </a:lnTo>
                  <a:lnTo>
                    <a:pt x="1036250" y="198200"/>
                  </a:lnTo>
                  <a:lnTo>
                    <a:pt x="1091458" y="214690"/>
                  </a:lnTo>
                  <a:lnTo>
                    <a:pt x="1147386" y="231551"/>
                  </a:lnTo>
                  <a:lnTo>
                    <a:pt x="1204058" y="248749"/>
                  </a:lnTo>
                  <a:lnTo>
                    <a:pt x="1261497" y="266249"/>
                  </a:lnTo>
                  <a:lnTo>
                    <a:pt x="1319729" y="284014"/>
                  </a:lnTo>
                  <a:lnTo>
                    <a:pt x="1378777" y="302011"/>
                  </a:lnTo>
                  <a:lnTo>
                    <a:pt x="1438666" y="320203"/>
                  </a:lnTo>
                  <a:lnTo>
                    <a:pt x="1499420" y="338556"/>
                  </a:lnTo>
                  <a:lnTo>
                    <a:pt x="1561064" y="357035"/>
                  </a:lnTo>
                  <a:lnTo>
                    <a:pt x="1623621" y="375604"/>
                  </a:lnTo>
                  <a:lnTo>
                    <a:pt x="1687117" y="394228"/>
                  </a:lnTo>
                  <a:lnTo>
                    <a:pt x="1751575" y="412873"/>
                  </a:lnTo>
                  <a:lnTo>
                    <a:pt x="1817019" y="431502"/>
                  </a:lnTo>
                  <a:lnTo>
                    <a:pt x="1883475" y="450081"/>
                  </a:lnTo>
                  <a:lnTo>
                    <a:pt x="1950966" y="468575"/>
                  </a:lnTo>
                  <a:lnTo>
                    <a:pt x="2019516" y="486948"/>
                  </a:lnTo>
                  <a:lnTo>
                    <a:pt x="2089150" y="505165"/>
                  </a:lnTo>
                </a:path>
              </a:pathLst>
            </a:custGeom>
            <a:noFill/>
            <a:ln w="18965">
              <a:solidFill>
                <a:srgbClr val="4F788A"/>
              </a:solidFill>
              <a:prstDash val="solid"/>
            </a:ln>
          </p:spPr>
          <p:txBody>
            <a:bodyPr/>
            <a:p/>
          </p:txBody>
        </p:sp>
        <p:sp>
          <p:nvSpPr>
            <p:cNvPr id="150" name="regional-islandSEAsia-SWPacific-head">
              <a:extLst>
                <a:ext uri="{FF2B5EF4-FFF2-40B4-BE49-F238E27FC236}">
                  <a16:creationId xmlns:a16="http://schemas.microsoft.com/office/drawing/2014/main" id="{DEEDD945-F8D0-4DA0-B677-0982A38B7D29}"/>
                </a:ext>
              </a:extLst>
            </p:cNvPr>
            <p:cNvSpPr>
              <a:spLocks/>
            </p:cNvSpPr>
            <p:nvPr/>
          </p:nvSpPr>
          <p:spPr>
            <a:xfrm>
              <a:off x="6545460" y="3589548"/>
              <a:ext cx="87891" cy="70770"/>
            </a:xfrm>
            <a:custGeom>
              <a:avLst/>
              <a:gdLst/>
              <a:ahLst/>
              <a:cxnLst/>
              <a:rect l="0" t="0" r="0" b="0"/>
              <a:pathLst>
                <a:path w="123597" h="99521">
                  <a:moveTo>
                    <a:pt x="123597" y="78690"/>
                  </a:moveTo>
                  <a:lnTo>
                    <a:pt x="26036" y="0"/>
                  </a:lnTo>
                  <a:lnTo>
                    <a:pt x="0" y="99521"/>
                  </a:lnTo>
                  <a:close/>
                </a:path>
              </a:pathLst>
            </a:custGeom>
            <a:solidFill>
              <a:srgbClr val="4F788A"/>
            </a:solidFill>
            <a:ln w="0">
              <a:noFill/>
              <a:prstDash val="solid"/>
            </a:ln>
          </p:spPr>
          <p:txBody>
            <a:bodyPr/>
            <a:p/>
          </p:txBody>
        </p:sp>
        <p:sp>
          <p:nvSpPr>
            <p:cNvPr id="151" name="regional-SWPacific-Polynesia">
              <a:extLst>
                <a:ext uri="{FF2B5EF4-FFF2-40B4-BE49-F238E27FC236}">
                  <a16:creationId xmlns:a16="http://schemas.microsoft.com/office/drawing/2014/main" id="{C2D8786B-9800-4B8B-8CC5-25B840F544AF}"/>
                </a:ext>
              </a:extLst>
            </p:cNvPr>
            <p:cNvSpPr>
              <a:spLocks/>
            </p:cNvSpPr>
            <p:nvPr/>
          </p:nvSpPr>
          <p:spPr>
            <a:xfrm>
              <a:off x="6633351" y="3645505"/>
              <a:ext cx="1864924" cy="245536"/>
            </a:xfrm>
            <a:custGeom>
              <a:avLst/>
              <a:gdLst/>
              <a:ahLst/>
              <a:cxnLst/>
              <a:rect l="0" t="0" r="0" b="0"/>
              <a:pathLst>
                <a:path w="2622550" h="345284">
                  <a:moveTo>
                    <a:pt x="0" y="0"/>
                  </a:moveTo>
                  <a:lnTo>
                    <a:pt x="56966" y="38646"/>
                  </a:lnTo>
                  <a:lnTo>
                    <a:pt x="115516" y="74842"/>
                  </a:lnTo>
                  <a:lnTo>
                    <a:pt x="175572" y="108617"/>
                  </a:lnTo>
                  <a:lnTo>
                    <a:pt x="237058" y="140002"/>
                  </a:lnTo>
                  <a:lnTo>
                    <a:pt x="299895" y="169027"/>
                  </a:lnTo>
                  <a:lnTo>
                    <a:pt x="364005" y="195721"/>
                  </a:lnTo>
                  <a:lnTo>
                    <a:pt x="429311" y="220116"/>
                  </a:lnTo>
                  <a:lnTo>
                    <a:pt x="495735" y="242241"/>
                  </a:lnTo>
                  <a:lnTo>
                    <a:pt x="563199" y="262127"/>
                  </a:lnTo>
                  <a:lnTo>
                    <a:pt x="631625" y="279803"/>
                  </a:lnTo>
                  <a:lnTo>
                    <a:pt x="700936" y="295300"/>
                  </a:lnTo>
                  <a:lnTo>
                    <a:pt x="771054" y="308647"/>
                  </a:lnTo>
                  <a:lnTo>
                    <a:pt x="841901" y="319875"/>
                  </a:lnTo>
                  <a:lnTo>
                    <a:pt x="913399" y="329015"/>
                  </a:lnTo>
                  <a:lnTo>
                    <a:pt x="985471" y="336095"/>
                  </a:lnTo>
                  <a:lnTo>
                    <a:pt x="1058038" y="341147"/>
                  </a:lnTo>
                  <a:lnTo>
                    <a:pt x="1131024" y="344200"/>
                  </a:lnTo>
                  <a:lnTo>
                    <a:pt x="1204349" y="345284"/>
                  </a:lnTo>
                  <a:lnTo>
                    <a:pt x="1277937" y="344431"/>
                  </a:lnTo>
                  <a:lnTo>
                    <a:pt x="1351710" y="341669"/>
                  </a:lnTo>
                  <a:lnTo>
                    <a:pt x="1425590" y="337029"/>
                  </a:lnTo>
                  <a:lnTo>
                    <a:pt x="1499499" y="330541"/>
                  </a:lnTo>
                  <a:lnTo>
                    <a:pt x="1573359" y="322235"/>
                  </a:lnTo>
                  <a:lnTo>
                    <a:pt x="1647093" y="312142"/>
                  </a:lnTo>
                  <a:lnTo>
                    <a:pt x="1720623" y="300291"/>
                  </a:lnTo>
                  <a:lnTo>
                    <a:pt x="1793871" y="286713"/>
                  </a:lnTo>
                  <a:lnTo>
                    <a:pt x="1866759" y="271437"/>
                  </a:lnTo>
                  <a:lnTo>
                    <a:pt x="1939210" y="254494"/>
                  </a:lnTo>
                  <a:lnTo>
                    <a:pt x="2011145" y="235914"/>
                  </a:lnTo>
                  <a:lnTo>
                    <a:pt x="2082488" y="215727"/>
                  </a:lnTo>
                  <a:lnTo>
                    <a:pt x="2153160" y="193964"/>
                  </a:lnTo>
                  <a:lnTo>
                    <a:pt x="2223083" y="170654"/>
                  </a:lnTo>
                  <a:lnTo>
                    <a:pt x="2292180" y="145827"/>
                  </a:lnTo>
                  <a:lnTo>
                    <a:pt x="2360373" y="119514"/>
                  </a:lnTo>
                  <a:lnTo>
                    <a:pt x="2427585" y="91744"/>
                  </a:lnTo>
                  <a:lnTo>
                    <a:pt x="2493736" y="62549"/>
                  </a:lnTo>
                  <a:lnTo>
                    <a:pt x="2558751" y="31957"/>
                  </a:lnTo>
                  <a:lnTo>
                    <a:pt x="2622550" y="0"/>
                  </a:lnTo>
                </a:path>
              </a:pathLst>
            </a:custGeom>
            <a:noFill/>
            <a:ln w="18098">
              <a:solidFill>
                <a:srgbClr val="627F79"/>
              </a:solidFill>
              <a:prstDash val="dash"/>
            </a:ln>
          </p:spPr>
          <p:txBody>
            <a:bodyPr/>
            <a:p/>
          </p:txBody>
        </p:sp>
        <p:sp>
          <p:nvSpPr>
            <p:cNvPr id="152" name="regional-SWPacific-Polynesia-head">
              <a:extLst>
                <a:ext uri="{FF2B5EF4-FFF2-40B4-BE49-F238E27FC236}">
                  <a16:creationId xmlns:a16="http://schemas.microsoft.com/office/drawing/2014/main" id="{2BD5C758-77C2-4D23-A117-3A1F4BC2AC2B}"/>
                </a:ext>
              </a:extLst>
            </p:cNvPr>
            <p:cNvSpPr>
              <a:spLocks/>
            </p:cNvSpPr>
            <p:nvPr/>
          </p:nvSpPr>
          <p:spPr>
            <a:xfrm>
              <a:off x="8409222" y="3645505"/>
              <a:ext cx="89054" cy="69105"/>
            </a:xfrm>
            <a:custGeom>
              <a:avLst/>
              <a:gdLst/>
              <a:ahLst/>
              <a:cxnLst/>
              <a:rect l="0" t="0" r="0" b="0"/>
              <a:pathLst>
                <a:path w="125232" h="97179">
                  <a:moveTo>
                    <a:pt x="125232" y="0"/>
                  </a:moveTo>
                  <a:lnTo>
                    <a:pt x="0" y="5202"/>
                  </a:lnTo>
                  <a:lnTo>
                    <a:pt x="46071" y="97179"/>
                  </a:lnTo>
                  <a:close/>
                </a:path>
              </a:pathLst>
            </a:custGeom>
            <a:solidFill>
              <a:srgbClr val="627F79"/>
            </a:solidFill>
            <a:ln w="0">
              <a:noFill/>
              <a:prstDash val="solid"/>
            </a:ln>
          </p:spPr>
          <p:txBody>
            <a:bodyPr/>
            <a:p/>
          </p:txBody>
        </p:sp>
        <p:sp>
          <p:nvSpPr>
            <p:cNvPr id="153" name="regional-Polynesia-Hawaii">
              <a:extLst>
                <a:ext uri="{FF2B5EF4-FFF2-40B4-BE49-F238E27FC236}">
                  <a16:creationId xmlns:a16="http://schemas.microsoft.com/office/drawing/2014/main" id="{0615CBB9-F94B-44AD-A90E-7BC7F903CDCB}"/>
                </a:ext>
              </a:extLst>
            </p:cNvPr>
            <p:cNvSpPr>
              <a:spLocks/>
            </p:cNvSpPr>
            <p:nvPr/>
          </p:nvSpPr>
          <p:spPr>
            <a:xfrm>
              <a:off x="7818684" y="2551490"/>
              <a:ext cx="709409" cy="1094014"/>
            </a:xfrm>
            <a:custGeom>
              <a:avLst/>
              <a:gdLst/>
              <a:ahLst/>
              <a:cxnLst/>
              <a:rect l="0" t="0" r="0" b="0"/>
              <a:pathLst>
                <a:path w="997606" h="1538458">
                  <a:moveTo>
                    <a:pt x="955675" y="1538458"/>
                  </a:moveTo>
                  <a:lnTo>
                    <a:pt x="971303" y="1460208"/>
                  </a:lnTo>
                  <a:lnTo>
                    <a:pt x="983182" y="1384934"/>
                  </a:lnTo>
                  <a:lnTo>
                    <a:pt x="991439" y="1312558"/>
                  </a:lnTo>
                  <a:lnTo>
                    <a:pt x="996204" y="1243001"/>
                  </a:lnTo>
                  <a:lnTo>
                    <a:pt x="997606" y="1176185"/>
                  </a:lnTo>
                  <a:lnTo>
                    <a:pt x="995773" y="1112034"/>
                  </a:lnTo>
                  <a:lnTo>
                    <a:pt x="990835" y="1050469"/>
                  </a:lnTo>
                  <a:lnTo>
                    <a:pt x="982919" y="991412"/>
                  </a:lnTo>
                  <a:lnTo>
                    <a:pt x="972155" y="934786"/>
                  </a:lnTo>
                  <a:lnTo>
                    <a:pt x="958672" y="880512"/>
                  </a:lnTo>
                  <a:lnTo>
                    <a:pt x="942598" y="828513"/>
                  </a:lnTo>
                  <a:lnTo>
                    <a:pt x="924063" y="778711"/>
                  </a:lnTo>
                  <a:lnTo>
                    <a:pt x="903194" y="731028"/>
                  </a:lnTo>
                  <a:lnTo>
                    <a:pt x="880122" y="685387"/>
                  </a:lnTo>
                  <a:lnTo>
                    <a:pt x="854974" y="641708"/>
                  </a:lnTo>
                  <a:lnTo>
                    <a:pt x="827879" y="599916"/>
                  </a:lnTo>
                  <a:lnTo>
                    <a:pt x="798966" y="559931"/>
                  </a:lnTo>
                  <a:lnTo>
                    <a:pt x="768365" y="521676"/>
                  </a:lnTo>
                  <a:lnTo>
                    <a:pt x="736203" y="485073"/>
                  </a:lnTo>
                  <a:lnTo>
                    <a:pt x="702610" y="450045"/>
                  </a:lnTo>
                  <a:lnTo>
                    <a:pt x="667714" y="416513"/>
                  </a:lnTo>
                  <a:lnTo>
                    <a:pt x="631645" y="384399"/>
                  </a:lnTo>
                  <a:lnTo>
                    <a:pt x="594530" y="353627"/>
                  </a:lnTo>
                  <a:lnTo>
                    <a:pt x="556500" y="324117"/>
                  </a:lnTo>
                  <a:lnTo>
                    <a:pt x="517682" y="295792"/>
                  </a:lnTo>
                  <a:lnTo>
                    <a:pt x="478205" y="268575"/>
                  </a:lnTo>
                  <a:lnTo>
                    <a:pt x="438199" y="242387"/>
                  </a:lnTo>
                  <a:lnTo>
                    <a:pt x="397792" y="217150"/>
                  </a:lnTo>
                  <a:lnTo>
                    <a:pt x="357112" y="192788"/>
                  </a:lnTo>
                  <a:lnTo>
                    <a:pt x="316289" y="169221"/>
                  </a:lnTo>
                  <a:lnTo>
                    <a:pt x="275452" y="146372"/>
                  </a:lnTo>
                  <a:lnTo>
                    <a:pt x="234728" y="124164"/>
                  </a:lnTo>
                  <a:lnTo>
                    <a:pt x="194248" y="102518"/>
                  </a:lnTo>
                  <a:lnTo>
                    <a:pt x="154140" y="81356"/>
                  </a:lnTo>
                  <a:lnTo>
                    <a:pt x="114532" y="60602"/>
                  </a:lnTo>
                  <a:lnTo>
                    <a:pt x="75553" y="40176"/>
                  </a:lnTo>
                  <a:lnTo>
                    <a:pt x="37333" y="20001"/>
                  </a:lnTo>
                  <a:lnTo>
                    <a:pt x="0" y="0"/>
                  </a:lnTo>
                </a:path>
              </a:pathLst>
            </a:custGeom>
            <a:noFill/>
            <a:ln w="18098">
              <a:solidFill>
                <a:srgbClr val="627F79"/>
              </a:solidFill>
              <a:prstDash val="dash"/>
            </a:ln>
          </p:spPr>
          <p:txBody>
            <a:bodyPr/>
            <a:p/>
          </p:txBody>
        </p:sp>
        <p:sp>
          <p:nvSpPr>
            <p:cNvPr id="154" name="regional-Polynesia-Hawaii-head">
              <a:extLst>
                <a:ext uri="{FF2B5EF4-FFF2-40B4-BE49-F238E27FC236}">
                  <a16:creationId xmlns:a16="http://schemas.microsoft.com/office/drawing/2014/main" id="{63AB1059-B821-4112-BD2E-7DF81FA4289F}"/>
                </a:ext>
              </a:extLst>
            </p:cNvPr>
            <p:cNvSpPr>
              <a:spLocks/>
            </p:cNvSpPr>
            <p:nvPr/>
          </p:nvSpPr>
          <p:spPr>
            <a:xfrm>
              <a:off x="7818684" y="2551490"/>
              <a:ext cx="88918" cy="70625"/>
            </a:xfrm>
            <a:custGeom>
              <a:avLst/>
              <a:gdLst/>
              <a:ahLst/>
              <a:cxnLst/>
              <a:rect l="0" t="0" r="0" b="0"/>
              <a:pathLst>
                <a:path w="125042" h="99316">
                  <a:moveTo>
                    <a:pt x="0" y="0"/>
                  </a:moveTo>
                  <a:lnTo>
                    <a:pt x="76461" y="99316"/>
                  </a:lnTo>
                  <a:lnTo>
                    <a:pt x="125042" y="8640"/>
                  </a:lnTo>
                  <a:close/>
                </a:path>
              </a:pathLst>
            </a:custGeom>
            <a:solidFill>
              <a:srgbClr val="627F79"/>
            </a:solidFill>
            <a:ln w="0">
              <a:noFill/>
              <a:prstDash val="solid"/>
            </a:ln>
          </p:spPr>
          <p:txBody>
            <a:bodyPr/>
            <a:p/>
          </p:txBody>
        </p:sp>
        <p:sp>
          <p:nvSpPr>
            <p:cNvPr id="155" name="proposed-Philippine-source">
              <a:extLst>
                <a:ext uri="{FF2B5EF4-FFF2-40B4-BE49-F238E27FC236}">
                  <a16:creationId xmlns:a16="http://schemas.microsoft.com/office/drawing/2014/main" id="{7A6C6216-AD15-4A4E-BF64-D2B6FC161B88}"/>
                </a:ext>
              </a:extLst>
            </p:cNvPr>
            <p:cNvSpPr>
              <a:spLocks/>
            </p:cNvSpPr>
            <p:nvPr/>
          </p:nvSpPr>
          <p:spPr>
            <a:xfrm>
              <a:off x="5242560" y="2796419"/>
              <a:ext cx="695396" cy="522514"/>
            </a:xfrm>
            <a:custGeom>
              <a:avLst/>
              <a:gdLst/>
              <a:ahLst/>
              <a:cxnLst/>
              <a:rect l="0" t="0" r="0" b="0"/>
              <a:pathLst>
                <a:path w="977900" h="734786">
                  <a:moveTo>
                    <a:pt x="0" y="0"/>
                  </a:moveTo>
                  <a:lnTo>
                    <a:pt x="24475" y="7538"/>
                  </a:lnTo>
                  <a:lnTo>
                    <a:pt x="48785" y="15654"/>
                  </a:lnTo>
                  <a:lnTo>
                    <a:pt x="72950" y="24352"/>
                  </a:lnTo>
                  <a:lnTo>
                    <a:pt x="96988" y="33638"/>
                  </a:lnTo>
                  <a:lnTo>
                    <a:pt x="120919" y="43516"/>
                  </a:lnTo>
                  <a:lnTo>
                    <a:pt x="144762" y="53992"/>
                  </a:lnTo>
                  <a:lnTo>
                    <a:pt x="168538" y="65071"/>
                  </a:lnTo>
                  <a:lnTo>
                    <a:pt x="192265" y="76757"/>
                  </a:lnTo>
                  <a:lnTo>
                    <a:pt x="215962" y="89055"/>
                  </a:lnTo>
                  <a:lnTo>
                    <a:pt x="239650" y="101972"/>
                  </a:lnTo>
                  <a:lnTo>
                    <a:pt x="263348" y="115511"/>
                  </a:lnTo>
                  <a:lnTo>
                    <a:pt x="287075" y="129678"/>
                  </a:lnTo>
                  <a:lnTo>
                    <a:pt x="310850" y="144477"/>
                  </a:lnTo>
                  <a:lnTo>
                    <a:pt x="334694" y="159914"/>
                  </a:lnTo>
                  <a:lnTo>
                    <a:pt x="358625" y="175994"/>
                  </a:lnTo>
                  <a:lnTo>
                    <a:pt x="382663" y="192722"/>
                  </a:lnTo>
                  <a:lnTo>
                    <a:pt x="406827" y="210102"/>
                  </a:lnTo>
                  <a:lnTo>
                    <a:pt x="431137" y="228141"/>
                  </a:lnTo>
                  <a:lnTo>
                    <a:pt x="455613" y="246842"/>
                  </a:lnTo>
                  <a:lnTo>
                    <a:pt x="480273" y="266211"/>
                  </a:lnTo>
                  <a:lnTo>
                    <a:pt x="505137" y="286253"/>
                  </a:lnTo>
                  <a:lnTo>
                    <a:pt x="530225" y="306973"/>
                  </a:lnTo>
                  <a:lnTo>
                    <a:pt x="555555" y="328376"/>
                  </a:lnTo>
                  <a:lnTo>
                    <a:pt x="581149" y="350467"/>
                  </a:lnTo>
                  <a:lnTo>
                    <a:pt x="607024" y="373251"/>
                  </a:lnTo>
                  <a:lnTo>
                    <a:pt x="633200" y="396732"/>
                  </a:lnTo>
                  <a:lnTo>
                    <a:pt x="659698" y="420917"/>
                  </a:lnTo>
                  <a:lnTo>
                    <a:pt x="686535" y="445810"/>
                  </a:lnTo>
                  <a:lnTo>
                    <a:pt x="713732" y="471416"/>
                  </a:lnTo>
                  <a:lnTo>
                    <a:pt x="741309" y="497740"/>
                  </a:lnTo>
                  <a:lnTo>
                    <a:pt x="769283" y="524787"/>
                  </a:lnTo>
                  <a:lnTo>
                    <a:pt x="797676" y="552562"/>
                  </a:lnTo>
                  <a:lnTo>
                    <a:pt x="826507" y="581071"/>
                  </a:lnTo>
                  <a:lnTo>
                    <a:pt x="855794" y="610317"/>
                  </a:lnTo>
                  <a:lnTo>
                    <a:pt x="885557" y="640307"/>
                  </a:lnTo>
                  <a:lnTo>
                    <a:pt x="915816" y="671045"/>
                  </a:lnTo>
                  <a:lnTo>
                    <a:pt x="946591" y="702536"/>
                  </a:lnTo>
                  <a:lnTo>
                    <a:pt x="977900" y="734786"/>
                  </a:lnTo>
                </a:path>
              </a:pathLst>
            </a:custGeom>
            <a:noFill/>
            <a:ln w="18965">
              <a:solidFill>
                <a:srgbClr val="627F79"/>
              </a:solidFill>
              <a:prstDash val="dash"/>
            </a:ln>
          </p:spPr>
          <p:txBody>
            <a:bodyPr/>
            <a:p/>
          </p:txBody>
        </p:sp>
        <p:sp>
          <p:nvSpPr>
            <p:cNvPr id="156" name="proposed-Philippine-source-head">
              <a:extLst>
                <a:ext uri="{FF2B5EF4-FFF2-40B4-BE49-F238E27FC236}">
                  <a16:creationId xmlns:a16="http://schemas.microsoft.com/office/drawing/2014/main" id="{C012293E-54B0-4109-8BB4-38F434511B05}"/>
                </a:ext>
              </a:extLst>
            </p:cNvPr>
            <p:cNvSpPr>
              <a:spLocks/>
            </p:cNvSpPr>
            <p:nvPr/>
          </p:nvSpPr>
          <p:spPr>
            <a:xfrm>
              <a:off x="5855096" y="3235138"/>
              <a:ext cx="82860" cy="83795"/>
            </a:xfrm>
            <a:custGeom>
              <a:avLst/>
              <a:gdLst/>
              <a:ahLst/>
              <a:cxnLst/>
              <a:rect l="0" t="0" r="0" b="0"/>
              <a:pathLst>
                <a:path w="116522" h="117837">
                  <a:moveTo>
                    <a:pt x="116522" y="117837"/>
                  </a:moveTo>
                  <a:lnTo>
                    <a:pt x="73808" y="0"/>
                  </a:lnTo>
                  <a:lnTo>
                    <a:pt x="0" y="71656"/>
                  </a:lnTo>
                  <a:close/>
                </a:path>
              </a:pathLst>
            </a:custGeom>
            <a:solidFill>
              <a:srgbClr val="627F79"/>
            </a:solidFill>
            <a:ln w="0">
              <a:noFill/>
              <a:prstDash val="solid"/>
            </a:ln>
          </p:spPr>
          <p:txBody>
            <a:bodyPr/>
            <a:p/>
          </p:txBody>
        </p:sp>
        <p:sp>
          <p:nvSpPr>
            <p:cNvPr id="157" name="proposed-Arabia-RedSea-Ethiopia">
              <a:extLst>
                <a:ext uri="{FF2B5EF4-FFF2-40B4-BE49-F238E27FC236}">
                  <a16:creationId xmlns:a16="http://schemas.microsoft.com/office/drawing/2014/main" id="{7615AE58-5798-4A17-A9A3-64BD87DE8EB8}"/>
                </a:ext>
              </a:extLst>
            </p:cNvPr>
            <p:cNvSpPr>
              <a:spLocks/>
            </p:cNvSpPr>
            <p:nvPr/>
          </p:nvSpPr>
          <p:spPr>
            <a:xfrm>
              <a:off x="2603218" y="2714776"/>
              <a:ext cx="300284" cy="91979"/>
            </a:xfrm>
            <a:custGeom>
              <a:avLst/>
              <a:gdLst/>
              <a:ahLst/>
              <a:cxnLst/>
              <a:rect l="0" t="0" r="0" b="0"/>
              <a:pathLst>
                <a:path w="422275" h="129346">
                  <a:moveTo>
                    <a:pt x="422275" y="68886"/>
                  </a:moveTo>
                  <a:lnTo>
                    <a:pt x="414984" y="72601"/>
                  </a:lnTo>
                  <a:lnTo>
                    <a:pt x="407166" y="76469"/>
                  </a:lnTo>
                  <a:lnTo>
                    <a:pt x="398847" y="80452"/>
                  </a:lnTo>
                  <a:lnTo>
                    <a:pt x="390054" y="84513"/>
                  </a:lnTo>
                  <a:lnTo>
                    <a:pt x="380814" y="88615"/>
                  </a:lnTo>
                  <a:lnTo>
                    <a:pt x="371153" y="92719"/>
                  </a:lnTo>
                  <a:lnTo>
                    <a:pt x="361099" y="96787"/>
                  </a:lnTo>
                  <a:lnTo>
                    <a:pt x="350678" y="100783"/>
                  </a:lnTo>
                  <a:lnTo>
                    <a:pt x="339917" y="104669"/>
                  </a:lnTo>
                  <a:lnTo>
                    <a:pt x="328842" y="108406"/>
                  </a:lnTo>
                  <a:lnTo>
                    <a:pt x="317480" y="111958"/>
                  </a:lnTo>
                  <a:lnTo>
                    <a:pt x="305859" y="115286"/>
                  </a:lnTo>
                  <a:lnTo>
                    <a:pt x="294004" y="118353"/>
                  </a:lnTo>
                  <a:lnTo>
                    <a:pt x="281942" y="121121"/>
                  </a:lnTo>
                  <a:lnTo>
                    <a:pt x="269701" y="123552"/>
                  </a:lnTo>
                  <a:lnTo>
                    <a:pt x="257306" y="125610"/>
                  </a:lnTo>
                  <a:lnTo>
                    <a:pt x="244786" y="127256"/>
                  </a:lnTo>
                  <a:lnTo>
                    <a:pt x="232165" y="128452"/>
                  </a:lnTo>
                  <a:lnTo>
                    <a:pt x="219472" y="129162"/>
                  </a:lnTo>
                  <a:lnTo>
                    <a:pt x="206732" y="129346"/>
                  </a:lnTo>
                  <a:lnTo>
                    <a:pt x="193973" y="128968"/>
                  </a:lnTo>
                  <a:lnTo>
                    <a:pt x="181222" y="127990"/>
                  </a:lnTo>
                  <a:lnTo>
                    <a:pt x="168504" y="126375"/>
                  </a:lnTo>
                  <a:lnTo>
                    <a:pt x="155847" y="124083"/>
                  </a:lnTo>
                  <a:lnTo>
                    <a:pt x="143278" y="121079"/>
                  </a:lnTo>
                  <a:lnTo>
                    <a:pt x="130823" y="117324"/>
                  </a:lnTo>
                  <a:lnTo>
                    <a:pt x="118508" y="112781"/>
                  </a:lnTo>
                  <a:lnTo>
                    <a:pt x="106362" y="107412"/>
                  </a:lnTo>
                  <a:lnTo>
                    <a:pt x="94410" y="101179"/>
                  </a:lnTo>
                  <a:lnTo>
                    <a:pt x="82679" y="94044"/>
                  </a:lnTo>
                  <a:lnTo>
                    <a:pt x="71196" y="85971"/>
                  </a:lnTo>
                  <a:lnTo>
                    <a:pt x="59987" y="76921"/>
                  </a:lnTo>
                  <a:lnTo>
                    <a:pt x="49080" y="66856"/>
                  </a:lnTo>
                  <a:lnTo>
                    <a:pt x="38501" y="55740"/>
                  </a:lnTo>
                  <a:lnTo>
                    <a:pt x="28277" y="43533"/>
                  </a:lnTo>
                  <a:lnTo>
                    <a:pt x="18434" y="30200"/>
                  </a:lnTo>
                  <a:lnTo>
                    <a:pt x="8999" y="15701"/>
                  </a:lnTo>
                  <a:lnTo>
                    <a:pt x="0" y="0"/>
                  </a:lnTo>
                </a:path>
              </a:pathLst>
            </a:custGeom>
            <a:noFill/>
            <a:ln w="18965">
              <a:solidFill>
                <a:srgbClr val="627F79"/>
              </a:solidFill>
              <a:prstDash val="dash"/>
            </a:ln>
          </p:spPr>
          <p:txBody>
            <a:bodyPr/>
            <a:p/>
          </p:txBody>
        </p:sp>
        <p:sp>
          <p:nvSpPr>
            <p:cNvPr id="158" name="proposed-Arabia-RedSea-Ethiopia-head">
              <a:extLst>
                <a:ext uri="{FF2B5EF4-FFF2-40B4-BE49-F238E27FC236}">
                  <a16:creationId xmlns:a16="http://schemas.microsoft.com/office/drawing/2014/main" id="{60300EB5-6EDE-4894-94C3-9D9E73E71C66}"/>
                </a:ext>
              </a:extLst>
            </p:cNvPr>
            <p:cNvSpPr>
              <a:spLocks/>
            </p:cNvSpPr>
            <p:nvPr/>
          </p:nvSpPr>
          <p:spPr>
            <a:xfrm>
              <a:off x="2603218" y="2714776"/>
              <a:ext cx="72152" cy="88706"/>
            </a:xfrm>
            <a:custGeom>
              <a:avLst/>
              <a:gdLst/>
              <a:ahLst/>
              <a:cxnLst/>
              <a:rect l="0" t="0" r="0" b="0"/>
              <a:pathLst>
                <a:path w="101463" h="124743">
                  <a:moveTo>
                    <a:pt x="0" y="0"/>
                  </a:moveTo>
                  <a:lnTo>
                    <a:pt x="12214" y="124743"/>
                  </a:lnTo>
                  <a:lnTo>
                    <a:pt x="101463" y="73588"/>
                  </a:lnTo>
                  <a:close/>
                </a:path>
              </a:pathLst>
            </a:custGeom>
            <a:solidFill>
              <a:srgbClr val="627F79"/>
            </a:solidFill>
            <a:ln w="0">
              <a:noFill/>
              <a:prstDash val="solid"/>
            </a:ln>
          </p:spPr>
          <p:txBody>
            <a:bodyPr/>
            <a:p/>
          </p:txBody>
        </p:sp>
        <p:sp>
          <p:nvSpPr>
            <p:cNvPr id="159" name="proposed-Atlantic-WestAfrica">
              <a:extLst>
                <a:ext uri="{FF2B5EF4-FFF2-40B4-BE49-F238E27FC236}">
                  <a16:creationId xmlns:a16="http://schemas.microsoft.com/office/drawing/2014/main" id="{6C463DBD-19F2-4A10-93FC-2897B83D149F}"/>
                </a:ext>
              </a:extLst>
            </p:cNvPr>
            <p:cNvSpPr>
              <a:spLocks/>
            </p:cNvSpPr>
            <p:nvPr/>
          </p:nvSpPr>
          <p:spPr>
            <a:xfrm>
              <a:off x="745545" y="2273905"/>
              <a:ext cx="229815" cy="489857"/>
            </a:xfrm>
            <a:custGeom>
              <a:avLst/>
              <a:gdLst/>
              <a:ahLst/>
              <a:cxnLst/>
              <a:rect l="0" t="0" r="0" b="0"/>
              <a:pathLst>
                <a:path w="323178" h="688862">
                  <a:moveTo>
                    <a:pt x="323178" y="0"/>
                  </a:moveTo>
                  <a:lnTo>
                    <a:pt x="285861" y="11625"/>
                  </a:lnTo>
                  <a:lnTo>
                    <a:pt x="251082" y="24686"/>
                  </a:lnTo>
                  <a:lnTo>
                    <a:pt x="218791" y="39093"/>
                  </a:lnTo>
                  <a:lnTo>
                    <a:pt x="188940" y="54755"/>
                  </a:lnTo>
                  <a:lnTo>
                    <a:pt x="161480" y="71583"/>
                  </a:lnTo>
                  <a:lnTo>
                    <a:pt x="136363" y="89485"/>
                  </a:lnTo>
                  <a:lnTo>
                    <a:pt x="113541" y="108371"/>
                  </a:lnTo>
                  <a:lnTo>
                    <a:pt x="92963" y="128151"/>
                  </a:lnTo>
                  <a:lnTo>
                    <a:pt x="74583" y="148734"/>
                  </a:lnTo>
                  <a:lnTo>
                    <a:pt x="58351" y="170031"/>
                  </a:lnTo>
                  <a:lnTo>
                    <a:pt x="44218" y="191950"/>
                  </a:lnTo>
                  <a:lnTo>
                    <a:pt x="32137" y="214402"/>
                  </a:lnTo>
                  <a:lnTo>
                    <a:pt x="22058" y="237295"/>
                  </a:lnTo>
                  <a:lnTo>
                    <a:pt x="13933" y="260540"/>
                  </a:lnTo>
                  <a:lnTo>
                    <a:pt x="7713" y="284046"/>
                  </a:lnTo>
                  <a:lnTo>
                    <a:pt x="3350" y="307723"/>
                  </a:lnTo>
                  <a:lnTo>
                    <a:pt x="795" y="331480"/>
                  </a:lnTo>
                  <a:lnTo>
                    <a:pt x="0" y="355227"/>
                  </a:lnTo>
                  <a:lnTo>
                    <a:pt x="915" y="378874"/>
                  </a:lnTo>
                  <a:lnTo>
                    <a:pt x="3493" y="402330"/>
                  </a:lnTo>
                  <a:lnTo>
                    <a:pt x="7684" y="425504"/>
                  </a:lnTo>
                  <a:lnTo>
                    <a:pt x="13441" y="448307"/>
                  </a:lnTo>
                  <a:lnTo>
                    <a:pt x="20713" y="470648"/>
                  </a:lnTo>
                  <a:lnTo>
                    <a:pt x="29454" y="492437"/>
                  </a:lnTo>
                  <a:lnTo>
                    <a:pt x="39614" y="513583"/>
                  </a:lnTo>
                  <a:lnTo>
                    <a:pt x="51144" y="533996"/>
                  </a:lnTo>
                  <a:lnTo>
                    <a:pt x="63997" y="553585"/>
                  </a:lnTo>
                  <a:lnTo>
                    <a:pt x="78123" y="572260"/>
                  </a:lnTo>
                  <a:lnTo>
                    <a:pt x="93474" y="589931"/>
                  </a:lnTo>
                  <a:lnTo>
                    <a:pt x="110001" y="606508"/>
                  </a:lnTo>
                  <a:lnTo>
                    <a:pt x="127655" y="621899"/>
                  </a:lnTo>
                  <a:lnTo>
                    <a:pt x="146389" y="636014"/>
                  </a:lnTo>
                  <a:lnTo>
                    <a:pt x="166153" y="648764"/>
                  </a:lnTo>
                  <a:lnTo>
                    <a:pt x="186899" y="660058"/>
                  </a:lnTo>
                  <a:lnTo>
                    <a:pt x="208578" y="669805"/>
                  </a:lnTo>
                  <a:lnTo>
                    <a:pt x="231141" y="677915"/>
                  </a:lnTo>
                  <a:lnTo>
                    <a:pt x="254541" y="684297"/>
                  </a:lnTo>
                  <a:lnTo>
                    <a:pt x="278728" y="688862"/>
                  </a:lnTo>
                </a:path>
              </a:pathLst>
            </a:custGeom>
            <a:noFill/>
            <a:ln w="18965">
              <a:solidFill>
                <a:srgbClr val="627F79"/>
              </a:solidFill>
              <a:prstDash val="dash"/>
            </a:ln>
          </p:spPr>
          <p:txBody>
            <a:bodyPr/>
            <a:p/>
          </p:txBody>
        </p:sp>
        <p:sp>
          <p:nvSpPr>
            <p:cNvPr id="160" name="proposed-Atlantic-WestAfrica-head">
              <a:extLst>
                <a:ext uri="{FF2B5EF4-FFF2-40B4-BE49-F238E27FC236}">
                  <a16:creationId xmlns:a16="http://schemas.microsoft.com/office/drawing/2014/main" id="{482CEC7E-3BF6-4668-84E6-75DC71B2B76C}"/>
                </a:ext>
              </a:extLst>
            </p:cNvPr>
            <p:cNvSpPr>
              <a:spLocks/>
            </p:cNvSpPr>
            <p:nvPr/>
          </p:nvSpPr>
          <p:spPr>
            <a:xfrm>
              <a:off x="857098" y="2712747"/>
              <a:ext cx="86653" cy="71883"/>
            </a:xfrm>
            <a:custGeom>
              <a:avLst/>
              <a:gdLst/>
              <a:ahLst/>
              <a:cxnLst/>
              <a:rect l="0" t="0" r="0" b="0"/>
              <a:pathLst>
                <a:path w="121856" h="101086">
                  <a:moveTo>
                    <a:pt x="121856" y="71740"/>
                  </a:moveTo>
                  <a:lnTo>
                    <a:pt x="19077" y="0"/>
                  </a:lnTo>
                  <a:lnTo>
                    <a:pt x="0" y="101086"/>
                  </a:lnTo>
                  <a:close/>
                </a:path>
              </a:pathLst>
            </a:custGeom>
            <a:solidFill>
              <a:srgbClr val="627F79"/>
            </a:solidFill>
            <a:ln w="0">
              <a:noFill/>
              <a:prstDash val="solid"/>
            </a:ln>
          </p:spPr>
          <p:txBody>
            <a:bodyPr/>
            <a:p/>
          </p:txBody>
        </p:sp>
        <p:sp>
          <p:nvSpPr>
            <p:cNvPr id="161" name="proposed-WestAfrica-inland">
              <a:extLst>
                <a:ext uri="{FF2B5EF4-FFF2-40B4-BE49-F238E27FC236}">
                  <a16:creationId xmlns:a16="http://schemas.microsoft.com/office/drawing/2014/main" id="{07D449E7-E827-4142-B395-D70E8808B405}"/>
                </a:ext>
              </a:extLst>
            </p:cNvPr>
            <p:cNvSpPr>
              <a:spLocks/>
            </p:cNvSpPr>
            <p:nvPr/>
          </p:nvSpPr>
          <p:spPr>
            <a:xfrm>
              <a:off x="943751" y="2734697"/>
              <a:ext cx="267411" cy="42677"/>
            </a:xfrm>
            <a:custGeom>
              <a:avLst/>
              <a:gdLst/>
              <a:ahLst/>
              <a:cxnLst/>
              <a:rect l="0" t="0" r="0" b="0"/>
              <a:pathLst>
                <a:path w="376047" h="60015">
                  <a:moveTo>
                    <a:pt x="0" y="40872"/>
                  </a:moveTo>
                  <a:lnTo>
                    <a:pt x="10527" y="44309"/>
                  </a:lnTo>
                  <a:lnTo>
                    <a:pt x="21052" y="47374"/>
                  </a:lnTo>
                  <a:lnTo>
                    <a:pt x="31571" y="50080"/>
                  </a:lnTo>
                  <a:lnTo>
                    <a:pt x="42083" y="52435"/>
                  </a:lnTo>
                  <a:lnTo>
                    <a:pt x="52583" y="54451"/>
                  </a:lnTo>
                  <a:lnTo>
                    <a:pt x="63071" y="56138"/>
                  </a:lnTo>
                  <a:lnTo>
                    <a:pt x="73543" y="57507"/>
                  </a:lnTo>
                  <a:lnTo>
                    <a:pt x="83997" y="58569"/>
                  </a:lnTo>
                  <a:lnTo>
                    <a:pt x="94430" y="59334"/>
                  </a:lnTo>
                  <a:lnTo>
                    <a:pt x="104839" y="59812"/>
                  </a:lnTo>
                  <a:lnTo>
                    <a:pt x="115222" y="60015"/>
                  </a:lnTo>
                  <a:lnTo>
                    <a:pt x="125576" y="59953"/>
                  </a:lnTo>
                  <a:lnTo>
                    <a:pt x="135898" y="59636"/>
                  </a:lnTo>
                  <a:lnTo>
                    <a:pt x="146187" y="59076"/>
                  </a:lnTo>
                  <a:lnTo>
                    <a:pt x="156438" y="58282"/>
                  </a:lnTo>
                  <a:lnTo>
                    <a:pt x="166650" y="57265"/>
                  </a:lnTo>
                  <a:lnTo>
                    <a:pt x="176821" y="56036"/>
                  </a:lnTo>
                  <a:lnTo>
                    <a:pt x="186946" y="54606"/>
                  </a:lnTo>
                  <a:lnTo>
                    <a:pt x="197025" y="52985"/>
                  </a:lnTo>
                  <a:lnTo>
                    <a:pt x="207053" y="51183"/>
                  </a:lnTo>
                  <a:lnTo>
                    <a:pt x="217029" y="49212"/>
                  </a:lnTo>
                  <a:lnTo>
                    <a:pt x="226950" y="47082"/>
                  </a:lnTo>
                  <a:lnTo>
                    <a:pt x="236813" y="44803"/>
                  </a:lnTo>
                  <a:lnTo>
                    <a:pt x="246616" y="42386"/>
                  </a:lnTo>
                  <a:lnTo>
                    <a:pt x="256356" y="39842"/>
                  </a:lnTo>
                  <a:lnTo>
                    <a:pt x="266030" y="37181"/>
                  </a:lnTo>
                  <a:lnTo>
                    <a:pt x="275636" y="34414"/>
                  </a:lnTo>
                  <a:lnTo>
                    <a:pt x="285171" y="31551"/>
                  </a:lnTo>
                  <a:lnTo>
                    <a:pt x="294633" y="28604"/>
                  </a:lnTo>
                  <a:lnTo>
                    <a:pt x="304018" y="25582"/>
                  </a:lnTo>
                  <a:lnTo>
                    <a:pt x="313325" y="22496"/>
                  </a:lnTo>
                  <a:lnTo>
                    <a:pt x="322550" y="19357"/>
                  </a:lnTo>
                  <a:lnTo>
                    <a:pt x="331692" y="16176"/>
                  </a:lnTo>
                  <a:lnTo>
                    <a:pt x="340746" y="12962"/>
                  </a:lnTo>
                  <a:lnTo>
                    <a:pt x="349712" y="9727"/>
                  </a:lnTo>
                  <a:lnTo>
                    <a:pt x="358586" y="6481"/>
                  </a:lnTo>
                  <a:lnTo>
                    <a:pt x="367365" y="3236"/>
                  </a:lnTo>
                  <a:lnTo>
                    <a:pt x="376047" y="0"/>
                  </a:lnTo>
                </a:path>
              </a:pathLst>
            </a:custGeom>
            <a:noFill/>
            <a:ln w="18965">
              <a:solidFill>
                <a:srgbClr val="627F79"/>
              </a:solidFill>
              <a:prstDash val="dash"/>
            </a:ln>
          </p:spPr>
          <p:txBody>
            <a:bodyPr/>
            <a:p/>
          </p:txBody>
        </p:sp>
        <p:sp>
          <p:nvSpPr>
            <p:cNvPr id="162" name="proposed-WestAfrica-inland-head">
              <a:extLst>
                <a:ext uri="{FF2B5EF4-FFF2-40B4-BE49-F238E27FC236}">
                  <a16:creationId xmlns:a16="http://schemas.microsoft.com/office/drawing/2014/main" id="{284F606D-58EC-4601-930B-4B37C932D8BA}"/>
                </a:ext>
              </a:extLst>
            </p:cNvPr>
            <p:cNvSpPr>
              <a:spLocks/>
            </p:cNvSpPr>
            <p:nvPr/>
          </p:nvSpPr>
          <p:spPr>
            <a:xfrm>
              <a:off x="1122227" y="2728807"/>
              <a:ext cx="88936" cy="68547"/>
            </a:xfrm>
            <a:custGeom>
              <a:avLst/>
              <a:gdLst/>
              <a:ahLst/>
              <a:cxnLst/>
              <a:rect l="0" t="0" r="0" b="0"/>
              <a:pathLst>
                <a:path w="125066" h="96394">
                  <a:moveTo>
                    <a:pt x="125066" y="8283"/>
                  </a:moveTo>
                  <a:lnTo>
                    <a:pt x="0" y="0"/>
                  </a:lnTo>
                  <a:lnTo>
                    <a:pt x="35923" y="96394"/>
                  </a:lnTo>
                  <a:close/>
                </a:path>
              </a:pathLst>
            </a:custGeom>
            <a:solidFill>
              <a:srgbClr val="627F79"/>
            </a:solidFill>
            <a:ln w="0">
              <a:noFill/>
              <a:prstDash val="solid"/>
            </a:ln>
          </p:spPr>
          <p:txBody>
            <a:bodyPr/>
            <a:p/>
          </p:txBody>
        </p:sp>
        <p:sp>
          <p:nvSpPr>
            <p:cNvPr id="163" name="proposed-Sahel-Sudan">
              <a:extLst>
                <a:ext uri="{FF2B5EF4-FFF2-40B4-BE49-F238E27FC236}">
                  <a16:creationId xmlns:a16="http://schemas.microsoft.com/office/drawing/2014/main" id="{36983AC3-FAE7-4721-A701-558C65DD5FAC}"/>
                </a:ext>
              </a:extLst>
            </p:cNvPr>
            <p:cNvSpPr>
              <a:spLocks/>
            </p:cNvSpPr>
            <p:nvPr/>
          </p:nvSpPr>
          <p:spPr>
            <a:xfrm>
              <a:off x="1211162" y="2610026"/>
              <a:ext cx="1060162" cy="124671"/>
            </a:xfrm>
            <a:custGeom>
              <a:avLst/>
              <a:gdLst/>
              <a:ahLst/>
              <a:cxnLst/>
              <a:rect l="0" t="0" r="0" b="0"/>
              <a:pathLst>
                <a:path w="1490853" h="175319">
                  <a:moveTo>
                    <a:pt x="1490853" y="78419"/>
                  </a:moveTo>
                  <a:lnTo>
                    <a:pt x="1455488" y="64671"/>
                  </a:lnTo>
                  <a:lnTo>
                    <a:pt x="1419596" y="52401"/>
                  </a:lnTo>
                  <a:lnTo>
                    <a:pt x="1383203" y="41558"/>
                  </a:lnTo>
                  <a:lnTo>
                    <a:pt x="1346335" y="32092"/>
                  </a:lnTo>
                  <a:lnTo>
                    <a:pt x="1309019" y="23954"/>
                  </a:lnTo>
                  <a:lnTo>
                    <a:pt x="1271282" y="17095"/>
                  </a:lnTo>
                  <a:lnTo>
                    <a:pt x="1233150" y="11464"/>
                  </a:lnTo>
                  <a:lnTo>
                    <a:pt x="1194650" y="7012"/>
                  </a:lnTo>
                  <a:lnTo>
                    <a:pt x="1155808" y="3689"/>
                  </a:lnTo>
                  <a:lnTo>
                    <a:pt x="1116651" y="1446"/>
                  </a:lnTo>
                  <a:lnTo>
                    <a:pt x="1077205" y="233"/>
                  </a:lnTo>
                  <a:lnTo>
                    <a:pt x="1037496" y="0"/>
                  </a:lnTo>
                  <a:lnTo>
                    <a:pt x="997553" y="698"/>
                  </a:lnTo>
                  <a:lnTo>
                    <a:pt x="957400" y="2276"/>
                  </a:lnTo>
                  <a:lnTo>
                    <a:pt x="917064" y="4686"/>
                  </a:lnTo>
                  <a:lnTo>
                    <a:pt x="876573" y="7878"/>
                  </a:lnTo>
                  <a:lnTo>
                    <a:pt x="835952" y="11801"/>
                  </a:lnTo>
                  <a:lnTo>
                    <a:pt x="795228" y="16407"/>
                  </a:lnTo>
                  <a:lnTo>
                    <a:pt x="754428" y="21645"/>
                  </a:lnTo>
                  <a:lnTo>
                    <a:pt x="713577" y="27466"/>
                  </a:lnTo>
                  <a:lnTo>
                    <a:pt x="672704" y="33821"/>
                  </a:lnTo>
                  <a:lnTo>
                    <a:pt x="631834" y="40659"/>
                  </a:lnTo>
                  <a:lnTo>
                    <a:pt x="590993" y="47931"/>
                  </a:lnTo>
                  <a:lnTo>
                    <a:pt x="550209" y="55588"/>
                  </a:lnTo>
                  <a:lnTo>
                    <a:pt x="509507" y="63579"/>
                  </a:lnTo>
                  <a:lnTo>
                    <a:pt x="468915" y="71855"/>
                  </a:lnTo>
                  <a:lnTo>
                    <a:pt x="428459" y="80366"/>
                  </a:lnTo>
                  <a:lnTo>
                    <a:pt x="388165" y="89063"/>
                  </a:lnTo>
                  <a:lnTo>
                    <a:pt x="348061" y="97896"/>
                  </a:lnTo>
                  <a:lnTo>
                    <a:pt x="308171" y="106816"/>
                  </a:lnTo>
                  <a:lnTo>
                    <a:pt x="268524" y="115772"/>
                  </a:lnTo>
                  <a:lnTo>
                    <a:pt x="229145" y="124715"/>
                  </a:lnTo>
                  <a:lnTo>
                    <a:pt x="190062" y="133595"/>
                  </a:lnTo>
                  <a:lnTo>
                    <a:pt x="151300" y="142363"/>
                  </a:lnTo>
                  <a:lnTo>
                    <a:pt x="112886" y="150969"/>
                  </a:lnTo>
                  <a:lnTo>
                    <a:pt x="74847" y="159364"/>
                  </a:lnTo>
                  <a:lnTo>
                    <a:pt x="37210" y="167497"/>
                  </a:lnTo>
                  <a:lnTo>
                    <a:pt x="0" y="175319"/>
                  </a:lnTo>
                </a:path>
              </a:pathLst>
            </a:custGeom>
            <a:noFill/>
            <a:ln w="18965">
              <a:solidFill>
                <a:srgbClr val="627F79"/>
              </a:solidFill>
              <a:prstDash val="dash"/>
            </a:ln>
          </p:spPr>
          <p:txBody>
            <a:bodyPr/>
            <a:p/>
          </p:txBody>
        </p:sp>
        <p:sp>
          <p:nvSpPr>
            <p:cNvPr id="164" name="proposed-Sahel-Sudan-head">
              <a:extLst>
                <a:ext uri="{FF2B5EF4-FFF2-40B4-BE49-F238E27FC236}">
                  <a16:creationId xmlns:a16="http://schemas.microsoft.com/office/drawing/2014/main" id="{BDDB7528-A101-42A6-8F08-1C56C6EDDB1F}"/>
                </a:ext>
              </a:extLst>
            </p:cNvPr>
            <p:cNvSpPr>
              <a:spLocks/>
            </p:cNvSpPr>
            <p:nvPr/>
          </p:nvSpPr>
          <p:spPr>
            <a:xfrm>
              <a:off x="1211162" y="2682183"/>
              <a:ext cx="87066" cy="71587"/>
            </a:xfrm>
            <a:custGeom>
              <a:avLst/>
              <a:gdLst/>
              <a:ahLst/>
              <a:cxnLst/>
              <a:rect l="0" t="0" r="0" b="0"/>
              <a:pathLst>
                <a:path w="122436" h="100670">
                  <a:moveTo>
                    <a:pt x="0" y="73848"/>
                  </a:moveTo>
                  <a:lnTo>
                    <a:pt x="122436" y="100670"/>
                  </a:lnTo>
                  <a:lnTo>
                    <a:pt x="101274" y="0"/>
                  </a:lnTo>
                  <a:close/>
                </a:path>
              </a:pathLst>
            </a:custGeom>
            <a:solidFill>
              <a:srgbClr val="627F79"/>
            </a:solidFill>
            <a:ln w="0">
              <a:noFill/>
              <a:prstDash val="solid"/>
            </a:ln>
          </p:spPr>
          <p:txBody>
            <a:bodyPr/>
            <a:p/>
          </p:txBody>
        </p:sp>
        <p:sp>
          <p:nvSpPr>
            <p:cNvPr id="165" name="disputed-Polynesia-Chile">
              <a:extLst>
                <a:ext uri="{FF2B5EF4-FFF2-40B4-BE49-F238E27FC236}">
                  <a16:creationId xmlns:a16="http://schemas.microsoft.com/office/drawing/2014/main" id="{F2F037AD-6A72-4CF6-AE85-43FDC2CA771C}"/>
                </a:ext>
              </a:extLst>
            </p:cNvPr>
            <p:cNvSpPr>
              <a:spLocks/>
            </p:cNvSpPr>
            <p:nvPr/>
          </p:nvSpPr>
          <p:spPr>
            <a:xfrm>
              <a:off x="8814364" y="3841448"/>
              <a:ext cx="1600990" cy="643040"/>
            </a:xfrm>
            <a:custGeom>
              <a:avLst/>
              <a:gdLst/>
              <a:ahLst/>
              <a:cxnLst/>
              <a:rect l="0" t="0" r="0" b="0"/>
              <a:pathLst>
                <a:path w="2251392" h="904274">
                  <a:moveTo>
                    <a:pt x="0" y="0"/>
                  </a:moveTo>
                  <a:lnTo>
                    <a:pt x="36098" y="60678"/>
                  </a:lnTo>
                  <a:lnTo>
                    <a:pt x="74167" y="119427"/>
                  </a:lnTo>
                  <a:lnTo>
                    <a:pt x="114149" y="176228"/>
                  </a:lnTo>
                  <a:lnTo>
                    <a:pt x="155981" y="231060"/>
                  </a:lnTo>
                  <a:lnTo>
                    <a:pt x="199606" y="283904"/>
                  </a:lnTo>
                  <a:lnTo>
                    <a:pt x="244961" y="334739"/>
                  </a:lnTo>
                  <a:lnTo>
                    <a:pt x="291989" y="383546"/>
                  </a:lnTo>
                  <a:lnTo>
                    <a:pt x="340627" y="430303"/>
                  </a:lnTo>
                  <a:lnTo>
                    <a:pt x="390818" y="474992"/>
                  </a:lnTo>
                  <a:lnTo>
                    <a:pt x="442499" y="517592"/>
                  </a:lnTo>
                  <a:lnTo>
                    <a:pt x="495612" y="558083"/>
                  </a:lnTo>
                  <a:lnTo>
                    <a:pt x="550096" y="596444"/>
                  </a:lnTo>
                  <a:lnTo>
                    <a:pt x="605892" y="632657"/>
                  </a:lnTo>
                  <a:lnTo>
                    <a:pt x="662939" y="666700"/>
                  </a:lnTo>
                  <a:lnTo>
                    <a:pt x="721177" y="698553"/>
                  </a:lnTo>
                  <a:lnTo>
                    <a:pt x="780547" y="728197"/>
                  </a:lnTo>
                  <a:lnTo>
                    <a:pt x="840988" y="755612"/>
                  </a:lnTo>
                  <a:lnTo>
                    <a:pt x="902440" y="780777"/>
                  </a:lnTo>
                  <a:lnTo>
                    <a:pt x="964843" y="803672"/>
                  </a:lnTo>
                  <a:lnTo>
                    <a:pt x="1028137" y="824277"/>
                  </a:lnTo>
                  <a:lnTo>
                    <a:pt x="1092263" y="842572"/>
                  </a:lnTo>
                  <a:lnTo>
                    <a:pt x="1157159" y="858538"/>
                  </a:lnTo>
                  <a:lnTo>
                    <a:pt x="1222767" y="872153"/>
                  </a:lnTo>
                  <a:lnTo>
                    <a:pt x="1289025" y="883398"/>
                  </a:lnTo>
                  <a:lnTo>
                    <a:pt x="1355875" y="892253"/>
                  </a:lnTo>
                  <a:lnTo>
                    <a:pt x="1423256" y="898697"/>
                  </a:lnTo>
                  <a:lnTo>
                    <a:pt x="1491107" y="902711"/>
                  </a:lnTo>
                  <a:lnTo>
                    <a:pt x="1559370" y="904274"/>
                  </a:lnTo>
                  <a:lnTo>
                    <a:pt x="1627984" y="903367"/>
                  </a:lnTo>
                  <a:lnTo>
                    <a:pt x="1696888" y="899969"/>
                  </a:lnTo>
                  <a:lnTo>
                    <a:pt x="1766023" y="894060"/>
                  </a:lnTo>
                  <a:lnTo>
                    <a:pt x="1835329" y="885621"/>
                  </a:lnTo>
                  <a:lnTo>
                    <a:pt x="1904746" y="874630"/>
                  </a:lnTo>
                  <a:lnTo>
                    <a:pt x="1974214" y="861069"/>
                  </a:lnTo>
                  <a:lnTo>
                    <a:pt x="2043673" y="844916"/>
                  </a:lnTo>
                  <a:lnTo>
                    <a:pt x="2113062" y="826152"/>
                  </a:lnTo>
                  <a:lnTo>
                    <a:pt x="2182322" y="804757"/>
                  </a:lnTo>
                  <a:lnTo>
                    <a:pt x="2251392" y="780710"/>
                  </a:lnTo>
                </a:path>
              </a:pathLst>
            </a:custGeom>
            <a:noFill/>
            <a:ln w="23707">
              <a:solidFill>
                <a:srgbClr val="687573"/>
              </a:solidFill>
              <a:prstDash val="dot"/>
            </a:ln>
          </p:spPr>
          <p:txBody>
            <a:bodyPr/>
            <a:p/>
          </p:txBody>
        </p:sp>
        <p:sp>
          <p:nvSpPr>
            <p:cNvPr id="166" name="disputed-Polynesia-Chile-head">
              <a:extLst>
                <a:ext uri="{FF2B5EF4-FFF2-40B4-BE49-F238E27FC236}">
                  <a16:creationId xmlns:a16="http://schemas.microsoft.com/office/drawing/2014/main" id="{8EB40A7E-C8DF-46ED-BFF3-DC35EA49CE68}"/>
                </a:ext>
              </a:extLst>
            </p:cNvPr>
            <p:cNvSpPr>
              <a:spLocks/>
            </p:cNvSpPr>
            <p:nvPr/>
          </p:nvSpPr>
          <p:spPr>
            <a:xfrm>
              <a:off x="10326568" y="4388801"/>
              <a:ext cx="88787" cy="69085"/>
            </a:xfrm>
            <a:custGeom>
              <a:avLst/>
              <a:gdLst/>
              <a:ahLst/>
              <a:cxnLst/>
              <a:rect l="0" t="0" r="0" b="0"/>
              <a:pathLst>
                <a:path w="124857" h="97151">
                  <a:moveTo>
                    <a:pt x="124857" y="10995"/>
                  </a:moveTo>
                  <a:lnTo>
                    <a:pt x="0" y="0"/>
                  </a:lnTo>
                  <a:lnTo>
                    <a:pt x="33823" y="97151"/>
                  </a:lnTo>
                  <a:close/>
                </a:path>
              </a:pathLst>
            </a:custGeom>
            <a:solidFill>
              <a:srgbClr val="687573"/>
            </a:solidFill>
            <a:ln w="0">
              <a:noFill/>
              <a:prstDash val="solid"/>
            </a:ln>
          </p:spPr>
          <p:txBody>
            <a:bodyPr/>
            <a:p/>
          </p:txBody>
        </p:sp>
        <p:sp>
          <p:nvSpPr>
            <p:cNvPr id="167" name="colonial-Iberia-Atlantic-left">
              <a:extLst>
                <a:ext uri="{FF2B5EF4-FFF2-40B4-BE49-F238E27FC236}">
                  <a16:creationId xmlns:a16="http://schemas.microsoft.com/office/drawing/2014/main" id="{809EF299-5F0D-4DAF-B51C-D75C25EE9461}"/>
                </a:ext>
              </a:extLst>
            </p:cNvPr>
            <p:cNvSpPr>
              <a:spLocks/>
            </p:cNvSpPr>
            <p:nvPr/>
          </p:nvSpPr>
          <p:spPr>
            <a:xfrm>
              <a:off x="406400" y="1875615"/>
              <a:ext cx="758613" cy="169690"/>
            </a:xfrm>
            <a:custGeom>
              <a:avLst/>
              <a:gdLst/>
              <a:ahLst/>
              <a:cxnLst/>
              <a:rect l="0" t="0" r="0" b="0"/>
              <a:pathLst>
                <a:path w="1066800" h="238626">
                  <a:moveTo>
                    <a:pt x="1066800" y="9005"/>
                  </a:moveTo>
                  <a:lnTo>
                    <a:pt x="1038636" y="5758"/>
                  </a:lnTo>
                  <a:lnTo>
                    <a:pt x="1010303" y="3254"/>
                  </a:lnTo>
                  <a:lnTo>
                    <a:pt x="981813" y="1473"/>
                  </a:lnTo>
                  <a:lnTo>
                    <a:pt x="953183" y="395"/>
                  </a:lnTo>
                  <a:lnTo>
                    <a:pt x="924427" y="0"/>
                  </a:lnTo>
                  <a:lnTo>
                    <a:pt x="895558" y="268"/>
                  </a:lnTo>
                  <a:lnTo>
                    <a:pt x="866593" y="1178"/>
                  </a:lnTo>
                  <a:lnTo>
                    <a:pt x="837545" y="2712"/>
                  </a:lnTo>
                  <a:lnTo>
                    <a:pt x="808428" y="4848"/>
                  </a:lnTo>
                  <a:lnTo>
                    <a:pt x="779259" y="7566"/>
                  </a:lnTo>
                  <a:lnTo>
                    <a:pt x="750050" y="10847"/>
                  </a:lnTo>
                  <a:lnTo>
                    <a:pt x="720817" y="14670"/>
                  </a:lnTo>
                  <a:lnTo>
                    <a:pt x="691575" y="19015"/>
                  </a:lnTo>
                  <a:lnTo>
                    <a:pt x="662337" y="23863"/>
                  </a:lnTo>
                  <a:lnTo>
                    <a:pt x="633118" y="29192"/>
                  </a:lnTo>
                  <a:lnTo>
                    <a:pt x="603934" y="34984"/>
                  </a:lnTo>
                  <a:lnTo>
                    <a:pt x="574798" y="41217"/>
                  </a:lnTo>
                  <a:lnTo>
                    <a:pt x="545726" y="47872"/>
                  </a:lnTo>
                  <a:lnTo>
                    <a:pt x="516731" y="54929"/>
                  </a:lnTo>
                  <a:lnTo>
                    <a:pt x="487829" y="62368"/>
                  </a:lnTo>
                  <a:lnTo>
                    <a:pt x="459033" y="70168"/>
                  </a:lnTo>
                  <a:lnTo>
                    <a:pt x="430359" y="78310"/>
                  </a:lnTo>
                  <a:lnTo>
                    <a:pt x="401822" y="86773"/>
                  </a:lnTo>
                  <a:lnTo>
                    <a:pt x="373434" y="95537"/>
                  </a:lnTo>
                  <a:lnTo>
                    <a:pt x="345213" y="104583"/>
                  </a:lnTo>
                  <a:lnTo>
                    <a:pt x="317170" y="113890"/>
                  </a:lnTo>
                  <a:lnTo>
                    <a:pt x="289323" y="123437"/>
                  </a:lnTo>
                  <a:lnTo>
                    <a:pt x="261684" y="133206"/>
                  </a:lnTo>
                  <a:lnTo>
                    <a:pt x="234269" y="143176"/>
                  </a:lnTo>
                  <a:lnTo>
                    <a:pt x="207092" y="153326"/>
                  </a:lnTo>
                  <a:lnTo>
                    <a:pt x="180168" y="163637"/>
                  </a:lnTo>
                  <a:lnTo>
                    <a:pt x="153511" y="174088"/>
                  </a:lnTo>
                  <a:lnTo>
                    <a:pt x="127136" y="184661"/>
                  </a:lnTo>
                  <a:lnTo>
                    <a:pt x="101057" y="195333"/>
                  </a:lnTo>
                  <a:lnTo>
                    <a:pt x="75290" y="206086"/>
                  </a:lnTo>
                  <a:lnTo>
                    <a:pt x="49848" y="216899"/>
                  </a:lnTo>
                  <a:lnTo>
                    <a:pt x="24747" y="227753"/>
                  </a:lnTo>
                  <a:lnTo>
                    <a:pt x="0" y="238626"/>
                  </a:lnTo>
                </a:path>
              </a:pathLst>
            </a:custGeom>
            <a:noFill/>
            <a:ln w="18965">
              <a:solidFill>
                <a:srgbClr val="8B688E"/>
              </a:solidFill>
              <a:prstDash val="solid"/>
            </a:ln>
          </p:spPr>
          <p:txBody>
            <a:bodyPr/>
            <a:p/>
          </p:txBody>
        </p:sp>
        <p:sp>
          <p:nvSpPr>
            <p:cNvPr id="168" name="colonial-Iberia-Atlantic-left-head">
              <a:extLst>
                <a:ext uri="{FF2B5EF4-FFF2-40B4-BE49-F238E27FC236}">
                  <a16:creationId xmlns:a16="http://schemas.microsoft.com/office/drawing/2014/main" id="{C5C202EE-77D3-47A4-BC1A-C3589AD095BF}"/>
                </a:ext>
              </a:extLst>
            </p:cNvPr>
            <p:cNvSpPr>
              <a:spLocks/>
            </p:cNvSpPr>
            <p:nvPr/>
          </p:nvSpPr>
          <p:spPr>
            <a:xfrm>
              <a:off x="406400" y="1979122"/>
              <a:ext cx="89127" cy="66972"/>
            </a:xfrm>
            <a:custGeom>
              <a:avLst/>
              <a:gdLst/>
              <a:ahLst/>
              <a:cxnLst/>
              <a:rect l="0" t="0" r="0" b="0"/>
              <a:pathLst>
                <a:path w="125335" h="94180">
                  <a:moveTo>
                    <a:pt x="0" y="93069"/>
                  </a:moveTo>
                  <a:lnTo>
                    <a:pt x="125335" y="94180"/>
                  </a:lnTo>
                  <a:lnTo>
                    <a:pt x="83953" y="0"/>
                  </a:lnTo>
                  <a:close/>
                </a:path>
              </a:pathLst>
            </a:custGeom>
            <a:solidFill>
              <a:srgbClr val="8B688E"/>
            </a:solidFill>
            <a:ln w="0">
              <a:noFill/>
              <a:prstDash val="solid"/>
            </a:ln>
          </p:spPr>
          <p:txBody>
            <a:bodyPr/>
            <a:p/>
          </p:txBody>
        </p:sp>
        <p:sp>
          <p:nvSpPr>
            <p:cNvPr id="169" name="colonial-Atlantic-right">
              <a:extLst>
                <a:ext uri="{FF2B5EF4-FFF2-40B4-BE49-F238E27FC236}">
                  <a16:creationId xmlns:a16="http://schemas.microsoft.com/office/drawing/2014/main" id="{65C10E2C-6D34-47D4-92B2-7D8EE90E1546}"/>
                </a:ext>
              </a:extLst>
            </p:cNvPr>
            <p:cNvSpPr>
              <a:spLocks/>
            </p:cNvSpPr>
            <p:nvPr/>
          </p:nvSpPr>
          <p:spPr>
            <a:xfrm>
              <a:off x="10448592" y="2043324"/>
              <a:ext cx="1337008" cy="524473"/>
            </a:xfrm>
            <a:custGeom>
              <a:avLst/>
              <a:gdLst/>
              <a:ahLst/>
              <a:cxnLst/>
              <a:rect l="0" t="0" r="0" b="0"/>
              <a:pathLst>
                <a:path w="1337008" h="524473">
                  <a:moveTo>
                    <a:pt x="1337008" y="1981"/>
                  </a:moveTo>
                  <a:lnTo>
                    <a:pt x="1292481" y="207"/>
                  </a:lnTo>
                  <a:lnTo>
                    <a:pt x="1248720" y="0"/>
                  </a:lnTo>
                  <a:lnTo>
                    <a:pt x="1205703" y="1300"/>
                  </a:lnTo>
                  <a:lnTo>
                    <a:pt x="1163409" y="4047"/>
                  </a:lnTo>
                  <a:lnTo>
                    <a:pt x="1121816" y="8179"/>
                  </a:lnTo>
                  <a:lnTo>
                    <a:pt x="1080902" y="13636"/>
                  </a:lnTo>
                  <a:lnTo>
                    <a:pt x="1040645" y="20357"/>
                  </a:lnTo>
                  <a:lnTo>
                    <a:pt x="1001025" y="28281"/>
                  </a:lnTo>
                  <a:lnTo>
                    <a:pt x="962018" y="37348"/>
                  </a:lnTo>
                  <a:lnTo>
                    <a:pt x="923603" y="47497"/>
                  </a:lnTo>
                  <a:lnTo>
                    <a:pt x="885758" y="58668"/>
                  </a:lnTo>
                  <a:lnTo>
                    <a:pt x="848462" y="70799"/>
                  </a:lnTo>
                  <a:lnTo>
                    <a:pt x="811693" y="83829"/>
                  </a:lnTo>
                  <a:lnTo>
                    <a:pt x="775429" y="97699"/>
                  </a:lnTo>
                  <a:lnTo>
                    <a:pt x="739648" y="112347"/>
                  </a:lnTo>
                  <a:lnTo>
                    <a:pt x="704329" y="127713"/>
                  </a:lnTo>
                  <a:lnTo>
                    <a:pt x="669449" y="143736"/>
                  </a:lnTo>
                  <a:lnTo>
                    <a:pt x="634988" y="160355"/>
                  </a:lnTo>
                  <a:lnTo>
                    <a:pt x="600922" y="177510"/>
                  </a:lnTo>
                  <a:lnTo>
                    <a:pt x="567231" y="195140"/>
                  </a:lnTo>
                  <a:lnTo>
                    <a:pt x="533893" y="213184"/>
                  </a:lnTo>
                  <a:lnTo>
                    <a:pt x="500885" y="231581"/>
                  </a:lnTo>
                  <a:lnTo>
                    <a:pt x="468187" y="250271"/>
                  </a:lnTo>
                  <a:lnTo>
                    <a:pt x="435776" y="269193"/>
                  </a:lnTo>
                  <a:lnTo>
                    <a:pt x="403630" y="288287"/>
                  </a:lnTo>
                  <a:lnTo>
                    <a:pt x="371729" y="307491"/>
                  </a:lnTo>
                  <a:lnTo>
                    <a:pt x="340049" y="326745"/>
                  </a:lnTo>
                  <a:lnTo>
                    <a:pt x="308569" y="345988"/>
                  </a:lnTo>
                  <a:lnTo>
                    <a:pt x="277268" y="365160"/>
                  </a:lnTo>
                  <a:lnTo>
                    <a:pt x="246124" y="384200"/>
                  </a:lnTo>
                  <a:lnTo>
                    <a:pt x="215115" y="403047"/>
                  </a:lnTo>
                  <a:lnTo>
                    <a:pt x="184219" y="421640"/>
                  </a:lnTo>
                  <a:lnTo>
                    <a:pt x="153414" y="439919"/>
                  </a:lnTo>
                  <a:lnTo>
                    <a:pt x="122679" y="457822"/>
                  </a:lnTo>
                  <a:lnTo>
                    <a:pt x="91992" y="475290"/>
                  </a:lnTo>
                  <a:lnTo>
                    <a:pt x="61331" y="492262"/>
                  </a:lnTo>
                  <a:lnTo>
                    <a:pt x="30674" y="508676"/>
                  </a:lnTo>
                  <a:lnTo>
                    <a:pt x="0" y="524473"/>
                  </a:lnTo>
                </a:path>
              </a:pathLst>
            </a:custGeom>
            <a:noFill/>
            <a:ln w="18965">
              <a:solidFill>
                <a:srgbClr val="8B688E"/>
              </a:solidFill>
              <a:prstDash val="solid"/>
            </a:ln>
          </p:spPr>
          <p:txBody>
            <a:bodyPr/>
            <a:p/>
          </p:txBody>
        </p:sp>
        <p:sp>
          <p:nvSpPr>
            <p:cNvPr id="170" name="colonial-Atlantic-right-head">
              <a:extLst>
                <a:ext uri="{FF2B5EF4-FFF2-40B4-BE49-F238E27FC236}">
                  <a16:creationId xmlns:a16="http://schemas.microsoft.com/office/drawing/2014/main" id="{807749AC-9436-4940-8F87-ADF7FBCBB8F4}"/>
                </a:ext>
              </a:extLst>
            </p:cNvPr>
            <p:cNvSpPr>
              <a:spLocks/>
            </p:cNvSpPr>
            <p:nvPr/>
          </p:nvSpPr>
          <p:spPr>
            <a:xfrm>
              <a:off x="10448592" y="2499156"/>
              <a:ext cx="87616" cy="68641"/>
            </a:xfrm>
            <a:custGeom>
              <a:avLst/>
              <a:gdLst/>
              <a:ahLst/>
              <a:cxnLst/>
              <a:rect l="0" t="0" r="0" b="0"/>
              <a:pathLst>
                <a:path w="87616" h="68641">
                  <a:moveTo>
                    <a:pt x="0" y="68641"/>
                  </a:moveTo>
                  <a:lnTo>
                    <a:pt x="87616" y="64019"/>
                  </a:lnTo>
                  <a:lnTo>
                    <a:pt x="54648" y="0"/>
                  </a:lnTo>
                  <a:close/>
                </a:path>
              </a:pathLst>
            </a:custGeom>
            <a:solidFill>
              <a:srgbClr val="8B688E"/>
            </a:solidFill>
            <a:ln w="0">
              <a:noFill/>
              <a:prstDash val="solid"/>
            </a:ln>
          </p:spPr>
          <p:txBody>
            <a:bodyPr/>
            <a:p/>
          </p:txBody>
        </p:sp>
        <p:sp>
          <p:nvSpPr>
            <p:cNvPr id="171" name="atlantic-left-continuation">
              <a:extLst>
                <a:ext uri="{FF2B5EF4-FFF2-40B4-BE49-F238E27FC236}">
                  <a16:creationId xmlns:a16="http://schemas.microsoft.com/office/drawing/2014/main" id="{50953619-06E1-49FA-9D92-E2DA55AC26F1}"/>
                </a:ext>
              </a:extLst>
            </p:cNvPr>
            <p:cNvSpPr>
              <a:spLocks/>
            </p:cNvSpPr>
            <p:nvPr/>
          </p:nvSpPr>
          <p:spPr>
            <a:xfrm>
              <a:off x="203200"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Arial"/>
                  <a:ea typeface="Arial"/>
                  <a:cs typeface="Arial"/>
                </a:defRPr>
              </a:defPPr>
            </a:lstStyle>
            <a:p>
              <a:pPr algn="l">
                <a:lnSpc>
                  <a:spcPct val="100000"/>
                </a:lnSpc>
                <a:buNone/>
                <a:defRPr sz="1333" b="1">
                  <a:solidFill>
                    <a:srgbClr val="8B688E"/>
                  </a:solidFill>
                  <a:latin typeface="Arial"/>
                  <a:ea typeface="Arial"/>
                  <a:cs typeface="Arial"/>
                </a:defRPr>
              </a:pPr>
              <a:r>
                <a:rPr sz="1333" b="1">
                  <a:solidFill>
                    <a:srgbClr val="8B688E"/>
                  </a:solidFill>
                  <a:latin typeface="Arial"/>
                  <a:ea typeface="Arial"/>
                  <a:cs typeface="Arial"/>
                </a:rPr>
                <a:t>A</a:t>
              </a:r>
            </a:p>
          </p:txBody>
        </p:sp>
        <p:sp>
          <p:nvSpPr>
            <p:cNvPr id="172" name="atlantic-right-continuation">
              <a:extLst>
                <a:ext uri="{FF2B5EF4-FFF2-40B4-BE49-F238E27FC236}">
                  <a16:creationId xmlns:a16="http://schemas.microsoft.com/office/drawing/2014/main" id="{DB7ADE27-7830-464E-B18A-DF782017FDD5}"/>
                </a:ext>
              </a:extLst>
            </p:cNvPr>
            <p:cNvSpPr>
              <a:spLocks/>
            </p:cNvSpPr>
            <p:nvPr/>
          </p:nvSpPr>
          <p:spPr>
            <a:xfrm>
              <a:off x="11853333"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Arial"/>
                  <a:ea typeface="Arial"/>
                  <a:cs typeface="Arial"/>
                </a:defRPr>
              </a:defPPr>
            </a:lstStyle>
            <a:p>
              <a:pPr algn="l">
                <a:lnSpc>
                  <a:spcPct val="100000"/>
                </a:lnSpc>
                <a:buNone/>
                <a:defRPr sz="1333" b="1">
                  <a:solidFill>
                    <a:srgbClr val="8B688E"/>
                  </a:solidFill>
                  <a:latin typeface="Arial"/>
                  <a:ea typeface="Arial"/>
                  <a:cs typeface="Arial"/>
                </a:defRPr>
              </a:pPr>
              <a:r>
                <a:rPr sz="1333" b="1">
                  <a:solidFill>
                    <a:srgbClr val="8B688E"/>
                  </a:solidFill>
                  <a:latin typeface="Arial"/>
                  <a:ea typeface="Arial"/>
                  <a:cs typeface="Arial"/>
                </a:rPr>
                <a:t>A</a:t>
              </a:r>
            </a:p>
          </p:txBody>
        </p:sp>
        <p:sp>
          <p:nvSpPr>
            <p:cNvPr id="173" name="point-1-1">
              <a:extLst>
                <a:ext uri="{FF2B5EF4-FFF2-40B4-BE49-F238E27FC236}">
                  <a16:creationId xmlns:a16="http://schemas.microsoft.com/office/drawing/2014/main" id="{2B0F7E5F-86C1-4DA7-9B5A-A7D038BB9F52}"/>
                </a:ext>
              </a:extLst>
            </p:cNvPr>
            <p:cNvSpPr>
              <a:spLocks/>
            </p:cNvSpPr>
            <p:nvPr/>
          </p:nvSpPr>
          <p:spPr>
            <a:xfrm>
              <a:off x="4950404" y="1989062"/>
              <a:ext cx="40640" cy="40640"/>
            </a:xfrm>
            <a:prstGeom prst="ellipse">
              <a:avLst/>
            </a:prstGeom>
            <a:solidFill>
              <a:srgbClr val="293D3B"/>
            </a:solidFill>
            <a:ln w="0">
              <a:solidFill>
                <a:srgbClr val="293D3B"/>
              </a:solidFill>
            </a:ln>
          </p:spPr>
          <p:txBody>
            <a:bodyPr/>
            <a:p/>
          </p:txBody>
        </p:sp>
        <p:sp>
          <p:nvSpPr>
            <p:cNvPr id="174" name="record-leader-1-1">
              <a:extLst>
                <a:ext uri="{FF2B5EF4-FFF2-40B4-BE49-F238E27FC236}">
                  <a16:creationId xmlns:a16="http://schemas.microsoft.com/office/drawing/2014/main" id="{7F9332EC-F24C-4542-9DC3-3DAE549AF956}"/>
                </a:ext>
              </a:extLst>
            </p:cNvPr>
            <p:cNvSpPr>
              <a:spLocks/>
            </p:cNvSpPr>
            <p:nvPr/>
          </p:nvSpPr>
          <p:spPr>
            <a:xfrm>
              <a:off x="4970764" y="1581150"/>
              <a:ext cx="134636" cy="428292"/>
            </a:xfrm>
            <a:custGeom>
              <a:avLst/>
              <a:gdLst/>
              <a:ahLst/>
              <a:cxnLst/>
              <a:rect l="0" t="0" r="0" b="0"/>
              <a:pathLst>
                <a:path w="134636" h="428292">
                  <a:moveTo>
                    <a:pt x="0" y="428292"/>
                  </a:moveTo>
                  <a:lnTo>
                    <a:pt x="134636" y="0"/>
                  </a:lnTo>
                </a:path>
              </a:pathLst>
            </a:custGeom>
            <a:noFill/>
            <a:ln w="10478">
              <a:solidFill>
                <a:srgbClr val="879993"/>
              </a:solidFill>
              <a:prstDash val="solid"/>
            </a:ln>
          </p:spPr>
          <p:txBody>
            <a:bodyPr/>
            <a:p/>
          </p:txBody>
        </p:sp>
        <p:sp>
          <p:nvSpPr>
            <p:cNvPr id="175" name="badge-1">
              <a:extLst>
                <a:ext uri="{FF2B5EF4-FFF2-40B4-BE49-F238E27FC236}">
                  <a16:creationId xmlns:a16="http://schemas.microsoft.com/office/drawing/2014/main" id="{178D3E1A-DA38-401D-8A51-A22221DD7C8D}"/>
                </a:ext>
              </a:extLst>
            </p:cNvPr>
            <p:cNvSpPr>
              <a:spLocks/>
            </p:cNvSpPr>
            <p:nvPr/>
          </p:nvSpPr>
          <p:spPr>
            <a:xfrm>
              <a:off x="5000625" y="1476375"/>
              <a:ext cx="209550" cy="209550"/>
            </a:xfrm>
            <a:prstGeom prst="ellipse">
              <a:avLst/>
            </a:prstGeom>
            <a:solidFill>
              <a:srgbClr val="FFFFFF"/>
            </a:solidFill>
            <a:ln w="10837">
              <a:solidFill>
                <a:srgbClr val="293D3B"/>
              </a:solidFill>
            </a:ln>
          </p:spPr>
          <p:txBody>
            <a:bodyPr/>
            <a:p/>
          </p:txBody>
        </p:sp>
        <p:sp>
          <p:nvSpPr>
            <p:cNvPr id="176" name="record-code-1">
              <a:extLst>
                <a:ext uri="{FF2B5EF4-FFF2-40B4-BE49-F238E27FC236}">
                  <a16:creationId xmlns:a16="http://schemas.microsoft.com/office/drawing/2014/main" id="{73D6D295-D4FF-41CC-B53D-69C0399CCB28}"/>
                </a:ext>
              </a:extLst>
            </p:cNvPr>
            <p:cNvSpPr>
              <a:spLocks/>
            </p:cNvSpPr>
            <p:nvPr/>
          </p:nvSpPr>
          <p:spPr>
            <a:xfrm>
              <a:off x="5000625" y="14820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2</a:t>
              </a:r>
            </a:p>
          </p:txBody>
        </p:sp>
        <p:sp>
          <p:nvSpPr>
            <p:cNvPr id="177" name="point-2-1">
              <a:extLst>
                <a:ext uri="{FF2B5EF4-FFF2-40B4-BE49-F238E27FC236}">
                  <a16:creationId xmlns:a16="http://schemas.microsoft.com/office/drawing/2014/main" id="{43403BBC-E540-4437-99B2-B2D5933205E6}"/>
                </a:ext>
              </a:extLst>
            </p:cNvPr>
            <p:cNvSpPr>
              <a:spLocks/>
            </p:cNvSpPr>
            <p:nvPr/>
          </p:nvSpPr>
          <p:spPr>
            <a:xfrm>
              <a:off x="3695531" y="2531170"/>
              <a:ext cx="40640" cy="40640"/>
            </a:xfrm>
            <a:prstGeom prst="ellipse">
              <a:avLst/>
            </a:prstGeom>
            <a:solidFill>
              <a:srgbClr val="293D3B"/>
            </a:solidFill>
            <a:ln w="0">
              <a:solidFill>
                <a:srgbClr val="293D3B"/>
              </a:solidFill>
            </a:ln>
          </p:spPr>
          <p:txBody>
            <a:bodyPr/>
            <a:p/>
          </p:txBody>
        </p:sp>
        <p:sp>
          <p:nvSpPr>
            <p:cNvPr id="178" name="badge-2">
              <a:extLst>
                <a:ext uri="{FF2B5EF4-FFF2-40B4-BE49-F238E27FC236}">
                  <a16:creationId xmlns:a16="http://schemas.microsoft.com/office/drawing/2014/main" id="{3DC68608-80B5-428A-8395-651AF32AA980}"/>
                </a:ext>
              </a:extLst>
            </p:cNvPr>
            <p:cNvSpPr>
              <a:spLocks/>
            </p:cNvSpPr>
            <p:nvPr/>
          </p:nvSpPr>
          <p:spPr>
            <a:xfrm>
              <a:off x="3590925" y="2543175"/>
              <a:ext cx="209550" cy="209550"/>
            </a:xfrm>
            <a:prstGeom prst="ellipse">
              <a:avLst/>
            </a:prstGeom>
            <a:solidFill>
              <a:srgbClr val="FFFFFF"/>
            </a:solidFill>
            <a:ln w="10837">
              <a:solidFill>
                <a:srgbClr val="293D3B"/>
              </a:solidFill>
            </a:ln>
          </p:spPr>
          <p:txBody>
            <a:bodyPr/>
            <a:p/>
          </p:txBody>
        </p:sp>
        <p:sp>
          <p:nvSpPr>
            <p:cNvPr id="179" name="record-code-2">
              <a:extLst>
                <a:ext uri="{FF2B5EF4-FFF2-40B4-BE49-F238E27FC236}">
                  <a16:creationId xmlns:a16="http://schemas.microsoft.com/office/drawing/2014/main" id="{C882C556-1116-4FBB-817E-F4EB5266CB8D}"/>
                </a:ext>
              </a:extLst>
            </p:cNvPr>
            <p:cNvSpPr>
              <a:spLocks/>
            </p:cNvSpPr>
            <p:nvPr/>
          </p:nvSpPr>
          <p:spPr>
            <a:xfrm>
              <a:off x="3590925" y="25488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5</a:t>
              </a:r>
            </a:p>
          </p:txBody>
        </p:sp>
        <p:sp>
          <p:nvSpPr>
            <p:cNvPr id="180" name="point-3-1">
              <a:extLst>
                <a:ext uri="{FF2B5EF4-FFF2-40B4-BE49-F238E27FC236}">
                  <a16:creationId xmlns:a16="http://schemas.microsoft.com/office/drawing/2014/main" id="{C7B55AF0-BF28-4BC9-AB88-22F2CAFFF283}"/>
                </a:ext>
              </a:extLst>
            </p:cNvPr>
            <p:cNvSpPr>
              <a:spLocks/>
            </p:cNvSpPr>
            <p:nvPr/>
          </p:nvSpPr>
          <p:spPr>
            <a:xfrm>
              <a:off x="5625886" y="2039027"/>
              <a:ext cx="40640" cy="40640"/>
            </a:xfrm>
            <a:prstGeom prst="ellipse">
              <a:avLst/>
            </a:prstGeom>
            <a:solidFill>
              <a:srgbClr val="293D3B"/>
            </a:solidFill>
            <a:ln w="0">
              <a:solidFill>
                <a:srgbClr val="293D3B"/>
              </a:solidFill>
            </a:ln>
          </p:spPr>
          <p:txBody>
            <a:bodyPr/>
            <a:p/>
          </p:txBody>
        </p:sp>
        <p:sp>
          <p:nvSpPr>
            <p:cNvPr id="181" name="record-leader-3-1">
              <a:extLst>
                <a:ext uri="{FF2B5EF4-FFF2-40B4-BE49-F238E27FC236}">
                  <a16:creationId xmlns:a16="http://schemas.microsoft.com/office/drawing/2014/main" id="{1BE5F529-6CFA-4828-8D69-79C49857E87F}"/>
                </a:ext>
              </a:extLst>
            </p:cNvPr>
            <p:cNvSpPr>
              <a:spLocks/>
            </p:cNvSpPr>
            <p:nvPr/>
          </p:nvSpPr>
          <p:spPr>
            <a:xfrm>
              <a:off x="5646182" y="1905000"/>
              <a:ext cx="364093" cy="154353"/>
            </a:xfrm>
            <a:custGeom>
              <a:avLst/>
              <a:gdLst/>
              <a:ahLst/>
              <a:cxnLst/>
              <a:rect l="0" t="0" r="0" b="0"/>
              <a:pathLst>
                <a:path w="364093" h="154353">
                  <a:moveTo>
                    <a:pt x="0" y="154353"/>
                  </a:moveTo>
                  <a:lnTo>
                    <a:pt x="364093" y="0"/>
                  </a:lnTo>
                </a:path>
              </a:pathLst>
            </a:custGeom>
            <a:noFill/>
            <a:ln w="10478">
              <a:solidFill>
                <a:srgbClr val="879993"/>
              </a:solidFill>
              <a:prstDash val="solid"/>
            </a:ln>
          </p:spPr>
          <p:txBody>
            <a:bodyPr/>
            <a:p/>
          </p:txBody>
        </p:sp>
        <p:sp>
          <p:nvSpPr>
            <p:cNvPr id="182" name="badge-3">
              <a:extLst>
                <a:ext uri="{FF2B5EF4-FFF2-40B4-BE49-F238E27FC236}">
                  <a16:creationId xmlns:a16="http://schemas.microsoft.com/office/drawing/2014/main" id="{CB63AC58-AE06-451B-AA66-84D40B9A5D0A}"/>
                </a:ext>
              </a:extLst>
            </p:cNvPr>
            <p:cNvSpPr>
              <a:spLocks/>
            </p:cNvSpPr>
            <p:nvPr/>
          </p:nvSpPr>
          <p:spPr>
            <a:xfrm>
              <a:off x="5905500" y="1800225"/>
              <a:ext cx="209550" cy="209550"/>
            </a:xfrm>
            <a:prstGeom prst="ellipse">
              <a:avLst/>
            </a:prstGeom>
            <a:solidFill>
              <a:srgbClr val="FFFFFF"/>
            </a:solidFill>
            <a:ln w="10837">
              <a:solidFill>
                <a:srgbClr val="293D3B"/>
              </a:solidFill>
            </a:ln>
          </p:spPr>
          <p:txBody>
            <a:bodyPr/>
            <a:p/>
          </p:txBody>
        </p:sp>
        <p:sp>
          <p:nvSpPr>
            <p:cNvPr id="183" name="record-code-3">
              <a:extLst>
                <a:ext uri="{FF2B5EF4-FFF2-40B4-BE49-F238E27FC236}">
                  <a16:creationId xmlns:a16="http://schemas.microsoft.com/office/drawing/2014/main" id="{5CAE228C-0424-4A51-8156-CC0AA08DE8CA}"/>
                </a:ext>
              </a:extLst>
            </p:cNvPr>
            <p:cNvSpPr>
              <a:spLocks/>
            </p:cNvSpPr>
            <p:nvPr/>
          </p:nvSpPr>
          <p:spPr>
            <a:xfrm>
              <a:off x="5905500" y="18059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3</a:t>
              </a:r>
            </a:p>
          </p:txBody>
        </p:sp>
        <p:sp>
          <p:nvSpPr>
            <p:cNvPr id="184" name="point-4-1">
              <a:extLst>
                <a:ext uri="{FF2B5EF4-FFF2-40B4-BE49-F238E27FC236}">
                  <a16:creationId xmlns:a16="http://schemas.microsoft.com/office/drawing/2014/main" id="{39DE4E2A-B6C5-4431-80D5-CD24C0DFE159}"/>
                </a:ext>
              </a:extLst>
            </p:cNvPr>
            <p:cNvSpPr>
              <a:spLocks/>
            </p:cNvSpPr>
            <p:nvPr/>
          </p:nvSpPr>
          <p:spPr>
            <a:xfrm>
              <a:off x="5435600" y="2064500"/>
              <a:ext cx="40640" cy="40640"/>
            </a:xfrm>
            <a:prstGeom prst="ellipse">
              <a:avLst/>
            </a:prstGeom>
            <a:solidFill>
              <a:srgbClr val="293D3B"/>
            </a:solidFill>
            <a:ln w="0">
              <a:solidFill>
                <a:srgbClr val="293D3B"/>
              </a:solidFill>
            </a:ln>
          </p:spPr>
          <p:txBody>
            <a:bodyPr/>
            <a:p/>
          </p:txBody>
        </p:sp>
        <p:sp>
          <p:nvSpPr>
            <p:cNvPr id="185" name="record-leader-4-1">
              <a:extLst>
                <a:ext uri="{FF2B5EF4-FFF2-40B4-BE49-F238E27FC236}">
                  <a16:creationId xmlns:a16="http://schemas.microsoft.com/office/drawing/2014/main" id="{1DD79BC9-90C3-4B0D-B7A2-D81CEADB305C}"/>
                </a:ext>
              </a:extLst>
            </p:cNvPr>
            <p:cNvSpPr>
              <a:spLocks/>
            </p:cNvSpPr>
            <p:nvPr/>
          </p:nvSpPr>
          <p:spPr>
            <a:xfrm>
              <a:off x="5455968" y="2084880"/>
              <a:ext cx="68532" cy="248745"/>
            </a:xfrm>
            <a:custGeom>
              <a:avLst/>
              <a:gdLst/>
              <a:ahLst/>
              <a:cxnLst/>
              <a:rect l="0" t="0" r="0" b="0"/>
              <a:pathLst>
                <a:path w="68532" h="248745">
                  <a:moveTo>
                    <a:pt x="0" y="0"/>
                  </a:moveTo>
                  <a:lnTo>
                    <a:pt x="68532" y="248745"/>
                  </a:lnTo>
                </a:path>
              </a:pathLst>
            </a:custGeom>
            <a:noFill/>
            <a:ln w="10478">
              <a:solidFill>
                <a:srgbClr val="879993"/>
              </a:solidFill>
              <a:prstDash val="solid"/>
            </a:ln>
          </p:spPr>
          <p:txBody>
            <a:bodyPr/>
            <a:p/>
          </p:txBody>
        </p:sp>
        <p:sp>
          <p:nvSpPr>
            <p:cNvPr id="186" name="badge-4">
              <a:extLst>
                <a:ext uri="{FF2B5EF4-FFF2-40B4-BE49-F238E27FC236}">
                  <a16:creationId xmlns:a16="http://schemas.microsoft.com/office/drawing/2014/main" id="{7FFF914A-0E57-446C-A9A3-E9BDCFD61BA3}"/>
                </a:ext>
              </a:extLst>
            </p:cNvPr>
            <p:cNvSpPr>
              <a:spLocks/>
            </p:cNvSpPr>
            <p:nvPr/>
          </p:nvSpPr>
          <p:spPr>
            <a:xfrm>
              <a:off x="5419725" y="2228850"/>
              <a:ext cx="209550" cy="209550"/>
            </a:xfrm>
            <a:prstGeom prst="ellipse">
              <a:avLst/>
            </a:prstGeom>
            <a:solidFill>
              <a:srgbClr val="FFFFFF"/>
            </a:solidFill>
            <a:ln w="10837">
              <a:solidFill>
                <a:srgbClr val="293D3B"/>
              </a:solidFill>
            </a:ln>
          </p:spPr>
          <p:txBody>
            <a:bodyPr/>
            <a:p/>
          </p:txBody>
        </p:sp>
        <p:sp>
          <p:nvSpPr>
            <p:cNvPr id="187" name="record-code-4">
              <a:extLst>
                <a:ext uri="{FF2B5EF4-FFF2-40B4-BE49-F238E27FC236}">
                  <a16:creationId xmlns:a16="http://schemas.microsoft.com/office/drawing/2014/main" id="{0DAD8DA4-2FBC-45BC-A178-5129E18CA918}"/>
                </a:ext>
              </a:extLst>
            </p:cNvPr>
            <p:cNvSpPr>
              <a:spLocks/>
            </p:cNvSpPr>
            <p:nvPr/>
          </p:nvSpPr>
          <p:spPr>
            <a:xfrm>
              <a:off x="5419725" y="2234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4</a:t>
              </a:r>
            </a:p>
          </p:txBody>
        </p:sp>
        <p:sp>
          <p:nvSpPr>
            <p:cNvPr id="188" name="point-5-1">
              <a:extLst>
                <a:ext uri="{FF2B5EF4-FFF2-40B4-BE49-F238E27FC236}">
                  <a16:creationId xmlns:a16="http://schemas.microsoft.com/office/drawing/2014/main" id="{23D16DC0-A847-4B1D-A517-95D15826896C}"/>
                </a:ext>
              </a:extLst>
            </p:cNvPr>
            <p:cNvSpPr>
              <a:spLocks/>
            </p:cNvSpPr>
            <p:nvPr/>
          </p:nvSpPr>
          <p:spPr>
            <a:xfrm>
              <a:off x="3360476" y="1874762"/>
              <a:ext cx="40640" cy="40640"/>
            </a:xfrm>
            <a:prstGeom prst="ellipse">
              <a:avLst/>
            </a:prstGeom>
            <a:solidFill>
              <a:srgbClr val="293D3B"/>
            </a:solidFill>
            <a:ln w="0">
              <a:solidFill>
                <a:srgbClr val="293D3B"/>
              </a:solidFill>
            </a:ln>
          </p:spPr>
          <p:txBody>
            <a:bodyPr/>
            <a:p/>
          </p:txBody>
        </p:sp>
        <p:sp>
          <p:nvSpPr>
            <p:cNvPr id="189" name="record-leader-5-1">
              <a:extLst>
                <a:ext uri="{FF2B5EF4-FFF2-40B4-BE49-F238E27FC236}">
                  <a16:creationId xmlns:a16="http://schemas.microsoft.com/office/drawing/2014/main" id="{3B263091-0253-4CC3-82BC-7824514A265E}"/>
                </a:ext>
              </a:extLst>
            </p:cNvPr>
            <p:cNvSpPr>
              <a:spLocks/>
            </p:cNvSpPr>
            <p:nvPr/>
          </p:nvSpPr>
          <p:spPr>
            <a:xfrm>
              <a:off x="3371850" y="1724025"/>
              <a:ext cx="9001" cy="171117"/>
            </a:xfrm>
            <a:custGeom>
              <a:avLst/>
              <a:gdLst/>
              <a:ahLst/>
              <a:cxnLst/>
              <a:rect l="0" t="0" r="0" b="0"/>
              <a:pathLst>
                <a:path w="9001" h="171117">
                  <a:moveTo>
                    <a:pt x="9001" y="171117"/>
                  </a:moveTo>
                  <a:lnTo>
                    <a:pt x="0" y="0"/>
                  </a:lnTo>
                </a:path>
              </a:pathLst>
            </a:custGeom>
            <a:noFill/>
            <a:ln w="10478">
              <a:solidFill>
                <a:srgbClr val="879993"/>
              </a:solidFill>
              <a:prstDash val="solid"/>
            </a:ln>
          </p:spPr>
          <p:txBody>
            <a:bodyPr/>
            <a:p/>
          </p:txBody>
        </p:sp>
        <p:sp>
          <p:nvSpPr>
            <p:cNvPr id="190" name="badge-5">
              <a:extLst>
                <a:ext uri="{FF2B5EF4-FFF2-40B4-BE49-F238E27FC236}">
                  <a16:creationId xmlns:a16="http://schemas.microsoft.com/office/drawing/2014/main" id="{0CE8E18E-15AD-42A4-8186-649D476762C3}"/>
                </a:ext>
              </a:extLst>
            </p:cNvPr>
            <p:cNvSpPr>
              <a:spLocks/>
            </p:cNvSpPr>
            <p:nvPr/>
          </p:nvSpPr>
          <p:spPr>
            <a:xfrm>
              <a:off x="3267075" y="1619250"/>
              <a:ext cx="209550" cy="209550"/>
            </a:xfrm>
            <a:prstGeom prst="ellipse">
              <a:avLst/>
            </a:prstGeom>
            <a:solidFill>
              <a:srgbClr val="FFFFFF"/>
            </a:solidFill>
            <a:ln w="10837">
              <a:solidFill>
                <a:srgbClr val="293D3B"/>
              </a:solidFill>
            </a:ln>
          </p:spPr>
          <p:txBody>
            <a:bodyPr/>
            <a:p/>
          </p:txBody>
        </p:sp>
        <p:sp>
          <p:nvSpPr>
            <p:cNvPr id="191" name="record-code-5">
              <a:extLst>
                <a:ext uri="{FF2B5EF4-FFF2-40B4-BE49-F238E27FC236}">
                  <a16:creationId xmlns:a16="http://schemas.microsoft.com/office/drawing/2014/main" id="{81C654A8-0F53-4DC3-B9AC-B4438FFCDE19}"/>
                </a:ext>
              </a:extLst>
            </p:cNvPr>
            <p:cNvSpPr>
              <a:spLocks/>
            </p:cNvSpPr>
            <p:nvPr/>
          </p:nvSpPr>
          <p:spPr>
            <a:xfrm>
              <a:off x="3267075" y="16249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6</a:t>
              </a:r>
            </a:p>
          </p:txBody>
        </p:sp>
        <p:sp>
          <p:nvSpPr>
            <p:cNvPr id="192" name="point-6-1">
              <a:extLst>
                <a:ext uri="{FF2B5EF4-FFF2-40B4-BE49-F238E27FC236}">
                  <a16:creationId xmlns:a16="http://schemas.microsoft.com/office/drawing/2014/main" id="{6238FE8E-4137-4EB8-B4E5-012FE5CAF9CD}"/>
                </a:ext>
              </a:extLst>
            </p:cNvPr>
            <p:cNvSpPr>
              <a:spLocks/>
            </p:cNvSpPr>
            <p:nvPr/>
          </p:nvSpPr>
          <p:spPr>
            <a:xfrm>
              <a:off x="2437497" y="2136019"/>
              <a:ext cx="40640" cy="40640"/>
            </a:xfrm>
            <a:prstGeom prst="ellipse">
              <a:avLst/>
            </a:prstGeom>
            <a:solidFill>
              <a:srgbClr val="293D3B"/>
            </a:solidFill>
            <a:ln w="0">
              <a:solidFill>
                <a:srgbClr val="293D3B"/>
              </a:solidFill>
            </a:ln>
          </p:spPr>
          <p:txBody>
            <a:bodyPr/>
            <a:p/>
          </p:txBody>
        </p:sp>
        <p:sp>
          <p:nvSpPr>
            <p:cNvPr id="193" name="record-leader-6-1">
              <a:extLst>
                <a:ext uri="{FF2B5EF4-FFF2-40B4-BE49-F238E27FC236}">
                  <a16:creationId xmlns:a16="http://schemas.microsoft.com/office/drawing/2014/main" id="{465DD02C-176A-49D8-8FFD-19B7A56D981D}"/>
                </a:ext>
              </a:extLst>
            </p:cNvPr>
            <p:cNvSpPr>
              <a:spLocks/>
            </p:cNvSpPr>
            <p:nvPr/>
          </p:nvSpPr>
          <p:spPr>
            <a:xfrm>
              <a:off x="2457879" y="2156317"/>
              <a:ext cx="190071" cy="120158"/>
            </a:xfrm>
            <a:custGeom>
              <a:avLst/>
              <a:gdLst/>
              <a:ahLst/>
              <a:cxnLst/>
              <a:rect l="0" t="0" r="0" b="0"/>
              <a:pathLst>
                <a:path w="190071" h="120158">
                  <a:moveTo>
                    <a:pt x="0" y="0"/>
                  </a:moveTo>
                  <a:lnTo>
                    <a:pt x="190071" y="120158"/>
                  </a:lnTo>
                </a:path>
              </a:pathLst>
            </a:custGeom>
            <a:noFill/>
            <a:ln w="10478">
              <a:solidFill>
                <a:srgbClr val="879993"/>
              </a:solidFill>
              <a:prstDash val="solid"/>
            </a:ln>
          </p:spPr>
          <p:txBody>
            <a:bodyPr/>
            <a:p/>
          </p:txBody>
        </p:sp>
        <p:sp>
          <p:nvSpPr>
            <p:cNvPr id="194" name="badge-6">
              <a:extLst>
                <a:ext uri="{FF2B5EF4-FFF2-40B4-BE49-F238E27FC236}">
                  <a16:creationId xmlns:a16="http://schemas.microsoft.com/office/drawing/2014/main" id="{9E6BA4D7-2F90-4506-ABF2-4E9815F1AE95}"/>
                </a:ext>
              </a:extLst>
            </p:cNvPr>
            <p:cNvSpPr>
              <a:spLocks/>
            </p:cNvSpPr>
            <p:nvPr/>
          </p:nvSpPr>
          <p:spPr>
            <a:xfrm>
              <a:off x="2543175" y="2171700"/>
              <a:ext cx="209550" cy="209550"/>
            </a:xfrm>
            <a:prstGeom prst="ellipse">
              <a:avLst/>
            </a:prstGeom>
            <a:solidFill>
              <a:srgbClr val="FFFFFF"/>
            </a:solidFill>
            <a:ln w="10837">
              <a:solidFill>
                <a:srgbClr val="293D3B"/>
              </a:solidFill>
            </a:ln>
          </p:spPr>
          <p:txBody>
            <a:bodyPr/>
            <a:p/>
          </p:txBody>
        </p:sp>
        <p:sp>
          <p:nvSpPr>
            <p:cNvPr id="195" name="record-code-6">
              <a:extLst>
                <a:ext uri="{FF2B5EF4-FFF2-40B4-BE49-F238E27FC236}">
                  <a16:creationId xmlns:a16="http://schemas.microsoft.com/office/drawing/2014/main" id="{D36C3F7A-5CD0-4D22-A1C5-BCBD413C9F2E}"/>
                </a:ext>
              </a:extLst>
            </p:cNvPr>
            <p:cNvSpPr>
              <a:spLocks/>
            </p:cNvSpPr>
            <p:nvPr/>
          </p:nvSpPr>
          <p:spPr>
            <a:xfrm>
              <a:off x="2543175" y="217741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8</a:t>
              </a:r>
            </a:p>
          </p:txBody>
        </p:sp>
        <p:sp>
          <p:nvSpPr>
            <p:cNvPr id="196" name="point-7-1">
              <a:extLst>
                <a:ext uri="{FF2B5EF4-FFF2-40B4-BE49-F238E27FC236}">
                  <a16:creationId xmlns:a16="http://schemas.microsoft.com/office/drawing/2014/main" id="{8F67B074-4FAC-4044-99E8-ABB4B57903E6}"/>
                </a:ext>
              </a:extLst>
            </p:cNvPr>
            <p:cNvSpPr>
              <a:spLocks/>
            </p:cNvSpPr>
            <p:nvPr/>
          </p:nvSpPr>
          <p:spPr>
            <a:xfrm>
              <a:off x="1676987" y="1694821"/>
              <a:ext cx="40640" cy="40640"/>
            </a:xfrm>
            <a:prstGeom prst="ellipse">
              <a:avLst/>
            </a:prstGeom>
            <a:solidFill>
              <a:srgbClr val="293D3B"/>
            </a:solidFill>
            <a:ln w="0">
              <a:solidFill>
                <a:srgbClr val="293D3B"/>
              </a:solidFill>
            </a:ln>
          </p:spPr>
          <p:txBody>
            <a:bodyPr/>
            <a:p/>
          </p:txBody>
        </p:sp>
        <p:sp>
          <p:nvSpPr>
            <p:cNvPr id="197" name="record-leader-7-1">
              <a:extLst>
                <a:ext uri="{FF2B5EF4-FFF2-40B4-BE49-F238E27FC236}">
                  <a16:creationId xmlns:a16="http://schemas.microsoft.com/office/drawing/2014/main" id="{BF556716-88BB-44E8-BEEB-D26DB5A3BED5}"/>
                </a:ext>
              </a:extLst>
            </p:cNvPr>
            <p:cNvSpPr>
              <a:spLocks/>
            </p:cNvSpPr>
            <p:nvPr/>
          </p:nvSpPr>
          <p:spPr>
            <a:xfrm>
              <a:off x="1085850" y="1715119"/>
              <a:ext cx="611457" cy="18431"/>
            </a:xfrm>
            <a:custGeom>
              <a:avLst/>
              <a:gdLst/>
              <a:ahLst/>
              <a:cxnLst/>
              <a:rect l="0" t="0" r="0" b="0"/>
              <a:pathLst>
                <a:path w="611457" h="18431">
                  <a:moveTo>
                    <a:pt x="611457" y="0"/>
                  </a:moveTo>
                  <a:lnTo>
                    <a:pt x="0" y="18431"/>
                  </a:lnTo>
                </a:path>
              </a:pathLst>
            </a:custGeom>
            <a:noFill/>
            <a:ln w="10478">
              <a:solidFill>
                <a:srgbClr val="879993"/>
              </a:solidFill>
              <a:prstDash val="solid"/>
            </a:ln>
          </p:spPr>
          <p:txBody>
            <a:bodyPr/>
            <a:p/>
          </p:txBody>
        </p:sp>
        <p:sp>
          <p:nvSpPr>
            <p:cNvPr id="198" name="point-7-2">
              <a:extLst>
                <a:ext uri="{FF2B5EF4-FFF2-40B4-BE49-F238E27FC236}">
                  <a16:creationId xmlns:a16="http://schemas.microsoft.com/office/drawing/2014/main" id="{33909BCE-2904-49F2-B5BD-BFA867491F6F}"/>
                </a:ext>
              </a:extLst>
            </p:cNvPr>
            <p:cNvSpPr>
              <a:spLocks/>
            </p:cNvSpPr>
            <p:nvPr/>
          </p:nvSpPr>
          <p:spPr>
            <a:xfrm>
              <a:off x="1716814" y="1772872"/>
              <a:ext cx="40640" cy="40640"/>
            </a:xfrm>
            <a:prstGeom prst="ellipse">
              <a:avLst/>
            </a:prstGeom>
            <a:solidFill>
              <a:srgbClr val="293D3B"/>
            </a:solidFill>
            <a:ln w="0">
              <a:solidFill>
                <a:srgbClr val="293D3B"/>
              </a:solidFill>
            </a:ln>
          </p:spPr>
          <p:txBody>
            <a:bodyPr/>
            <a:p/>
          </p:txBody>
        </p:sp>
        <p:sp>
          <p:nvSpPr>
            <p:cNvPr id="199" name="record-leader-7-2">
              <a:extLst>
                <a:ext uri="{FF2B5EF4-FFF2-40B4-BE49-F238E27FC236}">
                  <a16:creationId xmlns:a16="http://schemas.microsoft.com/office/drawing/2014/main" id="{A43F78C9-1549-4F24-8613-F1F4ED5C2AF5}"/>
                </a:ext>
              </a:extLst>
            </p:cNvPr>
            <p:cNvSpPr>
              <a:spLocks/>
            </p:cNvSpPr>
            <p:nvPr/>
          </p:nvSpPr>
          <p:spPr>
            <a:xfrm>
              <a:off x="1085850" y="1733550"/>
              <a:ext cx="651272" cy="59674"/>
            </a:xfrm>
            <a:custGeom>
              <a:avLst/>
              <a:gdLst/>
              <a:ahLst/>
              <a:cxnLst/>
              <a:rect l="0" t="0" r="0" b="0"/>
              <a:pathLst>
                <a:path w="651272" h="59674">
                  <a:moveTo>
                    <a:pt x="651272" y="59674"/>
                  </a:moveTo>
                  <a:lnTo>
                    <a:pt x="0" y="0"/>
                  </a:lnTo>
                </a:path>
              </a:pathLst>
            </a:custGeom>
            <a:noFill/>
            <a:ln w="10478">
              <a:solidFill>
                <a:srgbClr val="879993"/>
              </a:solidFill>
              <a:prstDash val="solid"/>
            </a:ln>
          </p:spPr>
          <p:txBody>
            <a:bodyPr/>
            <a:p/>
          </p:txBody>
        </p:sp>
        <p:sp>
          <p:nvSpPr>
            <p:cNvPr id="200" name="badge-7">
              <a:extLst>
                <a:ext uri="{FF2B5EF4-FFF2-40B4-BE49-F238E27FC236}">
                  <a16:creationId xmlns:a16="http://schemas.microsoft.com/office/drawing/2014/main" id="{4EB6A832-62EE-43C3-B4CE-2A96FAB745E9}"/>
                </a:ext>
              </a:extLst>
            </p:cNvPr>
            <p:cNvSpPr>
              <a:spLocks/>
            </p:cNvSpPr>
            <p:nvPr/>
          </p:nvSpPr>
          <p:spPr>
            <a:xfrm>
              <a:off x="981075" y="1628775"/>
              <a:ext cx="209550" cy="209550"/>
            </a:xfrm>
            <a:prstGeom prst="ellipse">
              <a:avLst/>
            </a:prstGeom>
            <a:solidFill>
              <a:srgbClr val="FFFFFF"/>
            </a:solidFill>
            <a:ln w="10837">
              <a:solidFill>
                <a:srgbClr val="293D3B"/>
              </a:solidFill>
            </a:ln>
          </p:spPr>
          <p:txBody>
            <a:bodyPr/>
            <a:p/>
          </p:txBody>
        </p:sp>
        <p:sp>
          <p:nvSpPr>
            <p:cNvPr id="201" name="record-code-7">
              <a:extLst>
                <a:ext uri="{FF2B5EF4-FFF2-40B4-BE49-F238E27FC236}">
                  <a16:creationId xmlns:a16="http://schemas.microsoft.com/office/drawing/2014/main" id="{3F4B8674-C98F-4595-8D62-D2E1CAF8B7BA}"/>
                </a:ext>
              </a:extLst>
            </p:cNvPr>
            <p:cNvSpPr>
              <a:spLocks/>
            </p:cNvSpPr>
            <p:nvPr/>
          </p:nvSpPr>
          <p:spPr>
            <a:xfrm>
              <a:off x="981075" y="16344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9</a:t>
              </a:r>
            </a:p>
          </p:txBody>
        </p:sp>
        <p:sp>
          <p:nvSpPr>
            <p:cNvPr id="202" name="point-8-1">
              <a:extLst>
                <a:ext uri="{FF2B5EF4-FFF2-40B4-BE49-F238E27FC236}">
                  <a16:creationId xmlns:a16="http://schemas.microsoft.com/office/drawing/2014/main" id="{7A342B3E-2B4E-49B3-88CB-7082EE277949}"/>
                </a:ext>
              </a:extLst>
            </p:cNvPr>
            <p:cNvSpPr>
              <a:spLocks/>
            </p:cNvSpPr>
            <p:nvPr/>
          </p:nvSpPr>
          <p:spPr>
            <a:xfrm>
              <a:off x="1309692" y="1507696"/>
              <a:ext cx="40640" cy="40640"/>
            </a:xfrm>
            <a:prstGeom prst="ellipse">
              <a:avLst/>
            </a:prstGeom>
            <a:solidFill>
              <a:srgbClr val="293D3B"/>
            </a:solidFill>
            <a:ln w="0">
              <a:solidFill>
                <a:srgbClr val="293D3B"/>
              </a:solidFill>
            </a:ln>
          </p:spPr>
          <p:txBody>
            <a:bodyPr/>
            <a:p/>
          </p:txBody>
        </p:sp>
        <p:sp>
          <p:nvSpPr>
            <p:cNvPr id="203" name="record-leader-8-1">
              <a:extLst>
                <a:ext uri="{FF2B5EF4-FFF2-40B4-BE49-F238E27FC236}">
                  <a16:creationId xmlns:a16="http://schemas.microsoft.com/office/drawing/2014/main" id="{7D250503-857D-4F20-AA72-58B953CC5EA7}"/>
                </a:ext>
              </a:extLst>
            </p:cNvPr>
            <p:cNvSpPr>
              <a:spLocks/>
            </p:cNvSpPr>
            <p:nvPr/>
          </p:nvSpPr>
          <p:spPr>
            <a:xfrm>
              <a:off x="1028700" y="1257300"/>
              <a:ext cx="301323" cy="270748"/>
            </a:xfrm>
            <a:custGeom>
              <a:avLst/>
              <a:gdLst/>
              <a:ahLst/>
              <a:cxnLst/>
              <a:rect l="0" t="0" r="0" b="0"/>
              <a:pathLst>
                <a:path w="301323" h="270748">
                  <a:moveTo>
                    <a:pt x="301323" y="270748"/>
                  </a:moveTo>
                  <a:lnTo>
                    <a:pt x="0" y="0"/>
                  </a:lnTo>
                </a:path>
              </a:pathLst>
            </a:custGeom>
            <a:noFill/>
            <a:ln w="10478">
              <a:solidFill>
                <a:srgbClr val="879993"/>
              </a:solidFill>
              <a:prstDash val="solid"/>
            </a:ln>
          </p:spPr>
          <p:txBody>
            <a:bodyPr/>
            <a:p/>
          </p:txBody>
        </p:sp>
        <p:sp>
          <p:nvSpPr>
            <p:cNvPr id="204" name="badge-8">
              <a:extLst>
                <a:ext uri="{FF2B5EF4-FFF2-40B4-BE49-F238E27FC236}">
                  <a16:creationId xmlns:a16="http://schemas.microsoft.com/office/drawing/2014/main" id="{0FB37C15-80CA-47D7-987F-A753F8FF64E0}"/>
                </a:ext>
              </a:extLst>
            </p:cNvPr>
            <p:cNvSpPr>
              <a:spLocks/>
            </p:cNvSpPr>
            <p:nvPr/>
          </p:nvSpPr>
          <p:spPr>
            <a:xfrm>
              <a:off x="923925" y="1152525"/>
              <a:ext cx="209550" cy="209550"/>
            </a:xfrm>
            <a:prstGeom prst="ellipse">
              <a:avLst/>
            </a:prstGeom>
            <a:solidFill>
              <a:srgbClr val="FFFFFF"/>
            </a:solidFill>
            <a:ln w="10837">
              <a:solidFill>
                <a:srgbClr val="293D3B"/>
              </a:solidFill>
            </a:ln>
          </p:spPr>
          <p:txBody>
            <a:bodyPr/>
            <a:p/>
          </p:txBody>
        </p:sp>
        <p:sp>
          <p:nvSpPr>
            <p:cNvPr id="205" name="record-code-8">
              <a:extLst>
                <a:ext uri="{FF2B5EF4-FFF2-40B4-BE49-F238E27FC236}">
                  <a16:creationId xmlns:a16="http://schemas.microsoft.com/office/drawing/2014/main" id="{89279E45-4ACE-446B-81BA-B810578D6CAF}"/>
                </a:ext>
              </a:extLst>
            </p:cNvPr>
            <p:cNvSpPr>
              <a:spLocks/>
            </p:cNvSpPr>
            <p:nvPr/>
          </p:nvSpPr>
          <p:spPr>
            <a:xfrm>
              <a:off x="923925" y="11582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10</a:t>
              </a:r>
            </a:p>
          </p:txBody>
        </p:sp>
        <p:sp>
          <p:nvSpPr>
            <p:cNvPr id="206" name="point-9-1">
              <a:extLst>
                <a:ext uri="{FF2B5EF4-FFF2-40B4-BE49-F238E27FC236}">
                  <a16:creationId xmlns:a16="http://schemas.microsoft.com/office/drawing/2014/main" id="{F837AD08-D413-42CC-A43D-84742D079D7F}"/>
                </a:ext>
              </a:extLst>
            </p:cNvPr>
            <p:cNvSpPr>
              <a:spLocks/>
            </p:cNvSpPr>
            <p:nvPr/>
          </p:nvSpPr>
          <p:spPr>
            <a:xfrm>
              <a:off x="1964944" y="1202025"/>
              <a:ext cx="40640" cy="40640"/>
            </a:xfrm>
            <a:prstGeom prst="ellipse">
              <a:avLst/>
            </a:prstGeom>
            <a:solidFill>
              <a:srgbClr val="293D3B"/>
            </a:solidFill>
            <a:ln w="0">
              <a:solidFill>
                <a:srgbClr val="293D3B"/>
              </a:solidFill>
            </a:ln>
          </p:spPr>
          <p:txBody>
            <a:bodyPr/>
            <a:p/>
          </p:txBody>
        </p:sp>
        <p:sp>
          <p:nvSpPr>
            <p:cNvPr id="207" name="record-leader-9-1">
              <a:extLst>
                <a:ext uri="{FF2B5EF4-FFF2-40B4-BE49-F238E27FC236}">
                  <a16:creationId xmlns:a16="http://schemas.microsoft.com/office/drawing/2014/main" id="{DD61C3B5-8A4A-4198-A31E-FF7D0588EB3D}"/>
                </a:ext>
              </a:extLst>
            </p:cNvPr>
            <p:cNvSpPr>
              <a:spLocks/>
            </p:cNvSpPr>
            <p:nvPr/>
          </p:nvSpPr>
          <p:spPr>
            <a:xfrm>
              <a:off x="1985248" y="1038225"/>
              <a:ext cx="62627" cy="184166"/>
            </a:xfrm>
            <a:custGeom>
              <a:avLst/>
              <a:gdLst/>
              <a:ahLst/>
              <a:cxnLst/>
              <a:rect l="0" t="0" r="0" b="0"/>
              <a:pathLst>
                <a:path w="62627" h="184166">
                  <a:moveTo>
                    <a:pt x="0" y="184166"/>
                  </a:moveTo>
                  <a:lnTo>
                    <a:pt x="62627" y="0"/>
                  </a:lnTo>
                </a:path>
              </a:pathLst>
            </a:custGeom>
            <a:noFill/>
            <a:ln w="10478">
              <a:solidFill>
                <a:srgbClr val="879993"/>
              </a:solidFill>
              <a:prstDash val="solid"/>
            </a:ln>
          </p:spPr>
          <p:txBody>
            <a:bodyPr/>
            <a:p/>
          </p:txBody>
        </p:sp>
        <p:sp>
          <p:nvSpPr>
            <p:cNvPr id="208" name="badge-9">
              <a:extLst>
                <a:ext uri="{FF2B5EF4-FFF2-40B4-BE49-F238E27FC236}">
                  <a16:creationId xmlns:a16="http://schemas.microsoft.com/office/drawing/2014/main" id="{7F7CD6E1-0E9C-4931-AA80-B68C7319313A}"/>
                </a:ext>
              </a:extLst>
            </p:cNvPr>
            <p:cNvSpPr>
              <a:spLocks/>
            </p:cNvSpPr>
            <p:nvPr/>
          </p:nvSpPr>
          <p:spPr>
            <a:xfrm>
              <a:off x="1943100" y="933450"/>
              <a:ext cx="209550" cy="209550"/>
            </a:xfrm>
            <a:prstGeom prst="ellipse">
              <a:avLst/>
            </a:prstGeom>
            <a:solidFill>
              <a:srgbClr val="FFFFFF"/>
            </a:solidFill>
            <a:ln w="10837">
              <a:solidFill>
                <a:srgbClr val="293D3B"/>
              </a:solidFill>
            </a:ln>
          </p:spPr>
          <p:txBody>
            <a:bodyPr/>
            <a:p/>
          </p:txBody>
        </p:sp>
        <p:sp>
          <p:nvSpPr>
            <p:cNvPr id="209" name="record-code-9">
              <a:extLst>
                <a:ext uri="{FF2B5EF4-FFF2-40B4-BE49-F238E27FC236}">
                  <a16:creationId xmlns:a16="http://schemas.microsoft.com/office/drawing/2014/main" id="{837CA2F5-C8FD-4B21-9AF2-F39150990C52}"/>
                </a:ext>
              </a:extLst>
            </p:cNvPr>
            <p:cNvSpPr>
              <a:spLocks/>
            </p:cNvSpPr>
            <p:nvPr/>
          </p:nvSpPr>
          <p:spPr>
            <a:xfrm>
              <a:off x="1943100" y="9391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11</a:t>
              </a:r>
            </a:p>
          </p:txBody>
        </p:sp>
        <p:sp>
          <p:nvSpPr>
            <p:cNvPr id="210" name="point-10-1">
              <a:extLst>
                <a:ext uri="{FF2B5EF4-FFF2-40B4-BE49-F238E27FC236}">
                  <a16:creationId xmlns:a16="http://schemas.microsoft.com/office/drawing/2014/main" id="{FD5EEACC-515D-47E6-8CF1-6193EF334969}"/>
                </a:ext>
              </a:extLst>
            </p:cNvPr>
            <p:cNvSpPr>
              <a:spLocks/>
            </p:cNvSpPr>
            <p:nvPr/>
          </p:nvSpPr>
          <p:spPr>
            <a:xfrm>
              <a:off x="2582898" y="2694456"/>
              <a:ext cx="40640" cy="40640"/>
            </a:xfrm>
            <a:prstGeom prst="ellipse">
              <a:avLst/>
            </a:prstGeom>
            <a:solidFill>
              <a:srgbClr val="293D3B"/>
            </a:solidFill>
            <a:ln w="0">
              <a:solidFill>
                <a:srgbClr val="293D3B"/>
              </a:solidFill>
            </a:ln>
          </p:spPr>
          <p:txBody>
            <a:bodyPr/>
            <a:p/>
          </p:txBody>
        </p:sp>
        <p:sp>
          <p:nvSpPr>
            <p:cNvPr id="211" name="record-leader-10-1">
              <a:extLst>
                <a:ext uri="{FF2B5EF4-FFF2-40B4-BE49-F238E27FC236}">
                  <a16:creationId xmlns:a16="http://schemas.microsoft.com/office/drawing/2014/main" id="{41A88993-374D-4384-8587-9E2A9FEADB19}"/>
                </a:ext>
              </a:extLst>
            </p:cNvPr>
            <p:cNvSpPr>
              <a:spLocks/>
            </p:cNvSpPr>
            <p:nvPr/>
          </p:nvSpPr>
          <p:spPr>
            <a:xfrm>
              <a:off x="2603230" y="2714768"/>
              <a:ext cx="339995" cy="209407"/>
            </a:xfrm>
            <a:custGeom>
              <a:avLst/>
              <a:gdLst/>
              <a:ahLst/>
              <a:cxnLst/>
              <a:rect l="0" t="0" r="0" b="0"/>
              <a:pathLst>
                <a:path w="339995" h="209407">
                  <a:moveTo>
                    <a:pt x="0" y="0"/>
                  </a:moveTo>
                  <a:lnTo>
                    <a:pt x="339995" y="209407"/>
                  </a:lnTo>
                </a:path>
              </a:pathLst>
            </a:custGeom>
            <a:noFill/>
            <a:ln w="10478">
              <a:solidFill>
                <a:srgbClr val="879993"/>
              </a:solidFill>
              <a:prstDash val="solid"/>
            </a:ln>
          </p:spPr>
          <p:txBody>
            <a:bodyPr/>
            <a:p/>
          </p:txBody>
        </p:sp>
        <p:sp>
          <p:nvSpPr>
            <p:cNvPr id="212" name="badge-10">
              <a:extLst>
                <a:ext uri="{FF2B5EF4-FFF2-40B4-BE49-F238E27FC236}">
                  <a16:creationId xmlns:a16="http://schemas.microsoft.com/office/drawing/2014/main" id="{A4495D98-8C79-4190-A219-0AB55650EEE0}"/>
                </a:ext>
              </a:extLst>
            </p:cNvPr>
            <p:cNvSpPr>
              <a:spLocks/>
            </p:cNvSpPr>
            <p:nvPr/>
          </p:nvSpPr>
          <p:spPr>
            <a:xfrm>
              <a:off x="2838450" y="2819400"/>
              <a:ext cx="209550" cy="209550"/>
            </a:xfrm>
            <a:prstGeom prst="ellipse">
              <a:avLst/>
            </a:prstGeom>
            <a:solidFill>
              <a:srgbClr val="FFFFFF"/>
            </a:solidFill>
            <a:ln w="10837">
              <a:solidFill>
                <a:srgbClr val="293D3B"/>
              </a:solidFill>
            </a:ln>
          </p:spPr>
          <p:txBody>
            <a:bodyPr/>
            <a:p/>
          </p:txBody>
        </p:sp>
        <p:sp>
          <p:nvSpPr>
            <p:cNvPr id="213" name="record-code-10">
              <a:extLst>
                <a:ext uri="{FF2B5EF4-FFF2-40B4-BE49-F238E27FC236}">
                  <a16:creationId xmlns:a16="http://schemas.microsoft.com/office/drawing/2014/main" id="{EF6C1481-4B07-4950-9D06-5A1063BBB23B}"/>
                </a:ext>
              </a:extLst>
            </p:cNvPr>
            <p:cNvSpPr>
              <a:spLocks/>
            </p:cNvSpPr>
            <p:nvPr/>
          </p:nvSpPr>
          <p:spPr>
            <a:xfrm>
              <a:off x="2838450" y="282511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12</a:t>
              </a:r>
            </a:p>
          </p:txBody>
        </p:sp>
        <p:sp>
          <p:nvSpPr>
            <p:cNvPr id="214" name="point-11-1">
              <a:extLst>
                <a:ext uri="{FF2B5EF4-FFF2-40B4-BE49-F238E27FC236}">
                  <a16:creationId xmlns:a16="http://schemas.microsoft.com/office/drawing/2014/main" id="{B80747D9-12E7-454C-814B-F82BAF7CBA0E}"/>
                </a:ext>
              </a:extLst>
            </p:cNvPr>
            <p:cNvSpPr>
              <a:spLocks/>
            </p:cNvSpPr>
            <p:nvPr/>
          </p:nvSpPr>
          <p:spPr>
            <a:xfrm>
              <a:off x="1190842" y="2714377"/>
              <a:ext cx="40640" cy="40640"/>
            </a:xfrm>
            <a:prstGeom prst="ellipse">
              <a:avLst/>
            </a:prstGeom>
            <a:solidFill>
              <a:srgbClr val="293D3B"/>
            </a:solidFill>
            <a:ln w="0">
              <a:solidFill>
                <a:srgbClr val="293D3B"/>
              </a:solidFill>
            </a:ln>
          </p:spPr>
          <p:txBody>
            <a:bodyPr/>
            <a:p/>
          </p:txBody>
        </p:sp>
        <p:sp>
          <p:nvSpPr>
            <p:cNvPr id="215" name="record-leader-11-1">
              <a:extLst>
                <a:ext uri="{FF2B5EF4-FFF2-40B4-BE49-F238E27FC236}">
                  <a16:creationId xmlns:a16="http://schemas.microsoft.com/office/drawing/2014/main" id="{EF359562-0CBE-40D6-BC40-75E71B658DE1}"/>
                </a:ext>
              </a:extLst>
            </p:cNvPr>
            <p:cNvSpPr>
              <a:spLocks/>
            </p:cNvSpPr>
            <p:nvPr/>
          </p:nvSpPr>
          <p:spPr>
            <a:xfrm>
              <a:off x="695325" y="2734675"/>
              <a:ext cx="515826" cy="122825"/>
            </a:xfrm>
            <a:custGeom>
              <a:avLst/>
              <a:gdLst/>
              <a:ahLst/>
              <a:cxnLst/>
              <a:rect l="0" t="0" r="0" b="0"/>
              <a:pathLst>
                <a:path w="515826" h="122825">
                  <a:moveTo>
                    <a:pt x="515826" y="0"/>
                  </a:moveTo>
                  <a:lnTo>
                    <a:pt x="0" y="122825"/>
                  </a:lnTo>
                </a:path>
              </a:pathLst>
            </a:custGeom>
            <a:noFill/>
            <a:ln w="10478">
              <a:solidFill>
                <a:srgbClr val="879993"/>
              </a:solidFill>
              <a:prstDash val="solid"/>
            </a:ln>
          </p:spPr>
          <p:txBody>
            <a:bodyPr/>
            <a:p/>
          </p:txBody>
        </p:sp>
        <p:sp>
          <p:nvSpPr>
            <p:cNvPr id="216" name="badge-11">
              <a:extLst>
                <a:ext uri="{FF2B5EF4-FFF2-40B4-BE49-F238E27FC236}">
                  <a16:creationId xmlns:a16="http://schemas.microsoft.com/office/drawing/2014/main" id="{C7A8FA0D-95F4-4531-92ED-757E99752B71}"/>
                </a:ext>
              </a:extLst>
            </p:cNvPr>
            <p:cNvSpPr>
              <a:spLocks/>
            </p:cNvSpPr>
            <p:nvPr/>
          </p:nvSpPr>
          <p:spPr>
            <a:xfrm>
              <a:off x="590550" y="2752725"/>
              <a:ext cx="209550" cy="209550"/>
            </a:xfrm>
            <a:prstGeom prst="ellipse">
              <a:avLst/>
            </a:prstGeom>
            <a:solidFill>
              <a:srgbClr val="FFFFFF"/>
            </a:solidFill>
            <a:ln w="10837">
              <a:solidFill>
                <a:srgbClr val="293D3B"/>
              </a:solidFill>
            </a:ln>
          </p:spPr>
          <p:txBody>
            <a:bodyPr/>
            <a:p/>
          </p:txBody>
        </p:sp>
        <p:sp>
          <p:nvSpPr>
            <p:cNvPr id="217" name="record-code-11">
              <a:extLst>
                <a:ext uri="{FF2B5EF4-FFF2-40B4-BE49-F238E27FC236}">
                  <a16:creationId xmlns:a16="http://schemas.microsoft.com/office/drawing/2014/main" id="{476EEE11-2097-457B-A8BD-0366054CD7AF}"/>
                </a:ext>
              </a:extLst>
            </p:cNvPr>
            <p:cNvSpPr>
              <a:spLocks/>
            </p:cNvSpPr>
            <p:nvPr/>
          </p:nvSpPr>
          <p:spPr>
            <a:xfrm>
              <a:off x="590550" y="27584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14</a:t>
              </a:r>
            </a:p>
          </p:txBody>
        </p:sp>
        <p:sp>
          <p:nvSpPr>
            <p:cNvPr id="218" name="point-12a-1">
              <a:extLst>
                <a:ext uri="{FF2B5EF4-FFF2-40B4-BE49-F238E27FC236}">
                  <a16:creationId xmlns:a16="http://schemas.microsoft.com/office/drawing/2014/main" id="{95AF4CB6-1183-4296-8A68-493E1217B797}"/>
                </a:ext>
              </a:extLst>
            </p:cNvPr>
            <p:cNvSpPr>
              <a:spLocks/>
            </p:cNvSpPr>
            <p:nvPr/>
          </p:nvSpPr>
          <p:spPr>
            <a:xfrm>
              <a:off x="2576260" y="3374051"/>
              <a:ext cx="40640" cy="40640"/>
            </a:xfrm>
            <a:prstGeom prst="ellipse">
              <a:avLst/>
            </a:prstGeom>
            <a:solidFill>
              <a:srgbClr val="293D3B"/>
            </a:solidFill>
            <a:ln w="0">
              <a:solidFill>
                <a:srgbClr val="293D3B"/>
              </a:solidFill>
            </a:ln>
          </p:spPr>
          <p:txBody>
            <a:bodyPr/>
            <a:p/>
          </p:txBody>
        </p:sp>
        <p:sp>
          <p:nvSpPr>
            <p:cNvPr id="219" name="record-leader-12a-1">
              <a:extLst>
                <a:ext uri="{FF2B5EF4-FFF2-40B4-BE49-F238E27FC236}">
                  <a16:creationId xmlns:a16="http://schemas.microsoft.com/office/drawing/2014/main" id="{CD895C4D-F68E-46F7-9199-A25AA72FCEAB}"/>
                </a:ext>
              </a:extLst>
            </p:cNvPr>
            <p:cNvSpPr>
              <a:spLocks/>
            </p:cNvSpPr>
            <p:nvPr/>
          </p:nvSpPr>
          <p:spPr>
            <a:xfrm>
              <a:off x="2009775" y="3394377"/>
              <a:ext cx="586788" cy="34623"/>
            </a:xfrm>
            <a:custGeom>
              <a:avLst/>
              <a:gdLst/>
              <a:ahLst/>
              <a:cxnLst/>
              <a:rect l="0" t="0" r="0" b="0"/>
              <a:pathLst>
                <a:path w="586788" h="34623">
                  <a:moveTo>
                    <a:pt x="586788" y="0"/>
                  </a:moveTo>
                  <a:lnTo>
                    <a:pt x="0" y="34623"/>
                  </a:lnTo>
                </a:path>
              </a:pathLst>
            </a:custGeom>
            <a:noFill/>
            <a:ln w="10478">
              <a:solidFill>
                <a:srgbClr val="879993"/>
              </a:solidFill>
              <a:prstDash val="solid"/>
            </a:ln>
          </p:spPr>
          <p:txBody>
            <a:bodyPr/>
            <a:p/>
          </p:txBody>
        </p:sp>
        <p:sp>
          <p:nvSpPr>
            <p:cNvPr id="220" name="badge-12a">
              <a:extLst>
                <a:ext uri="{FF2B5EF4-FFF2-40B4-BE49-F238E27FC236}">
                  <a16:creationId xmlns:a16="http://schemas.microsoft.com/office/drawing/2014/main" id="{B635E0CB-94C0-418E-AFFE-94D2A95D265E}"/>
                </a:ext>
              </a:extLst>
            </p:cNvPr>
            <p:cNvSpPr>
              <a:spLocks/>
            </p:cNvSpPr>
            <p:nvPr/>
          </p:nvSpPr>
          <p:spPr>
            <a:xfrm>
              <a:off x="1881188" y="3300413"/>
              <a:ext cx="257175" cy="257175"/>
            </a:xfrm>
            <a:prstGeom prst="ellipse">
              <a:avLst/>
            </a:prstGeom>
            <a:solidFill>
              <a:srgbClr val="FFFFFF"/>
            </a:solidFill>
            <a:ln w="10837">
              <a:solidFill>
                <a:srgbClr val="293D3B"/>
              </a:solidFill>
            </a:ln>
          </p:spPr>
          <p:txBody>
            <a:bodyPr/>
            <a:p/>
          </p:txBody>
        </p:sp>
        <p:sp>
          <p:nvSpPr>
            <p:cNvPr id="221" name="record-code-12a">
              <a:extLst>
                <a:ext uri="{FF2B5EF4-FFF2-40B4-BE49-F238E27FC236}">
                  <a16:creationId xmlns:a16="http://schemas.microsoft.com/office/drawing/2014/main" id="{05E839EC-FCEF-4D19-84EC-34A07F12DA3F}"/>
                </a:ext>
              </a:extLst>
            </p:cNvPr>
            <p:cNvSpPr>
              <a:spLocks/>
            </p:cNvSpPr>
            <p:nvPr/>
          </p:nvSpPr>
          <p:spPr>
            <a:xfrm>
              <a:off x="1881188"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15a</a:t>
              </a:r>
            </a:p>
          </p:txBody>
        </p:sp>
        <p:sp>
          <p:nvSpPr>
            <p:cNvPr id="222" name="point-12b-1">
              <a:extLst>
                <a:ext uri="{FF2B5EF4-FFF2-40B4-BE49-F238E27FC236}">
                  <a16:creationId xmlns:a16="http://schemas.microsoft.com/office/drawing/2014/main" id="{2F939AAC-F69B-43B6-B189-71D1C41A6A9F}"/>
                </a:ext>
              </a:extLst>
            </p:cNvPr>
            <p:cNvSpPr>
              <a:spLocks/>
            </p:cNvSpPr>
            <p:nvPr/>
          </p:nvSpPr>
          <p:spPr>
            <a:xfrm>
              <a:off x="2843671" y="3641513"/>
              <a:ext cx="40640" cy="40640"/>
            </a:xfrm>
            <a:prstGeom prst="ellipse">
              <a:avLst/>
            </a:prstGeom>
            <a:solidFill>
              <a:srgbClr val="293D3B"/>
            </a:solidFill>
            <a:ln w="0">
              <a:solidFill>
                <a:srgbClr val="293D3B"/>
              </a:solidFill>
            </a:ln>
          </p:spPr>
          <p:txBody>
            <a:bodyPr/>
            <a:p/>
          </p:txBody>
        </p:sp>
        <p:sp>
          <p:nvSpPr>
            <p:cNvPr id="223" name="record-leader-12b-1">
              <a:extLst>
                <a:ext uri="{FF2B5EF4-FFF2-40B4-BE49-F238E27FC236}">
                  <a16:creationId xmlns:a16="http://schemas.microsoft.com/office/drawing/2014/main" id="{C01F5F11-BB88-4A57-B037-75AAFFBB8CB1}"/>
                </a:ext>
              </a:extLst>
            </p:cNvPr>
            <p:cNvSpPr>
              <a:spLocks/>
            </p:cNvSpPr>
            <p:nvPr/>
          </p:nvSpPr>
          <p:spPr>
            <a:xfrm>
              <a:off x="2864025" y="3661839"/>
              <a:ext cx="717375" cy="367236"/>
            </a:xfrm>
            <a:custGeom>
              <a:avLst/>
              <a:gdLst/>
              <a:ahLst/>
              <a:cxnLst/>
              <a:rect l="0" t="0" r="0" b="0"/>
              <a:pathLst>
                <a:path w="717375" h="367236">
                  <a:moveTo>
                    <a:pt x="0" y="0"/>
                  </a:moveTo>
                  <a:lnTo>
                    <a:pt x="717375" y="367236"/>
                  </a:lnTo>
                </a:path>
              </a:pathLst>
            </a:custGeom>
            <a:noFill/>
            <a:ln w="10478">
              <a:solidFill>
                <a:srgbClr val="879993"/>
              </a:solidFill>
              <a:prstDash val="solid"/>
            </a:ln>
          </p:spPr>
          <p:txBody>
            <a:bodyPr/>
            <a:p/>
          </p:txBody>
        </p:sp>
        <p:sp>
          <p:nvSpPr>
            <p:cNvPr id="224" name="badge-12b">
              <a:extLst>
                <a:ext uri="{FF2B5EF4-FFF2-40B4-BE49-F238E27FC236}">
                  <a16:creationId xmlns:a16="http://schemas.microsoft.com/office/drawing/2014/main" id="{1EC0CA52-ED92-4DE8-9929-800718E0AC9A}"/>
                </a:ext>
              </a:extLst>
            </p:cNvPr>
            <p:cNvSpPr>
              <a:spLocks/>
            </p:cNvSpPr>
            <p:nvPr/>
          </p:nvSpPr>
          <p:spPr>
            <a:xfrm>
              <a:off x="3452813" y="3900488"/>
              <a:ext cx="257175" cy="257175"/>
            </a:xfrm>
            <a:prstGeom prst="ellipse">
              <a:avLst/>
            </a:prstGeom>
            <a:solidFill>
              <a:srgbClr val="FFFFFF"/>
            </a:solidFill>
            <a:ln w="10837">
              <a:solidFill>
                <a:srgbClr val="293D3B"/>
              </a:solidFill>
            </a:ln>
          </p:spPr>
          <p:txBody>
            <a:bodyPr/>
            <a:p/>
          </p:txBody>
        </p:sp>
        <p:sp>
          <p:nvSpPr>
            <p:cNvPr id="225" name="record-code-12b">
              <a:extLst>
                <a:ext uri="{FF2B5EF4-FFF2-40B4-BE49-F238E27FC236}">
                  <a16:creationId xmlns:a16="http://schemas.microsoft.com/office/drawing/2014/main" id="{280933B5-3A1B-4E3F-A122-000BED3BF525}"/>
                </a:ext>
              </a:extLst>
            </p:cNvPr>
            <p:cNvSpPr>
              <a:spLocks/>
            </p:cNvSpPr>
            <p:nvPr/>
          </p:nvSpPr>
          <p:spPr>
            <a:xfrm>
              <a:off x="3452813" y="3906203"/>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15b</a:t>
              </a:r>
            </a:p>
          </p:txBody>
        </p:sp>
        <p:sp>
          <p:nvSpPr>
            <p:cNvPr id="226" name="point-13-1">
              <a:extLst>
                <a:ext uri="{FF2B5EF4-FFF2-40B4-BE49-F238E27FC236}">
                  <a16:creationId xmlns:a16="http://schemas.microsoft.com/office/drawing/2014/main" id="{04EAC77E-CC13-45FC-A9A0-4A884A2D88CF}"/>
                </a:ext>
              </a:extLst>
            </p:cNvPr>
            <p:cNvSpPr>
              <a:spLocks/>
            </p:cNvSpPr>
            <p:nvPr/>
          </p:nvSpPr>
          <p:spPr>
            <a:xfrm>
              <a:off x="6580790" y="3519049"/>
              <a:ext cx="40640" cy="40640"/>
            </a:xfrm>
            <a:prstGeom prst="ellipse">
              <a:avLst/>
            </a:prstGeom>
            <a:solidFill>
              <a:srgbClr val="293D3B"/>
            </a:solidFill>
            <a:ln w="0">
              <a:solidFill>
                <a:srgbClr val="293D3B"/>
              </a:solidFill>
            </a:ln>
          </p:spPr>
          <p:txBody>
            <a:bodyPr/>
            <a:p/>
          </p:txBody>
        </p:sp>
        <p:sp>
          <p:nvSpPr>
            <p:cNvPr id="227" name="record-leader-13-1">
              <a:extLst>
                <a:ext uri="{FF2B5EF4-FFF2-40B4-BE49-F238E27FC236}">
                  <a16:creationId xmlns:a16="http://schemas.microsoft.com/office/drawing/2014/main" id="{C3F33A08-EF48-4106-821F-EF9C758BFDBB}"/>
                </a:ext>
              </a:extLst>
            </p:cNvPr>
            <p:cNvSpPr>
              <a:spLocks/>
            </p:cNvSpPr>
            <p:nvPr/>
          </p:nvSpPr>
          <p:spPr>
            <a:xfrm>
              <a:off x="6457950" y="3429000"/>
              <a:ext cx="143208" cy="110347"/>
            </a:xfrm>
            <a:custGeom>
              <a:avLst/>
              <a:gdLst/>
              <a:ahLst/>
              <a:cxnLst/>
              <a:rect l="0" t="0" r="0" b="0"/>
              <a:pathLst>
                <a:path w="143208" h="110347">
                  <a:moveTo>
                    <a:pt x="143208" y="110347"/>
                  </a:moveTo>
                  <a:lnTo>
                    <a:pt x="0" y="0"/>
                  </a:lnTo>
                </a:path>
              </a:pathLst>
            </a:custGeom>
            <a:noFill/>
            <a:ln w="10478">
              <a:solidFill>
                <a:srgbClr val="879993"/>
              </a:solidFill>
              <a:prstDash val="solid"/>
            </a:ln>
          </p:spPr>
          <p:txBody>
            <a:bodyPr/>
            <a:p/>
          </p:txBody>
        </p:sp>
        <p:sp>
          <p:nvSpPr>
            <p:cNvPr id="228" name="badge-13">
              <a:extLst>
                <a:ext uri="{FF2B5EF4-FFF2-40B4-BE49-F238E27FC236}">
                  <a16:creationId xmlns:a16="http://schemas.microsoft.com/office/drawing/2014/main" id="{1095A747-98DE-411C-9C71-075FECEAD947}"/>
                </a:ext>
              </a:extLst>
            </p:cNvPr>
            <p:cNvSpPr>
              <a:spLocks/>
            </p:cNvSpPr>
            <p:nvPr/>
          </p:nvSpPr>
          <p:spPr>
            <a:xfrm>
              <a:off x="6329363" y="3300413"/>
              <a:ext cx="257175" cy="257175"/>
            </a:xfrm>
            <a:prstGeom prst="ellipse">
              <a:avLst/>
            </a:prstGeom>
            <a:solidFill>
              <a:srgbClr val="FFFFFF"/>
            </a:solidFill>
            <a:ln w="10837">
              <a:solidFill>
                <a:srgbClr val="293D3B"/>
              </a:solidFill>
            </a:ln>
          </p:spPr>
          <p:txBody>
            <a:bodyPr/>
            <a:p/>
          </p:txBody>
        </p:sp>
        <p:sp>
          <p:nvSpPr>
            <p:cNvPr id="229" name="record-code-13">
              <a:extLst>
                <a:ext uri="{FF2B5EF4-FFF2-40B4-BE49-F238E27FC236}">
                  <a16:creationId xmlns:a16="http://schemas.microsoft.com/office/drawing/2014/main" id="{CB40406E-1F83-47A9-820E-A960B89FDAB8}"/>
                </a:ext>
              </a:extLst>
            </p:cNvPr>
            <p:cNvSpPr>
              <a:spLocks/>
            </p:cNvSpPr>
            <p:nvPr/>
          </p:nvSpPr>
          <p:spPr>
            <a:xfrm>
              <a:off x="6329363"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16a</a:t>
              </a:r>
            </a:p>
          </p:txBody>
        </p:sp>
        <p:sp>
          <p:nvSpPr>
            <p:cNvPr id="230" name="point-13-1">
              <a:extLst>
                <a:ext uri="{FF2B5EF4-FFF2-40B4-BE49-F238E27FC236}">
                  <a16:creationId xmlns:a16="http://schemas.microsoft.com/office/drawing/2014/main" id="{52A1CA3D-DF30-432A-8CB8-99AEF01E6F34}"/>
                </a:ext>
              </a:extLst>
            </p:cNvPr>
            <p:cNvSpPr>
              <a:spLocks/>
            </p:cNvSpPr>
            <p:nvPr/>
          </p:nvSpPr>
          <p:spPr>
            <a:xfrm>
              <a:off x="7193054" y="3814596"/>
              <a:ext cx="40640" cy="40640"/>
            </a:xfrm>
            <a:prstGeom prst="ellipse">
              <a:avLst/>
            </a:prstGeom>
            <a:solidFill>
              <a:srgbClr val="293D3B"/>
            </a:solidFill>
            <a:ln w="0">
              <a:solidFill>
                <a:srgbClr val="293D3B"/>
              </a:solidFill>
            </a:ln>
          </p:spPr>
          <p:txBody>
            <a:bodyPr/>
            <a:p/>
          </p:txBody>
        </p:sp>
        <p:sp>
          <p:nvSpPr>
            <p:cNvPr id="231" name="record-leader-13-1">
              <a:extLst>
                <a:ext uri="{FF2B5EF4-FFF2-40B4-BE49-F238E27FC236}">
                  <a16:creationId xmlns:a16="http://schemas.microsoft.com/office/drawing/2014/main" id="{A2C8AEF9-6AC1-4BE2-A847-D8935C1997E9}"/>
                </a:ext>
              </a:extLst>
            </p:cNvPr>
            <p:cNvSpPr>
              <a:spLocks/>
            </p:cNvSpPr>
            <p:nvPr/>
          </p:nvSpPr>
          <p:spPr>
            <a:xfrm>
              <a:off x="7213425" y="3834908"/>
              <a:ext cx="235125" cy="451342"/>
            </a:xfrm>
            <a:custGeom>
              <a:avLst/>
              <a:gdLst/>
              <a:ahLst/>
              <a:cxnLst/>
              <a:rect l="0" t="0" r="0" b="0"/>
              <a:pathLst>
                <a:path w="235125" h="451342">
                  <a:moveTo>
                    <a:pt x="0" y="0"/>
                  </a:moveTo>
                  <a:lnTo>
                    <a:pt x="235125" y="451342"/>
                  </a:lnTo>
                </a:path>
              </a:pathLst>
            </a:custGeom>
            <a:noFill/>
            <a:ln w="10478">
              <a:solidFill>
                <a:srgbClr val="879993"/>
              </a:solidFill>
              <a:prstDash val="solid"/>
            </a:ln>
          </p:spPr>
          <p:txBody>
            <a:bodyPr/>
            <a:p/>
          </p:txBody>
        </p:sp>
        <p:sp>
          <p:nvSpPr>
            <p:cNvPr id="232" name="badge-13">
              <a:extLst>
                <a:ext uri="{FF2B5EF4-FFF2-40B4-BE49-F238E27FC236}">
                  <a16:creationId xmlns:a16="http://schemas.microsoft.com/office/drawing/2014/main" id="{44F5FFAD-56F2-47CC-9A24-6F0EF194E468}"/>
                </a:ext>
              </a:extLst>
            </p:cNvPr>
            <p:cNvSpPr>
              <a:spLocks/>
            </p:cNvSpPr>
            <p:nvPr/>
          </p:nvSpPr>
          <p:spPr>
            <a:xfrm>
              <a:off x="7319963" y="4157663"/>
              <a:ext cx="257175" cy="257175"/>
            </a:xfrm>
            <a:prstGeom prst="ellipse">
              <a:avLst/>
            </a:prstGeom>
            <a:solidFill>
              <a:srgbClr val="FFFFFF"/>
            </a:solidFill>
            <a:ln w="10837">
              <a:solidFill>
                <a:srgbClr val="293D3B"/>
              </a:solidFill>
            </a:ln>
          </p:spPr>
          <p:txBody>
            <a:bodyPr/>
            <a:p/>
          </p:txBody>
        </p:sp>
        <p:sp>
          <p:nvSpPr>
            <p:cNvPr id="233" name="record-code-13">
              <a:extLst>
                <a:ext uri="{FF2B5EF4-FFF2-40B4-BE49-F238E27FC236}">
                  <a16:creationId xmlns:a16="http://schemas.microsoft.com/office/drawing/2014/main" id="{0DEB9BD3-AEEE-491C-A7AE-6D4DCD920CEF}"/>
                </a:ext>
              </a:extLst>
            </p:cNvPr>
            <p:cNvSpPr>
              <a:spLocks/>
            </p:cNvSpPr>
            <p:nvPr/>
          </p:nvSpPr>
          <p:spPr>
            <a:xfrm>
              <a:off x="7319963" y="4163378"/>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16b</a:t>
              </a:r>
            </a:p>
          </p:txBody>
        </p:sp>
        <p:sp>
          <p:nvSpPr>
            <p:cNvPr id="234" name="point-14-1">
              <a:extLst>
                <a:ext uri="{FF2B5EF4-FFF2-40B4-BE49-F238E27FC236}">
                  <a16:creationId xmlns:a16="http://schemas.microsoft.com/office/drawing/2014/main" id="{48C23B72-FC45-4F5B-A84F-7BA063613C74}"/>
                </a:ext>
              </a:extLst>
            </p:cNvPr>
            <p:cNvSpPr>
              <a:spLocks/>
            </p:cNvSpPr>
            <p:nvPr/>
          </p:nvSpPr>
          <p:spPr>
            <a:xfrm>
              <a:off x="10395035" y="4376299"/>
              <a:ext cx="40640" cy="40640"/>
            </a:xfrm>
            <a:prstGeom prst="ellipse">
              <a:avLst/>
            </a:prstGeom>
            <a:solidFill>
              <a:srgbClr val="687573"/>
            </a:solidFill>
            <a:ln w="0">
              <a:solidFill>
                <a:srgbClr val="687573"/>
              </a:solidFill>
            </a:ln>
          </p:spPr>
          <p:txBody>
            <a:bodyPr/>
            <a:p/>
          </p:txBody>
        </p:sp>
        <p:sp>
          <p:nvSpPr>
            <p:cNvPr id="235" name="record-leader-14-1">
              <a:extLst>
                <a:ext uri="{FF2B5EF4-FFF2-40B4-BE49-F238E27FC236}">
                  <a16:creationId xmlns:a16="http://schemas.microsoft.com/office/drawing/2014/main" id="{EFD27732-8124-4D93-AAFC-E771D0F17D66}"/>
                </a:ext>
              </a:extLst>
            </p:cNvPr>
            <p:cNvSpPr>
              <a:spLocks/>
            </p:cNvSpPr>
            <p:nvPr/>
          </p:nvSpPr>
          <p:spPr>
            <a:xfrm>
              <a:off x="10415349" y="4396597"/>
              <a:ext cx="424101" cy="404003"/>
            </a:xfrm>
            <a:custGeom>
              <a:avLst/>
              <a:gdLst/>
              <a:ahLst/>
              <a:cxnLst/>
              <a:rect l="0" t="0" r="0" b="0"/>
              <a:pathLst>
                <a:path w="424101" h="404003">
                  <a:moveTo>
                    <a:pt x="0" y="0"/>
                  </a:moveTo>
                  <a:lnTo>
                    <a:pt x="424101" y="404003"/>
                  </a:lnTo>
                </a:path>
              </a:pathLst>
            </a:custGeom>
            <a:noFill/>
            <a:ln w="10478">
              <a:solidFill>
                <a:srgbClr val="879993"/>
              </a:solidFill>
              <a:prstDash val="solid"/>
            </a:ln>
          </p:spPr>
          <p:txBody>
            <a:bodyPr/>
            <a:p/>
          </p:txBody>
        </p:sp>
        <p:sp>
          <p:nvSpPr>
            <p:cNvPr id="236" name="badge-14">
              <a:extLst>
                <a:ext uri="{FF2B5EF4-FFF2-40B4-BE49-F238E27FC236}">
                  <a16:creationId xmlns:a16="http://schemas.microsoft.com/office/drawing/2014/main" id="{B0063E08-5260-43B5-BD1A-23EB5522D758}"/>
                </a:ext>
              </a:extLst>
            </p:cNvPr>
            <p:cNvSpPr>
              <a:spLocks/>
            </p:cNvSpPr>
            <p:nvPr/>
          </p:nvSpPr>
          <p:spPr>
            <a:xfrm>
              <a:off x="10734675" y="4695825"/>
              <a:ext cx="209550" cy="209550"/>
            </a:xfrm>
            <a:prstGeom prst="ellipse">
              <a:avLst/>
            </a:prstGeom>
            <a:solidFill>
              <a:srgbClr val="FFFFFF"/>
            </a:solidFill>
            <a:ln w="10837">
              <a:solidFill>
                <a:srgbClr val="687573"/>
              </a:solidFill>
            </a:ln>
          </p:spPr>
          <p:txBody>
            <a:bodyPr/>
            <a:p/>
          </p:txBody>
        </p:sp>
        <p:sp>
          <p:nvSpPr>
            <p:cNvPr id="237" name="record-code-14">
              <a:extLst>
                <a:ext uri="{FF2B5EF4-FFF2-40B4-BE49-F238E27FC236}">
                  <a16:creationId xmlns:a16="http://schemas.microsoft.com/office/drawing/2014/main" id="{F181C59C-CEA3-42A7-AE51-E9BC78997224}"/>
                </a:ext>
              </a:extLst>
            </p:cNvPr>
            <p:cNvSpPr>
              <a:spLocks/>
            </p:cNvSpPr>
            <p:nvPr/>
          </p:nvSpPr>
          <p:spPr>
            <a:xfrm>
              <a:off x="10734675" y="47015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20</a:t>
              </a:r>
            </a:p>
          </p:txBody>
        </p:sp>
        <p:sp>
          <p:nvSpPr>
            <p:cNvPr id="238" name="point-15-1">
              <a:extLst>
                <a:ext uri="{FF2B5EF4-FFF2-40B4-BE49-F238E27FC236}">
                  <a16:creationId xmlns:a16="http://schemas.microsoft.com/office/drawing/2014/main" id="{F35DABE8-BB59-4024-8AC0-03C4E10ACF99}"/>
                </a:ext>
              </a:extLst>
            </p:cNvPr>
            <p:cNvSpPr>
              <a:spLocks/>
            </p:cNvSpPr>
            <p:nvPr/>
          </p:nvSpPr>
          <p:spPr>
            <a:xfrm>
              <a:off x="10428224" y="2547499"/>
              <a:ext cx="40640" cy="40640"/>
            </a:xfrm>
            <a:prstGeom prst="ellipse">
              <a:avLst/>
            </a:prstGeom>
            <a:solidFill>
              <a:srgbClr val="293D3B"/>
            </a:solidFill>
            <a:ln w="0">
              <a:solidFill>
                <a:srgbClr val="293D3B"/>
              </a:solidFill>
            </a:ln>
          </p:spPr>
          <p:txBody>
            <a:bodyPr/>
            <a:p/>
          </p:txBody>
        </p:sp>
        <p:sp>
          <p:nvSpPr>
            <p:cNvPr id="239" name="record-leader-15-1">
              <a:extLst>
                <a:ext uri="{FF2B5EF4-FFF2-40B4-BE49-F238E27FC236}">
                  <a16:creationId xmlns:a16="http://schemas.microsoft.com/office/drawing/2014/main" id="{A07C0CF8-707A-46E5-8C0D-C1595D14F896}"/>
                </a:ext>
              </a:extLst>
            </p:cNvPr>
            <p:cNvSpPr>
              <a:spLocks/>
            </p:cNvSpPr>
            <p:nvPr/>
          </p:nvSpPr>
          <p:spPr>
            <a:xfrm>
              <a:off x="10448592" y="1828800"/>
              <a:ext cx="314658" cy="738997"/>
            </a:xfrm>
            <a:custGeom>
              <a:avLst/>
              <a:gdLst/>
              <a:ahLst/>
              <a:cxnLst/>
              <a:rect l="0" t="0" r="0" b="0"/>
              <a:pathLst>
                <a:path w="314658" h="738997">
                  <a:moveTo>
                    <a:pt x="0" y="738997"/>
                  </a:moveTo>
                  <a:lnTo>
                    <a:pt x="314658" y="0"/>
                  </a:lnTo>
                </a:path>
              </a:pathLst>
            </a:custGeom>
            <a:noFill/>
            <a:ln w="10478">
              <a:solidFill>
                <a:srgbClr val="879993"/>
              </a:solidFill>
              <a:prstDash val="solid"/>
            </a:ln>
          </p:spPr>
          <p:txBody>
            <a:bodyPr/>
            <a:p/>
          </p:txBody>
        </p:sp>
        <p:sp>
          <p:nvSpPr>
            <p:cNvPr id="240" name="point-15-2">
              <a:extLst>
                <a:ext uri="{FF2B5EF4-FFF2-40B4-BE49-F238E27FC236}">
                  <a16:creationId xmlns:a16="http://schemas.microsoft.com/office/drawing/2014/main" id="{F0E18EEB-7380-42FD-9B83-8ADE62CD9456}"/>
                </a:ext>
              </a:extLst>
            </p:cNvPr>
            <p:cNvSpPr>
              <a:spLocks/>
            </p:cNvSpPr>
            <p:nvPr/>
          </p:nvSpPr>
          <p:spPr>
            <a:xfrm>
              <a:off x="10165870" y="2327063"/>
              <a:ext cx="40640" cy="40640"/>
            </a:xfrm>
            <a:prstGeom prst="ellipse">
              <a:avLst/>
            </a:prstGeom>
            <a:solidFill>
              <a:srgbClr val="293D3B"/>
            </a:solidFill>
            <a:ln w="0">
              <a:solidFill>
                <a:srgbClr val="293D3B"/>
              </a:solidFill>
            </a:ln>
          </p:spPr>
          <p:txBody>
            <a:bodyPr/>
            <a:p/>
          </p:txBody>
        </p:sp>
        <p:sp>
          <p:nvSpPr>
            <p:cNvPr id="241" name="record-leader-15-2">
              <a:extLst>
                <a:ext uri="{FF2B5EF4-FFF2-40B4-BE49-F238E27FC236}">
                  <a16:creationId xmlns:a16="http://schemas.microsoft.com/office/drawing/2014/main" id="{42C2771B-D2A4-463D-84B5-7982B8A9CBCA}"/>
                </a:ext>
              </a:extLst>
            </p:cNvPr>
            <p:cNvSpPr>
              <a:spLocks/>
            </p:cNvSpPr>
            <p:nvPr/>
          </p:nvSpPr>
          <p:spPr>
            <a:xfrm>
              <a:off x="10186178" y="1828800"/>
              <a:ext cx="577072" cy="518589"/>
            </a:xfrm>
            <a:custGeom>
              <a:avLst/>
              <a:gdLst/>
              <a:ahLst/>
              <a:cxnLst/>
              <a:rect l="0" t="0" r="0" b="0"/>
              <a:pathLst>
                <a:path w="577072" h="518589">
                  <a:moveTo>
                    <a:pt x="0" y="518589"/>
                  </a:moveTo>
                  <a:lnTo>
                    <a:pt x="577072" y="0"/>
                  </a:lnTo>
                </a:path>
              </a:pathLst>
            </a:custGeom>
            <a:noFill/>
            <a:ln w="10478">
              <a:solidFill>
                <a:srgbClr val="879993"/>
              </a:solidFill>
              <a:prstDash val="solid"/>
            </a:ln>
          </p:spPr>
          <p:txBody>
            <a:bodyPr/>
            <a:p/>
          </p:txBody>
        </p:sp>
        <p:sp>
          <p:nvSpPr>
            <p:cNvPr id="242" name="badge-15">
              <a:extLst>
                <a:ext uri="{FF2B5EF4-FFF2-40B4-BE49-F238E27FC236}">
                  <a16:creationId xmlns:a16="http://schemas.microsoft.com/office/drawing/2014/main" id="{2758568A-B4E8-40BE-B421-169762F1F368}"/>
                </a:ext>
              </a:extLst>
            </p:cNvPr>
            <p:cNvSpPr>
              <a:spLocks/>
            </p:cNvSpPr>
            <p:nvPr/>
          </p:nvSpPr>
          <p:spPr>
            <a:xfrm>
              <a:off x="10658475" y="1724025"/>
              <a:ext cx="209550" cy="209550"/>
            </a:xfrm>
            <a:prstGeom prst="ellipse">
              <a:avLst/>
            </a:prstGeom>
            <a:solidFill>
              <a:srgbClr val="FFFFFF"/>
            </a:solidFill>
            <a:ln w="10837">
              <a:solidFill>
                <a:srgbClr val="293D3B"/>
              </a:solidFill>
            </a:ln>
          </p:spPr>
          <p:txBody>
            <a:bodyPr/>
            <a:p/>
          </p:txBody>
        </p:sp>
        <p:sp>
          <p:nvSpPr>
            <p:cNvPr id="243" name="record-code-15">
              <a:extLst>
                <a:ext uri="{FF2B5EF4-FFF2-40B4-BE49-F238E27FC236}">
                  <a16:creationId xmlns:a16="http://schemas.microsoft.com/office/drawing/2014/main" id="{BB259FAD-9940-4132-AFCD-CE6B5748CA4E}"/>
                </a:ext>
              </a:extLst>
            </p:cNvPr>
            <p:cNvSpPr>
              <a:spLocks/>
            </p:cNvSpPr>
            <p:nvPr/>
          </p:nvSpPr>
          <p:spPr>
            <a:xfrm>
              <a:off x="10658475" y="17297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21</a:t>
              </a:r>
            </a:p>
          </p:txBody>
        </p:sp>
        <p:sp>
          <p:nvSpPr>
            <p:cNvPr id="244" name="point-16-1">
              <a:extLst>
                <a:ext uri="{FF2B5EF4-FFF2-40B4-BE49-F238E27FC236}">
                  <a16:creationId xmlns:a16="http://schemas.microsoft.com/office/drawing/2014/main" id="{2140A4D5-9D2A-4315-A8E3-38494743518E}"/>
                </a:ext>
              </a:extLst>
            </p:cNvPr>
            <p:cNvSpPr>
              <a:spLocks/>
            </p:cNvSpPr>
            <p:nvPr/>
          </p:nvSpPr>
          <p:spPr>
            <a:xfrm>
              <a:off x="4579631" y="2669310"/>
              <a:ext cx="40640" cy="40640"/>
            </a:xfrm>
            <a:prstGeom prst="ellipse">
              <a:avLst/>
            </a:prstGeom>
            <a:solidFill>
              <a:srgbClr val="293D3B"/>
            </a:solidFill>
            <a:ln w="0">
              <a:solidFill>
                <a:srgbClr val="293D3B"/>
              </a:solidFill>
            </a:ln>
          </p:spPr>
          <p:txBody>
            <a:bodyPr/>
            <a:p/>
          </p:txBody>
        </p:sp>
        <p:sp>
          <p:nvSpPr>
            <p:cNvPr id="245" name="record-leader-16-1">
              <a:extLst>
                <a:ext uri="{FF2B5EF4-FFF2-40B4-BE49-F238E27FC236}">
                  <a16:creationId xmlns:a16="http://schemas.microsoft.com/office/drawing/2014/main" id="{1D007D7D-51C6-4D7B-8370-E87449403CE0}"/>
                </a:ext>
              </a:extLst>
            </p:cNvPr>
            <p:cNvSpPr>
              <a:spLocks/>
            </p:cNvSpPr>
            <p:nvPr/>
          </p:nvSpPr>
          <p:spPr>
            <a:xfrm>
              <a:off x="4543425" y="2689622"/>
              <a:ext cx="56531" cy="406003"/>
            </a:xfrm>
            <a:custGeom>
              <a:avLst/>
              <a:gdLst/>
              <a:ahLst/>
              <a:cxnLst/>
              <a:rect l="0" t="0" r="0" b="0"/>
              <a:pathLst>
                <a:path w="56531" h="406003">
                  <a:moveTo>
                    <a:pt x="56531" y="0"/>
                  </a:moveTo>
                  <a:lnTo>
                    <a:pt x="0" y="406003"/>
                  </a:lnTo>
                </a:path>
              </a:pathLst>
            </a:custGeom>
            <a:noFill/>
            <a:ln w="10478">
              <a:solidFill>
                <a:srgbClr val="879993"/>
              </a:solidFill>
              <a:prstDash val="solid"/>
            </a:ln>
          </p:spPr>
          <p:txBody>
            <a:bodyPr/>
            <a:p/>
          </p:txBody>
        </p:sp>
        <p:sp>
          <p:nvSpPr>
            <p:cNvPr id="246" name="badge-16">
              <a:extLst>
                <a:ext uri="{FF2B5EF4-FFF2-40B4-BE49-F238E27FC236}">
                  <a16:creationId xmlns:a16="http://schemas.microsoft.com/office/drawing/2014/main" id="{6B6B13B1-58A2-4F1D-BCF0-BEB1E4531CB0}"/>
                </a:ext>
              </a:extLst>
            </p:cNvPr>
            <p:cNvSpPr>
              <a:spLocks/>
            </p:cNvSpPr>
            <p:nvPr/>
          </p:nvSpPr>
          <p:spPr>
            <a:xfrm>
              <a:off x="4438650" y="2990850"/>
              <a:ext cx="209550" cy="209550"/>
            </a:xfrm>
            <a:prstGeom prst="ellipse">
              <a:avLst/>
            </a:prstGeom>
            <a:solidFill>
              <a:srgbClr val="FFFFFF"/>
            </a:solidFill>
            <a:ln w="10837">
              <a:solidFill>
                <a:srgbClr val="293D3B"/>
              </a:solidFill>
            </a:ln>
          </p:spPr>
          <p:txBody>
            <a:bodyPr/>
            <a:p/>
          </p:txBody>
        </p:sp>
        <p:sp>
          <p:nvSpPr>
            <p:cNvPr id="247" name="record-code-16">
              <a:extLst>
                <a:ext uri="{FF2B5EF4-FFF2-40B4-BE49-F238E27FC236}">
                  <a16:creationId xmlns:a16="http://schemas.microsoft.com/office/drawing/2014/main" id="{EC394FC1-134F-4AC2-8A5C-E4FB49B1F587}"/>
                </a:ext>
              </a:extLst>
            </p:cNvPr>
            <p:cNvSpPr>
              <a:spLocks/>
            </p:cNvSpPr>
            <p:nvPr/>
          </p:nvSpPr>
          <p:spPr>
            <a:xfrm>
              <a:off x="4438650" y="2996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a:t>
              </a:r>
            </a:p>
          </p:txBody>
        </p:sp>
        <p:sp>
          <p:nvSpPr>
            <p:cNvPr id="248" name="point-17-1">
              <a:extLst>
                <a:ext uri="{FF2B5EF4-FFF2-40B4-BE49-F238E27FC236}">
                  <a16:creationId xmlns:a16="http://schemas.microsoft.com/office/drawing/2014/main" id="{0D39BDD5-F15E-4ED8-AF6F-1206DF90D911}"/>
                </a:ext>
              </a:extLst>
            </p:cNvPr>
            <p:cNvSpPr>
              <a:spLocks/>
            </p:cNvSpPr>
            <p:nvPr/>
          </p:nvSpPr>
          <p:spPr>
            <a:xfrm>
              <a:off x="2546548" y="1914604"/>
              <a:ext cx="40640" cy="40640"/>
            </a:xfrm>
            <a:prstGeom prst="ellipse">
              <a:avLst/>
            </a:prstGeom>
            <a:solidFill>
              <a:srgbClr val="293D3B"/>
            </a:solidFill>
            <a:ln w="0">
              <a:solidFill>
                <a:srgbClr val="293D3B"/>
              </a:solidFill>
            </a:ln>
          </p:spPr>
          <p:txBody>
            <a:bodyPr/>
            <a:p/>
          </p:txBody>
        </p:sp>
        <p:sp>
          <p:nvSpPr>
            <p:cNvPr id="249" name="record-leader-17-1">
              <a:extLst>
                <a:ext uri="{FF2B5EF4-FFF2-40B4-BE49-F238E27FC236}">
                  <a16:creationId xmlns:a16="http://schemas.microsoft.com/office/drawing/2014/main" id="{6C87E644-8FFF-4462-BF5C-DAD06DE74511}"/>
                </a:ext>
              </a:extLst>
            </p:cNvPr>
            <p:cNvSpPr>
              <a:spLocks/>
            </p:cNvSpPr>
            <p:nvPr/>
          </p:nvSpPr>
          <p:spPr>
            <a:xfrm>
              <a:off x="2566845" y="1685925"/>
              <a:ext cx="33480" cy="249031"/>
            </a:xfrm>
            <a:custGeom>
              <a:avLst/>
              <a:gdLst/>
              <a:ahLst/>
              <a:cxnLst/>
              <a:rect l="0" t="0" r="0" b="0"/>
              <a:pathLst>
                <a:path w="33480" h="249031">
                  <a:moveTo>
                    <a:pt x="0" y="249031"/>
                  </a:moveTo>
                  <a:lnTo>
                    <a:pt x="33480" y="0"/>
                  </a:lnTo>
                </a:path>
              </a:pathLst>
            </a:custGeom>
            <a:noFill/>
            <a:ln w="10478">
              <a:solidFill>
                <a:srgbClr val="879993"/>
              </a:solidFill>
              <a:prstDash val="solid"/>
            </a:ln>
          </p:spPr>
          <p:txBody>
            <a:bodyPr/>
            <a:p/>
          </p:txBody>
        </p:sp>
        <p:sp>
          <p:nvSpPr>
            <p:cNvPr id="250" name="badge-17">
              <a:extLst>
                <a:ext uri="{FF2B5EF4-FFF2-40B4-BE49-F238E27FC236}">
                  <a16:creationId xmlns:a16="http://schemas.microsoft.com/office/drawing/2014/main" id="{7ED542B9-2214-432D-BC6F-43769AE11B98}"/>
                </a:ext>
              </a:extLst>
            </p:cNvPr>
            <p:cNvSpPr>
              <a:spLocks/>
            </p:cNvSpPr>
            <p:nvPr/>
          </p:nvSpPr>
          <p:spPr>
            <a:xfrm>
              <a:off x="2495550" y="1581150"/>
              <a:ext cx="209550" cy="209550"/>
            </a:xfrm>
            <a:prstGeom prst="ellipse">
              <a:avLst/>
            </a:prstGeom>
            <a:solidFill>
              <a:srgbClr val="FFFFFF"/>
            </a:solidFill>
            <a:ln w="10837">
              <a:solidFill>
                <a:srgbClr val="293D3B"/>
              </a:solidFill>
            </a:ln>
          </p:spPr>
          <p:txBody>
            <a:bodyPr/>
            <a:p/>
          </p:txBody>
        </p:sp>
        <p:sp>
          <p:nvSpPr>
            <p:cNvPr id="251" name="record-code-17">
              <a:extLst>
                <a:ext uri="{FF2B5EF4-FFF2-40B4-BE49-F238E27FC236}">
                  <a16:creationId xmlns:a16="http://schemas.microsoft.com/office/drawing/2014/main" id="{4877081B-F200-47FF-B6A7-79B91F17A4E2}"/>
                </a:ext>
              </a:extLst>
            </p:cNvPr>
            <p:cNvSpPr>
              <a:spLocks/>
            </p:cNvSpPr>
            <p:nvPr/>
          </p:nvSpPr>
          <p:spPr>
            <a:xfrm>
              <a:off x="2495550" y="15868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7</a:t>
              </a:r>
            </a:p>
          </p:txBody>
        </p:sp>
        <p:sp>
          <p:nvSpPr>
            <p:cNvPr id="252" name="point-18-1">
              <a:extLst>
                <a:ext uri="{FF2B5EF4-FFF2-40B4-BE49-F238E27FC236}">
                  <a16:creationId xmlns:a16="http://schemas.microsoft.com/office/drawing/2014/main" id="{20E4B04F-3D46-4885-8264-6E7332B1EDEC}"/>
                </a:ext>
              </a:extLst>
            </p:cNvPr>
            <p:cNvSpPr>
              <a:spLocks/>
            </p:cNvSpPr>
            <p:nvPr/>
          </p:nvSpPr>
          <p:spPr>
            <a:xfrm>
              <a:off x="2304740" y="2145816"/>
              <a:ext cx="40640" cy="40640"/>
            </a:xfrm>
            <a:prstGeom prst="ellipse">
              <a:avLst/>
            </a:prstGeom>
            <a:solidFill>
              <a:srgbClr val="293D3B"/>
            </a:solidFill>
            <a:ln w="0">
              <a:solidFill>
                <a:srgbClr val="293D3B"/>
              </a:solidFill>
            </a:ln>
          </p:spPr>
          <p:txBody>
            <a:bodyPr/>
            <a:p/>
          </p:txBody>
        </p:sp>
        <p:sp>
          <p:nvSpPr>
            <p:cNvPr id="253" name="record-leader-18-1">
              <a:extLst>
                <a:ext uri="{FF2B5EF4-FFF2-40B4-BE49-F238E27FC236}">
                  <a16:creationId xmlns:a16="http://schemas.microsoft.com/office/drawing/2014/main" id="{2D1D72DD-9C19-4FB3-8FFC-7C92A5345DDB}"/>
                </a:ext>
              </a:extLst>
            </p:cNvPr>
            <p:cNvSpPr>
              <a:spLocks/>
            </p:cNvSpPr>
            <p:nvPr/>
          </p:nvSpPr>
          <p:spPr>
            <a:xfrm>
              <a:off x="1657350" y="2166128"/>
              <a:ext cx="667750" cy="291322"/>
            </a:xfrm>
            <a:custGeom>
              <a:avLst/>
              <a:gdLst/>
              <a:ahLst/>
              <a:cxnLst/>
              <a:rect l="0" t="0" r="0" b="0"/>
              <a:pathLst>
                <a:path w="667750" h="291322">
                  <a:moveTo>
                    <a:pt x="667750" y="0"/>
                  </a:moveTo>
                  <a:lnTo>
                    <a:pt x="0" y="291322"/>
                  </a:lnTo>
                </a:path>
              </a:pathLst>
            </a:custGeom>
            <a:noFill/>
            <a:ln w="10478">
              <a:solidFill>
                <a:srgbClr val="879993"/>
              </a:solidFill>
              <a:prstDash val="solid"/>
            </a:ln>
          </p:spPr>
          <p:txBody>
            <a:bodyPr/>
            <a:p/>
          </p:txBody>
        </p:sp>
        <p:sp>
          <p:nvSpPr>
            <p:cNvPr id="254" name="badge-18">
              <a:extLst>
                <a:ext uri="{FF2B5EF4-FFF2-40B4-BE49-F238E27FC236}">
                  <a16:creationId xmlns:a16="http://schemas.microsoft.com/office/drawing/2014/main" id="{F4A5E0DC-915E-4EEA-B012-435443504F05}"/>
                </a:ext>
              </a:extLst>
            </p:cNvPr>
            <p:cNvSpPr>
              <a:spLocks/>
            </p:cNvSpPr>
            <p:nvPr/>
          </p:nvSpPr>
          <p:spPr>
            <a:xfrm>
              <a:off x="1552575" y="2352675"/>
              <a:ext cx="209550" cy="209550"/>
            </a:xfrm>
            <a:prstGeom prst="ellipse">
              <a:avLst/>
            </a:prstGeom>
            <a:solidFill>
              <a:srgbClr val="FFFFFF"/>
            </a:solidFill>
            <a:ln w="10837">
              <a:solidFill>
                <a:srgbClr val="293D3B"/>
              </a:solidFill>
            </a:ln>
          </p:spPr>
          <p:txBody>
            <a:bodyPr/>
            <a:p/>
          </p:txBody>
        </p:sp>
        <p:sp>
          <p:nvSpPr>
            <p:cNvPr id="255" name="record-code-18">
              <a:extLst>
                <a:ext uri="{FF2B5EF4-FFF2-40B4-BE49-F238E27FC236}">
                  <a16:creationId xmlns:a16="http://schemas.microsoft.com/office/drawing/2014/main" id="{8D47E21B-C968-433A-A7F5-A1A7F691DD6C}"/>
                </a:ext>
              </a:extLst>
            </p:cNvPr>
            <p:cNvSpPr>
              <a:spLocks/>
            </p:cNvSpPr>
            <p:nvPr/>
          </p:nvSpPr>
          <p:spPr>
            <a:xfrm>
              <a:off x="1552575" y="23583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13</a:t>
              </a:r>
            </a:p>
          </p:txBody>
        </p:sp>
        <p:sp>
          <p:nvSpPr>
            <p:cNvPr id="256" name="point-19-1">
              <a:extLst>
                <a:ext uri="{FF2B5EF4-FFF2-40B4-BE49-F238E27FC236}">
                  <a16:creationId xmlns:a16="http://schemas.microsoft.com/office/drawing/2014/main" id="{0F06A5B8-0D0B-454E-8D35-00B003AED77B}"/>
                </a:ext>
              </a:extLst>
            </p:cNvPr>
            <p:cNvSpPr>
              <a:spLocks/>
            </p:cNvSpPr>
            <p:nvPr/>
          </p:nvSpPr>
          <p:spPr>
            <a:xfrm>
              <a:off x="6656335" y="3747322"/>
              <a:ext cx="40640" cy="40640"/>
            </a:xfrm>
            <a:prstGeom prst="ellipse">
              <a:avLst/>
            </a:prstGeom>
            <a:solidFill>
              <a:srgbClr val="293D3B"/>
            </a:solidFill>
            <a:ln w="0">
              <a:solidFill>
                <a:srgbClr val="293D3B"/>
              </a:solidFill>
            </a:ln>
          </p:spPr>
          <p:txBody>
            <a:bodyPr/>
            <a:p/>
          </p:txBody>
        </p:sp>
        <p:sp>
          <p:nvSpPr>
            <p:cNvPr id="257" name="record-leader-19-1">
              <a:extLst>
                <a:ext uri="{FF2B5EF4-FFF2-40B4-BE49-F238E27FC236}">
                  <a16:creationId xmlns:a16="http://schemas.microsoft.com/office/drawing/2014/main" id="{3267BA2A-B9CC-41F1-B3C1-56E7B6E7D144}"/>
                </a:ext>
              </a:extLst>
            </p:cNvPr>
            <p:cNvSpPr>
              <a:spLocks/>
            </p:cNvSpPr>
            <p:nvPr/>
          </p:nvSpPr>
          <p:spPr>
            <a:xfrm>
              <a:off x="6248400" y="3767661"/>
              <a:ext cx="428292" cy="194739"/>
            </a:xfrm>
            <a:custGeom>
              <a:avLst/>
              <a:gdLst/>
              <a:ahLst/>
              <a:cxnLst/>
              <a:rect l="0" t="0" r="0" b="0"/>
              <a:pathLst>
                <a:path w="428292" h="194739">
                  <a:moveTo>
                    <a:pt x="428292" y="0"/>
                  </a:moveTo>
                  <a:lnTo>
                    <a:pt x="0" y="194739"/>
                  </a:lnTo>
                </a:path>
              </a:pathLst>
            </a:custGeom>
            <a:noFill/>
            <a:ln w="10478">
              <a:solidFill>
                <a:srgbClr val="879993"/>
              </a:solidFill>
              <a:prstDash val="solid"/>
            </a:ln>
          </p:spPr>
          <p:txBody>
            <a:bodyPr/>
            <a:p/>
          </p:txBody>
        </p:sp>
        <p:sp>
          <p:nvSpPr>
            <p:cNvPr id="258" name="badge-19">
              <a:extLst>
                <a:ext uri="{FF2B5EF4-FFF2-40B4-BE49-F238E27FC236}">
                  <a16:creationId xmlns:a16="http://schemas.microsoft.com/office/drawing/2014/main" id="{03D35189-477E-4ED2-9CAD-A276D788A752}"/>
                </a:ext>
              </a:extLst>
            </p:cNvPr>
            <p:cNvSpPr>
              <a:spLocks/>
            </p:cNvSpPr>
            <p:nvPr/>
          </p:nvSpPr>
          <p:spPr>
            <a:xfrm>
              <a:off x="6143625" y="3857625"/>
              <a:ext cx="209550" cy="209550"/>
            </a:xfrm>
            <a:prstGeom prst="ellipse">
              <a:avLst/>
            </a:prstGeom>
            <a:solidFill>
              <a:srgbClr val="FFFFFF"/>
            </a:solidFill>
            <a:ln w="10837">
              <a:solidFill>
                <a:srgbClr val="293D3B"/>
              </a:solidFill>
            </a:ln>
          </p:spPr>
          <p:txBody>
            <a:bodyPr/>
            <a:p/>
          </p:txBody>
        </p:sp>
        <p:sp>
          <p:nvSpPr>
            <p:cNvPr id="259" name="record-code-19">
              <a:extLst>
                <a:ext uri="{FF2B5EF4-FFF2-40B4-BE49-F238E27FC236}">
                  <a16:creationId xmlns:a16="http://schemas.microsoft.com/office/drawing/2014/main" id="{C8674D35-FD0F-439D-837E-DF7C1C076029}"/>
                </a:ext>
              </a:extLst>
            </p:cNvPr>
            <p:cNvSpPr>
              <a:spLocks/>
            </p:cNvSpPr>
            <p:nvPr/>
          </p:nvSpPr>
          <p:spPr>
            <a:xfrm>
              <a:off x="6143625" y="38633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17</a:t>
              </a:r>
            </a:p>
          </p:txBody>
        </p:sp>
        <p:sp>
          <p:nvSpPr>
            <p:cNvPr id="260" name="point-20-1">
              <a:extLst>
                <a:ext uri="{FF2B5EF4-FFF2-40B4-BE49-F238E27FC236}">
                  <a16:creationId xmlns:a16="http://schemas.microsoft.com/office/drawing/2014/main" id="{D4254A4D-FAEF-4A80-84D2-BF27C386EDC0}"/>
                </a:ext>
              </a:extLst>
            </p:cNvPr>
            <p:cNvSpPr>
              <a:spLocks/>
            </p:cNvSpPr>
            <p:nvPr/>
          </p:nvSpPr>
          <p:spPr>
            <a:xfrm>
              <a:off x="7798364" y="2531170"/>
              <a:ext cx="40640" cy="40640"/>
            </a:xfrm>
            <a:prstGeom prst="ellipse">
              <a:avLst/>
            </a:prstGeom>
            <a:solidFill>
              <a:srgbClr val="293D3B"/>
            </a:solidFill>
            <a:ln w="0">
              <a:solidFill>
                <a:srgbClr val="293D3B"/>
              </a:solidFill>
            </a:ln>
          </p:spPr>
          <p:txBody>
            <a:bodyPr/>
            <a:p/>
          </p:txBody>
        </p:sp>
        <p:sp>
          <p:nvSpPr>
            <p:cNvPr id="261" name="record-leader-20-1">
              <a:extLst>
                <a:ext uri="{FF2B5EF4-FFF2-40B4-BE49-F238E27FC236}">
                  <a16:creationId xmlns:a16="http://schemas.microsoft.com/office/drawing/2014/main" id="{2C228984-BC92-470C-9621-AC6DC43084B7}"/>
                </a:ext>
              </a:extLst>
            </p:cNvPr>
            <p:cNvSpPr>
              <a:spLocks/>
            </p:cNvSpPr>
            <p:nvPr/>
          </p:nvSpPr>
          <p:spPr>
            <a:xfrm>
              <a:off x="7677150" y="2324100"/>
              <a:ext cx="141589" cy="227409"/>
            </a:xfrm>
            <a:custGeom>
              <a:avLst/>
              <a:gdLst/>
              <a:ahLst/>
              <a:cxnLst/>
              <a:rect l="0" t="0" r="0" b="0"/>
              <a:pathLst>
                <a:path w="141589" h="227409">
                  <a:moveTo>
                    <a:pt x="141589" y="227409"/>
                  </a:moveTo>
                  <a:lnTo>
                    <a:pt x="0" y="0"/>
                  </a:lnTo>
                </a:path>
              </a:pathLst>
            </a:custGeom>
            <a:noFill/>
            <a:ln w="10478">
              <a:solidFill>
                <a:srgbClr val="879993"/>
              </a:solidFill>
              <a:prstDash val="solid"/>
            </a:ln>
          </p:spPr>
          <p:txBody>
            <a:bodyPr/>
            <a:p/>
          </p:txBody>
        </p:sp>
        <p:sp>
          <p:nvSpPr>
            <p:cNvPr id="262" name="badge-20">
              <a:extLst>
                <a:ext uri="{FF2B5EF4-FFF2-40B4-BE49-F238E27FC236}">
                  <a16:creationId xmlns:a16="http://schemas.microsoft.com/office/drawing/2014/main" id="{9433C88F-58A1-4A8A-9527-85D1CD7C1E63}"/>
                </a:ext>
              </a:extLst>
            </p:cNvPr>
            <p:cNvSpPr>
              <a:spLocks/>
            </p:cNvSpPr>
            <p:nvPr/>
          </p:nvSpPr>
          <p:spPr>
            <a:xfrm>
              <a:off x="7572375" y="2219325"/>
              <a:ext cx="209550" cy="209550"/>
            </a:xfrm>
            <a:prstGeom prst="ellipse">
              <a:avLst/>
            </a:prstGeom>
            <a:solidFill>
              <a:srgbClr val="FFFFFF"/>
            </a:solidFill>
            <a:ln w="10837">
              <a:solidFill>
                <a:srgbClr val="293D3B"/>
              </a:solidFill>
            </a:ln>
          </p:spPr>
          <p:txBody>
            <a:bodyPr/>
            <a:p/>
          </p:txBody>
        </p:sp>
        <p:sp>
          <p:nvSpPr>
            <p:cNvPr id="263" name="record-code-20">
              <a:extLst>
                <a:ext uri="{FF2B5EF4-FFF2-40B4-BE49-F238E27FC236}">
                  <a16:creationId xmlns:a16="http://schemas.microsoft.com/office/drawing/2014/main" id="{6F800E9B-4FC9-48EF-84C6-609C5AA46BF7}"/>
                </a:ext>
              </a:extLst>
            </p:cNvPr>
            <p:cNvSpPr>
              <a:spLocks/>
            </p:cNvSpPr>
            <p:nvPr/>
          </p:nvSpPr>
          <p:spPr>
            <a:xfrm>
              <a:off x="7572375" y="22250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18</a:t>
              </a:r>
            </a:p>
          </p:txBody>
        </p:sp>
        <p:sp>
          <p:nvSpPr>
            <p:cNvPr id="264" name="point-21-1">
              <a:extLst>
                <a:ext uri="{FF2B5EF4-FFF2-40B4-BE49-F238E27FC236}">
                  <a16:creationId xmlns:a16="http://schemas.microsoft.com/office/drawing/2014/main" id="{DBEDF91D-9EAA-4B5A-9592-F25549C5FD59}"/>
                </a:ext>
              </a:extLst>
            </p:cNvPr>
            <p:cNvSpPr>
              <a:spLocks/>
            </p:cNvSpPr>
            <p:nvPr/>
          </p:nvSpPr>
          <p:spPr>
            <a:xfrm>
              <a:off x="9257115" y="4053646"/>
              <a:ext cx="40640" cy="40640"/>
            </a:xfrm>
            <a:prstGeom prst="ellipse">
              <a:avLst/>
            </a:prstGeom>
            <a:solidFill>
              <a:srgbClr val="4F788A"/>
            </a:solidFill>
            <a:ln w="0">
              <a:solidFill>
                <a:srgbClr val="4F788A"/>
              </a:solidFill>
            </a:ln>
          </p:spPr>
          <p:txBody>
            <a:bodyPr/>
            <a:p/>
          </p:txBody>
        </p:sp>
        <p:sp>
          <p:nvSpPr>
            <p:cNvPr id="265" name="record-leader-21-1">
              <a:extLst>
                <a:ext uri="{FF2B5EF4-FFF2-40B4-BE49-F238E27FC236}">
                  <a16:creationId xmlns:a16="http://schemas.microsoft.com/office/drawing/2014/main" id="{F35CBF72-6CEC-4F2A-8AB5-D3A48FE539CD}"/>
                </a:ext>
              </a:extLst>
            </p:cNvPr>
            <p:cNvSpPr>
              <a:spLocks/>
            </p:cNvSpPr>
            <p:nvPr/>
          </p:nvSpPr>
          <p:spPr>
            <a:xfrm>
              <a:off x="8696325" y="4073985"/>
              <a:ext cx="581168" cy="459915"/>
            </a:xfrm>
            <a:custGeom>
              <a:avLst/>
              <a:gdLst/>
              <a:ahLst/>
              <a:cxnLst/>
              <a:rect l="0" t="0" r="0" b="0"/>
              <a:pathLst>
                <a:path w="581168" h="459915">
                  <a:moveTo>
                    <a:pt x="581168" y="0"/>
                  </a:moveTo>
                  <a:lnTo>
                    <a:pt x="0" y="459915"/>
                  </a:lnTo>
                </a:path>
              </a:pathLst>
            </a:custGeom>
            <a:noFill/>
            <a:ln w="10478">
              <a:solidFill>
                <a:srgbClr val="879993"/>
              </a:solidFill>
              <a:prstDash val="solid"/>
            </a:ln>
          </p:spPr>
          <p:txBody>
            <a:bodyPr/>
            <a:p/>
          </p:txBody>
        </p:sp>
        <p:sp>
          <p:nvSpPr>
            <p:cNvPr id="266" name="badge-21">
              <a:extLst>
                <a:ext uri="{FF2B5EF4-FFF2-40B4-BE49-F238E27FC236}">
                  <a16:creationId xmlns:a16="http://schemas.microsoft.com/office/drawing/2014/main" id="{4385D494-30E3-4FF3-9116-0F8A01BC41D3}"/>
                </a:ext>
              </a:extLst>
            </p:cNvPr>
            <p:cNvSpPr>
              <a:spLocks/>
            </p:cNvSpPr>
            <p:nvPr/>
          </p:nvSpPr>
          <p:spPr>
            <a:xfrm>
              <a:off x="8591550" y="4429125"/>
              <a:ext cx="209550" cy="209550"/>
            </a:xfrm>
            <a:prstGeom prst="ellipse">
              <a:avLst/>
            </a:prstGeom>
            <a:solidFill>
              <a:srgbClr val="FFFFFF"/>
            </a:solidFill>
            <a:ln w="10837">
              <a:solidFill>
                <a:srgbClr val="4F788A"/>
              </a:solidFill>
            </a:ln>
          </p:spPr>
          <p:txBody>
            <a:bodyPr/>
            <a:p/>
          </p:txBody>
        </p:sp>
        <p:sp>
          <p:nvSpPr>
            <p:cNvPr id="267" name="record-code-21">
              <a:extLst>
                <a:ext uri="{FF2B5EF4-FFF2-40B4-BE49-F238E27FC236}">
                  <a16:creationId xmlns:a16="http://schemas.microsoft.com/office/drawing/2014/main" id="{3AC14D24-B57E-4A6C-9533-668481ECF08B}"/>
                </a:ext>
              </a:extLst>
            </p:cNvPr>
            <p:cNvSpPr>
              <a:spLocks/>
            </p:cNvSpPr>
            <p:nvPr/>
          </p:nvSpPr>
          <p:spPr>
            <a:xfrm>
              <a:off x="8591550" y="44348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19</a:t>
              </a:r>
            </a:p>
          </p:txBody>
        </p:sp>
        <p:sp>
          <p:nvSpPr>
            <p:cNvPr id="268" name="continent-asia">
              <a:extLst>
                <a:ext uri="{FF2B5EF4-FFF2-40B4-BE49-F238E27FC236}">
                  <a16:creationId xmlns:a16="http://schemas.microsoft.com/office/drawing/2014/main" id="{CE647AC2-C428-4A7B-8957-FA380A56289C}"/>
                </a:ext>
              </a:extLst>
            </p:cNvPr>
            <p:cNvSpPr>
              <a:spLocks/>
            </p:cNvSpPr>
            <p:nvPr/>
          </p:nvSpPr>
          <p:spPr>
            <a:xfrm>
              <a:off x="4741333" y="738293"/>
              <a:ext cx="1354667" cy="257387"/>
            </a:xfrm>
            <a:prstGeom prst="rect">
              <a:avLst/>
            </a:prstGeom>
            <a:noFill/>
            <a:ln w="0">
              <a:noFill/>
            </a:ln>
          </p:spPr>
          <p:txBody>
            <a:bodyPr wrap="none" lIns="0" tIns="0" rIns="0" bIns="0" anchor="t">
              <a:noAutofit/>
            </a:bodyPr>
            <a:lstStyle>
              <a:defPPr algn="ctr">
                <a:defRPr sz="1493" b="0">
                  <a:solidFill>
                    <a:srgbClr val="82928C"/>
                  </a:solidFill>
                  <a:latin typeface="Arial"/>
                  <a:ea typeface="Arial"/>
                  <a:cs typeface="Arial"/>
                </a:defRPr>
              </a:defPPr>
            </a:lstStyle>
            <a:p>
              <a:pPr algn="ctr">
                <a:lnSpc>
                  <a:spcPct val="100000"/>
                </a:lnSpc>
                <a:buNone/>
                <a:defRPr sz="1493" b="0">
                  <a:solidFill>
                    <a:srgbClr val="82928C"/>
                  </a:solidFill>
                  <a:latin typeface="Arial"/>
                  <a:ea typeface="Arial"/>
                  <a:cs typeface="Arial"/>
                </a:defRPr>
              </a:pPr>
              <a:r>
                <a:rPr sz="1493">
                  <a:solidFill>
                    <a:srgbClr val="82928C"/>
                  </a:solidFill>
                  <a:latin typeface="Arial"/>
                  <a:ea typeface="Arial"/>
                  <a:cs typeface="Arial"/>
                </a:rPr>
                <a:t>ASIA</a:t>
              </a:r>
            </a:p>
          </p:txBody>
        </p:sp>
        <p:sp>
          <p:nvSpPr>
            <p:cNvPr id="269" name="continent-africa">
              <a:extLst>
                <a:ext uri="{FF2B5EF4-FFF2-40B4-BE49-F238E27FC236}">
                  <a16:creationId xmlns:a16="http://schemas.microsoft.com/office/drawing/2014/main" id="{DBE28419-1FAB-4017-8851-3F062D379E06}"/>
                </a:ext>
              </a:extLst>
            </p:cNvPr>
            <p:cNvSpPr>
              <a:spLocks/>
            </p:cNvSpPr>
            <p:nvPr/>
          </p:nvSpPr>
          <p:spPr>
            <a:xfrm>
              <a:off x="1449493" y="4253653"/>
              <a:ext cx="1422400" cy="257387"/>
            </a:xfrm>
            <a:prstGeom prst="rect">
              <a:avLst/>
            </a:prstGeom>
            <a:noFill/>
            <a:ln w="0">
              <a:noFill/>
            </a:ln>
          </p:spPr>
          <p:txBody>
            <a:bodyPr wrap="none" lIns="0" tIns="0" rIns="0" bIns="0" anchor="t">
              <a:noAutofit/>
            </a:bodyPr>
            <a:lstStyle>
              <a:defPPr algn="ctr">
                <a:defRPr sz="1493" b="0">
                  <a:solidFill>
                    <a:srgbClr val="82928C"/>
                  </a:solidFill>
                  <a:latin typeface="Arial"/>
                  <a:ea typeface="Arial"/>
                  <a:cs typeface="Arial"/>
                </a:defRPr>
              </a:defPPr>
            </a:lstStyle>
            <a:p>
              <a:pPr algn="ctr">
                <a:lnSpc>
                  <a:spcPct val="100000"/>
                </a:lnSpc>
                <a:buNone/>
                <a:defRPr sz="1493" b="0">
                  <a:solidFill>
                    <a:srgbClr val="82928C"/>
                  </a:solidFill>
                  <a:latin typeface="Arial"/>
                  <a:ea typeface="Arial"/>
                  <a:cs typeface="Arial"/>
                </a:defRPr>
              </a:pPr>
              <a:r>
                <a:rPr sz="1493">
                  <a:solidFill>
                    <a:srgbClr val="82928C"/>
                  </a:solidFill>
                  <a:latin typeface="Arial"/>
                  <a:ea typeface="Arial"/>
                  <a:cs typeface="Arial"/>
                </a:rPr>
                <a:t>AFRICA</a:t>
              </a:r>
            </a:p>
          </p:txBody>
        </p:sp>
        <p:sp>
          <p:nvSpPr>
            <p:cNvPr id="270" name="continent-north-america">
              <a:extLst>
                <a:ext uri="{FF2B5EF4-FFF2-40B4-BE49-F238E27FC236}">
                  <a16:creationId xmlns:a16="http://schemas.microsoft.com/office/drawing/2014/main" id="{5E8F32F6-4CE8-4042-ABC5-E89ACEBDDBA4}"/>
                </a:ext>
              </a:extLst>
            </p:cNvPr>
            <p:cNvSpPr>
              <a:spLocks/>
            </p:cNvSpPr>
            <p:nvPr/>
          </p:nvSpPr>
          <p:spPr>
            <a:xfrm>
              <a:off x="9943253" y="745067"/>
              <a:ext cx="1679787" cy="433493"/>
            </a:xfrm>
            <a:prstGeom prst="rect">
              <a:avLst/>
            </a:prstGeom>
            <a:noFill/>
            <a:ln w="0">
              <a:noFill/>
            </a:ln>
          </p:spPr>
          <p:txBody>
            <a:bodyPr wrap="none" lIns="0" tIns="0" rIns="0" bIns="0" anchor="t">
              <a:noAutofit/>
            </a:bodyPr>
            <a:lstStyle>
              <a:defPPr algn="ctr">
                <a:defRPr sz="1493" b="0">
                  <a:solidFill>
                    <a:srgbClr val="82928C"/>
                  </a:solidFill>
                  <a:latin typeface="Arial"/>
                  <a:ea typeface="Arial"/>
                  <a:cs typeface="Arial"/>
                </a:defRPr>
              </a:defPPr>
            </a:lstStyle>
            <a:p>
              <a:pPr algn="ctr">
                <a:lnSpc>
                  <a:spcPct val="100000"/>
                </a:lnSpc>
                <a:buNone/>
                <a:defRPr sz="1493" b="0">
                  <a:solidFill>
                    <a:srgbClr val="82928C"/>
                  </a:solidFill>
                  <a:latin typeface="Arial"/>
                  <a:ea typeface="Arial"/>
                  <a:cs typeface="Arial"/>
                </a:defRPr>
              </a:pPr>
              <a:r>
                <a:rPr sz="1493">
                  <a:solidFill>
                    <a:srgbClr val="82928C"/>
                  </a:solidFill>
                  <a:latin typeface="Arial"/>
                  <a:ea typeface="Arial"/>
                  <a:cs typeface="Arial"/>
                </a:rPr>
                <a:t>NORTH AMERICA</a:t>
              </a:r>
            </a:p>
          </p:txBody>
        </p:sp>
        <p:sp>
          <p:nvSpPr>
            <p:cNvPr id="271" name="continent-south-america">
              <a:extLst>
                <a:ext uri="{FF2B5EF4-FFF2-40B4-BE49-F238E27FC236}">
                  <a16:creationId xmlns:a16="http://schemas.microsoft.com/office/drawing/2014/main" id="{ADE72257-1C3E-4AFE-8CB9-038D11B9A42B}"/>
                </a:ext>
              </a:extLst>
            </p:cNvPr>
            <p:cNvSpPr>
              <a:spLocks/>
            </p:cNvSpPr>
            <p:nvPr/>
          </p:nvSpPr>
          <p:spPr>
            <a:xfrm>
              <a:off x="10884747" y="3088640"/>
              <a:ext cx="806027" cy="528320"/>
            </a:xfrm>
            <a:prstGeom prst="rect">
              <a:avLst/>
            </a:prstGeom>
            <a:noFill/>
            <a:ln w="0">
              <a:noFill/>
            </a:ln>
          </p:spPr>
          <p:txBody>
            <a:bodyPr wrap="none" lIns="0" tIns="0" rIns="0" bIns="0" anchor="t">
              <a:noAutofit/>
            </a:bodyPr>
            <a:lstStyle>
              <a:defPPr algn="ctr">
                <a:defRPr sz="1387" b="0">
                  <a:solidFill>
                    <a:srgbClr val="82928C"/>
                  </a:solidFill>
                  <a:latin typeface="Arial"/>
                  <a:ea typeface="Arial"/>
                  <a:cs typeface="Arial"/>
                </a:defRPr>
              </a:defPPr>
            </a:lstStyle>
            <a:p>
              <a:pPr algn="ctr">
                <a:lnSpc>
                  <a:spcPct val="100000"/>
                </a:lnSpc>
                <a:buNone/>
                <a:defRPr sz="1387" b="0">
                  <a:solidFill>
                    <a:srgbClr val="82928C"/>
                  </a:solidFill>
                  <a:latin typeface="Arial"/>
                  <a:ea typeface="Arial"/>
                  <a:cs typeface="Arial"/>
                </a:defRPr>
              </a:pPr>
              <a:r>
                <a:rPr sz="1387">
                  <a:solidFill>
                    <a:srgbClr val="82928C"/>
                  </a:solidFill>
                  <a:latin typeface="Arial"/>
                  <a:ea typeface="Arial"/>
                  <a:cs typeface="Arial"/>
                </a:rPr>
                <a:t>SOUTH</a:t>
              </a:r>
            </a:p>
            <a:p>
              <a:pPr algn="ctr">
                <a:lnSpc>
                  <a:spcPct val="100000"/>
                </a:lnSpc>
                <a:buNone/>
                <a:defRPr sz="1387" b="0">
                  <a:solidFill>
                    <a:srgbClr val="82928C"/>
                  </a:solidFill>
                  <a:latin typeface="Arial"/>
                  <a:ea typeface="Arial"/>
                  <a:cs typeface="Arial"/>
                </a:defRPr>
              </a:pPr>
              <a:r>
                <a:rPr sz="1387">
                  <a:solidFill>
                    <a:srgbClr val="82928C"/>
                  </a:solidFill>
                  <a:latin typeface="Arial"/>
                  <a:ea typeface="Arial"/>
                  <a:cs typeface="Arial"/>
                </a:rPr>
                <a:t>AMERICA</a:t>
              </a:r>
            </a:p>
          </p:txBody>
        </p:sp>
        <p:sp>
          <p:nvSpPr>
            <p:cNvPr id="272" name="continent-australia">
              <a:extLst>
                <a:ext uri="{FF2B5EF4-FFF2-40B4-BE49-F238E27FC236}">
                  <a16:creationId xmlns:a16="http://schemas.microsoft.com/office/drawing/2014/main" id="{36213530-0E16-492A-AC7D-E3D379E63420}"/>
                </a:ext>
              </a:extLst>
            </p:cNvPr>
            <p:cNvSpPr>
              <a:spLocks/>
            </p:cNvSpPr>
            <p:nvPr/>
          </p:nvSpPr>
          <p:spPr>
            <a:xfrm>
              <a:off x="5506720" y="4876800"/>
              <a:ext cx="1524000" cy="270933"/>
            </a:xfrm>
            <a:prstGeom prst="rect">
              <a:avLst/>
            </a:prstGeom>
            <a:noFill/>
            <a:ln w="0">
              <a:noFill/>
            </a:ln>
          </p:spPr>
          <p:txBody>
            <a:bodyPr wrap="none" lIns="0" tIns="0" rIns="0" bIns="0" anchor="t">
              <a:noAutofit/>
            </a:bodyPr>
            <a:lstStyle>
              <a:defPPr algn="ctr">
                <a:defRPr sz="1387" b="0">
                  <a:solidFill>
                    <a:srgbClr val="82928C"/>
                  </a:solidFill>
                  <a:latin typeface="Arial"/>
                  <a:ea typeface="Arial"/>
                  <a:cs typeface="Arial"/>
                </a:defRPr>
              </a:defPPr>
            </a:lstStyle>
            <a:p>
              <a:pPr algn="ctr">
                <a:lnSpc>
                  <a:spcPct val="100000"/>
                </a:lnSpc>
                <a:buNone/>
                <a:defRPr sz="1387" b="0">
                  <a:solidFill>
                    <a:srgbClr val="82928C"/>
                  </a:solidFill>
                  <a:latin typeface="Arial"/>
                  <a:ea typeface="Arial"/>
                  <a:cs typeface="Arial"/>
                </a:defRPr>
              </a:pPr>
              <a:r>
                <a:rPr sz="1387">
                  <a:solidFill>
                    <a:srgbClr val="82928C"/>
                  </a:solidFill>
                  <a:latin typeface="Arial"/>
                  <a:ea typeface="Arial"/>
                  <a:cs typeface="Arial"/>
                </a:rPr>
                <a:t>AUSTRALIA</a:t>
              </a:r>
            </a:p>
          </p:txBody>
        </p:sp>
        <p:sp>
          <p:nvSpPr>
            <p:cNvPr id="273" name="location-name-1">
              <a:extLst>
                <a:ext uri="{FF2B5EF4-FFF2-40B4-BE49-F238E27FC236}">
                  <a16:creationId xmlns:a16="http://schemas.microsoft.com/office/drawing/2014/main" id="{F96A2BBB-06C8-48D4-A775-1D94C457781A}"/>
                </a:ext>
              </a:extLst>
            </p:cNvPr>
            <p:cNvSpPr>
              <a:spLocks/>
            </p:cNvSpPr>
            <p:nvPr/>
          </p:nvSpPr>
          <p:spPr>
            <a:xfrm>
              <a:off x="5257800" y="1457325"/>
              <a:ext cx="14478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Central China</a:t>
              </a:r>
            </a:p>
          </p:txBody>
        </p:sp>
        <p:sp>
          <p:nvSpPr>
            <p:cNvPr id="274" name="location-name-2">
              <a:extLst>
                <a:ext uri="{FF2B5EF4-FFF2-40B4-BE49-F238E27FC236}">
                  <a16:creationId xmlns:a16="http://schemas.microsoft.com/office/drawing/2014/main" id="{09EB0445-963E-4F85-8C5B-9BC749B53404}"/>
                </a:ext>
              </a:extLst>
            </p:cNvPr>
            <p:cNvSpPr>
              <a:spLocks/>
            </p:cNvSpPr>
            <p:nvPr/>
          </p:nvSpPr>
          <p:spPr>
            <a:xfrm>
              <a:off x="3867150" y="2524125"/>
              <a:ext cx="10953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Daimabad</a:t>
              </a:r>
            </a:p>
          </p:txBody>
        </p:sp>
        <p:sp>
          <p:nvSpPr>
            <p:cNvPr id="275" name="location-name-3">
              <a:extLst>
                <a:ext uri="{FF2B5EF4-FFF2-40B4-BE49-F238E27FC236}">
                  <a16:creationId xmlns:a16="http://schemas.microsoft.com/office/drawing/2014/main" id="{3FD9AC9D-B344-479F-9639-D0DEA2554D98}"/>
                </a:ext>
              </a:extLst>
            </p:cNvPr>
            <p:cNvSpPr>
              <a:spLocks/>
            </p:cNvSpPr>
            <p:nvPr/>
          </p:nvSpPr>
          <p:spPr>
            <a:xfrm>
              <a:off x="6181725" y="1781175"/>
              <a:ext cx="14287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Karako-Kagi</a:t>
              </a:r>
            </a:p>
          </p:txBody>
        </p:sp>
        <p:sp>
          <p:nvSpPr>
            <p:cNvPr id="276" name="location-name-4">
              <a:extLst>
                <a:ext uri="{FF2B5EF4-FFF2-40B4-BE49-F238E27FC236}">
                  <a16:creationId xmlns:a16="http://schemas.microsoft.com/office/drawing/2014/main" id="{929777DE-2033-4804-A2A2-E37B349649EC}"/>
                </a:ext>
              </a:extLst>
            </p:cNvPr>
            <p:cNvSpPr>
              <a:spLocks/>
            </p:cNvSpPr>
            <p:nvPr/>
          </p:nvSpPr>
          <p:spPr>
            <a:xfrm>
              <a:off x="5695950" y="2209800"/>
              <a:ext cx="11430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Karakami</a:t>
              </a:r>
            </a:p>
          </p:txBody>
        </p:sp>
        <p:sp>
          <p:nvSpPr>
            <p:cNvPr id="277" name="location-name-5">
              <a:extLst>
                <a:ext uri="{FF2B5EF4-FFF2-40B4-BE49-F238E27FC236}">
                  <a16:creationId xmlns:a16="http://schemas.microsoft.com/office/drawing/2014/main" id="{95A69643-C1C1-4DEA-9669-2E6A42012724}"/>
                </a:ext>
              </a:extLst>
            </p:cNvPr>
            <p:cNvSpPr>
              <a:spLocks/>
            </p:cNvSpPr>
            <p:nvPr/>
          </p:nvSpPr>
          <p:spPr>
            <a:xfrm>
              <a:off x="3552825" y="1600200"/>
              <a:ext cx="14668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Central Asia</a:t>
              </a:r>
            </a:p>
          </p:txBody>
        </p:sp>
        <p:sp>
          <p:nvSpPr>
            <p:cNvPr id="278" name="location-name-6">
              <a:extLst>
                <a:ext uri="{FF2B5EF4-FFF2-40B4-BE49-F238E27FC236}">
                  <a16:creationId xmlns:a16="http://schemas.microsoft.com/office/drawing/2014/main" id="{768347B0-A4B2-4B8A-AEAA-FF53F54F8E8C}"/>
                </a:ext>
              </a:extLst>
            </p:cNvPr>
            <p:cNvSpPr>
              <a:spLocks/>
            </p:cNvSpPr>
            <p:nvPr/>
          </p:nvSpPr>
          <p:spPr>
            <a:xfrm>
              <a:off x="2819400" y="2152650"/>
              <a:ext cx="10668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Maresha</a:t>
              </a:r>
            </a:p>
          </p:txBody>
        </p:sp>
        <p:sp>
          <p:nvSpPr>
            <p:cNvPr id="279" name="location-name-7">
              <a:extLst>
                <a:ext uri="{FF2B5EF4-FFF2-40B4-BE49-F238E27FC236}">
                  <a16:creationId xmlns:a16="http://schemas.microsoft.com/office/drawing/2014/main" id="{955351CD-A4B9-4B7C-8302-1D9B45F60764}"/>
                </a:ext>
              </a:extLst>
            </p:cNvPr>
            <p:cNvSpPr>
              <a:spLocks/>
            </p:cNvSpPr>
            <p:nvPr/>
          </p:nvSpPr>
          <p:spPr>
            <a:xfrm>
              <a:off x="457200" y="1609725"/>
              <a:ext cx="5238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Italy</a:t>
              </a:r>
            </a:p>
          </p:txBody>
        </p:sp>
        <p:sp>
          <p:nvSpPr>
            <p:cNvPr id="280" name="location-name-8">
              <a:extLst>
                <a:ext uri="{FF2B5EF4-FFF2-40B4-BE49-F238E27FC236}">
                  <a16:creationId xmlns:a16="http://schemas.microsoft.com/office/drawing/2014/main" id="{5848103F-E557-49AA-991B-519440BB121D}"/>
                </a:ext>
              </a:extLst>
            </p:cNvPr>
            <p:cNvSpPr>
              <a:spLocks/>
            </p:cNvSpPr>
            <p:nvPr/>
          </p:nvSpPr>
          <p:spPr>
            <a:xfrm>
              <a:off x="400050" y="1152525"/>
              <a:ext cx="5334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Britain</a:t>
              </a:r>
            </a:p>
          </p:txBody>
        </p:sp>
        <p:sp>
          <p:nvSpPr>
            <p:cNvPr id="281" name="location-name-9">
              <a:extLst>
                <a:ext uri="{FF2B5EF4-FFF2-40B4-BE49-F238E27FC236}">
                  <a16:creationId xmlns:a16="http://schemas.microsoft.com/office/drawing/2014/main" id="{D3A4ED78-7A28-4FF0-9600-7737F8EE845E}"/>
                </a:ext>
              </a:extLst>
            </p:cNvPr>
            <p:cNvSpPr>
              <a:spLocks/>
            </p:cNvSpPr>
            <p:nvPr/>
          </p:nvSpPr>
          <p:spPr>
            <a:xfrm>
              <a:off x="2228850" y="914400"/>
              <a:ext cx="8286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Åland</a:t>
              </a:r>
            </a:p>
          </p:txBody>
        </p:sp>
        <p:sp>
          <p:nvSpPr>
            <p:cNvPr id="282" name="location-name-10">
              <a:extLst>
                <a:ext uri="{FF2B5EF4-FFF2-40B4-BE49-F238E27FC236}">
                  <a16:creationId xmlns:a16="http://schemas.microsoft.com/office/drawing/2014/main" id="{72D5E6A7-FDE1-4EC8-ADEF-65AA62A3763F}"/>
                </a:ext>
              </a:extLst>
            </p:cNvPr>
            <p:cNvSpPr>
              <a:spLocks/>
            </p:cNvSpPr>
            <p:nvPr/>
          </p:nvSpPr>
          <p:spPr>
            <a:xfrm>
              <a:off x="3114675" y="2800350"/>
              <a:ext cx="10191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Mezber</a:t>
              </a:r>
            </a:p>
          </p:txBody>
        </p:sp>
        <p:sp>
          <p:nvSpPr>
            <p:cNvPr id="283" name="location-name-11">
              <a:extLst>
                <a:ext uri="{FF2B5EF4-FFF2-40B4-BE49-F238E27FC236}">
                  <a16:creationId xmlns:a16="http://schemas.microsoft.com/office/drawing/2014/main" id="{BAC57036-F33E-4611-98EF-ECFCB73B8C62}"/>
                </a:ext>
              </a:extLst>
            </p:cNvPr>
            <p:cNvSpPr>
              <a:spLocks/>
            </p:cNvSpPr>
            <p:nvPr/>
          </p:nvSpPr>
          <p:spPr>
            <a:xfrm>
              <a:off x="866775" y="2733675"/>
              <a:ext cx="12382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Jenne-jeno</a:t>
              </a:r>
            </a:p>
          </p:txBody>
        </p:sp>
        <p:sp>
          <p:nvSpPr>
            <p:cNvPr id="284" name="location-name-12a">
              <a:extLst>
                <a:ext uri="{FF2B5EF4-FFF2-40B4-BE49-F238E27FC236}">
                  <a16:creationId xmlns:a16="http://schemas.microsoft.com/office/drawing/2014/main" id="{D688801E-CFE7-40A6-A934-BA729B016BB4}"/>
                </a:ext>
              </a:extLst>
            </p:cNvPr>
            <p:cNvSpPr>
              <a:spLocks/>
            </p:cNvSpPr>
            <p:nvPr/>
          </p:nvSpPr>
          <p:spPr>
            <a:xfrm>
              <a:off x="752475" y="3305175"/>
              <a:ext cx="11334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Unguja Ukuu</a:t>
              </a:r>
            </a:p>
          </p:txBody>
        </p:sp>
        <p:sp>
          <p:nvSpPr>
            <p:cNvPr id="285" name="location-name-12b">
              <a:extLst>
                <a:ext uri="{FF2B5EF4-FFF2-40B4-BE49-F238E27FC236}">
                  <a16:creationId xmlns:a16="http://schemas.microsoft.com/office/drawing/2014/main" id="{A52C1C1D-3599-46A3-8C8A-B1C26B7294C0}"/>
                </a:ext>
              </a:extLst>
            </p:cNvPr>
            <p:cNvSpPr>
              <a:spLocks/>
            </p:cNvSpPr>
            <p:nvPr/>
          </p:nvSpPr>
          <p:spPr>
            <a:xfrm>
              <a:off x="3752850" y="3905250"/>
              <a:ext cx="12096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Mahilaka</a:t>
              </a:r>
            </a:p>
          </p:txBody>
        </p:sp>
        <p:sp>
          <p:nvSpPr>
            <p:cNvPr id="286" name="location-name-13a">
              <a:extLst>
                <a:ext uri="{FF2B5EF4-FFF2-40B4-BE49-F238E27FC236}">
                  <a16:creationId xmlns:a16="http://schemas.microsoft.com/office/drawing/2014/main" id="{7DEC856D-9131-412C-932A-563FECAB4527}"/>
                </a:ext>
              </a:extLst>
            </p:cNvPr>
            <p:cNvSpPr>
              <a:spLocks/>
            </p:cNvSpPr>
            <p:nvPr/>
          </p:nvSpPr>
          <p:spPr>
            <a:xfrm>
              <a:off x="6629400" y="3305175"/>
              <a:ext cx="12192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Nenumbo</a:t>
              </a:r>
            </a:p>
          </p:txBody>
        </p:sp>
        <p:sp>
          <p:nvSpPr>
            <p:cNvPr id="287" name="location-name-13b">
              <a:extLst>
                <a:ext uri="{FF2B5EF4-FFF2-40B4-BE49-F238E27FC236}">
                  <a16:creationId xmlns:a16="http://schemas.microsoft.com/office/drawing/2014/main" id="{48B25D58-7060-4CFF-8A1D-1F3B1A4099BE}"/>
                </a:ext>
              </a:extLst>
            </p:cNvPr>
            <p:cNvSpPr>
              <a:spLocks/>
            </p:cNvSpPr>
            <p:nvPr/>
          </p:nvSpPr>
          <p:spPr>
            <a:xfrm>
              <a:off x="7620000" y="4162425"/>
              <a:ext cx="14763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Tongoleleka</a:t>
              </a:r>
            </a:p>
          </p:txBody>
        </p:sp>
        <p:sp>
          <p:nvSpPr>
            <p:cNvPr id="288" name="location-name-14">
              <a:extLst>
                <a:ext uri="{FF2B5EF4-FFF2-40B4-BE49-F238E27FC236}">
                  <a16:creationId xmlns:a16="http://schemas.microsoft.com/office/drawing/2014/main" id="{BD6A34E9-7BDD-46CE-80E6-0BA59C2366B2}"/>
                </a:ext>
              </a:extLst>
            </p:cNvPr>
            <p:cNvSpPr>
              <a:spLocks/>
            </p:cNvSpPr>
            <p:nvPr/>
          </p:nvSpPr>
          <p:spPr>
            <a:xfrm>
              <a:off x="11010900" y="4676775"/>
              <a:ext cx="1104900" cy="247650"/>
            </a:xfrm>
            <a:prstGeom prst="rect">
              <a:avLst/>
            </a:prstGeom>
            <a:noFill/>
            <a:ln w="0">
              <a:noFill/>
            </a:ln>
          </p:spPr>
          <p:txBody>
            <a:bodyPr wrap="none" lIns="0" tIns="0" rIns="0" bIns="0" anchor="ctr">
              <a:noAutofit/>
            </a:bodyPr>
            <a:lstStyle>
              <a:defPPr algn="l">
                <a:defRPr sz="1313" b="0">
                  <a:solidFill>
                    <a:srgbClr val="405F5B"/>
                  </a:solidFill>
                  <a:latin typeface="Arial"/>
                  <a:ea typeface="Arial"/>
                  <a:cs typeface="Arial"/>
                </a:defRPr>
              </a:defPPr>
            </a:lstStyle>
            <a:p>
              <a:pPr algn="l">
                <a:lnSpc>
                  <a:spcPct val="100000"/>
                </a:lnSpc>
                <a:buNone/>
                <a:defRPr sz="1313" b="0">
                  <a:solidFill>
                    <a:srgbClr val="405F5B"/>
                  </a:solidFill>
                  <a:latin typeface="Arial"/>
                  <a:ea typeface="Arial"/>
                  <a:cs typeface="Arial"/>
                </a:defRPr>
              </a:pPr>
              <a:r>
                <a:rPr sz="1313">
                  <a:solidFill>
                    <a:srgbClr val="405F5B"/>
                  </a:solidFill>
                  <a:latin typeface="Arial"/>
                  <a:ea typeface="Arial"/>
                  <a:cs typeface="Arial"/>
                </a:rPr>
                <a:t>El Arenal-1</a:t>
              </a:r>
            </a:p>
          </p:txBody>
        </p:sp>
        <p:sp>
          <p:nvSpPr>
            <p:cNvPr id="289" name="location-name-15">
              <a:extLst>
                <a:ext uri="{FF2B5EF4-FFF2-40B4-BE49-F238E27FC236}">
                  <a16:creationId xmlns:a16="http://schemas.microsoft.com/office/drawing/2014/main" id="{977B3D71-A582-4382-9345-E5A07F85FD0D}"/>
                </a:ext>
              </a:extLst>
            </p:cNvPr>
            <p:cNvSpPr>
              <a:spLocks/>
            </p:cNvSpPr>
            <p:nvPr/>
          </p:nvSpPr>
          <p:spPr>
            <a:xfrm>
              <a:off x="10934700" y="1704975"/>
              <a:ext cx="1200150" cy="247650"/>
            </a:xfrm>
            <a:prstGeom prst="rect">
              <a:avLst/>
            </a:prstGeom>
            <a:noFill/>
            <a:ln w="0">
              <a:noFill/>
            </a:ln>
          </p:spPr>
          <p:txBody>
            <a:bodyPr wrap="none" lIns="0" tIns="0" rIns="0" bIns="0" anchor="ctr">
              <a:noAutofit/>
            </a:bodyPr>
            <a:lstStyle>
              <a:defPPr algn="l">
                <a:defRPr sz="1313" b="0">
                  <a:solidFill>
                    <a:srgbClr val="405F5B"/>
                  </a:solidFill>
                  <a:latin typeface="Arial"/>
                  <a:ea typeface="Arial"/>
                  <a:cs typeface="Arial"/>
                </a:defRPr>
              </a:defPPr>
            </a:lstStyle>
            <a:p>
              <a:pPr algn="l">
                <a:lnSpc>
                  <a:spcPct val="100000"/>
                </a:lnSpc>
                <a:buNone/>
                <a:defRPr sz="1313" b="0">
                  <a:solidFill>
                    <a:srgbClr val="405F5B"/>
                  </a:solidFill>
                  <a:latin typeface="Arial"/>
                  <a:ea typeface="Arial"/>
                  <a:cs typeface="Arial"/>
                </a:defRPr>
              </a:pPr>
              <a:r>
                <a:rPr sz="1313">
                  <a:solidFill>
                    <a:srgbClr val="405F5B"/>
                  </a:solidFill>
                  <a:latin typeface="Arial"/>
                  <a:ea typeface="Arial"/>
                  <a:cs typeface="Arial"/>
                </a:rPr>
                <a:t>Haiti / Florida</a:t>
              </a:r>
            </a:p>
          </p:txBody>
        </p:sp>
        <p:sp>
          <p:nvSpPr>
            <p:cNvPr id="290" name="location-name-16">
              <a:extLst>
                <a:ext uri="{FF2B5EF4-FFF2-40B4-BE49-F238E27FC236}">
                  <a16:creationId xmlns:a16="http://schemas.microsoft.com/office/drawing/2014/main" id="{28918313-FE5E-4D04-876F-7841A62CB9F4}"/>
                </a:ext>
              </a:extLst>
            </p:cNvPr>
            <p:cNvSpPr>
              <a:spLocks/>
            </p:cNvSpPr>
            <p:nvPr/>
          </p:nvSpPr>
          <p:spPr>
            <a:xfrm>
              <a:off x="4714875" y="2971800"/>
              <a:ext cx="14287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Ban Non Wat</a:t>
              </a:r>
            </a:p>
          </p:txBody>
        </p:sp>
        <p:sp>
          <p:nvSpPr>
            <p:cNvPr id="291" name="location-name-17">
              <a:extLst>
                <a:ext uri="{FF2B5EF4-FFF2-40B4-BE49-F238E27FC236}">
                  <a16:creationId xmlns:a16="http://schemas.microsoft.com/office/drawing/2014/main" id="{FBCC2770-E1C6-4293-845B-14F68D24A664}"/>
                </a:ext>
              </a:extLst>
            </p:cNvPr>
            <p:cNvSpPr>
              <a:spLocks/>
            </p:cNvSpPr>
            <p:nvPr/>
          </p:nvSpPr>
          <p:spPr>
            <a:xfrm>
              <a:off x="2152650" y="1371600"/>
              <a:ext cx="126682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Arslantepe</a:t>
              </a:r>
            </a:p>
          </p:txBody>
        </p:sp>
        <p:sp>
          <p:nvSpPr>
            <p:cNvPr id="292" name="location-name-18">
              <a:extLst>
                <a:ext uri="{FF2B5EF4-FFF2-40B4-BE49-F238E27FC236}">
                  <a16:creationId xmlns:a16="http://schemas.microsoft.com/office/drawing/2014/main" id="{1FFD47F2-9FFF-4F17-9D77-7479EF2F796D}"/>
                </a:ext>
              </a:extLst>
            </p:cNvPr>
            <p:cNvSpPr>
              <a:spLocks/>
            </p:cNvSpPr>
            <p:nvPr/>
          </p:nvSpPr>
          <p:spPr>
            <a:xfrm>
              <a:off x="1828800" y="2333625"/>
              <a:ext cx="12954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Lower Egypt</a:t>
              </a:r>
            </a:p>
          </p:txBody>
        </p:sp>
        <p:sp>
          <p:nvSpPr>
            <p:cNvPr id="293" name="location-name-19">
              <a:extLst>
                <a:ext uri="{FF2B5EF4-FFF2-40B4-BE49-F238E27FC236}">
                  <a16:creationId xmlns:a16="http://schemas.microsoft.com/office/drawing/2014/main" id="{D0688B39-2EAB-427C-B583-8409513B68B0}"/>
                </a:ext>
              </a:extLst>
            </p:cNvPr>
            <p:cNvSpPr>
              <a:spLocks/>
            </p:cNvSpPr>
            <p:nvPr/>
          </p:nvSpPr>
          <p:spPr>
            <a:xfrm>
              <a:off x="6381750" y="3943350"/>
              <a:ext cx="7905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Teouma</a:t>
              </a:r>
            </a:p>
          </p:txBody>
        </p:sp>
        <p:sp>
          <p:nvSpPr>
            <p:cNvPr id="294" name="location-name-20">
              <a:extLst>
                <a:ext uri="{FF2B5EF4-FFF2-40B4-BE49-F238E27FC236}">
                  <a16:creationId xmlns:a16="http://schemas.microsoft.com/office/drawing/2014/main" id="{CD8C6A88-AA7E-497D-AF12-01725EC988C7}"/>
                </a:ext>
              </a:extLst>
            </p:cNvPr>
            <p:cNvSpPr>
              <a:spLocks/>
            </p:cNvSpPr>
            <p:nvPr/>
          </p:nvSpPr>
          <p:spPr>
            <a:xfrm>
              <a:off x="7848600" y="2200275"/>
              <a:ext cx="17907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Pelekane, Hawaii</a:t>
              </a:r>
            </a:p>
          </p:txBody>
        </p:sp>
        <p:sp>
          <p:nvSpPr>
            <p:cNvPr id="295" name="location-name-21">
              <a:extLst>
                <a:ext uri="{FF2B5EF4-FFF2-40B4-BE49-F238E27FC236}">
                  <a16:creationId xmlns:a16="http://schemas.microsoft.com/office/drawing/2014/main" id="{4CEB81A8-4585-4897-BB51-B7B52F1519CA}"/>
                </a:ext>
              </a:extLst>
            </p:cNvPr>
            <p:cNvSpPr>
              <a:spLocks/>
            </p:cNvSpPr>
            <p:nvPr/>
          </p:nvSpPr>
          <p:spPr>
            <a:xfrm>
              <a:off x="8867775" y="4410075"/>
              <a:ext cx="130492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Rapa Nui</a:t>
              </a:r>
            </a:p>
          </p:txBody>
        </p:sp>
        <p:sp>
          <p:nvSpPr>
            <p:cNvPr id="296" name="maternal-shared-source-EastAfrica">
              <a:extLst>
                <a:ext uri="{FF2B5EF4-FFF2-40B4-BE49-F238E27FC236}">
                  <a16:creationId xmlns:a16="http://schemas.microsoft.com/office/drawing/2014/main" id="{6ED087A1-428A-48A9-8090-213AB2A3C14C}"/>
                </a:ext>
              </a:extLst>
            </p:cNvPr>
            <p:cNvSpPr>
              <a:spLocks/>
            </p:cNvSpPr>
            <p:nvPr/>
          </p:nvSpPr>
          <p:spPr>
            <a:xfrm>
              <a:off x="2596580" y="2927048"/>
              <a:ext cx="1223580" cy="467324"/>
            </a:xfrm>
            <a:custGeom>
              <a:avLst/>
              <a:gdLst/>
              <a:ahLst/>
              <a:cxnLst/>
              <a:rect l="0" t="0" r="0" b="0"/>
              <a:pathLst>
                <a:path w="1720660" h="657174">
                  <a:moveTo>
                    <a:pt x="1720660" y="0"/>
                  </a:moveTo>
                  <a:lnTo>
                    <a:pt x="1685111" y="27882"/>
                  </a:lnTo>
                  <a:lnTo>
                    <a:pt x="1648669" y="53606"/>
                  </a:lnTo>
                  <a:lnTo>
                    <a:pt x="1611365" y="77304"/>
                  </a:lnTo>
                  <a:lnTo>
                    <a:pt x="1573229" y="99109"/>
                  </a:lnTo>
                  <a:lnTo>
                    <a:pt x="1534292" y="119153"/>
                  </a:lnTo>
                  <a:lnTo>
                    <a:pt x="1494585" y="137567"/>
                  </a:lnTo>
                  <a:lnTo>
                    <a:pt x="1454137" y="154484"/>
                  </a:lnTo>
                  <a:lnTo>
                    <a:pt x="1412980" y="170037"/>
                  </a:lnTo>
                  <a:lnTo>
                    <a:pt x="1371144" y="184356"/>
                  </a:lnTo>
                  <a:lnTo>
                    <a:pt x="1328660" y="197574"/>
                  </a:lnTo>
                  <a:lnTo>
                    <a:pt x="1285558" y="209824"/>
                  </a:lnTo>
                  <a:lnTo>
                    <a:pt x="1241869" y="221238"/>
                  </a:lnTo>
                  <a:lnTo>
                    <a:pt x="1197623" y="231946"/>
                  </a:lnTo>
                  <a:lnTo>
                    <a:pt x="1152851" y="242083"/>
                  </a:lnTo>
                  <a:lnTo>
                    <a:pt x="1107584" y="251779"/>
                  </a:lnTo>
                  <a:lnTo>
                    <a:pt x="1061851" y="261168"/>
                  </a:lnTo>
                  <a:lnTo>
                    <a:pt x="1015685" y="270380"/>
                  </a:lnTo>
                  <a:lnTo>
                    <a:pt x="969114" y="279548"/>
                  </a:lnTo>
                  <a:lnTo>
                    <a:pt x="922171" y="288805"/>
                  </a:lnTo>
                  <a:lnTo>
                    <a:pt x="874885" y="298282"/>
                  </a:lnTo>
                  <a:lnTo>
                    <a:pt x="827287" y="308112"/>
                  </a:lnTo>
                  <a:lnTo>
                    <a:pt x="779407" y="318426"/>
                  </a:lnTo>
                  <a:lnTo>
                    <a:pt x="731276" y="329357"/>
                  </a:lnTo>
                  <a:lnTo>
                    <a:pt x="682925" y="341037"/>
                  </a:lnTo>
                  <a:lnTo>
                    <a:pt x="634385" y="353598"/>
                  </a:lnTo>
                  <a:lnTo>
                    <a:pt x="585685" y="367172"/>
                  </a:lnTo>
                  <a:lnTo>
                    <a:pt x="536857" y="381892"/>
                  </a:lnTo>
                  <a:lnTo>
                    <a:pt x="487930" y="397888"/>
                  </a:lnTo>
                  <a:lnTo>
                    <a:pt x="438936" y="415294"/>
                  </a:lnTo>
                  <a:lnTo>
                    <a:pt x="389906" y="434242"/>
                  </a:lnTo>
                  <a:lnTo>
                    <a:pt x="340869" y="454863"/>
                  </a:lnTo>
                  <a:lnTo>
                    <a:pt x="291856" y="477290"/>
                  </a:lnTo>
                  <a:lnTo>
                    <a:pt x="242898" y="501655"/>
                  </a:lnTo>
                  <a:lnTo>
                    <a:pt x="194025" y="528091"/>
                  </a:lnTo>
                  <a:lnTo>
                    <a:pt x="145268" y="556728"/>
                  </a:lnTo>
                  <a:lnTo>
                    <a:pt x="96658" y="587699"/>
                  </a:lnTo>
                  <a:lnTo>
                    <a:pt x="48225" y="621137"/>
                  </a:lnTo>
                  <a:lnTo>
                    <a:pt x="0" y="657174"/>
                  </a:lnTo>
                </a:path>
              </a:pathLst>
            </a:custGeom>
            <a:noFill/>
            <a:ln w="18965">
              <a:solidFill>
                <a:srgbClr val="7C6F92"/>
              </a:solidFill>
              <a:prstDash val="dash"/>
            </a:ln>
          </p:spPr>
          <p:txBody>
            <a:bodyPr/>
            <a:p/>
          </p:txBody>
        </p:sp>
        <p:sp>
          <p:nvSpPr>
            <p:cNvPr id="297" name="maternal-shared-source-EastAfrica-head">
              <a:extLst>
                <a:ext uri="{FF2B5EF4-FFF2-40B4-BE49-F238E27FC236}">
                  <a16:creationId xmlns:a16="http://schemas.microsoft.com/office/drawing/2014/main" id="{323B30E5-F32E-4DE8-B461-E759D83ECEE7}"/>
                </a:ext>
              </a:extLst>
            </p:cNvPr>
            <p:cNvSpPr>
              <a:spLocks/>
            </p:cNvSpPr>
            <p:nvPr/>
          </p:nvSpPr>
          <p:spPr>
            <a:xfrm>
              <a:off x="2596580" y="3316418"/>
              <a:ext cx="87004" cy="77953"/>
            </a:xfrm>
            <a:custGeom>
              <a:avLst/>
              <a:gdLst/>
              <a:ahLst/>
              <a:cxnLst/>
              <a:rect l="0" t="0" r="0" b="0"/>
              <a:pathLst>
                <a:path w="122349" h="109621">
                  <a:moveTo>
                    <a:pt x="0" y="109621"/>
                  </a:moveTo>
                  <a:lnTo>
                    <a:pt x="122349" y="82405"/>
                  </a:lnTo>
                  <a:lnTo>
                    <a:pt x="60772" y="0"/>
                  </a:lnTo>
                  <a:close/>
                </a:path>
              </a:pathLst>
            </a:custGeom>
            <a:solidFill>
              <a:srgbClr val="7C6F92"/>
            </a:solidFill>
            <a:ln w="0">
              <a:noFill/>
              <a:prstDash val="solid"/>
            </a:ln>
          </p:spPr>
          <p:txBody>
            <a:bodyPr/>
            <a:p/>
          </p:txBody>
        </p:sp>
        <p:sp>
          <p:nvSpPr>
            <p:cNvPr id="298" name="maternal-M1-EastAfrica-Madagascar">
              <a:extLst>
                <a:ext uri="{FF2B5EF4-FFF2-40B4-BE49-F238E27FC236}">
                  <a16:creationId xmlns:a16="http://schemas.microsoft.com/office/drawing/2014/main" id="{11CEEB38-DECE-4DD4-AFDF-A454340819B4}"/>
                </a:ext>
              </a:extLst>
            </p:cNvPr>
            <p:cNvSpPr>
              <a:spLocks/>
            </p:cNvSpPr>
            <p:nvPr/>
          </p:nvSpPr>
          <p:spPr>
            <a:xfrm>
              <a:off x="2596563" y="3394377"/>
              <a:ext cx="267462" cy="267462"/>
            </a:xfrm>
            <a:custGeom>
              <a:avLst/>
              <a:gdLst/>
              <a:ahLst/>
              <a:cxnLst/>
              <a:rect l="0" t="0" r="0" b="0"/>
              <a:pathLst>
                <a:path w="267462" h="267462">
                  <a:moveTo>
                    <a:pt x="0" y="0"/>
                  </a:moveTo>
                  <a:lnTo>
                    <a:pt x="1277" y="9466"/>
                  </a:lnTo>
                  <a:lnTo>
                    <a:pt x="3050" y="18835"/>
                  </a:lnTo>
                  <a:lnTo>
                    <a:pt x="5303" y="28105"/>
                  </a:lnTo>
                  <a:lnTo>
                    <a:pt x="8021" y="37273"/>
                  </a:lnTo>
                  <a:lnTo>
                    <a:pt x="11188" y="46335"/>
                  </a:lnTo>
                  <a:lnTo>
                    <a:pt x="14790" y="55290"/>
                  </a:lnTo>
                  <a:lnTo>
                    <a:pt x="18810" y="64133"/>
                  </a:lnTo>
                  <a:lnTo>
                    <a:pt x="23234" y="72863"/>
                  </a:lnTo>
                  <a:lnTo>
                    <a:pt x="28045" y="81476"/>
                  </a:lnTo>
                  <a:lnTo>
                    <a:pt x="33230" y="89969"/>
                  </a:lnTo>
                  <a:lnTo>
                    <a:pt x="38772" y="98339"/>
                  </a:lnTo>
                  <a:lnTo>
                    <a:pt x="44656" y="106585"/>
                  </a:lnTo>
                  <a:lnTo>
                    <a:pt x="50867" y="114702"/>
                  </a:lnTo>
                  <a:lnTo>
                    <a:pt x="57389" y="122687"/>
                  </a:lnTo>
                  <a:lnTo>
                    <a:pt x="64208" y="130539"/>
                  </a:lnTo>
                  <a:lnTo>
                    <a:pt x="71307" y="138254"/>
                  </a:lnTo>
                  <a:lnTo>
                    <a:pt x="78671" y="145828"/>
                  </a:lnTo>
                  <a:lnTo>
                    <a:pt x="86286" y="153260"/>
                  </a:lnTo>
                  <a:lnTo>
                    <a:pt x="94135" y="160547"/>
                  </a:lnTo>
                  <a:lnTo>
                    <a:pt x="102203" y="167684"/>
                  </a:lnTo>
                  <a:lnTo>
                    <a:pt x="110476" y="174671"/>
                  </a:lnTo>
                  <a:lnTo>
                    <a:pt x="118937" y="181503"/>
                  </a:lnTo>
                  <a:lnTo>
                    <a:pt x="127572" y="188177"/>
                  </a:lnTo>
                  <a:lnTo>
                    <a:pt x="136365" y="194692"/>
                  </a:lnTo>
                  <a:lnTo>
                    <a:pt x="145300" y="201043"/>
                  </a:lnTo>
                  <a:lnTo>
                    <a:pt x="154363" y="207229"/>
                  </a:lnTo>
                  <a:lnTo>
                    <a:pt x="163537" y="213246"/>
                  </a:lnTo>
                  <a:lnTo>
                    <a:pt x="172808" y="219091"/>
                  </a:lnTo>
                  <a:lnTo>
                    <a:pt x="182161" y="224761"/>
                  </a:lnTo>
                  <a:lnTo>
                    <a:pt x="191580" y="230255"/>
                  </a:lnTo>
                  <a:lnTo>
                    <a:pt x="201049" y="235567"/>
                  </a:lnTo>
                  <a:lnTo>
                    <a:pt x="210553" y="240697"/>
                  </a:lnTo>
                  <a:lnTo>
                    <a:pt x="220078" y="245640"/>
                  </a:lnTo>
                  <a:lnTo>
                    <a:pt x="229607" y="250394"/>
                  </a:lnTo>
                  <a:lnTo>
                    <a:pt x="239125" y="254956"/>
                  </a:lnTo>
                  <a:lnTo>
                    <a:pt x="248617" y="259323"/>
                  </a:lnTo>
                  <a:lnTo>
                    <a:pt x="258068" y="263493"/>
                  </a:lnTo>
                  <a:lnTo>
                    <a:pt x="267462" y="267462"/>
                  </a:lnTo>
                </a:path>
              </a:pathLst>
            </a:custGeom>
            <a:noFill/>
            <a:ln w="18965">
              <a:solidFill>
                <a:srgbClr val="7C6F92"/>
              </a:solidFill>
              <a:prstDash val="dash"/>
            </a:ln>
          </p:spPr>
          <p:txBody>
            <a:bodyPr/>
            <a:p/>
          </p:txBody>
        </p:sp>
        <p:sp>
          <p:nvSpPr>
            <p:cNvPr id="299" name="maternal-M1-EastAfrica-Madagascar-head">
              <a:extLst>
                <a:ext uri="{FF2B5EF4-FFF2-40B4-BE49-F238E27FC236}">
                  <a16:creationId xmlns:a16="http://schemas.microsoft.com/office/drawing/2014/main" id="{51093A57-E563-4C15-A854-6C79384F8FA7}"/>
                </a:ext>
              </a:extLst>
            </p:cNvPr>
            <p:cNvSpPr>
              <a:spLocks/>
            </p:cNvSpPr>
            <p:nvPr/>
          </p:nvSpPr>
          <p:spPr>
            <a:xfrm>
              <a:off x="2776310" y="3597534"/>
              <a:ext cx="87714" cy="66332"/>
            </a:xfrm>
            <a:custGeom>
              <a:avLst/>
              <a:gdLst/>
              <a:ahLst/>
              <a:cxnLst/>
              <a:rect l="0" t="0" r="0" b="0"/>
              <a:pathLst>
                <a:path w="87714" h="66332">
                  <a:moveTo>
                    <a:pt x="87714" y="64305"/>
                  </a:moveTo>
                  <a:lnTo>
                    <a:pt x="28025" y="0"/>
                  </a:lnTo>
                  <a:lnTo>
                    <a:pt x="0" y="66332"/>
                  </a:lnTo>
                  <a:close/>
                </a:path>
              </a:pathLst>
            </a:custGeom>
            <a:solidFill>
              <a:srgbClr val="7C6F92"/>
            </a:solidFill>
            <a:ln w="0">
              <a:noFill/>
              <a:prstDash val="solid"/>
            </a:ln>
          </p:spPr>
          <p:txBody>
            <a:bodyPr/>
            <a:p/>
          </p:txBody>
        </p:sp>
        <p:sp>
          <p:nvSpPr>
            <p:cNvPr id="300" name="maternal-M2-source-Madagascar">
              <a:extLst>
                <a:ext uri="{FF2B5EF4-FFF2-40B4-BE49-F238E27FC236}">
                  <a16:creationId xmlns:a16="http://schemas.microsoft.com/office/drawing/2014/main" id="{237B4772-290E-48AE-B25D-BFF4BE07C7EE}"/>
                </a:ext>
              </a:extLst>
            </p:cNvPr>
            <p:cNvSpPr>
              <a:spLocks/>
            </p:cNvSpPr>
            <p:nvPr/>
          </p:nvSpPr>
          <p:spPr>
            <a:xfrm>
              <a:off x="2863991" y="2927048"/>
              <a:ext cx="972937" cy="734786"/>
            </a:xfrm>
            <a:custGeom>
              <a:avLst/>
              <a:gdLst/>
              <a:ahLst/>
              <a:cxnLst/>
              <a:rect l="0" t="0" r="0" b="0"/>
              <a:pathLst>
                <a:path w="1368192" h="1033292">
                  <a:moveTo>
                    <a:pt x="1344612" y="0"/>
                  </a:moveTo>
                  <a:lnTo>
                    <a:pt x="1356547" y="56966"/>
                  </a:lnTo>
                  <a:lnTo>
                    <a:pt x="1364364" y="111871"/>
                  </a:lnTo>
                  <a:lnTo>
                    <a:pt x="1368192" y="164752"/>
                  </a:lnTo>
                  <a:lnTo>
                    <a:pt x="1368163" y="215647"/>
                  </a:lnTo>
                  <a:lnTo>
                    <a:pt x="1364405" y="264594"/>
                  </a:lnTo>
                  <a:lnTo>
                    <a:pt x="1357050" y="311630"/>
                  </a:lnTo>
                  <a:lnTo>
                    <a:pt x="1346227" y="356793"/>
                  </a:lnTo>
                  <a:lnTo>
                    <a:pt x="1332066" y="400120"/>
                  </a:lnTo>
                  <a:lnTo>
                    <a:pt x="1314697" y="441650"/>
                  </a:lnTo>
                  <a:lnTo>
                    <a:pt x="1294251" y="481420"/>
                  </a:lnTo>
                  <a:lnTo>
                    <a:pt x="1270856" y="519467"/>
                  </a:lnTo>
                  <a:lnTo>
                    <a:pt x="1244644" y="555830"/>
                  </a:lnTo>
                  <a:lnTo>
                    <a:pt x="1215744" y="590545"/>
                  </a:lnTo>
                  <a:lnTo>
                    <a:pt x="1184286" y="623651"/>
                  </a:lnTo>
                  <a:lnTo>
                    <a:pt x="1150400" y="655186"/>
                  </a:lnTo>
                  <a:lnTo>
                    <a:pt x="1114216" y="685186"/>
                  </a:lnTo>
                  <a:lnTo>
                    <a:pt x="1075865" y="713690"/>
                  </a:lnTo>
                  <a:lnTo>
                    <a:pt x="1035476" y="740735"/>
                  </a:lnTo>
                  <a:lnTo>
                    <a:pt x="993180" y="766359"/>
                  </a:lnTo>
                  <a:lnTo>
                    <a:pt x="949105" y="790599"/>
                  </a:lnTo>
                  <a:lnTo>
                    <a:pt x="903383" y="813494"/>
                  </a:lnTo>
                  <a:lnTo>
                    <a:pt x="856144" y="835080"/>
                  </a:lnTo>
                  <a:lnTo>
                    <a:pt x="807516" y="855396"/>
                  </a:lnTo>
                  <a:lnTo>
                    <a:pt x="757631" y="874480"/>
                  </a:lnTo>
                  <a:lnTo>
                    <a:pt x="706619" y="892368"/>
                  </a:lnTo>
                  <a:lnTo>
                    <a:pt x="654609" y="909098"/>
                  </a:lnTo>
                  <a:lnTo>
                    <a:pt x="601731" y="924709"/>
                  </a:lnTo>
                  <a:lnTo>
                    <a:pt x="548116" y="939238"/>
                  </a:lnTo>
                  <a:lnTo>
                    <a:pt x="493893" y="952722"/>
                  </a:lnTo>
                  <a:lnTo>
                    <a:pt x="439192" y="965200"/>
                  </a:lnTo>
                  <a:lnTo>
                    <a:pt x="384145" y="976708"/>
                  </a:lnTo>
                  <a:lnTo>
                    <a:pt x="328879" y="987285"/>
                  </a:lnTo>
                  <a:lnTo>
                    <a:pt x="273526" y="996967"/>
                  </a:lnTo>
                  <a:lnTo>
                    <a:pt x="218216" y="1005794"/>
                  </a:lnTo>
                  <a:lnTo>
                    <a:pt x="163078" y="1013802"/>
                  </a:lnTo>
                  <a:lnTo>
                    <a:pt x="108243" y="1021030"/>
                  </a:lnTo>
                  <a:lnTo>
                    <a:pt x="53840" y="1027514"/>
                  </a:lnTo>
                  <a:lnTo>
                    <a:pt x="0" y="1033292"/>
                  </a:lnTo>
                </a:path>
              </a:pathLst>
            </a:custGeom>
            <a:noFill/>
            <a:ln w="18965">
              <a:solidFill>
                <a:srgbClr val="7C6F92"/>
              </a:solidFill>
              <a:prstDash val="dash"/>
            </a:ln>
          </p:spPr>
          <p:txBody>
            <a:bodyPr/>
            <a:p/>
          </p:txBody>
        </p:sp>
        <p:sp>
          <p:nvSpPr>
            <p:cNvPr id="301" name="maternal-M2-source-Madagascar-head">
              <a:extLst>
                <a:ext uri="{FF2B5EF4-FFF2-40B4-BE49-F238E27FC236}">
                  <a16:creationId xmlns:a16="http://schemas.microsoft.com/office/drawing/2014/main" id="{A0B7A544-B979-4522-B2CD-6019721C26E4}"/>
                </a:ext>
              </a:extLst>
            </p:cNvPr>
            <p:cNvSpPr>
              <a:spLocks/>
            </p:cNvSpPr>
            <p:nvPr/>
          </p:nvSpPr>
          <p:spPr>
            <a:xfrm>
              <a:off x="2863991" y="3616792"/>
              <a:ext cx="84719" cy="72734"/>
            </a:xfrm>
            <a:custGeom>
              <a:avLst/>
              <a:gdLst/>
              <a:ahLst/>
              <a:cxnLst/>
              <a:rect l="0" t="0" r="0" b="0"/>
              <a:pathLst>
                <a:path w="119136" h="102283">
                  <a:moveTo>
                    <a:pt x="0" y="63339"/>
                  </a:moveTo>
                  <a:lnTo>
                    <a:pt x="119136" y="102283"/>
                  </a:lnTo>
                  <a:lnTo>
                    <a:pt x="108158" y="0"/>
                  </a:lnTo>
                  <a:close/>
                </a:path>
              </a:pathLst>
            </a:custGeom>
            <a:solidFill>
              <a:srgbClr val="7C6F92"/>
            </a:solidFill>
            <a:ln w="0">
              <a:noFill/>
              <a:prstDash val="solid"/>
            </a:ln>
          </p:spPr>
          <p:txBody>
            <a:bodyPr/>
            <a:p/>
          </p:txBody>
        </p:sp>
        <p:sp>
          <p:nvSpPr>
            <p:cNvPr id="302" name="maternal-shared-link-label">
              <a:extLst>
                <a:ext uri="{FF2B5EF4-FFF2-40B4-BE49-F238E27FC236}">
                  <a16:creationId xmlns:a16="http://schemas.microsoft.com/office/drawing/2014/main" id="{F2A3CF92-71DD-440F-99E1-8B6C4BF89891}"/>
                </a:ext>
              </a:extLst>
            </p:cNvPr>
            <p:cNvSpPr>
              <a:spLocks/>
            </p:cNvSpPr>
            <p:nvPr/>
          </p:nvSpPr>
          <p:spPr>
            <a:xfrm>
              <a:off x="3048000" y="3217333"/>
              <a:ext cx="887349" cy="209931"/>
            </a:xfrm>
            <a:prstGeom prst="rect">
              <a:avLst/>
            </a:prstGeom>
            <a:noFill/>
            <a:ln w="0">
              <a:noFill/>
            </a:ln>
          </p:spPr>
          <p:txBody>
            <a:bodyPr wrap="none" lIns="0" tIns="0" rIns="0" bIns="0" anchor="t">
              <a:noAutofit/>
            </a:bodyPr>
            <a:lstStyle>
              <a:defPPr algn="l">
                <a:defRPr sz="1147" b="0">
                  <a:solidFill>
                    <a:srgbClr val="7C6F92"/>
                  </a:solidFill>
                  <a:latin typeface="Arial"/>
                  <a:ea typeface="Arial"/>
                  <a:cs typeface="Arial"/>
                </a:defRPr>
              </a:defPPr>
            </a:lstStyle>
            <a:p>
              <a:pPr algn="l">
                <a:lnSpc>
                  <a:spcPct val="100000"/>
                </a:lnSpc>
                <a:buNone/>
                <a:defRPr sz="1147" b="0">
                  <a:solidFill>
                    <a:srgbClr val="7C6F92"/>
                  </a:solidFill>
                  <a:latin typeface="Arial"/>
                  <a:ea typeface="Arial"/>
                  <a:cs typeface="Arial"/>
                </a:defRPr>
              </a:pPr>
              <a:r>
                <a:rPr sz="1147">
                  <a:solidFill>
                    <a:srgbClr val="7C6F92"/>
                  </a:solidFill>
                  <a:latin typeface="Arial"/>
                  <a:ea typeface="Arial"/>
                  <a:cs typeface="Arial"/>
                </a:rPr>
                <a:t>M1 / M2</a:t>
              </a:r>
            </a:p>
          </p:txBody>
        </p:sp>
        <p:sp>
          <p:nvSpPr>
            <p:cNvPr id="303" name="maternal-M1-link-label">
              <a:extLst>
                <a:ext uri="{FF2B5EF4-FFF2-40B4-BE49-F238E27FC236}">
                  <a16:creationId xmlns:a16="http://schemas.microsoft.com/office/drawing/2014/main" id="{A35FCFCF-5EFE-4694-9924-17EE4BAD6A3A}"/>
                </a:ext>
              </a:extLst>
            </p:cNvPr>
            <p:cNvSpPr>
              <a:spLocks/>
            </p:cNvSpPr>
            <p:nvPr/>
          </p:nvSpPr>
          <p:spPr>
            <a:xfrm>
              <a:off x="2316480" y="3793067"/>
              <a:ext cx="413195" cy="209931"/>
            </a:xfrm>
            <a:prstGeom prst="rect">
              <a:avLst/>
            </a:prstGeom>
            <a:noFill/>
            <a:ln w="0">
              <a:noFill/>
            </a:ln>
          </p:spPr>
          <p:txBody>
            <a:bodyPr wrap="none" lIns="0" tIns="0" rIns="0" bIns="0" anchor="t">
              <a:noAutofit/>
            </a:bodyPr>
            <a:lstStyle>
              <a:defPPr algn="l">
                <a:defRPr sz="1147" b="0">
                  <a:solidFill>
                    <a:srgbClr val="7C6F92"/>
                  </a:solidFill>
                  <a:latin typeface="Arial"/>
                  <a:ea typeface="Arial"/>
                  <a:cs typeface="Arial"/>
                </a:defRPr>
              </a:defPPr>
            </a:lstStyle>
            <a:p>
              <a:pPr algn="l">
                <a:lnSpc>
                  <a:spcPct val="100000"/>
                </a:lnSpc>
                <a:buNone/>
                <a:defRPr sz="1147" b="0">
                  <a:solidFill>
                    <a:srgbClr val="7C6F92"/>
                  </a:solidFill>
                  <a:latin typeface="Arial"/>
                  <a:ea typeface="Arial"/>
                  <a:cs typeface="Arial"/>
                </a:defRPr>
              </a:pPr>
              <a:r>
                <a:rPr sz="1147">
                  <a:solidFill>
                    <a:srgbClr val="7C6F92"/>
                  </a:solidFill>
                  <a:latin typeface="Arial"/>
                  <a:ea typeface="Arial"/>
                  <a:cs typeface="Arial"/>
                </a:rPr>
                <a:t>M1</a:t>
              </a:r>
            </a:p>
          </p:txBody>
        </p:sp>
        <p:sp>
          <p:nvSpPr>
            <p:cNvPr id="304" name="maternal-M2-link-label">
              <a:extLst>
                <a:ext uri="{FF2B5EF4-FFF2-40B4-BE49-F238E27FC236}">
                  <a16:creationId xmlns:a16="http://schemas.microsoft.com/office/drawing/2014/main" id="{CB521A0E-79F8-4D12-A272-9DD2EBAAD4B5}"/>
                </a:ext>
              </a:extLst>
            </p:cNvPr>
            <p:cNvSpPr>
              <a:spLocks/>
            </p:cNvSpPr>
            <p:nvPr/>
          </p:nvSpPr>
          <p:spPr>
            <a:xfrm>
              <a:off x="4145280" y="3373120"/>
              <a:ext cx="413195" cy="209931"/>
            </a:xfrm>
            <a:prstGeom prst="rect">
              <a:avLst/>
            </a:prstGeom>
            <a:noFill/>
            <a:ln w="0">
              <a:noFill/>
            </a:ln>
          </p:spPr>
          <p:txBody>
            <a:bodyPr wrap="none" lIns="0" tIns="0" rIns="0" bIns="0" anchor="t">
              <a:noAutofit/>
            </a:bodyPr>
            <a:lstStyle>
              <a:defPPr algn="l">
                <a:defRPr sz="1147" b="0">
                  <a:solidFill>
                    <a:srgbClr val="7C6F92"/>
                  </a:solidFill>
                  <a:latin typeface="Arial"/>
                  <a:ea typeface="Arial"/>
                  <a:cs typeface="Arial"/>
                </a:defRPr>
              </a:defPPr>
            </a:lstStyle>
            <a:p>
              <a:pPr algn="l">
                <a:lnSpc>
                  <a:spcPct val="100000"/>
                </a:lnSpc>
                <a:buNone/>
                <a:defRPr sz="1147" b="0">
                  <a:solidFill>
                    <a:srgbClr val="7C6F92"/>
                  </a:solidFill>
                  <a:latin typeface="Arial"/>
                  <a:ea typeface="Arial"/>
                  <a:cs typeface="Arial"/>
                </a:defRPr>
              </a:pPr>
              <a:r>
                <a:rPr sz="1147">
                  <a:solidFill>
                    <a:srgbClr val="7C6F92"/>
                  </a:solidFill>
                  <a:latin typeface="Arial"/>
                  <a:ea typeface="Arial"/>
                  <a:cs typeface="Arial"/>
                </a:rPr>
                <a:t>M2</a:t>
              </a:r>
            </a:p>
          </p:txBody>
        </p:sp>
        <p:sp>
          <p:nvSpPr>
            <p:cNvPr id="306" name="colonial-Atlantic-to-Florida">
              <a:extLst>
                <a:ext uri="{FF2B5EF4-FFF2-40B4-BE49-F238E27FC236}">
                  <a16:creationId xmlns:a16="http://schemas.microsoft.com/office/drawing/2014/main" id="{D1F2CA24-38AB-4341-ABC1-579D6C7F47AB}"/>
                </a:ext>
              </a:extLst>
            </p:cNvPr>
            <p:cNvSpPr>
              <a:spLocks/>
            </p:cNvSpPr>
            <p:nvPr/>
          </p:nvSpPr>
          <p:spPr>
            <a:xfrm>
              <a:off x="10186178" y="2255162"/>
              <a:ext cx="796307" cy="92226"/>
            </a:xfrm>
            <a:custGeom>
              <a:avLst/>
              <a:gdLst/>
              <a:ahLst/>
              <a:cxnLst/>
              <a:rect l="0" t="0" r="0" b="0"/>
              <a:pathLst>
                <a:path w="796307" h="92226">
                  <a:moveTo>
                    <a:pt x="796307" y="1345"/>
                  </a:moveTo>
                  <a:lnTo>
                    <a:pt x="784816" y="489"/>
                  </a:lnTo>
                  <a:lnTo>
                    <a:pt x="771791" y="48"/>
                  </a:lnTo>
                  <a:lnTo>
                    <a:pt x="757316" y="0"/>
                  </a:lnTo>
                  <a:lnTo>
                    <a:pt x="741476" y="327"/>
                  </a:lnTo>
                  <a:lnTo>
                    <a:pt x="724358" y="1008"/>
                  </a:lnTo>
                  <a:lnTo>
                    <a:pt x="706046" y="2023"/>
                  </a:lnTo>
                  <a:lnTo>
                    <a:pt x="686625" y="3354"/>
                  </a:lnTo>
                  <a:lnTo>
                    <a:pt x="666181" y="4979"/>
                  </a:lnTo>
                  <a:lnTo>
                    <a:pt x="644800" y="6879"/>
                  </a:lnTo>
                  <a:lnTo>
                    <a:pt x="622565" y="9034"/>
                  </a:lnTo>
                  <a:lnTo>
                    <a:pt x="599563" y="11424"/>
                  </a:lnTo>
                  <a:lnTo>
                    <a:pt x="575879" y="14029"/>
                  </a:lnTo>
                  <a:lnTo>
                    <a:pt x="551598" y="16830"/>
                  </a:lnTo>
                  <a:lnTo>
                    <a:pt x="526806" y="19806"/>
                  </a:lnTo>
                  <a:lnTo>
                    <a:pt x="501587" y="22938"/>
                  </a:lnTo>
                  <a:lnTo>
                    <a:pt x="476027" y="26206"/>
                  </a:lnTo>
                  <a:lnTo>
                    <a:pt x="450211" y="29590"/>
                  </a:lnTo>
                  <a:lnTo>
                    <a:pt x="424225" y="33070"/>
                  </a:lnTo>
                  <a:lnTo>
                    <a:pt x="398153" y="36626"/>
                  </a:lnTo>
                  <a:lnTo>
                    <a:pt x="372082" y="40238"/>
                  </a:lnTo>
                  <a:lnTo>
                    <a:pt x="346095" y="43887"/>
                  </a:lnTo>
                  <a:lnTo>
                    <a:pt x="320280" y="47552"/>
                  </a:lnTo>
                  <a:lnTo>
                    <a:pt x="294720" y="51214"/>
                  </a:lnTo>
                  <a:lnTo>
                    <a:pt x="269501" y="54852"/>
                  </a:lnTo>
                  <a:lnTo>
                    <a:pt x="244708" y="58448"/>
                  </a:lnTo>
                  <a:lnTo>
                    <a:pt x="220427" y="61980"/>
                  </a:lnTo>
                  <a:lnTo>
                    <a:pt x="196743" y="65430"/>
                  </a:lnTo>
                  <a:lnTo>
                    <a:pt x="173741" y="68777"/>
                  </a:lnTo>
                  <a:lnTo>
                    <a:pt x="151507" y="72002"/>
                  </a:lnTo>
                  <a:lnTo>
                    <a:pt x="130125" y="75084"/>
                  </a:lnTo>
                  <a:lnTo>
                    <a:pt x="109681" y="78003"/>
                  </a:lnTo>
                  <a:lnTo>
                    <a:pt x="90261" y="80741"/>
                  </a:lnTo>
                  <a:lnTo>
                    <a:pt x="71949" y="83276"/>
                  </a:lnTo>
                  <a:lnTo>
                    <a:pt x="54830" y="85590"/>
                  </a:lnTo>
                  <a:lnTo>
                    <a:pt x="38991" y="87661"/>
                  </a:lnTo>
                  <a:lnTo>
                    <a:pt x="24516" y="89471"/>
                  </a:lnTo>
                  <a:lnTo>
                    <a:pt x="11491" y="90999"/>
                  </a:lnTo>
                  <a:lnTo>
                    <a:pt x="0" y="92226"/>
                  </a:lnTo>
                </a:path>
              </a:pathLst>
            </a:custGeom>
            <a:noFill/>
            <a:ln w="18965">
              <a:solidFill>
                <a:srgbClr val="8B688E"/>
              </a:solidFill>
              <a:prstDash val="solid"/>
            </a:ln>
          </p:spPr>
          <p:txBody>
            <a:bodyPr/>
            <a:p/>
          </p:txBody>
        </p:sp>
        <p:sp>
          <p:nvSpPr>
            <p:cNvPr id="307" name="colonial-Atlantic-to-Florida-head">
              <a:extLst>
                <a:ext uri="{FF2B5EF4-FFF2-40B4-BE49-F238E27FC236}">
                  <a16:creationId xmlns:a16="http://schemas.microsoft.com/office/drawing/2014/main" id="{9E91C2E1-30CA-49CA-96BB-6AA5D6C1557F}"/>
                </a:ext>
              </a:extLst>
            </p:cNvPr>
            <p:cNvSpPr>
              <a:spLocks/>
            </p:cNvSpPr>
            <p:nvPr/>
          </p:nvSpPr>
          <p:spPr>
            <a:xfrm>
              <a:off x="10186178" y="2303093"/>
              <a:ext cx="83380" cy="71602"/>
            </a:xfrm>
            <a:custGeom>
              <a:avLst/>
              <a:gdLst/>
              <a:ahLst/>
              <a:cxnLst/>
              <a:rect l="0" t="0" r="0" b="0"/>
              <a:pathLst>
                <a:path w="83380" h="71602">
                  <a:moveTo>
                    <a:pt x="0" y="44295"/>
                  </a:moveTo>
                  <a:lnTo>
                    <a:pt x="83380" y="71602"/>
                  </a:lnTo>
                  <a:lnTo>
                    <a:pt x="75735" y="0"/>
                  </a:lnTo>
                  <a:close/>
                </a:path>
              </a:pathLst>
            </a:custGeom>
            <a:solidFill>
              <a:srgbClr val="8B688E"/>
            </a:solidFill>
            <a:ln w="0">
              <a:noFill/>
              <a:prstDash val="solid"/>
            </a:ln>
          </p:spPr>
          <p:txBody>
            <a:bodyPr/>
            <a:p/>
          </p:txBody>
        </p:sp>
        <p:sp>
          <p:nvSpPr>
            <p:cNvPr id="308" name="record-leader-added-2">
              <a:extLst>
                <a:ext uri="{FF2B5EF4-FFF2-40B4-BE49-F238E27FC236}">
                  <a16:creationId xmlns:a16="http://schemas.microsoft.com/office/drawing/2014/main" id="{F6E5C298-1796-4691-AA63-F3D5D51D16F3}"/>
                </a:ext>
              </a:extLst>
            </p:cNvPr>
            <p:cNvSpPr>
              <a:spLocks/>
            </p:cNvSpPr>
            <p:nvPr/>
          </p:nvSpPr>
          <p:spPr>
            <a:xfrm>
              <a:off x="3695700" y="2551509"/>
              <a:ext cx="20145" cy="96441"/>
            </a:xfrm>
            <a:custGeom>
              <a:avLst/>
              <a:gdLst/>
              <a:ahLst/>
              <a:cxnLst/>
              <a:rect l="0" t="0" r="0" b="0"/>
              <a:pathLst>
                <a:path w="20145" h="96441">
                  <a:moveTo>
                    <a:pt x="20145" y="0"/>
                  </a:moveTo>
                  <a:lnTo>
                    <a:pt x="0" y="96441"/>
                  </a:lnTo>
                </a:path>
              </a:pathLst>
            </a:custGeom>
            <a:noFill/>
            <a:ln w="10478">
              <a:solidFill>
                <a:srgbClr val="879993"/>
              </a:solidFill>
              <a:prstDash val="solid"/>
            </a:ln>
          </p:spPr>
          <p:txBody>
            <a:bodyPr/>
            <a:p/>
          </p:txBody>
        </p:sp>
        <p:sp>
          <p:nvSpPr>
            <p:cNvPr id="309" name="model-and-route-explanation">
              <a:extLst>
                <a:ext uri="{FF2B5EF4-FFF2-40B4-BE49-F238E27FC236}">
                  <a16:creationId xmlns:a16="http://schemas.microsoft.com/office/drawing/2014/main" id="{CCD6C204-A807-43AB-B6A4-3CBFD9654AA1}"/>
                </a:ext>
              </a:extLst>
            </p:cNvPr>
            <p:cNvSpPr>
              <a:spLocks/>
            </p:cNvSpPr>
            <p:nvPr/>
          </p:nvSpPr>
          <p:spPr>
            <a:xfrm>
              <a:off x="406432" y="5193030"/>
              <a:ext cx="11382375" cy="274320"/>
            </a:xfrm>
            <a:prstGeom prst="rect">
              <a:avLst/>
            </a:prstGeom>
            <a:noFill/>
            <a:ln w="0">
              <a:noFill/>
            </a:ln>
          </p:spPr>
          <p:txBody>
            <a:bodyPr wrap="none" lIns="0" tIns="0" rIns="0" bIns="0" anchor="t">
              <a:noAutofit/>
            </a:bodyPr>
            <a:lstStyle>
              <a:defPPr algn="l">
                <a:defRPr sz="930">
                  <a:solidFill>
                    <a:srgbClr val="627470"/>
                  </a:solidFill>
                  <a:latin typeface="Arial"/>
                  <a:ea typeface="Arial"/>
                  <a:cs typeface="Arial"/>
                </a:defRPr>
              </a:defPPr>
            </a:lstStyle>
            <a:p>
              <a:pPr algn="l">
                <a:lnSpc>
                  <a:spcPct val="108000"/>
                </a:lnSpc>
                <a:buNone/>
                <a:defRPr sz="930">
                  <a:solidFill>
                    <a:srgbClr val="627470"/>
                  </a:solidFill>
                  <a:latin typeface="Arial"/>
                  <a:ea typeface="Arial"/>
                  <a:cs typeface="Arial"/>
                </a:defRPr>
              </a:pPr>
              <a:r>
                <a:rPr sz="930">
                  <a:solidFill>
                    <a:srgbClr val="627470"/>
                  </a:solidFill>
                  <a:latin typeface="Arial"/>
                  <a:ea typeface="Arial"/>
                  <a:cs typeface="Arial"/>
                </a:rPr>
                <a:t>M1: earlier hypothesis of South Asia via East Africa to Madagascar. M2: separate external inputs to East Africa and Madagascar. Both use maternal data.</a:t>
              </a:r>
            </a:p>
            <a:p>
              <a:pPr algn="l">
                <a:lnSpc>
                  <a:spcPct val="108000"/>
                </a:lnSpc>
                <a:buNone/>
                <a:defRPr sz="930">
                  <a:solidFill>
                    <a:srgbClr val="627470"/>
                  </a:solidFill>
                  <a:latin typeface="Arial"/>
                  <a:ea typeface="Arial"/>
                  <a:cs typeface="Arial"/>
                </a:defRPr>
              </a:pPr>
              <a:r>
                <a:rPr sz="930">
                  <a:solidFill>
                    <a:srgbClr val="627470"/>
                  </a:solidFill>
                  <a:latin typeface="Arial"/>
                  <a:ea typeface="Arial"/>
                  <a:cs typeface="Arial"/>
                </a:rPr>
                <a:t>M2 source: West Asia (incl. India and North Africa), location schematic. Arrows summarize regional links, not exact routes. A joins the map edges. Numbers correspond to Table 1.</a:t>
              </a:r>
            </a:p>
          </p:txBody>
        </p:sp>
      </p:grpSp>
    </p:spTree>
    <p:extLst>
      <p:ext uri="{BB962C8B-B14F-4D97-AF65-F5344CB8AC3E}">
        <p14:creationId xmlns:p14="http://schemas.microsoft.com/office/powerpoint/2010/main" val="330391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Fig3_CN_1_editable_figure">
            <a:extLst>
              <a:ext uri="{FF2B5EF4-FFF2-40B4-BE49-F238E27FC236}">
                <a16:creationId xmlns:a16="http://schemas.microsoft.com/office/drawing/2014/main" id="{0D2F7252-920E-118F-24D5-8D30EB6A1A2E}"/>
              </a:ext>
            </a:extLst>
          </p:cNvPr>
          <p:cNvGrpSpPr>
            <a:grpSpLocks noChangeAspect="1"/>
          </p:cNvGrpSpPr>
          <p:nvPr/>
        </p:nvGrpSpPr>
        <p:grpSpPr>
          <a:xfrm>
            <a:off x="2672715" y="777240"/>
            <a:ext cx="6235065" cy="5835015"/>
            <a:chOff x="9525" y="1295400"/>
            <a:chExt cx="10391775" cy="9725025"/>
          </a:xfrm>
        </p:grpSpPr>
        <p:sp>
          <p:nvSpPr>
            <p:cNvPr id="4" name="circular-layout-guide">
              <a:extLst>
                <a:ext uri="{FF2B5EF4-FFF2-40B4-BE49-F238E27FC236}">
                  <a16:creationId xmlns:a16="http://schemas.microsoft.com/office/drawing/2014/main" id="{AC3CF780-7E6F-4FF9-837B-03E3C7AF1295}"/>
                </a:ext>
              </a:extLst>
            </p:cNvPr>
            <p:cNvSpPr>
              <a:spLocks/>
            </p:cNvSpPr>
            <p:nvPr/>
          </p:nvSpPr>
          <p:spPr>
            <a:xfrm>
              <a:off x="2238375" y="2428875"/>
              <a:ext cx="6953250" cy="6953250"/>
            </a:xfrm>
            <a:prstGeom prst="ellipse">
              <a:avLst/>
            </a:prstGeom>
            <a:noFill/>
            <a:ln w="14288">
              <a:solidFill>
                <a:srgbClr val="E5E9EC"/>
              </a:solidFill>
              <a:prstDash val="solid"/>
            </a:ln>
          </p:spPr>
          <p:txBody>
            <a:bodyPr/>
            <a:lstStyle/>
            <a:p>
              <a:endParaRPr lang="LID4096" sz="1080"/>
            </a:p>
          </p:txBody>
        </p:sp>
        <p:sp>
          <p:nvSpPr>
            <p:cNvPr id="5" name="wild-to-local">
              <a:extLst>
                <a:ext uri="{FF2B5EF4-FFF2-40B4-BE49-F238E27FC236}">
                  <a16:creationId xmlns:a16="http://schemas.microsoft.com/office/drawing/2014/main" id="{E7FF516D-D107-4F14-9D88-AF2BB2510959}"/>
                </a:ext>
              </a:extLst>
            </p:cNvPr>
            <p:cNvSpPr>
              <a:spLocks/>
            </p:cNvSpPr>
            <p:nvPr/>
          </p:nvSpPr>
          <p:spPr>
            <a:xfrm>
              <a:off x="6904128" y="2245739"/>
              <a:ext cx="2984370" cy="4459826"/>
            </a:xfrm>
            <a:custGeom>
              <a:avLst/>
              <a:gdLst/>
              <a:ahLst/>
              <a:cxnLst/>
              <a:rect l="0" t="0" r="0" b="0"/>
              <a:pathLst>
                <a:path w="2984370" h="4459826">
                  <a:moveTo>
                    <a:pt x="0" y="0"/>
                  </a:moveTo>
                  <a:cubicBezTo>
                    <a:pt x="1873134" y="608618"/>
                    <a:pt x="2984370" y="2533335"/>
                    <a:pt x="2574881" y="4459826"/>
                  </a:cubicBezTo>
                </a:path>
              </a:pathLst>
            </a:custGeom>
            <a:noFill/>
            <a:ln w="38100">
              <a:solidFill>
                <a:srgbClr val="BF4A40"/>
              </a:solidFill>
              <a:prstDash val="solid"/>
              <a:headEnd type="none" w="med" len="med"/>
              <a:tailEnd type="triangle" w="med" len="med"/>
            </a:ln>
          </p:spPr>
          <p:txBody>
            <a:bodyPr/>
            <a:lstStyle/>
            <a:p>
              <a:endParaRPr lang="LID4096" sz="1080" dirty="0">
                <a:solidFill>
                  <a:srgbClr val="FF0000"/>
                </a:solidFill>
              </a:endParaRPr>
            </a:p>
          </p:txBody>
        </p:sp>
        <p:sp>
          <p:nvSpPr>
            <p:cNvPr id="6" name="local-to-wild">
              <a:extLst>
                <a:ext uri="{FF2B5EF4-FFF2-40B4-BE49-F238E27FC236}">
                  <a16:creationId xmlns:a16="http://schemas.microsoft.com/office/drawing/2014/main" id="{150E80D1-E4F2-4565-B25C-58AD42278F60}"/>
                </a:ext>
              </a:extLst>
            </p:cNvPr>
            <p:cNvSpPr>
              <a:spLocks/>
            </p:cNvSpPr>
            <p:nvPr/>
          </p:nvSpPr>
          <p:spPr>
            <a:xfrm>
              <a:off x="6725938" y="2969523"/>
              <a:ext cx="2312268" cy="3475181"/>
            </a:xfrm>
            <a:custGeom>
              <a:avLst/>
              <a:gdLst/>
              <a:ahLst/>
              <a:cxnLst/>
              <a:rect l="0" t="0" r="0" b="0"/>
              <a:pathLst>
                <a:path w="2312268" h="3475181">
                  <a:moveTo>
                    <a:pt x="2047038" y="3475181"/>
                  </a:moveTo>
                  <a:cubicBezTo>
                    <a:pt x="2312268" y="1970985"/>
                    <a:pt x="1444185" y="497273"/>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7" name="local-to-commercial">
              <a:extLst>
                <a:ext uri="{FF2B5EF4-FFF2-40B4-BE49-F238E27FC236}">
                  <a16:creationId xmlns:a16="http://schemas.microsoft.com/office/drawing/2014/main" id="{6A1274EF-F6A3-44A9-8A47-50D0A7684C45}"/>
                </a:ext>
              </a:extLst>
            </p:cNvPr>
            <p:cNvSpPr>
              <a:spLocks/>
            </p:cNvSpPr>
            <p:nvPr/>
          </p:nvSpPr>
          <p:spPr>
            <a:xfrm>
              <a:off x="3310688" y="8982879"/>
              <a:ext cx="4808624" cy="1103828"/>
            </a:xfrm>
            <a:custGeom>
              <a:avLst/>
              <a:gdLst/>
              <a:ahLst/>
              <a:cxnLst/>
              <a:rect l="0" t="0" r="0" b="0"/>
              <a:pathLst>
                <a:path w="4808624" h="1103828">
                  <a:moveTo>
                    <a:pt x="4808624" y="0"/>
                  </a:moveTo>
                  <a:cubicBezTo>
                    <a:pt x="3395789" y="1103828"/>
                    <a:pt x="1412835" y="1103828"/>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8" name="commercial-to-local">
              <a:extLst>
                <a:ext uri="{FF2B5EF4-FFF2-40B4-BE49-F238E27FC236}">
                  <a16:creationId xmlns:a16="http://schemas.microsoft.com/office/drawing/2014/main" id="{C2DC9913-8551-40C9-B243-C94F698CF805}"/>
                </a:ext>
              </a:extLst>
            </p:cNvPr>
            <p:cNvSpPr>
              <a:spLocks/>
            </p:cNvSpPr>
            <p:nvPr/>
          </p:nvSpPr>
          <p:spPr>
            <a:xfrm>
              <a:off x="3671589" y="8256175"/>
              <a:ext cx="4086821" cy="1018667"/>
            </a:xfrm>
            <a:custGeom>
              <a:avLst/>
              <a:gdLst/>
              <a:ahLst/>
              <a:cxnLst/>
              <a:rect l="0" t="0" r="0" b="0"/>
              <a:pathLst>
                <a:path w="4086821" h="1018667">
                  <a:moveTo>
                    <a:pt x="0" y="0"/>
                  </a:moveTo>
                  <a:cubicBezTo>
                    <a:pt x="1171842" y="1018667"/>
                    <a:pt x="2914979" y="1018667"/>
                    <a:pt x="4086821" y="0"/>
                  </a:cubicBezTo>
                </a:path>
              </a:pathLst>
            </a:custGeom>
            <a:noFill/>
            <a:ln w="38100">
              <a:solidFill>
                <a:srgbClr val="386F9F"/>
              </a:solidFill>
              <a:prstDash val="solid"/>
              <a:headEnd type="none" w="med" len="med"/>
              <a:tailEnd type="triangle" w="med" len="med"/>
            </a:ln>
          </p:spPr>
          <p:txBody>
            <a:bodyPr/>
            <a:lstStyle/>
            <a:p>
              <a:endParaRPr lang="LID4096" sz="1080"/>
            </a:p>
          </p:txBody>
        </p:sp>
        <p:sp>
          <p:nvSpPr>
            <p:cNvPr id="9" name="commercial-to-rjf-reference-model">
              <a:extLst>
                <a:ext uri="{FF2B5EF4-FFF2-40B4-BE49-F238E27FC236}">
                  <a16:creationId xmlns:a16="http://schemas.microsoft.com/office/drawing/2014/main" id="{8C8E73F7-7827-45EA-9642-8BB2CF686DB7}"/>
                </a:ext>
              </a:extLst>
            </p:cNvPr>
            <p:cNvSpPr>
              <a:spLocks/>
            </p:cNvSpPr>
            <p:nvPr/>
          </p:nvSpPr>
          <p:spPr>
            <a:xfrm>
              <a:off x="1531172" y="2236681"/>
              <a:ext cx="2991757" cy="4470865"/>
            </a:xfrm>
            <a:custGeom>
              <a:avLst/>
              <a:gdLst/>
              <a:ahLst/>
              <a:cxnLst/>
              <a:rect l="0" t="0" r="0" b="0"/>
              <a:pathLst>
                <a:path w="2991757" h="4470865">
                  <a:moveTo>
                    <a:pt x="410502" y="4470865"/>
                  </a:moveTo>
                  <a:cubicBezTo>
                    <a:pt x="0" y="2539606"/>
                    <a:pt x="1113986" y="610125"/>
                    <a:pt x="2991757" y="0"/>
                  </a:cubicBezTo>
                </a:path>
              </a:pathLst>
            </a:custGeom>
            <a:noFill/>
            <a:ln w="38100">
              <a:solidFill>
                <a:srgbClr val="386F9F"/>
              </a:solidFill>
              <a:prstDash val="dash"/>
              <a:headEnd type="none" w="med" len="med"/>
              <a:tailEnd type="triangle" w="med" len="med"/>
            </a:ln>
          </p:spPr>
          <p:txBody>
            <a:bodyPr/>
            <a:lstStyle/>
            <a:p>
              <a:endParaRPr lang="LID4096" sz="1080"/>
            </a:p>
          </p:txBody>
        </p:sp>
        <p:sp>
          <p:nvSpPr>
            <p:cNvPr id="10" name="captive-rjf-to-commercial-model">
              <a:extLst>
                <a:ext uri="{FF2B5EF4-FFF2-40B4-BE49-F238E27FC236}">
                  <a16:creationId xmlns:a16="http://schemas.microsoft.com/office/drawing/2014/main" id="{88C157E7-0209-4704-A3A7-BB6EB6178163}"/>
                </a:ext>
              </a:extLst>
            </p:cNvPr>
            <p:cNvSpPr>
              <a:spLocks/>
            </p:cNvSpPr>
            <p:nvPr/>
          </p:nvSpPr>
          <p:spPr>
            <a:xfrm>
              <a:off x="2509575" y="2960517"/>
              <a:ext cx="2191386" cy="3162252"/>
            </a:xfrm>
            <a:custGeom>
              <a:avLst/>
              <a:gdLst/>
              <a:ahLst/>
              <a:cxnLst/>
              <a:rect l="0" t="0" r="0" b="0"/>
              <a:pathLst>
                <a:path w="2191386" h="3162252">
                  <a:moveTo>
                    <a:pt x="2191386" y="0"/>
                  </a:moveTo>
                  <a:cubicBezTo>
                    <a:pt x="858470" y="458960"/>
                    <a:pt x="0" y="1755966"/>
                    <a:pt x="98337" y="3162252"/>
                  </a:cubicBezTo>
                </a:path>
              </a:pathLst>
            </a:custGeom>
            <a:noFill/>
            <a:ln w="38100">
              <a:solidFill>
                <a:srgbClr val="BF4A40"/>
              </a:solidFill>
              <a:prstDash val="dash"/>
              <a:headEnd type="none" w="med" len="med"/>
              <a:tailEnd type="triangle" w="med" len="med"/>
            </a:ln>
          </p:spPr>
          <p:txBody>
            <a:bodyPr/>
            <a:lstStyle/>
            <a:p>
              <a:endParaRPr lang="LID4096" sz="1080"/>
            </a:p>
          </p:txBody>
        </p:sp>
        <p:sp>
          <p:nvSpPr>
            <p:cNvPr id="11" name="wild-node">
              <a:extLst>
                <a:ext uri="{FF2B5EF4-FFF2-40B4-BE49-F238E27FC236}">
                  <a16:creationId xmlns:a16="http://schemas.microsoft.com/office/drawing/2014/main" id="{BF77F784-C708-4351-8C52-F08BDDA9B8D2}"/>
                </a:ext>
              </a:extLst>
            </p:cNvPr>
            <p:cNvSpPr>
              <a:spLocks/>
            </p:cNvSpPr>
            <p:nvPr/>
          </p:nvSpPr>
          <p:spPr>
            <a:xfrm>
              <a:off x="4743450" y="1457325"/>
              <a:ext cx="1943100" cy="1943100"/>
            </a:xfrm>
            <a:prstGeom prst="ellipse">
              <a:avLst/>
            </a:prstGeom>
            <a:solidFill>
              <a:srgbClr val="FFFFFF"/>
            </a:solidFill>
            <a:ln w="0">
              <a:noFill/>
              <a:prstDash val="solid"/>
            </a:ln>
          </p:spPr>
          <p:txBody>
            <a:bodyPr/>
            <a:lstStyle/>
            <a:p>
              <a:endParaRPr lang="LID4096" sz="1080"/>
            </a:p>
          </p:txBody>
        </p:sp>
        <p:sp>
          <p:nvSpPr>
            <p:cNvPr id="12" name="local-node">
              <a:extLst>
                <a:ext uri="{FF2B5EF4-FFF2-40B4-BE49-F238E27FC236}">
                  <a16:creationId xmlns:a16="http://schemas.microsoft.com/office/drawing/2014/main" id="{C743871A-3433-4457-B448-06F84CD04584}"/>
                </a:ext>
              </a:extLst>
            </p:cNvPr>
            <p:cNvSpPr>
              <a:spLocks/>
            </p:cNvSpPr>
            <p:nvPr/>
          </p:nvSpPr>
          <p:spPr>
            <a:xfrm>
              <a:off x="7753350" y="6667500"/>
              <a:ext cx="1943100" cy="1943100"/>
            </a:xfrm>
            <a:prstGeom prst="ellipse">
              <a:avLst/>
            </a:prstGeom>
            <a:solidFill>
              <a:srgbClr val="FFFFFF"/>
            </a:solidFill>
            <a:ln w="0">
              <a:noFill/>
              <a:prstDash val="solid"/>
            </a:ln>
          </p:spPr>
          <p:txBody>
            <a:bodyPr/>
            <a:lstStyle/>
            <a:p>
              <a:endParaRPr lang="LID4096" sz="1080"/>
            </a:p>
          </p:txBody>
        </p:sp>
        <p:sp>
          <p:nvSpPr>
            <p:cNvPr id="13" name="commercial-node">
              <a:extLst>
                <a:ext uri="{FF2B5EF4-FFF2-40B4-BE49-F238E27FC236}">
                  <a16:creationId xmlns:a16="http://schemas.microsoft.com/office/drawing/2014/main" id="{A96ADFA3-A2AE-4B25-A57F-D2B726C0C1E6}"/>
                </a:ext>
              </a:extLst>
            </p:cNvPr>
            <p:cNvSpPr>
              <a:spLocks/>
            </p:cNvSpPr>
            <p:nvPr/>
          </p:nvSpPr>
          <p:spPr>
            <a:xfrm>
              <a:off x="1733550" y="6667500"/>
              <a:ext cx="1943100" cy="1943100"/>
            </a:xfrm>
            <a:prstGeom prst="ellipse">
              <a:avLst/>
            </a:prstGeom>
            <a:solidFill>
              <a:srgbClr val="FFFFFF"/>
            </a:solidFill>
            <a:ln w="0">
              <a:noFill/>
              <a:prstDash val="solid"/>
            </a:ln>
          </p:spPr>
          <p:txBody>
            <a:bodyPr/>
            <a:lstStyle/>
            <a:p>
              <a:endParaRPr lang="LID4096" sz="1080"/>
            </a:p>
          </p:txBody>
        </p:sp>
        <p:grpSp>
          <p:nvGrpSpPr>
            <p:cNvPr id="14" name="figure1-wild-red-junglefowl" descr="取自用户图1的原生矢量鸡图；仅改变整体尺寸及位置"/>
            <p:cNvGrpSpPr/>
            <p:nvPr/>
          </p:nvGrpSpPr>
          <p:grpSpPr>
            <a:xfrm>
              <a:off x="4805362" y="1495425"/>
              <a:ext cx="1819631" cy="1619250"/>
              <a:chOff x="604044" y="3353301"/>
              <a:chExt cx="834612" cy="742703"/>
            </a:xfrm>
          </p:grpSpPr>
          <p:sp>
            <p:nvSpPr>
              <p:cNvPr id="15" name="figure1-wild-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720"/>
              </a:p>
            </p:txBody>
          </p:sp>
          <p:sp>
            <p:nvSpPr>
              <p:cNvPr id="16" name="figure1-wild-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720"/>
              </a:p>
            </p:txBody>
          </p:sp>
          <p:sp>
            <p:nvSpPr>
              <p:cNvPr id="17" name="figure1-wild-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720"/>
              </a:p>
            </p:txBody>
          </p:sp>
          <p:sp>
            <p:nvSpPr>
              <p:cNvPr id="18" name="figure1-wild-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720"/>
              </a:p>
            </p:txBody>
          </p:sp>
          <p:sp>
            <p:nvSpPr>
              <p:cNvPr id="19" name="figure1-wild-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720"/>
              </a:p>
            </p:txBody>
          </p:sp>
          <p:sp>
            <p:nvSpPr>
              <p:cNvPr id="20" name="figure1-wild-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720"/>
              </a:p>
            </p:txBody>
          </p:sp>
          <p:sp>
            <p:nvSpPr>
              <p:cNvPr id="21" name="figure1-wild-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720"/>
              </a:p>
            </p:txBody>
          </p:sp>
          <p:sp>
            <p:nvSpPr>
              <p:cNvPr id="22" name="figure1-wild-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720"/>
              </a:p>
            </p:txBody>
          </p:sp>
          <p:sp>
            <p:nvSpPr>
              <p:cNvPr id="23" name="figure1-wild-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720"/>
              </a:p>
            </p:txBody>
          </p:sp>
          <p:sp>
            <p:nvSpPr>
              <p:cNvPr id="24" name="figure1-wild-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720"/>
              </a:p>
            </p:txBody>
          </p:sp>
          <p:sp>
            <p:nvSpPr>
              <p:cNvPr id="25" name="figure1-wild-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720"/>
              </a:p>
            </p:txBody>
          </p:sp>
          <p:sp>
            <p:nvSpPr>
              <p:cNvPr id="26" name="figure1-wild-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720"/>
              </a:p>
            </p:txBody>
          </p:sp>
          <p:sp>
            <p:nvSpPr>
              <p:cNvPr id="27" name="figure1-wild-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720"/>
              </a:p>
            </p:txBody>
          </p:sp>
          <p:sp>
            <p:nvSpPr>
              <p:cNvPr id="28" name="figure1-wild-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720"/>
              </a:p>
            </p:txBody>
          </p:sp>
          <p:sp>
            <p:nvSpPr>
              <p:cNvPr id="29" name="figure1-wild-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720"/>
              </a:p>
            </p:txBody>
          </p:sp>
          <p:sp>
            <p:nvSpPr>
              <p:cNvPr id="30" name="figure1-wild-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720"/>
              </a:p>
            </p:txBody>
          </p:sp>
          <p:sp>
            <p:nvSpPr>
              <p:cNvPr id="31" name="figure1-wild-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720"/>
              </a:p>
            </p:txBody>
          </p:sp>
          <p:sp>
            <p:nvSpPr>
              <p:cNvPr id="32" name="figure1-wild-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720"/>
              </a:p>
            </p:txBody>
          </p:sp>
          <p:sp>
            <p:nvSpPr>
              <p:cNvPr id="33" name="figure1-wild-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720"/>
              </a:p>
            </p:txBody>
          </p:sp>
          <p:sp>
            <p:nvSpPr>
              <p:cNvPr id="34" name="figure1-wild-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720"/>
              </a:p>
            </p:txBody>
          </p:sp>
          <p:sp>
            <p:nvSpPr>
              <p:cNvPr id="35" name="figure1-wild-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720"/>
              </a:p>
            </p:txBody>
          </p:sp>
          <p:sp>
            <p:nvSpPr>
              <p:cNvPr id="36" name="figure1-wild-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720"/>
              </a:p>
            </p:txBody>
          </p:sp>
          <p:sp>
            <p:nvSpPr>
              <p:cNvPr id="37" name="figure1-wild-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720"/>
              </a:p>
            </p:txBody>
          </p:sp>
          <p:sp>
            <p:nvSpPr>
              <p:cNvPr id="38" name="figure1-wild-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720"/>
              </a:p>
            </p:txBody>
          </p:sp>
          <p:sp>
            <p:nvSpPr>
              <p:cNvPr id="39" name="figure1-wild-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720"/>
              </a:p>
            </p:txBody>
          </p:sp>
          <p:sp>
            <p:nvSpPr>
              <p:cNvPr id="40" name="figure1-wild-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720"/>
              </a:p>
            </p:txBody>
          </p:sp>
        </p:grpSp>
        <p:grpSp>
          <p:nvGrpSpPr>
            <p:cNvPr id="41" name="figure1-local-brown-hen" descr="取自用户图1的原生矢量鸡图；仅改变整体尺寸及位置"/>
            <p:cNvGrpSpPr/>
            <p:nvPr/>
          </p:nvGrpSpPr>
          <p:grpSpPr>
            <a:xfrm>
              <a:off x="7840028" y="6686550"/>
              <a:ext cx="1769932" cy="1638300"/>
              <a:chOff x="4241546" y="3411207"/>
              <a:chExt cx="747776" cy="692163"/>
            </a:xfrm>
          </p:grpSpPr>
          <p:sp>
            <p:nvSpPr>
              <p:cNvPr id="42" name="figure1-local-brown-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720"/>
              </a:p>
            </p:txBody>
          </p:sp>
          <p:sp>
            <p:nvSpPr>
              <p:cNvPr id="43" name="figure1-local-brown-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720"/>
              </a:p>
            </p:txBody>
          </p:sp>
          <p:sp>
            <p:nvSpPr>
              <p:cNvPr id="44" name="figure1-local-brown-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720"/>
              </a:p>
            </p:txBody>
          </p:sp>
          <p:sp>
            <p:nvSpPr>
              <p:cNvPr id="45" name="figure1-local-brown-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720"/>
              </a:p>
            </p:txBody>
          </p:sp>
          <p:sp>
            <p:nvSpPr>
              <p:cNvPr id="46" name="figure1-local-brown-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720"/>
              </a:p>
            </p:txBody>
          </p:sp>
          <p:sp>
            <p:nvSpPr>
              <p:cNvPr id="47" name="figure1-local-brown-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720"/>
              </a:p>
            </p:txBody>
          </p:sp>
          <p:sp>
            <p:nvSpPr>
              <p:cNvPr id="48" name="figure1-local-brown-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720"/>
              </a:p>
            </p:txBody>
          </p:sp>
          <p:sp>
            <p:nvSpPr>
              <p:cNvPr id="49" name="figure1-local-brown-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720"/>
              </a:p>
            </p:txBody>
          </p:sp>
          <p:sp>
            <p:nvSpPr>
              <p:cNvPr id="50" name="figure1-local-brown-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720"/>
              </a:p>
            </p:txBody>
          </p:sp>
          <p:sp>
            <p:nvSpPr>
              <p:cNvPr id="51" name="figure1-local-brown-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720"/>
              </a:p>
            </p:txBody>
          </p:sp>
          <p:sp>
            <p:nvSpPr>
              <p:cNvPr id="52" name="figure1-local-brown-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720"/>
              </a:p>
            </p:txBody>
          </p:sp>
          <p:sp>
            <p:nvSpPr>
              <p:cNvPr id="53" name="figure1-local-brown-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720"/>
              </a:p>
            </p:txBody>
          </p:sp>
          <p:sp>
            <p:nvSpPr>
              <p:cNvPr id="54" name="figure1-local-brown-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720"/>
              </a:p>
            </p:txBody>
          </p:sp>
          <p:sp>
            <p:nvSpPr>
              <p:cNvPr id="55" name="figure1-local-brown-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720"/>
              </a:p>
            </p:txBody>
          </p:sp>
          <p:sp>
            <p:nvSpPr>
              <p:cNvPr id="56" name="figure1-local-brown-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720"/>
              </a:p>
            </p:txBody>
          </p:sp>
          <p:sp>
            <p:nvSpPr>
              <p:cNvPr id="57" name="figure1-local-brown-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720"/>
              </a:p>
            </p:txBody>
          </p:sp>
          <p:sp>
            <p:nvSpPr>
              <p:cNvPr id="58" name="figure1-local-brown-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720"/>
              </a:p>
            </p:txBody>
          </p:sp>
        </p:grpSp>
        <p:grpSp>
          <p:nvGrpSpPr>
            <p:cNvPr id="59" name="figure1-commercial-white-chicken" descr="取自用户图1的原生矢量鸡图；仅改变整体尺寸及位置"/>
            <p:cNvGrpSpPr/>
            <p:nvPr/>
          </p:nvGrpSpPr>
          <p:grpSpPr>
            <a:xfrm>
              <a:off x="1820228" y="6686550"/>
              <a:ext cx="1769946" cy="1638300"/>
              <a:chOff x="9308592" y="3536169"/>
              <a:chExt cx="682752" cy="631970"/>
            </a:xfrm>
          </p:grpSpPr>
          <p:sp>
            <p:nvSpPr>
              <p:cNvPr id="60" name="figure1-commercial-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720"/>
              </a:p>
            </p:txBody>
          </p:sp>
          <p:sp>
            <p:nvSpPr>
              <p:cNvPr id="61" name="figure1-commercial-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720"/>
              </a:p>
            </p:txBody>
          </p:sp>
          <p:sp>
            <p:nvSpPr>
              <p:cNvPr id="62" name="figure1-commercial-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720"/>
              </a:p>
            </p:txBody>
          </p:sp>
          <p:sp>
            <p:nvSpPr>
              <p:cNvPr id="63" name="figure1-commercial-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720"/>
              </a:p>
            </p:txBody>
          </p:sp>
          <p:sp>
            <p:nvSpPr>
              <p:cNvPr id="64" name="figure1-commercial-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720"/>
              </a:p>
            </p:txBody>
          </p:sp>
          <p:sp>
            <p:nvSpPr>
              <p:cNvPr id="65" name="figure1-commercial-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720"/>
              </a:p>
            </p:txBody>
          </p:sp>
          <p:sp>
            <p:nvSpPr>
              <p:cNvPr id="66" name="figure1-commercial-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720"/>
              </a:p>
            </p:txBody>
          </p:sp>
          <p:sp>
            <p:nvSpPr>
              <p:cNvPr id="67" name="figure1-commercial-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720"/>
              </a:p>
            </p:txBody>
          </p:sp>
          <p:sp>
            <p:nvSpPr>
              <p:cNvPr id="68" name="figure1-commercial-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720"/>
              </a:p>
            </p:txBody>
          </p:sp>
          <p:sp>
            <p:nvSpPr>
              <p:cNvPr id="69" name="figure1-commercial-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720"/>
              </a:p>
            </p:txBody>
          </p:sp>
          <p:sp>
            <p:nvSpPr>
              <p:cNvPr id="70" name="figure1-commercial-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720"/>
              </a:p>
            </p:txBody>
          </p:sp>
          <p:sp>
            <p:nvSpPr>
              <p:cNvPr id="71" name="figure1-commercial-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720"/>
              </a:p>
            </p:txBody>
          </p:sp>
          <p:sp>
            <p:nvSpPr>
              <p:cNvPr id="72" name="figure1-commercial-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720"/>
              </a:p>
            </p:txBody>
          </p:sp>
          <p:sp>
            <p:nvSpPr>
              <p:cNvPr id="73" name="figure1-commercial-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720"/>
              </a:p>
            </p:txBody>
          </p:sp>
          <p:sp>
            <p:nvSpPr>
              <p:cNvPr id="74" name="figure1-commercial-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720"/>
              </a:p>
            </p:txBody>
          </p:sp>
          <p:sp>
            <p:nvSpPr>
              <p:cNvPr id="75" name="figure1-commercial-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720"/>
              </a:p>
            </p:txBody>
          </p:sp>
          <p:sp>
            <p:nvSpPr>
              <p:cNvPr id="76" name="figure1-commercial-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720"/>
              </a:p>
            </p:txBody>
          </p:sp>
        </p:grpSp>
        <p:sp>
          <p:nvSpPr>
            <p:cNvPr id="77" name="wild-label">
              <a:extLst>
                <a:ext uri="{FF2B5EF4-FFF2-40B4-BE49-F238E27FC236}">
                  <a16:creationId xmlns:a16="http://schemas.microsoft.com/office/drawing/2014/main" id="{5DDFB57A-AE93-4319-A808-E8C9FB34982E}"/>
                </a:ext>
              </a:extLst>
            </p:cNvPr>
            <p:cNvSpPr>
              <a:spLocks/>
            </p:cNvSpPr>
            <p:nvPr/>
          </p:nvSpPr>
          <p:spPr>
            <a:xfrm>
              <a:off x="4333875" y="3200400"/>
              <a:ext cx="2762250" cy="428625"/>
            </a:xfrm>
            <a:prstGeom prst="rect">
              <a:avLst/>
            </a:prstGeom>
            <a:noFill/>
            <a:ln w="0">
              <a:noFill/>
            </a:ln>
          </p:spPr>
          <p:txBody>
            <a:bodyPr wrap="none" lIns="0" tIns="0" rIns="0" bIns="0" anchor="ctr">
              <a:noAutofit/>
            </a:bodyPr>
            <a:lstStyle>
              <a:defPPr algn="ctr">
                <a:defRPr sz="2400" b="1">
                  <a:solidFill>
                    <a:srgbClr val="BF4A40"/>
                  </a:solidFill>
                  <a:latin typeface="Microsoft YaHei"/>
                  <a:ea typeface="Microsoft YaHei"/>
                  <a:cs typeface="Microsoft YaHei"/>
                </a:defRPr>
              </a:defPPr>
            </a:lstStyle>
            <a:p>
              <a:pPr algn="ctr">
                <a:buNone/>
                <a:defRPr sz="2400" b="1">
                  <a:solidFill>
                    <a:srgbClr val="BF4A40"/>
                  </a:solidFill>
                  <a:latin typeface="Microsoft YaHei"/>
                  <a:ea typeface="Microsoft YaHei"/>
                  <a:cs typeface="Microsoft YaHei"/>
                </a:defRPr>
              </a:pPr>
              <a:r>
                <a:rPr sz="1440" b="1">
                  <a:solidFill>
                    <a:srgbClr val="BF4A40"/>
                  </a:solidFill>
                  <a:latin typeface="Microsoft YaHei"/>
                  <a:ea typeface="Microsoft YaHei"/>
                  <a:cs typeface="Microsoft YaHei"/>
                </a:rPr>
                <a:t>红原鸡</a:t>
              </a:r>
            </a:p>
          </p:txBody>
        </p:sp>
        <p:sp>
          <p:nvSpPr>
            <p:cNvPr id="78" name="local-label">
              <a:extLst>
                <a:ext uri="{FF2B5EF4-FFF2-40B4-BE49-F238E27FC236}">
                  <a16:creationId xmlns:a16="http://schemas.microsoft.com/office/drawing/2014/main" id="{37C80FDA-9326-4CD7-B78A-868481809CB2}"/>
                </a:ext>
              </a:extLst>
            </p:cNvPr>
            <p:cNvSpPr>
              <a:spLocks/>
            </p:cNvSpPr>
            <p:nvPr/>
          </p:nvSpPr>
          <p:spPr>
            <a:xfrm>
              <a:off x="7543800" y="8401050"/>
              <a:ext cx="2857500" cy="457200"/>
            </a:xfrm>
            <a:prstGeom prst="rect">
              <a:avLst/>
            </a:prstGeom>
            <a:noFill/>
            <a:ln w="0">
              <a:noFill/>
            </a:ln>
          </p:spPr>
          <p:txBody>
            <a:bodyPr wrap="none" lIns="0" tIns="0" rIns="0" bIns="0" anchor="ctr">
              <a:noAutofit/>
            </a:bodyPr>
            <a:lstStyle>
              <a:defPPr algn="ctr">
                <a:defRPr sz="2250" b="1">
                  <a:solidFill>
                    <a:srgbClr val="8B5E3C"/>
                  </a:solidFill>
                  <a:latin typeface="Microsoft YaHei"/>
                  <a:ea typeface="Microsoft YaHei"/>
                  <a:cs typeface="Microsoft YaHei"/>
                </a:defRPr>
              </a:defPPr>
            </a:lstStyle>
            <a:p>
              <a:pPr algn="ctr">
                <a:buNone/>
                <a:defRPr sz="2250" b="1">
                  <a:solidFill>
                    <a:srgbClr val="8B5E3C"/>
                  </a:solidFill>
                  <a:latin typeface="Microsoft YaHei"/>
                  <a:ea typeface="Microsoft YaHei"/>
                  <a:cs typeface="Microsoft YaHei"/>
                </a:defRPr>
              </a:pPr>
              <a:r>
                <a:rPr sz="1350" b="1">
                  <a:solidFill>
                    <a:srgbClr val="8B5E3C"/>
                  </a:solidFill>
                  <a:latin typeface="Microsoft YaHei"/>
                  <a:ea typeface="Microsoft YaHei"/>
                  <a:cs typeface="Microsoft YaHei"/>
                </a:rPr>
                <a:t>地方与传统家鸡</a:t>
              </a:r>
            </a:p>
          </p:txBody>
        </p:sp>
        <p:sp>
          <p:nvSpPr>
            <p:cNvPr id="79" name="commercial-label">
              <a:extLst>
                <a:ext uri="{FF2B5EF4-FFF2-40B4-BE49-F238E27FC236}">
                  <a16:creationId xmlns:a16="http://schemas.microsoft.com/office/drawing/2014/main" id="{1DAC9514-57EE-4ABB-9D5C-F853E37BD57B}"/>
                </a:ext>
              </a:extLst>
            </p:cNvPr>
            <p:cNvSpPr>
              <a:spLocks/>
            </p:cNvSpPr>
            <p:nvPr/>
          </p:nvSpPr>
          <p:spPr>
            <a:xfrm>
              <a:off x="1466850" y="8401050"/>
              <a:ext cx="2476500" cy="457200"/>
            </a:xfrm>
            <a:prstGeom prst="rect">
              <a:avLst/>
            </a:prstGeom>
            <a:noFill/>
            <a:ln w="0">
              <a:noFill/>
            </a:ln>
          </p:spPr>
          <p:txBody>
            <a:bodyPr wrap="none" lIns="0" tIns="0" rIns="0" bIns="0" anchor="ctr">
              <a:noAutofit/>
            </a:bodyPr>
            <a:lstStyle>
              <a:defPPr algn="ctr">
                <a:defRPr sz="2250" b="1">
                  <a:solidFill>
                    <a:srgbClr val="386F9F"/>
                  </a:solidFill>
                  <a:latin typeface="Microsoft YaHei"/>
                  <a:ea typeface="Microsoft YaHei"/>
                  <a:cs typeface="Microsoft YaHei"/>
                </a:defRPr>
              </a:defPPr>
            </a:lstStyle>
            <a:p>
              <a:pPr algn="ctr">
                <a:buNone/>
                <a:defRPr sz="2250" b="1">
                  <a:solidFill>
                    <a:srgbClr val="386F9F"/>
                  </a:solidFill>
                  <a:latin typeface="Microsoft YaHei"/>
                  <a:ea typeface="Microsoft YaHei"/>
                  <a:cs typeface="Microsoft YaHei"/>
                </a:defRPr>
              </a:pPr>
              <a:r>
                <a:rPr sz="1350" b="1">
                  <a:solidFill>
                    <a:srgbClr val="386F9F"/>
                  </a:solidFill>
                  <a:latin typeface="Microsoft YaHei"/>
                  <a:ea typeface="Microsoft YaHei"/>
                  <a:cs typeface="Microsoft YaHei"/>
                </a:rPr>
                <a:t>商业鸡</a:t>
              </a:r>
            </a:p>
          </p:txBody>
        </p:sp>
        <p:sp>
          <p:nvSpPr>
            <p:cNvPr id="80" name="wild-to-local-label">
              <a:extLst>
                <a:ext uri="{FF2B5EF4-FFF2-40B4-BE49-F238E27FC236}">
                  <a16:creationId xmlns:a16="http://schemas.microsoft.com/office/drawing/2014/main" id="{9A60D94E-E4B4-4AA1-89E7-25AB37ED2AE8}"/>
                </a:ext>
              </a:extLst>
            </p:cNvPr>
            <p:cNvSpPr>
              <a:spLocks/>
            </p:cNvSpPr>
            <p:nvPr/>
          </p:nvSpPr>
          <p:spPr>
            <a:xfrm rot="354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2025" b="1">
                  <a:solidFill>
                    <a:srgbClr val="BF4A40"/>
                  </a:solidFill>
                  <a:latin typeface="Microsoft YaHei"/>
                  <a:ea typeface="Microsoft YaHei"/>
                  <a:cs typeface="Microsoft YaHei"/>
                </a:defRPr>
              </a:defPPr>
            </a:lstStyle>
            <a:p>
              <a:pPr algn="ctr">
                <a:buNone/>
                <a:defRPr sz="2025" b="1">
                  <a:solidFill>
                    <a:srgbClr val="BF4A40"/>
                  </a:solidFill>
                  <a:latin typeface="Microsoft YaHei"/>
                  <a:ea typeface="Microsoft YaHei"/>
                  <a:cs typeface="Microsoft YaHei"/>
                </a:defRPr>
              </a:pPr>
              <a:r>
                <a:rPr lang="zh-CN" altLang="en-US" sz="1215" b="1" dirty="0">
                  <a:solidFill>
                    <a:srgbClr val="BF4A40"/>
                  </a:solidFill>
                  <a:latin typeface="Microsoft YaHei"/>
                  <a:ea typeface="Microsoft YaHei"/>
                  <a:cs typeface="Microsoft YaHei"/>
                </a:rPr>
                <a:t>① 祖源贡献与传播中的渗入</a:t>
              </a:r>
              <a:endParaRPr sz="1215" b="1" dirty="0">
                <a:solidFill>
                  <a:srgbClr val="BF4A40"/>
                </a:solidFill>
                <a:latin typeface="Microsoft YaHei"/>
                <a:ea typeface="Microsoft YaHei"/>
                <a:cs typeface="Microsoft YaHei"/>
              </a:endParaRPr>
            </a:p>
          </p:txBody>
        </p:sp>
        <p:sp>
          <p:nvSpPr>
            <p:cNvPr id="81" name="local-to-wild-label">
              <a:extLst>
                <a:ext uri="{FF2B5EF4-FFF2-40B4-BE49-F238E27FC236}">
                  <a16:creationId xmlns:a16="http://schemas.microsoft.com/office/drawing/2014/main" id="{BF9D3199-B75F-43F3-93B4-FBC6521FF5E2}"/>
                </a:ext>
              </a:extLst>
            </p:cNvPr>
            <p:cNvSpPr>
              <a:spLocks/>
            </p:cNvSpPr>
            <p:nvPr/>
          </p:nvSpPr>
          <p:spPr>
            <a:xfrm rot="3480000">
              <a:off x="2905125" y="3095625"/>
              <a:ext cx="5619750" cy="5619750"/>
            </a:xfrm>
            <a:prstGeom prst="rect">
              <a:avLst/>
            </a:prstGeom>
            <a:noFill/>
            <a:ln w="0">
              <a:noFill/>
            </a:ln>
          </p:spPr>
          <p:txBody>
            <a:bodyPr spcFirstLastPara="1" wrap="none" lIns="0" tIns="0" rIns="0" bIns="0" numCol="1" anchor="ctr">
              <a:prstTxWarp prst="textArchUp">
                <a:avLst/>
              </a:prstTxWarp>
              <a:noAutofit/>
            </a:bodyPr>
            <a:lstStyle>
              <a:defPPr algn="ctr">
                <a:defRPr sz="1950" b="1">
                  <a:solidFill>
                    <a:srgbClr val="8B5E3C"/>
                  </a:solidFill>
                  <a:latin typeface="Microsoft YaHei"/>
                  <a:ea typeface="Microsoft YaHei"/>
                  <a:cs typeface="Microsoft YaHei"/>
                </a:defRPr>
              </a:defPPr>
            </a:lstStyle>
            <a:p>
              <a:pPr algn="ctr">
                <a:buNone/>
                <a:defRPr sz="1950" b="1">
                  <a:solidFill>
                    <a:srgbClr val="8B5E3C"/>
                  </a:solidFill>
                  <a:latin typeface="Microsoft YaHei"/>
                  <a:ea typeface="Microsoft YaHei"/>
                  <a:cs typeface="Microsoft YaHei"/>
                </a:defRPr>
              </a:pPr>
              <a:r>
                <a:rPr lang="zh-CN" altLang="en-US" sz="1170" b="1" dirty="0">
                  <a:solidFill>
                    <a:srgbClr val="8B5E3C"/>
                  </a:solidFill>
                  <a:latin typeface="Microsoft YaHei"/>
                  <a:ea typeface="Microsoft YaHei"/>
                  <a:cs typeface="Microsoft YaHei"/>
                </a:rPr>
                <a:t>② 传播与逸生中的反向渗入</a:t>
              </a:r>
              <a:endParaRPr sz="1170" b="1" dirty="0">
                <a:solidFill>
                  <a:srgbClr val="8B5E3C"/>
                </a:solidFill>
                <a:latin typeface="Microsoft YaHei"/>
                <a:ea typeface="Microsoft YaHei"/>
                <a:cs typeface="Microsoft YaHei"/>
              </a:endParaRPr>
            </a:p>
          </p:txBody>
        </p:sp>
        <p:sp>
          <p:nvSpPr>
            <p:cNvPr id="82" name="local-to-commercial-label">
              <a:extLst>
                <a:ext uri="{FF2B5EF4-FFF2-40B4-BE49-F238E27FC236}">
                  <a16:creationId xmlns:a16="http://schemas.microsoft.com/office/drawing/2014/main" id="{DC5995B9-D78C-4823-9575-3AB308CD9AEC}"/>
                </a:ext>
              </a:extLst>
            </p:cNvPr>
            <p:cNvSpPr>
              <a:spLocks/>
            </p:cNvSpPr>
            <p:nvPr/>
          </p:nvSpPr>
          <p:spPr>
            <a:xfrm>
              <a:off x="1552575" y="1743075"/>
              <a:ext cx="8324850" cy="832485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8B5E3C"/>
                  </a:solidFill>
                  <a:latin typeface="Microsoft YaHei"/>
                  <a:ea typeface="Microsoft YaHei"/>
                  <a:cs typeface="Microsoft YaHei"/>
                </a:defRPr>
              </a:defPPr>
            </a:lstStyle>
            <a:p>
              <a:pPr algn="ctr">
                <a:buNone/>
                <a:defRPr sz="2025" b="1">
                  <a:solidFill>
                    <a:srgbClr val="8B5E3C"/>
                  </a:solidFill>
                  <a:latin typeface="Microsoft YaHei"/>
                  <a:ea typeface="Microsoft YaHei"/>
                  <a:cs typeface="Microsoft YaHei"/>
                </a:defRPr>
              </a:pPr>
              <a:r>
                <a:rPr sz="1215" b="1" dirty="0" err="1">
                  <a:solidFill>
                    <a:srgbClr val="8B5E3C"/>
                  </a:solidFill>
                  <a:latin typeface="Microsoft YaHei"/>
                  <a:ea typeface="Microsoft YaHei"/>
                  <a:cs typeface="Microsoft YaHei"/>
                </a:rPr>
                <a:t>⑤ 育种利用</a:t>
              </a:r>
              <a:endParaRPr sz="1215" b="1" dirty="0">
                <a:solidFill>
                  <a:srgbClr val="8B5E3C"/>
                </a:solidFill>
                <a:latin typeface="Microsoft YaHei"/>
                <a:ea typeface="Microsoft YaHei"/>
                <a:cs typeface="Microsoft YaHei"/>
              </a:endParaRPr>
            </a:p>
          </p:txBody>
        </p:sp>
        <p:sp>
          <p:nvSpPr>
            <p:cNvPr id="83" name="commercial-to-local-label">
              <a:extLst>
                <a:ext uri="{FF2B5EF4-FFF2-40B4-BE49-F238E27FC236}">
                  <a16:creationId xmlns:a16="http://schemas.microsoft.com/office/drawing/2014/main" id="{4711919B-CD8B-490F-9E11-C280712F4714}"/>
                </a:ext>
              </a:extLst>
            </p:cNvPr>
            <p:cNvSpPr>
              <a:spLocks/>
            </p:cNvSpPr>
            <p:nvPr/>
          </p:nvSpPr>
          <p:spPr>
            <a:xfrm>
              <a:off x="2809875" y="3000375"/>
              <a:ext cx="5810250" cy="5810250"/>
            </a:xfrm>
            <a:prstGeom prst="rect">
              <a:avLst/>
            </a:prstGeom>
            <a:noFill/>
            <a:ln w="0">
              <a:noFill/>
            </a:ln>
          </p:spPr>
          <p:txBody>
            <a:bodyPr spcFirstLastPara="1" wrap="none" lIns="0" tIns="0" rIns="0" bIns="0" numCol="1" anchor="ctr">
              <a:prstTxWarp prst="textArchDown">
                <a:avLst/>
              </a:prstTxWarp>
              <a:noAutofit/>
            </a:bodyPr>
            <a:lstStyle>
              <a:defPPr algn="ctr">
                <a:defRPr sz="1950" b="1">
                  <a:solidFill>
                    <a:srgbClr val="386F9F"/>
                  </a:solidFill>
                  <a:latin typeface="Microsoft YaHei"/>
                  <a:ea typeface="Microsoft YaHei"/>
                  <a:cs typeface="Microsoft YaHei"/>
                </a:defRPr>
              </a:defPPr>
            </a:lstStyle>
            <a:p>
              <a:pPr algn="ctr">
                <a:buNone/>
                <a:defRPr sz="1950" b="1">
                  <a:solidFill>
                    <a:srgbClr val="386F9F"/>
                  </a:solidFill>
                  <a:latin typeface="Microsoft YaHei"/>
                  <a:ea typeface="Microsoft YaHei"/>
                  <a:cs typeface="Microsoft YaHei"/>
                </a:defRPr>
              </a:pPr>
              <a:r>
                <a:rPr lang="zh-CN" altLang="en-US" sz="1170" b="1" dirty="0">
                  <a:solidFill>
                    <a:srgbClr val="386F9F"/>
                  </a:solidFill>
                  <a:latin typeface="Microsoft YaHei"/>
                  <a:ea typeface="Microsoft YaHei"/>
                  <a:cs typeface="Microsoft YaHei"/>
                </a:rPr>
                <a:t>⑥ 引种与品种改良</a:t>
              </a:r>
              <a:endParaRPr sz="1170" b="1" dirty="0">
                <a:solidFill>
                  <a:srgbClr val="386F9F"/>
                </a:solidFill>
                <a:latin typeface="Microsoft YaHei"/>
                <a:ea typeface="Microsoft YaHei"/>
                <a:cs typeface="Microsoft YaHei"/>
              </a:endParaRPr>
            </a:p>
          </p:txBody>
        </p:sp>
        <p:sp>
          <p:nvSpPr>
            <p:cNvPr id="84" name="commercial-model-label">
              <a:extLst>
                <a:ext uri="{FF2B5EF4-FFF2-40B4-BE49-F238E27FC236}">
                  <a16:creationId xmlns:a16="http://schemas.microsoft.com/office/drawing/2014/main" id="{A336BB34-CE3F-42CD-88EC-BC5379A4713B}"/>
                </a:ext>
              </a:extLst>
            </p:cNvPr>
            <p:cNvSpPr>
              <a:spLocks/>
            </p:cNvSpPr>
            <p:nvPr/>
          </p:nvSpPr>
          <p:spPr>
            <a:xfrm rot="-336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1800" b="1">
                  <a:solidFill>
                    <a:srgbClr val="386F9F"/>
                  </a:solidFill>
                  <a:latin typeface="Microsoft YaHei"/>
                  <a:ea typeface="Microsoft YaHei"/>
                  <a:cs typeface="Microsoft YaHei"/>
                </a:defRPr>
              </a:defPPr>
            </a:lstStyle>
            <a:p>
              <a:pPr algn="ctr">
                <a:buNone/>
                <a:defRPr sz="1800" b="1">
                  <a:solidFill>
                    <a:srgbClr val="386F9F"/>
                  </a:solidFill>
                  <a:latin typeface="Microsoft YaHei"/>
                  <a:ea typeface="Microsoft YaHei"/>
                  <a:cs typeface="Microsoft YaHei"/>
                </a:defRPr>
              </a:pPr>
              <a:r>
                <a:rPr lang="zh-CN" altLang="en-US" sz="1080" b="1" dirty="0">
                  <a:solidFill>
                    <a:srgbClr val="386F9F"/>
                  </a:solidFill>
                  <a:latin typeface="Microsoft YaHei"/>
                  <a:ea typeface="Microsoft YaHei"/>
                  <a:cs typeface="Microsoft YaHei"/>
                </a:rPr>
                <a:t>③ 可能的直接杂交渗入</a:t>
              </a:r>
              <a:endParaRPr sz="1080" b="1" dirty="0">
                <a:solidFill>
                  <a:srgbClr val="386F9F"/>
                </a:solidFill>
                <a:latin typeface="Microsoft YaHei"/>
                <a:ea typeface="Microsoft YaHei"/>
                <a:cs typeface="Microsoft YaHei"/>
              </a:endParaRPr>
            </a:p>
          </p:txBody>
        </p:sp>
        <p:sp>
          <p:nvSpPr>
            <p:cNvPr id="85" name="commercial-model-detail">
              <a:extLst>
                <a:ext uri="{FF2B5EF4-FFF2-40B4-BE49-F238E27FC236}">
                  <a16:creationId xmlns:a16="http://schemas.microsoft.com/office/drawing/2014/main" id="{6FCFA58A-22D9-4E64-9BCC-9E46E31B7165}"/>
                </a:ext>
              </a:extLst>
            </p:cNvPr>
            <p:cNvSpPr>
              <a:spLocks/>
            </p:cNvSpPr>
            <p:nvPr/>
          </p:nvSpPr>
          <p:spPr>
            <a:xfrm rot="-3360000">
              <a:off x="1314450" y="1504950"/>
              <a:ext cx="8801100" cy="880110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Microsoft YaHei"/>
                  <a:ea typeface="Microsoft YaHei"/>
                  <a:cs typeface="Microsoft YaHei"/>
                </a:defRPr>
              </a:defPPr>
            </a:lstStyle>
            <a:p>
              <a:pPr algn="ctr">
                <a:buNone/>
                <a:defRPr sz="1575" b="0">
                  <a:solidFill>
                    <a:srgbClr val="5D707C"/>
                  </a:solidFill>
                  <a:latin typeface="Microsoft YaHei"/>
                  <a:ea typeface="Microsoft YaHei"/>
                  <a:cs typeface="Microsoft YaHei"/>
                </a:defRPr>
              </a:pPr>
              <a:endParaRPr sz="870" dirty="0">
                <a:solidFill>
                  <a:srgbClr val="5D707C"/>
                </a:solidFill>
                <a:latin typeface="Microsoft YaHei"/>
                <a:ea typeface="Microsoft YaHei"/>
                <a:cs typeface="Microsoft YaHei"/>
              </a:endParaRPr>
            </a:p>
          </p:txBody>
        </p:sp>
        <p:sp>
          <p:nvSpPr>
            <p:cNvPr id="86" name="captive-model-label">
              <a:extLst>
                <a:ext uri="{FF2B5EF4-FFF2-40B4-BE49-F238E27FC236}">
                  <a16:creationId xmlns:a16="http://schemas.microsoft.com/office/drawing/2014/main" id="{BA2AA8D1-8E82-4700-9943-AAC89DC50E79}"/>
                </a:ext>
              </a:extLst>
            </p:cNvPr>
            <p:cNvSpPr>
              <a:spLocks/>
            </p:cNvSpPr>
            <p:nvPr/>
          </p:nvSpPr>
          <p:spPr>
            <a:xfrm rot="-3300000">
              <a:off x="2867024" y="3057525"/>
              <a:ext cx="5695950" cy="5695950"/>
            </a:xfrm>
            <a:prstGeom prst="rect">
              <a:avLst/>
            </a:prstGeom>
            <a:noFill/>
            <a:ln w="0">
              <a:noFill/>
            </a:ln>
          </p:spPr>
          <p:txBody>
            <a:bodyPr spcFirstLastPara="1" wrap="none" lIns="0" tIns="0" rIns="0" bIns="0" numCol="1" anchor="ctr">
              <a:prstTxWarp prst="textArchUp">
                <a:avLst/>
              </a:prstTxWarp>
              <a:noAutofit/>
            </a:bodyPr>
            <a:lstStyle>
              <a:defPPr algn="ctr">
                <a:defRPr sz="1875" b="1">
                  <a:solidFill>
                    <a:srgbClr val="BF4A40"/>
                  </a:solidFill>
                  <a:latin typeface="Microsoft YaHei"/>
                  <a:ea typeface="Microsoft YaHei"/>
                  <a:cs typeface="Microsoft YaHei"/>
                </a:defRPr>
              </a:defPPr>
            </a:lstStyle>
            <a:p>
              <a:pPr algn="ctr">
                <a:buNone/>
                <a:defRPr sz="1875" b="1">
                  <a:solidFill>
                    <a:srgbClr val="BF4A40"/>
                  </a:solidFill>
                  <a:latin typeface="Microsoft YaHei"/>
                  <a:ea typeface="Microsoft YaHei"/>
                  <a:cs typeface="Microsoft YaHei"/>
                </a:defRPr>
              </a:pPr>
              <a:r>
                <a:rPr lang="zh-CN" altLang="en-US" sz="1125" b="1" dirty="0">
                  <a:solidFill>
                    <a:srgbClr val="BF4A40"/>
                  </a:solidFill>
                  <a:latin typeface="Microsoft YaHei"/>
                  <a:ea typeface="Microsoft YaHei"/>
                  <a:cs typeface="Microsoft YaHei"/>
                </a:rPr>
                <a:t>④ 可能的直接育种利用</a:t>
              </a:r>
              <a:endParaRPr sz="1125" b="1" dirty="0">
                <a:solidFill>
                  <a:srgbClr val="BF4A40"/>
                </a:solidFill>
                <a:latin typeface="Microsoft YaHei"/>
                <a:ea typeface="Microsoft YaHei"/>
                <a:cs typeface="Microsoft YaHei"/>
              </a:endParaRPr>
            </a:p>
          </p:txBody>
        </p:sp>
        <p:sp>
          <p:nvSpPr>
            <p:cNvPr id="87" name="captive-model-detail">
              <a:extLst>
                <a:ext uri="{FF2B5EF4-FFF2-40B4-BE49-F238E27FC236}">
                  <a16:creationId xmlns:a16="http://schemas.microsoft.com/office/drawing/2014/main" id="{F1646919-93AD-454A-8A65-022D45B53379}"/>
                </a:ext>
              </a:extLst>
            </p:cNvPr>
            <p:cNvSpPr>
              <a:spLocks/>
            </p:cNvSpPr>
            <p:nvPr/>
          </p:nvSpPr>
          <p:spPr>
            <a:xfrm rot="-3300000">
              <a:off x="3190875" y="3381375"/>
              <a:ext cx="5048250" cy="504825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Microsoft YaHei"/>
                  <a:ea typeface="Microsoft YaHei"/>
                  <a:cs typeface="Microsoft YaHei"/>
                </a:defRPr>
              </a:defPPr>
            </a:lstStyle>
            <a:p>
              <a:pPr algn="ctr">
                <a:buNone/>
                <a:defRPr sz="1575" b="0">
                  <a:solidFill>
                    <a:srgbClr val="5D707C"/>
                  </a:solidFill>
                  <a:latin typeface="Microsoft YaHei"/>
                  <a:ea typeface="Microsoft YaHei"/>
                  <a:cs typeface="Microsoft YaHei"/>
                </a:defRPr>
              </a:pPr>
              <a:endParaRPr sz="870" dirty="0">
                <a:solidFill>
                  <a:srgbClr val="5D707C"/>
                </a:solidFill>
                <a:latin typeface="Microsoft YaHei"/>
                <a:ea typeface="Microsoft YaHei"/>
                <a:cs typeface="Microsoft YaHei"/>
              </a:endParaRPr>
            </a:p>
          </p:txBody>
        </p:sp>
        <p:sp>
          <p:nvSpPr>
            <p:cNvPr id="88" name="history-label">
              <a:extLst>
                <a:ext uri="{FF2B5EF4-FFF2-40B4-BE49-F238E27FC236}">
                  <a16:creationId xmlns:a16="http://schemas.microsoft.com/office/drawing/2014/main" id="{4BBC315B-7623-4D53-A358-E95928D8107F}"/>
                </a:ext>
              </a:extLst>
            </p:cNvPr>
            <p:cNvSpPr>
              <a:spLocks/>
            </p:cNvSpPr>
            <p:nvPr/>
          </p:nvSpPr>
          <p:spPr>
            <a:xfrm rot="-3960000">
              <a:off x="257175" y="1543050"/>
              <a:ext cx="5867400" cy="586740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267466"/>
                  </a:solidFill>
                  <a:latin typeface="Microsoft YaHei"/>
                  <a:ea typeface="Microsoft YaHei"/>
                  <a:cs typeface="Microsoft YaHei"/>
                </a:defRPr>
              </a:defPPr>
            </a:lstStyle>
            <a:p>
              <a:pPr algn="ctr">
                <a:buNone/>
                <a:defRPr sz="2025" b="1">
                  <a:solidFill>
                    <a:srgbClr val="267466"/>
                  </a:solidFill>
                  <a:latin typeface="Microsoft YaHei"/>
                  <a:ea typeface="Microsoft YaHei"/>
                  <a:cs typeface="Microsoft YaHei"/>
                </a:defRPr>
              </a:pPr>
              <a:endParaRPr sz="1215" b="1" dirty="0">
                <a:solidFill>
                  <a:srgbClr val="267466"/>
                </a:solidFill>
                <a:latin typeface="Microsoft YaHei"/>
                <a:ea typeface="Microsoft YaHei"/>
                <a:cs typeface="Microsoft YaHei"/>
              </a:endParaRPr>
            </a:p>
          </p:txBody>
        </p:sp>
        <p:sp>
          <p:nvSpPr>
            <p:cNvPr id="89" name="history-detail">
              <a:extLst>
                <a:ext uri="{FF2B5EF4-FFF2-40B4-BE49-F238E27FC236}">
                  <a16:creationId xmlns:a16="http://schemas.microsoft.com/office/drawing/2014/main" id="{5DD0C775-9128-4D78-8ACA-C79B24985536}"/>
                </a:ext>
              </a:extLst>
            </p:cNvPr>
            <p:cNvSpPr>
              <a:spLocks/>
            </p:cNvSpPr>
            <p:nvPr/>
          </p:nvSpPr>
          <p:spPr>
            <a:xfrm rot="-3660000">
              <a:off x="9525" y="1295400"/>
              <a:ext cx="6362700" cy="6362700"/>
            </a:xfrm>
            <a:prstGeom prst="rect">
              <a:avLst/>
            </a:prstGeom>
            <a:noFill/>
            <a:ln w="0">
              <a:noFill/>
            </a:ln>
          </p:spPr>
          <p:txBody>
            <a:bodyPr spcFirstLastPara="1" wrap="none" lIns="0" tIns="0" rIns="0" bIns="0" numCol="1" anchor="ctr">
              <a:prstTxWarp prst="textArchDown">
                <a:avLst/>
              </a:prstTxWarp>
              <a:noAutofit/>
            </a:bodyPr>
            <a:lstStyle>
              <a:defPPr algn="ctr">
                <a:defRPr sz="1575" b="0">
                  <a:solidFill>
                    <a:srgbClr val="5D707C"/>
                  </a:solidFill>
                  <a:latin typeface="Microsoft YaHei"/>
                  <a:ea typeface="Microsoft YaHei"/>
                  <a:cs typeface="Microsoft YaHei"/>
                </a:defRPr>
              </a:defPPr>
            </a:lstStyle>
            <a:p>
              <a:pPr algn="ctr">
                <a:buNone/>
                <a:defRPr sz="1575" b="0">
                  <a:solidFill>
                    <a:srgbClr val="5D707C"/>
                  </a:solidFill>
                  <a:latin typeface="Microsoft YaHei"/>
                  <a:ea typeface="Microsoft YaHei"/>
                  <a:cs typeface="Microsoft YaHei"/>
                </a:defRPr>
              </a:pPr>
              <a:endParaRPr sz="900" dirty="0">
                <a:solidFill>
                  <a:srgbClr val="5D707C"/>
                </a:solidFill>
                <a:latin typeface="Microsoft YaHei"/>
                <a:ea typeface="Microsoft YaHei"/>
                <a:cs typeface="Microsoft YaHei"/>
              </a:endParaRPr>
            </a:p>
          </p:txBody>
        </p:sp>
        <p:sp>
          <p:nvSpPr>
            <p:cNvPr id="90" name="legend-solid">
              <a:extLst>
                <a:ext uri="{FF2B5EF4-FFF2-40B4-BE49-F238E27FC236}">
                  <a16:creationId xmlns:a16="http://schemas.microsoft.com/office/drawing/2014/main" id="{AF1FC9F0-EDF1-4783-A93F-2F7CB1BF66A0}"/>
                </a:ext>
              </a:extLst>
            </p:cNvPr>
            <p:cNvSpPr>
              <a:spLocks/>
            </p:cNvSpPr>
            <p:nvPr/>
          </p:nvSpPr>
          <p:spPr>
            <a:xfrm>
              <a:off x="2822575"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solid"/>
              <a:headEnd type="none" w="med" len="med"/>
              <a:tailEnd type="triangle" w="med" len="med"/>
            </a:ln>
          </p:spPr>
          <p:txBody>
            <a:bodyPr/>
            <a:lstStyle/>
            <a:p>
              <a:endParaRPr lang="LID4096" sz="1080"/>
            </a:p>
          </p:txBody>
        </p:sp>
        <p:sp>
          <p:nvSpPr>
            <p:cNvPr id="91" name="legend-solid-text">
              <a:extLst>
                <a:ext uri="{FF2B5EF4-FFF2-40B4-BE49-F238E27FC236}">
                  <a16:creationId xmlns:a16="http://schemas.microsoft.com/office/drawing/2014/main" id="{5F1FBBEB-DAED-45A2-AC09-A753B0866848}"/>
                </a:ext>
              </a:extLst>
            </p:cNvPr>
            <p:cNvSpPr>
              <a:spLocks/>
            </p:cNvSpPr>
            <p:nvPr/>
          </p:nvSpPr>
          <p:spPr>
            <a:xfrm>
              <a:off x="3775075" y="10753725"/>
              <a:ext cx="1708150" cy="266700"/>
            </a:xfrm>
            <a:prstGeom prst="rect">
              <a:avLst/>
            </a:prstGeom>
            <a:noFill/>
            <a:ln w="0">
              <a:noFill/>
            </a:ln>
          </p:spPr>
          <p:txBody>
            <a:bodyPr wrap="none" lIns="0" tIns="0" rIns="0" bIns="0" anchor="ctr">
              <a:noAutofit/>
            </a:bodyPr>
            <a:lstStyle>
              <a:defPPr algn="ctr">
                <a:defRPr sz="1425" b="0">
                  <a:solidFill>
                    <a:srgbClr val="5D707C"/>
                  </a:solidFill>
                  <a:latin typeface="Microsoft YaHei"/>
                  <a:ea typeface="Microsoft YaHei"/>
                  <a:cs typeface="Microsoft YaHei"/>
                </a:defRPr>
              </a:defPPr>
            </a:lstStyle>
            <a:p>
              <a:pPr algn="l">
                <a:buNone/>
                <a:defRPr sz="1425" b="0">
                  <a:solidFill>
                    <a:srgbClr val="5D707C"/>
                  </a:solidFill>
                  <a:latin typeface="Microsoft YaHei"/>
                  <a:ea typeface="Microsoft YaHei"/>
                  <a:cs typeface="Microsoft YaHei"/>
                </a:defRPr>
              </a:pPr>
              <a:r>
                <a:rPr sz="855">
                  <a:solidFill>
                    <a:srgbClr val="5D707C"/>
                  </a:solidFill>
                  <a:latin typeface="Microsoft YaHei"/>
                  <a:ea typeface="Microsoft YaHei"/>
                  <a:cs typeface="Microsoft YaHei"/>
                </a:rPr>
                <a:t>多项研究支持的联系</a:t>
              </a:r>
            </a:p>
          </p:txBody>
        </p:sp>
        <p:sp>
          <p:nvSpPr>
            <p:cNvPr id="92" name="legend-dashed">
              <a:extLst>
                <a:ext uri="{FF2B5EF4-FFF2-40B4-BE49-F238E27FC236}">
                  <a16:creationId xmlns:a16="http://schemas.microsoft.com/office/drawing/2014/main" id="{8C15D441-C4E6-42F1-8C5D-0C52C24A6BFB}"/>
                </a:ext>
              </a:extLst>
            </p:cNvPr>
            <p:cNvSpPr>
              <a:spLocks/>
            </p:cNvSpPr>
            <p:nvPr/>
          </p:nvSpPr>
          <p:spPr>
            <a:xfrm>
              <a:off x="6334125"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dash"/>
              <a:headEnd type="none" w="med" len="med"/>
              <a:tailEnd type="triangle" w="med" len="med"/>
            </a:ln>
          </p:spPr>
          <p:txBody>
            <a:bodyPr/>
            <a:lstStyle/>
            <a:p>
              <a:endParaRPr lang="LID4096" sz="1080"/>
            </a:p>
          </p:txBody>
        </p:sp>
        <p:sp>
          <p:nvSpPr>
            <p:cNvPr id="93" name="legend-dashed-text">
              <a:extLst>
                <a:ext uri="{FF2B5EF4-FFF2-40B4-BE49-F238E27FC236}">
                  <a16:creationId xmlns:a16="http://schemas.microsoft.com/office/drawing/2014/main" id="{7597720B-ED7E-4011-B1A1-6094A4A15921}"/>
                </a:ext>
              </a:extLst>
            </p:cNvPr>
            <p:cNvSpPr>
              <a:spLocks/>
            </p:cNvSpPr>
            <p:nvPr/>
          </p:nvSpPr>
          <p:spPr>
            <a:xfrm>
              <a:off x="7286625" y="10753725"/>
              <a:ext cx="2400000" cy="266700"/>
            </a:xfrm>
            <a:prstGeom prst="rect">
              <a:avLst/>
            </a:prstGeom>
            <a:noFill/>
            <a:ln w="0">
              <a:noFill/>
            </a:ln>
          </p:spPr>
          <p:txBody>
            <a:bodyPr wrap="none" lIns="0" tIns="0" rIns="0" bIns="0" anchor="ctr">
              <a:noAutofit/>
            </a:bodyPr>
            <a:lstStyle>
              <a:defPPr algn="ctr">
                <a:defRPr sz="1425" b="0">
                  <a:solidFill>
                    <a:srgbClr val="5D707C"/>
                  </a:solidFill>
                  <a:latin typeface="Microsoft YaHei"/>
                  <a:ea typeface="Microsoft YaHei"/>
                  <a:cs typeface="Microsoft YaHei"/>
                </a:defRPr>
              </a:defPPr>
            </a:lstStyle>
            <a:p>
              <a:pPr algn="l">
                <a:buNone/>
                <a:defRPr sz="1425" b="0">
                  <a:solidFill>
                    <a:srgbClr val="5D707C"/>
                  </a:solidFill>
                  <a:latin typeface="Microsoft YaHei"/>
                  <a:ea typeface="Microsoft YaHei"/>
                  <a:cs typeface="Microsoft YaHei"/>
                </a:defRPr>
              </a:pPr>
              <a:r>
                <a:rPr sz="855">
                  <a:solidFill>
                    <a:srgbClr val="5D707C"/>
                  </a:solidFill>
                  <a:latin typeface="Microsoft YaHei"/>
                  <a:ea typeface="Microsoft YaHei"/>
                  <a:cs typeface="Microsoft YaHei"/>
                </a:rPr>
                <a:t>尚缺直接证据的可能联系</a:t>
              </a:r>
            </a:p>
          </p:txBody>
        </p:sp>
      </p:grpSp>
    </p:spTree>
    <p:extLst>
      <p:ext uri="{BB962C8B-B14F-4D97-AF65-F5344CB8AC3E}">
        <p14:creationId xmlns:p14="http://schemas.microsoft.com/office/powerpoint/2010/main" val="2517083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Fig3_EN_1_editable_figure">
            <a:extLst>
              <a:ext uri="{FF2B5EF4-FFF2-40B4-BE49-F238E27FC236}">
                <a16:creationId xmlns:a16="http://schemas.microsoft.com/office/drawing/2014/main" id="{AD1AC455-890A-2D80-AC7A-2B3BCC869F6C}"/>
              </a:ext>
            </a:extLst>
          </p:cNvPr>
          <p:cNvGrpSpPr>
            <a:grpSpLocks noChangeAspect="1"/>
          </p:cNvGrpSpPr>
          <p:nvPr/>
        </p:nvGrpSpPr>
        <p:grpSpPr>
          <a:xfrm>
            <a:off x="2672715" y="777240"/>
            <a:ext cx="6369188" cy="5835015"/>
            <a:chOff x="9525" y="1295400"/>
            <a:chExt cx="10615314" cy="9725025"/>
          </a:xfrm>
        </p:grpSpPr>
        <p:sp>
          <p:nvSpPr>
            <p:cNvPr id="4" name="circular-layout-guide">
              <a:extLst>
                <a:ext uri="{FF2B5EF4-FFF2-40B4-BE49-F238E27FC236}">
                  <a16:creationId xmlns:a16="http://schemas.microsoft.com/office/drawing/2014/main" id="{AC3CF780-7E6F-4FF9-837B-03E3C7AF1295}"/>
                </a:ext>
              </a:extLst>
            </p:cNvPr>
            <p:cNvSpPr>
              <a:spLocks/>
            </p:cNvSpPr>
            <p:nvPr/>
          </p:nvSpPr>
          <p:spPr>
            <a:xfrm>
              <a:off x="2238375" y="2428875"/>
              <a:ext cx="6953250" cy="6953250"/>
            </a:xfrm>
            <a:prstGeom prst="ellipse">
              <a:avLst/>
            </a:prstGeom>
            <a:noFill/>
            <a:ln w="14288">
              <a:solidFill>
                <a:srgbClr val="E5E9EC"/>
              </a:solidFill>
              <a:prstDash val="solid"/>
            </a:ln>
          </p:spPr>
          <p:txBody>
            <a:bodyPr/>
            <a:lstStyle/>
            <a:p>
              <a:endParaRPr lang="LID4096" sz="1080"/>
            </a:p>
          </p:txBody>
        </p:sp>
        <p:sp>
          <p:nvSpPr>
            <p:cNvPr id="5" name="wild-to-local">
              <a:extLst>
                <a:ext uri="{FF2B5EF4-FFF2-40B4-BE49-F238E27FC236}">
                  <a16:creationId xmlns:a16="http://schemas.microsoft.com/office/drawing/2014/main" id="{E7FF516D-D107-4F14-9D88-AF2BB2510959}"/>
                </a:ext>
              </a:extLst>
            </p:cNvPr>
            <p:cNvSpPr>
              <a:spLocks/>
            </p:cNvSpPr>
            <p:nvPr/>
          </p:nvSpPr>
          <p:spPr>
            <a:xfrm>
              <a:off x="6904128" y="2245739"/>
              <a:ext cx="2984370" cy="4459826"/>
            </a:xfrm>
            <a:custGeom>
              <a:avLst/>
              <a:gdLst/>
              <a:ahLst/>
              <a:cxnLst/>
              <a:rect l="0" t="0" r="0" b="0"/>
              <a:pathLst>
                <a:path w="2984370" h="4459826">
                  <a:moveTo>
                    <a:pt x="0" y="0"/>
                  </a:moveTo>
                  <a:cubicBezTo>
                    <a:pt x="1873134" y="608618"/>
                    <a:pt x="2984370" y="2533335"/>
                    <a:pt x="2574881" y="4459826"/>
                  </a:cubicBezTo>
                </a:path>
              </a:pathLst>
            </a:custGeom>
            <a:noFill/>
            <a:ln w="38100">
              <a:solidFill>
                <a:srgbClr val="BF4A40"/>
              </a:solidFill>
              <a:prstDash val="solid"/>
              <a:headEnd type="none" w="med" len="med"/>
              <a:tailEnd type="triangle" w="med" len="med"/>
            </a:ln>
          </p:spPr>
          <p:txBody>
            <a:bodyPr/>
            <a:lstStyle/>
            <a:p>
              <a:endParaRPr lang="LID4096" sz="1080" dirty="0">
                <a:solidFill>
                  <a:srgbClr val="FF0000"/>
                </a:solidFill>
              </a:endParaRPr>
            </a:p>
          </p:txBody>
        </p:sp>
        <p:sp>
          <p:nvSpPr>
            <p:cNvPr id="6" name="local-to-wild">
              <a:extLst>
                <a:ext uri="{FF2B5EF4-FFF2-40B4-BE49-F238E27FC236}">
                  <a16:creationId xmlns:a16="http://schemas.microsoft.com/office/drawing/2014/main" id="{150E80D1-E4F2-4565-B25C-58AD42278F60}"/>
                </a:ext>
              </a:extLst>
            </p:cNvPr>
            <p:cNvSpPr>
              <a:spLocks/>
            </p:cNvSpPr>
            <p:nvPr/>
          </p:nvSpPr>
          <p:spPr>
            <a:xfrm>
              <a:off x="6725938" y="2969523"/>
              <a:ext cx="2312268" cy="3475181"/>
            </a:xfrm>
            <a:custGeom>
              <a:avLst/>
              <a:gdLst/>
              <a:ahLst/>
              <a:cxnLst/>
              <a:rect l="0" t="0" r="0" b="0"/>
              <a:pathLst>
                <a:path w="2312268" h="3475181">
                  <a:moveTo>
                    <a:pt x="2047038" y="3475181"/>
                  </a:moveTo>
                  <a:cubicBezTo>
                    <a:pt x="2312268" y="1970985"/>
                    <a:pt x="1444185" y="497273"/>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7" name="local-to-commercial">
              <a:extLst>
                <a:ext uri="{FF2B5EF4-FFF2-40B4-BE49-F238E27FC236}">
                  <a16:creationId xmlns:a16="http://schemas.microsoft.com/office/drawing/2014/main" id="{6A1274EF-F6A3-44A9-8A47-50D0A7684C45}"/>
                </a:ext>
              </a:extLst>
            </p:cNvPr>
            <p:cNvSpPr>
              <a:spLocks/>
            </p:cNvSpPr>
            <p:nvPr/>
          </p:nvSpPr>
          <p:spPr>
            <a:xfrm>
              <a:off x="3310688" y="8982879"/>
              <a:ext cx="4808624" cy="1103828"/>
            </a:xfrm>
            <a:custGeom>
              <a:avLst/>
              <a:gdLst/>
              <a:ahLst/>
              <a:cxnLst/>
              <a:rect l="0" t="0" r="0" b="0"/>
              <a:pathLst>
                <a:path w="4808624" h="1103828">
                  <a:moveTo>
                    <a:pt x="4808624" y="0"/>
                  </a:moveTo>
                  <a:cubicBezTo>
                    <a:pt x="3395789" y="1103828"/>
                    <a:pt x="1412835" y="1103828"/>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8" name="commercial-to-local">
              <a:extLst>
                <a:ext uri="{FF2B5EF4-FFF2-40B4-BE49-F238E27FC236}">
                  <a16:creationId xmlns:a16="http://schemas.microsoft.com/office/drawing/2014/main" id="{C2DC9913-8551-40C9-B243-C94F698CF805}"/>
                </a:ext>
              </a:extLst>
            </p:cNvPr>
            <p:cNvSpPr>
              <a:spLocks/>
            </p:cNvSpPr>
            <p:nvPr/>
          </p:nvSpPr>
          <p:spPr>
            <a:xfrm>
              <a:off x="3671589" y="8256175"/>
              <a:ext cx="4086821" cy="1018667"/>
            </a:xfrm>
            <a:custGeom>
              <a:avLst/>
              <a:gdLst/>
              <a:ahLst/>
              <a:cxnLst/>
              <a:rect l="0" t="0" r="0" b="0"/>
              <a:pathLst>
                <a:path w="4086821" h="1018667">
                  <a:moveTo>
                    <a:pt x="0" y="0"/>
                  </a:moveTo>
                  <a:cubicBezTo>
                    <a:pt x="1171842" y="1018667"/>
                    <a:pt x="2914979" y="1018667"/>
                    <a:pt x="4086821" y="0"/>
                  </a:cubicBezTo>
                </a:path>
              </a:pathLst>
            </a:custGeom>
            <a:noFill/>
            <a:ln w="38100">
              <a:solidFill>
                <a:srgbClr val="386F9F"/>
              </a:solidFill>
              <a:prstDash val="solid"/>
              <a:headEnd type="none" w="med" len="med"/>
              <a:tailEnd type="triangle" w="med" len="med"/>
            </a:ln>
          </p:spPr>
          <p:txBody>
            <a:bodyPr/>
            <a:lstStyle/>
            <a:p>
              <a:endParaRPr lang="LID4096" sz="1080"/>
            </a:p>
          </p:txBody>
        </p:sp>
        <p:sp>
          <p:nvSpPr>
            <p:cNvPr id="9" name="commercial-to-rjf-reference-model">
              <a:extLst>
                <a:ext uri="{FF2B5EF4-FFF2-40B4-BE49-F238E27FC236}">
                  <a16:creationId xmlns:a16="http://schemas.microsoft.com/office/drawing/2014/main" id="{8C8E73F7-7827-45EA-9642-8BB2CF686DB7}"/>
                </a:ext>
              </a:extLst>
            </p:cNvPr>
            <p:cNvSpPr>
              <a:spLocks/>
            </p:cNvSpPr>
            <p:nvPr/>
          </p:nvSpPr>
          <p:spPr>
            <a:xfrm>
              <a:off x="1531172" y="2236681"/>
              <a:ext cx="2991757" cy="4470865"/>
            </a:xfrm>
            <a:custGeom>
              <a:avLst/>
              <a:gdLst/>
              <a:ahLst/>
              <a:cxnLst/>
              <a:rect l="0" t="0" r="0" b="0"/>
              <a:pathLst>
                <a:path w="2991757" h="4470865">
                  <a:moveTo>
                    <a:pt x="410502" y="4470865"/>
                  </a:moveTo>
                  <a:cubicBezTo>
                    <a:pt x="0" y="2539606"/>
                    <a:pt x="1113986" y="610125"/>
                    <a:pt x="2991757" y="0"/>
                  </a:cubicBezTo>
                </a:path>
              </a:pathLst>
            </a:custGeom>
            <a:noFill/>
            <a:ln w="38100">
              <a:solidFill>
                <a:srgbClr val="386F9F"/>
              </a:solidFill>
              <a:prstDash val="dash"/>
              <a:headEnd type="none" w="med" len="med"/>
              <a:tailEnd type="triangle" w="med" len="med"/>
            </a:ln>
          </p:spPr>
          <p:txBody>
            <a:bodyPr/>
            <a:lstStyle/>
            <a:p>
              <a:endParaRPr lang="LID4096" sz="1080"/>
            </a:p>
          </p:txBody>
        </p:sp>
        <p:sp>
          <p:nvSpPr>
            <p:cNvPr id="10" name="captive-rjf-to-commercial-model">
              <a:extLst>
                <a:ext uri="{FF2B5EF4-FFF2-40B4-BE49-F238E27FC236}">
                  <a16:creationId xmlns:a16="http://schemas.microsoft.com/office/drawing/2014/main" id="{88C157E7-0209-4704-A3A7-BB6EB6178163}"/>
                </a:ext>
              </a:extLst>
            </p:cNvPr>
            <p:cNvSpPr>
              <a:spLocks/>
            </p:cNvSpPr>
            <p:nvPr/>
          </p:nvSpPr>
          <p:spPr>
            <a:xfrm>
              <a:off x="2509575" y="2960517"/>
              <a:ext cx="2191386" cy="3162252"/>
            </a:xfrm>
            <a:custGeom>
              <a:avLst/>
              <a:gdLst/>
              <a:ahLst/>
              <a:cxnLst/>
              <a:rect l="0" t="0" r="0" b="0"/>
              <a:pathLst>
                <a:path w="2191386" h="3162252">
                  <a:moveTo>
                    <a:pt x="2191386" y="0"/>
                  </a:moveTo>
                  <a:cubicBezTo>
                    <a:pt x="858470" y="458960"/>
                    <a:pt x="0" y="1755966"/>
                    <a:pt x="98337" y="3162252"/>
                  </a:cubicBezTo>
                </a:path>
              </a:pathLst>
            </a:custGeom>
            <a:noFill/>
            <a:ln w="38100">
              <a:solidFill>
                <a:srgbClr val="BF4A40"/>
              </a:solidFill>
              <a:prstDash val="dash"/>
              <a:headEnd type="none" w="med" len="med"/>
              <a:tailEnd type="triangle" w="med" len="med"/>
            </a:ln>
          </p:spPr>
          <p:txBody>
            <a:bodyPr/>
            <a:lstStyle/>
            <a:p>
              <a:endParaRPr lang="LID4096" sz="1080"/>
            </a:p>
          </p:txBody>
        </p:sp>
        <p:sp>
          <p:nvSpPr>
            <p:cNvPr id="11" name="wild-node">
              <a:extLst>
                <a:ext uri="{FF2B5EF4-FFF2-40B4-BE49-F238E27FC236}">
                  <a16:creationId xmlns:a16="http://schemas.microsoft.com/office/drawing/2014/main" id="{BF77F784-C708-4351-8C52-F08BDDA9B8D2}"/>
                </a:ext>
              </a:extLst>
            </p:cNvPr>
            <p:cNvSpPr>
              <a:spLocks/>
            </p:cNvSpPr>
            <p:nvPr/>
          </p:nvSpPr>
          <p:spPr>
            <a:xfrm>
              <a:off x="4743450" y="1457325"/>
              <a:ext cx="1943100" cy="1943100"/>
            </a:xfrm>
            <a:prstGeom prst="ellipse">
              <a:avLst/>
            </a:prstGeom>
            <a:solidFill>
              <a:srgbClr val="FFFFFF"/>
            </a:solidFill>
            <a:ln w="0">
              <a:noFill/>
              <a:prstDash val="solid"/>
            </a:ln>
          </p:spPr>
          <p:txBody>
            <a:bodyPr/>
            <a:lstStyle/>
            <a:p>
              <a:endParaRPr lang="LID4096" sz="1080"/>
            </a:p>
          </p:txBody>
        </p:sp>
        <p:sp>
          <p:nvSpPr>
            <p:cNvPr id="12" name="local-node">
              <a:extLst>
                <a:ext uri="{FF2B5EF4-FFF2-40B4-BE49-F238E27FC236}">
                  <a16:creationId xmlns:a16="http://schemas.microsoft.com/office/drawing/2014/main" id="{C743871A-3433-4457-B448-06F84CD04584}"/>
                </a:ext>
              </a:extLst>
            </p:cNvPr>
            <p:cNvSpPr>
              <a:spLocks/>
            </p:cNvSpPr>
            <p:nvPr/>
          </p:nvSpPr>
          <p:spPr>
            <a:xfrm>
              <a:off x="7753350" y="6667500"/>
              <a:ext cx="1943100" cy="1943100"/>
            </a:xfrm>
            <a:prstGeom prst="ellipse">
              <a:avLst/>
            </a:prstGeom>
            <a:solidFill>
              <a:srgbClr val="FFFFFF"/>
            </a:solidFill>
            <a:ln w="0">
              <a:noFill/>
              <a:prstDash val="solid"/>
            </a:ln>
          </p:spPr>
          <p:txBody>
            <a:bodyPr/>
            <a:lstStyle/>
            <a:p>
              <a:endParaRPr lang="LID4096" sz="1080"/>
            </a:p>
          </p:txBody>
        </p:sp>
        <p:sp>
          <p:nvSpPr>
            <p:cNvPr id="13" name="commercial-node">
              <a:extLst>
                <a:ext uri="{FF2B5EF4-FFF2-40B4-BE49-F238E27FC236}">
                  <a16:creationId xmlns:a16="http://schemas.microsoft.com/office/drawing/2014/main" id="{A96ADFA3-A2AE-4B25-A57F-D2B726C0C1E6}"/>
                </a:ext>
              </a:extLst>
            </p:cNvPr>
            <p:cNvSpPr>
              <a:spLocks/>
            </p:cNvSpPr>
            <p:nvPr/>
          </p:nvSpPr>
          <p:spPr>
            <a:xfrm>
              <a:off x="1733550" y="6667500"/>
              <a:ext cx="1943100" cy="1943100"/>
            </a:xfrm>
            <a:prstGeom prst="ellipse">
              <a:avLst/>
            </a:prstGeom>
            <a:solidFill>
              <a:srgbClr val="FFFFFF"/>
            </a:solidFill>
            <a:ln w="0">
              <a:noFill/>
              <a:prstDash val="solid"/>
            </a:ln>
          </p:spPr>
          <p:txBody>
            <a:bodyPr/>
            <a:lstStyle/>
            <a:p>
              <a:endParaRPr lang="LID4096" sz="1080"/>
            </a:p>
          </p:txBody>
        </p:sp>
        <p:grpSp>
          <p:nvGrpSpPr>
            <p:cNvPr id="14" name="figure1-wild-red-junglefowl" descr="取自用户图1的原生矢量鸡图；仅改变整体尺寸及位置"/>
            <p:cNvGrpSpPr/>
            <p:nvPr/>
          </p:nvGrpSpPr>
          <p:grpSpPr>
            <a:xfrm>
              <a:off x="4805362" y="1495425"/>
              <a:ext cx="1819631" cy="1619250"/>
              <a:chOff x="604044" y="3353301"/>
              <a:chExt cx="834612" cy="742703"/>
            </a:xfrm>
          </p:grpSpPr>
          <p:sp>
            <p:nvSpPr>
              <p:cNvPr id="15" name="figure1-wild-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720"/>
              </a:p>
            </p:txBody>
          </p:sp>
          <p:sp>
            <p:nvSpPr>
              <p:cNvPr id="16" name="figure1-wild-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720"/>
              </a:p>
            </p:txBody>
          </p:sp>
          <p:sp>
            <p:nvSpPr>
              <p:cNvPr id="17" name="figure1-wild-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720"/>
              </a:p>
            </p:txBody>
          </p:sp>
          <p:sp>
            <p:nvSpPr>
              <p:cNvPr id="18" name="figure1-wild-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720"/>
              </a:p>
            </p:txBody>
          </p:sp>
          <p:sp>
            <p:nvSpPr>
              <p:cNvPr id="19" name="figure1-wild-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720"/>
              </a:p>
            </p:txBody>
          </p:sp>
          <p:sp>
            <p:nvSpPr>
              <p:cNvPr id="20" name="figure1-wild-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720"/>
              </a:p>
            </p:txBody>
          </p:sp>
          <p:sp>
            <p:nvSpPr>
              <p:cNvPr id="21" name="figure1-wild-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720"/>
              </a:p>
            </p:txBody>
          </p:sp>
          <p:sp>
            <p:nvSpPr>
              <p:cNvPr id="22" name="figure1-wild-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720"/>
              </a:p>
            </p:txBody>
          </p:sp>
          <p:sp>
            <p:nvSpPr>
              <p:cNvPr id="23" name="figure1-wild-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720"/>
              </a:p>
            </p:txBody>
          </p:sp>
          <p:sp>
            <p:nvSpPr>
              <p:cNvPr id="24" name="figure1-wild-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720"/>
              </a:p>
            </p:txBody>
          </p:sp>
          <p:sp>
            <p:nvSpPr>
              <p:cNvPr id="25" name="figure1-wild-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720"/>
              </a:p>
            </p:txBody>
          </p:sp>
          <p:sp>
            <p:nvSpPr>
              <p:cNvPr id="26" name="figure1-wild-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720"/>
              </a:p>
            </p:txBody>
          </p:sp>
          <p:sp>
            <p:nvSpPr>
              <p:cNvPr id="27" name="figure1-wild-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720"/>
              </a:p>
            </p:txBody>
          </p:sp>
          <p:sp>
            <p:nvSpPr>
              <p:cNvPr id="28" name="figure1-wild-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720"/>
              </a:p>
            </p:txBody>
          </p:sp>
          <p:sp>
            <p:nvSpPr>
              <p:cNvPr id="29" name="figure1-wild-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720"/>
              </a:p>
            </p:txBody>
          </p:sp>
          <p:sp>
            <p:nvSpPr>
              <p:cNvPr id="30" name="figure1-wild-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720"/>
              </a:p>
            </p:txBody>
          </p:sp>
          <p:sp>
            <p:nvSpPr>
              <p:cNvPr id="31" name="figure1-wild-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720"/>
              </a:p>
            </p:txBody>
          </p:sp>
          <p:sp>
            <p:nvSpPr>
              <p:cNvPr id="32" name="figure1-wild-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720"/>
              </a:p>
            </p:txBody>
          </p:sp>
          <p:sp>
            <p:nvSpPr>
              <p:cNvPr id="33" name="figure1-wild-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720"/>
              </a:p>
            </p:txBody>
          </p:sp>
          <p:sp>
            <p:nvSpPr>
              <p:cNvPr id="34" name="figure1-wild-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720"/>
              </a:p>
            </p:txBody>
          </p:sp>
          <p:sp>
            <p:nvSpPr>
              <p:cNvPr id="35" name="figure1-wild-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720"/>
              </a:p>
            </p:txBody>
          </p:sp>
          <p:sp>
            <p:nvSpPr>
              <p:cNvPr id="36" name="figure1-wild-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720"/>
              </a:p>
            </p:txBody>
          </p:sp>
          <p:sp>
            <p:nvSpPr>
              <p:cNvPr id="37" name="figure1-wild-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720"/>
              </a:p>
            </p:txBody>
          </p:sp>
          <p:sp>
            <p:nvSpPr>
              <p:cNvPr id="38" name="figure1-wild-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720"/>
              </a:p>
            </p:txBody>
          </p:sp>
          <p:sp>
            <p:nvSpPr>
              <p:cNvPr id="39" name="figure1-wild-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720"/>
              </a:p>
            </p:txBody>
          </p:sp>
          <p:sp>
            <p:nvSpPr>
              <p:cNvPr id="40" name="figure1-wild-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720"/>
              </a:p>
            </p:txBody>
          </p:sp>
        </p:grpSp>
        <p:grpSp>
          <p:nvGrpSpPr>
            <p:cNvPr id="41" name="figure1-local-brown-hen" descr="取自用户图1的原生矢量鸡图；仅改变整体尺寸及位置"/>
            <p:cNvGrpSpPr/>
            <p:nvPr/>
          </p:nvGrpSpPr>
          <p:grpSpPr>
            <a:xfrm>
              <a:off x="7840028" y="6686550"/>
              <a:ext cx="1769932" cy="1638300"/>
              <a:chOff x="4241546" y="3411207"/>
              <a:chExt cx="747776" cy="692163"/>
            </a:xfrm>
          </p:grpSpPr>
          <p:sp>
            <p:nvSpPr>
              <p:cNvPr id="42" name="figure1-local-brown-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720"/>
              </a:p>
            </p:txBody>
          </p:sp>
          <p:sp>
            <p:nvSpPr>
              <p:cNvPr id="43" name="figure1-local-brown-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720"/>
              </a:p>
            </p:txBody>
          </p:sp>
          <p:sp>
            <p:nvSpPr>
              <p:cNvPr id="44" name="figure1-local-brown-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720"/>
              </a:p>
            </p:txBody>
          </p:sp>
          <p:sp>
            <p:nvSpPr>
              <p:cNvPr id="45" name="figure1-local-brown-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720"/>
              </a:p>
            </p:txBody>
          </p:sp>
          <p:sp>
            <p:nvSpPr>
              <p:cNvPr id="46" name="figure1-local-brown-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720"/>
              </a:p>
            </p:txBody>
          </p:sp>
          <p:sp>
            <p:nvSpPr>
              <p:cNvPr id="47" name="figure1-local-brown-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720"/>
              </a:p>
            </p:txBody>
          </p:sp>
          <p:sp>
            <p:nvSpPr>
              <p:cNvPr id="48" name="figure1-local-brown-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720"/>
              </a:p>
            </p:txBody>
          </p:sp>
          <p:sp>
            <p:nvSpPr>
              <p:cNvPr id="49" name="figure1-local-brown-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720"/>
              </a:p>
            </p:txBody>
          </p:sp>
          <p:sp>
            <p:nvSpPr>
              <p:cNvPr id="50" name="figure1-local-brown-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720"/>
              </a:p>
            </p:txBody>
          </p:sp>
          <p:sp>
            <p:nvSpPr>
              <p:cNvPr id="51" name="figure1-local-brown-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720"/>
              </a:p>
            </p:txBody>
          </p:sp>
          <p:sp>
            <p:nvSpPr>
              <p:cNvPr id="52" name="figure1-local-brown-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720"/>
              </a:p>
            </p:txBody>
          </p:sp>
          <p:sp>
            <p:nvSpPr>
              <p:cNvPr id="53" name="figure1-local-brown-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720"/>
              </a:p>
            </p:txBody>
          </p:sp>
          <p:sp>
            <p:nvSpPr>
              <p:cNvPr id="54" name="figure1-local-brown-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720"/>
              </a:p>
            </p:txBody>
          </p:sp>
          <p:sp>
            <p:nvSpPr>
              <p:cNvPr id="55" name="figure1-local-brown-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720"/>
              </a:p>
            </p:txBody>
          </p:sp>
          <p:sp>
            <p:nvSpPr>
              <p:cNvPr id="56" name="figure1-local-brown-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720"/>
              </a:p>
            </p:txBody>
          </p:sp>
          <p:sp>
            <p:nvSpPr>
              <p:cNvPr id="57" name="figure1-local-brown-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720"/>
              </a:p>
            </p:txBody>
          </p:sp>
          <p:sp>
            <p:nvSpPr>
              <p:cNvPr id="58" name="figure1-local-brown-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720"/>
              </a:p>
            </p:txBody>
          </p:sp>
        </p:grpSp>
        <p:grpSp>
          <p:nvGrpSpPr>
            <p:cNvPr id="59" name="figure1-commercial-white-chicken" descr="取自用户图1的原生矢量鸡图；仅改变整体尺寸及位置"/>
            <p:cNvGrpSpPr/>
            <p:nvPr/>
          </p:nvGrpSpPr>
          <p:grpSpPr>
            <a:xfrm>
              <a:off x="1820228" y="6686550"/>
              <a:ext cx="1769946" cy="1638300"/>
              <a:chOff x="9308592" y="3536169"/>
              <a:chExt cx="682752" cy="631970"/>
            </a:xfrm>
          </p:grpSpPr>
          <p:sp>
            <p:nvSpPr>
              <p:cNvPr id="60" name="figure1-commercial-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720"/>
              </a:p>
            </p:txBody>
          </p:sp>
          <p:sp>
            <p:nvSpPr>
              <p:cNvPr id="61" name="figure1-commercial-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720"/>
              </a:p>
            </p:txBody>
          </p:sp>
          <p:sp>
            <p:nvSpPr>
              <p:cNvPr id="62" name="figure1-commercial-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720"/>
              </a:p>
            </p:txBody>
          </p:sp>
          <p:sp>
            <p:nvSpPr>
              <p:cNvPr id="63" name="figure1-commercial-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720"/>
              </a:p>
            </p:txBody>
          </p:sp>
          <p:sp>
            <p:nvSpPr>
              <p:cNvPr id="64" name="figure1-commercial-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720"/>
              </a:p>
            </p:txBody>
          </p:sp>
          <p:sp>
            <p:nvSpPr>
              <p:cNvPr id="65" name="figure1-commercial-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720"/>
              </a:p>
            </p:txBody>
          </p:sp>
          <p:sp>
            <p:nvSpPr>
              <p:cNvPr id="66" name="figure1-commercial-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720"/>
              </a:p>
            </p:txBody>
          </p:sp>
          <p:sp>
            <p:nvSpPr>
              <p:cNvPr id="67" name="figure1-commercial-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720"/>
              </a:p>
            </p:txBody>
          </p:sp>
          <p:sp>
            <p:nvSpPr>
              <p:cNvPr id="68" name="figure1-commercial-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720"/>
              </a:p>
            </p:txBody>
          </p:sp>
          <p:sp>
            <p:nvSpPr>
              <p:cNvPr id="69" name="figure1-commercial-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720"/>
              </a:p>
            </p:txBody>
          </p:sp>
          <p:sp>
            <p:nvSpPr>
              <p:cNvPr id="70" name="figure1-commercial-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720"/>
              </a:p>
            </p:txBody>
          </p:sp>
          <p:sp>
            <p:nvSpPr>
              <p:cNvPr id="71" name="figure1-commercial-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720"/>
              </a:p>
            </p:txBody>
          </p:sp>
          <p:sp>
            <p:nvSpPr>
              <p:cNvPr id="72" name="figure1-commercial-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720"/>
              </a:p>
            </p:txBody>
          </p:sp>
          <p:sp>
            <p:nvSpPr>
              <p:cNvPr id="73" name="figure1-commercial-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720"/>
              </a:p>
            </p:txBody>
          </p:sp>
          <p:sp>
            <p:nvSpPr>
              <p:cNvPr id="74" name="figure1-commercial-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720"/>
              </a:p>
            </p:txBody>
          </p:sp>
          <p:sp>
            <p:nvSpPr>
              <p:cNvPr id="75" name="figure1-commercial-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720"/>
              </a:p>
            </p:txBody>
          </p:sp>
          <p:sp>
            <p:nvSpPr>
              <p:cNvPr id="76" name="figure1-commercial-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720"/>
              </a:p>
            </p:txBody>
          </p:sp>
        </p:grpSp>
        <p:sp>
          <p:nvSpPr>
            <p:cNvPr id="77" name="wild-label">
              <a:extLst>
                <a:ext uri="{FF2B5EF4-FFF2-40B4-BE49-F238E27FC236}">
                  <a16:creationId xmlns:a16="http://schemas.microsoft.com/office/drawing/2014/main" id="{5DDFB57A-AE93-4319-A808-E8C9FB34982E}"/>
                </a:ext>
              </a:extLst>
            </p:cNvPr>
            <p:cNvSpPr>
              <a:spLocks/>
            </p:cNvSpPr>
            <p:nvPr/>
          </p:nvSpPr>
          <p:spPr>
            <a:xfrm>
              <a:off x="4894403" y="3200400"/>
              <a:ext cx="2201721" cy="264897"/>
            </a:xfrm>
            <a:prstGeom prst="rect">
              <a:avLst/>
            </a:prstGeom>
            <a:noFill/>
            <a:ln w="0">
              <a:noFill/>
            </a:ln>
          </p:spPr>
          <p:txBody>
            <a:bodyPr wrap="none" lIns="0" tIns="0" rIns="0" bIns="0" anchor="ctr">
              <a:noAutofit/>
            </a:bodyPr>
            <a:lstStyle>
              <a:defPPr algn="ctr">
                <a:defRPr sz="1700" b="1">
                  <a:solidFill>
                    <a:srgbClr val="BF4A40"/>
                  </a:solidFill>
                  <a:latin typeface="Arial"/>
                  <a:ea typeface="Arial"/>
                  <a:cs typeface="Arial"/>
                </a:defRPr>
              </a:defPPr>
            </a:lstStyle>
            <a:p>
              <a:pPr algn="ctr">
                <a:buNone/>
                <a:defRPr sz="1700" b="1">
                  <a:solidFill>
                    <a:srgbClr val="BF4A40"/>
                  </a:solidFill>
                  <a:latin typeface="Arial"/>
                  <a:ea typeface="Arial"/>
                  <a:cs typeface="Arial"/>
                </a:defRPr>
              </a:pPr>
              <a:r>
                <a:rPr sz="1020" b="1">
                  <a:solidFill>
                    <a:srgbClr val="BF4A40"/>
                  </a:solidFill>
                  <a:latin typeface="Arial"/>
                  <a:ea typeface="Arial"/>
                  <a:cs typeface="Arial"/>
                </a:rPr>
                <a:t>Red junglefowl</a:t>
              </a:r>
            </a:p>
          </p:txBody>
        </p:sp>
        <p:sp>
          <p:nvSpPr>
            <p:cNvPr id="78" name="local-label">
              <a:extLst>
                <a:ext uri="{FF2B5EF4-FFF2-40B4-BE49-F238E27FC236}">
                  <a16:creationId xmlns:a16="http://schemas.microsoft.com/office/drawing/2014/main" id="{37C80FDA-9326-4CD7-B78A-868481809CB2}"/>
                </a:ext>
              </a:extLst>
            </p:cNvPr>
            <p:cNvSpPr>
              <a:spLocks/>
            </p:cNvSpPr>
            <p:nvPr/>
          </p:nvSpPr>
          <p:spPr>
            <a:xfrm>
              <a:off x="7408069" y="8415189"/>
              <a:ext cx="3216770" cy="434232"/>
            </a:xfrm>
            <a:prstGeom prst="rect">
              <a:avLst/>
            </a:prstGeom>
            <a:noFill/>
            <a:ln w="0">
              <a:noFill/>
            </a:ln>
          </p:spPr>
          <p:txBody>
            <a:bodyPr wrap="none" lIns="0" tIns="0" rIns="0" bIns="0" anchor="ctr">
              <a:noAutofit/>
            </a:bodyPr>
            <a:lstStyle>
              <a:defPPr algn="ctr">
                <a:defRPr sz="1700" b="1">
                  <a:solidFill>
                    <a:srgbClr val="8B5E3C"/>
                  </a:solidFill>
                  <a:latin typeface="Arial"/>
                  <a:ea typeface="Arial"/>
                  <a:cs typeface="Arial"/>
                </a:defRPr>
              </a:defPPr>
            </a:lstStyle>
            <a:p>
              <a:pPr algn="ctr">
                <a:buNone/>
                <a:defRPr sz="1700" b="1">
                  <a:solidFill>
                    <a:srgbClr val="8B5E3C"/>
                  </a:solidFill>
                  <a:latin typeface="Arial"/>
                  <a:ea typeface="Arial"/>
                  <a:cs typeface="Arial"/>
                </a:defRPr>
              </a:pPr>
              <a:r>
                <a:rPr sz="1020" b="1" dirty="0">
                  <a:solidFill>
                    <a:srgbClr val="8B5E3C"/>
                  </a:solidFill>
                  <a:latin typeface="Arial"/>
                  <a:ea typeface="Arial"/>
                  <a:cs typeface="Arial"/>
                </a:rPr>
                <a:t>Local and traditional chickens</a:t>
              </a:r>
            </a:p>
          </p:txBody>
        </p:sp>
        <p:sp>
          <p:nvSpPr>
            <p:cNvPr id="79" name="commercial-label">
              <a:extLst>
                <a:ext uri="{FF2B5EF4-FFF2-40B4-BE49-F238E27FC236}">
                  <a16:creationId xmlns:a16="http://schemas.microsoft.com/office/drawing/2014/main" id="{1DAC9514-57EE-4ABB-9D5C-F853E37BD57B}"/>
                </a:ext>
              </a:extLst>
            </p:cNvPr>
            <p:cNvSpPr>
              <a:spLocks/>
            </p:cNvSpPr>
            <p:nvPr/>
          </p:nvSpPr>
          <p:spPr>
            <a:xfrm>
              <a:off x="1181100" y="8401050"/>
              <a:ext cx="2129587" cy="428888"/>
            </a:xfrm>
            <a:prstGeom prst="rect">
              <a:avLst/>
            </a:prstGeom>
            <a:noFill/>
            <a:ln w="0">
              <a:noFill/>
            </a:ln>
          </p:spPr>
          <p:txBody>
            <a:bodyPr wrap="none" lIns="0" tIns="0" rIns="0" bIns="0" anchor="ctr">
              <a:noAutofit/>
            </a:bodyPr>
            <a:lstStyle>
              <a:defPPr algn="ctr">
                <a:defRPr sz="1700" b="1">
                  <a:solidFill>
                    <a:srgbClr val="386F9F"/>
                  </a:solidFill>
                  <a:latin typeface="Arial"/>
                  <a:ea typeface="Arial"/>
                  <a:cs typeface="Arial"/>
                </a:defRPr>
              </a:defPPr>
            </a:lstStyle>
            <a:p>
              <a:pPr algn="ctr">
                <a:buNone/>
                <a:defRPr sz="1700" b="1">
                  <a:solidFill>
                    <a:srgbClr val="386F9F"/>
                  </a:solidFill>
                  <a:latin typeface="Arial"/>
                  <a:ea typeface="Arial"/>
                  <a:cs typeface="Arial"/>
                </a:defRPr>
              </a:pPr>
              <a:r>
                <a:rPr sz="1020" b="1" dirty="0">
                  <a:solidFill>
                    <a:srgbClr val="386F9F"/>
                  </a:solidFill>
                  <a:latin typeface="Arial"/>
                  <a:ea typeface="Arial"/>
                  <a:cs typeface="Arial"/>
                </a:rPr>
                <a:t>Commercial chickens</a:t>
              </a:r>
            </a:p>
          </p:txBody>
        </p:sp>
        <p:sp>
          <p:nvSpPr>
            <p:cNvPr id="80" name="wild-to-local-label">
              <a:extLst>
                <a:ext uri="{FF2B5EF4-FFF2-40B4-BE49-F238E27FC236}">
                  <a16:creationId xmlns:a16="http://schemas.microsoft.com/office/drawing/2014/main" id="{9A60D94E-E4B4-4AA1-89E7-25AB37ED2AE8}"/>
                </a:ext>
              </a:extLst>
            </p:cNvPr>
            <p:cNvSpPr>
              <a:spLocks/>
            </p:cNvSpPr>
            <p:nvPr/>
          </p:nvSpPr>
          <p:spPr>
            <a:xfrm rot="354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1800" b="1">
                  <a:solidFill>
                    <a:srgbClr val="BF4A40"/>
                  </a:solidFill>
                  <a:latin typeface="Arial"/>
                  <a:ea typeface="Arial"/>
                  <a:cs typeface="Arial"/>
                </a:defRPr>
              </a:defPPr>
            </a:lstStyle>
            <a:p>
              <a:pPr algn="ctr">
                <a:buNone/>
                <a:defRPr sz="1800" b="1">
                  <a:solidFill>
                    <a:srgbClr val="BF4A40"/>
                  </a:solidFill>
                  <a:latin typeface="Arial"/>
                  <a:ea typeface="Arial"/>
                  <a:cs typeface="Arial"/>
                </a:defRPr>
              </a:pPr>
              <a:r>
                <a:rPr lang="zh-CN" altLang="en-US" sz="1080" b="1" dirty="0">
                  <a:solidFill>
                    <a:srgbClr val="BF4A40"/>
                  </a:solidFill>
                  <a:latin typeface="Arial"/>
                  <a:ea typeface="Arial"/>
                  <a:cs typeface="Arial"/>
                </a:rPr>
                <a:t>① Ancestry and introgression during dispersal</a:t>
              </a:r>
              <a:endParaRPr sz="1080" b="1" dirty="0">
                <a:solidFill>
                  <a:srgbClr val="BF4A40"/>
                </a:solidFill>
                <a:latin typeface="Arial"/>
                <a:ea typeface="Arial"/>
                <a:cs typeface="Arial"/>
              </a:endParaRPr>
            </a:p>
          </p:txBody>
        </p:sp>
        <p:sp>
          <p:nvSpPr>
            <p:cNvPr id="81" name="local-to-wild-label">
              <a:extLst>
                <a:ext uri="{FF2B5EF4-FFF2-40B4-BE49-F238E27FC236}">
                  <a16:creationId xmlns:a16="http://schemas.microsoft.com/office/drawing/2014/main" id="{BF9D3199-B75F-43F3-93B4-FBC6521FF5E2}"/>
                </a:ext>
              </a:extLst>
            </p:cNvPr>
            <p:cNvSpPr>
              <a:spLocks/>
            </p:cNvSpPr>
            <p:nvPr/>
          </p:nvSpPr>
          <p:spPr>
            <a:xfrm rot="3480000">
              <a:off x="3143250" y="3333750"/>
              <a:ext cx="5143500" cy="5143500"/>
            </a:xfrm>
            <a:prstGeom prst="rect">
              <a:avLst/>
            </a:prstGeom>
            <a:noFill/>
            <a:ln w="0">
              <a:noFill/>
            </a:ln>
          </p:spPr>
          <p:txBody>
            <a:bodyPr spcFirstLastPara="1" wrap="none" lIns="0" tIns="0" rIns="0" bIns="0" numCol="1" anchor="ctr">
              <a:prstTxWarp prst="textArchUp">
                <a:avLst/>
              </a:prstTxWarp>
              <a:noAutofit/>
            </a:bodyPr>
            <a:lstStyle>
              <a:defPPr algn="ctr">
                <a:defRPr sz="1750" b="1">
                  <a:solidFill>
                    <a:srgbClr val="8B5E3C"/>
                  </a:solidFill>
                  <a:latin typeface="Arial"/>
                  <a:ea typeface="Arial"/>
                  <a:cs typeface="Arial"/>
                </a:defRPr>
              </a:defPPr>
            </a:lstStyle>
            <a:p>
              <a:pPr algn="ctr">
                <a:buNone/>
                <a:defRPr sz="1750" b="1">
                  <a:solidFill>
                    <a:srgbClr val="8B5E3C"/>
                  </a:solidFill>
                  <a:latin typeface="Arial"/>
                  <a:ea typeface="Arial"/>
                  <a:cs typeface="Arial"/>
                </a:defRPr>
              </a:pPr>
              <a:r>
                <a:rPr lang="zh-CN" altLang="en-US" sz="1050" b="1" dirty="0">
                  <a:solidFill>
                    <a:srgbClr val="8B5E3C"/>
                  </a:solidFill>
                  <a:latin typeface="Arial"/>
                  <a:ea typeface="Arial"/>
                  <a:cs typeface="Arial"/>
                </a:rPr>
                <a:t>② Reverse introgression</a:t>
              </a:r>
              <a:br>
                <a:rPr lang="zh-CN" altLang="en-US" sz="1050" b="1" dirty="0">
                  <a:solidFill>
                    <a:srgbClr val="8B5E3C"/>
                  </a:solidFill>
                  <a:latin typeface="Arial"/>
                  <a:ea typeface="Arial"/>
                  <a:cs typeface="Arial"/>
                </a:rPr>
              </a:br>
              <a:r>
                <a:rPr lang="zh-CN" altLang="en-US" sz="1050" b="1" dirty="0">
                  <a:solidFill>
                    <a:srgbClr val="8B5E3C"/>
                  </a:solidFill>
                  <a:latin typeface="Arial"/>
                  <a:ea typeface="Arial"/>
                  <a:cs typeface="Arial"/>
                </a:rPr>
                <a:t>(dispersal and feralization)</a:t>
              </a:r>
              <a:endParaRPr sz="1050" b="1" dirty="0">
                <a:solidFill>
                  <a:srgbClr val="8B5E3C"/>
                </a:solidFill>
                <a:latin typeface="Arial"/>
                <a:ea typeface="Arial"/>
                <a:cs typeface="Arial"/>
              </a:endParaRPr>
            </a:p>
          </p:txBody>
        </p:sp>
        <p:sp>
          <p:nvSpPr>
            <p:cNvPr id="82" name="local-to-commercial-label">
              <a:extLst>
                <a:ext uri="{FF2B5EF4-FFF2-40B4-BE49-F238E27FC236}">
                  <a16:creationId xmlns:a16="http://schemas.microsoft.com/office/drawing/2014/main" id="{DC5995B9-D78C-4823-9575-3AB308CD9AEC}"/>
                </a:ext>
              </a:extLst>
            </p:cNvPr>
            <p:cNvSpPr>
              <a:spLocks/>
            </p:cNvSpPr>
            <p:nvPr/>
          </p:nvSpPr>
          <p:spPr>
            <a:xfrm>
              <a:off x="1552575" y="1743075"/>
              <a:ext cx="8324850" cy="832485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8B5E3C"/>
                  </a:solidFill>
                  <a:latin typeface="Arial"/>
                  <a:ea typeface="Arial"/>
                  <a:cs typeface="Arial"/>
                </a:defRPr>
              </a:defPPr>
            </a:lstStyle>
            <a:p>
              <a:pPr algn="ctr">
                <a:buNone/>
                <a:defRPr sz="2025" b="1">
                  <a:solidFill>
                    <a:srgbClr val="8B5E3C"/>
                  </a:solidFill>
                  <a:latin typeface="Arial"/>
                  <a:ea typeface="Arial"/>
                  <a:cs typeface="Arial"/>
                </a:defRPr>
              </a:pPr>
              <a:r>
                <a:rPr sz="1215" b="1" dirty="0" err="1">
                  <a:solidFill>
                    <a:srgbClr val="8B5E3C"/>
                  </a:solidFill>
                  <a:latin typeface="Arial"/>
                  <a:ea typeface="Arial"/>
                  <a:cs typeface="Arial"/>
                </a:rPr>
                <a:t>⑤ Use in breeding</a:t>
              </a:r>
              <a:endParaRPr sz="1215" b="1" dirty="0">
                <a:solidFill>
                  <a:srgbClr val="8B5E3C"/>
                </a:solidFill>
                <a:latin typeface="Arial"/>
                <a:ea typeface="Arial"/>
                <a:cs typeface="Arial"/>
              </a:endParaRPr>
            </a:p>
          </p:txBody>
        </p:sp>
        <p:sp>
          <p:nvSpPr>
            <p:cNvPr id="83" name="commercial-to-local-label">
              <a:extLst>
                <a:ext uri="{FF2B5EF4-FFF2-40B4-BE49-F238E27FC236}">
                  <a16:creationId xmlns:a16="http://schemas.microsoft.com/office/drawing/2014/main" id="{4711919B-CD8B-490F-9E11-C280712F4714}"/>
                </a:ext>
              </a:extLst>
            </p:cNvPr>
            <p:cNvSpPr>
              <a:spLocks/>
            </p:cNvSpPr>
            <p:nvPr/>
          </p:nvSpPr>
          <p:spPr>
            <a:xfrm>
              <a:off x="2809875" y="3000375"/>
              <a:ext cx="5810250" cy="5810250"/>
            </a:xfrm>
            <a:prstGeom prst="rect">
              <a:avLst/>
            </a:prstGeom>
            <a:noFill/>
            <a:ln w="0">
              <a:noFill/>
            </a:ln>
          </p:spPr>
          <p:txBody>
            <a:bodyPr spcFirstLastPara="1" wrap="none" lIns="0" tIns="0" rIns="0" bIns="0" numCol="1" anchor="ctr">
              <a:prstTxWarp prst="textArchDown">
                <a:avLst/>
              </a:prstTxWarp>
              <a:noAutofit/>
            </a:bodyPr>
            <a:lstStyle>
              <a:defPPr algn="ctr">
                <a:defRPr sz="1750" b="1">
                  <a:solidFill>
                    <a:srgbClr val="386F9F"/>
                  </a:solidFill>
                  <a:latin typeface="Arial"/>
                  <a:ea typeface="Arial"/>
                  <a:cs typeface="Arial"/>
                </a:defRPr>
              </a:defPPr>
            </a:lstStyle>
            <a:p>
              <a:pPr algn="ctr">
                <a:buNone/>
                <a:defRPr sz="1750" b="1">
                  <a:solidFill>
                    <a:srgbClr val="386F9F"/>
                  </a:solidFill>
                  <a:latin typeface="Arial"/>
                  <a:ea typeface="Arial"/>
                  <a:cs typeface="Arial"/>
                </a:defRPr>
              </a:pPr>
              <a:r>
                <a:rPr lang="zh-CN" altLang="en-US" sz="1050" b="1" dirty="0">
                  <a:solidFill>
                    <a:srgbClr val="386F9F"/>
                  </a:solidFill>
                  <a:latin typeface="Arial"/>
                  <a:ea typeface="Arial"/>
                  <a:cs typeface="Arial"/>
                </a:rPr>
                <a:t>⑥ Introductions and breed improvement</a:t>
              </a:r>
              <a:endParaRPr sz="1050" b="1" dirty="0">
                <a:solidFill>
                  <a:srgbClr val="386F9F"/>
                </a:solidFill>
                <a:latin typeface="Arial"/>
                <a:ea typeface="Arial"/>
                <a:cs typeface="Arial"/>
              </a:endParaRPr>
            </a:p>
          </p:txBody>
        </p:sp>
        <p:sp>
          <p:nvSpPr>
            <p:cNvPr id="84" name="commercial-model-label">
              <a:extLst>
                <a:ext uri="{FF2B5EF4-FFF2-40B4-BE49-F238E27FC236}">
                  <a16:creationId xmlns:a16="http://schemas.microsoft.com/office/drawing/2014/main" id="{A336BB34-CE3F-42CD-88EC-BC5379A4713B}"/>
                </a:ext>
              </a:extLst>
            </p:cNvPr>
            <p:cNvSpPr>
              <a:spLocks/>
            </p:cNvSpPr>
            <p:nvPr/>
          </p:nvSpPr>
          <p:spPr>
            <a:xfrm rot="-336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1800" b="1">
                  <a:solidFill>
                    <a:srgbClr val="386F9F"/>
                  </a:solidFill>
                  <a:latin typeface="Arial"/>
                  <a:ea typeface="Arial"/>
                  <a:cs typeface="Arial"/>
                </a:defRPr>
              </a:defPPr>
            </a:lstStyle>
            <a:p>
              <a:pPr algn="ctr">
                <a:buNone/>
                <a:defRPr sz="1800" b="1">
                  <a:solidFill>
                    <a:srgbClr val="386F9F"/>
                  </a:solidFill>
                  <a:latin typeface="Arial"/>
                  <a:ea typeface="Arial"/>
                  <a:cs typeface="Arial"/>
                </a:defRPr>
              </a:pPr>
              <a:r>
                <a:rPr lang="zh-CN" altLang="en-US" sz="1080" b="1" dirty="0">
                  <a:solidFill>
                    <a:srgbClr val="386F9F"/>
                  </a:solidFill>
                  <a:latin typeface="Arial"/>
                  <a:ea typeface="Arial"/>
                  <a:cs typeface="Arial"/>
                </a:rPr>
                <a:t>③ Possible direct introgression</a:t>
              </a:r>
              <a:endParaRPr sz="1080" b="1" dirty="0">
                <a:solidFill>
                  <a:srgbClr val="386F9F"/>
                </a:solidFill>
                <a:latin typeface="Arial"/>
                <a:ea typeface="Arial"/>
                <a:cs typeface="Arial"/>
              </a:endParaRPr>
            </a:p>
          </p:txBody>
        </p:sp>
        <p:sp>
          <p:nvSpPr>
            <p:cNvPr id="85" name="commercial-model-detail">
              <a:extLst>
                <a:ext uri="{FF2B5EF4-FFF2-40B4-BE49-F238E27FC236}">
                  <a16:creationId xmlns:a16="http://schemas.microsoft.com/office/drawing/2014/main" id="{6FCFA58A-22D9-4E64-9BCC-9E46E31B7165}"/>
                </a:ext>
              </a:extLst>
            </p:cNvPr>
            <p:cNvSpPr>
              <a:spLocks/>
            </p:cNvSpPr>
            <p:nvPr/>
          </p:nvSpPr>
          <p:spPr>
            <a:xfrm rot="-3360000">
              <a:off x="1314450" y="1504950"/>
              <a:ext cx="8801100" cy="880110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Arial"/>
                  <a:ea typeface="Arial"/>
                  <a:cs typeface="Arial"/>
                </a:defRPr>
              </a:defPPr>
            </a:lstStyle>
            <a:p>
              <a:pPr algn="ctr">
                <a:buNone/>
                <a:defRPr sz="1575" b="0">
                  <a:solidFill>
                    <a:srgbClr val="5D707C"/>
                  </a:solidFill>
                  <a:latin typeface="Arial"/>
                  <a:ea typeface="Arial"/>
                  <a:cs typeface="Arial"/>
                </a:defRPr>
              </a:pPr>
              <a:endParaRPr sz="870" dirty="0">
                <a:solidFill>
                  <a:srgbClr val="5D707C"/>
                </a:solidFill>
                <a:latin typeface="Arial"/>
                <a:ea typeface="Arial"/>
                <a:cs typeface="Arial"/>
              </a:endParaRPr>
            </a:p>
          </p:txBody>
        </p:sp>
        <p:sp>
          <p:nvSpPr>
            <p:cNvPr id="86" name="captive-model-label">
              <a:extLst>
                <a:ext uri="{FF2B5EF4-FFF2-40B4-BE49-F238E27FC236}">
                  <a16:creationId xmlns:a16="http://schemas.microsoft.com/office/drawing/2014/main" id="{BA2AA8D1-8E82-4700-9943-AAC89DC50E79}"/>
                </a:ext>
              </a:extLst>
            </p:cNvPr>
            <p:cNvSpPr>
              <a:spLocks/>
            </p:cNvSpPr>
            <p:nvPr/>
          </p:nvSpPr>
          <p:spPr>
            <a:xfrm rot="-3300000">
              <a:off x="2867024" y="3057525"/>
              <a:ext cx="5695950" cy="5695950"/>
            </a:xfrm>
            <a:prstGeom prst="rect">
              <a:avLst/>
            </a:prstGeom>
            <a:noFill/>
            <a:ln w="0">
              <a:noFill/>
            </a:ln>
          </p:spPr>
          <p:txBody>
            <a:bodyPr spcFirstLastPara="1" wrap="none" lIns="0" tIns="0" rIns="0" bIns="0" numCol="1" anchor="ctr">
              <a:prstTxWarp prst="textArchUp">
                <a:avLst/>
              </a:prstTxWarp>
              <a:noAutofit/>
            </a:bodyPr>
            <a:lstStyle>
              <a:defPPr algn="ctr">
                <a:defRPr sz="1750" b="1">
                  <a:solidFill>
                    <a:srgbClr val="BF4A40"/>
                  </a:solidFill>
                  <a:latin typeface="Arial"/>
                  <a:ea typeface="Arial"/>
                  <a:cs typeface="Arial"/>
                </a:defRPr>
              </a:defPPr>
            </a:lstStyle>
            <a:p>
              <a:pPr algn="ctr">
                <a:buNone/>
                <a:defRPr sz="1750" b="1">
                  <a:solidFill>
                    <a:srgbClr val="BF4A40"/>
                  </a:solidFill>
                  <a:latin typeface="Arial"/>
                  <a:ea typeface="Arial"/>
                  <a:cs typeface="Arial"/>
                </a:defRPr>
              </a:pPr>
              <a:r>
                <a:rPr lang="zh-CN" altLang="en-US" sz="1050" b="1" dirty="0">
                  <a:solidFill>
                    <a:srgbClr val="BF4A40"/>
                  </a:solidFill>
                  <a:latin typeface="Arial"/>
                  <a:ea typeface="Arial"/>
                  <a:cs typeface="Arial"/>
                </a:rPr>
                <a:t>④ Possible direct breeding use</a:t>
              </a:r>
              <a:endParaRPr sz="1050" b="1" dirty="0">
                <a:solidFill>
                  <a:srgbClr val="BF4A40"/>
                </a:solidFill>
                <a:latin typeface="Arial"/>
                <a:ea typeface="Arial"/>
                <a:cs typeface="Arial"/>
              </a:endParaRPr>
            </a:p>
          </p:txBody>
        </p:sp>
        <p:sp>
          <p:nvSpPr>
            <p:cNvPr id="87" name="captive-model-detail">
              <a:extLst>
                <a:ext uri="{FF2B5EF4-FFF2-40B4-BE49-F238E27FC236}">
                  <a16:creationId xmlns:a16="http://schemas.microsoft.com/office/drawing/2014/main" id="{F1646919-93AD-454A-8A65-022D45B53379}"/>
                </a:ext>
              </a:extLst>
            </p:cNvPr>
            <p:cNvSpPr>
              <a:spLocks/>
            </p:cNvSpPr>
            <p:nvPr/>
          </p:nvSpPr>
          <p:spPr>
            <a:xfrm rot="-3300000">
              <a:off x="3190875" y="3381375"/>
              <a:ext cx="5048250" cy="504825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Arial"/>
                  <a:ea typeface="Arial"/>
                  <a:cs typeface="Arial"/>
                </a:defRPr>
              </a:defPPr>
            </a:lstStyle>
            <a:p>
              <a:pPr algn="ctr">
                <a:buNone/>
                <a:defRPr sz="1575" b="0">
                  <a:solidFill>
                    <a:srgbClr val="5D707C"/>
                  </a:solidFill>
                  <a:latin typeface="Arial"/>
                  <a:ea typeface="Arial"/>
                  <a:cs typeface="Arial"/>
                </a:defRPr>
              </a:pPr>
              <a:endParaRPr sz="870" dirty="0">
                <a:solidFill>
                  <a:srgbClr val="5D707C"/>
                </a:solidFill>
                <a:latin typeface="Arial"/>
                <a:ea typeface="Arial"/>
                <a:cs typeface="Arial"/>
              </a:endParaRPr>
            </a:p>
          </p:txBody>
        </p:sp>
        <p:sp>
          <p:nvSpPr>
            <p:cNvPr id="88" name="history-label">
              <a:extLst>
                <a:ext uri="{FF2B5EF4-FFF2-40B4-BE49-F238E27FC236}">
                  <a16:creationId xmlns:a16="http://schemas.microsoft.com/office/drawing/2014/main" id="{4BBC315B-7623-4D53-A358-E95928D8107F}"/>
                </a:ext>
              </a:extLst>
            </p:cNvPr>
            <p:cNvSpPr>
              <a:spLocks/>
            </p:cNvSpPr>
            <p:nvPr/>
          </p:nvSpPr>
          <p:spPr>
            <a:xfrm rot="-3960000">
              <a:off x="257175" y="1543050"/>
              <a:ext cx="5867400" cy="586740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267466"/>
                  </a:solidFill>
                  <a:latin typeface="Arial"/>
                  <a:ea typeface="Arial"/>
                  <a:cs typeface="Arial"/>
                </a:defRPr>
              </a:defPPr>
            </a:lstStyle>
            <a:p>
              <a:pPr algn="ctr">
                <a:buNone/>
                <a:defRPr sz="2025" b="1">
                  <a:solidFill>
                    <a:srgbClr val="267466"/>
                  </a:solidFill>
                  <a:latin typeface="Arial"/>
                  <a:ea typeface="Arial"/>
                  <a:cs typeface="Arial"/>
                </a:defRPr>
              </a:pPr>
              <a:endParaRPr sz="1215" b="1" dirty="0">
                <a:solidFill>
                  <a:srgbClr val="267466"/>
                </a:solidFill>
                <a:latin typeface="Arial"/>
                <a:ea typeface="Arial"/>
                <a:cs typeface="Arial"/>
              </a:endParaRPr>
            </a:p>
          </p:txBody>
        </p:sp>
        <p:sp>
          <p:nvSpPr>
            <p:cNvPr id="89" name="history-detail">
              <a:extLst>
                <a:ext uri="{FF2B5EF4-FFF2-40B4-BE49-F238E27FC236}">
                  <a16:creationId xmlns:a16="http://schemas.microsoft.com/office/drawing/2014/main" id="{5DD0C775-9128-4D78-8ACA-C79B24985536}"/>
                </a:ext>
              </a:extLst>
            </p:cNvPr>
            <p:cNvSpPr>
              <a:spLocks/>
            </p:cNvSpPr>
            <p:nvPr/>
          </p:nvSpPr>
          <p:spPr>
            <a:xfrm rot="-3660000">
              <a:off x="9525" y="1295400"/>
              <a:ext cx="6362700" cy="6362700"/>
            </a:xfrm>
            <a:prstGeom prst="rect">
              <a:avLst/>
            </a:prstGeom>
            <a:noFill/>
            <a:ln w="0">
              <a:noFill/>
            </a:ln>
          </p:spPr>
          <p:txBody>
            <a:bodyPr spcFirstLastPara="1" wrap="none" lIns="0" tIns="0" rIns="0" bIns="0" numCol="1" anchor="ctr">
              <a:prstTxWarp prst="textArchDown">
                <a:avLst/>
              </a:prstTxWarp>
              <a:noAutofit/>
            </a:bodyPr>
            <a:lstStyle>
              <a:defPPr algn="ctr">
                <a:defRPr sz="1575" b="0">
                  <a:solidFill>
                    <a:srgbClr val="5D707C"/>
                  </a:solidFill>
                  <a:latin typeface="Arial"/>
                  <a:ea typeface="Arial"/>
                  <a:cs typeface="Arial"/>
                </a:defRPr>
              </a:defPPr>
            </a:lstStyle>
            <a:p>
              <a:pPr algn="ctr">
                <a:buNone/>
                <a:defRPr sz="1575" b="0">
                  <a:solidFill>
                    <a:srgbClr val="5D707C"/>
                  </a:solidFill>
                  <a:latin typeface="Arial"/>
                  <a:ea typeface="Arial"/>
                  <a:cs typeface="Arial"/>
                </a:defRPr>
              </a:pPr>
              <a:endParaRPr sz="900" dirty="0">
                <a:solidFill>
                  <a:srgbClr val="5D707C"/>
                </a:solidFill>
                <a:latin typeface="Arial"/>
                <a:ea typeface="Arial"/>
                <a:cs typeface="Arial"/>
              </a:endParaRPr>
            </a:p>
          </p:txBody>
        </p:sp>
        <p:sp>
          <p:nvSpPr>
            <p:cNvPr id="90" name="legend-solid">
              <a:extLst>
                <a:ext uri="{FF2B5EF4-FFF2-40B4-BE49-F238E27FC236}">
                  <a16:creationId xmlns:a16="http://schemas.microsoft.com/office/drawing/2014/main" id="{AF1FC9F0-EDF1-4783-A93F-2F7CB1BF66A0}"/>
                </a:ext>
              </a:extLst>
            </p:cNvPr>
            <p:cNvSpPr>
              <a:spLocks/>
            </p:cNvSpPr>
            <p:nvPr/>
          </p:nvSpPr>
          <p:spPr>
            <a:xfrm>
              <a:off x="1504156"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solid"/>
              <a:headEnd type="none" w="med" len="med"/>
              <a:tailEnd type="triangle" w="med" len="med"/>
            </a:ln>
          </p:spPr>
          <p:txBody>
            <a:bodyPr/>
            <a:lstStyle/>
            <a:p>
              <a:endParaRPr lang="LID4096" sz="1080"/>
            </a:p>
          </p:txBody>
        </p:sp>
        <p:sp>
          <p:nvSpPr>
            <p:cNvPr id="91" name="legend-solid-text">
              <a:extLst>
                <a:ext uri="{FF2B5EF4-FFF2-40B4-BE49-F238E27FC236}">
                  <a16:creationId xmlns:a16="http://schemas.microsoft.com/office/drawing/2014/main" id="{5F1FBBEB-DAED-45A2-AC09-A753B0866848}"/>
                </a:ext>
              </a:extLst>
            </p:cNvPr>
            <p:cNvSpPr>
              <a:spLocks/>
            </p:cNvSpPr>
            <p:nvPr/>
          </p:nvSpPr>
          <p:spPr>
            <a:xfrm>
              <a:off x="2456656" y="10753725"/>
              <a:ext cx="2700000" cy="266700"/>
            </a:xfrm>
            <a:prstGeom prst="rect">
              <a:avLst/>
            </a:prstGeom>
            <a:noFill/>
            <a:ln w="0">
              <a:noFill/>
            </a:ln>
          </p:spPr>
          <p:txBody>
            <a:bodyPr wrap="none" lIns="0" tIns="0" rIns="0" bIns="0" anchor="ctr">
              <a:noAutofit/>
            </a:bodyPr>
            <a:lstStyle>
              <a:defPPr algn="ctr">
                <a:defRPr sz="1425" b="0">
                  <a:solidFill>
                    <a:srgbClr val="5D707C"/>
                  </a:solidFill>
                  <a:latin typeface="Arial"/>
                  <a:ea typeface="Arial"/>
                  <a:cs typeface="Arial"/>
                </a:defRPr>
              </a:defPPr>
            </a:lstStyle>
            <a:p>
              <a:pPr algn="l">
                <a:buNone/>
                <a:defRPr sz="1425" b="0">
                  <a:solidFill>
                    <a:srgbClr val="5D707C"/>
                  </a:solidFill>
                  <a:latin typeface="Arial"/>
                  <a:ea typeface="Arial"/>
                  <a:cs typeface="Arial"/>
                </a:defRPr>
              </a:pPr>
              <a:r>
                <a:rPr sz="855">
                  <a:solidFill>
                    <a:srgbClr val="5D707C"/>
                  </a:solidFill>
                  <a:latin typeface="Arial"/>
                  <a:ea typeface="Arial"/>
                  <a:cs typeface="Arial"/>
                </a:rPr>
                <a:t>Supported by multiple studies</a:t>
              </a:r>
            </a:p>
          </p:txBody>
        </p:sp>
        <p:sp>
          <p:nvSpPr>
            <p:cNvPr id="92" name="legend-dashed">
              <a:extLst>
                <a:ext uri="{FF2B5EF4-FFF2-40B4-BE49-F238E27FC236}">
                  <a16:creationId xmlns:a16="http://schemas.microsoft.com/office/drawing/2014/main" id="{8C15D441-C4E6-42F1-8C5D-0C52C24A6BFB}"/>
                </a:ext>
              </a:extLst>
            </p:cNvPr>
            <p:cNvSpPr>
              <a:spLocks/>
            </p:cNvSpPr>
            <p:nvPr/>
          </p:nvSpPr>
          <p:spPr>
            <a:xfrm>
              <a:off x="6455569"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dash"/>
              <a:headEnd type="none" w="med" len="med"/>
              <a:tailEnd type="triangle" w="med" len="med"/>
            </a:ln>
          </p:spPr>
          <p:txBody>
            <a:bodyPr/>
            <a:lstStyle/>
            <a:p>
              <a:endParaRPr lang="LID4096" sz="1080"/>
            </a:p>
          </p:txBody>
        </p:sp>
        <p:sp>
          <p:nvSpPr>
            <p:cNvPr id="93" name="legend-dashed-text">
              <a:extLst>
                <a:ext uri="{FF2B5EF4-FFF2-40B4-BE49-F238E27FC236}">
                  <a16:creationId xmlns:a16="http://schemas.microsoft.com/office/drawing/2014/main" id="{7597720B-ED7E-4011-B1A1-6094A4A15921}"/>
                </a:ext>
              </a:extLst>
            </p:cNvPr>
            <p:cNvSpPr>
              <a:spLocks/>
            </p:cNvSpPr>
            <p:nvPr/>
          </p:nvSpPr>
          <p:spPr>
            <a:xfrm>
              <a:off x="7408069" y="10753725"/>
              <a:ext cx="3300000" cy="266700"/>
            </a:xfrm>
            <a:prstGeom prst="rect">
              <a:avLst/>
            </a:prstGeom>
            <a:noFill/>
            <a:ln w="0">
              <a:noFill/>
            </a:ln>
          </p:spPr>
          <p:txBody>
            <a:bodyPr wrap="none" lIns="0" tIns="0" rIns="0" bIns="0" anchor="ctr">
              <a:noAutofit/>
            </a:bodyPr>
            <a:lstStyle>
              <a:defPPr algn="ctr">
                <a:defRPr sz="1425" b="0">
                  <a:solidFill>
                    <a:srgbClr val="5D707C"/>
                  </a:solidFill>
                  <a:latin typeface="Arial"/>
                  <a:ea typeface="Arial"/>
                  <a:cs typeface="Arial"/>
                </a:defRPr>
              </a:defPPr>
            </a:lstStyle>
            <a:p>
              <a:pPr algn="l">
                <a:buNone/>
                <a:defRPr sz="1425" b="0">
                  <a:solidFill>
                    <a:srgbClr val="5D707C"/>
                  </a:solidFill>
                  <a:latin typeface="Arial"/>
                  <a:ea typeface="Arial"/>
                  <a:cs typeface="Arial"/>
                </a:defRPr>
              </a:pPr>
              <a:r>
                <a:rPr sz="855">
                  <a:solidFill>
                    <a:srgbClr val="5D707C"/>
                  </a:solidFill>
                  <a:latin typeface="Arial"/>
                  <a:ea typeface="Arial"/>
                  <a:cs typeface="Arial"/>
                </a:rPr>
                <a:t>Possible link, lacking direct evidence</a:t>
              </a:r>
            </a:p>
          </p:txBody>
        </p:sp>
      </p:grpSp>
    </p:spTree>
    <p:extLst>
      <p:ext uri="{BB962C8B-B14F-4D97-AF65-F5344CB8AC3E}">
        <p14:creationId xmlns:p14="http://schemas.microsoft.com/office/powerpoint/2010/main" val="5433680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8836</Words>
  <Application>Microsoft Office PowerPoint</Application>
  <DocSecurity>0</DocSecurity>
  <PresentationFormat>宽屏</PresentationFormat>
  <Paragraphs>407</Paragraphs>
  <Slides>6</Slides>
  <Notes>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Microsoft YaHei</vt:lpstr>
      <vt:lpstr>Aptos</vt:lpstr>
      <vt:lpstr>Arial</vt:lpstr>
      <vt:lpstr>ChatGPT</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a55641</cp:lastModifiedBy>
  <cp:revision>1</cp:revision>
  <dcterms:created xsi:type="dcterms:W3CDTF">2026-10-11T15:27:57Z</dcterms:created>
  <dcterms:modified xsi:type="dcterms:W3CDTF">2026-10-11T15:34:42Z</dcterms:modified>
</cp:coreProperties>
</file>